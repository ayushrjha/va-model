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332" r:id="rId5"/>
    <p:sldId id="415" r:id="rId6"/>
    <p:sldId id="2147483612" r:id="rId7"/>
    <p:sldId id="258" r:id="rId8"/>
    <p:sldId id="257" r:id="rId9"/>
    <p:sldId id="259" r:id="rId10"/>
    <p:sldId id="261" r:id="rId11"/>
    <p:sldId id="419" r:id="rId12"/>
    <p:sldId id="2147483611" r:id="rId13"/>
    <p:sldId id="426" r:id="rId14"/>
    <p:sldId id="260" r:id="rId15"/>
    <p:sldId id="262" r:id="rId16"/>
    <p:sldId id="427" r:id="rId17"/>
    <p:sldId id="2147483613" r:id="rId18"/>
    <p:sldId id="263" r:id="rId19"/>
    <p:sldId id="256" r:id="rId20"/>
    <p:sldId id="2147483647" r:id="rId21"/>
    <p:sldId id="416" r:id="rId22"/>
    <p:sldId id="214748359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71"/>
    <a:srgbClr val="E6F6FB"/>
    <a:srgbClr val="FF4E0B"/>
    <a:srgbClr val="FB4E0B"/>
    <a:srgbClr val="004EFF"/>
    <a:srgbClr val="E5EDFF"/>
    <a:srgbClr val="C0D2FF"/>
    <a:srgbClr val="83A8FF"/>
    <a:srgbClr val="407A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50844-AC79-F85D-7017-0B075672082E}" v="5" dt="2026-06-29T09:27:31.169"/>
    <p1510:client id="{24010E82-7072-4CBA-9AB6-94A8E69CD684}" v="1" dt="2026-06-29T17:23:40.074"/>
    <p1510:client id="{2E734F80-D008-46F6-B870-6C2C25D9B20A}" v="433" dt="2026-06-29T13:09:36.438"/>
    <p1510:client id="{4FBC57A9-4F40-43EE-B46E-0BEF6DA1A275}" v="268" dt="2026-06-29T12:42:22"/>
    <p1510:client id="{5C5DA0B2-A285-4232-95AA-F780B39EDFCE}" v="459" dt="2026-06-29T13:58:18.004"/>
    <p1510:client id="{A6EBDAF3-0785-4C6A-BC04-A10051F0C5FE}" v="120" dt="2026-06-29T15:20:45.225"/>
    <p1510:client id="{F7AB09C6-EE32-4642-9EE0-72B62259FB60}" v="13" dt="2026-06-29T12:59:21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EEE32-3722-44D7-BB60-0CE05B5B8D84}" type="doc">
      <dgm:prSet loTypeId="urn:microsoft.com/office/officeart/2005/8/layout/hList1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284D307-55B3-4C9A-ACD0-7A1AB57E61B5}">
      <dgm:prSet phldrT="[Text]" custT="1"/>
      <dgm:spPr/>
      <dgm:t>
        <a:bodyPr/>
        <a:lstStyle/>
        <a:p>
          <a:r>
            <a:rPr lang="en-US" sz="1600" b="1"/>
            <a:t>FA/FIA</a:t>
          </a:r>
        </a:p>
      </dgm:t>
    </dgm:pt>
    <dgm:pt modelId="{1917B92A-EB8F-4468-BBF7-3768B1EA6B87}" type="parTrans" cxnId="{50E24C7A-5CCF-4778-81E4-DDEBA1AD6322}">
      <dgm:prSet/>
      <dgm:spPr/>
      <dgm:t>
        <a:bodyPr/>
        <a:lstStyle/>
        <a:p>
          <a:endParaRPr lang="en-US"/>
        </a:p>
      </dgm:t>
    </dgm:pt>
    <dgm:pt modelId="{0601E284-EC3E-482C-8C28-3DB1F12FB3FA}" type="sibTrans" cxnId="{50E24C7A-5CCF-4778-81E4-DDEBA1AD6322}">
      <dgm:prSet/>
      <dgm:spPr/>
      <dgm:t>
        <a:bodyPr/>
        <a:lstStyle/>
        <a:p>
          <a:endParaRPr lang="en-US"/>
        </a:p>
      </dgm:t>
    </dgm:pt>
    <dgm:pt modelId="{C5E2BF59-ED74-4EC3-A46C-E6AA633E320B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 MVA Alignment:</a:t>
          </a:r>
          <a:r>
            <a:rPr lang="en-US" b="0" i="0"/>
            <a:t> Corrected MVA calculation to align with product specifications and FA model, replacing legacy logic with a standardized AXIS implementation</a:t>
          </a:r>
          <a:endParaRPr lang="en-US"/>
        </a:p>
      </dgm:t>
    </dgm:pt>
    <dgm:pt modelId="{48E4A21B-8F7A-4446-B851-B7E97F00FDDD}" type="parTrans" cxnId="{6AEA1F2B-7362-42FD-829B-4AD2D7BCC0B6}">
      <dgm:prSet/>
      <dgm:spPr/>
      <dgm:t>
        <a:bodyPr/>
        <a:lstStyle/>
        <a:p>
          <a:endParaRPr lang="en-US"/>
        </a:p>
      </dgm:t>
    </dgm:pt>
    <dgm:pt modelId="{823E77E1-80F4-493D-BCA5-D5092E59BF01}" type="sibTrans" cxnId="{6AEA1F2B-7362-42FD-829B-4AD2D7BCC0B6}">
      <dgm:prSet/>
      <dgm:spPr/>
      <dgm:t>
        <a:bodyPr/>
        <a:lstStyle/>
        <a:p>
          <a:endParaRPr lang="en-US"/>
        </a:p>
      </dgm:t>
    </dgm:pt>
    <dgm:pt modelId="{6BCD7561-A3EB-417B-A355-92BAE586D9CB}">
      <dgm:prSet phldrT="[Text]" custT="1"/>
      <dgm:spPr/>
      <dgm:t>
        <a:bodyPr/>
        <a:lstStyle/>
        <a:p>
          <a:r>
            <a:rPr lang="en-US" sz="1800" b="1"/>
            <a:t>VA</a:t>
          </a:r>
        </a:p>
      </dgm:t>
    </dgm:pt>
    <dgm:pt modelId="{BE3BB0C9-F49D-47AD-8F7F-C16B3586176F}" type="parTrans" cxnId="{D7D1CC12-791D-432B-8E69-D8DCE35C755C}">
      <dgm:prSet/>
      <dgm:spPr/>
      <dgm:t>
        <a:bodyPr/>
        <a:lstStyle/>
        <a:p>
          <a:endParaRPr lang="en-US"/>
        </a:p>
      </dgm:t>
    </dgm:pt>
    <dgm:pt modelId="{A946C17B-9283-4061-B00F-D6603037696A}" type="sibTrans" cxnId="{D7D1CC12-791D-432B-8E69-D8DCE35C755C}">
      <dgm:prSet/>
      <dgm:spPr/>
      <dgm:t>
        <a:bodyPr/>
        <a:lstStyle/>
        <a:p>
          <a:endParaRPr lang="en-US"/>
        </a:p>
      </dgm:t>
    </dgm:pt>
    <dgm:pt modelId="{B468BAD7-71EE-4E14-8AA7-B61A87ECE8C8}">
      <dgm:prSet phldrT="[Text]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1" i="0"/>
            <a:t> Rider Enhancement:</a:t>
          </a:r>
          <a:r>
            <a:rPr lang="en-US" b="0" i="0"/>
            <a:t> Estate Lock rider explicitly modeled in AXIS; corrected prior inaccuracies, leading to ~4% increase in STAT reserves</a:t>
          </a:r>
          <a:endParaRPr lang="en-US"/>
        </a:p>
      </dgm:t>
    </dgm:pt>
    <dgm:pt modelId="{88CD9EB2-66A8-4E42-92A5-EFF28E269BE3}" type="parTrans" cxnId="{5DD407F5-67EE-4AFC-9451-CC4541BAAFD4}">
      <dgm:prSet/>
      <dgm:spPr/>
      <dgm:t>
        <a:bodyPr/>
        <a:lstStyle/>
        <a:p>
          <a:endParaRPr lang="en-US"/>
        </a:p>
      </dgm:t>
    </dgm:pt>
    <dgm:pt modelId="{4D35A96B-6018-47B3-95FC-103E67682307}" type="sibTrans" cxnId="{5DD407F5-67EE-4AFC-9451-CC4541BAAFD4}">
      <dgm:prSet/>
      <dgm:spPr/>
      <dgm:t>
        <a:bodyPr/>
        <a:lstStyle/>
        <a:p>
          <a:endParaRPr lang="en-US"/>
        </a:p>
      </dgm:t>
    </dgm:pt>
    <dgm:pt modelId="{ED8C8B50-34D0-44A1-BFA9-4BFD1ED47367}">
      <dgm:prSet phldrT="[Text]" custT="1"/>
      <dgm:spPr/>
      <dgm:t>
        <a:bodyPr/>
        <a:lstStyle/>
        <a:p>
          <a:r>
            <a:rPr lang="en-US" sz="1600" b="1"/>
            <a:t>RILA</a:t>
          </a:r>
        </a:p>
      </dgm:t>
    </dgm:pt>
    <dgm:pt modelId="{6B345816-5AD4-46A6-8D72-4B35F88EAD62}" type="parTrans" cxnId="{EF58024C-BBCA-4720-AE11-A5B43E5214B2}">
      <dgm:prSet/>
      <dgm:spPr/>
      <dgm:t>
        <a:bodyPr/>
        <a:lstStyle/>
        <a:p>
          <a:endParaRPr lang="en-US"/>
        </a:p>
      </dgm:t>
    </dgm:pt>
    <dgm:pt modelId="{8E7CC2D0-C5E4-4CBC-9038-347954CA0F1A}" type="sibTrans" cxnId="{EF58024C-BBCA-4720-AE11-A5B43E5214B2}">
      <dgm:prSet/>
      <dgm:spPr/>
      <dgm:t>
        <a:bodyPr/>
        <a:lstStyle/>
        <a:p>
          <a:endParaRPr lang="en-US"/>
        </a:p>
      </dgm:t>
    </dgm:pt>
    <dgm:pt modelId="{0E0DE599-C574-47C0-88E9-2FFE21BA3AD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Product Development:</a:t>
          </a:r>
          <a:r>
            <a:rPr lang="en-US" b="0" i="0"/>
            <a:t> RILA LLA2 Income integrated into existing AXIS model (inforce, assumptions, product setup)</a:t>
          </a:r>
          <a:endParaRPr lang="en-US"/>
        </a:p>
      </dgm:t>
    </dgm:pt>
    <dgm:pt modelId="{0D60793F-AECE-483D-8FAA-679734C4B366}" type="parTrans" cxnId="{CF1341CA-6C38-4A25-A634-C80A72E4C284}">
      <dgm:prSet/>
      <dgm:spPr/>
      <dgm:t>
        <a:bodyPr/>
        <a:lstStyle/>
        <a:p>
          <a:endParaRPr lang="en-US"/>
        </a:p>
      </dgm:t>
    </dgm:pt>
    <dgm:pt modelId="{6BC0AC34-DC21-437C-92C3-FDB4E2B88399}" type="sibTrans" cxnId="{CF1341CA-6C38-4A25-A634-C80A72E4C284}">
      <dgm:prSet/>
      <dgm:spPr/>
      <dgm:t>
        <a:bodyPr/>
        <a:lstStyle/>
        <a:p>
          <a:endParaRPr lang="en-US"/>
        </a:p>
      </dgm:t>
    </dgm:pt>
    <dgm:pt modelId="{7082C128-3123-46E7-82E4-2C4786B57C7A}">
      <dgm:prSet/>
      <dgm:spPr/>
      <dgm:t>
        <a:bodyPr/>
        <a:lstStyle/>
        <a:p>
          <a:pPr>
            <a:buNone/>
          </a:pPr>
          <a:endParaRPr lang="en-US"/>
        </a:p>
      </dgm:t>
    </dgm:pt>
    <dgm:pt modelId="{9557D00F-1335-4CD4-9AA6-C2CB63BD6561}" type="parTrans" cxnId="{2A214772-7EAC-432B-AEC6-C8628FC5C675}">
      <dgm:prSet/>
      <dgm:spPr/>
      <dgm:t>
        <a:bodyPr/>
        <a:lstStyle/>
        <a:p>
          <a:endParaRPr lang="en-US"/>
        </a:p>
      </dgm:t>
    </dgm:pt>
    <dgm:pt modelId="{880E835C-719F-47D4-BC1F-DBBDA3DD8ECF}" type="sibTrans" cxnId="{2A214772-7EAC-432B-AEC6-C8628FC5C675}">
      <dgm:prSet/>
      <dgm:spPr/>
      <dgm:t>
        <a:bodyPr/>
        <a:lstStyle/>
        <a:p>
          <a:endParaRPr lang="en-US"/>
        </a:p>
      </dgm:t>
    </dgm:pt>
    <dgm:pt modelId="{7691DB8A-A5AC-43CA-AC34-A877ED0F93E7}">
      <dgm:prSet/>
      <dgm:spPr/>
      <dgm:t>
        <a:bodyPr/>
        <a:lstStyle/>
        <a:p>
          <a:pPr>
            <a:buNone/>
          </a:pPr>
          <a:endParaRPr lang="en-US"/>
        </a:p>
      </dgm:t>
    </dgm:pt>
    <dgm:pt modelId="{3B271315-CBC4-44E5-AB20-6C493CC50B1F}" type="parTrans" cxnId="{45D39301-1886-4E9B-A156-1BD695D82241}">
      <dgm:prSet/>
      <dgm:spPr/>
      <dgm:t>
        <a:bodyPr/>
        <a:lstStyle/>
        <a:p>
          <a:endParaRPr lang="en-US"/>
        </a:p>
      </dgm:t>
    </dgm:pt>
    <dgm:pt modelId="{AE5946F5-EDB0-40BC-B768-8C233C9798BE}" type="sibTrans" cxnId="{45D39301-1886-4E9B-A156-1BD695D82241}">
      <dgm:prSet/>
      <dgm:spPr/>
      <dgm:t>
        <a:bodyPr/>
        <a:lstStyle/>
        <a:p>
          <a:endParaRPr lang="en-US"/>
        </a:p>
      </dgm:t>
    </dgm:pt>
    <dgm:pt modelId="{F9C0CF34-733C-4676-A129-E261D3DB1B55}">
      <dgm:prSet/>
      <dgm:spPr/>
      <dgm:t>
        <a:bodyPr/>
        <a:lstStyle/>
        <a:p>
          <a:pPr>
            <a:buNone/>
          </a:pPr>
          <a:endParaRPr lang="en-US"/>
        </a:p>
      </dgm:t>
    </dgm:pt>
    <dgm:pt modelId="{B4BADB24-A921-4067-9828-F0D9C3659727}" type="parTrans" cxnId="{87054680-136F-45A4-B459-ADF8C924441B}">
      <dgm:prSet/>
      <dgm:spPr/>
      <dgm:t>
        <a:bodyPr/>
        <a:lstStyle/>
        <a:p>
          <a:endParaRPr lang="en-US"/>
        </a:p>
      </dgm:t>
    </dgm:pt>
    <dgm:pt modelId="{FF0D8681-35B1-4C57-8956-077C08B2188C}" type="sibTrans" cxnId="{87054680-136F-45A4-B459-ADF8C924441B}">
      <dgm:prSet/>
      <dgm:spPr/>
      <dgm:t>
        <a:bodyPr/>
        <a:lstStyle/>
        <a:p>
          <a:endParaRPr lang="en-US"/>
        </a:p>
      </dgm:t>
    </dgm:pt>
    <dgm:pt modelId="{4B101F48-CBB7-483C-ACF1-D3AABBD6B1E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Automation:</a:t>
          </a:r>
          <a:r>
            <a:rPr lang="en-US" b="0" i="0"/>
            <a:t> Reduced manual inputs with more efficient axis implementations</a:t>
          </a:r>
          <a:endParaRPr lang="en-US"/>
        </a:p>
      </dgm:t>
    </dgm:pt>
    <dgm:pt modelId="{FB5F3BE2-93FB-41D0-9B4B-2DA6684E23A0}" type="parTrans" cxnId="{C9B42B9B-3F52-4F0A-AB35-E84026B6BE55}">
      <dgm:prSet/>
      <dgm:spPr/>
      <dgm:t>
        <a:bodyPr/>
        <a:lstStyle/>
        <a:p>
          <a:endParaRPr lang="en-US"/>
        </a:p>
      </dgm:t>
    </dgm:pt>
    <dgm:pt modelId="{23F4F5E1-8ED6-4014-AF4E-D461076618C6}" type="sibTrans" cxnId="{C9B42B9B-3F52-4F0A-AB35-E84026B6BE55}">
      <dgm:prSet/>
      <dgm:spPr/>
      <dgm:t>
        <a:bodyPr/>
        <a:lstStyle/>
        <a:p>
          <a:endParaRPr lang="en-US"/>
        </a:p>
      </dgm:t>
    </dgm:pt>
    <dgm:pt modelId="{A86A818D-1527-4564-AC39-9EED94096393}">
      <dgm:prSet/>
      <dgm:spPr/>
      <dgm:t>
        <a:bodyPr/>
        <a:lstStyle/>
        <a:p>
          <a:pPr>
            <a:buNone/>
          </a:pPr>
          <a:endParaRPr lang="en-US"/>
        </a:p>
      </dgm:t>
    </dgm:pt>
    <dgm:pt modelId="{8374346F-9DCA-494F-9590-71F75CB95E49}" type="parTrans" cxnId="{E398286B-4AB3-4A73-9C9A-9946727AB150}">
      <dgm:prSet/>
      <dgm:spPr/>
      <dgm:t>
        <a:bodyPr/>
        <a:lstStyle/>
        <a:p>
          <a:endParaRPr lang="en-US"/>
        </a:p>
      </dgm:t>
    </dgm:pt>
    <dgm:pt modelId="{7BDC7F84-AE36-4E86-B0F5-2227E37503D8}" type="sibTrans" cxnId="{E398286B-4AB3-4A73-9C9A-9946727AB150}">
      <dgm:prSet/>
      <dgm:spPr/>
      <dgm:t>
        <a:bodyPr/>
        <a:lstStyle/>
        <a:p>
          <a:endParaRPr lang="en-US"/>
        </a:p>
      </dgm:t>
    </dgm:pt>
    <dgm:pt modelId="{A845E2B5-F585-4411-AD51-07B22395EAC9}">
      <dgm:prSet phldrT="[Text]" custT="1"/>
      <dgm:spPr/>
      <dgm:t>
        <a:bodyPr/>
        <a:lstStyle/>
        <a:p>
          <a:r>
            <a:rPr lang="en-US" sz="1600" b="1"/>
            <a:t>Validation</a:t>
          </a:r>
        </a:p>
      </dgm:t>
    </dgm:pt>
    <dgm:pt modelId="{13BC6A1F-CE07-44E3-8803-B2E429157F67}" type="parTrans" cxnId="{DA7C8212-D044-4331-8035-2ADC45B31877}">
      <dgm:prSet/>
      <dgm:spPr/>
      <dgm:t>
        <a:bodyPr/>
        <a:lstStyle/>
        <a:p>
          <a:endParaRPr lang="en-US"/>
        </a:p>
      </dgm:t>
    </dgm:pt>
    <dgm:pt modelId="{E03C43D5-5892-4C58-A2B1-4238918D3328}" type="sibTrans" cxnId="{DA7C8212-D044-4331-8035-2ADC45B31877}">
      <dgm:prSet/>
      <dgm:spPr/>
      <dgm:t>
        <a:bodyPr/>
        <a:lstStyle/>
        <a:p>
          <a:endParaRPr lang="en-US"/>
        </a:p>
      </dgm:t>
    </dgm:pt>
    <dgm:pt modelId="{C1FE2EB7-2FA9-44E1-A3D4-95E721077DC8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Product Coverage:</a:t>
          </a:r>
          <a:endParaRPr lang="en-US"/>
        </a:p>
      </dgm:t>
    </dgm:pt>
    <dgm:pt modelId="{F02F487E-9010-4BD6-B435-3428466AD183}" type="parTrans" cxnId="{7F202C6F-02ED-4EA5-90BA-EC1C0E2A5BD0}">
      <dgm:prSet/>
      <dgm:spPr/>
      <dgm:t>
        <a:bodyPr/>
        <a:lstStyle/>
        <a:p>
          <a:endParaRPr lang="en-US"/>
        </a:p>
      </dgm:t>
    </dgm:pt>
    <dgm:pt modelId="{0683889E-2C1F-4014-B29A-87CC17CFE078}" type="sibTrans" cxnId="{7F202C6F-02ED-4EA5-90BA-EC1C0E2A5BD0}">
      <dgm:prSet/>
      <dgm:spPr/>
      <dgm:t>
        <a:bodyPr/>
        <a:lstStyle/>
        <a:p>
          <a:endParaRPr lang="en-US"/>
        </a:p>
      </dgm:t>
    </dgm:pt>
    <dgm:pt modelId="{F35F9F4F-8954-4470-BC5E-168F6E5E7EEE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Model Alignment:</a:t>
          </a:r>
          <a:r>
            <a:rPr lang="en-US" b="0" i="0"/>
            <a:t> Enhancements implemented to reflect 2Q26 AXIS updates</a:t>
          </a:r>
          <a:endParaRPr lang="en-US"/>
        </a:p>
      </dgm:t>
    </dgm:pt>
    <dgm:pt modelId="{F620DDD0-47B3-49BA-9696-9CFEB4FAB560}" type="parTrans" cxnId="{810B5E93-B7EF-40E6-B648-EB16F92A4277}">
      <dgm:prSet/>
      <dgm:spPr/>
      <dgm:t>
        <a:bodyPr/>
        <a:lstStyle/>
        <a:p>
          <a:endParaRPr lang="en-US"/>
        </a:p>
      </dgm:t>
    </dgm:pt>
    <dgm:pt modelId="{2DB1E63D-9A5E-44B0-B712-9A4CB8AE7B73}" type="sibTrans" cxnId="{810B5E93-B7EF-40E6-B648-EB16F92A4277}">
      <dgm:prSet/>
      <dgm:spPr/>
      <dgm:t>
        <a:bodyPr/>
        <a:lstStyle/>
        <a:p>
          <a:endParaRPr lang="en-US"/>
        </a:p>
      </dgm:t>
    </dgm:pt>
    <dgm:pt modelId="{41165F44-A307-4C9A-88C6-8A1C436F22E8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Consistency:</a:t>
          </a:r>
          <a:r>
            <a:rPr lang="en-US" b="0" i="0"/>
            <a:t> Ensured alignment and reliability across all validation tools and product lines</a:t>
          </a:r>
          <a:endParaRPr lang="en-US"/>
        </a:p>
      </dgm:t>
    </dgm:pt>
    <dgm:pt modelId="{53DE4346-341D-4602-9080-2DD6746639A9}" type="parTrans" cxnId="{E47738BF-5292-4340-87A2-38D2528839CD}">
      <dgm:prSet/>
      <dgm:spPr/>
      <dgm:t>
        <a:bodyPr/>
        <a:lstStyle/>
        <a:p>
          <a:endParaRPr lang="en-US"/>
        </a:p>
      </dgm:t>
    </dgm:pt>
    <dgm:pt modelId="{2F19E906-C29F-44A9-BE96-921B91A47FF6}" type="sibTrans" cxnId="{E47738BF-5292-4340-87A2-38D2528839CD}">
      <dgm:prSet/>
      <dgm:spPr/>
      <dgm:t>
        <a:bodyPr/>
        <a:lstStyle/>
        <a:p>
          <a:endParaRPr lang="en-US"/>
        </a:p>
      </dgm:t>
    </dgm:pt>
    <dgm:pt modelId="{7C19DF35-921F-4025-BAE9-DD6E76336949}">
      <dgm:prSet phldrT="[Text]" phldr="0"/>
      <dgm:spPr/>
      <dgm:t>
        <a:bodyPr/>
        <a:lstStyle/>
        <a:p>
          <a:pPr>
            <a:buNone/>
          </a:pPr>
          <a:endParaRPr lang="en-US"/>
        </a:p>
      </dgm:t>
    </dgm:pt>
    <dgm:pt modelId="{C0DA4B34-9033-49DE-BD8F-CA3094978325}" type="parTrans" cxnId="{A737EFA4-0330-4BD0-BBFA-37F7C569209A}">
      <dgm:prSet/>
      <dgm:spPr/>
      <dgm:t>
        <a:bodyPr/>
        <a:lstStyle/>
        <a:p>
          <a:endParaRPr lang="en-US"/>
        </a:p>
      </dgm:t>
    </dgm:pt>
    <dgm:pt modelId="{8791EEE6-FA17-477F-A5F3-201CFF7B0666}" type="sibTrans" cxnId="{A737EFA4-0330-4BD0-BBFA-37F7C569209A}">
      <dgm:prSet/>
      <dgm:spPr/>
      <dgm:t>
        <a:bodyPr/>
        <a:lstStyle/>
        <a:p>
          <a:endParaRPr lang="en-US"/>
        </a:p>
      </dgm:t>
    </dgm:pt>
    <dgm:pt modelId="{D9B95D9D-29D0-4C4C-9F12-7C322315F80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Assumption Upgrade:</a:t>
          </a:r>
          <a:r>
            <a:rPr lang="en-US" b="0" i="0"/>
            <a:t> Lapse assumption framework redesigned with higher granularity (24 parameters vs. 6) and market-linked behavior</a:t>
          </a:r>
          <a:endParaRPr lang="en-US"/>
        </a:p>
      </dgm:t>
    </dgm:pt>
    <dgm:pt modelId="{15EFAB75-4875-4EE0-BE6A-FBD62751F61B}" type="parTrans" cxnId="{9D71974E-6A00-4852-B8A3-99BEB770B065}">
      <dgm:prSet/>
      <dgm:spPr/>
      <dgm:t>
        <a:bodyPr/>
        <a:lstStyle/>
        <a:p>
          <a:endParaRPr lang="en-US"/>
        </a:p>
      </dgm:t>
    </dgm:pt>
    <dgm:pt modelId="{40A62CC9-1353-4285-8436-298EB8240EA9}" type="sibTrans" cxnId="{9D71974E-6A00-4852-B8A3-99BEB770B065}">
      <dgm:prSet/>
      <dgm:spPr/>
      <dgm:t>
        <a:bodyPr/>
        <a:lstStyle/>
        <a:p>
          <a:endParaRPr lang="en-US"/>
        </a:p>
      </dgm:t>
    </dgm:pt>
    <dgm:pt modelId="{46D875ED-4022-4530-B3C2-626E5198E12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New Product Build:</a:t>
          </a:r>
          <a:r>
            <a:rPr lang="en-US" b="0" i="0"/>
            <a:t> Development initiated for RILA NY product (Reg 213 updates, inforce enhancements, AXIS configuration)</a:t>
          </a:r>
          <a:endParaRPr lang="en-US"/>
        </a:p>
      </dgm:t>
    </dgm:pt>
    <dgm:pt modelId="{0033CD47-0CB1-432B-AD2F-0F3600B6243D}" type="parTrans" cxnId="{40EA6817-747A-4416-84AD-A3829B946C6A}">
      <dgm:prSet/>
      <dgm:spPr/>
      <dgm:t>
        <a:bodyPr/>
        <a:lstStyle/>
        <a:p>
          <a:endParaRPr lang="en-US"/>
        </a:p>
      </dgm:t>
    </dgm:pt>
    <dgm:pt modelId="{82401B78-A70E-4231-89F4-BC4BD34E4C4C}" type="sibTrans" cxnId="{40EA6817-747A-4416-84AD-A3829B946C6A}">
      <dgm:prSet/>
      <dgm:spPr/>
      <dgm:t>
        <a:bodyPr/>
        <a:lstStyle/>
        <a:p>
          <a:endParaRPr lang="en-US"/>
        </a:p>
      </dgm:t>
    </dgm:pt>
    <dgm:pt modelId="{0833B880-1E27-40C3-8EDD-63328134866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/>
        </a:p>
      </dgm:t>
    </dgm:pt>
    <dgm:pt modelId="{571C1945-366E-4F21-89AF-B2F10966A59C}" type="parTrans" cxnId="{5090E1F7-2D1A-460A-A128-29010237E3CB}">
      <dgm:prSet/>
      <dgm:spPr/>
      <dgm:t>
        <a:bodyPr/>
        <a:lstStyle/>
        <a:p>
          <a:endParaRPr lang="en-US"/>
        </a:p>
      </dgm:t>
    </dgm:pt>
    <dgm:pt modelId="{EA510059-CFAD-4FE9-AC73-FB442619F516}" type="sibTrans" cxnId="{5090E1F7-2D1A-460A-A128-29010237E3CB}">
      <dgm:prSet/>
      <dgm:spPr/>
      <dgm:t>
        <a:bodyPr/>
        <a:lstStyle/>
        <a:p>
          <a:endParaRPr lang="en-US"/>
        </a:p>
      </dgm:t>
    </dgm:pt>
    <dgm:pt modelId="{04A9F10E-CC46-47AE-BD9E-D77BDC01059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/>
        </a:p>
      </dgm:t>
    </dgm:pt>
    <dgm:pt modelId="{A271505D-9B77-42E4-B167-586D709A871C}" type="parTrans" cxnId="{968EA755-177A-42FD-BC61-1718D70BF044}">
      <dgm:prSet/>
      <dgm:spPr/>
      <dgm:t>
        <a:bodyPr/>
        <a:lstStyle/>
        <a:p>
          <a:endParaRPr lang="en-US"/>
        </a:p>
      </dgm:t>
    </dgm:pt>
    <dgm:pt modelId="{01742BFD-BB4E-44A4-BA4E-3FA4BF6C644E}" type="sibTrans" cxnId="{968EA755-177A-42FD-BC61-1718D70BF044}">
      <dgm:prSet/>
      <dgm:spPr/>
      <dgm:t>
        <a:bodyPr/>
        <a:lstStyle/>
        <a:p>
          <a:endParaRPr lang="en-US"/>
        </a:p>
      </dgm:t>
    </dgm:pt>
    <dgm:pt modelId="{75945F97-54C9-4522-ABEE-8178C52409FA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GLB product integrated into FIA validation tool</a:t>
          </a:r>
          <a:endParaRPr lang="en-US"/>
        </a:p>
      </dgm:t>
    </dgm:pt>
    <dgm:pt modelId="{B2CFFF54-85CE-4E94-A291-0A13A93CB4C2}" type="parTrans" cxnId="{C0C0D20E-CB25-400D-B1DA-CD090EEAB7B7}">
      <dgm:prSet/>
      <dgm:spPr/>
      <dgm:t>
        <a:bodyPr/>
        <a:lstStyle/>
        <a:p>
          <a:endParaRPr lang="en-US"/>
        </a:p>
      </dgm:t>
    </dgm:pt>
    <dgm:pt modelId="{BDD726D6-782A-4C95-8FD4-51048F5E6B60}" type="sibTrans" cxnId="{C0C0D20E-CB25-400D-B1DA-CD090EEAB7B7}">
      <dgm:prSet/>
      <dgm:spPr/>
      <dgm:t>
        <a:bodyPr/>
        <a:lstStyle/>
        <a:p>
          <a:endParaRPr lang="en-US"/>
        </a:p>
      </dgm:t>
    </dgm:pt>
    <dgm:pt modelId="{3D86A3D5-27DA-49AF-B128-FEBF6858C17E}">
      <dgm:prSet/>
      <dgm:spPr/>
      <dgm:t>
        <a:bodyPr/>
        <a:lstStyle/>
        <a:p>
          <a:pPr>
            <a:buNone/>
          </a:pPr>
          <a:endParaRPr lang="en-US"/>
        </a:p>
      </dgm:t>
    </dgm:pt>
    <dgm:pt modelId="{4692226A-36B1-4510-9DFA-E3C3B0786919}" type="parTrans" cxnId="{AD6AF963-0E70-4FEC-BBB5-7EC3F70731FD}">
      <dgm:prSet/>
      <dgm:spPr/>
      <dgm:t>
        <a:bodyPr/>
        <a:lstStyle/>
        <a:p>
          <a:endParaRPr lang="en-US"/>
        </a:p>
      </dgm:t>
    </dgm:pt>
    <dgm:pt modelId="{51C0AA54-D5BE-45C1-8212-41E917D8CA4C}" type="sibTrans" cxnId="{AD6AF963-0E70-4FEC-BBB5-7EC3F70731FD}">
      <dgm:prSet/>
      <dgm:spPr/>
      <dgm:t>
        <a:bodyPr/>
        <a:lstStyle/>
        <a:p>
          <a:endParaRPr lang="en-US"/>
        </a:p>
      </dgm:t>
    </dgm:pt>
    <dgm:pt modelId="{BD63A84B-0882-417B-9FEF-C7DD6BDAEE54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Estate Lock Rider added to VA validation tool</a:t>
          </a:r>
          <a:endParaRPr lang="en-US"/>
        </a:p>
      </dgm:t>
    </dgm:pt>
    <dgm:pt modelId="{F60994FC-0A15-40F5-925C-745F7388F713}" type="parTrans" cxnId="{4790E69B-DCAD-457A-B9BB-56FBEAE9E548}">
      <dgm:prSet/>
      <dgm:spPr/>
      <dgm:t>
        <a:bodyPr/>
        <a:lstStyle/>
        <a:p>
          <a:endParaRPr lang="en-US"/>
        </a:p>
      </dgm:t>
    </dgm:pt>
    <dgm:pt modelId="{51F63497-D284-4128-818E-5B5D49EAA37E}" type="sibTrans" cxnId="{4790E69B-DCAD-457A-B9BB-56FBEAE9E548}">
      <dgm:prSet/>
      <dgm:spPr/>
      <dgm:t>
        <a:bodyPr/>
        <a:lstStyle/>
        <a:p>
          <a:endParaRPr lang="en-US"/>
        </a:p>
      </dgm:t>
    </dgm:pt>
    <dgm:pt modelId="{C4F1253E-548B-4DC0-9857-DADD712E82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 Supporting validation enabled through an Excel tool for directional impact assessment</a:t>
          </a:r>
        </a:p>
      </dgm:t>
    </dgm:pt>
    <dgm:pt modelId="{8284A804-8147-417E-861D-41684FDB5316}" type="parTrans" cxnId="{9706602A-EDFA-4F64-AB12-8FD0F26646C8}">
      <dgm:prSet/>
      <dgm:spPr/>
      <dgm:t>
        <a:bodyPr/>
        <a:lstStyle/>
        <a:p>
          <a:endParaRPr lang="en-US"/>
        </a:p>
      </dgm:t>
    </dgm:pt>
    <dgm:pt modelId="{00D818D1-FF42-4AA6-8685-E60C7B0082DE}" type="sibTrans" cxnId="{9706602A-EDFA-4F64-AB12-8FD0F26646C8}">
      <dgm:prSet/>
      <dgm:spPr/>
      <dgm:t>
        <a:bodyPr/>
        <a:lstStyle/>
        <a:p>
          <a:endParaRPr lang="en-US"/>
        </a:p>
      </dgm:t>
    </dgm:pt>
    <dgm:pt modelId="{73D7F71A-BDC8-4C91-8573-A3C885AA5157}">
      <dgm:prSet/>
      <dgm:spPr/>
      <dgm:t>
        <a:bodyPr/>
        <a:lstStyle/>
        <a:p>
          <a:pPr>
            <a:buNone/>
          </a:pPr>
          <a:endParaRPr lang="en-US"/>
        </a:p>
      </dgm:t>
    </dgm:pt>
    <dgm:pt modelId="{8ED89A2E-10A1-4F65-8A2E-B36923868B5B}" type="parTrans" cxnId="{A155095E-D079-476F-ABC9-C6917206F1FF}">
      <dgm:prSet/>
      <dgm:spPr/>
      <dgm:t>
        <a:bodyPr/>
        <a:lstStyle/>
        <a:p>
          <a:endParaRPr lang="en-US"/>
        </a:p>
      </dgm:t>
    </dgm:pt>
    <dgm:pt modelId="{C0C87009-C516-49C2-A479-68CC7930CF59}" type="sibTrans" cxnId="{A155095E-D079-476F-ABC9-C6917206F1FF}">
      <dgm:prSet/>
      <dgm:spPr/>
      <dgm:t>
        <a:bodyPr/>
        <a:lstStyle/>
        <a:p>
          <a:endParaRPr lang="en-US"/>
        </a:p>
      </dgm:t>
    </dgm:pt>
    <dgm:pt modelId="{85FFBAE9-8F6F-4433-A7D4-97C32D864B09}">
      <dgm:prSet/>
      <dgm:spPr/>
      <dgm:t>
        <a:bodyPr/>
        <a:lstStyle/>
        <a:p>
          <a:pPr>
            <a:buNone/>
          </a:pPr>
          <a:endParaRPr lang="en-US"/>
        </a:p>
      </dgm:t>
    </dgm:pt>
    <dgm:pt modelId="{67EC6D7E-BF29-4E4E-AA8E-D13AD0FC93A1}" type="parTrans" cxnId="{ADE0D9E1-AFFB-4512-AB2C-AFBF5EEB5F4B}">
      <dgm:prSet/>
      <dgm:spPr/>
      <dgm:t>
        <a:bodyPr/>
        <a:lstStyle/>
        <a:p>
          <a:endParaRPr lang="en-US"/>
        </a:p>
      </dgm:t>
    </dgm:pt>
    <dgm:pt modelId="{7CC1BCA8-7C75-4962-9876-2050F9F3070E}" type="sibTrans" cxnId="{ADE0D9E1-AFFB-4512-AB2C-AFBF5EEB5F4B}">
      <dgm:prSet/>
      <dgm:spPr/>
      <dgm:t>
        <a:bodyPr/>
        <a:lstStyle/>
        <a:p>
          <a:endParaRPr lang="en-US"/>
        </a:p>
      </dgm:t>
    </dgm:pt>
    <dgm:pt modelId="{5532B409-9A19-43E9-856A-CF2978D3BDA7}">
      <dgm:prSet phldrT="[Text]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1" i="0"/>
            <a:t> Assumption Upgrade:</a:t>
          </a:r>
          <a:r>
            <a:rPr lang="en-US" b="0" i="0"/>
            <a:t> Lapse assumption framework redesigned with higher granularity (16 parameters vs. 6) and market-linked behavior</a:t>
          </a:r>
          <a:endParaRPr lang="en-US"/>
        </a:p>
      </dgm:t>
    </dgm:pt>
    <dgm:pt modelId="{D0379DE6-D1E5-41B1-8081-A5A44D1F4724}" type="parTrans" cxnId="{D08EFD5B-82F4-4F32-A3F1-C9441279A3D3}">
      <dgm:prSet/>
      <dgm:spPr/>
      <dgm:t>
        <a:bodyPr/>
        <a:lstStyle/>
        <a:p>
          <a:endParaRPr lang="en-US"/>
        </a:p>
      </dgm:t>
    </dgm:pt>
    <dgm:pt modelId="{D0C34747-D6EC-4EE6-AAFD-E5FD512980EB}" type="sibTrans" cxnId="{D08EFD5B-82F4-4F32-A3F1-C9441279A3D3}">
      <dgm:prSet/>
      <dgm:spPr/>
      <dgm:t>
        <a:bodyPr/>
        <a:lstStyle/>
        <a:p>
          <a:endParaRPr lang="en-US"/>
        </a:p>
      </dgm:t>
    </dgm:pt>
    <dgm:pt modelId="{1FD8284F-BAF2-45B7-8E7A-577FE024FE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Attribution Capability:</a:t>
          </a:r>
          <a:r>
            <a:rPr lang="en-US" b="0" i="0"/>
            <a:t> Payout attribution framework developed to track impacts of model changes and support audit requirements.</a:t>
          </a:r>
        </a:p>
      </dgm:t>
    </dgm:pt>
    <dgm:pt modelId="{DCEF3EF5-E5D3-4274-9106-5EF19F89A6A2}" type="parTrans" cxnId="{5766B88C-528E-44CE-8B8D-6850CB9BFA22}">
      <dgm:prSet/>
      <dgm:spPr/>
      <dgm:t>
        <a:bodyPr/>
        <a:lstStyle/>
        <a:p>
          <a:endParaRPr lang="en-US"/>
        </a:p>
      </dgm:t>
    </dgm:pt>
    <dgm:pt modelId="{884A10BA-01CA-49A5-8DA8-4F65185A677D}" type="sibTrans" cxnId="{5766B88C-528E-44CE-8B8D-6850CB9BFA22}">
      <dgm:prSet/>
      <dgm:spPr/>
      <dgm:t>
        <a:bodyPr/>
        <a:lstStyle/>
        <a:p>
          <a:endParaRPr lang="en-US"/>
        </a:p>
      </dgm:t>
    </dgm:pt>
    <dgm:pt modelId="{B5767F61-532B-4200-991D-7FE91538E4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 Run Efficiency:</a:t>
          </a:r>
          <a:r>
            <a:rPr lang="en-US" b="0" i="0"/>
            <a:t> Model hydration migrated from AXIS to SQL, reducing runtime from ~17 hours to ~9 hours and improving overall processing efficiency</a:t>
          </a:r>
        </a:p>
      </dgm:t>
    </dgm:pt>
    <dgm:pt modelId="{400678FF-3A6C-499E-B5FF-6B1DB8EBE09A}" type="parTrans" cxnId="{978D52EC-9E60-4CB1-8978-2916BC8B5299}">
      <dgm:prSet/>
      <dgm:spPr/>
      <dgm:t>
        <a:bodyPr/>
        <a:lstStyle/>
        <a:p>
          <a:endParaRPr lang="en-US"/>
        </a:p>
      </dgm:t>
    </dgm:pt>
    <dgm:pt modelId="{808371D9-FC04-4172-BBEB-B10C39E7608D}" type="sibTrans" cxnId="{978D52EC-9E60-4CB1-8978-2916BC8B5299}">
      <dgm:prSet/>
      <dgm:spPr/>
      <dgm:t>
        <a:bodyPr/>
        <a:lstStyle/>
        <a:p>
          <a:endParaRPr lang="en-US"/>
        </a:p>
      </dgm:t>
    </dgm:pt>
    <dgm:pt modelId="{FF8DF664-F37A-485C-92CE-077107C8F415}">
      <dgm:prSet/>
      <dgm:spPr/>
      <dgm:t>
        <a:bodyPr/>
        <a:lstStyle/>
        <a:p>
          <a:pPr>
            <a:buNone/>
          </a:pPr>
          <a:endParaRPr lang="en-US"/>
        </a:p>
      </dgm:t>
    </dgm:pt>
    <dgm:pt modelId="{0723114D-F693-4CF2-BB0E-AD49AD95A9D9}" type="parTrans" cxnId="{B010789B-0CFD-4CA0-81DB-8CF43ACC3CE7}">
      <dgm:prSet/>
      <dgm:spPr/>
      <dgm:t>
        <a:bodyPr/>
        <a:lstStyle/>
        <a:p>
          <a:endParaRPr lang="en-US"/>
        </a:p>
      </dgm:t>
    </dgm:pt>
    <dgm:pt modelId="{53B57196-EE7C-4DAB-909C-A7323D7E9564}" type="sibTrans" cxnId="{B010789B-0CFD-4CA0-81DB-8CF43ACC3CE7}">
      <dgm:prSet/>
      <dgm:spPr/>
      <dgm:t>
        <a:bodyPr/>
        <a:lstStyle/>
        <a:p>
          <a:endParaRPr lang="en-US"/>
        </a:p>
      </dgm:t>
    </dgm:pt>
    <dgm:pt modelId="{F783C905-5991-405C-BD04-CCD13669CD69}">
      <dgm:prSet/>
      <dgm:spPr/>
      <dgm:t>
        <a:bodyPr/>
        <a:lstStyle/>
        <a:p>
          <a:pPr>
            <a:buNone/>
          </a:pPr>
          <a:endParaRPr lang="en-US"/>
        </a:p>
      </dgm:t>
    </dgm:pt>
    <dgm:pt modelId="{17155EBB-F1CB-4FEC-8196-59890785AF65}" type="parTrans" cxnId="{9ECB71B9-54F7-48BB-9D6E-F8A3727D434A}">
      <dgm:prSet/>
      <dgm:spPr/>
      <dgm:t>
        <a:bodyPr/>
        <a:lstStyle/>
        <a:p>
          <a:endParaRPr lang="en-US"/>
        </a:p>
      </dgm:t>
    </dgm:pt>
    <dgm:pt modelId="{BD6C7B6A-1C7F-44F5-90FD-42938E73C386}" type="sibTrans" cxnId="{9ECB71B9-54F7-48BB-9D6E-F8A3727D434A}">
      <dgm:prSet/>
      <dgm:spPr/>
      <dgm:t>
        <a:bodyPr/>
        <a:lstStyle/>
        <a:p>
          <a:endParaRPr lang="en-US"/>
        </a:p>
      </dgm:t>
    </dgm:pt>
    <dgm:pt modelId="{37CACE14-BB7E-4039-9FC0-7D38AAB90E2A}">
      <dgm:prSet phldrT="[Text]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endParaRPr lang="en-US"/>
        </a:p>
      </dgm:t>
    </dgm:pt>
    <dgm:pt modelId="{BAC6D736-1DCD-46DC-A16E-6B8B95E08746}" type="parTrans" cxnId="{6DDD4AB1-454B-43F1-A696-E1D9DE2A20B1}">
      <dgm:prSet/>
      <dgm:spPr/>
      <dgm:t>
        <a:bodyPr/>
        <a:lstStyle/>
        <a:p>
          <a:endParaRPr lang="en-US"/>
        </a:p>
      </dgm:t>
    </dgm:pt>
    <dgm:pt modelId="{3A62AAFA-4BFD-4F1F-A755-AAA7DD058378}" type="sibTrans" cxnId="{6DDD4AB1-454B-43F1-A696-E1D9DE2A20B1}">
      <dgm:prSet/>
      <dgm:spPr/>
      <dgm:t>
        <a:bodyPr/>
        <a:lstStyle/>
        <a:p>
          <a:endParaRPr lang="en-US"/>
        </a:p>
      </dgm:t>
    </dgm:pt>
    <dgm:pt modelId="{C40B8F4A-30C4-4F9E-A421-809F9B1431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b="0" i="0"/>
        </a:p>
      </dgm:t>
    </dgm:pt>
    <dgm:pt modelId="{FBCF24DD-4810-4FD4-8ABD-494185F86F97}" type="parTrans" cxnId="{4AF5A7D8-EE7C-4311-A914-6F82D3C395DF}">
      <dgm:prSet/>
      <dgm:spPr/>
      <dgm:t>
        <a:bodyPr/>
        <a:lstStyle/>
        <a:p>
          <a:endParaRPr lang="en-US"/>
        </a:p>
      </dgm:t>
    </dgm:pt>
    <dgm:pt modelId="{0390C398-E64A-4629-9E6B-A184A5D6D1F0}" type="sibTrans" cxnId="{4AF5A7D8-EE7C-4311-A914-6F82D3C395DF}">
      <dgm:prSet/>
      <dgm:spPr/>
      <dgm:t>
        <a:bodyPr/>
        <a:lstStyle/>
        <a:p>
          <a:endParaRPr lang="en-US"/>
        </a:p>
      </dgm:t>
    </dgm:pt>
    <dgm:pt modelId="{641D87D5-20B8-4155-A56D-72BF126EC838}">
      <dgm:prSet/>
      <dgm:spPr/>
      <dgm:t>
        <a:bodyPr/>
        <a:lstStyle/>
        <a:p>
          <a:pPr>
            <a:buNone/>
          </a:pPr>
          <a:endParaRPr lang="en-US" b="0" i="0"/>
        </a:p>
      </dgm:t>
    </dgm:pt>
    <dgm:pt modelId="{3D838B8A-A893-4FD1-8E0B-EEE707B74FE7}" type="parTrans" cxnId="{AC3E6E4B-9EF2-4E89-996E-F559D76BA470}">
      <dgm:prSet/>
      <dgm:spPr/>
      <dgm:t>
        <a:bodyPr/>
        <a:lstStyle/>
        <a:p>
          <a:endParaRPr lang="en-US"/>
        </a:p>
      </dgm:t>
    </dgm:pt>
    <dgm:pt modelId="{34FD2775-D39C-4C24-801A-AE974AF16112}" type="sibTrans" cxnId="{AC3E6E4B-9EF2-4E89-996E-F559D76BA470}">
      <dgm:prSet/>
      <dgm:spPr/>
      <dgm:t>
        <a:bodyPr/>
        <a:lstStyle/>
        <a:p>
          <a:endParaRPr lang="en-US"/>
        </a:p>
      </dgm:t>
    </dgm:pt>
    <dgm:pt modelId="{927D91E9-C996-4DE0-BA6C-7CC23A708B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 Supporting validation enabled through an Excel tool for directional impact assessment</a:t>
          </a:r>
        </a:p>
      </dgm:t>
    </dgm:pt>
    <dgm:pt modelId="{9F4CDE21-0CA6-40F0-A748-E76C591C62D8}" type="parTrans" cxnId="{11FAEAA4-2E2A-4024-BD81-CF6E28ED86B7}">
      <dgm:prSet/>
      <dgm:spPr/>
      <dgm:t>
        <a:bodyPr/>
        <a:lstStyle/>
        <a:p>
          <a:endParaRPr lang="en-US"/>
        </a:p>
      </dgm:t>
    </dgm:pt>
    <dgm:pt modelId="{1E757985-9CD1-4C77-87D2-85B7E289965B}" type="sibTrans" cxnId="{11FAEAA4-2E2A-4024-BD81-CF6E28ED86B7}">
      <dgm:prSet/>
      <dgm:spPr/>
      <dgm:t>
        <a:bodyPr/>
        <a:lstStyle/>
        <a:p>
          <a:endParaRPr lang="en-US"/>
        </a:p>
      </dgm:t>
    </dgm:pt>
    <dgm:pt modelId="{60CAD01F-2BB7-4315-8AA1-92AB4BA06F4E}">
      <dgm:prSet/>
      <dgm:spPr/>
      <dgm:t>
        <a:bodyPr/>
        <a:lstStyle/>
        <a:p>
          <a:r>
            <a:rPr lang="en-US" b="1" i="0"/>
            <a:t> Run Efficiency:</a:t>
          </a:r>
          <a:r>
            <a:rPr lang="en-US" b="0" i="0"/>
            <a:t> Long run times (~12 hours); clustering used to streamline CFT execution</a:t>
          </a:r>
          <a:endParaRPr lang="en-US"/>
        </a:p>
      </dgm:t>
    </dgm:pt>
    <dgm:pt modelId="{3DBEDFCC-DE85-4C9E-ABBC-903510555DA3}" type="parTrans" cxnId="{68795817-6F7F-47D2-A206-88C64837170B}">
      <dgm:prSet/>
      <dgm:spPr/>
      <dgm:t>
        <a:bodyPr/>
        <a:lstStyle/>
        <a:p>
          <a:endParaRPr lang="en-US"/>
        </a:p>
      </dgm:t>
    </dgm:pt>
    <dgm:pt modelId="{681FF6B7-80A8-4FBA-BFF6-38BA4A25F04D}" type="sibTrans" cxnId="{68795817-6F7F-47D2-A206-88C64837170B}">
      <dgm:prSet/>
      <dgm:spPr/>
      <dgm:t>
        <a:bodyPr/>
        <a:lstStyle/>
        <a:p>
          <a:endParaRPr lang="en-US"/>
        </a:p>
      </dgm:t>
    </dgm:pt>
    <dgm:pt modelId="{A5630C36-B3AD-48B9-A129-8E2FF10EFAA4}">
      <dgm:prSet/>
      <dgm:spPr/>
      <dgm:t>
        <a:bodyPr/>
        <a:lstStyle/>
        <a:p>
          <a:endParaRPr lang="en-US"/>
        </a:p>
      </dgm:t>
    </dgm:pt>
    <dgm:pt modelId="{7AA6A422-7754-4A8F-8869-376A78E95000}" type="parTrans" cxnId="{A325AB8C-E2FF-4877-99D0-61D87733F1B8}">
      <dgm:prSet/>
      <dgm:spPr/>
      <dgm:t>
        <a:bodyPr/>
        <a:lstStyle/>
        <a:p>
          <a:endParaRPr lang="en-US"/>
        </a:p>
      </dgm:t>
    </dgm:pt>
    <dgm:pt modelId="{B72D0486-7D9E-4EC5-94A6-2EEC14D1390D}" type="sibTrans" cxnId="{A325AB8C-E2FF-4877-99D0-61D87733F1B8}">
      <dgm:prSet/>
      <dgm:spPr/>
      <dgm:t>
        <a:bodyPr/>
        <a:lstStyle/>
        <a:p>
          <a:endParaRPr lang="en-US"/>
        </a:p>
      </dgm:t>
    </dgm:pt>
    <dgm:pt modelId="{41BAA947-AD9F-4283-8AFD-6478CD29459D}">
      <dgm:prSet/>
      <dgm:spPr/>
      <dgm:t>
        <a:bodyPr/>
        <a:lstStyle/>
        <a:p>
          <a:r>
            <a:rPr lang="en-US" b="1" i="0"/>
            <a:t> VM-22:</a:t>
          </a:r>
          <a:r>
            <a:rPr lang="en-US" b="0" i="0"/>
            <a:t> Successfully implemented for FIA</a:t>
          </a:r>
          <a:endParaRPr lang="en-US"/>
        </a:p>
      </dgm:t>
    </dgm:pt>
    <dgm:pt modelId="{244693CE-8D54-448D-9A8C-3488155265EE}" type="parTrans" cxnId="{4202FAB8-767E-4528-9FBC-3ADE5D043D10}">
      <dgm:prSet/>
      <dgm:spPr/>
      <dgm:t>
        <a:bodyPr/>
        <a:lstStyle/>
        <a:p>
          <a:endParaRPr lang="en-US"/>
        </a:p>
      </dgm:t>
    </dgm:pt>
    <dgm:pt modelId="{ECAA4437-EBB0-46DD-AE79-73831875E8A9}" type="sibTrans" cxnId="{4202FAB8-767E-4528-9FBC-3ADE5D043D10}">
      <dgm:prSet/>
      <dgm:spPr/>
      <dgm:t>
        <a:bodyPr/>
        <a:lstStyle/>
        <a:p>
          <a:endParaRPr lang="en-US"/>
        </a:p>
      </dgm:t>
    </dgm:pt>
    <dgm:pt modelId="{48B7F662-FE86-4A5E-82F0-B5ED8E55DE8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 Surrender charge and commission, </a:t>
          </a:r>
          <a:endParaRPr lang="en-US"/>
        </a:p>
      </dgm:t>
    </dgm:pt>
    <dgm:pt modelId="{2ABDE5BA-4129-4229-8B99-71DDCA703113}" type="parTrans" cxnId="{04D424ED-002D-4E2B-825B-F5A51340A072}">
      <dgm:prSet/>
      <dgm:spPr/>
      <dgm:t>
        <a:bodyPr/>
        <a:lstStyle/>
        <a:p>
          <a:endParaRPr lang="en-US"/>
        </a:p>
      </dgm:t>
    </dgm:pt>
    <dgm:pt modelId="{7CA878A0-D6CE-43D1-8F42-64E1A4564608}" type="sibTrans" cxnId="{04D424ED-002D-4E2B-825B-F5A51340A072}">
      <dgm:prSet/>
      <dgm:spPr/>
      <dgm:t>
        <a:bodyPr/>
        <a:lstStyle/>
        <a:p>
          <a:endParaRPr lang="en-US"/>
        </a:p>
      </dgm:t>
    </dgm:pt>
    <dgm:pt modelId="{E62BD5BF-B352-49DF-8A0A-5CA11A1E3D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 MRB start date and MRB attribution fees</a:t>
          </a:r>
          <a:endParaRPr lang="en-US"/>
        </a:p>
      </dgm:t>
    </dgm:pt>
    <dgm:pt modelId="{2FD8643E-B7D7-4160-B152-52CDD815E69B}" type="parTrans" cxnId="{33440B45-83EB-44B6-86E4-A921D10DC366}">
      <dgm:prSet/>
      <dgm:spPr/>
      <dgm:t>
        <a:bodyPr/>
        <a:lstStyle/>
        <a:p>
          <a:endParaRPr lang="en-US"/>
        </a:p>
      </dgm:t>
    </dgm:pt>
    <dgm:pt modelId="{B452B29F-02F8-432C-AF25-B8E4183E2B87}" type="sibTrans" cxnId="{33440B45-83EB-44B6-86E4-A921D10DC366}">
      <dgm:prSet/>
      <dgm:spPr/>
      <dgm:t>
        <a:bodyPr/>
        <a:lstStyle/>
        <a:p>
          <a:endParaRPr lang="en-US"/>
        </a:p>
      </dgm:t>
    </dgm:pt>
    <dgm:pt modelId="{F817BB8D-206B-4D78-BC24-CF1BF25D6154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/>
        </a:p>
      </dgm:t>
    </dgm:pt>
    <dgm:pt modelId="{90FF035B-C0AE-40FB-A52C-0A5F6A36DA59}" type="parTrans" cxnId="{DDC1305A-1477-4485-B9A8-888C6A489452}">
      <dgm:prSet/>
      <dgm:spPr/>
      <dgm:t>
        <a:bodyPr/>
        <a:lstStyle/>
        <a:p>
          <a:endParaRPr lang="en-US"/>
        </a:p>
      </dgm:t>
    </dgm:pt>
    <dgm:pt modelId="{900CADF4-CAE5-48F9-9721-D9687483F07E}" type="sibTrans" cxnId="{DDC1305A-1477-4485-B9A8-888C6A489452}">
      <dgm:prSet/>
      <dgm:spPr/>
      <dgm:t>
        <a:bodyPr/>
        <a:lstStyle/>
        <a:p>
          <a:endParaRPr lang="en-US"/>
        </a:p>
      </dgm:t>
    </dgm:pt>
    <dgm:pt modelId="{F39D2FE2-BAC4-44B0-AB19-F71A76F6C234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 </a:t>
          </a:r>
          <a:r>
            <a:rPr lang="en-US" b="1" i="0"/>
            <a:t>UAT Completion:</a:t>
          </a:r>
          <a:r>
            <a:rPr lang="en-US" b="0" i="0"/>
            <a:t> Testbed validation nearing completion across all tools; production readiness expected shortly</a:t>
          </a:r>
          <a:endParaRPr lang="en-US"/>
        </a:p>
      </dgm:t>
    </dgm:pt>
    <dgm:pt modelId="{4BBD0484-06D2-403C-A7A0-A4B02B9E5372}" type="parTrans" cxnId="{D1FC48DB-FE5C-4650-9E72-48D0DF435FD9}">
      <dgm:prSet/>
      <dgm:spPr/>
      <dgm:t>
        <a:bodyPr/>
        <a:lstStyle/>
        <a:p>
          <a:endParaRPr lang="en-US"/>
        </a:p>
      </dgm:t>
    </dgm:pt>
    <dgm:pt modelId="{5D14BAC9-B5B3-46FD-BD26-5653E4980D80}" type="sibTrans" cxnId="{D1FC48DB-FE5C-4650-9E72-48D0DF435FD9}">
      <dgm:prSet/>
      <dgm:spPr/>
      <dgm:t>
        <a:bodyPr/>
        <a:lstStyle/>
        <a:p>
          <a:endParaRPr lang="en-US"/>
        </a:p>
      </dgm:t>
    </dgm:pt>
    <dgm:pt modelId="{7DB867C8-2252-4888-BD7D-88A6ECDC566C}" type="pres">
      <dgm:prSet presAssocID="{B00EEE32-3722-44D7-BB60-0CE05B5B8D84}" presName="Name0" presStyleCnt="0">
        <dgm:presLayoutVars>
          <dgm:dir/>
          <dgm:animLvl val="lvl"/>
          <dgm:resizeHandles val="exact"/>
        </dgm:presLayoutVars>
      </dgm:prSet>
      <dgm:spPr/>
    </dgm:pt>
    <dgm:pt modelId="{A42A180D-C8B0-4918-B5DA-477FBEB3C5B4}" type="pres">
      <dgm:prSet presAssocID="{6284D307-55B3-4C9A-ACD0-7A1AB57E61B5}" presName="composite" presStyleCnt="0"/>
      <dgm:spPr/>
    </dgm:pt>
    <dgm:pt modelId="{EB42F0AE-E647-4D9A-9CCB-4877767C1B4C}" type="pres">
      <dgm:prSet presAssocID="{6284D307-55B3-4C9A-ACD0-7A1AB57E61B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336694D-5884-4F75-A34B-AAEF73F7C593}" type="pres">
      <dgm:prSet presAssocID="{6284D307-55B3-4C9A-ACD0-7A1AB57E61B5}" presName="desTx" presStyleLbl="alignAccFollowNode1" presStyleIdx="0" presStyleCnt="4">
        <dgm:presLayoutVars>
          <dgm:bulletEnabled val="1"/>
        </dgm:presLayoutVars>
      </dgm:prSet>
      <dgm:spPr/>
    </dgm:pt>
    <dgm:pt modelId="{F4112AE0-0D0C-43BA-BEC7-B1D0727BC6AC}" type="pres">
      <dgm:prSet presAssocID="{0601E284-EC3E-482C-8C28-3DB1F12FB3FA}" presName="space" presStyleCnt="0"/>
      <dgm:spPr/>
    </dgm:pt>
    <dgm:pt modelId="{5E21C141-F518-473B-B8BB-5EB5E8040E00}" type="pres">
      <dgm:prSet presAssocID="{6BCD7561-A3EB-417B-A355-92BAE586D9CB}" presName="composite" presStyleCnt="0"/>
      <dgm:spPr/>
    </dgm:pt>
    <dgm:pt modelId="{CA9AE122-9D05-46FD-95F6-AD41075B5AEA}" type="pres">
      <dgm:prSet presAssocID="{6BCD7561-A3EB-417B-A355-92BAE586D9C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B7EEAE6-B43E-48AA-B009-C51EFFB46DA5}" type="pres">
      <dgm:prSet presAssocID="{6BCD7561-A3EB-417B-A355-92BAE586D9CB}" presName="desTx" presStyleLbl="alignAccFollowNode1" presStyleIdx="1" presStyleCnt="4">
        <dgm:presLayoutVars>
          <dgm:bulletEnabled val="1"/>
        </dgm:presLayoutVars>
      </dgm:prSet>
      <dgm:spPr/>
    </dgm:pt>
    <dgm:pt modelId="{FDD44AC3-2D27-4F46-9268-C6A667E26312}" type="pres">
      <dgm:prSet presAssocID="{A946C17B-9283-4061-B00F-D6603037696A}" presName="space" presStyleCnt="0"/>
      <dgm:spPr/>
    </dgm:pt>
    <dgm:pt modelId="{5A61A9A4-344D-426F-9AA6-DD881C953594}" type="pres">
      <dgm:prSet presAssocID="{ED8C8B50-34D0-44A1-BFA9-4BFD1ED47367}" presName="composite" presStyleCnt="0"/>
      <dgm:spPr/>
    </dgm:pt>
    <dgm:pt modelId="{FFAE5084-026C-4864-868A-7C2A81CE1A36}" type="pres">
      <dgm:prSet presAssocID="{ED8C8B50-34D0-44A1-BFA9-4BFD1ED4736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A4CC5B6-EDAA-43A5-A098-C3C6D10BDF12}" type="pres">
      <dgm:prSet presAssocID="{ED8C8B50-34D0-44A1-BFA9-4BFD1ED47367}" presName="desTx" presStyleLbl="alignAccFollowNode1" presStyleIdx="2" presStyleCnt="4">
        <dgm:presLayoutVars>
          <dgm:bulletEnabled val="1"/>
        </dgm:presLayoutVars>
      </dgm:prSet>
      <dgm:spPr/>
    </dgm:pt>
    <dgm:pt modelId="{3EF8AB93-70D8-46DF-8722-461374672602}" type="pres">
      <dgm:prSet presAssocID="{8E7CC2D0-C5E4-4CBC-9038-347954CA0F1A}" presName="space" presStyleCnt="0"/>
      <dgm:spPr/>
    </dgm:pt>
    <dgm:pt modelId="{D8AB881C-39F1-4D36-A0E7-2F4B022214EF}" type="pres">
      <dgm:prSet presAssocID="{A845E2B5-F585-4411-AD51-07B22395EAC9}" presName="composite" presStyleCnt="0"/>
      <dgm:spPr/>
    </dgm:pt>
    <dgm:pt modelId="{9D14DDA2-26F6-4D18-97B4-C70DB3317402}" type="pres">
      <dgm:prSet presAssocID="{A845E2B5-F585-4411-AD51-07B22395EAC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7CCC8EA-9E73-49B6-A1D3-5716F98CCE57}" type="pres">
      <dgm:prSet presAssocID="{A845E2B5-F585-4411-AD51-07B22395EAC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059D200-59A8-4675-92D9-F0007739B76C}" type="presOf" srcId="{B468BAD7-71EE-4E14-8AA7-B61A87ECE8C8}" destId="{0B7EEAE6-B43E-48AA-B009-C51EFFB46DA5}" srcOrd="0" destOrd="0" presId="urn:microsoft.com/office/officeart/2005/8/layout/hList1"/>
    <dgm:cxn modelId="{45D39301-1886-4E9B-A156-1BD695D82241}" srcId="{6284D307-55B3-4C9A-ACD0-7A1AB57E61B5}" destId="{7691DB8A-A5AC-43CA-AC34-A877ED0F93E7}" srcOrd="7" destOrd="0" parTransId="{3B271315-CBC4-44E5-AB20-6C493CC50B1F}" sibTransId="{AE5946F5-EDB0-40BC-B768-8C233C9798BE}"/>
    <dgm:cxn modelId="{A4D9AD02-4DAB-433F-B649-1DDA0BC516CA}" type="presOf" srcId="{85FFBAE9-8F6F-4433-A7D4-97C32D864B09}" destId="{0B7EEAE6-B43E-48AA-B009-C51EFFB46DA5}" srcOrd="0" destOrd="11" presId="urn:microsoft.com/office/officeart/2005/8/layout/hList1"/>
    <dgm:cxn modelId="{E1E4DB05-E45D-490B-B809-73484D035F37}" type="presOf" srcId="{F783C905-5991-405C-BD04-CCD13669CD69}" destId="{0B7EEAE6-B43E-48AA-B009-C51EFFB46DA5}" srcOrd="0" destOrd="9" presId="urn:microsoft.com/office/officeart/2005/8/layout/hList1"/>
    <dgm:cxn modelId="{237A7006-6CEA-44B0-BFC6-4C1C956EF3E1}" type="presOf" srcId="{C40B8F4A-30C4-4F9E-A421-809F9B1431F8}" destId="{0B7EEAE6-B43E-48AA-B009-C51EFFB46DA5}" srcOrd="0" destOrd="4" presId="urn:microsoft.com/office/officeart/2005/8/layout/hList1"/>
    <dgm:cxn modelId="{C0C0D20E-CB25-400D-B1DA-CD090EEAB7B7}" srcId="{C1FE2EB7-2FA9-44E1-A3D4-95E721077DC8}" destId="{75945F97-54C9-4522-ABEE-8178C52409FA}" srcOrd="0" destOrd="0" parTransId="{B2CFFF54-85CE-4E94-A291-0A13A93CB4C2}" sibTransId="{BDD726D6-782A-4C95-8FD4-51048F5E6B60}"/>
    <dgm:cxn modelId="{DA7C8212-D044-4331-8035-2ADC45B31877}" srcId="{B00EEE32-3722-44D7-BB60-0CE05B5B8D84}" destId="{A845E2B5-F585-4411-AD51-07B22395EAC9}" srcOrd="3" destOrd="0" parTransId="{13BC6A1F-CE07-44E3-8803-B2E429157F67}" sibTransId="{E03C43D5-5892-4C58-A2B1-4238918D3328}"/>
    <dgm:cxn modelId="{D7D1CC12-791D-432B-8E69-D8DCE35C755C}" srcId="{B00EEE32-3722-44D7-BB60-0CE05B5B8D84}" destId="{6BCD7561-A3EB-417B-A355-92BAE586D9CB}" srcOrd="1" destOrd="0" parTransId="{BE3BB0C9-F49D-47AD-8F7F-C16B3586176F}" sibTransId="{A946C17B-9283-4061-B00F-D6603037696A}"/>
    <dgm:cxn modelId="{40EA6817-747A-4416-84AD-A3829B946C6A}" srcId="{ED8C8B50-34D0-44A1-BFA9-4BFD1ED47367}" destId="{46D875ED-4022-4530-B3C2-626E5198E129}" srcOrd="4" destOrd="0" parTransId="{0033CD47-0CB1-432B-AD2F-0F3600B6243D}" sibTransId="{82401B78-A70E-4231-89F4-BC4BD34E4C4C}"/>
    <dgm:cxn modelId="{68795817-6F7F-47D2-A206-88C64837170B}" srcId="{6284D307-55B3-4C9A-ACD0-7A1AB57E61B5}" destId="{60CAD01F-2BB7-4315-8AA1-92AB4BA06F4E}" srcOrd="4" destOrd="0" parTransId="{3DBEDFCC-DE85-4C9E-ABBC-903510555DA3}" sibTransId="{681FF6B7-80A8-4FBA-BFF6-38BA4A25F04D}"/>
    <dgm:cxn modelId="{D237CB1F-4639-4361-AAFF-1834697A89ED}" type="presOf" srcId="{7082C128-3123-46E7-82E4-2C4786B57C7A}" destId="{8336694D-5884-4F75-A34B-AAEF73F7C593}" srcOrd="0" destOrd="5" presId="urn:microsoft.com/office/officeart/2005/8/layout/hList1"/>
    <dgm:cxn modelId="{A4E74321-D879-4F31-AA56-30E78AC989CF}" type="presOf" srcId="{1FD8284F-BAF2-45B7-8E7A-577FE024FE4E}" destId="{0B7EEAE6-B43E-48AA-B009-C51EFFB46DA5}" srcOrd="0" destOrd="5" presId="urn:microsoft.com/office/officeart/2005/8/layout/hList1"/>
    <dgm:cxn modelId="{AC2E8323-84FC-4620-8E40-46E338D10A2F}" type="presOf" srcId="{3D86A3D5-27DA-49AF-B128-FEBF6858C17E}" destId="{C7CCC8EA-9E73-49B6-A1D3-5716F98CCE57}" srcOrd="0" destOrd="3" presId="urn:microsoft.com/office/officeart/2005/8/layout/hList1"/>
    <dgm:cxn modelId="{9706602A-EDFA-4F64-AB12-8FD0F26646C8}" srcId="{5532B409-9A19-43E9-856A-CF2978D3BDA7}" destId="{C4F1253E-548B-4DC0-9857-DADD712E8278}" srcOrd="0" destOrd="0" parTransId="{8284A804-8147-417E-861D-41684FDB5316}" sibTransId="{00D818D1-FF42-4AA6-8685-E60C7B0082DE}"/>
    <dgm:cxn modelId="{6AEA1F2B-7362-42FD-829B-4AD2D7BCC0B6}" srcId="{6284D307-55B3-4C9A-ACD0-7A1AB57E61B5}" destId="{C5E2BF59-ED74-4EC3-A46C-E6AA633E320B}" srcOrd="0" destOrd="0" parTransId="{48E4A21B-8F7A-4446-B851-B7E97F00FDDD}" sibTransId="{823E77E1-80F4-493D-BCA5-D5092E59BF01}"/>
    <dgm:cxn modelId="{4BCEEF2E-2D77-4F5A-8E03-5BD85AA3C13C}" type="presOf" srcId="{60CAD01F-2BB7-4315-8AA1-92AB4BA06F4E}" destId="{8336694D-5884-4F75-A34B-AAEF73F7C593}" srcOrd="0" destOrd="6" presId="urn:microsoft.com/office/officeart/2005/8/layout/hList1"/>
    <dgm:cxn modelId="{6E1C7E38-458D-4896-887D-83C135A40CCD}" type="presOf" srcId="{48B7F662-FE86-4A5E-82F0-B5ED8E55DE81}" destId="{8336694D-5884-4F75-A34B-AAEF73F7C593}" srcOrd="0" destOrd="3" presId="urn:microsoft.com/office/officeart/2005/8/layout/hList1"/>
    <dgm:cxn modelId="{D08EFD5B-82F4-4F32-A3F1-C9441279A3D3}" srcId="{6BCD7561-A3EB-417B-A355-92BAE586D9CB}" destId="{5532B409-9A19-43E9-856A-CF2978D3BDA7}" srcOrd="2" destOrd="0" parTransId="{D0379DE6-D1E5-41B1-8081-A5A44D1F4724}" sibTransId="{D0C34747-D6EC-4EE6-AAFD-E5FD512980EB}"/>
    <dgm:cxn modelId="{A155095E-D079-476F-ABC9-C6917206F1FF}" srcId="{6BCD7561-A3EB-417B-A355-92BAE586D9CB}" destId="{73D7F71A-BDC8-4C91-8573-A3C885AA5157}" srcOrd="8" destOrd="0" parTransId="{8ED89A2E-10A1-4F65-8A2E-B36923868B5B}" sibTransId="{C0C87009-C516-49C2-A479-68CC7930CF59}"/>
    <dgm:cxn modelId="{7F9B275F-7DD7-453C-8EE3-589C4CD41E27}" type="presOf" srcId="{641D87D5-20B8-4155-A56D-72BF126EC838}" destId="{0B7EEAE6-B43E-48AA-B009-C51EFFB46DA5}" srcOrd="0" destOrd="6" presId="urn:microsoft.com/office/officeart/2005/8/layout/hList1"/>
    <dgm:cxn modelId="{AD6AF963-0E70-4FEC-BBB5-7EC3F70731FD}" srcId="{A845E2B5-F585-4411-AD51-07B22395EAC9}" destId="{3D86A3D5-27DA-49AF-B128-FEBF6858C17E}" srcOrd="1" destOrd="0" parTransId="{4692226A-36B1-4510-9DFA-E3C3B0786919}" sibTransId="{51C0AA54-D5BE-45C1-8212-41E917D8CA4C}"/>
    <dgm:cxn modelId="{33440B45-83EB-44B6-86E4-A921D10DC366}" srcId="{4B101F48-CBB7-483C-ACF1-D3AABBD6B1E3}" destId="{E62BD5BF-B352-49DF-8A0A-5CA11A1E3DAB}" srcOrd="1" destOrd="0" parTransId="{2FD8643E-B7D7-4160-B152-52CDD815E69B}" sibTransId="{B452B29F-02F8-432C-AF25-B8E4183E2B87}"/>
    <dgm:cxn modelId="{D82E9645-7250-485C-A9CD-E3E4D49546F1}" type="presOf" srcId="{B00EEE32-3722-44D7-BB60-0CE05B5B8D84}" destId="{7DB867C8-2252-4888-BD7D-88A6ECDC566C}" srcOrd="0" destOrd="0" presId="urn:microsoft.com/office/officeart/2005/8/layout/hList1"/>
    <dgm:cxn modelId="{9E2F0B47-F120-4689-AB64-B20F16A942C5}" type="presOf" srcId="{0E0DE599-C574-47C0-88E9-2FFE21BA3AD8}" destId="{2A4CC5B6-EDAA-43A5-A098-C3C6D10BDF12}" srcOrd="0" destOrd="0" presId="urn:microsoft.com/office/officeart/2005/8/layout/hList1"/>
    <dgm:cxn modelId="{0478F567-C98B-4B52-857F-266305D1D651}" type="presOf" srcId="{A845E2B5-F585-4411-AD51-07B22395EAC9}" destId="{9D14DDA2-26F6-4D18-97B4-C70DB3317402}" srcOrd="0" destOrd="0" presId="urn:microsoft.com/office/officeart/2005/8/layout/hList1"/>
    <dgm:cxn modelId="{05EFE568-F455-41F0-B6D7-9357790A58C9}" type="presOf" srcId="{37CACE14-BB7E-4039-9FC0-7D38AAB90E2A}" destId="{0B7EEAE6-B43E-48AA-B009-C51EFFB46DA5}" srcOrd="0" destOrd="1" presId="urn:microsoft.com/office/officeart/2005/8/layout/hList1"/>
    <dgm:cxn modelId="{E398286B-4AB3-4A73-9C9A-9946727AB150}" srcId="{6284D307-55B3-4C9A-ACD0-7A1AB57E61B5}" destId="{A86A818D-1527-4564-AC39-9EED94096393}" srcOrd="1" destOrd="0" parTransId="{8374346F-9DCA-494F-9590-71F75CB95E49}" sibTransId="{7BDC7F84-AE36-4E86-B0F5-2227E37503D8}"/>
    <dgm:cxn modelId="{AC3E6E4B-9EF2-4E89-996E-F559D76BA470}" srcId="{6BCD7561-A3EB-417B-A355-92BAE586D9CB}" destId="{641D87D5-20B8-4155-A56D-72BF126EC838}" srcOrd="4" destOrd="0" parTransId="{3D838B8A-A893-4FD1-8E0B-EEE707B74FE7}" sibTransId="{34FD2775-D39C-4C24-801A-AE974AF16112}"/>
    <dgm:cxn modelId="{EF58024C-BBCA-4720-AE11-A5B43E5214B2}" srcId="{B00EEE32-3722-44D7-BB60-0CE05B5B8D84}" destId="{ED8C8B50-34D0-44A1-BFA9-4BFD1ED47367}" srcOrd="2" destOrd="0" parTransId="{6B345816-5AD4-46A6-8D72-4B35F88EAD62}" sibTransId="{8E7CC2D0-C5E4-4CBC-9038-347954CA0F1A}"/>
    <dgm:cxn modelId="{1ED7FF6D-4177-4320-B932-2559762B5FEB}" type="presOf" srcId="{C4F1253E-548B-4DC0-9857-DADD712E8278}" destId="{0B7EEAE6-B43E-48AA-B009-C51EFFB46DA5}" srcOrd="0" destOrd="3" presId="urn:microsoft.com/office/officeart/2005/8/layout/hList1"/>
    <dgm:cxn modelId="{9D71974E-6A00-4852-B8A3-99BEB770B065}" srcId="{ED8C8B50-34D0-44A1-BFA9-4BFD1ED47367}" destId="{D9B95D9D-29D0-4C4C-9F12-7C322315F80F}" srcOrd="2" destOrd="0" parTransId="{15EFAB75-4875-4EE0-BE6A-FBD62751F61B}" sibTransId="{40A62CC9-1353-4285-8436-298EB8240EA9}"/>
    <dgm:cxn modelId="{7F202C6F-02ED-4EA5-90BA-EC1C0E2A5BD0}" srcId="{A845E2B5-F585-4411-AD51-07B22395EAC9}" destId="{C1FE2EB7-2FA9-44E1-A3D4-95E721077DC8}" srcOrd="0" destOrd="0" parTransId="{F02F487E-9010-4BD6-B435-3428466AD183}" sibTransId="{0683889E-2C1F-4014-B29A-87CC17CFE078}"/>
    <dgm:cxn modelId="{2A214772-7EAC-432B-AEC6-C8628FC5C675}" srcId="{6284D307-55B3-4C9A-ACD0-7A1AB57E61B5}" destId="{7082C128-3123-46E7-82E4-2C4786B57C7A}" srcOrd="3" destOrd="0" parTransId="{9557D00F-1335-4CD4-9AA6-C2CB63BD6561}" sibTransId="{880E835C-719F-47D4-BC1F-DBBDA3DD8ECF}"/>
    <dgm:cxn modelId="{CB7E4B54-9D6B-481C-A580-4537983CEB03}" type="presOf" srcId="{ED8C8B50-34D0-44A1-BFA9-4BFD1ED47367}" destId="{FFAE5084-026C-4864-868A-7C2A81CE1A36}" srcOrd="0" destOrd="0" presId="urn:microsoft.com/office/officeart/2005/8/layout/hList1"/>
    <dgm:cxn modelId="{586D9A74-8DA0-4C7B-B1A6-153CF533F4B5}" type="presOf" srcId="{C1FE2EB7-2FA9-44E1-A3D4-95E721077DC8}" destId="{C7CCC8EA-9E73-49B6-A1D3-5716F98CCE57}" srcOrd="0" destOrd="0" presId="urn:microsoft.com/office/officeart/2005/8/layout/hList1"/>
    <dgm:cxn modelId="{17326855-76F5-4765-A661-57B9573DA9B4}" type="presOf" srcId="{04A9F10E-CC46-47AE-BD9E-D77BDC010599}" destId="{2A4CC5B6-EDAA-43A5-A098-C3C6D10BDF12}" srcOrd="0" destOrd="4" presId="urn:microsoft.com/office/officeart/2005/8/layout/hList1"/>
    <dgm:cxn modelId="{968EA755-177A-42FD-BC61-1718D70BF044}" srcId="{ED8C8B50-34D0-44A1-BFA9-4BFD1ED47367}" destId="{04A9F10E-CC46-47AE-BD9E-D77BDC010599}" srcOrd="3" destOrd="0" parTransId="{A271505D-9B77-42E4-B167-586D709A871C}" sibTransId="{01742BFD-BB4E-44A4-BA4E-3FA4BF6C644E}"/>
    <dgm:cxn modelId="{FC1E7756-EF7C-437C-B932-0FF3CEB77886}" type="presOf" srcId="{73D7F71A-BDC8-4C91-8573-A3C885AA5157}" destId="{0B7EEAE6-B43E-48AA-B009-C51EFFB46DA5}" srcOrd="0" destOrd="10" presId="urn:microsoft.com/office/officeart/2005/8/layout/hList1"/>
    <dgm:cxn modelId="{1A124059-9502-4248-BE7B-09BF0C89402B}" type="presOf" srcId="{41BAA947-AD9F-4283-8AFD-6478CD29459D}" destId="{8336694D-5884-4F75-A34B-AAEF73F7C593}" srcOrd="0" destOrd="8" presId="urn:microsoft.com/office/officeart/2005/8/layout/hList1"/>
    <dgm:cxn modelId="{02F8E279-AC5E-4F3F-887B-CE756C7B09DE}" type="presOf" srcId="{927D91E9-C996-4DE0-BA6C-7CC23A708B8C}" destId="{2A4CC5B6-EDAA-43A5-A098-C3C6D10BDF12}" srcOrd="0" destOrd="3" presId="urn:microsoft.com/office/officeart/2005/8/layout/hList1"/>
    <dgm:cxn modelId="{63AD0A7A-9B41-4BD2-AC94-2F6DC5EDE9A4}" type="presOf" srcId="{B5767F61-532B-4200-991D-7FE91538E4F1}" destId="{0B7EEAE6-B43E-48AA-B009-C51EFFB46DA5}" srcOrd="0" destOrd="7" presId="urn:microsoft.com/office/officeart/2005/8/layout/hList1"/>
    <dgm:cxn modelId="{DDC1305A-1477-4485-B9A8-888C6A489452}" srcId="{A845E2B5-F585-4411-AD51-07B22395EAC9}" destId="{F817BB8D-206B-4D78-BC24-CF1BF25D6154}" srcOrd="5" destOrd="0" parTransId="{90FF035B-C0AE-40FB-A52C-0A5F6A36DA59}" sibTransId="{900CADF4-CAE5-48F9-9721-D9687483F07E}"/>
    <dgm:cxn modelId="{50E24C7A-5CCF-4778-81E4-DDEBA1AD6322}" srcId="{B00EEE32-3722-44D7-BB60-0CE05B5B8D84}" destId="{6284D307-55B3-4C9A-ACD0-7A1AB57E61B5}" srcOrd="0" destOrd="0" parTransId="{1917B92A-EB8F-4468-BBF7-3768B1EA6B87}" sibTransId="{0601E284-EC3E-482C-8C28-3DB1F12FB3FA}"/>
    <dgm:cxn modelId="{B05B4E7A-25F8-4A06-B2BC-D3C47B261935}" type="presOf" srcId="{F39D2FE2-BAC4-44B0-AB19-F71A76F6C234}" destId="{C7CCC8EA-9E73-49B6-A1D3-5716F98CCE57}" srcOrd="0" destOrd="8" presId="urn:microsoft.com/office/officeart/2005/8/layout/hList1"/>
    <dgm:cxn modelId="{81CBFA7D-A80A-430C-89CE-C5123ADE1BEE}" type="presOf" srcId="{46D875ED-4022-4530-B3C2-626E5198E129}" destId="{2A4CC5B6-EDAA-43A5-A098-C3C6D10BDF12}" srcOrd="0" destOrd="5" presId="urn:microsoft.com/office/officeart/2005/8/layout/hList1"/>
    <dgm:cxn modelId="{87054680-136F-45A4-B459-ADF8C924441B}" srcId="{6284D307-55B3-4C9A-ACD0-7A1AB57E61B5}" destId="{F9C0CF34-733C-4676-A129-E261D3DB1B55}" srcOrd="8" destOrd="0" parTransId="{B4BADB24-A921-4067-9828-F0D9C3659727}" sibTransId="{FF0D8681-35B1-4C57-8956-077C08B2188C}"/>
    <dgm:cxn modelId="{9D9E8189-FC26-41A5-864B-8DB3FA9DFD8C}" type="presOf" srcId="{7C19DF35-921F-4025-BAE9-DD6E76336949}" destId="{C7CCC8EA-9E73-49B6-A1D3-5716F98CCE57}" srcOrd="0" destOrd="5" presId="urn:microsoft.com/office/officeart/2005/8/layout/hList1"/>
    <dgm:cxn modelId="{A325AB8C-E2FF-4877-99D0-61D87733F1B8}" srcId="{6284D307-55B3-4C9A-ACD0-7A1AB57E61B5}" destId="{A5630C36-B3AD-48B9-A129-8E2FF10EFAA4}" srcOrd="5" destOrd="0" parTransId="{7AA6A422-7754-4A8F-8869-376A78E95000}" sibTransId="{B72D0486-7D9E-4EC5-94A6-2EEC14D1390D}"/>
    <dgm:cxn modelId="{5766B88C-528E-44CE-8B8D-6850CB9BFA22}" srcId="{6BCD7561-A3EB-417B-A355-92BAE586D9CB}" destId="{1FD8284F-BAF2-45B7-8E7A-577FE024FE4E}" srcOrd="3" destOrd="0" parTransId="{DCEF3EF5-E5D3-4274-9106-5EF19F89A6A2}" sibTransId="{884A10BA-01CA-49A5-8DA8-4F65185A677D}"/>
    <dgm:cxn modelId="{810B5E93-B7EF-40E6-B648-EB16F92A4277}" srcId="{A845E2B5-F585-4411-AD51-07B22395EAC9}" destId="{F35F9F4F-8954-4470-BC5E-168F6E5E7EEE}" srcOrd="2" destOrd="0" parTransId="{F620DDD0-47B3-49BA-9696-9CFEB4FAB560}" sibTransId="{2DB1E63D-9A5E-44B0-B712-9A4CB8AE7B73}"/>
    <dgm:cxn modelId="{78183B94-0443-4631-BC47-44FE1E842A2A}" type="presOf" srcId="{F817BB8D-206B-4D78-BC24-CF1BF25D6154}" destId="{C7CCC8EA-9E73-49B6-A1D3-5716F98CCE57}" srcOrd="0" destOrd="7" presId="urn:microsoft.com/office/officeart/2005/8/layout/hList1"/>
    <dgm:cxn modelId="{FC2E5394-20A8-4223-8B40-C5DB41024E65}" type="presOf" srcId="{A5630C36-B3AD-48B9-A129-8E2FF10EFAA4}" destId="{8336694D-5884-4F75-A34B-AAEF73F7C593}" srcOrd="0" destOrd="7" presId="urn:microsoft.com/office/officeart/2005/8/layout/hList1"/>
    <dgm:cxn modelId="{C9B42B9B-3F52-4F0A-AB35-E84026B6BE55}" srcId="{6284D307-55B3-4C9A-ACD0-7A1AB57E61B5}" destId="{4B101F48-CBB7-483C-ACF1-D3AABBD6B1E3}" srcOrd="2" destOrd="0" parTransId="{FB5F3BE2-93FB-41D0-9B4B-2DA6684E23A0}" sibTransId="{23F4F5E1-8ED6-4014-AF4E-D461076618C6}"/>
    <dgm:cxn modelId="{B010789B-0CFD-4CA0-81DB-8CF43ACC3CE7}" srcId="{6BCD7561-A3EB-417B-A355-92BAE586D9CB}" destId="{FF8DF664-F37A-485C-92CE-077107C8F415}" srcOrd="6" destOrd="0" parTransId="{0723114D-F693-4CF2-BB0E-AD49AD95A9D9}" sibTransId="{53B57196-EE7C-4DAB-909C-A7323D7E9564}"/>
    <dgm:cxn modelId="{4790E69B-DCAD-457A-B9BB-56FBEAE9E548}" srcId="{C1FE2EB7-2FA9-44E1-A3D4-95E721077DC8}" destId="{BD63A84B-0882-417B-9FEF-C7DD6BDAEE54}" srcOrd="1" destOrd="0" parTransId="{F60994FC-0A15-40F5-925C-745F7388F713}" sibTransId="{51F63497-D284-4128-818E-5B5D49EAA37E}"/>
    <dgm:cxn modelId="{F92A36A3-335E-4188-9A91-F8F9B19B8699}" type="presOf" srcId="{BD63A84B-0882-417B-9FEF-C7DD6BDAEE54}" destId="{C7CCC8EA-9E73-49B6-A1D3-5716F98CCE57}" srcOrd="0" destOrd="2" presId="urn:microsoft.com/office/officeart/2005/8/layout/hList1"/>
    <dgm:cxn modelId="{11FAEAA4-2E2A-4024-BD81-CF6E28ED86B7}" srcId="{D9B95D9D-29D0-4C4C-9F12-7C322315F80F}" destId="{927D91E9-C996-4DE0-BA6C-7CC23A708B8C}" srcOrd="0" destOrd="0" parTransId="{9F4CDE21-0CA6-40F0-A748-E76C591C62D8}" sibTransId="{1E757985-9CD1-4C77-87D2-85B7E289965B}"/>
    <dgm:cxn modelId="{A737EFA4-0330-4BD0-BBFA-37F7C569209A}" srcId="{A845E2B5-F585-4411-AD51-07B22395EAC9}" destId="{7C19DF35-921F-4025-BAE9-DD6E76336949}" srcOrd="3" destOrd="0" parTransId="{C0DA4B34-9033-49DE-BD8F-CA3094978325}" sibTransId="{8791EEE6-FA17-477F-A5F3-201CFF7B0666}"/>
    <dgm:cxn modelId="{D0AAFFA4-24FE-4FD9-945B-3AB8C3036266}" type="presOf" srcId="{7691DB8A-A5AC-43CA-AC34-A877ED0F93E7}" destId="{8336694D-5884-4F75-A34B-AAEF73F7C593}" srcOrd="0" destOrd="9" presId="urn:microsoft.com/office/officeart/2005/8/layout/hList1"/>
    <dgm:cxn modelId="{D6651DA5-606E-4D94-B27B-09DF57F4E239}" type="presOf" srcId="{F9C0CF34-733C-4676-A129-E261D3DB1B55}" destId="{8336694D-5884-4F75-A34B-AAEF73F7C593}" srcOrd="0" destOrd="10" presId="urn:microsoft.com/office/officeart/2005/8/layout/hList1"/>
    <dgm:cxn modelId="{50F499A7-93E0-49AC-8669-5174D0D8C451}" type="presOf" srcId="{4B101F48-CBB7-483C-ACF1-D3AABBD6B1E3}" destId="{8336694D-5884-4F75-A34B-AAEF73F7C593}" srcOrd="0" destOrd="2" presId="urn:microsoft.com/office/officeart/2005/8/layout/hList1"/>
    <dgm:cxn modelId="{E53E23AC-354D-4856-99B4-CF955A5289BD}" type="presOf" srcId="{5532B409-9A19-43E9-856A-CF2978D3BDA7}" destId="{0B7EEAE6-B43E-48AA-B009-C51EFFB46DA5}" srcOrd="0" destOrd="2" presId="urn:microsoft.com/office/officeart/2005/8/layout/hList1"/>
    <dgm:cxn modelId="{94C7D7AC-9FC0-476F-86E2-5C81A201CC55}" type="presOf" srcId="{6BCD7561-A3EB-417B-A355-92BAE586D9CB}" destId="{CA9AE122-9D05-46FD-95F6-AD41075B5AEA}" srcOrd="0" destOrd="0" presId="urn:microsoft.com/office/officeart/2005/8/layout/hList1"/>
    <dgm:cxn modelId="{6DDD4AB1-454B-43F1-A696-E1D9DE2A20B1}" srcId="{6BCD7561-A3EB-417B-A355-92BAE586D9CB}" destId="{37CACE14-BB7E-4039-9FC0-7D38AAB90E2A}" srcOrd="1" destOrd="0" parTransId="{BAC6D736-1DCD-46DC-A16E-6B8B95E08746}" sibTransId="{3A62AAFA-4BFD-4F1F-A755-AAA7DD058378}"/>
    <dgm:cxn modelId="{513FCEB6-62B0-4D2C-A6FA-888E613D91FF}" type="presOf" srcId="{A86A818D-1527-4564-AC39-9EED94096393}" destId="{8336694D-5884-4F75-A34B-AAEF73F7C593}" srcOrd="0" destOrd="1" presId="urn:microsoft.com/office/officeart/2005/8/layout/hList1"/>
    <dgm:cxn modelId="{E62BCFB7-8367-41DC-B8D1-9D3415C4D895}" type="presOf" srcId="{0833B880-1E27-40C3-8EDD-63328134866B}" destId="{2A4CC5B6-EDAA-43A5-A098-C3C6D10BDF12}" srcOrd="0" destOrd="1" presId="urn:microsoft.com/office/officeart/2005/8/layout/hList1"/>
    <dgm:cxn modelId="{4202FAB8-767E-4528-9FBC-3ADE5D043D10}" srcId="{6284D307-55B3-4C9A-ACD0-7A1AB57E61B5}" destId="{41BAA947-AD9F-4283-8AFD-6478CD29459D}" srcOrd="6" destOrd="0" parTransId="{244693CE-8D54-448D-9A8C-3488155265EE}" sibTransId="{ECAA4437-EBB0-46DD-AE79-73831875E8A9}"/>
    <dgm:cxn modelId="{9ECB71B9-54F7-48BB-9D6E-F8A3727D434A}" srcId="{6BCD7561-A3EB-417B-A355-92BAE586D9CB}" destId="{F783C905-5991-405C-BD04-CCD13669CD69}" srcOrd="7" destOrd="0" parTransId="{17155EBB-F1CB-4FEC-8196-59890785AF65}" sibTransId="{BD6C7B6A-1C7F-44F5-90FD-42938E73C386}"/>
    <dgm:cxn modelId="{E47738BF-5292-4340-87A2-38D2528839CD}" srcId="{A845E2B5-F585-4411-AD51-07B22395EAC9}" destId="{41165F44-A307-4C9A-88C6-8A1C436F22E8}" srcOrd="4" destOrd="0" parTransId="{53DE4346-341D-4602-9080-2DD6746639A9}" sibTransId="{2F19E906-C29F-44A9-BE96-921B91A47FF6}"/>
    <dgm:cxn modelId="{CF1341CA-6C38-4A25-A634-C80A72E4C284}" srcId="{ED8C8B50-34D0-44A1-BFA9-4BFD1ED47367}" destId="{0E0DE599-C574-47C0-88E9-2FFE21BA3AD8}" srcOrd="0" destOrd="0" parTransId="{0D60793F-AECE-483D-8FAA-679734C4B366}" sibTransId="{6BC0AC34-DC21-437C-92C3-FDB4E2B88399}"/>
    <dgm:cxn modelId="{EDDDB4D1-C5FE-4C3B-B967-0C00780A163F}" type="presOf" srcId="{41165F44-A307-4C9A-88C6-8A1C436F22E8}" destId="{C7CCC8EA-9E73-49B6-A1D3-5716F98CCE57}" srcOrd="0" destOrd="6" presId="urn:microsoft.com/office/officeart/2005/8/layout/hList1"/>
    <dgm:cxn modelId="{C8D362D7-9014-4341-8AD2-45C39CD3BF7E}" type="presOf" srcId="{F35F9F4F-8954-4470-BC5E-168F6E5E7EEE}" destId="{C7CCC8EA-9E73-49B6-A1D3-5716F98CCE57}" srcOrd="0" destOrd="4" presId="urn:microsoft.com/office/officeart/2005/8/layout/hList1"/>
    <dgm:cxn modelId="{4AF5A7D8-EE7C-4311-A914-6F82D3C395DF}" srcId="{5532B409-9A19-43E9-856A-CF2978D3BDA7}" destId="{C40B8F4A-30C4-4F9E-A421-809F9B1431F8}" srcOrd="1" destOrd="0" parTransId="{FBCF24DD-4810-4FD4-8ABD-494185F86F97}" sibTransId="{0390C398-E64A-4629-9E6B-A184A5D6D1F0}"/>
    <dgm:cxn modelId="{D1FC48DB-FE5C-4650-9E72-48D0DF435FD9}" srcId="{A845E2B5-F585-4411-AD51-07B22395EAC9}" destId="{F39D2FE2-BAC4-44B0-AB19-F71A76F6C234}" srcOrd="6" destOrd="0" parTransId="{4BBD0484-06D2-403C-A7A0-A4B02B9E5372}" sibTransId="{5D14BAC9-B5B3-46FD-BD26-5653E4980D80}"/>
    <dgm:cxn modelId="{230CD6DD-DEE9-42A4-AD54-7B20468FF5EC}" type="presOf" srcId="{E62BD5BF-B352-49DF-8A0A-5CA11A1E3DAB}" destId="{8336694D-5884-4F75-A34B-AAEF73F7C593}" srcOrd="0" destOrd="4" presId="urn:microsoft.com/office/officeart/2005/8/layout/hList1"/>
    <dgm:cxn modelId="{ADE0D9E1-AFFB-4512-AB2C-AFBF5EEB5F4B}" srcId="{6BCD7561-A3EB-417B-A355-92BAE586D9CB}" destId="{85FFBAE9-8F6F-4433-A7D4-97C32D864B09}" srcOrd="9" destOrd="0" parTransId="{67EC6D7E-BF29-4E4E-AA8E-D13AD0FC93A1}" sibTransId="{7CC1BCA8-7C75-4962-9876-2050F9F3070E}"/>
    <dgm:cxn modelId="{978D52EC-9E60-4CB1-8978-2916BC8B5299}" srcId="{6BCD7561-A3EB-417B-A355-92BAE586D9CB}" destId="{B5767F61-532B-4200-991D-7FE91538E4F1}" srcOrd="5" destOrd="0" parTransId="{400678FF-3A6C-499E-B5FF-6B1DB8EBE09A}" sibTransId="{808371D9-FC04-4172-BBEB-B10C39E7608D}"/>
    <dgm:cxn modelId="{04D424ED-002D-4E2B-825B-F5A51340A072}" srcId="{4B101F48-CBB7-483C-ACF1-D3AABBD6B1E3}" destId="{48B7F662-FE86-4A5E-82F0-B5ED8E55DE81}" srcOrd="0" destOrd="0" parTransId="{2ABDE5BA-4129-4229-8B99-71DDCA703113}" sibTransId="{7CA878A0-D6CE-43D1-8F42-64E1A4564608}"/>
    <dgm:cxn modelId="{AA1D99EF-B13B-4672-8F65-B145C85DDBD4}" type="presOf" srcId="{75945F97-54C9-4522-ABEE-8178C52409FA}" destId="{C7CCC8EA-9E73-49B6-A1D3-5716F98CCE57}" srcOrd="0" destOrd="1" presId="urn:microsoft.com/office/officeart/2005/8/layout/hList1"/>
    <dgm:cxn modelId="{047EA9F3-48CB-4340-BBBB-B8CC2E159C6C}" type="presOf" srcId="{D9B95D9D-29D0-4C4C-9F12-7C322315F80F}" destId="{2A4CC5B6-EDAA-43A5-A098-C3C6D10BDF12}" srcOrd="0" destOrd="2" presId="urn:microsoft.com/office/officeart/2005/8/layout/hList1"/>
    <dgm:cxn modelId="{5DD407F5-67EE-4AFC-9451-CC4541BAAFD4}" srcId="{6BCD7561-A3EB-417B-A355-92BAE586D9CB}" destId="{B468BAD7-71EE-4E14-8AA7-B61A87ECE8C8}" srcOrd="0" destOrd="0" parTransId="{88CD9EB2-66A8-4E42-92A5-EFF28E269BE3}" sibTransId="{4D35A96B-6018-47B3-95FC-103E67682307}"/>
    <dgm:cxn modelId="{B77523F5-C3E1-4D10-B695-0C5B9CA8EFED}" type="presOf" srcId="{FF8DF664-F37A-485C-92CE-077107C8F415}" destId="{0B7EEAE6-B43E-48AA-B009-C51EFFB46DA5}" srcOrd="0" destOrd="8" presId="urn:microsoft.com/office/officeart/2005/8/layout/hList1"/>
    <dgm:cxn modelId="{9F605FF7-4432-478F-87E4-E0AE7EEE3973}" type="presOf" srcId="{6284D307-55B3-4C9A-ACD0-7A1AB57E61B5}" destId="{EB42F0AE-E647-4D9A-9CCB-4877767C1B4C}" srcOrd="0" destOrd="0" presId="urn:microsoft.com/office/officeart/2005/8/layout/hList1"/>
    <dgm:cxn modelId="{5090E1F7-2D1A-460A-A128-29010237E3CB}" srcId="{ED8C8B50-34D0-44A1-BFA9-4BFD1ED47367}" destId="{0833B880-1E27-40C3-8EDD-63328134866B}" srcOrd="1" destOrd="0" parTransId="{571C1945-366E-4F21-89AF-B2F10966A59C}" sibTransId="{EA510059-CFAD-4FE9-AC73-FB442619F516}"/>
    <dgm:cxn modelId="{CE987BFA-D8CB-4889-87F3-5834AEE61DAE}" type="presOf" srcId="{C5E2BF59-ED74-4EC3-A46C-E6AA633E320B}" destId="{8336694D-5884-4F75-A34B-AAEF73F7C593}" srcOrd="0" destOrd="0" presId="urn:microsoft.com/office/officeart/2005/8/layout/hList1"/>
    <dgm:cxn modelId="{89937B94-0FE5-4262-815E-FFD82DDC5BA6}" type="presParOf" srcId="{7DB867C8-2252-4888-BD7D-88A6ECDC566C}" destId="{A42A180D-C8B0-4918-B5DA-477FBEB3C5B4}" srcOrd="0" destOrd="0" presId="urn:microsoft.com/office/officeart/2005/8/layout/hList1"/>
    <dgm:cxn modelId="{0F528F3B-82FB-4B37-AF8D-791B9B46652E}" type="presParOf" srcId="{A42A180D-C8B0-4918-B5DA-477FBEB3C5B4}" destId="{EB42F0AE-E647-4D9A-9CCB-4877767C1B4C}" srcOrd="0" destOrd="0" presId="urn:microsoft.com/office/officeart/2005/8/layout/hList1"/>
    <dgm:cxn modelId="{10EC8067-CBA5-484C-A4BC-BB514295FA58}" type="presParOf" srcId="{A42A180D-C8B0-4918-B5DA-477FBEB3C5B4}" destId="{8336694D-5884-4F75-A34B-AAEF73F7C593}" srcOrd="1" destOrd="0" presId="urn:microsoft.com/office/officeart/2005/8/layout/hList1"/>
    <dgm:cxn modelId="{C25E620B-76C4-4A7F-8359-DBDA3C2DC519}" type="presParOf" srcId="{7DB867C8-2252-4888-BD7D-88A6ECDC566C}" destId="{F4112AE0-0D0C-43BA-BEC7-B1D0727BC6AC}" srcOrd="1" destOrd="0" presId="urn:microsoft.com/office/officeart/2005/8/layout/hList1"/>
    <dgm:cxn modelId="{A265353F-C0FD-4E47-80BE-F8EF5020113C}" type="presParOf" srcId="{7DB867C8-2252-4888-BD7D-88A6ECDC566C}" destId="{5E21C141-F518-473B-B8BB-5EB5E8040E00}" srcOrd="2" destOrd="0" presId="urn:microsoft.com/office/officeart/2005/8/layout/hList1"/>
    <dgm:cxn modelId="{339DBC88-79E9-4697-9498-14219EF6C129}" type="presParOf" srcId="{5E21C141-F518-473B-B8BB-5EB5E8040E00}" destId="{CA9AE122-9D05-46FD-95F6-AD41075B5AEA}" srcOrd="0" destOrd="0" presId="urn:microsoft.com/office/officeart/2005/8/layout/hList1"/>
    <dgm:cxn modelId="{10E53BBB-1C0A-4AE8-A8C5-303FC656DA07}" type="presParOf" srcId="{5E21C141-F518-473B-B8BB-5EB5E8040E00}" destId="{0B7EEAE6-B43E-48AA-B009-C51EFFB46DA5}" srcOrd="1" destOrd="0" presId="urn:microsoft.com/office/officeart/2005/8/layout/hList1"/>
    <dgm:cxn modelId="{C7766792-2D26-4BEE-9EEF-B75217C0A3C5}" type="presParOf" srcId="{7DB867C8-2252-4888-BD7D-88A6ECDC566C}" destId="{FDD44AC3-2D27-4F46-9268-C6A667E26312}" srcOrd="3" destOrd="0" presId="urn:microsoft.com/office/officeart/2005/8/layout/hList1"/>
    <dgm:cxn modelId="{0EF74DBD-9CDB-4A91-980B-F184148AE53E}" type="presParOf" srcId="{7DB867C8-2252-4888-BD7D-88A6ECDC566C}" destId="{5A61A9A4-344D-426F-9AA6-DD881C953594}" srcOrd="4" destOrd="0" presId="urn:microsoft.com/office/officeart/2005/8/layout/hList1"/>
    <dgm:cxn modelId="{B52F2B6A-A4F0-4275-9A5A-4AD4E50CCB63}" type="presParOf" srcId="{5A61A9A4-344D-426F-9AA6-DD881C953594}" destId="{FFAE5084-026C-4864-868A-7C2A81CE1A36}" srcOrd="0" destOrd="0" presId="urn:microsoft.com/office/officeart/2005/8/layout/hList1"/>
    <dgm:cxn modelId="{E6609744-FD02-45AE-B76E-AB3FB35EC76E}" type="presParOf" srcId="{5A61A9A4-344D-426F-9AA6-DD881C953594}" destId="{2A4CC5B6-EDAA-43A5-A098-C3C6D10BDF12}" srcOrd="1" destOrd="0" presId="urn:microsoft.com/office/officeart/2005/8/layout/hList1"/>
    <dgm:cxn modelId="{8060F698-2499-4396-A019-21EE6DD755EF}" type="presParOf" srcId="{7DB867C8-2252-4888-BD7D-88A6ECDC566C}" destId="{3EF8AB93-70D8-46DF-8722-461374672602}" srcOrd="5" destOrd="0" presId="urn:microsoft.com/office/officeart/2005/8/layout/hList1"/>
    <dgm:cxn modelId="{3EE49C61-820E-4C40-95D0-08EFAEB987C8}" type="presParOf" srcId="{7DB867C8-2252-4888-BD7D-88A6ECDC566C}" destId="{D8AB881C-39F1-4D36-A0E7-2F4B022214EF}" srcOrd="6" destOrd="0" presId="urn:microsoft.com/office/officeart/2005/8/layout/hList1"/>
    <dgm:cxn modelId="{0B4A82A1-BBD3-40D2-8DC2-017C5221AB86}" type="presParOf" srcId="{D8AB881C-39F1-4D36-A0E7-2F4B022214EF}" destId="{9D14DDA2-26F6-4D18-97B4-C70DB3317402}" srcOrd="0" destOrd="0" presId="urn:microsoft.com/office/officeart/2005/8/layout/hList1"/>
    <dgm:cxn modelId="{5F9135C6-049B-4109-BECE-260CF485BC9B}" type="presParOf" srcId="{D8AB881C-39F1-4D36-A0E7-2F4B022214EF}" destId="{C7CCC8EA-9E73-49B6-A1D3-5716F98CCE5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2F0AE-E647-4D9A-9CCB-4877767C1B4C}">
      <dsp:nvSpPr>
        <dsp:cNvPr id="0" name=""/>
        <dsp:cNvSpPr/>
      </dsp:nvSpPr>
      <dsp:spPr>
        <a:xfrm>
          <a:off x="4318" y="219196"/>
          <a:ext cx="2596871" cy="4042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FA/FIA</a:t>
          </a:r>
        </a:p>
      </dsp:txBody>
      <dsp:txXfrm>
        <a:off x="4318" y="219196"/>
        <a:ext cx="2596871" cy="404223"/>
      </dsp:txXfrm>
    </dsp:sp>
    <dsp:sp modelId="{8336694D-5884-4F75-A34B-AAEF73F7C593}">
      <dsp:nvSpPr>
        <dsp:cNvPr id="0" name=""/>
        <dsp:cNvSpPr/>
      </dsp:nvSpPr>
      <dsp:spPr>
        <a:xfrm>
          <a:off x="4318" y="623419"/>
          <a:ext cx="2596871" cy="462549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/>
            <a:t> MVA Alignment:</a:t>
          </a:r>
          <a:r>
            <a:rPr lang="en-US" sz="1100" b="0" i="0" kern="1200"/>
            <a:t> Corrected MVA calculation to align with product specifications and FA model, replacing legacy logic with a standardized AXIS implementation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Automation:</a:t>
          </a:r>
          <a:r>
            <a:rPr lang="en-US" sz="1100" b="0" i="0" kern="1200"/>
            <a:t> Reduced manual inputs with more efficient axis implementations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 Surrender charge and commission, 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 MRB start date and MRB attribution fees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/>
            <a:t> Run Efficiency:</a:t>
          </a:r>
          <a:r>
            <a:rPr lang="en-US" sz="1100" b="0" i="0" kern="1200"/>
            <a:t> Long run times (~12 hours); clustering used to streamline CFT execution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i="0" kern="1200"/>
            <a:t> VM-22:</a:t>
          </a:r>
          <a:r>
            <a:rPr lang="en-US" sz="1100" b="0" i="0" kern="1200"/>
            <a:t> Successfully implemented for FIA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</dsp:txBody>
      <dsp:txXfrm>
        <a:off x="4318" y="623419"/>
        <a:ext cx="2596871" cy="4625496"/>
      </dsp:txXfrm>
    </dsp:sp>
    <dsp:sp modelId="{CA9AE122-9D05-46FD-95F6-AD41075B5AEA}">
      <dsp:nvSpPr>
        <dsp:cNvPr id="0" name=""/>
        <dsp:cNvSpPr/>
      </dsp:nvSpPr>
      <dsp:spPr>
        <a:xfrm>
          <a:off x="2964751" y="219196"/>
          <a:ext cx="2596871" cy="4042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VA</a:t>
          </a:r>
        </a:p>
      </dsp:txBody>
      <dsp:txXfrm>
        <a:off x="2964751" y="219196"/>
        <a:ext cx="2596871" cy="404223"/>
      </dsp:txXfrm>
    </dsp:sp>
    <dsp:sp modelId="{0B7EEAE6-B43E-48AA-B009-C51EFFB46DA5}">
      <dsp:nvSpPr>
        <dsp:cNvPr id="0" name=""/>
        <dsp:cNvSpPr/>
      </dsp:nvSpPr>
      <dsp:spPr>
        <a:xfrm>
          <a:off x="2964751" y="623419"/>
          <a:ext cx="2596871" cy="462549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Rider Enhancement:</a:t>
          </a:r>
          <a:r>
            <a:rPr lang="en-US" sz="1100" b="0" i="0" kern="1200"/>
            <a:t> Estate Lock rider explicitly modeled in AXIS; corrected prior inaccuracies, leading to ~4% increase in STAT reserves</a:t>
          </a:r>
          <a:endParaRPr lang="en-US" sz="1100" kern="120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/>
        </a:p>
        <a:p>
          <a:pPr marL="57150" lvl="1" indent="-57150" algn="l" defTabSz="4889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Assumption Upgrade:</a:t>
          </a:r>
          <a:r>
            <a:rPr lang="en-US" sz="1100" b="0" i="0" kern="1200"/>
            <a:t> Lapse assumption framework redesigned with higher granularity (16 parameters vs. 6) and market-linked behavior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 Supporting validation enabled through an Excel tool for directional impact assessment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Attribution Capability:</a:t>
          </a:r>
          <a:r>
            <a:rPr lang="en-US" sz="1100" b="0" i="0" kern="1200"/>
            <a:t> Payout attribution framework developed to track impacts of model changes and support audit requirements.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Run Efficiency:</a:t>
          </a:r>
          <a:r>
            <a:rPr lang="en-US" sz="1100" b="0" i="0" kern="1200"/>
            <a:t> Model hydration migrated from AXIS to SQL, reducing runtime from ~17 hours to ~9 hours and improving overall processing efficiency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</dsp:txBody>
      <dsp:txXfrm>
        <a:off x="2964751" y="623419"/>
        <a:ext cx="2596871" cy="4625496"/>
      </dsp:txXfrm>
    </dsp:sp>
    <dsp:sp modelId="{FFAE5084-026C-4864-868A-7C2A81CE1A36}">
      <dsp:nvSpPr>
        <dsp:cNvPr id="0" name=""/>
        <dsp:cNvSpPr/>
      </dsp:nvSpPr>
      <dsp:spPr>
        <a:xfrm>
          <a:off x="5925184" y="219196"/>
          <a:ext cx="2596871" cy="4042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RILA</a:t>
          </a:r>
        </a:p>
      </dsp:txBody>
      <dsp:txXfrm>
        <a:off x="5925184" y="219196"/>
        <a:ext cx="2596871" cy="404223"/>
      </dsp:txXfrm>
    </dsp:sp>
    <dsp:sp modelId="{2A4CC5B6-EDAA-43A5-A098-C3C6D10BDF12}">
      <dsp:nvSpPr>
        <dsp:cNvPr id="0" name=""/>
        <dsp:cNvSpPr/>
      </dsp:nvSpPr>
      <dsp:spPr>
        <a:xfrm>
          <a:off x="5925184" y="623419"/>
          <a:ext cx="2596871" cy="462549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Product Development:</a:t>
          </a:r>
          <a:r>
            <a:rPr lang="en-US" sz="1100" b="0" i="0" kern="1200"/>
            <a:t> RILA LLA2 Income integrated into existing AXIS model (inforce, assumptions, product setup)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Assumption Upgrade:</a:t>
          </a:r>
          <a:r>
            <a:rPr lang="en-US" sz="1100" b="0" i="0" kern="1200"/>
            <a:t> Lapse assumption framework redesigned with higher granularity (24 parameters vs. 6) and market-linked behavior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 Supporting validation enabled through an Excel tool for directional impact assessment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New Product Build:</a:t>
          </a:r>
          <a:r>
            <a:rPr lang="en-US" sz="1100" b="0" i="0" kern="1200"/>
            <a:t> Development initiated for RILA NY product (Reg 213 updates, inforce enhancements, AXIS configuration)</a:t>
          </a:r>
          <a:endParaRPr lang="en-US" sz="1100" kern="1200"/>
        </a:p>
      </dsp:txBody>
      <dsp:txXfrm>
        <a:off x="5925184" y="623419"/>
        <a:ext cx="2596871" cy="4625496"/>
      </dsp:txXfrm>
    </dsp:sp>
    <dsp:sp modelId="{9D14DDA2-26F6-4D18-97B4-C70DB3317402}">
      <dsp:nvSpPr>
        <dsp:cNvPr id="0" name=""/>
        <dsp:cNvSpPr/>
      </dsp:nvSpPr>
      <dsp:spPr>
        <a:xfrm>
          <a:off x="8885618" y="219196"/>
          <a:ext cx="2596871" cy="4042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Validation</a:t>
          </a:r>
        </a:p>
      </dsp:txBody>
      <dsp:txXfrm>
        <a:off x="8885618" y="219196"/>
        <a:ext cx="2596871" cy="404223"/>
      </dsp:txXfrm>
    </dsp:sp>
    <dsp:sp modelId="{C7CCC8EA-9E73-49B6-A1D3-5716F98CCE57}">
      <dsp:nvSpPr>
        <dsp:cNvPr id="0" name=""/>
        <dsp:cNvSpPr/>
      </dsp:nvSpPr>
      <dsp:spPr>
        <a:xfrm>
          <a:off x="8885618" y="623419"/>
          <a:ext cx="2596871" cy="462549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Product Coverage: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GLB product integrated into FIA validation tool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Estate Lock Rider added to VA validation tool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Model Alignment:</a:t>
          </a:r>
          <a:r>
            <a:rPr lang="en-US" sz="1100" b="0" i="0" kern="1200"/>
            <a:t> Enhancements implemented to reflect 2Q26 AXIS updates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i="0" kern="1200"/>
            <a:t> Consistency:</a:t>
          </a:r>
          <a:r>
            <a:rPr lang="en-US" sz="1100" b="0" i="0" kern="1200"/>
            <a:t> Ensured alignment and reliability across all validation tools and product lines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 </a:t>
          </a:r>
          <a:r>
            <a:rPr lang="en-US" sz="1100" b="1" i="0" kern="1200"/>
            <a:t>UAT Completion:</a:t>
          </a:r>
          <a:r>
            <a:rPr lang="en-US" sz="1100" b="0" i="0" kern="1200"/>
            <a:t> Testbed validation nearing completion across all tools; production readiness expected shortly</a:t>
          </a:r>
          <a:endParaRPr lang="en-US" sz="1100" kern="1200"/>
        </a:p>
      </dsp:txBody>
      <dsp:txXfrm>
        <a:off x="8885618" y="623419"/>
        <a:ext cx="2596871" cy="4625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1E405-6883-82FA-6F0B-EB9CC661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39176-1ABC-F06D-4EA3-24F19F8A4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DA1A6-F380-26FD-ED7F-96E44286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SG – Collective capabilities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FEA4F-61A3-94ED-8813-02D2FD397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F28EF-CFCC-4138-9E36-ED9031B2EE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427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MRM in one line: we manage the market risk — equity, interest-rate and volatility — embedded in Lincoln's variable-annuity and RILA guarantees, through the hedging program, and we produce the VM-21 reserves/capital and LDTI market-risk-benefit (MRB) numbers that flow from it.
Team: a four-person specialist team (three in seat, one joining), newly stood up and already in production. We deliberately cover the full MRM value chain end to end — strategy &amp; hedge design, monthly production, and the modelling engine — rather than a single slice.
Flagship workstream — Hedge Strategy &amp; Capital Analytics (left): redesigning the VA/RILA capital hedge. The anchor is the ERCC-approved strategy (Jan 2025), which makes three changes — (a) align the hedge target from the legacy rating-agency CTE98 view to Management-View capital (combined Traditional-VA/RILA model, covariance reflected, 80/20 hedged/unhedged run weighting); (b) rescale risk appetite so allowable loss is capped at ~20 look-through-RBC points under extreme stress, with no extra losses allowed in moderate down markets; (c) add VA/RILA cross-hedging (cross-hedge parameter set at ~20% on 2Q24 data) so Traditional-VA and RILA liabilities offset within Management-View capital. We replicate RCAR sensitivities with hedge assets, quantify payoff vs. cost for core, macro and cross hedges, and optimise on PVDE and Total-Asset-Requirement (TAR) economics across base and severe-stress paths — attributing the distributable-earnings impact of each lever — then prototype it in Excel (capital curve; RCAR current/forward under stress; PVDE impact of core, macro and cross hedges). The calibrations above (80/20 weighting, ~20 RBC points, ~20% cross hedge) are reviewed at least annually and can change.
Production &amp; scenarios: monthly core-hedging BAU — preparing/validating the economic scenarios that feed the projection model (managing the AIRG-to-GOES transition), running SOS for liability Greeks (Delta/Rho), rebalancing assets, and generating RCAR tail scenarios. Alongside this we are modernising the codebase, migrating legacy R to Python and automating routine production.
Valuation engine (my own focus): replicating the VA statutory validation tool as a C++ stochastic-on-stochastic (nested VM-21) engine, accelerated with GPU/CUDA and MPI — directly relevant to today's GPU discussion. I'm currently reconciling fund value and lives-in-force to the benchmark, which is the foundation for faster, auditable VM-21 production.
Headline: a young, focused team punching above its size — owning hedge design, production and the engine that values it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rgbClr val="0050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07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" y="450000"/>
            <a:ext cx="11524268" cy="558199"/>
          </a:xfrm>
        </p:spPr>
        <p:txBody>
          <a:bodyPr/>
          <a:lstStyle>
            <a:lvl1pPr marL="0" indent="0">
              <a:buNone/>
              <a:defRPr sz="3600">
                <a:solidFill>
                  <a:srgbClr val="005071"/>
                </a:solidFill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63656" y="6135624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7584" y="6409944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60512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4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013B8-00E6-2446-913A-95BCE32DDE5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31677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864056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rgbClr val="0050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2135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000" y="4500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  <p:sldLayoutId id="2147483743" r:id="rId31"/>
    <p:sldLayoutId id="2147483747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507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6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group of men looking at a computer&#10;&#10;Description automatically generated">
            <a:extLst>
              <a:ext uri="{FF2B5EF4-FFF2-40B4-BE49-F238E27FC236}">
                <a16:creationId xmlns:a16="http://schemas.microsoft.com/office/drawing/2014/main" id="{E65AA93A-9300-3287-F805-B2A66D40C1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Picture 10" descr="A close up of a white wall&#10;&#10;Description automatically generated">
            <a:extLst>
              <a:ext uri="{FF2B5EF4-FFF2-40B4-BE49-F238E27FC236}">
                <a16:creationId xmlns:a16="http://schemas.microsoft.com/office/drawing/2014/main" id="{56C26C56-0F54-01BD-4ABF-A99CFFB99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88B4A6-D636-E74D-85CC-AD4ACBC34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Actuarial Team Connect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C5E2174-CEBC-DA0E-4A29-28F8D9052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30</a:t>
            </a:r>
            <a:r>
              <a:rPr lang="en-US" baseline="30000"/>
              <a:t>th</a:t>
            </a:r>
            <a:r>
              <a:rPr lang="en-US"/>
              <a:t> June 2026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CCF8748-782D-338A-404F-D14F6CC500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5C234D-9CFB-A5B8-7126-3EBE7236C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571" y="2693888"/>
            <a:ext cx="3679371" cy="2314550"/>
          </a:xfrm>
        </p:spPr>
        <p:txBody>
          <a:bodyPr/>
          <a:lstStyle/>
          <a:p>
            <a:r>
              <a:rPr lang="en-US"/>
              <a:t>Agenda</a:t>
            </a:r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7FD863-AEA8-C68F-B2B8-66BEF169BC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9784" y="769500"/>
            <a:ext cx="5968067" cy="50294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Welcome Note – 10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AI Enabled Report </a:t>
            </a:r>
            <a:r>
              <a:rPr lang="en-US" sz="2800" err="1"/>
              <a:t>Rationalisation</a:t>
            </a:r>
            <a:r>
              <a:rPr lang="en-US" sz="2800"/>
              <a:t> – 10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GPU Processing – 15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Delivery Overview – 30 mins (5 min each)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How Models are created using Claude- Ayush.- 15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err="1"/>
              <a:t>RnR</a:t>
            </a:r>
            <a:r>
              <a:rPr lang="en-US" sz="2800"/>
              <a:t> – 20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374392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4A1BF2-CD47-21E6-F90C-3D0E2FCA4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2171374"/>
            <a:ext cx="3679371" cy="2314550"/>
          </a:xfrm>
        </p:spPr>
        <p:txBody>
          <a:bodyPr/>
          <a:lstStyle/>
          <a:p>
            <a:r>
              <a:rPr lang="en-IN"/>
              <a:t>Report Rationalisation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82BF94-11E2-680F-20E4-F71E0325A9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33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70560" y="0"/>
            <a:ext cx="10850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Computing: Fundamentals &amp; Performance Reality (1/3)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70560" y="1524000"/>
            <a:ext cx="5059680" cy="1158240"/>
          </a:xfrm>
          <a:prstGeom prst="roundRect">
            <a:avLst>
              <a:gd name="adj" fmla="val 6316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50976" y="1524000"/>
            <a:ext cx="457200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7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 </a:t>
            </a:r>
            <a:r>
              <a:rPr lang="en-US" sz="1533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4–64 powerful cores · complex, sequential tasks · processes one job at a time</a:t>
            </a:r>
            <a:endParaRPr lang="en-US" sz="1733"/>
          </a:p>
        </p:txBody>
      </p:sp>
      <p:sp>
        <p:nvSpPr>
          <p:cNvPr id="6" name="Shape 4"/>
          <p:cNvSpPr/>
          <p:nvPr/>
        </p:nvSpPr>
        <p:spPr>
          <a:xfrm>
            <a:off x="670560" y="2804160"/>
            <a:ext cx="5059680" cy="115824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950976" y="2804160"/>
            <a:ext cx="457200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733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</a:t>
            </a:r>
            <a:r>
              <a:rPr lang="en-US" sz="15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simpler cores · parallel, repetitive math · slow to load but scales massively</a:t>
            </a:r>
            <a:endParaRPr lang="en-US" sz="1733"/>
          </a:p>
        </p:txBody>
      </p:sp>
      <p:sp>
        <p:nvSpPr>
          <p:cNvPr id="8" name="Shape 6"/>
          <p:cNvSpPr/>
          <p:nvPr/>
        </p:nvSpPr>
        <p:spPr>
          <a:xfrm>
            <a:off x="6035040" y="1524000"/>
            <a:ext cx="5486400" cy="243840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6035040" y="1731264"/>
            <a:ext cx="548640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→ Hours</a:t>
            </a:r>
            <a:endParaRPr lang="en-US" sz="3733"/>
          </a:p>
        </p:txBody>
      </p:sp>
      <p:sp>
        <p:nvSpPr>
          <p:cNvPr id="10" name="Text 8"/>
          <p:cNvSpPr/>
          <p:nvPr/>
        </p:nvSpPr>
        <p:spPr>
          <a:xfrm>
            <a:off x="6461760" y="2743200"/>
            <a:ext cx="4632960" cy="10972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533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runtime reduction for large parallel Monte Carlo / nested-stochastic workloads — and full heavy-model runs can replace proxy-model fitting altogether.</a:t>
            </a:r>
            <a:endParaRPr lang="en-US" sz="1533"/>
          </a:p>
        </p:txBody>
      </p:sp>
      <p:sp>
        <p:nvSpPr>
          <p:cNvPr id="11" name="Text 9"/>
          <p:cNvSpPr/>
          <p:nvPr/>
        </p:nvSpPr>
        <p:spPr>
          <a:xfrm>
            <a:off x="670560" y="4206240"/>
            <a:ext cx="108508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is not automatic — three outcomes:</a:t>
            </a:r>
            <a:endParaRPr lang="en-US" sz="1733"/>
          </a:p>
        </p:txBody>
      </p:sp>
      <p:sp>
        <p:nvSpPr>
          <p:cNvPr id="12" name="Shape 10"/>
          <p:cNvSpPr/>
          <p:nvPr/>
        </p:nvSpPr>
        <p:spPr>
          <a:xfrm>
            <a:off x="670560" y="4754880"/>
            <a:ext cx="3499104" cy="1706880"/>
          </a:xfrm>
          <a:prstGeom prst="roundRect">
            <a:avLst>
              <a:gd name="adj" fmla="val 4286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670560" y="4754880"/>
            <a:ext cx="3499104" cy="512064"/>
          </a:xfrm>
          <a:prstGeom prst="roundRect">
            <a:avLst>
              <a:gd name="adj" fmla="val 14286"/>
            </a:avLst>
          </a:prstGeom>
          <a:solidFill>
            <a:srgbClr val="1A7A4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670560" y="4754880"/>
            <a:ext cx="349910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&amp; Cheaper</a:t>
            </a:r>
            <a:endParaRPr lang="en-US" sz="1667"/>
          </a:p>
        </p:txBody>
      </p:sp>
      <p:sp>
        <p:nvSpPr>
          <p:cNvPr id="15" name="Text 13"/>
          <p:cNvSpPr/>
          <p:nvPr/>
        </p:nvSpPr>
        <p:spPr>
          <a:xfrm>
            <a:off x="890016" y="5388864"/>
            <a:ext cx="3060192" cy="99974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 / whole-of-life. Clear case — pursue GPU migration.</a:t>
            </a:r>
            <a:endParaRPr lang="en-US" sz="1467"/>
          </a:p>
        </p:txBody>
      </p:sp>
      <p:sp>
        <p:nvSpPr>
          <p:cNvPr id="16" name="Shape 14"/>
          <p:cNvSpPr/>
          <p:nvPr/>
        </p:nvSpPr>
        <p:spPr>
          <a:xfrm>
            <a:off x="4346448" y="4754880"/>
            <a:ext cx="3499104" cy="1706880"/>
          </a:xfrm>
          <a:prstGeom prst="roundRect">
            <a:avLst>
              <a:gd name="adj" fmla="val 4286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Shape 15"/>
          <p:cNvSpPr/>
          <p:nvPr/>
        </p:nvSpPr>
        <p:spPr>
          <a:xfrm>
            <a:off x="4346448" y="4754880"/>
            <a:ext cx="3499104" cy="512064"/>
          </a:xfrm>
          <a:prstGeom prst="roundRect">
            <a:avLst>
              <a:gd name="adj" fmla="val 14286"/>
            </a:avLst>
          </a:prstGeom>
          <a:solidFill>
            <a:srgbClr val="E07B00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4346448" y="4754880"/>
            <a:ext cx="349910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Not Cheaper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4565904" y="5388864"/>
            <a:ext cx="3060192" cy="99974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gains offset by cost. Case rests on indirect savings (e.g. removing proxy models).</a:t>
            </a:r>
            <a:endParaRPr lang="en-US" sz="1467"/>
          </a:p>
        </p:txBody>
      </p:sp>
      <p:sp>
        <p:nvSpPr>
          <p:cNvPr id="20" name="Shape 18"/>
          <p:cNvSpPr/>
          <p:nvPr/>
        </p:nvSpPr>
        <p:spPr>
          <a:xfrm>
            <a:off x="8022336" y="4754880"/>
            <a:ext cx="3499104" cy="1706880"/>
          </a:xfrm>
          <a:prstGeom prst="roundRect">
            <a:avLst>
              <a:gd name="adj" fmla="val 4286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Shape 19"/>
          <p:cNvSpPr/>
          <p:nvPr/>
        </p:nvSpPr>
        <p:spPr>
          <a:xfrm>
            <a:off x="8022336" y="4754880"/>
            <a:ext cx="3499104" cy="512064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8022336" y="4754880"/>
            <a:ext cx="349910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endParaRPr lang="en-US" sz="1667"/>
          </a:p>
        </p:txBody>
      </p:sp>
      <p:sp>
        <p:nvSpPr>
          <p:cNvPr id="23" name="Text 21"/>
          <p:cNvSpPr/>
          <p:nvPr/>
        </p:nvSpPr>
        <p:spPr>
          <a:xfrm>
            <a:off x="8241792" y="5388864"/>
            <a:ext cx="3060192" cy="99974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stop-start, multi-state or heterogeneous work. CPU remains optimal.</a:t>
            </a:r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60486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70560" y="0"/>
            <a:ext cx="10850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Suitability &amp; Technical Considerations (2/3)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70560" y="1438656"/>
            <a:ext cx="5303520" cy="1975104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75360" y="1584960"/>
            <a:ext cx="4754880" cy="17068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1667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GPU candidates
</a:t>
            </a: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policy/data volumes · homogeneous, parallelisable calculations · long projections (70–90 yrs) · many stochastic scenarios · small assumption files · annuity &amp; whole-of-life</a:t>
            </a:r>
            <a:endParaRPr lang="en-US" sz="1667"/>
          </a:p>
        </p:txBody>
      </p:sp>
      <p:sp>
        <p:nvSpPr>
          <p:cNvPr id="6" name="Shape 4"/>
          <p:cNvSpPr/>
          <p:nvPr/>
        </p:nvSpPr>
        <p:spPr>
          <a:xfrm>
            <a:off x="6217920" y="1438656"/>
            <a:ext cx="5303520" cy="1975104"/>
          </a:xfrm>
          <a:prstGeom prst="roundRect">
            <a:avLst>
              <a:gd name="adj" fmla="val 3704"/>
            </a:avLst>
          </a:prstGeom>
          <a:solidFill>
            <a:srgbClr val="FBEAE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6522720" y="1584960"/>
            <a:ext cx="4754880" cy="17068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1667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Poor GPU candidates
</a:t>
            </a: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stop-start ALM · many-state sickness / Markov models · large assumption files · heterogeneous projection lengths · non-parallelisable time-series · inter-policy interactions each step</a:t>
            </a:r>
            <a:endParaRPr lang="en-US" sz="1667"/>
          </a:p>
        </p:txBody>
      </p:sp>
      <p:sp>
        <p:nvSpPr>
          <p:cNvPr id="8" name="Text 6"/>
          <p:cNvSpPr/>
          <p:nvPr/>
        </p:nvSpPr>
        <p:spPr>
          <a:xfrm>
            <a:off x="670560" y="3633216"/>
            <a:ext cx="108508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the technical detail that matters</a:t>
            </a:r>
            <a:endParaRPr lang="en-US" sz="1733"/>
          </a:p>
        </p:txBody>
      </p:sp>
      <p:sp>
        <p:nvSpPr>
          <p:cNvPr id="9" name="Shape 7"/>
          <p:cNvSpPr/>
          <p:nvPr/>
        </p:nvSpPr>
        <p:spPr>
          <a:xfrm>
            <a:off x="670560" y="4169664"/>
            <a:ext cx="5303520" cy="1121664"/>
          </a:xfrm>
          <a:prstGeom prst="roundRect">
            <a:avLst>
              <a:gd name="adj" fmla="val 5435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890016" y="4255008"/>
            <a:ext cx="4864608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None/>
            </a:pPr>
            <a:r>
              <a:rPr lang="en-US" sz="15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code swap
</a:t>
            </a:r>
            <a:r>
              <a:rPr lang="en-US" sz="1373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algorithms, precision and model simplifications — porting CPU code as-is leaves most of the gain on the table.</a:t>
            </a:r>
            <a:endParaRPr lang="en-US" sz="1533"/>
          </a:p>
        </p:txBody>
      </p:sp>
      <p:sp>
        <p:nvSpPr>
          <p:cNvPr id="11" name="Shape 9"/>
          <p:cNvSpPr/>
          <p:nvPr/>
        </p:nvSpPr>
        <p:spPr>
          <a:xfrm>
            <a:off x="6217920" y="4169664"/>
            <a:ext cx="5303520" cy="1121664"/>
          </a:xfrm>
          <a:prstGeom prst="roundRect">
            <a:avLst>
              <a:gd name="adj" fmla="val 5435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6437376" y="4255008"/>
            <a:ext cx="4864608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None/>
            </a:pPr>
            <a:r>
              <a:rPr lang="en-US" sz="15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vs double precision
</a:t>
            </a:r>
            <a:r>
              <a:rPr lang="en-US" sz="1373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(~15 sig. figs) is standard; single uses 4× less card capacity but only ~7 sig. figs — fine for some workloads, not all.</a:t>
            </a:r>
            <a:endParaRPr lang="en-US" sz="1533"/>
          </a:p>
        </p:txBody>
      </p:sp>
      <p:sp>
        <p:nvSpPr>
          <p:cNvPr id="13" name="Shape 11"/>
          <p:cNvSpPr/>
          <p:nvPr/>
        </p:nvSpPr>
        <p:spPr>
          <a:xfrm>
            <a:off x="670560" y="5486400"/>
            <a:ext cx="5303520" cy="1121664"/>
          </a:xfrm>
          <a:prstGeom prst="roundRect">
            <a:avLst>
              <a:gd name="adj" fmla="val 5435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890016" y="5571744"/>
            <a:ext cx="4864608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None/>
            </a:pPr>
            <a:r>
              <a:rPr lang="en-US" sz="15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harder
</a:t>
            </a:r>
            <a:r>
              <a:rPr lang="en-US" sz="1373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code is tougher to trace than CPU. CuPy (NumPy-compatible arrays) and Numba (accelerated loops) ease the transition without low-level CUDA.</a:t>
            </a:r>
            <a:endParaRPr lang="en-US" sz="1533"/>
          </a:p>
        </p:txBody>
      </p:sp>
      <p:sp>
        <p:nvSpPr>
          <p:cNvPr id="15" name="Shape 13"/>
          <p:cNvSpPr/>
          <p:nvPr/>
        </p:nvSpPr>
        <p:spPr>
          <a:xfrm>
            <a:off x="6217920" y="5486400"/>
            <a:ext cx="5303520" cy="1121664"/>
          </a:xfrm>
          <a:prstGeom prst="roundRect">
            <a:avLst>
              <a:gd name="adj" fmla="val 5435"/>
            </a:avLst>
          </a:prstGeom>
          <a:solidFill>
            <a:srgbClr val="EAF4F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6437376" y="5571744"/>
            <a:ext cx="4864608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None/>
            </a:pPr>
            <a:r>
              <a:rPr lang="en-US" sz="15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the whole card
</a:t>
            </a:r>
            <a:r>
              <a:rPr lang="en-US" sz="1373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correctness isn't enough — idle cores waste money. Measure efficiency, not just whether the answer is right.</a:t>
            </a:r>
            <a:endParaRPr lang="en-US" sz="1533"/>
          </a:p>
        </p:txBody>
      </p:sp>
    </p:spTree>
    <p:extLst>
      <p:ext uri="{BB962C8B-B14F-4D97-AF65-F5344CB8AC3E}">
        <p14:creationId xmlns:p14="http://schemas.microsoft.com/office/powerpoint/2010/main" val="419176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70560" y="0"/>
            <a:ext cx="10850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Access, Proof of Concept &amp; Governance (3/3)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670560" y="146304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GPU power</a:t>
            </a:r>
            <a:endParaRPr lang="en-US" sz="1733"/>
          </a:p>
        </p:txBody>
      </p:sp>
      <p:sp>
        <p:nvSpPr>
          <p:cNvPr id="5" name="Shape 3"/>
          <p:cNvSpPr/>
          <p:nvPr/>
        </p:nvSpPr>
        <p:spPr>
          <a:xfrm>
            <a:off x="731520" y="203606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1121664" y="1926336"/>
            <a:ext cx="4572000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(most common)  </a:t>
            </a:r>
            <a:r>
              <a:rPr lang="en-US" sz="1467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AWS / Azure / GCP on-demand or reserved instances. Best starting point.</a:t>
            </a:r>
            <a:endParaRPr lang="en-US" sz="1467"/>
          </a:p>
        </p:txBody>
      </p:sp>
      <p:sp>
        <p:nvSpPr>
          <p:cNvPr id="7" name="Shape 5"/>
          <p:cNvSpPr/>
          <p:nvPr/>
        </p:nvSpPr>
        <p:spPr>
          <a:xfrm>
            <a:off x="731520" y="303580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121664" y="2926080"/>
            <a:ext cx="4572000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hardware  </a:t>
            </a:r>
            <a:r>
              <a:rPr lang="en-US" sz="1467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Removes availability risk; needs infrastructure investment &amp; upkeep.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731520" y="403555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121664" y="3925824"/>
            <a:ext cx="4572000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67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software  </a:t>
            </a:r>
            <a:r>
              <a:rPr lang="en-US" sz="1467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e.g. RiskAgility FM abstracts CUDA, security &amp; deployment.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670560" y="5096256"/>
            <a:ext cx="4998720" cy="1158240"/>
          </a:xfrm>
          <a:prstGeom prst="roundRect">
            <a:avLst>
              <a:gd name="adj" fmla="val 5263"/>
            </a:avLst>
          </a:prstGeom>
          <a:solidFill>
            <a:srgbClr val="FFF3E0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914400" y="5205984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Supply warning  </a:t>
            </a:r>
            <a:r>
              <a:rPr lang="en-US" sz="140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is consuming GPU capacity; lead times are rising. Plan ahead and keep CPU fallback.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roadmap</a:t>
            </a:r>
            <a:endParaRPr lang="en-US" sz="1733"/>
          </a:p>
        </p:txBody>
      </p:sp>
      <p:sp>
        <p:nvSpPr>
          <p:cNvPr id="14" name="Shape 12"/>
          <p:cNvSpPr/>
          <p:nvPr/>
        </p:nvSpPr>
        <p:spPr>
          <a:xfrm>
            <a:off x="6035040" y="1950720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6035040" y="1950720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608064" y="1914144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CuPy / Numba — how GPU arrays differ from NumPy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6035040" y="2511552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6035040" y="2511552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608064" y="2474976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paper as a matrix calculation before coding</a:t>
            </a:r>
            <a:endParaRPr lang="en-US" sz="1467"/>
          </a:p>
        </p:txBody>
      </p:sp>
      <p:sp>
        <p:nvSpPr>
          <p:cNvPr id="20" name="Shape 18"/>
          <p:cNvSpPr/>
          <p:nvPr/>
        </p:nvSpPr>
        <p:spPr>
          <a:xfrm>
            <a:off x="6035040" y="3072384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6035040" y="3072384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608064" y="3035808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locally — CuPy switches CPU/GPU, no GPU needed</a:t>
            </a:r>
            <a:endParaRPr lang="en-US" sz="1467"/>
          </a:p>
        </p:txBody>
      </p:sp>
      <p:sp>
        <p:nvSpPr>
          <p:cNvPr id="23" name="Shape 21"/>
          <p:cNvSpPr/>
          <p:nvPr/>
        </p:nvSpPr>
        <p:spPr>
          <a:xfrm>
            <a:off x="6035040" y="3633216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4" name="Text 22"/>
          <p:cNvSpPr/>
          <p:nvPr/>
        </p:nvSpPr>
        <p:spPr>
          <a:xfrm>
            <a:off x="6035040" y="363321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608064" y="359664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small cloud instance (or a gaming NVIDIA card)</a:t>
            </a:r>
            <a:endParaRPr lang="en-US" sz="1467"/>
          </a:p>
        </p:txBody>
      </p:sp>
      <p:sp>
        <p:nvSpPr>
          <p:cNvPr id="26" name="Shape 24"/>
          <p:cNvSpPr/>
          <p:nvPr/>
        </p:nvSpPr>
        <p:spPr>
          <a:xfrm>
            <a:off x="6035040" y="4194048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Text 25"/>
          <p:cNvSpPr/>
          <p:nvPr/>
        </p:nvSpPr>
        <p:spPr>
          <a:xfrm>
            <a:off x="6035040" y="4194048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6608064" y="4157472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efficiency, not just correctness — fully use the card</a:t>
            </a:r>
            <a:endParaRPr lang="en-US" sz="1467"/>
          </a:p>
        </p:txBody>
      </p:sp>
      <p:sp>
        <p:nvSpPr>
          <p:cNvPr id="29" name="Shape 27"/>
          <p:cNvSpPr/>
          <p:nvPr/>
        </p:nvSpPr>
        <p:spPr>
          <a:xfrm>
            <a:off x="6035040" y="4754880"/>
            <a:ext cx="414528" cy="4145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6035040" y="4754880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608064" y="4718304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14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POC with trusted advisors before committing</a:t>
            </a:r>
            <a:endParaRPr lang="en-US" sz="1467"/>
          </a:p>
        </p:txBody>
      </p:sp>
      <p:sp>
        <p:nvSpPr>
          <p:cNvPr id="32" name="Shape 30"/>
          <p:cNvSpPr/>
          <p:nvPr/>
        </p:nvSpPr>
        <p:spPr>
          <a:xfrm>
            <a:off x="670560" y="6120384"/>
            <a:ext cx="10850880" cy="512064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3" name="Text 31"/>
          <p:cNvSpPr/>
          <p:nvPr/>
        </p:nvSpPr>
        <p:spPr>
          <a:xfrm>
            <a:off x="975360" y="6120384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4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 </a:t>
            </a:r>
            <a:r>
              <a:rPr lang="en-US" sz="14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an enterprise IT project — version control (Git), auditable models, no black boxes. Python speeds prototyping but watch library supply-chain risk.</a:t>
            </a:r>
            <a:endParaRPr lang="en-US" sz="1440"/>
          </a:p>
        </p:txBody>
      </p:sp>
    </p:spTree>
    <p:extLst>
      <p:ext uri="{BB962C8B-B14F-4D97-AF65-F5344CB8AC3E}">
        <p14:creationId xmlns:p14="http://schemas.microsoft.com/office/powerpoint/2010/main" val="304336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0C5099-288C-B1C1-C0DF-E8FDC682D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Delivery Overview</a:t>
            </a:r>
          </a:p>
        </p:txBody>
      </p:sp>
    </p:spTree>
    <p:extLst>
      <p:ext uri="{BB962C8B-B14F-4D97-AF65-F5344CB8AC3E}">
        <p14:creationId xmlns:p14="http://schemas.microsoft.com/office/powerpoint/2010/main" val="309591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CFBB-EAC0-98A2-090A-8C837ED6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2">
            <a:extLst>
              <a:ext uri="{FF2B5EF4-FFF2-40B4-BE49-F238E27FC236}">
                <a16:creationId xmlns:a16="http://schemas.microsoft.com/office/drawing/2014/main" id="{AB33B4D7-5E30-69AF-F406-9414057D31D7}"/>
              </a:ext>
            </a:extLst>
          </p:cNvPr>
          <p:cNvSpPr txBox="1">
            <a:spLocks/>
          </p:cNvSpPr>
          <p:nvPr/>
        </p:nvSpPr>
        <p:spPr>
          <a:xfrm>
            <a:off x="450000" y="228600"/>
            <a:ext cx="11277600" cy="67256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rgbClr val="005071"/>
                </a:solidFill>
              </a:rPr>
              <a:t>Lincoln Financial Group – Annuity Modeling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8C9E4BA-376B-E9B0-A498-486D14792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4300664"/>
              </p:ext>
            </p:extLst>
          </p:nvPr>
        </p:nvGraphicFramePr>
        <p:xfrm>
          <a:off x="464400" y="850391"/>
          <a:ext cx="11486808" cy="546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509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E2CA-FF4F-5E05-A862-C34B35DD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6E33F57-6476-684D-CB68-5976CCED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Lincoln Financial Group – Annuity Valuation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0ABBE65-7715-8E53-721A-C627720915F6}"/>
              </a:ext>
            </a:extLst>
          </p:cNvPr>
          <p:cNvSpPr txBox="1"/>
          <p:nvPr/>
        </p:nvSpPr>
        <p:spPr>
          <a:xfrm>
            <a:off x="424543" y="120390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pPr>
              <a:defRPr sz="1600"/>
            </a:pPr>
            <a:r>
              <a:t>Process Automation • Reporting Transformation • Operational Excellence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47A5A8E-1534-71B8-061C-636A74E048EF}"/>
              </a:ext>
            </a:extLst>
          </p:cNvPr>
          <p:cNvSpPr/>
          <p:nvPr/>
        </p:nvSpPr>
        <p:spPr>
          <a:xfrm>
            <a:off x="1439527" y="1696719"/>
            <a:ext cx="2743201" cy="2915921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1F4E7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>
            <a:pPr algn="ctr">
              <a:defRPr sz="1600" b="1">
                <a:solidFill>
                  <a:srgbClr val="1F4E79"/>
                </a:solidFill>
              </a:defRPr>
            </a:pPr>
            <a:endParaRPr lang="en-US" strike="sngStrike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 lang="en-IN">
                <a:solidFill>
                  <a:srgbClr val="4F81BD"/>
                </a:solidFill>
              </a:rPr>
              <a:t>Tableau migration from excel for YE reporting </a:t>
            </a:r>
            <a:r>
              <a:rPr>
                <a:solidFill>
                  <a:srgbClr val="4F81BD"/>
                </a:solidFill>
              </a:rPr>
              <a:t>+ reusable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Nova macro to remove duplicate DIA policies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Validation tool for IFE/BEF changes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Automated control report &amp; reconciliation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2B1B79EF-03C0-0DD2-5C66-AB2CD7BB128A}"/>
              </a:ext>
            </a:extLst>
          </p:cNvPr>
          <p:cNvSpPr/>
          <p:nvPr/>
        </p:nvSpPr>
        <p:spPr>
          <a:xfrm>
            <a:off x="4454143" y="1696719"/>
            <a:ext cx="2743201" cy="291592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1F4E7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Policy-level tracking </a:t>
            </a:r>
            <a:r>
              <a:rPr lang="en-US">
                <a:solidFill>
                  <a:srgbClr val="4F81BD"/>
                </a:solidFill>
              </a:rPr>
              <a:t>for variables </a:t>
            </a:r>
            <a:r>
              <a:rPr>
                <a:solidFill>
                  <a:srgbClr val="4F81BD"/>
                </a:solidFill>
              </a:rPr>
              <a:t>(JPNON133, JPMRKCHG)</a:t>
            </a:r>
            <a:endParaRPr lang="en-US"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 lang="en-US">
                <a:solidFill>
                  <a:srgbClr val="4F81BD"/>
                </a:solidFill>
              </a:rPr>
              <a:t>Index reserve </a:t>
            </a:r>
            <a:r>
              <a:rPr>
                <a:solidFill>
                  <a:srgbClr val="4F81BD"/>
                </a:solidFill>
              </a:rPr>
              <a:t>summary simplification</a:t>
            </a:r>
            <a:r>
              <a:rPr lang="en-US">
                <a:solidFill>
                  <a:srgbClr val="4F81BD"/>
                </a:solidFill>
              </a:rPr>
              <a:t> and reducing file size.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640FBFD9-50EC-028C-EE2A-2AD94C8FAE9F}"/>
              </a:ext>
            </a:extLst>
          </p:cNvPr>
          <p:cNvSpPr/>
          <p:nvPr/>
        </p:nvSpPr>
        <p:spPr>
          <a:xfrm>
            <a:off x="7417961" y="1696719"/>
            <a:ext cx="2743201" cy="291592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1F4E7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/>
              </a:defRPr>
            </a:lvl9pPr>
          </a:lstStyle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Centralized control panel (QE/YE/RPS)</a:t>
            </a:r>
            <a:endParaRPr lang="en-US"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Improved documentation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Published Tableau dashboards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  <a:defRPr sz="1200"/>
            </a:pPr>
            <a:r>
              <a:rPr>
                <a:solidFill>
                  <a:srgbClr val="4F81BD"/>
                </a:solidFill>
              </a:rPr>
              <a:t>GOES testing + team coordination</a:t>
            </a:r>
            <a:endParaRPr>
              <a:solidFill>
                <a:srgbClr val="4F81BD"/>
              </a:solidFill>
              <a:ea typeface="Calibri"/>
              <a:cs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13CAD934-ADF1-9245-B941-B89E01561734}"/>
              </a:ext>
            </a:extLst>
          </p:cNvPr>
          <p:cNvSpPr txBox="1"/>
          <p:nvPr/>
        </p:nvSpPr>
        <p:spPr>
          <a:xfrm>
            <a:off x="4601747" y="1959932"/>
            <a:ext cx="2646648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r>
              <a:rPr lang="en-US" sz="1600" b="1">
                <a:solidFill>
                  <a:srgbClr val="2E8B57"/>
                </a:solidFill>
                <a:ea typeface="Calibri"/>
                <a:cs typeface="Calibri"/>
              </a:rPr>
              <a:t>📈 </a:t>
            </a:r>
            <a:r>
              <a:rPr lang="en-US" sz="1600" b="1">
                <a:solidFill>
                  <a:srgbClr val="1F4E79"/>
                </a:solidFill>
                <a:ea typeface="Calibri"/>
                <a:cs typeface="Calibri"/>
              </a:rPr>
              <a:t>Fixed Indexed Annuity</a:t>
            </a:r>
            <a:endParaRPr 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67A2CE87-ABA3-25DD-4719-D5F935526CFB}"/>
              </a:ext>
            </a:extLst>
          </p:cNvPr>
          <p:cNvSpPr txBox="1"/>
          <p:nvPr/>
        </p:nvSpPr>
        <p:spPr>
          <a:xfrm>
            <a:off x="7802146" y="1959931"/>
            <a:ext cx="1986248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r>
              <a:rPr lang="en-US" sz="1600" b="1">
                <a:solidFill>
                  <a:srgbClr val="6A1B9A"/>
                </a:solidFill>
                <a:ea typeface="Calibri"/>
                <a:cs typeface="Calibri"/>
              </a:rPr>
              <a:t>📉 </a:t>
            </a:r>
            <a:r>
              <a:rPr lang="en-US" sz="1600" b="1">
                <a:solidFill>
                  <a:srgbClr val="1F4E79"/>
                </a:solidFill>
                <a:ea typeface="Calibri"/>
                <a:cs typeface="Calibri"/>
              </a:rPr>
              <a:t>Variable Annuity</a:t>
            </a:r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630DA04B-11FE-5D5A-5E87-46BE667ED1A0}"/>
              </a:ext>
            </a:extLst>
          </p:cNvPr>
          <p:cNvSpPr txBox="1"/>
          <p:nvPr/>
        </p:nvSpPr>
        <p:spPr>
          <a:xfrm>
            <a:off x="1488432" y="1959931"/>
            <a:ext cx="2646648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>
            <a:r>
              <a:rPr lang="en-US" sz="1600" b="1">
                <a:solidFill>
                  <a:srgbClr val="1F4E79"/>
                </a:solidFill>
                <a:ea typeface="Calibri"/>
                <a:cs typeface="Calibri"/>
              </a:rPr>
              <a:t>📊 Fixed Payout Annuity</a:t>
            </a:r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092B908-CD81-7E9C-053A-6F3338D3E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390538"/>
              </p:ext>
            </p:extLst>
          </p:nvPr>
        </p:nvGraphicFramePr>
        <p:xfrm>
          <a:off x="1152144" y="5154002"/>
          <a:ext cx="9354312" cy="681292"/>
        </p:xfrm>
        <a:graphic>
          <a:graphicData uri="http://schemas.openxmlformats.org/drawingml/2006/table">
            <a:tbl>
              <a:tblPr/>
              <a:tblGrid>
                <a:gridCol w="2338578">
                  <a:extLst>
                    <a:ext uri="{9D8B030D-6E8A-4147-A177-3AD203B41FA5}">
                      <a16:colId xmlns:a16="http://schemas.microsoft.com/office/drawing/2014/main" val="239495588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2241546218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3400756476"/>
                    </a:ext>
                  </a:extLst>
                </a:gridCol>
                <a:gridCol w="2338578">
                  <a:extLst>
                    <a:ext uri="{9D8B030D-6E8A-4147-A177-3AD203B41FA5}">
                      <a16:colId xmlns:a16="http://schemas.microsoft.com/office/drawing/2014/main" val="891142082"/>
                    </a:ext>
                  </a:extLst>
                </a:gridCol>
              </a:tblGrid>
              <a:tr h="33536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⚙️ Automation​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📊 Reporting Modernization​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⏱️ Efficiency Gains​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✅ Improved Controls​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50281"/>
                  </a:ext>
                </a:extLst>
              </a:tr>
              <a:tr h="33536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Automated manual processes​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Excel → Tableau migration​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Reduced turnaround time​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Stronger validation &amp; governance​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44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95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4C9B-980D-D4E4-4582-13AC4C1E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B3E85E-2384-2F2D-BE7E-84BE66F5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474208"/>
            <a:ext cx="5398374" cy="182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©2025 EXL Service Holdings, Inc. All rights reserved.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F9720089-89F6-A4FE-F917-5E43E511E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6725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Lincoln Financial Group – Life Valuation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F8832FE-DCA2-9070-F57C-4182DCB12BF5}"/>
              </a:ext>
            </a:extLst>
          </p:cNvPr>
          <p:cNvSpPr/>
          <p:nvPr/>
        </p:nvSpPr>
        <p:spPr>
          <a:xfrm>
            <a:off x="426720" y="1040130"/>
            <a:ext cx="3017520" cy="4389120"/>
          </a:xfrm>
          <a:prstGeom prst="roundRect">
            <a:avLst/>
          </a:prstGeom>
          <a:solidFill>
            <a:srgbClr val="DCEBF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/>
            </a:pPr>
            <a:r>
              <a:rPr sz="2800">
                <a:solidFill>
                  <a:schemeClr val="tx1"/>
                </a:solidFill>
              </a:rPr>
              <a:t>BAU Deliverables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Timely valuation reporting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Production support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Quality assurance &amp; validation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0D9F4C3-28C0-6BAF-A6D5-D9AD41EFDA84}"/>
              </a:ext>
            </a:extLst>
          </p:cNvPr>
          <p:cNvSpPr/>
          <p:nvPr/>
        </p:nvSpPr>
        <p:spPr>
          <a:xfrm>
            <a:off x="3718559" y="1040130"/>
            <a:ext cx="3657600" cy="4389120"/>
          </a:xfrm>
          <a:prstGeom prst="roundRect">
            <a:avLst/>
          </a:prstGeom>
          <a:solidFill>
            <a:srgbClr val="FFEEC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/>
            </a:pPr>
            <a:r>
              <a:rPr sz="2800">
                <a:solidFill>
                  <a:schemeClr val="tx1"/>
                </a:solidFill>
              </a:rPr>
              <a:t>Automation &amp; Process Improvement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Power </a:t>
            </a:r>
            <a:r>
              <a:rPr lang="en-US" sz="1600">
                <a:solidFill>
                  <a:schemeClr val="tx1"/>
                </a:solidFill>
              </a:rPr>
              <a:t>Query and VBA </a:t>
            </a:r>
            <a:r>
              <a:rPr sz="1600">
                <a:solidFill>
                  <a:schemeClr val="tx1"/>
                </a:solidFill>
              </a:rPr>
              <a:t>automation for WLEC reporting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Report Rationalization for VUL</a:t>
            </a:r>
            <a:r>
              <a:rPr lang="en-US" sz="1600">
                <a:solidFill>
                  <a:schemeClr val="tx1"/>
                </a:solidFill>
              </a:rPr>
              <a:t> &amp; GAAP</a:t>
            </a:r>
            <a:r>
              <a:rPr sz="1600">
                <a:solidFill>
                  <a:schemeClr val="tx1"/>
                </a:solidFill>
              </a:rPr>
              <a:t> reporting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3D438ED2-132F-BD01-C48C-FFBDB012D753}"/>
              </a:ext>
            </a:extLst>
          </p:cNvPr>
          <p:cNvSpPr/>
          <p:nvPr/>
        </p:nvSpPr>
        <p:spPr>
          <a:xfrm>
            <a:off x="7741920" y="1040130"/>
            <a:ext cx="3657600" cy="4389120"/>
          </a:xfrm>
          <a:prstGeom prst="roundRect">
            <a:avLst/>
          </a:prstGeom>
          <a:solidFill>
            <a:srgbClr val="DCF5DC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/>
            </a:pPr>
            <a:r>
              <a:rPr sz="2800">
                <a:solidFill>
                  <a:schemeClr val="tx1"/>
                </a:solidFill>
              </a:rPr>
              <a:t>Business Impact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Reduced manual effort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Faster report generation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Standardized reporting</a:t>
            </a: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IN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>
                <a:solidFill>
                  <a:schemeClr val="tx1"/>
                </a:solidFill>
              </a:rPr>
              <a:t>Improved decision making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8" name="Chevron 5">
            <a:extLst>
              <a:ext uri="{FF2B5EF4-FFF2-40B4-BE49-F238E27FC236}">
                <a16:creationId xmlns:a16="http://schemas.microsoft.com/office/drawing/2014/main" id="{39DEEFE7-F1EB-2661-637D-063C24CF49B0}"/>
              </a:ext>
            </a:extLst>
          </p:cNvPr>
          <p:cNvSpPr/>
          <p:nvPr/>
        </p:nvSpPr>
        <p:spPr>
          <a:xfrm>
            <a:off x="3455670" y="2594610"/>
            <a:ext cx="274320" cy="548640"/>
          </a:xfrm>
          <a:prstGeom prst="chevron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Chevron 6">
            <a:extLst>
              <a:ext uri="{FF2B5EF4-FFF2-40B4-BE49-F238E27FC236}">
                <a16:creationId xmlns:a16="http://schemas.microsoft.com/office/drawing/2014/main" id="{041445E9-E077-1A08-2EBA-EA3207AA8BA3}"/>
              </a:ext>
            </a:extLst>
          </p:cNvPr>
          <p:cNvSpPr/>
          <p:nvPr/>
        </p:nvSpPr>
        <p:spPr>
          <a:xfrm>
            <a:off x="7421880" y="2594610"/>
            <a:ext cx="274320" cy="548640"/>
          </a:xfrm>
          <a:prstGeom prst="chevron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76A43B9-834A-9795-BFC8-517479D04F2E}"/>
              </a:ext>
            </a:extLst>
          </p:cNvPr>
          <p:cNvSpPr txBox="1"/>
          <p:nvPr/>
        </p:nvSpPr>
        <p:spPr>
          <a:xfrm>
            <a:off x="3067725" y="5795010"/>
            <a:ext cx="56907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/>
            </a:pPr>
            <a:r>
              <a:t>BAU Delivery   →   Automation   →   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269305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EA1C-D25D-3C00-96BF-11A736F1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2">
            <a:extLst>
              <a:ext uri="{FF2B5EF4-FFF2-40B4-BE49-F238E27FC236}">
                <a16:creationId xmlns:a16="http://schemas.microsoft.com/office/drawing/2014/main" id="{4F6CFF25-CE51-3953-B7D1-5FB796F96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00" y="450000"/>
            <a:ext cx="11277600" cy="6725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Lincoln Financial Group – Life Valuation – WLEC Automations</a:t>
            </a: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41EDAA14-7D7A-4CDD-368B-27EAD0A8328C}"/>
              </a:ext>
            </a:extLst>
          </p:cNvPr>
          <p:cNvSpPr/>
          <p:nvPr/>
        </p:nvSpPr>
        <p:spPr>
          <a:xfrm>
            <a:off x="411480" y="1085850"/>
            <a:ext cx="2103120" cy="822960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Automations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2AEBBFA-3089-93CC-6311-2E388F804DFC}"/>
              </a:ext>
            </a:extLst>
          </p:cNvPr>
          <p:cNvSpPr/>
          <p:nvPr/>
        </p:nvSpPr>
        <p:spPr>
          <a:xfrm>
            <a:off x="2651760" y="1085850"/>
            <a:ext cx="2103120" cy="82296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31 Hrs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15F81A11-F4A9-D113-E668-9A908FAE5628}"/>
              </a:ext>
            </a:extLst>
          </p:cNvPr>
          <p:cNvSpPr/>
          <p:nvPr/>
        </p:nvSpPr>
        <p:spPr>
          <a:xfrm>
            <a:off x="4892040" y="1085850"/>
            <a:ext cx="2103120" cy="82296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 Hrs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39004DB5-4A81-39E9-C37F-136C2B0ABC0A}"/>
              </a:ext>
            </a:extLst>
          </p:cNvPr>
          <p:cNvSpPr/>
          <p:nvPr/>
        </p:nvSpPr>
        <p:spPr>
          <a:xfrm>
            <a:off x="7132320" y="1085850"/>
            <a:ext cx="2103120" cy="82296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28 Hrs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Saved / Year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C47B9AE1-C141-1A11-600E-115828424B25}"/>
              </a:ext>
            </a:extLst>
          </p:cNvPr>
          <p:cNvSpPr/>
          <p:nvPr/>
        </p:nvSpPr>
        <p:spPr>
          <a:xfrm>
            <a:off x="9372600" y="1085850"/>
            <a:ext cx="2103120" cy="82296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Reduction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B4BDD66-F33F-36E5-D76F-D512D94ED3AA}"/>
              </a:ext>
            </a:extLst>
          </p:cNvPr>
          <p:cNvSpPr/>
          <p:nvPr/>
        </p:nvSpPr>
        <p:spPr>
          <a:xfrm>
            <a:off x="2651760" y="2183130"/>
            <a:ext cx="214884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rPr sz="1600"/>
              <a:t>Disability Reserves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Tool Used  - Power Query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Cadence – Quarterly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Before Time – 15 Mins 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After Time – 5 Mins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Annual Time Savings – </a:t>
            </a:r>
            <a:r>
              <a:rPr lang="en-IN" sz="1400" b="1">
                <a:solidFill>
                  <a:schemeClr val="tx1"/>
                </a:solidFill>
              </a:rPr>
              <a:t>40 Mins</a:t>
            </a:r>
            <a:endParaRPr lang="en-US" sz="1400">
              <a:solidFill>
                <a:schemeClr val="tx1"/>
              </a:solidFill>
            </a:endParaRPr>
          </a:p>
          <a:p>
            <a:pPr>
              <a:defRPr sz="1200"/>
            </a:pPr>
            <a:endParaRPr sz="1400">
              <a:solidFill>
                <a:schemeClr val="tx1"/>
              </a:solidFill>
            </a:endParaRP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36AE0B3F-57C5-A204-67A2-C5456988E1FE}"/>
              </a:ext>
            </a:extLst>
          </p:cNvPr>
          <p:cNvSpPr/>
          <p:nvPr/>
        </p:nvSpPr>
        <p:spPr>
          <a:xfrm>
            <a:off x="7132320" y="2183130"/>
            <a:ext cx="214884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rPr sz="1600"/>
              <a:t>Page 7 Reporting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Tool Used  - Power Query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Cadence – Annual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Before Time – 60 Mins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After Time – 5 Mins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Annual Time Savings – </a:t>
            </a:r>
            <a:r>
              <a:rPr lang="en-IN" sz="1400" b="1">
                <a:solidFill>
                  <a:schemeClr val="tx1"/>
                </a:solidFill>
              </a:rPr>
              <a:t>55 Mins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43CF7E0D-1F33-C1FC-DCED-A1BDA48CE43E}"/>
              </a:ext>
            </a:extLst>
          </p:cNvPr>
          <p:cNvSpPr/>
          <p:nvPr/>
        </p:nvSpPr>
        <p:spPr>
          <a:xfrm>
            <a:off x="9372600" y="2183130"/>
            <a:ext cx="214884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rPr sz="1600"/>
              <a:t>Liquidity Survey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Tool Used  - Power Query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Cadence – Annual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Before Time – 60 Mins 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After Time - 5 Mins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Annual Time Savings – </a:t>
            </a:r>
            <a:r>
              <a:rPr lang="en-IN" sz="1400" b="1">
                <a:solidFill>
                  <a:schemeClr val="tx1"/>
                </a:solidFill>
              </a:rPr>
              <a:t>55 Mins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4BBC0A44-FBF6-C1CE-3107-2DF0A1BAD3E3}"/>
              </a:ext>
            </a:extLst>
          </p:cNvPr>
          <p:cNvSpPr/>
          <p:nvPr/>
        </p:nvSpPr>
        <p:spPr>
          <a:xfrm>
            <a:off x="411480" y="2183130"/>
            <a:ext cx="214884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rPr sz="1600"/>
              <a:t>Trend Update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Tool Used  - </a:t>
            </a:r>
            <a:r>
              <a:rPr sz="1400">
                <a:solidFill>
                  <a:schemeClr val="tx1"/>
                </a:solidFill>
              </a:rPr>
              <a:t>Macro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Cadence – </a:t>
            </a:r>
            <a:r>
              <a:rPr sz="1400">
                <a:solidFill>
                  <a:schemeClr val="tx1"/>
                </a:solidFill>
              </a:rPr>
              <a:t>Monthly</a:t>
            </a:r>
            <a:endParaRPr lang="en-US" sz="1400">
              <a:solidFill>
                <a:schemeClr val="tx1"/>
              </a:solidFill>
            </a:endParaRP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Before Time - 60 Mins 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After Time – 5 Mins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Annual Time Savings - </a:t>
            </a:r>
            <a:r>
              <a:rPr lang="en-IN" sz="1400" b="1">
                <a:solidFill>
                  <a:schemeClr val="tx1"/>
                </a:solidFill>
              </a:rPr>
              <a:t>11 Hours</a:t>
            </a:r>
            <a:endParaRPr sz="1400" b="1">
              <a:solidFill>
                <a:schemeClr val="tx1"/>
              </a:solidFill>
            </a:endParaRP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CBD463D2-C04B-5BB3-2E7B-1604534C87A4}"/>
              </a:ext>
            </a:extLst>
          </p:cNvPr>
          <p:cNvSpPr/>
          <p:nvPr/>
        </p:nvSpPr>
        <p:spPr>
          <a:xfrm>
            <a:off x="4892040" y="2183130"/>
            <a:ext cx="214884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rPr sz="1600"/>
              <a:t>One Source Data File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Tool Used  - VBA &amp; Power Query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Cadence – Quarterly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Before Time – 4 Hours</a:t>
            </a:r>
          </a:p>
          <a:p>
            <a:pPr>
              <a:defRPr sz="1200"/>
            </a:pPr>
            <a:r>
              <a:rPr lang="en-US" sz="1400">
                <a:solidFill>
                  <a:schemeClr val="tx1"/>
                </a:solidFill>
              </a:rPr>
              <a:t>After Time – 30 Mins</a:t>
            </a:r>
          </a:p>
          <a:p>
            <a:pPr>
              <a:defRPr sz="1200"/>
            </a:pPr>
            <a:r>
              <a:rPr lang="en-IN" sz="1400">
                <a:solidFill>
                  <a:schemeClr val="tx1"/>
                </a:solidFill>
              </a:rPr>
              <a:t>Annual Time Savings – </a:t>
            </a:r>
            <a:r>
              <a:rPr lang="en-IN" sz="1400" b="1">
                <a:solidFill>
                  <a:schemeClr val="tx1"/>
                </a:solidFill>
              </a:rPr>
              <a:t>14 Hours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E26336C3-5C3F-203D-B42C-E80B031942F4}"/>
              </a:ext>
            </a:extLst>
          </p:cNvPr>
          <p:cNvSpPr/>
          <p:nvPr/>
        </p:nvSpPr>
        <p:spPr>
          <a:xfrm>
            <a:off x="914400" y="4743450"/>
            <a:ext cx="2926080" cy="11887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BEFORE</a:t>
            </a:r>
          </a:p>
          <a:p>
            <a:pPr algn="ctr">
              <a:defRPr sz="2000" b="1"/>
            </a:pPr>
            <a:r>
              <a:rPr>
                <a:solidFill>
                  <a:schemeClr val="tx1"/>
                </a:solidFill>
              </a:rPr>
              <a:t>31 Hours / Year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9F6CA6-2029-A7FA-078F-B00081E5D4C4}"/>
              </a:ext>
            </a:extLst>
          </p:cNvPr>
          <p:cNvSpPr txBox="1"/>
          <p:nvPr/>
        </p:nvSpPr>
        <p:spPr>
          <a:xfrm>
            <a:off x="4114800" y="506349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→</a:t>
            </a:r>
          </a:p>
        </p:txBody>
      </p:sp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FD1F8606-A79F-EAA4-ECA1-E70E197E8EB0}"/>
              </a:ext>
            </a:extLst>
          </p:cNvPr>
          <p:cNvSpPr/>
          <p:nvPr/>
        </p:nvSpPr>
        <p:spPr>
          <a:xfrm>
            <a:off x="4937760" y="4743450"/>
            <a:ext cx="2926080" cy="1188720"/>
          </a:xfrm>
          <a:prstGeom prst="roundRect">
            <a:avLst/>
          </a:prstGeom>
          <a:solidFill>
            <a:srgbClr val="E2E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AFTER</a:t>
            </a:r>
          </a:p>
          <a:p>
            <a:pPr algn="ctr">
              <a:defRPr sz="2000" b="1"/>
            </a:pPr>
            <a:r>
              <a:rPr>
                <a:solidFill>
                  <a:schemeClr val="tx1"/>
                </a:solidFill>
              </a:rPr>
              <a:t>3 Hours / Year</a:t>
            </a:r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7F9E446A-5FDB-39AA-5A88-13C22C25752E}"/>
              </a:ext>
            </a:extLst>
          </p:cNvPr>
          <p:cNvSpPr/>
          <p:nvPr/>
        </p:nvSpPr>
        <p:spPr>
          <a:xfrm>
            <a:off x="8229600" y="4606290"/>
            <a:ext cx="3017520" cy="1463040"/>
          </a:xfrm>
          <a:prstGeom prst="round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ANNUAL IMPACT</a:t>
            </a:r>
          </a:p>
          <a:p>
            <a:pPr algn="ctr">
              <a:defRPr sz="2000" b="1">
                <a:solidFill>
                  <a:srgbClr val="C0504D"/>
                </a:solidFill>
              </a:defRPr>
            </a:pPr>
            <a:r>
              <a:rPr>
                <a:solidFill>
                  <a:schemeClr val="tx1"/>
                </a:solidFill>
              </a:rPr>
              <a:t>28 Hours Saved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90% Reduction</a:t>
            </a:r>
          </a:p>
        </p:txBody>
      </p:sp>
    </p:spTree>
    <p:extLst>
      <p:ext uri="{BB962C8B-B14F-4D97-AF65-F5344CB8AC3E}">
        <p14:creationId xmlns:p14="http://schemas.microsoft.com/office/powerpoint/2010/main" val="626750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2A9A-AEDA-63FF-1832-99A8FB5A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91EC6CC-083E-8B05-8D95-A1C2D11BA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Lincoln Financial Group – Life Modeling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04CD67-784D-AD3E-8D8A-1B7CA1573A92}"/>
              </a:ext>
            </a:extLst>
          </p:cNvPr>
          <p:cNvSpPr/>
          <p:nvPr/>
        </p:nvSpPr>
        <p:spPr>
          <a:xfrm>
            <a:off x="4892040" y="2926080"/>
            <a:ext cx="2377440" cy="1280160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bg1"/>
                </a:solidFill>
              </a:rPr>
              <a:t>LIFE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bg1"/>
                </a:solidFill>
              </a:rPr>
              <a:t>MODELING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AEEFF772-E9C0-069D-B1F9-27FF3A91325E}"/>
              </a:ext>
            </a:extLst>
          </p:cNvPr>
          <p:cNvSpPr/>
          <p:nvPr/>
        </p:nvSpPr>
        <p:spPr>
          <a:xfrm>
            <a:off x="548640" y="132588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✓</a:t>
            </a:r>
          </a:p>
          <a:p>
            <a:pPr algn="ctr">
              <a:defRPr sz="1400" b="1"/>
            </a:pPr>
            <a:r>
              <a:rPr lang="en-US">
                <a:solidFill>
                  <a:schemeClr val="tx1"/>
                </a:solidFill>
              </a:rPr>
              <a:t>EB </a:t>
            </a:r>
            <a:r>
              <a:rPr>
                <a:solidFill>
                  <a:schemeClr val="tx1"/>
                </a:solidFill>
              </a:rPr>
              <a:t>AVRF Completed</a:t>
            </a:r>
            <a:br>
              <a:rPr>
                <a:solidFill>
                  <a:schemeClr val="tx1"/>
                </a:solidFill>
              </a:rPr>
            </a:br>
            <a:endParaRPr>
              <a:solidFill>
                <a:schemeClr val="tx1"/>
              </a:solidFill>
            </a:endParaRPr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37D1F271-B231-49CD-4941-B18CE86E0653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731770" y="2240280"/>
            <a:ext cx="2508438" cy="873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95391BF9-2CAC-6667-4C04-0E7074A0CD99}"/>
              </a:ext>
            </a:extLst>
          </p:cNvPr>
          <p:cNvSpPr/>
          <p:nvPr/>
        </p:nvSpPr>
        <p:spPr>
          <a:xfrm>
            <a:off x="9326880" y="132588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↻</a:t>
            </a:r>
          </a:p>
          <a:p>
            <a:pPr algn="ctr">
              <a:defRPr sz="1400" b="1"/>
            </a:pPr>
            <a:r>
              <a:rPr lang="en-US">
                <a:solidFill>
                  <a:schemeClr val="tx1"/>
                </a:solidFill>
              </a:rPr>
              <a:t>VUL </a:t>
            </a:r>
            <a:r>
              <a:rPr>
                <a:solidFill>
                  <a:schemeClr val="tx1"/>
                </a:solidFill>
              </a:rPr>
              <a:t>AVRF in Progress</a:t>
            </a:r>
            <a:br>
              <a:rPr>
                <a:solidFill>
                  <a:schemeClr val="tx1"/>
                </a:solidFill>
              </a:rPr>
            </a:br>
            <a:endParaRPr>
              <a:solidFill>
                <a:schemeClr val="tx1"/>
              </a:solidFill>
            </a:endParaRPr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EF8C8CB0-BA88-4D88-957F-ABE43431B208}"/>
              </a:ext>
            </a:extLst>
          </p:cNvPr>
          <p:cNvCxnSpPr>
            <a:cxnSpLocks/>
            <a:endCxn id="2" idx="7"/>
          </p:cNvCxnSpPr>
          <p:nvPr/>
        </p:nvCxnSpPr>
        <p:spPr>
          <a:xfrm flipH="1">
            <a:off x="6921312" y="2137410"/>
            <a:ext cx="2405568" cy="976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CA0081E0-E693-EA65-EDC4-05E97EB6BDF7}"/>
              </a:ext>
            </a:extLst>
          </p:cNvPr>
          <p:cNvSpPr/>
          <p:nvPr/>
        </p:nvSpPr>
        <p:spPr>
          <a:xfrm>
            <a:off x="548640" y="516636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⚙</a:t>
            </a:r>
          </a:p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SDP Template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Optimization</a:t>
            </a:r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356EFCA3-537B-A245-F408-E44E9196F7D4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2731770" y="4018765"/>
            <a:ext cx="2508438" cy="1147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5EACDF0C-CC67-2641-8E0B-0EB0171EBD8D}"/>
              </a:ext>
            </a:extLst>
          </p:cNvPr>
          <p:cNvSpPr/>
          <p:nvPr/>
        </p:nvSpPr>
        <p:spPr>
          <a:xfrm>
            <a:off x="9326880" y="516636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📅</a:t>
            </a:r>
          </a:p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Plan Scenario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Updates</a:t>
            </a:r>
          </a:p>
        </p:txBody>
      </p: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BA1B49C9-EC83-FCBA-FB3C-72E9B1955930}"/>
              </a:ext>
            </a:extLst>
          </p:cNvPr>
          <p:cNvCxnSpPr>
            <a:cxnSpLocks/>
            <a:endCxn id="2" idx="5"/>
          </p:cNvCxnSpPr>
          <p:nvPr/>
        </p:nvCxnSpPr>
        <p:spPr>
          <a:xfrm flipH="1" flipV="1">
            <a:off x="6921312" y="4018765"/>
            <a:ext cx="2405568" cy="1147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12619239-6469-D9A5-1C87-68856BFD2796}"/>
              </a:ext>
            </a:extLst>
          </p:cNvPr>
          <p:cNvSpPr/>
          <p:nvPr/>
        </p:nvSpPr>
        <p:spPr>
          <a:xfrm>
            <a:off x="4926330" y="114300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🚀</a:t>
            </a:r>
          </a:p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Asset Edge 2025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Production </a:t>
            </a:r>
            <a:r>
              <a:rPr lang="en-US">
                <a:solidFill>
                  <a:schemeClr val="tx1"/>
                </a:solidFill>
              </a:rPr>
              <a:t>Model </a:t>
            </a:r>
            <a:r>
              <a:rPr>
                <a:solidFill>
                  <a:schemeClr val="tx1"/>
                </a:solidFill>
              </a:rPr>
              <a:t>Integration</a:t>
            </a:r>
          </a:p>
        </p:txBody>
      </p: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B215B744-997B-B509-F4C3-DD4B5857CF7B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>
            <a:off x="6069330" y="2057400"/>
            <a:ext cx="11430" cy="868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8FCDB8-9F02-A427-70A7-63AED5586082}"/>
              </a:ext>
            </a:extLst>
          </p:cNvPr>
          <p:cNvSpPr/>
          <p:nvPr/>
        </p:nvSpPr>
        <p:spPr>
          <a:xfrm>
            <a:off x="4926330" y="5349240"/>
            <a:ext cx="2286000" cy="9144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5597"/>
                </a:solidFill>
              </a:defRPr>
            </a:pPr>
            <a:r>
              <a:rPr>
                <a:solidFill>
                  <a:schemeClr val="tx1"/>
                </a:solidFill>
              </a:rPr>
              <a:t>📊</a:t>
            </a:r>
          </a:p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Mortality Assumption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Impact Testing</a:t>
            </a:r>
            <a:r>
              <a:rPr lang="en-US">
                <a:solidFill>
                  <a:schemeClr val="tx1"/>
                </a:solidFill>
              </a:rPr>
              <a:t> In Progress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FC7E6DDD-BB2E-1606-115F-4E77830489CF}"/>
              </a:ext>
            </a:extLst>
          </p:cNvPr>
          <p:cNvCxnSpPr>
            <a:cxnSpLocks/>
            <a:stCxn id="14" idx="0"/>
            <a:endCxn id="2" idx="4"/>
          </p:cNvCxnSpPr>
          <p:nvPr/>
        </p:nvCxnSpPr>
        <p:spPr>
          <a:xfrm flipV="1">
            <a:off x="6069330" y="4206240"/>
            <a:ext cx="1143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78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1240-F7B7-972C-5EF7-BFD28641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0BA7B35-1BAF-2622-EEFD-0BCE08291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Lincoln Financial Group – Experience Analysis </a:t>
            </a:r>
          </a:p>
        </p:txBody>
      </p:sp>
    </p:spTree>
    <p:extLst>
      <p:ext uri="{BB962C8B-B14F-4D97-AF65-F5344CB8AC3E}">
        <p14:creationId xmlns:p14="http://schemas.microsoft.com/office/powerpoint/2010/main" val="294181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Lincoln Financial Group – MRM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448056" y="10241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>
                <a:solidFill>
                  <a:srgbClr val="00507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Market Risk Management (MRM): </a:t>
            </a:r>
            <a:r>
              <a:rPr lang="en-US" sz="1250" b="1">
                <a:solidFill>
                  <a:srgbClr val="00507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5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quantify, hedge and hold capital against the equity, rate and volatility risk in Lincoln's variable annuity &amp; RILA guarantees — the exposures behind their VM-21 statutory reserves and capital, and LDTI market-risk benefits (MRB)..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448056" y="1755648"/>
            <a:ext cx="5532120" cy="3877056"/>
          </a:xfrm>
          <a:prstGeom prst="roundRect">
            <a:avLst>
              <a:gd name="adj" fmla="val 2358"/>
            </a:avLst>
          </a:prstGeom>
          <a:solidFill>
            <a:srgbClr val="DCF3FA"/>
          </a:solidFill>
          <a:ln/>
          <a:effectLst>
            <a:outerShdw blurRad="88900" dist="38100" dir="5400000" algn="bl" rotWithShape="0">
              <a:srgbClr val="8FB8C9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54496" y="1755648"/>
            <a:ext cx="5486400" cy="1856232"/>
          </a:xfrm>
          <a:prstGeom prst="roundRect">
            <a:avLst>
              <a:gd name="adj" fmla="val 4433"/>
            </a:avLst>
          </a:prstGeom>
          <a:solidFill>
            <a:srgbClr val="EAF7FC"/>
          </a:solidFill>
          <a:ln w="12700">
            <a:solidFill>
              <a:srgbClr val="CFE9F3"/>
            </a:solidFill>
            <a:prstDash val="solid"/>
          </a:ln>
          <a:effectLst>
            <a:outerShdw blurRad="88900" dist="38100" dir="5400000" algn="bl" rotWithShape="0">
              <a:srgbClr val="8FB8C9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54496" y="3776472"/>
            <a:ext cx="5486400" cy="1856232"/>
          </a:xfrm>
          <a:prstGeom prst="roundRect">
            <a:avLst>
              <a:gd name="adj" fmla="val 4433"/>
            </a:avLst>
          </a:prstGeom>
          <a:solidFill>
            <a:srgbClr val="EAF7FC"/>
          </a:solidFill>
          <a:ln w="12700">
            <a:solidFill>
              <a:srgbClr val="CFE9F3"/>
            </a:solidFill>
            <a:prstDash val="solid"/>
          </a:ln>
          <a:effectLst>
            <a:outerShdw blurRad="88900" dist="38100" dir="5400000" algn="bl" rotWithShape="0">
              <a:srgbClr val="8FB8C9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" y="2029968"/>
            <a:ext cx="493776" cy="493776"/>
          </a:xfrm>
          <a:prstGeom prst="ellipse">
            <a:avLst/>
          </a:prstGeom>
          <a:solidFill>
            <a:srgbClr val="FB4D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78101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9032" y="2002536"/>
            <a:ext cx="4306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Strategy &amp; Capital Analytics</a:t>
            </a:r>
            <a:endParaRPr lang="en-US" sz="1700"/>
          </a:p>
        </p:txBody>
      </p:sp>
      <p:sp>
        <p:nvSpPr>
          <p:cNvPr id="10" name="Text 7"/>
          <p:cNvSpPr/>
          <p:nvPr/>
        </p:nvSpPr>
        <p:spPr>
          <a:xfrm>
            <a:off x="722376" y="259689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VA/RILA CAPITAL HEDGE REDESIGN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722376" y="2871216"/>
            <a:ext cx="498348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0000"/>
              </a:lnSpc>
              <a:spcAft>
                <a:spcPts val="700"/>
              </a:spcAft>
              <a:buSzPct val="100000"/>
              <a:buChar char="›"/>
            </a:pPr>
            <a:r>
              <a:rPr lang="en-US" sz="110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VA/RILA capital hedge to target Management-View capital — replicate capital-at-risk (RCAR) sensitivities with hedge assets, built on the MRM projection model and a robust economic-scenario set.</a:t>
            </a:r>
            <a:endParaRPr lang="en-US" sz="1100"/>
          </a:p>
          <a:p>
            <a:pPr marL="203200" indent="-203200" algn="l">
              <a:lnSpc>
                <a:spcPct val="100000"/>
              </a:lnSpc>
              <a:spcAft>
                <a:spcPts val="700"/>
              </a:spcAft>
              <a:buSzPct val="100000"/>
              <a:buChar char="›"/>
            </a:pPr>
            <a:r>
              <a:rPr lang="en-US" sz="110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hedge payoff against cost for core, macro and cross hedges; test effectiveness across interest-rate paths, equity levels and guarantee moneyness.</a:t>
            </a:r>
            <a:endParaRPr lang="en-US" sz="1100"/>
          </a:p>
          <a:p>
            <a:pPr marL="203200" indent="-203200" algn="l">
              <a:lnSpc>
                <a:spcPct val="100000"/>
              </a:lnSpc>
              <a:spcAft>
                <a:spcPts val="700"/>
              </a:spcAft>
              <a:buSzPct val="100000"/>
              <a:buChar char="›"/>
            </a:pPr>
            <a:r>
              <a:rPr lang="en-US" sz="110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on PVDE and Total-Asset-Requirement (TAR) economics across base and severe-stress paths, attributing the impact of Management-View alignment, risk-appetite rescaling and VA/RILA cross-hedging.</a:t>
            </a:r>
            <a:endParaRPr lang="en-US" sz="1100"/>
          </a:p>
          <a:p>
            <a:pPr marL="203200" indent="-203200" algn="l">
              <a:lnSpc>
                <a:spcPct val="100000"/>
              </a:lnSpc>
              <a:spcAft>
                <a:spcPts val="700"/>
              </a:spcAft>
              <a:buSzPct val="100000"/>
              <a:buChar char="›"/>
            </a:pPr>
            <a:r>
              <a:rPr lang="en-US" sz="110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toolkit (Excel):  current vs. redesigned capital curve  ·  RCAR current &amp; forward under baseline and stress  ·  PVDE impact of core, macro and cross hedges.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6473952" y="1956816"/>
            <a:ext cx="402336" cy="402336"/>
          </a:xfrm>
          <a:prstGeom prst="ellipse">
            <a:avLst/>
          </a:prstGeom>
          <a:solidFill>
            <a:srgbClr val="FB4D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2077517"/>
            <a:ext cx="160934" cy="1609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22592" y="1938528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Production &amp; Scenarios</a:t>
            </a:r>
            <a:endParaRPr lang="en-US" sz="1450"/>
          </a:p>
        </p:txBody>
      </p:sp>
      <p:sp>
        <p:nvSpPr>
          <p:cNvPr id="15" name="Text 11"/>
          <p:cNvSpPr/>
          <p:nvPr/>
        </p:nvSpPr>
        <p:spPr>
          <a:xfrm>
            <a:off x="6473952" y="2359152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1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CORE-HEDGING BAU  ·  CODE MODERNIZATION</a:t>
            </a:r>
            <a:endParaRPr lang="en-US" sz="850"/>
          </a:p>
        </p:txBody>
      </p:sp>
      <p:sp>
        <p:nvSpPr>
          <p:cNvPr id="16" name="Text 12"/>
          <p:cNvSpPr/>
          <p:nvPr/>
        </p:nvSpPr>
        <p:spPr>
          <a:xfrm>
            <a:off x="6473952" y="2560320"/>
            <a:ext cx="504748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98000"/>
              </a:lnSpc>
              <a:spcAft>
                <a:spcPts val="400"/>
              </a:spcAft>
              <a:buSzPct val="100000"/>
              <a:buChar char="›"/>
            </a:pPr>
            <a:r>
              <a:rPr lang="en-US" sz="103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validate the economic scenarios feeding the hedging projection model — today's AIRG baseline and the incoming NAIC GOES generator.</a:t>
            </a:r>
            <a:endParaRPr lang="en-US" sz="1030"/>
          </a:p>
          <a:p>
            <a:pPr marL="177800" indent="-177800" algn="l">
              <a:lnSpc>
                <a:spcPct val="98000"/>
              </a:lnSpc>
              <a:spcAft>
                <a:spcPts val="400"/>
              </a:spcAft>
              <a:buSzPct val="100000"/>
              <a:buChar char="›"/>
            </a:pPr>
            <a:r>
              <a:rPr lang="en-US" sz="103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SOS for liability Greeks — Delta (equity) and Rho (rate) — then rebalance hedge assets; build RCAR tail scenarios for equity &amp; rate stress.</a:t>
            </a:r>
            <a:endParaRPr lang="en-US" sz="1030"/>
          </a:p>
          <a:p>
            <a:pPr marL="177800" indent="-177800" algn="l">
              <a:lnSpc>
                <a:spcPct val="98000"/>
              </a:lnSpc>
              <a:spcAft>
                <a:spcPts val="400"/>
              </a:spcAft>
              <a:buSzPct val="100000"/>
              <a:buChar char="›"/>
            </a:pPr>
            <a:r>
              <a:rPr lang="en-US" sz="103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legacy R to Python and automate routine monthly production.</a:t>
            </a:r>
            <a:endParaRPr lang="en-US" sz="1030"/>
          </a:p>
        </p:txBody>
      </p:sp>
      <p:sp>
        <p:nvSpPr>
          <p:cNvPr id="17" name="Shape 13"/>
          <p:cNvSpPr/>
          <p:nvPr/>
        </p:nvSpPr>
        <p:spPr>
          <a:xfrm>
            <a:off x="6473952" y="3977640"/>
            <a:ext cx="402336" cy="402336"/>
          </a:xfrm>
          <a:prstGeom prst="ellipse">
            <a:avLst/>
          </a:prstGeom>
          <a:solidFill>
            <a:srgbClr val="FB4D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4098341"/>
            <a:ext cx="160934" cy="1609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3959352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Valuation Engine</a:t>
            </a:r>
            <a:endParaRPr lang="en-US" sz="1450"/>
          </a:p>
        </p:txBody>
      </p:sp>
      <p:sp>
        <p:nvSpPr>
          <p:cNvPr id="20" name="Text 15"/>
          <p:cNvSpPr/>
          <p:nvPr/>
        </p:nvSpPr>
        <p:spPr>
          <a:xfrm>
            <a:off x="6473952" y="4379976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1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NESTED-STOCHASTIC (VM-21)  ·  GPU / MPI</a:t>
            </a:r>
            <a:endParaRPr lang="en-US" sz="850"/>
          </a:p>
        </p:txBody>
      </p:sp>
      <p:sp>
        <p:nvSpPr>
          <p:cNvPr id="21" name="Text 16"/>
          <p:cNvSpPr/>
          <p:nvPr/>
        </p:nvSpPr>
        <p:spPr>
          <a:xfrm>
            <a:off x="6473952" y="4599432"/>
            <a:ext cx="504748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0000"/>
              </a:lnSpc>
              <a:spcAft>
                <a:spcPts val="600"/>
              </a:spcAft>
              <a:buSzPct val="100000"/>
              <a:buChar char="›"/>
            </a:pPr>
            <a:r>
              <a:rPr lang="en-US" sz="106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VA statutory validation tool as a C++ stochastic-on-stochastic (nested VM-21) engine — CUDA-GPU and MPI for production-speed reserve and capital runs.</a:t>
            </a:r>
            <a:endParaRPr lang="en-US" sz="1060"/>
          </a:p>
          <a:p>
            <a:pPr marL="177800" indent="-177800" algn="l">
              <a:lnSpc>
                <a:spcPct val="100000"/>
              </a:lnSpc>
              <a:spcAft>
                <a:spcPts val="600"/>
              </a:spcAft>
              <a:buSzPct val="100000"/>
              <a:buChar char="›"/>
            </a:pPr>
            <a:r>
              <a:rPr lang="en-US" sz="1060">
                <a:solidFill>
                  <a:srgbClr val="2E3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reconciling projected fund value and lives-in-force to the benchmark — the foundation for faster, auditable VM-21 production.</a:t>
            </a:r>
            <a:endParaRPr lang="en-US" sz="1060"/>
          </a:p>
        </p:txBody>
      </p:sp>
      <p:sp>
        <p:nvSpPr>
          <p:cNvPr id="22" name="Text 17"/>
          <p:cNvSpPr/>
          <p:nvPr/>
        </p:nvSpPr>
        <p:spPr>
          <a:xfrm>
            <a:off x="448056" y="579729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D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across the full MRM value chain:   </a:t>
            </a:r>
            <a:r>
              <a:rPr lang="en-US" sz="11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design</a:t>
            </a:r>
            <a:r>
              <a:rPr lang="en-US" sz="1100" b="1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</a:t>
            </a:r>
            <a:r>
              <a:rPr lang="en-US" sz="11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r>
              <a:rPr lang="en-US" sz="1100" b="1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</a:t>
            </a:r>
            <a:r>
              <a:rPr lang="en-US" sz="11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automation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7360920" y="6400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D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/>
          </a:p>
        </p:txBody>
      </p:sp>
      <p:sp>
        <p:nvSpPr>
          <p:cNvPr id="24" name="Text 19"/>
          <p:cNvSpPr/>
          <p:nvPr/>
        </p:nvSpPr>
        <p:spPr>
          <a:xfrm>
            <a:off x="10369296" y="64008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D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/>
          </a:p>
        </p:txBody>
      </p:sp>
      <p:pic>
        <p:nvPicPr>
          <p:cNvPr id="25" name="Image 3" descr="/home/claude/exl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4512" y="6135624"/>
            <a:ext cx="990295" cy="6345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CFC4-1228-C766-EBDD-EDDE6375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6AE16-62F8-4123-CE5D-83DB1DB49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err="1"/>
              <a:t>RnR</a:t>
            </a:r>
            <a:r>
              <a:rPr lang="en-IN"/>
              <a:t>- Q1 2026</a:t>
            </a:r>
          </a:p>
        </p:txBody>
      </p:sp>
    </p:spTree>
    <p:extLst>
      <p:ext uri="{BB962C8B-B14F-4D97-AF65-F5344CB8AC3E}">
        <p14:creationId xmlns:p14="http://schemas.microsoft.com/office/powerpoint/2010/main" val="107750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09FE1-7370-3D25-493F-57A12354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F37812A-9431-0F5B-A82B-BF01CBCCA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err="1"/>
              <a:t>RnR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B567F5-AA51-662F-6F48-1CA6194FD2D8}"/>
              </a:ext>
            </a:extLst>
          </p:cNvPr>
          <p:cNvCxnSpPr>
            <a:cxnSpLocks/>
          </p:cNvCxnSpPr>
          <p:nvPr/>
        </p:nvCxnSpPr>
        <p:spPr>
          <a:xfrm>
            <a:off x="5412248" y="2722098"/>
            <a:ext cx="5136" cy="167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90C48F-E134-6FC5-89C4-C03373002215}"/>
              </a:ext>
            </a:extLst>
          </p:cNvPr>
          <p:cNvCxnSpPr>
            <a:cxnSpLocks/>
          </p:cNvCxnSpPr>
          <p:nvPr/>
        </p:nvCxnSpPr>
        <p:spPr>
          <a:xfrm>
            <a:off x="3894549" y="4345919"/>
            <a:ext cx="1408" cy="256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43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85D07A3-1FD1-F9B0-6C07-B27C0AE5F1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 descr="A group of people having a conversation&#10;&#10;Description automatically generated">
            <a:extLst>
              <a:ext uri="{FF2B5EF4-FFF2-40B4-BE49-F238E27FC236}">
                <a16:creationId xmlns:a16="http://schemas.microsoft.com/office/drawing/2014/main" id="{E82FD43F-336B-C257-6EDD-5B695633C94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3" r="13"/>
          <a:stretch>
            <a:fillRect/>
          </a:stretch>
        </p:blipFill>
        <p:spPr/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ADFD2AA2-74F5-9DB0-76B7-4D0C9F384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500" y="172813"/>
            <a:ext cx="6504200" cy="3447288"/>
          </a:xfrm>
        </p:spPr>
        <p:txBody>
          <a:bodyPr/>
          <a:lstStyle/>
          <a:p>
            <a:r>
              <a:rPr lang="en-US" sz="6000" b="1"/>
              <a:t>Q &amp; A</a:t>
            </a:r>
            <a:br>
              <a:rPr lang="en-US" sz="6000" b="1"/>
            </a:br>
            <a:endParaRPr lang="en-US" sz="6000" b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4DE1E1-F0F5-0E03-AF3B-92FE3D97DD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71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06B8-92C2-214B-34D9-150F8541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5119987-D4E7-7BE7-304A-52D921A9C3A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402" b="15239"/>
          <a:stretch>
            <a:fillRect/>
          </a:stretch>
        </p:blipFill>
        <p:spPr>
          <a:xfrm>
            <a:off x="0" y="0"/>
            <a:ext cx="12188952" cy="6858000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62F60D-2CCB-1DC6-BE80-26B5648781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31677E-3861-D3C3-DA42-B56293417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C3B9A-23DA-86DB-3C9C-95A30F884E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C5D0F49D-2226-406F-98BF-2279F282E213}" vid="{724F13E3-0E2F-4F2F-BDF3-4AF2F1B9C9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BF0DD79C45EF43B4F1A6ECCF26BCB2" ma:contentTypeVersion="15" ma:contentTypeDescription="Create a new document." ma:contentTypeScope="" ma:versionID="ed7bebf9a945ed3973f3695c57492418">
  <xsd:schema xmlns:xsd="http://www.w3.org/2001/XMLSchema" xmlns:xs="http://www.w3.org/2001/XMLSchema" xmlns:p="http://schemas.microsoft.com/office/2006/metadata/properties" xmlns:ns2="93942f14-1177-49c8-afef-789e3861221f" xmlns:ns3="6667d025-ac66-498f-929a-22e77fb93775" targetNamespace="http://schemas.microsoft.com/office/2006/metadata/properties" ma:root="true" ma:fieldsID="570eb0e052f438a2a7cb3db4c16a133a" ns2:_="" ns3:_="">
    <xsd:import namespace="93942f14-1177-49c8-afef-789e3861221f"/>
    <xsd:import namespace="6667d025-ac66-498f-929a-22e77fb937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42f14-1177-49c8-afef-789e386122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d2802f3-dac6-4710-a960-e56b02a1d5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67d025-ac66-498f-929a-22e77fb9377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6618611-ac81-4296-8b6d-fd9ff2422c8f}" ma:internalName="TaxCatchAll" ma:showField="CatchAllData" ma:web="6667d025-ac66-498f-929a-22e77fb937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667d025-ac66-498f-929a-22e77fb93775">
      <UserInfo>
        <DisplayName/>
        <AccountId xsi:nil="true"/>
        <AccountType/>
      </UserInfo>
    </SharedWithUsers>
    <TaxCatchAll xmlns="6667d025-ac66-498f-929a-22e77fb93775" xsi:nil="true"/>
    <lcf76f155ced4ddcb4097134ff3c332f xmlns="93942f14-1177-49c8-afef-789e3861221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38F3A7-F9B7-433C-BC0F-9777C0D7218F}">
  <ds:schemaRefs>
    <ds:schemaRef ds:uri="6667d025-ac66-498f-929a-22e77fb93775"/>
    <ds:schemaRef ds:uri="93942f14-1177-49c8-afef-789e386122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1BE7D27-0795-40CE-833B-A31118251299}">
  <ds:schemaRefs>
    <ds:schemaRef ds:uri="http://purl.org/dc/elements/1.1/"/>
    <ds:schemaRef ds:uri="93942f14-1177-49c8-afef-789e3861221f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6667d025-ac66-498f-929a-22e77fb93775"/>
  </ds:schemaRefs>
</ds:datastoreItem>
</file>

<file path=customXml/itemProps3.xml><?xml version="1.0" encoding="utf-8"?>
<ds:datastoreItem xmlns:ds="http://schemas.openxmlformats.org/officeDocument/2006/customXml" ds:itemID="{F11D0194-0D79-4C87-B2F5-693E9E12A6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EXL Powerpoint Template 1</Template>
  <TotalTime>0</TotalTime>
  <Words>2166</Words>
  <Application>Microsoft Office PowerPoint</Application>
  <PresentationFormat>Widescreen</PresentationFormat>
  <Paragraphs>217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System Font Regular</vt:lpstr>
      <vt:lpstr>Office Theme</vt:lpstr>
      <vt:lpstr>PowerPoint Presentation</vt:lpstr>
      <vt:lpstr>Actuarial Team Connect</vt:lpstr>
      <vt:lpstr>Agenda</vt:lpstr>
      <vt:lpstr>Report Rationalisation</vt:lpstr>
      <vt:lpstr>PowerPoint Presentation</vt:lpstr>
      <vt:lpstr>PowerPoint Presentation</vt:lpstr>
      <vt:lpstr>PowerPoint Presentation</vt:lpstr>
      <vt:lpstr>Delivery Overview</vt:lpstr>
      <vt:lpstr>PowerPoint Presentation</vt:lpstr>
      <vt:lpstr>Lincoln Financial Group – Annuity Valuation</vt:lpstr>
      <vt:lpstr>Lincoln Financial Group – Life Valuation</vt:lpstr>
      <vt:lpstr>Lincoln Financial Group – Life Valuation – WLEC Automations</vt:lpstr>
      <vt:lpstr>Lincoln Financial Group – Life Modeling </vt:lpstr>
      <vt:lpstr>Lincoln Financial Group – Experience Analysis </vt:lpstr>
      <vt:lpstr>PowerPoint Presentation</vt:lpstr>
      <vt:lpstr>RnR- Q1 2026</vt:lpstr>
      <vt:lpstr>RnR</vt:lpstr>
      <vt:lpstr>Q &amp; A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Sumita Choubey</dc:creator>
  <cp:lastModifiedBy>Ayush Jha</cp:lastModifiedBy>
  <cp:revision>2</cp:revision>
  <dcterms:created xsi:type="dcterms:W3CDTF">2026-02-12T11:33:02Z</dcterms:created>
  <dcterms:modified xsi:type="dcterms:W3CDTF">2026-06-29T17:23:40Z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138100</vt:r8>
  </property>
  <property fmtid="{D5CDD505-2E9C-101B-9397-08002B2CF9AE}" pid="3" name="ContentTypeId">
    <vt:lpwstr>0x010100DABF0DD79C45EF43B4F1A6ECCF26BCB2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