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EXL's L&amp;A Actuarial Capability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Insurance &amp; Annuities – Illustrative Work Coverage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601200" y="228600"/>
            <a:ext cx="201168" cy="201168"/>
          </a:xfrm>
          <a:prstGeom prst="rect">
            <a:avLst/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8088" y="20116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Outsourced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10515600" y="228600"/>
            <a:ext cx="201168" cy="201168"/>
          </a:xfrm>
          <a:prstGeom prst="rect">
            <a:avLst/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62488" y="20116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1247120" y="228600"/>
            <a:ext cx="201168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94008" y="20116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56032" y="804672"/>
            <a:ext cx="2267712" cy="384048"/>
          </a:xfrm>
          <a:prstGeom prst="roundRect">
            <a:avLst>
              <a:gd name="adj" fmla="val 9524"/>
            </a:avLst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804672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&amp; Reserving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1243584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24358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STAT/GAAP/IFRS Reserving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56032" y="1664208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66420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Valuation (ILI, MYGA, PRT, Annuities)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256032" y="2084832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08483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Binders &amp; NAIC Filings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256032" y="2505456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50545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Reserve Reporting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256032" y="2926080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92608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/ VOBA / MRB Valuation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56032" y="3346704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34670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Testing (CFT)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56032" y="3767328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6732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VM-20 / VM-21 / CARVM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56032" y="4187952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418795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Stress Testing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256032" y="4608576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60857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Sign-off &amp; Opinion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56032" y="5029200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502920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Oversight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2587752" y="804672"/>
            <a:ext cx="2267712" cy="384048"/>
          </a:xfrm>
          <a:prstGeom prst="roundRect">
            <a:avLst>
              <a:gd name="adj" fmla="val 9524"/>
            </a:avLst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87752" y="804672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87752" y="1243584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24328" y="124358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ALFA/AXIS Model Development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587752" y="1664208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24328" y="166420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/ IUL / WL / Term Modeling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587752" y="2084832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24328" y="208483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/ FIA / RILA / MYGA / PRT Modeling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2587752" y="2505456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24328" y="250545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Model Development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2587752" y="2926080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24328" y="292608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Risk Model (Python)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587752" y="3346704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24328" y="334670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Changes &amp; Roll-forward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587752" y="3767328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24328" y="376732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/ Validator Model Build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2587752" y="4187952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24328" y="418795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 &amp; UAT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2587752" y="4608576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24328" y="460857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Strategy &amp; Signoff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2587752" y="5029200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24328" y="502920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LDTI / IFRS Model Changes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4919472" y="804672"/>
            <a:ext cx="2267712" cy="384048"/>
          </a:xfrm>
          <a:prstGeom prst="roundRect">
            <a:avLst>
              <a:gd name="adj" fmla="val 9524"/>
            </a:avLst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9472" y="804672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919472" y="1243584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56048" y="124358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Annuity Pricing Support (FIA/RILA)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919472" y="1664208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56048" y="166420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Rate Monitoring &amp; Adjustments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4919472" y="2084832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56048" y="208483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 Pricing Model Runs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4919472" y="2505456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56048" y="250545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&amp; Product Metrics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4919472" y="2926080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56048" y="292608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Crediting Rate Estimation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4919472" y="3346704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56048" y="334670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Process Automation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4919472" y="3767328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56048" y="376732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 Maintenance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4919472" y="4187952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56048" y="418795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Setup (Policy Admin)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4919472" y="4608576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56048" y="460857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Illustrations (UL/WL)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4919472" y="5029200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56048" y="502920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 &amp; Decisions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7251192" y="804672"/>
            <a:ext cx="2267712" cy="384048"/>
          </a:xfrm>
          <a:prstGeom prst="roundRect">
            <a:avLst>
              <a:gd name="adj" fmla="val 9524"/>
            </a:avLst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51192" y="804672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Reporting Modernization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251192" y="1243584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87768" y="124358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In-force Data Transformation (SQL)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7251192" y="1664208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87768" y="166420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Annuity Data Pipeline Automation</a:t>
            </a:r>
            <a:endParaRPr lang="en-US" sz="720" dirty="0"/>
          </a:p>
        </p:txBody>
      </p:sp>
      <p:sp>
        <p:nvSpPr>
          <p:cNvPr id="82" name="Shape 80"/>
          <p:cNvSpPr/>
          <p:nvPr/>
        </p:nvSpPr>
        <p:spPr>
          <a:xfrm>
            <a:off x="7251192" y="2084832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87768" y="208483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 Rationalization (Python)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7251192" y="2505456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87768" y="250545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Analytics &amp; Power BI Dashboards</a:t>
            </a:r>
            <a:endParaRPr lang="en-US" sz="720" dirty="0"/>
          </a:p>
        </p:txBody>
      </p:sp>
      <p:sp>
        <p:nvSpPr>
          <p:cNvPr id="86" name="Shape 84"/>
          <p:cNvSpPr/>
          <p:nvPr/>
        </p:nvSpPr>
        <p:spPr>
          <a:xfrm>
            <a:off x="7251192" y="2926080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287768" y="292608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&amp; Documentation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7251192" y="3346704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287768" y="334670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 Valuation Automation (1-Click)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7251192" y="3767328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287768" y="376732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Dataiku / SQL / Tableau Integration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7251192" y="4187952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87768" y="418795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SOX Reporting</a:t>
            </a:r>
            <a:endParaRPr lang="en-US" sz="720" dirty="0"/>
          </a:p>
        </p:txBody>
      </p:sp>
      <p:sp>
        <p:nvSpPr>
          <p:cNvPr id="94" name="Shape 92"/>
          <p:cNvSpPr/>
          <p:nvPr/>
        </p:nvSpPr>
        <p:spPr>
          <a:xfrm>
            <a:off x="7251192" y="4608576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287768" y="460857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Framework</a:t>
            </a:r>
            <a:endParaRPr lang="en-US" sz="720" dirty="0"/>
          </a:p>
        </p:txBody>
      </p:sp>
      <p:sp>
        <p:nvSpPr>
          <p:cNvPr id="96" name="Shape 94"/>
          <p:cNvSpPr/>
          <p:nvPr/>
        </p:nvSpPr>
        <p:spPr>
          <a:xfrm>
            <a:off x="7251192" y="5029200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87768" y="502920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Modernization Strategy</a:t>
            </a:r>
            <a:endParaRPr lang="en-US" sz="720" dirty="0"/>
          </a:p>
        </p:txBody>
      </p:sp>
      <p:sp>
        <p:nvSpPr>
          <p:cNvPr id="98" name="Shape 96"/>
          <p:cNvSpPr/>
          <p:nvPr/>
        </p:nvSpPr>
        <p:spPr>
          <a:xfrm>
            <a:off x="9582912" y="804672"/>
            <a:ext cx="2267712" cy="384048"/>
          </a:xfrm>
          <a:prstGeom prst="roundRect">
            <a:avLst>
              <a:gd name="adj" fmla="val 9524"/>
            </a:avLst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582912" y="804672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Studies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9582912" y="1243584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619488" y="124358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Experience Analysis</a:t>
            </a:r>
            <a:endParaRPr lang="en-US" sz="720" dirty="0"/>
          </a:p>
        </p:txBody>
      </p:sp>
      <p:sp>
        <p:nvSpPr>
          <p:cNvPr id="102" name="Shape 100"/>
          <p:cNvSpPr/>
          <p:nvPr/>
        </p:nvSpPr>
        <p:spPr>
          <a:xfrm>
            <a:off x="9582912" y="1664208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619488" y="166420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 &amp; Surrender Studies</a:t>
            </a:r>
            <a:endParaRPr lang="en-US" sz="720" dirty="0"/>
          </a:p>
        </p:txBody>
      </p:sp>
      <p:sp>
        <p:nvSpPr>
          <p:cNvPr id="104" name="Shape 102"/>
          <p:cNvSpPr/>
          <p:nvPr/>
        </p:nvSpPr>
        <p:spPr>
          <a:xfrm>
            <a:off x="9582912" y="2084832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619488" y="208483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A/E Analysis &amp; Reporting</a:t>
            </a:r>
            <a:endParaRPr lang="en-US" sz="720" dirty="0"/>
          </a:p>
        </p:txBody>
      </p:sp>
      <p:sp>
        <p:nvSpPr>
          <p:cNvPr id="106" name="Shape 104"/>
          <p:cNvSpPr/>
          <p:nvPr/>
        </p:nvSpPr>
        <p:spPr>
          <a:xfrm>
            <a:off x="9582912" y="2505456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619488" y="250545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Calculation &amp; ETL</a:t>
            </a:r>
            <a:endParaRPr lang="en-US" sz="720" dirty="0"/>
          </a:p>
        </p:txBody>
      </p:sp>
      <p:sp>
        <p:nvSpPr>
          <p:cNvPr id="108" name="Shape 106"/>
          <p:cNvSpPr/>
          <p:nvPr/>
        </p:nvSpPr>
        <p:spPr>
          <a:xfrm>
            <a:off x="9582912" y="2926080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C8E4ED"/>
          </a:solidFill>
          <a:ln w="12700">
            <a:solidFill>
              <a:srgbClr val="C8E4E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619488" y="292608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Setting Support</a:t>
            </a:r>
            <a:endParaRPr lang="en-US" sz="720" dirty="0"/>
          </a:p>
        </p:txBody>
      </p:sp>
      <p:sp>
        <p:nvSpPr>
          <p:cNvPr id="110" name="Shape 108"/>
          <p:cNvSpPr/>
          <p:nvPr/>
        </p:nvSpPr>
        <p:spPr>
          <a:xfrm>
            <a:off x="9582912" y="3346704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619488" y="334670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 (LDTI)</a:t>
            </a:r>
            <a:endParaRPr lang="en-US" sz="720" dirty="0"/>
          </a:p>
        </p:txBody>
      </p:sp>
      <p:sp>
        <p:nvSpPr>
          <p:cNvPr id="112" name="Shape 110"/>
          <p:cNvSpPr/>
          <p:nvPr/>
        </p:nvSpPr>
        <p:spPr>
          <a:xfrm>
            <a:off x="9582912" y="3767328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619488" y="376732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Impact Assessment</a:t>
            </a:r>
            <a:endParaRPr lang="en-US" sz="720" dirty="0"/>
          </a:p>
        </p:txBody>
      </p:sp>
      <p:sp>
        <p:nvSpPr>
          <p:cNvPr id="114" name="Shape 112"/>
          <p:cNvSpPr/>
          <p:nvPr/>
        </p:nvSpPr>
        <p:spPr>
          <a:xfrm>
            <a:off x="9582912" y="4187952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3A7E8E"/>
          </a:solidFill>
          <a:ln w="12700">
            <a:solidFill>
              <a:srgbClr val="3A7E8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619488" y="418795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 &amp; Assumption Calibration</a:t>
            </a:r>
            <a:endParaRPr lang="en-US" sz="720" dirty="0"/>
          </a:p>
        </p:txBody>
      </p:sp>
      <p:sp>
        <p:nvSpPr>
          <p:cNvPr id="116" name="Shape 114"/>
          <p:cNvSpPr/>
          <p:nvPr/>
        </p:nvSpPr>
        <p:spPr>
          <a:xfrm>
            <a:off x="9582912" y="4608576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619488" y="460857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Assumption Decisions</a:t>
            </a:r>
            <a:endParaRPr lang="en-US" sz="720" dirty="0"/>
          </a:p>
        </p:txBody>
      </p:sp>
      <p:sp>
        <p:nvSpPr>
          <p:cNvPr id="118" name="Shape 116"/>
          <p:cNvSpPr/>
          <p:nvPr/>
        </p:nvSpPr>
        <p:spPr>
          <a:xfrm>
            <a:off x="9582912" y="5029200"/>
            <a:ext cx="2267712" cy="393192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619488" y="502920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Sign-off</a:t>
            </a:r>
            <a:endParaRPr lang="en-US" sz="720" dirty="0"/>
          </a:p>
        </p:txBody>
      </p:sp>
      <p:sp>
        <p:nvSpPr>
          <p:cNvPr id="120" name="Text 118"/>
          <p:cNvSpPr/>
          <p:nvPr/>
        </p:nvSpPr>
        <p:spPr>
          <a:xfrm>
            <a:off x="274320" y="65836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©2025 ExlService Holdings, Inc.  All rights reserved.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2026-06-15T08:12:28Z</dcterms:created>
  <dcterms:modified xsi:type="dcterms:W3CDTF">2026-06-15T08:12:28Z</dcterms:modified>
</cp:coreProperties>
</file>