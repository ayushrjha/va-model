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core problem: AI writes wrong code fast without a spec. Walk through the 4 reasons, then the TMD anatomy on the right. Close: the TMD is the persistent context every session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each phase with the prompt directive, then show the prompt anatomy code block. Key: one section per prompt, specify DataFrames explicitly, gate before proceeding.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capabilities + best practices. Key message: Claude is an implementer against a spec, not a code generator. You are the architect and reviewer. End with the stats bar as proof from the Lincoln VA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95250"/>
          </a:xfrm>
          <a:prstGeom prst="rect">
            <a:avLst/>
          </a:prstGeom>
          <a:solidFill>
            <a:srgbClr val="FB4D0A"/>
          </a:solidFill>
          <a:ln/>
        </p:spPr>
      </p:sp>
      <p:sp>
        <p:nvSpPr>
          <p:cNvPr id="4" name="Text 2"/>
          <p:cNvSpPr/>
          <p:nvPr/>
        </p:nvSpPr>
        <p:spPr>
          <a:xfrm>
            <a:off x="495300" y="190500"/>
            <a:ext cx="178955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BUILD A MODEL USING CLAUDE · 1 /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5300" y="419100"/>
            <a:ext cx="17895570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50" b="1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Documentation Must Come First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7294870" y="209550"/>
            <a:ext cx="57403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EXL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95300" y="1162050"/>
            <a:ext cx="17297400" cy="28575"/>
          </a:xfrm>
          <a:prstGeom prst="rect">
            <a:avLst/>
          </a:prstGeom>
          <a:solidFill>
            <a:srgbClr val="FB4D0A"/>
          </a:solidFill>
          <a:ln/>
        </p:spPr>
      </p:sp>
      <p:sp>
        <p:nvSpPr>
          <p:cNvPr id="8" name="Shape 6"/>
          <p:cNvSpPr/>
          <p:nvPr/>
        </p:nvSpPr>
        <p:spPr>
          <a:xfrm>
            <a:off x="495300" y="1314450"/>
            <a:ext cx="38100" cy="717947"/>
          </a:xfrm>
          <a:prstGeom prst="rect">
            <a:avLst/>
          </a:prstGeom>
          <a:solidFill>
            <a:srgbClr val="FB4D0A"/>
          </a:solidFill>
          <a:ln/>
        </p:spPr>
      </p:sp>
      <p:sp>
        <p:nvSpPr>
          <p:cNvPr id="9" name="Text 7"/>
          <p:cNvSpPr/>
          <p:nvPr/>
        </p:nvSpPr>
        <p:spPr>
          <a:xfrm>
            <a:off x="704850" y="1314450"/>
            <a:ext cx="9438403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i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can write code fast — but without a precise specification, it writes the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code </a:t>
            </a:r>
            <a:pPr algn="l" indent="0" marL="0">
              <a:lnSpc>
                <a:spcPct val="145000"/>
              </a:lnSpc>
              <a:buNone/>
            </a:pPr>
            <a:r>
              <a:rPr lang="en-US" sz="1950" i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fast."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495300" y="2184797"/>
            <a:ext cx="4616797" cy="3708202"/>
          </a:xfrm>
          <a:prstGeom prst="roundRect">
            <a:avLst>
              <a:gd name="adj" fmla="val 1541"/>
            </a:avLst>
          </a:prstGeom>
          <a:solidFill>
            <a:srgbClr val="F7F7F7"/>
          </a:solidFill>
          <a:ln/>
        </p:spPr>
      </p:sp>
      <p:sp>
        <p:nvSpPr>
          <p:cNvPr id="11" name="Shape 9"/>
          <p:cNvSpPr/>
          <p:nvPr/>
        </p:nvSpPr>
        <p:spPr>
          <a:xfrm>
            <a:off x="495300" y="2184797"/>
            <a:ext cx="4616797" cy="28575"/>
          </a:xfrm>
          <a:prstGeom prst="rect">
            <a:avLst/>
          </a:prstGeom>
          <a:solidFill>
            <a:srgbClr val="FB4D0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384822"/>
            <a:ext cx="465937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7" kern="0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SESSION MEMORY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85800" y="2603897"/>
            <a:ext cx="4362871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AI session starts cold. The TMD is the persistent context that replaces repetition across sessions.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245447" y="2184797"/>
            <a:ext cx="4616797" cy="3708202"/>
          </a:xfrm>
          <a:prstGeom prst="roundRect">
            <a:avLst>
              <a:gd name="adj" fmla="val 1541"/>
            </a:avLst>
          </a:prstGeom>
          <a:solidFill>
            <a:srgbClr val="F7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245447" y="2184797"/>
            <a:ext cx="4616797" cy="28575"/>
          </a:xfrm>
          <a:prstGeom prst="rect">
            <a:avLst/>
          </a:prstGeom>
          <a:solidFill>
            <a:srgbClr val="005071"/>
          </a:solidFill>
          <a:ln/>
        </p:spPr>
      </p:sp>
      <p:sp>
        <p:nvSpPr>
          <p:cNvPr id="16" name="Text 14"/>
          <p:cNvSpPr/>
          <p:nvPr/>
        </p:nvSpPr>
        <p:spPr>
          <a:xfrm>
            <a:off x="5435947" y="2384822"/>
            <a:ext cx="465937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7" kern="0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COMPLEXITY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435947" y="2603897"/>
            <a:ext cx="4362871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 tabs · 5 reserve bases · 244 columns. Without docs, AI cannot wire interdependencies correctly.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5300" y="6026348"/>
            <a:ext cx="4616797" cy="3708202"/>
          </a:xfrm>
          <a:prstGeom prst="roundRect">
            <a:avLst>
              <a:gd name="adj" fmla="val 1541"/>
            </a:avLst>
          </a:prstGeom>
          <a:solidFill>
            <a:srgbClr val="F7F7F7"/>
          </a:solidFill>
          <a:ln/>
        </p:spPr>
      </p:sp>
      <p:sp>
        <p:nvSpPr>
          <p:cNvPr id="19" name="Shape 17"/>
          <p:cNvSpPr/>
          <p:nvPr/>
        </p:nvSpPr>
        <p:spPr>
          <a:xfrm>
            <a:off x="495300" y="6026348"/>
            <a:ext cx="4616797" cy="28575"/>
          </a:xfrm>
          <a:prstGeom prst="rect">
            <a:avLst/>
          </a:prstGeom>
          <a:solidFill>
            <a:srgbClr val="005071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6226373"/>
            <a:ext cx="465937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7" kern="0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AUDITABILITY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685800" y="6445448"/>
            <a:ext cx="4362871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VM-21, NYREG213, LDTI — every calculated value must trace back to an assumption and a formula.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245447" y="6026348"/>
            <a:ext cx="4616797" cy="3708202"/>
          </a:xfrm>
          <a:prstGeom prst="roundRect">
            <a:avLst>
              <a:gd name="adj" fmla="val 1541"/>
            </a:avLst>
          </a:prstGeom>
          <a:solidFill>
            <a:srgbClr val="F7F7F7"/>
          </a:solidFill>
          <a:ln/>
        </p:spPr>
      </p:sp>
      <p:sp>
        <p:nvSpPr>
          <p:cNvPr id="23" name="Shape 21"/>
          <p:cNvSpPr/>
          <p:nvPr/>
        </p:nvSpPr>
        <p:spPr>
          <a:xfrm>
            <a:off x="5245447" y="6026348"/>
            <a:ext cx="4616797" cy="28575"/>
          </a:xfrm>
          <a:prstGeom prst="rect">
            <a:avLst/>
          </a:prstGeom>
          <a:solidFill>
            <a:srgbClr val="005071"/>
          </a:solidFill>
          <a:ln/>
        </p:spPr>
      </p:sp>
      <p:sp>
        <p:nvSpPr>
          <p:cNvPr id="24" name="Text 22"/>
          <p:cNvSpPr/>
          <p:nvPr/>
        </p:nvSpPr>
        <p:spPr>
          <a:xfrm>
            <a:off x="5435947" y="6226373"/>
            <a:ext cx="465937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7" kern="0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ALIGNMENT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5435947" y="6445448"/>
            <a:ext cx="4362871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Actuary, developer, reviewer, and AI all read the same specification. One shared language.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128945" y="1314450"/>
            <a:ext cx="7663755" cy="409575"/>
          </a:xfrm>
          <a:prstGeom prst="roundRect">
            <a:avLst>
              <a:gd name="adj" fmla="val 9302"/>
            </a:avLst>
          </a:prstGeom>
          <a:solidFill>
            <a:srgbClr val="FB4D0A"/>
          </a:solidFill>
          <a:ln/>
        </p:spPr>
      </p:sp>
      <p:sp>
        <p:nvSpPr>
          <p:cNvPr id="27" name="Text 25"/>
          <p:cNvSpPr/>
          <p:nvPr/>
        </p:nvSpPr>
        <p:spPr>
          <a:xfrm>
            <a:off x="10185438" y="1409700"/>
            <a:ext cx="75507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TMD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128945" y="1857375"/>
            <a:ext cx="7663755" cy="7591425"/>
          </a:xfrm>
          <a:prstGeom prst="roundRect">
            <a:avLst>
              <a:gd name="adj" fmla="val 753"/>
            </a:avLst>
          </a:prstGeom>
          <a:ln w="9525">
            <a:solidFill>
              <a:srgbClr val="E4E4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38470" y="2701230"/>
            <a:ext cx="7644705" cy="952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0" name="Text 28"/>
          <p:cNvSpPr/>
          <p:nvPr/>
        </p:nvSpPr>
        <p:spPr>
          <a:xfrm>
            <a:off x="10328970" y="2019300"/>
            <a:ext cx="3429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729020" y="2019300"/>
            <a:ext cx="63182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Architecture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0729020" y="2295525"/>
            <a:ext cx="631826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Purpose, scope, data flow — five reserve bases, three reserve methods</a:t>
            </a:r>
            <a:endParaRPr lang="en-US" sz="1425" dirty="0"/>
          </a:p>
        </p:txBody>
      </p:sp>
      <p:sp>
        <p:nvSpPr>
          <p:cNvPr id="33" name="Shape 31"/>
          <p:cNvSpPr/>
          <p:nvPr/>
        </p:nvSpPr>
        <p:spPr>
          <a:xfrm>
            <a:off x="10138470" y="3545086"/>
            <a:ext cx="7644705" cy="952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4" name="Text 32"/>
          <p:cNvSpPr/>
          <p:nvPr/>
        </p:nvSpPr>
        <p:spPr>
          <a:xfrm>
            <a:off x="10328970" y="2863155"/>
            <a:ext cx="3429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729020" y="2863155"/>
            <a:ext cx="546614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0729020" y="3139380"/>
            <a:ext cx="5466144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switch, every branch condition, every data validation list</a:t>
            </a:r>
            <a:endParaRPr lang="en-US" sz="1425" dirty="0"/>
          </a:p>
        </p:txBody>
      </p:sp>
      <p:sp>
        <p:nvSpPr>
          <p:cNvPr id="37" name="Shape 35"/>
          <p:cNvSpPr/>
          <p:nvPr/>
        </p:nvSpPr>
        <p:spPr>
          <a:xfrm>
            <a:off x="10138470" y="4388941"/>
            <a:ext cx="7644705" cy="952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8" name="Text 36"/>
          <p:cNvSpPr/>
          <p:nvPr/>
        </p:nvSpPr>
        <p:spPr>
          <a:xfrm>
            <a:off x="10328970" y="3707011"/>
            <a:ext cx="3429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0729020" y="3707011"/>
            <a:ext cx="67823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 Transcriptions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0729020" y="3983236"/>
            <a:ext cx="678238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Verbatim Excel formulas for every calc tab — reproduced, never summarised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10138470" y="5232797"/>
            <a:ext cx="7644705" cy="952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2" name="Text 40"/>
          <p:cNvSpPr/>
          <p:nvPr/>
        </p:nvSpPr>
        <p:spPr>
          <a:xfrm>
            <a:off x="10328970" y="4550866"/>
            <a:ext cx="3429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0729020" y="4550866"/>
            <a:ext cx="578750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 Mappings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0729020" y="4827091"/>
            <a:ext cx="5787509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lookup table — shape, keys, and which engines consume it</a:t>
            </a:r>
            <a:endParaRPr lang="en-US" sz="1425" dirty="0"/>
          </a:p>
        </p:txBody>
      </p:sp>
      <p:sp>
        <p:nvSpPr>
          <p:cNvPr id="45" name="Text 43"/>
          <p:cNvSpPr/>
          <p:nvPr/>
        </p:nvSpPr>
        <p:spPr>
          <a:xfrm>
            <a:off x="10328970" y="5394722"/>
            <a:ext cx="3429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0729020" y="5394722"/>
            <a:ext cx="755002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Cases &amp; Reproducibility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0729020" y="5670947"/>
            <a:ext cx="7069565" cy="5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DUMMY markers, #VALUE! flags, 12-month unit-test fixture values for every engine output</a:t>
            </a:r>
            <a:endParaRPr lang="en-US" sz="1425" dirty="0"/>
          </a:p>
        </p:txBody>
      </p:sp>
      <p:sp>
        <p:nvSpPr>
          <p:cNvPr id="48" name="Text 46"/>
          <p:cNvSpPr/>
          <p:nvPr/>
        </p:nvSpPr>
        <p:spPr>
          <a:xfrm>
            <a:off x="10128945" y="9563100"/>
            <a:ext cx="843013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8A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Lincoln VA model: 25 sections · 8 chat sessions · every formula reproduced, not summarised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95300" y="9848850"/>
            <a:ext cx="17297400" cy="952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0" name="Text 48"/>
          <p:cNvSpPr/>
          <p:nvPr/>
        </p:nvSpPr>
        <p:spPr>
          <a:xfrm>
            <a:off x="495300" y="9953625"/>
            <a:ext cx="20909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A8A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EXL Life Actuarial Capabilities</a:t>
            </a:r>
            <a:endParaRPr lang="en-US" sz="1125" dirty="0"/>
          </a:p>
        </p:txBody>
      </p:sp>
      <p:sp>
        <p:nvSpPr>
          <p:cNvPr id="51" name="Text 49"/>
          <p:cNvSpPr/>
          <p:nvPr/>
        </p:nvSpPr>
        <p:spPr>
          <a:xfrm>
            <a:off x="17038141" y="9953625"/>
            <a:ext cx="830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A8A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95250"/>
          </a:xfrm>
          <a:prstGeom prst="rect">
            <a:avLst/>
          </a:prstGeom>
          <a:solidFill>
            <a:srgbClr val="FB4D0A"/>
          </a:solidFill>
          <a:ln/>
        </p:spPr>
      </p:sp>
      <p:sp>
        <p:nvSpPr>
          <p:cNvPr id="4" name="Text 2"/>
          <p:cNvSpPr/>
          <p:nvPr/>
        </p:nvSpPr>
        <p:spPr>
          <a:xfrm>
            <a:off x="495300" y="209550"/>
            <a:ext cx="74552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BUILD A MODEL USING CLAUDE · 2 /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5300" y="438150"/>
            <a:ext cx="7455232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50" b="1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5-Phase Workflow: TMD → Python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7294870" y="209550"/>
            <a:ext cx="57403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EXL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95300" y="1162050"/>
            <a:ext cx="17297400" cy="28575"/>
          </a:xfrm>
          <a:prstGeom prst="rect">
            <a:avLst/>
          </a:prstGeom>
          <a:solidFill>
            <a:srgbClr val="FB4D0A"/>
          </a:solidFill>
          <a:ln/>
        </p:spPr>
      </p:sp>
      <p:sp>
        <p:nvSpPr>
          <p:cNvPr id="8" name="Shape 6"/>
          <p:cNvSpPr/>
          <p:nvPr/>
        </p:nvSpPr>
        <p:spPr>
          <a:xfrm>
            <a:off x="495300" y="1352550"/>
            <a:ext cx="3352800" cy="1384697"/>
          </a:xfrm>
          <a:prstGeom prst="roundRect">
            <a:avLst>
              <a:gd name="adj" fmla="val 4127"/>
            </a:avLst>
          </a:prstGeom>
          <a:ln w="9525">
            <a:solidFill>
              <a:srgbClr val="E4E4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4825" y="1362075"/>
            <a:ext cx="3333750" cy="314325"/>
          </a:xfrm>
          <a:prstGeom prst="rect">
            <a:avLst/>
          </a:prstGeom>
          <a:solidFill>
            <a:srgbClr val="FB4D0A"/>
          </a:solidFill>
          <a:ln/>
        </p:spPr>
      </p:sp>
      <p:sp>
        <p:nvSpPr>
          <p:cNvPr id="10" name="Text 8"/>
          <p:cNvSpPr/>
          <p:nvPr/>
        </p:nvSpPr>
        <p:spPr>
          <a:xfrm>
            <a:off x="638175" y="1447800"/>
            <a:ext cx="316706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9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57225" y="1809750"/>
            <a:ext cx="33318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TMD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57225" y="2114550"/>
            <a:ext cx="3119819" cy="51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§N · Extract formulas, inputs, outputs, D-codes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981450" y="1352550"/>
            <a:ext cx="3352800" cy="1384697"/>
          </a:xfrm>
          <a:prstGeom prst="roundRect">
            <a:avLst>
              <a:gd name="adj" fmla="val 4127"/>
            </a:avLst>
          </a:prstGeom>
          <a:ln w="9525">
            <a:solidFill>
              <a:srgbClr val="E4E4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90975" y="1362075"/>
            <a:ext cx="3333750" cy="314325"/>
          </a:xfrm>
          <a:prstGeom prst="rect">
            <a:avLst/>
          </a:prstGeom>
          <a:solidFill>
            <a:srgbClr val="2E3643"/>
          </a:solidFill>
          <a:ln/>
        </p:spPr>
      </p:sp>
      <p:sp>
        <p:nvSpPr>
          <p:cNvPr id="15" name="Text 13"/>
          <p:cNvSpPr/>
          <p:nvPr/>
        </p:nvSpPr>
        <p:spPr>
          <a:xfrm>
            <a:off x="4124325" y="1447800"/>
            <a:ext cx="316706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9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143375" y="1809750"/>
            <a:ext cx="33318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143375" y="2114550"/>
            <a:ext cx="3119819" cy="51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sections → layers · Define data flow · One folder per layer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467600" y="1352550"/>
            <a:ext cx="3352800" cy="1384697"/>
          </a:xfrm>
          <a:prstGeom prst="roundRect">
            <a:avLst>
              <a:gd name="adj" fmla="val 4127"/>
            </a:avLst>
          </a:prstGeom>
          <a:ln w="9525">
            <a:solidFill>
              <a:srgbClr val="E4E4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77125" y="1362075"/>
            <a:ext cx="3333750" cy="314325"/>
          </a:xfrm>
          <a:prstGeom prst="rect">
            <a:avLst/>
          </a:prstGeom>
          <a:solidFill>
            <a:srgbClr val="FB4D0A"/>
          </a:solidFill>
          <a:ln/>
        </p:spPr>
      </p:sp>
      <p:sp>
        <p:nvSpPr>
          <p:cNvPr id="20" name="Text 18"/>
          <p:cNvSpPr/>
          <p:nvPr/>
        </p:nvSpPr>
        <p:spPr>
          <a:xfrm>
            <a:off x="7610475" y="1447800"/>
            <a:ext cx="316706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9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7629525" y="1809750"/>
            <a:ext cx="33318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629525" y="2114550"/>
            <a:ext cx="3119819" cy="51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module per § · Specify in/out DataFrames · Explicit constraints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0953750" y="1352550"/>
            <a:ext cx="3352800" cy="1384697"/>
          </a:xfrm>
          <a:prstGeom prst="roundRect">
            <a:avLst>
              <a:gd name="adj" fmla="val 4127"/>
            </a:avLst>
          </a:prstGeom>
          <a:ln w="9525">
            <a:solidFill>
              <a:srgbClr val="E4E4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63275" y="1362075"/>
            <a:ext cx="3333750" cy="314325"/>
          </a:xfrm>
          <a:prstGeom prst="rect">
            <a:avLst/>
          </a:prstGeom>
          <a:solidFill>
            <a:srgbClr val="005071"/>
          </a:solidFill>
          <a:ln/>
        </p:spPr>
      </p:sp>
      <p:sp>
        <p:nvSpPr>
          <p:cNvPr id="25" name="Text 23"/>
          <p:cNvSpPr/>
          <p:nvPr/>
        </p:nvSpPr>
        <p:spPr>
          <a:xfrm>
            <a:off x="11096625" y="1447800"/>
            <a:ext cx="316706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9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11115675" y="1809750"/>
            <a:ext cx="33318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1115675" y="2114550"/>
            <a:ext cx="3119819" cy="51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vs workbook · Log D-codes · Gate before §N+1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4439900" y="1352550"/>
            <a:ext cx="3352800" cy="1384697"/>
          </a:xfrm>
          <a:prstGeom prst="roundRect">
            <a:avLst>
              <a:gd name="adj" fmla="val 4127"/>
            </a:avLst>
          </a:prstGeom>
          <a:ln w="9525">
            <a:solidFill>
              <a:srgbClr val="E4E4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449425" y="1362075"/>
            <a:ext cx="3333750" cy="314325"/>
          </a:xfrm>
          <a:prstGeom prst="rect">
            <a:avLst/>
          </a:prstGeom>
          <a:solidFill>
            <a:srgbClr val="005071"/>
          </a:solidFill>
          <a:ln/>
        </p:spPr>
      </p:sp>
      <p:sp>
        <p:nvSpPr>
          <p:cNvPr id="30" name="Text 28"/>
          <p:cNvSpPr/>
          <p:nvPr/>
        </p:nvSpPr>
        <p:spPr>
          <a:xfrm>
            <a:off x="14582775" y="1447800"/>
            <a:ext cx="316706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9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14601825" y="1809750"/>
            <a:ext cx="33318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4601825" y="2114550"/>
            <a:ext cx="3119819" cy="51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runner · Excel output · FastAPI · Formula AST sheet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95300" y="3429000"/>
            <a:ext cx="8515350" cy="409575"/>
          </a:xfrm>
          <a:prstGeom prst="roundRect">
            <a:avLst>
              <a:gd name="adj" fmla="val 9302"/>
            </a:avLst>
          </a:prstGeom>
          <a:solidFill>
            <a:srgbClr val="FB4D0A"/>
          </a:solidFill>
          <a:ln/>
        </p:spPr>
      </p:sp>
      <p:sp>
        <p:nvSpPr>
          <p:cNvPr id="34" name="Text 32"/>
          <p:cNvSpPr/>
          <p:nvPr/>
        </p:nvSpPr>
        <p:spPr>
          <a:xfrm>
            <a:off x="666750" y="3524250"/>
            <a:ext cx="842791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Anatomy — Build Phase (Phase 3)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95300" y="4067175"/>
            <a:ext cx="8515350" cy="5667375"/>
          </a:xfrm>
          <a:prstGeom prst="roundRect">
            <a:avLst>
              <a:gd name="adj" fmla="val 1008"/>
            </a:avLst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4238625"/>
            <a:ext cx="8389811" cy="5362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TMD section per prompt — fill the brackets</a:t>
            </a:r>
            <a:pPr algn="l"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 </a:t>
            </a:r>
            <a:pPr algn="l"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E2E8F0"/>
                </a:solidFill>
                <a:highlight>
                  <a:srgbClr val="1E293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decrements/mortality.py </a:t>
            </a:r>
            <a:pPr algn="l"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based on </a:t>
            </a:r>
            <a:pPr algn="l"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E2E8F0"/>
                </a:solidFill>
                <a:highlight>
                  <a:srgbClr val="1E293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TMD </a:t>
            </a:r>
            <a:pPr algn="l"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</a:t>
            </a:r>
            <a:pPr algn="l"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E2E8F0"/>
                </a:solidFill>
                <a:highlight>
                  <a:srgbClr val="1E293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</a:t>
            </a:r>
            <a:pPr algn="l"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Inputs: </a:t>
            </a:r>
            <a:pPr algn="l"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E2E8F0"/>
                </a:solidFill>
                <a:highlight>
                  <a:srgbClr val="1E293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time_axis: DataFrame </a:t>
            </a:r>
            <a:pPr algn="l"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(cols: t, age_at_val, cal_year) </a:t>
            </a:r>
            <a:pPr algn="l"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E2E8F0"/>
                </a:solidFill>
                <a:highlight>
                  <a:srgbClr val="1E293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assumptions: dict, key </a:t>
            </a:r>
            <a:pPr algn="l"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"VM21PA_BaseMortality_Single"</a:t>
            </a:r>
            <a:pPr algn="l"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Outputs: </a:t>
            </a:r>
            <a:pPr algn="l"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E2E8F0"/>
                </a:solidFill>
                <a:highlight>
                  <a:srgbClr val="1E293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DataFrame with columns q_x_annual, improvement_factor, q_x_improved, q_x_monthly </a:t>
            </a:r>
            <a:pPr algn="l"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 </a:t>
            </a:r>
            <a:pPr algn="l"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E2E8F0"/>
                </a:solidFill>
                <a:highlight>
                  <a:srgbClr val="1E293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UDD interpolation for monthly q - Apply improvement multiplier from assumption table - Return one row per projection period t </a:t>
            </a:r>
            <a:pPr algn="l"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do NOT import from downstream modules -- -- paste TMD §3 formula table verbatim below --</a:t>
            </a:r>
            <a:endParaRPr lang="en-US" sz="1125" dirty="0"/>
          </a:p>
        </p:txBody>
      </p:sp>
      <p:sp>
        <p:nvSpPr>
          <p:cNvPr id="37" name="Shape 35"/>
          <p:cNvSpPr/>
          <p:nvPr/>
        </p:nvSpPr>
        <p:spPr>
          <a:xfrm>
            <a:off x="9277350" y="3429000"/>
            <a:ext cx="8515350" cy="409575"/>
          </a:xfrm>
          <a:prstGeom prst="roundRect">
            <a:avLst>
              <a:gd name="adj" fmla="val 9302"/>
            </a:avLst>
          </a:prstGeom>
          <a:solidFill>
            <a:srgbClr val="FB4D0A"/>
          </a:solidFill>
          <a:ln/>
        </p:spPr>
      </p:sp>
      <p:sp>
        <p:nvSpPr>
          <p:cNvPr id="38" name="Text 36"/>
          <p:cNvSpPr/>
          <p:nvPr/>
        </p:nvSpPr>
        <p:spPr>
          <a:xfrm>
            <a:off x="9448800" y="3524250"/>
            <a:ext cx="842791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Principles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9277350" y="4067175"/>
            <a:ext cx="4200525" cy="1812875"/>
          </a:xfrm>
          <a:prstGeom prst="roundRect">
            <a:avLst>
              <a:gd name="adj" fmla="val 3152"/>
            </a:avLst>
          </a:prstGeom>
          <a:solidFill>
            <a:srgbClr val="F7F7F7"/>
          </a:solidFill>
          <a:ln/>
        </p:spPr>
      </p:sp>
      <p:sp>
        <p:nvSpPr>
          <p:cNvPr id="40" name="Text 38"/>
          <p:cNvSpPr/>
          <p:nvPr/>
        </p:nvSpPr>
        <p:spPr>
          <a:xfrm>
            <a:off x="9467850" y="4238625"/>
            <a:ext cx="420147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to one §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9467850" y="4505325"/>
            <a:ext cx="3934111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give Claude the full TMD — one section per prompt, every time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13592175" y="4067175"/>
            <a:ext cx="4200525" cy="1812875"/>
          </a:xfrm>
          <a:prstGeom prst="roundRect">
            <a:avLst>
              <a:gd name="adj" fmla="val 3152"/>
            </a:avLst>
          </a:prstGeom>
          <a:solidFill>
            <a:srgbClr val="F7F7F7"/>
          </a:solidFill>
          <a:ln/>
        </p:spPr>
      </p:sp>
      <p:sp>
        <p:nvSpPr>
          <p:cNvPr id="43" name="Text 41"/>
          <p:cNvSpPr/>
          <p:nvPr/>
        </p:nvSpPr>
        <p:spPr>
          <a:xfrm>
            <a:off x="13782675" y="4238625"/>
            <a:ext cx="420147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every column</a:t>
            </a:r>
            <a:endParaRPr lang="en-US" sz="1425" dirty="0"/>
          </a:p>
        </p:txBody>
      </p:sp>
      <p:sp>
        <p:nvSpPr>
          <p:cNvPr id="44" name="Text 42"/>
          <p:cNvSpPr/>
          <p:nvPr/>
        </p:nvSpPr>
        <p:spPr>
          <a:xfrm>
            <a:off x="13782675" y="4505325"/>
            <a:ext cx="3934111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 input and output DataFrames explicitly — Claude cannot infer shape from prose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9277350" y="5994350"/>
            <a:ext cx="4200525" cy="1812875"/>
          </a:xfrm>
          <a:prstGeom prst="roundRect">
            <a:avLst>
              <a:gd name="adj" fmla="val 3152"/>
            </a:avLst>
          </a:prstGeom>
          <a:solidFill>
            <a:srgbClr val="F7F7F7"/>
          </a:solidFill>
          <a:ln/>
        </p:spPr>
      </p:sp>
      <p:sp>
        <p:nvSpPr>
          <p:cNvPr id="46" name="Text 44"/>
          <p:cNvSpPr/>
          <p:nvPr/>
        </p:nvSpPr>
        <p:spPr>
          <a:xfrm>
            <a:off x="9467850" y="6165800"/>
            <a:ext cx="420147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formulas verbatim</a:t>
            </a:r>
            <a:endParaRPr lang="en-US" sz="1425" dirty="0"/>
          </a:p>
        </p:txBody>
      </p:sp>
      <p:sp>
        <p:nvSpPr>
          <p:cNvPr id="47" name="Text 45"/>
          <p:cNvSpPr/>
          <p:nvPr/>
        </p:nvSpPr>
        <p:spPr>
          <a:xfrm>
            <a:off x="9467850" y="6432500"/>
            <a:ext cx="3934111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paraphrase — reproduce each formula cell-for-cell from the TMD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13592175" y="5994350"/>
            <a:ext cx="4200525" cy="1812875"/>
          </a:xfrm>
          <a:prstGeom prst="roundRect">
            <a:avLst>
              <a:gd name="adj" fmla="val 3152"/>
            </a:avLst>
          </a:prstGeom>
          <a:solidFill>
            <a:srgbClr val="F7F7F7"/>
          </a:solidFill>
          <a:ln/>
        </p:spPr>
      </p:sp>
      <p:sp>
        <p:nvSpPr>
          <p:cNvPr id="49" name="Text 47"/>
          <p:cNvSpPr/>
          <p:nvPr/>
        </p:nvSpPr>
        <p:spPr>
          <a:xfrm>
            <a:off x="13782675" y="6165800"/>
            <a:ext cx="420147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before §N+1</a:t>
            </a:r>
            <a:endParaRPr lang="en-US" sz="1425" dirty="0"/>
          </a:p>
        </p:txBody>
      </p:sp>
      <p:sp>
        <p:nvSpPr>
          <p:cNvPr id="50" name="Text 48"/>
          <p:cNvSpPr/>
          <p:nvPr/>
        </p:nvSpPr>
        <p:spPr>
          <a:xfrm>
            <a:off x="13782675" y="6432500"/>
            <a:ext cx="3934111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tests after each module. Undetected errors compound across calculation layers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9277350" y="7921526"/>
            <a:ext cx="4200525" cy="1813024"/>
          </a:xfrm>
          <a:prstGeom prst="roundRect">
            <a:avLst>
              <a:gd name="adj" fmla="val 3152"/>
            </a:avLst>
          </a:prstGeom>
          <a:solidFill>
            <a:srgbClr val="F7F7F7"/>
          </a:solidFill>
          <a:ln/>
        </p:spPr>
      </p:sp>
      <p:sp>
        <p:nvSpPr>
          <p:cNvPr id="52" name="Text 50"/>
          <p:cNvSpPr/>
          <p:nvPr/>
        </p:nvSpPr>
        <p:spPr>
          <a:xfrm>
            <a:off x="9467850" y="8092976"/>
            <a:ext cx="420147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module boundaries</a:t>
            </a:r>
            <a:endParaRPr lang="en-US" sz="1425" dirty="0"/>
          </a:p>
        </p:txBody>
      </p:sp>
      <p:sp>
        <p:nvSpPr>
          <p:cNvPr id="53" name="Text 51"/>
          <p:cNvSpPr/>
          <p:nvPr/>
        </p:nvSpPr>
        <p:spPr>
          <a:xfrm>
            <a:off x="9467850" y="8359676"/>
            <a:ext cx="3934111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 NOT import from downstream" — prevents circular dependencies at build time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13592175" y="7921526"/>
            <a:ext cx="4200525" cy="1813024"/>
          </a:xfrm>
          <a:prstGeom prst="roundRect">
            <a:avLst>
              <a:gd name="adj" fmla="val 3152"/>
            </a:avLst>
          </a:prstGeom>
          <a:solidFill>
            <a:srgbClr val="F7F7F7"/>
          </a:solidFill>
          <a:ln/>
        </p:spPr>
      </p:sp>
      <p:sp>
        <p:nvSpPr>
          <p:cNvPr id="55" name="Text 53"/>
          <p:cNvSpPr/>
          <p:nvPr/>
        </p:nvSpPr>
        <p:spPr>
          <a:xfrm>
            <a:off x="13782675" y="8092976"/>
            <a:ext cx="420147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Flag, don't assume</a:t>
            </a:r>
            <a:endParaRPr lang="en-US" sz="1425" dirty="0"/>
          </a:p>
        </p:txBody>
      </p:sp>
      <p:sp>
        <p:nvSpPr>
          <p:cNvPr id="56" name="Text 54"/>
          <p:cNvSpPr/>
          <p:nvPr/>
        </p:nvSpPr>
        <p:spPr>
          <a:xfrm>
            <a:off x="13782675" y="8359676"/>
            <a:ext cx="3934111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"Flag ambiguities in the TMD rather than resolving them yourself"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495300" y="9848850"/>
            <a:ext cx="17297400" cy="952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8" name="Text 56"/>
          <p:cNvSpPr/>
          <p:nvPr/>
        </p:nvSpPr>
        <p:spPr>
          <a:xfrm>
            <a:off x="495300" y="9953625"/>
            <a:ext cx="20909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A8A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EXL Life Actuarial Capabilities</a:t>
            </a:r>
            <a:endParaRPr lang="en-US" sz="1125" dirty="0"/>
          </a:p>
        </p:txBody>
      </p:sp>
      <p:sp>
        <p:nvSpPr>
          <p:cNvPr id="59" name="Text 57"/>
          <p:cNvSpPr/>
          <p:nvPr/>
        </p:nvSpPr>
        <p:spPr>
          <a:xfrm>
            <a:off x="17038141" y="9953625"/>
            <a:ext cx="830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A8A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95250"/>
          </a:xfrm>
          <a:prstGeom prst="rect">
            <a:avLst/>
          </a:prstGeom>
          <a:solidFill>
            <a:srgbClr val="FB4D0A"/>
          </a:solidFill>
          <a:ln/>
        </p:spPr>
      </p:sp>
      <p:sp>
        <p:nvSpPr>
          <p:cNvPr id="4" name="Text 2"/>
          <p:cNvSpPr/>
          <p:nvPr/>
        </p:nvSpPr>
        <p:spPr>
          <a:xfrm>
            <a:off x="495300" y="209550"/>
            <a:ext cx="1019706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BUILD A MODEL USING CLAUDE · 3 /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5300" y="438150"/>
            <a:ext cx="10197063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50" b="1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Claude Can Do — and How to Use It Well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7294870" y="209550"/>
            <a:ext cx="57403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EXL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95300" y="1162050"/>
            <a:ext cx="17297400" cy="28575"/>
          </a:xfrm>
          <a:prstGeom prst="rect">
            <a:avLst/>
          </a:prstGeom>
          <a:solidFill>
            <a:srgbClr val="FB4D0A"/>
          </a:solidFill>
          <a:ln/>
        </p:spPr>
      </p:sp>
      <p:sp>
        <p:nvSpPr>
          <p:cNvPr id="8" name="Shape 6"/>
          <p:cNvSpPr/>
          <p:nvPr/>
        </p:nvSpPr>
        <p:spPr>
          <a:xfrm>
            <a:off x="495300" y="1333500"/>
            <a:ext cx="8174682" cy="409575"/>
          </a:xfrm>
          <a:prstGeom prst="roundRect">
            <a:avLst>
              <a:gd name="adj" fmla="val 9302"/>
            </a:avLst>
          </a:prstGeom>
          <a:solidFill>
            <a:srgbClr val="FB4D0A"/>
          </a:solidFill>
          <a:ln/>
        </p:spPr>
      </p:sp>
      <p:sp>
        <p:nvSpPr>
          <p:cNvPr id="9" name="Text 7"/>
          <p:cNvSpPr/>
          <p:nvPr/>
        </p:nvSpPr>
        <p:spPr>
          <a:xfrm>
            <a:off x="666750" y="1428750"/>
            <a:ext cx="807702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Claude Delivers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95300" y="2688878"/>
            <a:ext cx="8174682" cy="952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1" name="Shape 9"/>
          <p:cNvSpPr/>
          <p:nvPr/>
        </p:nvSpPr>
        <p:spPr>
          <a:xfrm>
            <a:off x="495300" y="1971675"/>
            <a:ext cx="8174682" cy="952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2" name="Shape 10"/>
          <p:cNvSpPr/>
          <p:nvPr/>
        </p:nvSpPr>
        <p:spPr>
          <a:xfrm>
            <a:off x="495300" y="1971675"/>
            <a:ext cx="38100" cy="726728"/>
          </a:xfrm>
          <a:prstGeom prst="rect">
            <a:avLst/>
          </a:prstGeom>
          <a:solidFill>
            <a:srgbClr val="FB4D0A"/>
          </a:solidFill>
          <a:ln/>
        </p:spPr>
      </p:sp>
      <p:sp>
        <p:nvSpPr>
          <p:cNvPr id="13" name="Shape 11"/>
          <p:cNvSpPr/>
          <p:nvPr/>
        </p:nvSpPr>
        <p:spPr>
          <a:xfrm>
            <a:off x="8660457" y="1971675"/>
            <a:ext cx="9525" cy="72672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095500"/>
            <a:ext cx="686587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Parses Excel models automatically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2343150"/>
            <a:ext cx="6865873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every tab, formula, defined name — extracts structure without manual work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95300" y="3510855"/>
            <a:ext cx="8174682" cy="952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7" name="Shape 15"/>
          <p:cNvSpPr/>
          <p:nvPr/>
        </p:nvSpPr>
        <p:spPr>
          <a:xfrm>
            <a:off x="495300" y="2793653"/>
            <a:ext cx="8174682" cy="952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8" name="Shape 16"/>
          <p:cNvSpPr/>
          <p:nvPr/>
        </p:nvSpPr>
        <p:spPr>
          <a:xfrm>
            <a:off x="495300" y="2793653"/>
            <a:ext cx="38100" cy="726728"/>
          </a:xfrm>
          <a:prstGeom prst="rect">
            <a:avLst/>
          </a:prstGeom>
          <a:solidFill>
            <a:srgbClr val="FB4D0A"/>
          </a:solidFill>
          <a:ln/>
        </p:spPr>
      </p:sp>
      <p:sp>
        <p:nvSpPr>
          <p:cNvPr id="19" name="Shape 17"/>
          <p:cNvSpPr/>
          <p:nvPr/>
        </p:nvSpPr>
        <p:spPr>
          <a:xfrm>
            <a:off x="8660457" y="2793653"/>
            <a:ext cx="9525" cy="72672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917478"/>
            <a:ext cx="629632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full Python modules per §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" y="3165128"/>
            <a:ext cx="6296323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 layer separation · no downstream imports · one file per TMD section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95300" y="4332833"/>
            <a:ext cx="8174682" cy="952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3" name="Shape 21"/>
          <p:cNvSpPr/>
          <p:nvPr/>
        </p:nvSpPr>
        <p:spPr>
          <a:xfrm>
            <a:off x="495300" y="3615630"/>
            <a:ext cx="8174682" cy="952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4" name="Shape 22"/>
          <p:cNvSpPr/>
          <p:nvPr/>
        </p:nvSpPr>
        <p:spPr>
          <a:xfrm>
            <a:off x="495300" y="3615630"/>
            <a:ext cx="38100" cy="726728"/>
          </a:xfrm>
          <a:prstGeom prst="rect">
            <a:avLst/>
          </a:prstGeom>
          <a:solidFill>
            <a:srgbClr val="FB4D0A"/>
          </a:solidFill>
          <a:ln/>
        </p:spPr>
      </p:sp>
      <p:sp>
        <p:nvSpPr>
          <p:cNvPr id="25" name="Shape 23"/>
          <p:cNvSpPr/>
          <p:nvPr/>
        </p:nvSpPr>
        <p:spPr>
          <a:xfrm>
            <a:off x="8660457" y="3615630"/>
            <a:ext cx="9525" cy="72672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739455"/>
            <a:ext cx="616420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automated test suites from the fixture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5800" y="3987105"/>
            <a:ext cx="6164208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§23.5 reproducibility fixture into 137 assertions before code runs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95300" y="5154811"/>
            <a:ext cx="8174682" cy="952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9" name="Shape 27"/>
          <p:cNvSpPr/>
          <p:nvPr/>
        </p:nvSpPr>
        <p:spPr>
          <a:xfrm>
            <a:off x="495300" y="4437608"/>
            <a:ext cx="8174682" cy="952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0" name="Shape 28"/>
          <p:cNvSpPr/>
          <p:nvPr/>
        </p:nvSpPr>
        <p:spPr>
          <a:xfrm>
            <a:off x="495300" y="4437608"/>
            <a:ext cx="38100" cy="726728"/>
          </a:xfrm>
          <a:prstGeom prst="rect">
            <a:avLst/>
          </a:prstGeom>
          <a:solidFill>
            <a:srgbClr val="005071"/>
          </a:solidFill>
          <a:ln/>
        </p:spPr>
      </p:sp>
      <p:sp>
        <p:nvSpPr>
          <p:cNvPr id="31" name="Shape 29"/>
          <p:cNvSpPr/>
          <p:nvPr/>
        </p:nvSpPr>
        <p:spPr>
          <a:xfrm>
            <a:off x="8660457" y="4437608"/>
            <a:ext cx="9525" cy="72672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4561433"/>
            <a:ext cx="655678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AST formula reference + D-code logs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5800" y="4809083"/>
            <a:ext cx="6556787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Cell-level citations + root-cause discrepancy reports — never silently absorbed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495300" y="5976789"/>
            <a:ext cx="8174682" cy="952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5" name="Shape 33"/>
          <p:cNvSpPr/>
          <p:nvPr/>
        </p:nvSpPr>
        <p:spPr>
          <a:xfrm>
            <a:off x="495300" y="5259586"/>
            <a:ext cx="8174682" cy="952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6" name="Shape 34"/>
          <p:cNvSpPr/>
          <p:nvPr/>
        </p:nvSpPr>
        <p:spPr>
          <a:xfrm>
            <a:off x="495300" y="5259586"/>
            <a:ext cx="38100" cy="726728"/>
          </a:xfrm>
          <a:prstGeom prst="rect">
            <a:avLst/>
          </a:prstGeom>
          <a:solidFill>
            <a:srgbClr val="005071"/>
          </a:solidFill>
          <a:ln/>
        </p:spPr>
      </p:sp>
      <p:sp>
        <p:nvSpPr>
          <p:cNvPr id="37" name="Shape 35"/>
          <p:cNvSpPr/>
          <p:nvPr/>
        </p:nvSpPr>
        <p:spPr>
          <a:xfrm>
            <a:off x="8660457" y="5259586"/>
            <a:ext cx="9525" cy="72672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5383411"/>
            <a:ext cx="67791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Wraps model with FastAPI + batch runner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85800" y="5631061"/>
            <a:ext cx="6779106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REST endpoints: run model · job polling · assumption queries · Excel download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8936682" y="1333500"/>
            <a:ext cx="8856018" cy="409575"/>
          </a:xfrm>
          <a:prstGeom prst="roundRect">
            <a:avLst>
              <a:gd name="adj" fmla="val 9302"/>
            </a:avLst>
          </a:prstGeom>
          <a:solidFill>
            <a:srgbClr val="FB4D0A"/>
          </a:solidFill>
          <a:ln/>
        </p:spPr>
      </p:sp>
      <p:sp>
        <p:nvSpPr>
          <p:cNvPr id="41" name="Text 39"/>
          <p:cNvSpPr/>
          <p:nvPr/>
        </p:nvSpPr>
        <p:spPr>
          <a:xfrm>
            <a:off x="9108132" y="1428750"/>
            <a:ext cx="877879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8936682" y="1971675"/>
            <a:ext cx="8856018" cy="5857875"/>
          </a:xfrm>
          <a:prstGeom prst="roundRect">
            <a:avLst>
              <a:gd name="adj" fmla="val 976"/>
            </a:avLst>
          </a:prstGeom>
          <a:ln w="9525">
            <a:solidFill>
              <a:srgbClr val="E4E4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74807" y="2200275"/>
            <a:ext cx="290513" cy="152400"/>
          </a:xfrm>
          <a:prstGeom prst="roundRect">
            <a:avLst>
              <a:gd name="adj" fmla="val 18750"/>
            </a:avLst>
          </a:prstGeom>
          <a:solidFill>
            <a:srgbClr val="DCFCE7"/>
          </a:solidFill>
          <a:ln/>
        </p:spPr>
      </p:sp>
      <p:sp>
        <p:nvSpPr>
          <p:cNvPr id="44" name="Text 42"/>
          <p:cNvSpPr/>
          <p:nvPr/>
        </p:nvSpPr>
        <p:spPr>
          <a:xfrm>
            <a:off x="9241482" y="2219325"/>
            <a:ext cx="18621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9560570" y="2171700"/>
            <a:ext cx="7016978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section-by-section — one §, one module, one test run at a time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9174807" y="2626965"/>
            <a:ext cx="290513" cy="152400"/>
          </a:xfrm>
          <a:prstGeom prst="roundRect">
            <a:avLst>
              <a:gd name="adj" fmla="val 18750"/>
            </a:avLst>
          </a:prstGeom>
          <a:solidFill>
            <a:srgbClr val="DCFCE7"/>
          </a:solidFill>
          <a:ln/>
        </p:spPr>
      </p:sp>
      <p:sp>
        <p:nvSpPr>
          <p:cNvPr id="47" name="Text 45"/>
          <p:cNvSpPr/>
          <p:nvPr/>
        </p:nvSpPr>
        <p:spPr>
          <a:xfrm>
            <a:off x="9241482" y="2646015"/>
            <a:ext cx="18621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825" dirty="0"/>
          </a:p>
        </p:txBody>
      </p:sp>
      <p:sp>
        <p:nvSpPr>
          <p:cNvPr id="48" name="Text 46"/>
          <p:cNvSpPr/>
          <p:nvPr/>
        </p:nvSpPr>
        <p:spPr>
          <a:xfrm>
            <a:off x="9560570" y="2598390"/>
            <a:ext cx="8742655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the architect and reviewer — Claude is the implementer, you are the authority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9174807" y="3053655"/>
            <a:ext cx="290513" cy="152400"/>
          </a:xfrm>
          <a:prstGeom prst="roundRect">
            <a:avLst>
              <a:gd name="adj" fmla="val 18750"/>
            </a:avLst>
          </a:prstGeom>
          <a:solidFill>
            <a:srgbClr val="DCFCE7"/>
          </a:solidFill>
          <a:ln/>
        </p:spPr>
      </p:sp>
      <p:sp>
        <p:nvSpPr>
          <p:cNvPr id="50" name="Text 48"/>
          <p:cNvSpPr/>
          <p:nvPr/>
        </p:nvSpPr>
        <p:spPr>
          <a:xfrm>
            <a:off x="9241482" y="3072705"/>
            <a:ext cx="18621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825" dirty="0"/>
          </a:p>
        </p:txBody>
      </p:sp>
      <p:sp>
        <p:nvSpPr>
          <p:cNvPr id="51" name="Text 49"/>
          <p:cNvSpPr/>
          <p:nvPr/>
        </p:nvSpPr>
        <p:spPr>
          <a:xfrm>
            <a:off x="9560570" y="3025080"/>
            <a:ext cx="6560061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formula tables verbatim — never paraphrase a calculation</a:t>
            </a:r>
            <a:endParaRPr lang="en-US" sz="1650" dirty="0"/>
          </a:p>
        </p:txBody>
      </p:sp>
      <p:sp>
        <p:nvSpPr>
          <p:cNvPr id="52" name="Shape 50"/>
          <p:cNvSpPr/>
          <p:nvPr/>
        </p:nvSpPr>
        <p:spPr>
          <a:xfrm>
            <a:off x="9174807" y="3480346"/>
            <a:ext cx="290513" cy="152400"/>
          </a:xfrm>
          <a:prstGeom prst="roundRect">
            <a:avLst>
              <a:gd name="adj" fmla="val 18750"/>
            </a:avLst>
          </a:prstGeom>
          <a:solidFill>
            <a:srgbClr val="DCFCE7"/>
          </a:solidFill>
          <a:ln/>
        </p:spPr>
      </p:sp>
      <p:sp>
        <p:nvSpPr>
          <p:cNvPr id="53" name="Text 51"/>
          <p:cNvSpPr/>
          <p:nvPr/>
        </p:nvSpPr>
        <p:spPr>
          <a:xfrm>
            <a:off x="9241482" y="3499396"/>
            <a:ext cx="18621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825" dirty="0"/>
          </a:p>
        </p:txBody>
      </p:sp>
      <p:sp>
        <p:nvSpPr>
          <p:cNvPr id="54" name="Text 52"/>
          <p:cNvSpPr/>
          <p:nvPr/>
        </p:nvSpPr>
        <p:spPr>
          <a:xfrm>
            <a:off x="9560570" y="3451771"/>
            <a:ext cx="7598152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all discrepancies as D-codes — never let Claude silently absorb a gap</a:t>
            </a:r>
            <a:endParaRPr lang="en-US" sz="1650" dirty="0"/>
          </a:p>
        </p:txBody>
      </p:sp>
      <p:sp>
        <p:nvSpPr>
          <p:cNvPr id="55" name="Shape 53"/>
          <p:cNvSpPr/>
          <p:nvPr/>
        </p:nvSpPr>
        <p:spPr>
          <a:xfrm>
            <a:off x="9174807" y="3897511"/>
            <a:ext cx="8379768" cy="952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6" name="Shape 54"/>
          <p:cNvSpPr/>
          <p:nvPr/>
        </p:nvSpPr>
        <p:spPr>
          <a:xfrm>
            <a:off x="9174807" y="4088011"/>
            <a:ext cx="451693" cy="152400"/>
          </a:xfrm>
          <a:prstGeom prst="roundRect">
            <a:avLst>
              <a:gd name="adj" fmla="val 18750"/>
            </a:avLst>
          </a:prstGeom>
          <a:solidFill>
            <a:srgbClr val="FEE2E2"/>
          </a:solidFill>
          <a:ln/>
        </p:spPr>
      </p:sp>
      <p:sp>
        <p:nvSpPr>
          <p:cNvPr id="57" name="Text 55"/>
          <p:cNvSpPr/>
          <p:nvPr/>
        </p:nvSpPr>
        <p:spPr>
          <a:xfrm>
            <a:off x="9241482" y="4107061"/>
            <a:ext cx="363513" cy="152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9721751" y="4059436"/>
            <a:ext cx="7389912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Asking Claude to "figure out" branch conditions — specify them explicitly</a:t>
            </a:r>
            <a:endParaRPr lang="en-US" sz="1650" dirty="0"/>
          </a:p>
        </p:txBody>
      </p:sp>
      <p:sp>
        <p:nvSpPr>
          <p:cNvPr id="59" name="Shape 57"/>
          <p:cNvSpPr/>
          <p:nvPr/>
        </p:nvSpPr>
        <p:spPr>
          <a:xfrm>
            <a:off x="9174807" y="4514701"/>
            <a:ext cx="451693" cy="152400"/>
          </a:xfrm>
          <a:prstGeom prst="roundRect">
            <a:avLst>
              <a:gd name="adj" fmla="val 18750"/>
            </a:avLst>
          </a:prstGeom>
          <a:solidFill>
            <a:srgbClr val="FEE2E2"/>
          </a:solidFill>
          <a:ln/>
        </p:spPr>
      </p:sp>
      <p:sp>
        <p:nvSpPr>
          <p:cNvPr id="60" name="Text 58"/>
          <p:cNvSpPr/>
          <p:nvPr/>
        </p:nvSpPr>
        <p:spPr>
          <a:xfrm>
            <a:off x="9241482" y="4533751"/>
            <a:ext cx="363513" cy="152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</a:t>
            </a:r>
            <a:endParaRPr lang="en-US" sz="825" dirty="0"/>
          </a:p>
        </p:txBody>
      </p:sp>
      <p:sp>
        <p:nvSpPr>
          <p:cNvPr id="61" name="Text 59"/>
          <p:cNvSpPr/>
          <p:nvPr/>
        </p:nvSpPr>
        <p:spPr>
          <a:xfrm>
            <a:off x="9721751" y="4486126"/>
            <a:ext cx="8341072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Skipping validation between phases — errors compound across calculation layers</a:t>
            </a:r>
            <a:endParaRPr lang="en-US" sz="1650" dirty="0"/>
          </a:p>
        </p:txBody>
      </p:sp>
      <p:sp>
        <p:nvSpPr>
          <p:cNvPr id="62" name="Shape 60"/>
          <p:cNvSpPr/>
          <p:nvPr/>
        </p:nvSpPr>
        <p:spPr>
          <a:xfrm>
            <a:off x="9174807" y="4941391"/>
            <a:ext cx="451693" cy="152400"/>
          </a:xfrm>
          <a:prstGeom prst="roundRect">
            <a:avLst>
              <a:gd name="adj" fmla="val 18750"/>
            </a:avLst>
          </a:prstGeom>
          <a:solidFill>
            <a:srgbClr val="FEE2E2"/>
          </a:solidFill>
          <a:ln/>
        </p:spPr>
      </p:sp>
      <p:sp>
        <p:nvSpPr>
          <p:cNvPr id="63" name="Text 61"/>
          <p:cNvSpPr/>
          <p:nvPr/>
        </p:nvSpPr>
        <p:spPr>
          <a:xfrm>
            <a:off x="9241482" y="4960441"/>
            <a:ext cx="363513" cy="152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9721751" y="4912816"/>
            <a:ext cx="8508221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Generating more than one module per session — context overflow degrades output</a:t>
            </a:r>
            <a:endParaRPr lang="en-US" sz="1650" dirty="0"/>
          </a:p>
        </p:txBody>
      </p:sp>
      <p:sp>
        <p:nvSpPr>
          <p:cNvPr id="65" name="Shape 63"/>
          <p:cNvSpPr/>
          <p:nvPr/>
        </p:nvSpPr>
        <p:spPr>
          <a:xfrm>
            <a:off x="8936682" y="7924800"/>
            <a:ext cx="8856018" cy="838200"/>
          </a:xfrm>
          <a:prstGeom prst="roundRect">
            <a:avLst>
              <a:gd name="adj" fmla="val 6818"/>
            </a:avLst>
          </a:prstGeom>
          <a:solidFill>
            <a:srgbClr val="F7F7F7"/>
          </a:solidFill>
          <a:ln/>
        </p:spPr>
      </p:sp>
      <p:sp>
        <p:nvSpPr>
          <p:cNvPr id="66" name="Shape 64"/>
          <p:cNvSpPr/>
          <p:nvPr/>
        </p:nvSpPr>
        <p:spPr>
          <a:xfrm>
            <a:off x="8936682" y="7924800"/>
            <a:ext cx="38100" cy="838200"/>
          </a:xfrm>
          <a:prstGeom prst="rect">
            <a:avLst/>
          </a:prstGeom>
          <a:solidFill>
            <a:srgbClr val="FB4D0A"/>
          </a:solidFill>
          <a:ln/>
        </p:spPr>
      </p:sp>
      <p:sp>
        <p:nvSpPr>
          <p:cNvPr id="67" name="Text 65"/>
          <p:cNvSpPr/>
          <p:nvPr/>
        </p:nvSpPr>
        <p:spPr>
          <a:xfrm>
            <a:off x="9146232" y="8058150"/>
            <a:ext cx="872926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TMD is not overhead — it is the work. The Python model is execution against a specification that already exists.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495300" y="8858250"/>
            <a:ext cx="17297400" cy="933450"/>
          </a:xfrm>
          <a:prstGeom prst="roundRect">
            <a:avLst>
              <a:gd name="adj" fmla="val 6122"/>
            </a:avLst>
          </a:prstGeom>
          <a:solidFill>
            <a:srgbClr val="F7F7F7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155603" y="9020175"/>
            <a:ext cx="9525" cy="60960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70" name="Text 68"/>
          <p:cNvSpPr/>
          <p:nvPr/>
        </p:nvSpPr>
        <p:spPr>
          <a:xfrm>
            <a:off x="372286" y="9020175"/>
            <a:ext cx="291585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3300" dirty="0"/>
          </a:p>
        </p:txBody>
      </p:sp>
      <p:sp>
        <p:nvSpPr>
          <p:cNvPr id="71" name="Text 69"/>
          <p:cNvSpPr/>
          <p:nvPr/>
        </p:nvSpPr>
        <p:spPr>
          <a:xfrm>
            <a:off x="372286" y="9467850"/>
            <a:ext cx="291585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TMD Sections</a:t>
            </a:r>
            <a:endParaRPr lang="en-US" sz="1125" dirty="0"/>
          </a:p>
        </p:txBody>
      </p:sp>
      <p:sp>
        <p:nvSpPr>
          <p:cNvPr id="72" name="Shape 70"/>
          <p:cNvSpPr/>
          <p:nvPr/>
        </p:nvSpPr>
        <p:spPr>
          <a:xfrm>
            <a:off x="5816054" y="9020175"/>
            <a:ext cx="9525" cy="60960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73" name="Text 71"/>
          <p:cNvSpPr/>
          <p:nvPr/>
        </p:nvSpPr>
        <p:spPr>
          <a:xfrm>
            <a:off x="3032581" y="9020175"/>
            <a:ext cx="291601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300" dirty="0"/>
          </a:p>
        </p:txBody>
      </p:sp>
      <p:sp>
        <p:nvSpPr>
          <p:cNvPr id="74" name="Text 72"/>
          <p:cNvSpPr/>
          <p:nvPr/>
        </p:nvSpPr>
        <p:spPr>
          <a:xfrm>
            <a:off x="3032581" y="9467850"/>
            <a:ext cx="291601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1125" dirty="0"/>
          </a:p>
        </p:txBody>
      </p:sp>
      <p:sp>
        <p:nvSpPr>
          <p:cNvPr id="75" name="Shape 73"/>
          <p:cNvSpPr/>
          <p:nvPr/>
        </p:nvSpPr>
        <p:spPr>
          <a:xfrm>
            <a:off x="8476357" y="9020175"/>
            <a:ext cx="9525" cy="60960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76" name="Text 74"/>
          <p:cNvSpPr/>
          <p:nvPr/>
        </p:nvSpPr>
        <p:spPr>
          <a:xfrm>
            <a:off x="5693040" y="9020175"/>
            <a:ext cx="291585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</a:t>
            </a:r>
            <a:endParaRPr lang="en-US" sz="3300" dirty="0"/>
          </a:p>
        </p:txBody>
      </p:sp>
      <p:sp>
        <p:nvSpPr>
          <p:cNvPr id="77" name="Text 75"/>
          <p:cNvSpPr/>
          <p:nvPr/>
        </p:nvSpPr>
        <p:spPr>
          <a:xfrm>
            <a:off x="5693040" y="9467850"/>
            <a:ext cx="291585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</a:t>
            </a:r>
            <a:endParaRPr lang="en-US" sz="1125" dirty="0"/>
          </a:p>
        </p:txBody>
      </p:sp>
      <p:sp>
        <p:nvSpPr>
          <p:cNvPr id="78" name="Shape 76"/>
          <p:cNvSpPr/>
          <p:nvPr/>
        </p:nvSpPr>
        <p:spPr>
          <a:xfrm>
            <a:off x="11136809" y="9020175"/>
            <a:ext cx="9525" cy="60960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79" name="Text 77"/>
          <p:cNvSpPr/>
          <p:nvPr/>
        </p:nvSpPr>
        <p:spPr>
          <a:xfrm>
            <a:off x="8353336" y="9020175"/>
            <a:ext cx="291601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300" dirty="0"/>
          </a:p>
        </p:txBody>
      </p:sp>
      <p:sp>
        <p:nvSpPr>
          <p:cNvPr id="80" name="Text 78"/>
          <p:cNvSpPr/>
          <p:nvPr/>
        </p:nvSpPr>
        <p:spPr>
          <a:xfrm>
            <a:off x="8353336" y="9467850"/>
            <a:ext cx="291601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Sessions</a:t>
            </a:r>
            <a:endParaRPr lang="en-US" sz="1125" dirty="0"/>
          </a:p>
        </p:txBody>
      </p:sp>
      <p:sp>
        <p:nvSpPr>
          <p:cNvPr id="81" name="Shape 79"/>
          <p:cNvSpPr/>
          <p:nvPr/>
        </p:nvSpPr>
        <p:spPr>
          <a:xfrm>
            <a:off x="13797260" y="9020175"/>
            <a:ext cx="9525" cy="60960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82" name="Text 80"/>
          <p:cNvSpPr/>
          <p:nvPr/>
        </p:nvSpPr>
        <p:spPr>
          <a:xfrm>
            <a:off x="11013787" y="9020175"/>
            <a:ext cx="291601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3300" dirty="0"/>
          </a:p>
        </p:txBody>
      </p:sp>
      <p:sp>
        <p:nvSpPr>
          <p:cNvPr id="83" name="Text 81"/>
          <p:cNvSpPr/>
          <p:nvPr/>
        </p:nvSpPr>
        <p:spPr>
          <a:xfrm>
            <a:off x="11013787" y="9467850"/>
            <a:ext cx="291601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D-codes Logged</a:t>
            </a:r>
            <a:endParaRPr lang="en-US" sz="1125" dirty="0"/>
          </a:p>
        </p:txBody>
      </p:sp>
      <p:sp>
        <p:nvSpPr>
          <p:cNvPr id="84" name="Text 82"/>
          <p:cNvSpPr/>
          <p:nvPr/>
        </p:nvSpPr>
        <p:spPr>
          <a:xfrm>
            <a:off x="13607966" y="9069735"/>
            <a:ext cx="437402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→ Weeks</a:t>
            </a:r>
            <a:endParaRPr lang="en-US" sz="2100" dirty="0"/>
          </a:p>
        </p:txBody>
      </p:sp>
      <p:sp>
        <p:nvSpPr>
          <p:cNvPr id="85" name="Text 83"/>
          <p:cNvSpPr/>
          <p:nvPr/>
        </p:nvSpPr>
        <p:spPr>
          <a:xfrm>
            <a:off x="13607966" y="9418290"/>
            <a:ext cx="437402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time reduction</a:t>
            </a:r>
            <a:endParaRPr lang="en-US" sz="1125" dirty="0"/>
          </a:p>
        </p:txBody>
      </p:sp>
      <p:sp>
        <p:nvSpPr>
          <p:cNvPr id="86" name="Shape 84"/>
          <p:cNvSpPr/>
          <p:nvPr/>
        </p:nvSpPr>
        <p:spPr>
          <a:xfrm>
            <a:off x="495300" y="9848850"/>
            <a:ext cx="17297400" cy="952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87" name="Text 85"/>
          <p:cNvSpPr/>
          <p:nvPr/>
        </p:nvSpPr>
        <p:spPr>
          <a:xfrm>
            <a:off x="495300" y="9953625"/>
            <a:ext cx="20909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A8A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EXL Life Actuarial Capabilities</a:t>
            </a:r>
            <a:endParaRPr lang="en-US" sz="1125" dirty="0"/>
          </a:p>
        </p:txBody>
      </p:sp>
      <p:sp>
        <p:nvSpPr>
          <p:cNvPr id="88" name="Text 86"/>
          <p:cNvSpPr/>
          <p:nvPr/>
        </p:nvSpPr>
        <p:spPr>
          <a:xfrm>
            <a:off x="17038141" y="9953625"/>
            <a:ext cx="830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A8A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2026-06-29T17:16:07Z</dcterms:created>
  <dcterms:modified xsi:type="dcterms:W3CDTF">2026-06-29T17:16:07Z</dcterms:modified>
</cp:coreProperties>
</file>