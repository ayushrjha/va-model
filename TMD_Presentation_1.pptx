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D1E12C9-9B89-4704-89FE-FE7AE440FCB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BEA853-5BFA-44CF-AF23-0096DC5A459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21E6C-39D6-4703-BB09-BFAD3F876F8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FAF3CE-F104-4C9C-937E-170D0B1CF7C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4205880" cy="5143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4206240" y="0"/>
            <a:ext cx="4937400" cy="5143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11480" y="2926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4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01 / 03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11480" y="64008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Building actuarial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models with AI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11480" y="224028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Why a Technical Modeling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Documentation (TMD) comes first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11480" y="2103120"/>
            <a:ext cx="1096920" cy="36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11480" y="47322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Lincoln VA Model — Knowledge Sharing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370760" y="255960"/>
            <a:ext cx="2239920" cy="93240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07920" y="384120"/>
            <a:ext cx="292320" cy="2923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/>
          <p:cNvPicPr/>
          <p:nvPr/>
        </p:nvPicPr>
        <p:blipFill>
          <a:blip r:embed="rId1"/>
          <a:stretch/>
        </p:blipFill>
        <p:spPr>
          <a:xfrm>
            <a:off x="4544640" y="4204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9"/>
          <p:cNvSpPr/>
          <p:nvPr/>
        </p:nvSpPr>
        <p:spPr>
          <a:xfrm>
            <a:off x="4873680" y="3747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AI has no memory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4507920" y="67680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Without a TMD, every session re-explains the model. The TMD is persistent context.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6729840" y="255960"/>
            <a:ext cx="2239920" cy="93240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6867000" y="384120"/>
            <a:ext cx="292320" cy="29232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1" descr="preencoded.png"/>
          <p:cNvPicPr/>
          <p:nvPr/>
        </p:nvPicPr>
        <p:blipFill>
          <a:blip r:embed="rId2"/>
          <a:stretch/>
        </p:blipFill>
        <p:spPr>
          <a:xfrm>
            <a:off x="6903720" y="4204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13"/>
          <p:cNvSpPr/>
          <p:nvPr/>
        </p:nvSpPr>
        <p:spPr>
          <a:xfrm>
            <a:off x="7232760" y="3747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Complex dependencies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867000" y="67680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17 calc tabs, 5 reserve bases, 244 columns — AI cannot wire these without a spec.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4370760" y="1307520"/>
            <a:ext cx="2239920" cy="93240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4507920" y="1435680"/>
            <a:ext cx="292320" cy="292320"/>
          </a:xfrm>
          <a:prstGeom prst="ellipse">
            <a:avLst/>
          </a:prstGeom>
          <a:solidFill>
            <a:srgbClr val="f96167">
              <a:alpha val="85000"/>
            </a:srgbClr>
          </a:solidFill>
          <a:ln w="12700">
            <a:solidFill>
              <a:srgbClr val="f961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2" descr="preencoded.png"/>
          <p:cNvPicPr/>
          <p:nvPr/>
        </p:nvPicPr>
        <p:blipFill>
          <a:blip r:embed="rId3"/>
          <a:stretch/>
        </p:blipFill>
        <p:spPr>
          <a:xfrm>
            <a:off x="4544640" y="14720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17"/>
          <p:cNvSpPr/>
          <p:nvPr/>
        </p:nvSpPr>
        <p:spPr>
          <a:xfrm>
            <a:off x="4873680" y="14263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Regulatory audit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4507920" y="172836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VM-21 and NYREG213 require every value traced to a formula. TMD creates that trail.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6729840" y="1307520"/>
            <a:ext cx="2239920" cy="93240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6867000" y="1435680"/>
            <a:ext cx="292320" cy="2923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3" descr="preencoded.png"/>
          <p:cNvPicPr/>
          <p:nvPr/>
        </p:nvPicPr>
        <p:blipFill>
          <a:blip r:embed="rId4"/>
          <a:stretch/>
        </p:blipFill>
        <p:spPr>
          <a:xfrm>
            <a:off x="6903720" y="14720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21"/>
          <p:cNvSpPr/>
          <p:nvPr/>
        </p:nvSpPr>
        <p:spPr>
          <a:xfrm>
            <a:off x="7232760" y="14263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Team alignment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2"/>
          <p:cNvSpPr/>
          <p:nvPr/>
        </p:nvSpPr>
        <p:spPr>
          <a:xfrm>
            <a:off x="6867000" y="172836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Actuary, developer, reviewer and AI all work from the same formula definitions.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3"/>
          <p:cNvSpPr/>
          <p:nvPr/>
        </p:nvSpPr>
        <p:spPr>
          <a:xfrm>
            <a:off x="4370760" y="4366440"/>
            <a:ext cx="4663080" cy="566640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 w="6350">
            <a:solidFill>
              <a:srgbClr val="bae6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4"/>
          <p:cNvSpPr/>
          <p:nvPr/>
        </p:nvSpPr>
        <p:spPr>
          <a:xfrm>
            <a:off x="4553640" y="4393800"/>
            <a:ext cx="4388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0369a1"/>
                </a:solidFill>
                <a:effectLst/>
                <a:uFillTx/>
                <a:latin typeface="Calibri"/>
                <a:ea typeface="Calibri"/>
              </a:rPr>
              <a:t>"The TMD is not overhead — it is the work. Everything after it is execution against a specification that already exists."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1098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3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02 / 03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411480" y="32004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to create a TMD with Claude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347400" y="1078920"/>
            <a:ext cx="1608840" cy="310860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896040" y="1261800"/>
            <a:ext cx="511560" cy="5115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896040" y="12618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438840" y="1883520"/>
            <a:ext cx="1425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Upload the workbook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831960" y="2414160"/>
            <a:ext cx="639720" cy="27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457200" y="2505600"/>
            <a:ext cx="138960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Share your Excel model with Claude. It reads every tab, formula, and defined name — extracting the full structure automatically.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1965960" y="2615040"/>
            <a:ext cx="100080" cy="36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2057400" y="1078920"/>
            <a:ext cx="1608840" cy="310860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2606040" y="1261800"/>
            <a:ext cx="511560" cy="5115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2606040" y="12618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2148840" y="1883520"/>
            <a:ext cx="1425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Define the standard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4"/>
          <p:cNvSpPr/>
          <p:nvPr/>
        </p:nvSpPr>
        <p:spPr>
          <a:xfrm>
            <a:off x="2541960" y="2414160"/>
            <a:ext cx="639720" cy="27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2167200" y="2505600"/>
            <a:ext cx="138960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Specify depth: verbatim formula transcription, branch-condition tables, cell-level citations, DUMMY markers for unobserved combinations.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6"/>
          <p:cNvSpPr/>
          <p:nvPr/>
        </p:nvSpPr>
        <p:spPr>
          <a:xfrm>
            <a:off x="3675960" y="2615040"/>
            <a:ext cx="100080" cy="36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3767400" y="1078920"/>
            <a:ext cx="1608840" cy="310860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8"/>
          <p:cNvSpPr/>
          <p:nvPr/>
        </p:nvSpPr>
        <p:spPr>
          <a:xfrm>
            <a:off x="4316040" y="1261800"/>
            <a:ext cx="511560" cy="51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4316040" y="12618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3858840" y="1883520"/>
            <a:ext cx="1425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Generate section by section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1"/>
          <p:cNvSpPr/>
          <p:nvPr/>
        </p:nvSpPr>
        <p:spPr>
          <a:xfrm>
            <a:off x="4251960" y="2414160"/>
            <a:ext cx="639720" cy="27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3877200" y="2505600"/>
            <a:ext cx="138960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Work through each module in order. The Lincoln VA TMD took 8 sessions covering 25 sections — each verified before the next begins.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5385960" y="2615040"/>
            <a:ext cx="100080" cy="36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4"/>
          <p:cNvSpPr/>
          <p:nvPr/>
        </p:nvSpPr>
        <p:spPr>
          <a:xfrm>
            <a:off x="5477400" y="1078920"/>
            <a:ext cx="1608840" cy="310860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5"/>
          <p:cNvSpPr/>
          <p:nvPr/>
        </p:nvSpPr>
        <p:spPr>
          <a:xfrm>
            <a:off x="6026040" y="1261800"/>
            <a:ext cx="511560" cy="5115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6026040" y="12618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7"/>
          <p:cNvSpPr/>
          <p:nvPr/>
        </p:nvSpPr>
        <p:spPr>
          <a:xfrm>
            <a:off x="5568840" y="1883520"/>
            <a:ext cx="1425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Verify and correct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8"/>
          <p:cNvSpPr/>
          <p:nvPr/>
        </p:nvSpPr>
        <p:spPr>
          <a:xfrm>
            <a:off x="5961960" y="2414160"/>
            <a:ext cx="639720" cy="27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9"/>
          <p:cNvSpPr/>
          <p:nvPr/>
        </p:nvSpPr>
        <p:spPr>
          <a:xfrm>
            <a:off x="5586840" y="2505600"/>
            <a:ext cx="138960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Compare Claude's transcriptions against the workbook cell by cell. Every discrepancy is flagged. The actuary is the authority.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0"/>
          <p:cNvSpPr/>
          <p:nvPr/>
        </p:nvSpPr>
        <p:spPr>
          <a:xfrm>
            <a:off x="7095600" y="2615040"/>
            <a:ext cx="100080" cy="36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1"/>
          <p:cNvSpPr/>
          <p:nvPr/>
        </p:nvSpPr>
        <p:spPr>
          <a:xfrm>
            <a:off x="7187040" y="1078920"/>
            <a:ext cx="1608840" cy="310860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2"/>
          <p:cNvSpPr/>
          <p:nvPr/>
        </p:nvSpPr>
        <p:spPr>
          <a:xfrm>
            <a:off x="7735680" y="1261800"/>
            <a:ext cx="511560" cy="5115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3"/>
          <p:cNvSpPr/>
          <p:nvPr/>
        </p:nvSpPr>
        <p:spPr>
          <a:xfrm>
            <a:off x="7735680" y="12618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4"/>
          <p:cNvSpPr/>
          <p:nvPr/>
        </p:nvSpPr>
        <p:spPr>
          <a:xfrm>
            <a:off x="7278480" y="1883520"/>
            <a:ext cx="1425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Merge into one deliverable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5"/>
          <p:cNvSpPr/>
          <p:nvPr/>
        </p:nvSpPr>
        <p:spPr>
          <a:xfrm>
            <a:off x="7671960" y="2414160"/>
            <a:ext cx="639720" cy="27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6"/>
          <p:cNvSpPr/>
          <p:nvPr/>
        </p:nvSpPr>
        <p:spPr>
          <a:xfrm>
            <a:off x="7296840" y="2505600"/>
            <a:ext cx="138960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All sections combined into a single Word document: cover page, document history, TOC, and continuous section numbering §1–§25.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9144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18288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27432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36576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45720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6"/>
          <p:cNvSpPr/>
          <p:nvPr/>
        </p:nvSpPr>
        <p:spPr>
          <a:xfrm>
            <a:off x="54864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64008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73152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9"/>
          <p:cNvSpPr/>
          <p:nvPr/>
        </p:nvSpPr>
        <p:spPr>
          <a:xfrm>
            <a:off x="82296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9144000" y="0"/>
            <a:ext cx="4320" cy="5143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411480" y="20124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3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03 / 03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411480" y="420480"/>
            <a:ext cx="5486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From TMD to working model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3"/>
          <p:cNvSpPr/>
          <p:nvPr/>
        </p:nvSpPr>
        <p:spPr>
          <a:xfrm>
            <a:off x="841320" y="1078920"/>
            <a:ext cx="1645560" cy="6854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841320" y="1078920"/>
            <a:ext cx="1645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TMD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created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2523600" y="1403640"/>
            <a:ext cx="219240" cy="36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2578680" y="129384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▶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7"/>
          <p:cNvSpPr/>
          <p:nvPr/>
        </p:nvSpPr>
        <p:spPr>
          <a:xfrm>
            <a:off x="2779920" y="1078920"/>
            <a:ext cx="1645560" cy="6854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2779920" y="1078920"/>
            <a:ext cx="1645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4462200" y="1403640"/>
            <a:ext cx="219240" cy="36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4517280" y="129384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▶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1"/>
          <p:cNvSpPr/>
          <p:nvPr/>
        </p:nvSpPr>
        <p:spPr>
          <a:xfrm>
            <a:off x="4718160" y="1078920"/>
            <a:ext cx="1645560" cy="6854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2"/>
          <p:cNvSpPr/>
          <p:nvPr/>
        </p:nvSpPr>
        <p:spPr>
          <a:xfrm>
            <a:off x="4718160" y="1078920"/>
            <a:ext cx="1645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Claude Code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3"/>
          <p:cNvSpPr/>
          <p:nvPr/>
        </p:nvSpPr>
        <p:spPr>
          <a:xfrm>
            <a:off x="6400800" y="1403640"/>
            <a:ext cx="219240" cy="36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6455520" y="129384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▶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5"/>
          <p:cNvSpPr/>
          <p:nvPr/>
        </p:nvSpPr>
        <p:spPr>
          <a:xfrm>
            <a:off x="6656760" y="1078920"/>
            <a:ext cx="1645560" cy="6854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 w="12700">
            <a:solidFill>
              <a:srgbClr val="f961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6656760" y="1078920"/>
            <a:ext cx="1645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Output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validated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7"/>
          <p:cNvSpPr/>
          <p:nvPr/>
        </p:nvSpPr>
        <p:spPr>
          <a:xfrm>
            <a:off x="361080" y="2331720"/>
            <a:ext cx="1919880" cy="123408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635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8"/>
          <p:cNvSpPr/>
          <p:nvPr/>
        </p:nvSpPr>
        <p:spPr>
          <a:xfrm>
            <a:off x="489240" y="2459880"/>
            <a:ext cx="328680" cy="32868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525960" y="24962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29"/>
          <p:cNvSpPr/>
          <p:nvPr/>
        </p:nvSpPr>
        <p:spPr>
          <a:xfrm>
            <a:off x="891720" y="2459880"/>
            <a:ext cx="1298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Speed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0"/>
          <p:cNvSpPr/>
          <p:nvPr/>
        </p:nvSpPr>
        <p:spPr>
          <a:xfrm>
            <a:off x="489240" y="2843640"/>
            <a:ext cx="1682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6 Claude Code sessions replaces months of manual Python development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1"/>
          <p:cNvSpPr/>
          <p:nvPr/>
        </p:nvSpPr>
        <p:spPr>
          <a:xfrm>
            <a:off x="2528280" y="2331720"/>
            <a:ext cx="1919880" cy="123408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635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2"/>
          <p:cNvSpPr/>
          <p:nvPr/>
        </p:nvSpPr>
        <p:spPr>
          <a:xfrm>
            <a:off x="2656440" y="2459880"/>
            <a:ext cx="328680" cy="328680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1" descr="preencoded.png"/>
          <p:cNvPicPr/>
          <p:nvPr/>
        </p:nvPicPr>
        <p:blipFill>
          <a:blip r:embed="rId2"/>
          <a:stretch/>
        </p:blipFill>
        <p:spPr>
          <a:xfrm>
            <a:off x="2692800" y="24962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33"/>
          <p:cNvSpPr/>
          <p:nvPr/>
        </p:nvSpPr>
        <p:spPr>
          <a:xfrm>
            <a:off x="3058560" y="2459880"/>
            <a:ext cx="1298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Auditability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4"/>
          <p:cNvSpPr/>
          <p:nvPr/>
        </p:nvSpPr>
        <p:spPr>
          <a:xfrm>
            <a:off x="2656440" y="2843640"/>
            <a:ext cx="1682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Every output traces to a TMD section, an Excel cell, and a formula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5"/>
          <p:cNvSpPr/>
          <p:nvPr/>
        </p:nvSpPr>
        <p:spPr>
          <a:xfrm>
            <a:off x="4695480" y="2331720"/>
            <a:ext cx="1919880" cy="123408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635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6"/>
          <p:cNvSpPr/>
          <p:nvPr/>
        </p:nvSpPr>
        <p:spPr>
          <a:xfrm>
            <a:off x="4823640" y="2459880"/>
            <a:ext cx="328680" cy="3286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2" descr="preencoded.png"/>
          <p:cNvPicPr/>
          <p:nvPr/>
        </p:nvPicPr>
        <p:blipFill>
          <a:blip r:embed="rId3"/>
          <a:stretch/>
        </p:blipFill>
        <p:spPr>
          <a:xfrm>
            <a:off x="4860000" y="24962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37"/>
          <p:cNvSpPr/>
          <p:nvPr/>
        </p:nvSpPr>
        <p:spPr>
          <a:xfrm>
            <a:off x="5225760" y="2459880"/>
            <a:ext cx="1298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Built-in testing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8"/>
          <p:cNvSpPr/>
          <p:nvPr/>
        </p:nvSpPr>
        <p:spPr>
          <a:xfrm>
            <a:off x="4823640" y="2843640"/>
            <a:ext cx="1682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The §23.5 checklist is a ready-made test suite before code starts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9"/>
          <p:cNvSpPr/>
          <p:nvPr/>
        </p:nvSpPr>
        <p:spPr>
          <a:xfrm>
            <a:off x="6862680" y="2331720"/>
            <a:ext cx="1919880" cy="123408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635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0"/>
          <p:cNvSpPr/>
          <p:nvPr/>
        </p:nvSpPr>
        <p:spPr>
          <a:xfrm>
            <a:off x="6990480" y="2459880"/>
            <a:ext cx="328680" cy="32868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3" descr="preencoded.png"/>
          <p:cNvPicPr/>
          <p:nvPr/>
        </p:nvPicPr>
        <p:blipFill>
          <a:blip r:embed="rId4"/>
          <a:stretch/>
        </p:blipFill>
        <p:spPr>
          <a:xfrm>
            <a:off x="7027200" y="24962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41"/>
          <p:cNvSpPr/>
          <p:nvPr/>
        </p:nvSpPr>
        <p:spPr>
          <a:xfrm>
            <a:off x="7392960" y="2459880"/>
            <a:ext cx="1298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Knowledge transfer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2"/>
          <p:cNvSpPr/>
          <p:nvPr/>
        </p:nvSpPr>
        <p:spPr>
          <a:xfrm>
            <a:off x="6990480" y="2843640"/>
            <a:ext cx="1682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New team members onboard from the TMD, not from reverse-engineering Excel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3"/>
          <p:cNvSpPr/>
          <p:nvPr/>
        </p:nvSpPr>
        <p:spPr>
          <a:xfrm>
            <a:off x="1645920" y="4521600"/>
            <a:ext cx="5851800" cy="438480"/>
          </a:xfrm>
          <a:prstGeom prst="roundRect">
            <a:avLst>
              <a:gd name="adj" fmla="val 16667"/>
            </a:avLst>
          </a:prstGeom>
          <a:solidFill>
            <a:srgbClr val="1e2761">
              <a:alpha val="70000"/>
            </a:srgbClr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4"/>
          <p:cNvSpPr/>
          <p:nvPr/>
        </p:nvSpPr>
        <p:spPr>
          <a:xfrm>
            <a:off x="1645920" y="4521600"/>
            <a:ext cx="5851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51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TMD → Prompt → Claude Code → Validated Python Model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2026-06-29T13:10:56Z</dcterms:created>
  <dc:creator>PptxGenJS</dc:creator>
  <dc:description/>
  <dc:language>en-US</dc:language>
  <cp:lastModifiedBy>PptxGenJS</cp:lastModifiedBy>
  <dcterms:modified xsi:type="dcterms:W3CDTF">2026-06-29T13:10:56Z</dcterms:modified>
  <cp:revision>1</cp:revision>
  <dc:subject>PptxGenJS Presentation</dc:subject>
  <dc:title>Building Actuarial Models with Claude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On-screen Show (16:9)</vt:lpwstr>
  </property>
  <property fmtid="{D5CDD505-2E9C-101B-9397-08002B2CF9AE}" pid="4" name="Slides">
    <vt:i4>3</vt:i4>
  </property>
</Properties>
</file>