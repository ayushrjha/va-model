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problem: AI writes wrong code fast without a spec. Walk through the 4 reasons, then the TMD anatomy. Close: the TMD is the persistent context every session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phase and the prompt directive. Spend time on the prompt anatomy - this is what the audience takes home. Key: one section per prompt, name every column, gate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capabilities and best practices. Key message: Claude is an implementer against a spec. You are the architect. The stats at the bottom are your proof from the Lincoln VA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28650" y="133350"/>
            <a:ext cx="34937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a Model Using Claude · 1 /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8650" y="342900"/>
            <a:ext cx="17329785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 Actuarial Model with Claude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28650" y="1238250"/>
            <a:ext cx="17329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four-step workflow — from your Excel model or product specification through to a production-ready, auditable Python valuation engine.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8650" y="1847850"/>
            <a:ext cx="4000500" cy="781050"/>
          </a:xfrm>
          <a:prstGeom prst="roundRect">
            <a:avLst>
              <a:gd name="adj" fmla="val 6098"/>
            </a:avLst>
          </a:prstGeom>
          <a:solidFill>
            <a:srgbClr val="2F5496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943100"/>
            <a:ext cx="2245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24682" y="1943100"/>
            <a:ext cx="38182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TMD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682" y="2143125"/>
            <a:ext cx="3575252" cy="616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every formula, branch condition and edge case from your Excel model or product spec into a single exhaustive specification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762500" y="1847850"/>
            <a:ext cx="1524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72050" y="1847850"/>
            <a:ext cx="4000500" cy="781050"/>
          </a:xfrm>
          <a:prstGeom prst="roundRect">
            <a:avLst>
              <a:gd name="adj" fmla="val 6098"/>
            </a:avLst>
          </a:prstGeom>
          <a:solidFill>
            <a:srgbClr val="005071"/>
          </a:solidFill>
          <a:ln/>
        </p:spPr>
      </p:sp>
      <p:sp>
        <p:nvSpPr>
          <p:cNvPr id="12" name="Text 10"/>
          <p:cNvSpPr/>
          <p:nvPr/>
        </p:nvSpPr>
        <p:spPr>
          <a:xfrm>
            <a:off x="5105400" y="1943100"/>
            <a:ext cx="2245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68082" y="1943100"/>
            <a:ext cx="38182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68082" y="2143125"/>
            <a:ext cx="3575252" cy="616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each TMD section to a Python layer — inputs, decrements, cashflows, reserves — strict downward data flow, one module per section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105900" y="1847850"/>
            <a:ext cx="1524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15450" y="1847850"/>
            <a:ext cx="4000500" cy="781050"/>
          </a:xfrm>
          <a:prstGeom prst="roundRect">
            <a:avLst>
              <a:gd name="adj" fmla="val 6098"/>
            </a:avLst>
          </a:prstGeom>
          <a:solidFill>
            <a:srgbClr val="FB4D0A"/>
          </a:solidFill>
          <a:ln/>
        </p:spPr>
      </p:sp>
      <p:sp>
        <p:nvSpPr>
          <p:cNvPr id="17" name="Text 15"/>
          <p:cNvSpPr/>
          <p:nvPr/>
        </p:nvSpPr>
        <p:spPr>
          <a:xfrm>
            <a:off x="9448800" y="1943100"/>
            <a:ext cx="2245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711482" y="1943100"/>
            <a:ext cx="38182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Before You Execute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11482" y="2143125"/>
            <a:ext cx="3575252" cy="616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Claude's Plan Mode to review module order, dependencies and test gates — before a single line of code is written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3449300" y="1847850"/>
            <a:ext cx="1524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658850" y="1847850"/>
            <a:ext cx="4000500" cy="781050"/>
          </a:xfrm>
          <a:prstGeom prst="roundRect">
            <a:avLst>
              <a:gd name="adj" fmla="val 6098"/>
            </a:avLst>
          </a:prstGeom>
          <a:solidFill>
            <a:srgbClr val="70AD47"/>
          </a:solidFill>
          <a:ln/>
        </p:spPr>
      </p:sp>
      <p:sp>
        <p:nvSpPr>
          <p:cNvPr id="22" name="Text 20"/>
          <p:cNvSpPr/>
          <p:nvPr/>
        </p:nvSpPr>
        <p:spPr>
          <a:xfrm>
            <a:off x="13792200" y="1943100"/>
            <a:ext cx="2245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054882" y="1943100"/>
            <a:ext cx="38182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Test &amp; Validate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054882" y="2143125"/>
            <a:ext cx="3575252" cy="616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section-by-section with gated validation — each module tested against the source workbook before proceeding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628650" y="2762250"/>
            <a:ext cx="8286750" cy="6457950"/>
          </a:xfrm>
          <a:prstGeom prst="roundRect">
            <a:avLst>
              <a:gd name="adj" fmla="val 590"/>
            </a:avLst>
          </a:prstGeom>
          <a:solidFill>
            <a:srgbClr val="DCF3FA"/>
          </a:solidFill>
          <a:ln/>
        </p:spPr>
      </p:sp>
      <p:sp>
        <p:nvSpPr>
          <p:cNvPr id="26" name="Shape 24"/>
          <p:cNvSpPr/>
          <p:nvPr/>
        </p:nvSpPr>
        <p:spPr>
          <a:xfrm>
            <a:off x="895350" y="3009900"/>
            <a:ext cx="438150" cy="438150"/>
          </a:xfrm>
          <a:prstGeom prst="roundRect">
            <a:avLst>
              <a:gd name="adj" fmla="val 6522"/>
            </a:avLst>
          </a:prstGeom>
          <a:solidFill>
            <a:srgbClr val="FB4D0A"/>
          </a:solidFill>
          <a:ln/>
        </p:spPr>
      </p:sp>
      <p:sp>
        <p:nvSpPr>
          <p:cNvPr id="27" name="Text 25"/>
          <p:cNvSpPr/>
          <p:nvPr/>
        </p:nvSpPr>
        <p:spPr>
          <a:xfrm>
            <a:off x="1466850" y="3091755"/>
            <a:ext cx="495749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Technical Modelling Document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5350" y="3543300"/>
            <a:ext cx="85286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5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VA MODEL · 25 SECTIONS · 8 CHAT SESSIONS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5350" y="4488061"/>
            <a:ext cx="7753350" cy="9525"/>
          </a:xfrm>
          <a:prstGeom prst="rect">
            <a:avLst/>
          </a:prstGeom>
          <a:solidFill>
            <a:srgbClr val="005071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95350" y="3905250"/>
            <a:ext cx="381000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33500" y="3905250"/>
            <a:ext cx="53206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33500" y="4152900"/>
            <a:ext cx="5320605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Purpose, scope, data flow — five reserve bases, three reserve methods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5350" y="5194697"/>
            <a:ext cx="7753350" cy="9525"/>
          </a:xfrm>
          <a:prstGeom prst="rect">
            <a:avLst/>
          </a:prstGeom>
          <a:solidFill>
            <a:srgbClr val="005071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95350" y="4611886"/>
            <a:ext cx="381000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333500" y="4611886"/>
            <a:ext cx="4603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33500" y="4859536"/>
            <a:ext cx="460306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switch, every branch condition, every data validation list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95350" y="5901333"/>
            <a:ext cx="7753350" cy="9525"/>
          </a:xfrm>
          <a:prstGeom prst="rect">
            <a:avLst/>
          </a:prstGeom>
          <a:solidFill>
            <a:srgbClr val="005071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95350" y="5318522"/>
            <a:ext cx="381000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333500" y="5318522"/>
            <a:ext cx="571138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Transcriptions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33500" y="5566172"/>
            <a:ext cx="57113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Excel formulas for every calc tab — reproduced, never summarised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5350" y="6607969"/>
            <a:ext cx="7753350" cy="9525"/>
          </a:xfrm>
          <a:prstGeom prst="rect">
            <a:avLst/>
          </a:prstGeom>
          <a:solidFill>
            <a:srgbClr val="005071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95350" y="6025158"/>
            <a:ext cx="381000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333500" y="6025158"/>
            <a:ext cx="48736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Mappings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333500" y="6272808"/>
            <a:ext cx="4873675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lookup table — shape, keys, and which engines consume it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95350" y="6731794"/>
            <a:ext cx="381000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333500" y="6731794"/>
            <a:ext cx="65346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 &amp; Reproducibility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333500" y="6979444"/>
            <a:ext cx="653468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markers, #VALUE! flags, 12-month unit-test fixture values for all engine outputs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372600" y="2762250"/>
            <a:ext cx="8286750" cy="3257550"/>
          </a:xfrm>
          <a:prstGeom prst="roundRect">
            <a:avLst>
              <a:gd name="adj" fmla="val 1170"/>
            </a:avLst>
          </a:prstGeom>
          <a:solidFill>
            <a:srgbClr val="EAF7FC"/>
          </a:solidFill>
          <a:ln/>
        </p:spPr>
      </p:sp>
      <p:sp>
        <p:nvSpPr>
          <p:cNvPr id="49" name="Shape 47"/>
          <p:cNvSpPr/>
          <p:nvPr/>
        </p:nvSpPr>
        <p:spPr>
          <a:xfrm>
            <a:off x="9620250" y="2971800"/>
            <a:ext cx="438150" cy="438150"/>
          </a:xfrm>
          <a:prstGeom prst="roundRect">
            <a:avLst>
              <a:gd name="adj" fmla="val 6522"/>
            </a:avLst>
          </a:prstGeom>
          <a:solidFill>
            <a:srgbClr val="FB4D0A"/>
          </a:solidFill>
          <a:ln/>
        </p:spPr>
      </p:sp>
      <p:sp>
        <p:nvSpPr>
          <p:cNvPr id="50" name="Text 48"/>
          <p:cNvSpPr/>
          <p:nvPr/>
        </p:nvSpPr>
        <p:spPr>
          <a:xfrm>
            <a:off x="10191750" y="3053655"/>
            <a:ext cx="304174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TMD is Not Optional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620250" y="3505200"/>
            <a:ext cx="85705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5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REASONS DOCUMENTATION MUST COME BEFORE CODE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620250" y="3752850"/>
            <a:ext cx="3848100" cy="838200"/>
          </a:xfrm>
          <a:prstGeom prst="roundRect">
            <a:avLst>
              <a:gd name="adj" fmla="val 4545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753600" y="3867150"/>
            <a:ext cx="39395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Session Memory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753600" y="4076700"/>
            <a:ext cx="368884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AI session starts cold. The TMD is the persistent context that eliminates repetition.</a:t>
            </a:r>
            <a:endParaRPr lang="en-US" sz="1125" dirty="0"/>
          </a:p>
        </p:txBody>
      </p:sp>
      <p:sp>
        <p:nvSpPr>
          <p:cNvPr id="55" name="Shape 53"/>
          <p:cNvSpPr/>
          <p:nvPr/>
        </p:nvSpPr>
        <p:spPr>
          <a:xfrm>
            <a:off x="13563600" y="3752850"/>
            <a:ext cx="3848100" cy="838200"/>
          </a:xfrm>
          <a:prstGeom prst="roundRect">
            <a:avLst>
              <a:gd name="adj" fmla="val 4545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3696950" y="3867150"/>
            <a:ext cx="39395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Complexity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3696950" y="4076700"/>
            <a:ext cx="368884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tabs · 5 reserve bases · 244 columns. Without docs, AI cannot wire interdependencies.</a:t>
            </a:r>
            <a:endParaRPr lang="en-US" sz="1125" dirty="0"/>
          </a:p>
        </p:txBody>
      </p:sp>
      <p:sp>
        <p:nvSpPr>
          <p:cNvPr id="58" name="Shape 56"/>
          <p:cNvSpPr/>
          <p:nvPr/>
        </p:nvSpPr>
        <p:spPr>
          <a:xfrm>
            <a:off x="9620250" y="4686300"/>
            <a:ext cx="3848100" cy="838200"/>
          </a:xfrm>
          <a:prstGeom prst="roundRect">
            <a:avLst>
              <a:gd name="adj" fmla="val 4545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9753600" y="4800600"/>
            <a:ext cx="39395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Auditability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753600" y="5010150"/>
            <a:ext cx="368884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VM-21, NYREG213, LDTI — every value must trace to an assumption and a formula.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13563600" y="4686300"/>
            <a:ext cx="3848100" cy="838200"/>
          </a:xfrm>
          <a:prstGeom prst="roundRect">
            <a:avLst>
              <a:gd name="adj" fmla="val 4545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3696950" y="4800600"/>
            <a:ext cx="39395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Alignment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3696950" y="5010150"/>
            <a:ext cx="368884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Actuary, developer, reviewer, and AI all read the same specification.</a:t>
            </a:r>
            <a:endParaRPr lang="en-US" sz="1125" dirty="0"/>
          </a:p>
        </p:txBody>
      </p:sp>
      <p:sp>
        <p:nvSpPr>
          <p:cNvPr id="64" name="Shape 62"/>
          <p:cNvSpPr/>
          <p:nvPr/>
        </p:nvSpPr>
        <p:spPr>
          <a:xfrm>
            <a:off x="9372600" y="6153150"/>
            <a:ext cx="8286750" cy="3067050"/>
          </a:xfrm>
          <a:prstGeom prst="roundRect">
            <a:avLst>
              <a:gd name="adj" fmla="val 1242"/>
            </a:avLst>
          </a:prstGeom>
          <a:solidFill>
            <a:srgbClr val="EAF7FC"/>
          </a:solidFill>
          <a:ln/>
        </p:spPr>
      </p:sp>
      <p:sp>
        <p:nvSpPr>
          <p:cNvPr id="65" name="Shape 63"/>
          <p:cNvSpPr/>
          <p:nvPr/>
        </p:nvSpPr>
        <p:spPr>
          <a:xfrm>
            <a:off x="9620250" y="6362700"/>
            <a:ext cx="438150" cy="438150"/>
          </a:xfrm>
          <a:prstGeom prst="roundRect">
            <a:avLst>
              <a:gd name="adj" fmla="val 6522"/>
            </a:avLst>
          </a:prstGeom>
          <a:solidFill>
            <a:srgbClr val="FB4D0A"/>
          </a:solidFill>
          <a:ln/>
        </p:spPr>
      </p:sp>
      <p:sp>
        <p:nvSpPr>
          <p:cNvPr id="66" name="Text 64"/>
          <p:cNvSpPr/>
          <p:nvPr/>
        </p:nvSpPr>
        <p:spPr>
          <a:xfrm>
            <a:off x="10191750" y="6444555"/>
            <a:ext cx="117767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9620250" y="6896100"/>
            <a:ext cx="85705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5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WELL-STRUCTURED TMD GIVES YOU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620250" y="7210425"/>
            <a:ext cx="66675" cy="66675"/>
          </a:xfrm>
          <a:prstGeom prst="ellipse">
            <a:avLst/>
          </a:prstGeom>
          <a:solidFill>
            <a:srgbClr val="FB4D0A"/>
          </a:solidFill>
          <a:ln/>
        </p:spPr>
      </p:sp>
      <p:sp>
        <p:nvSpPr>
          <p:cNvPr id="69" name="Text 67"/>
          <p:cNvSpPr/>
          <p:nvPr/>
        </p:nvSpPr>
        <p:spPr>
          <a:xfrm>
            <a:off x="9782175" y="7143750"/>
            <a:ext cx="808846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months-long development becomes weeks; 6 Claude Code sessions replaced manual Python work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620250" y="7593211"/>
            <a:ext cx="66675" cy="66675"/>
          </a:xfrm>
          <a:prstGeom prst="ellipse">
            <a:avLst/>
          </a:prstGeom>
          <a:solidFill>
            <a:srgbClr val="FB4D0A"/>
          </a:solidFill>
          <a:ln/>
        </p:spPr>
      </p:sp>
      <p:sp>
        <p:nvSpPr>
          <p:cNvPr id="71" name="Text 69"/>
          <p:cNvSpPr/>
          <p:nvPr/>
        </p:nvSpPr>
        <p:spPr>
          <a:xfrm>
            <a:off x="9782175" y="7526536"/>
            <a:ext cx="5960224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output traces to a TMD section, an Excel cell, and a formula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9620250" y="7975997"/>
            <a:ext cx="66675" cy="66675"/>
          </a:xfrm>
          <a:prstGeom prst="ellipse">
            <a:avLst/>
          </a:prstGeom>
          <a:solidFill>
            <a:srgbClr val="FB4D0A"/>
          </a:solidFill>
          <a:ln/>
        </p:spPr>
      </p:sp>
      <p:sp>
        <p:nvSpPr>
          <p:cNvPr id="73" name="Text 71"/>
          <p:cNvSpPr/>
          <p:nvPr/>
        </p:nvSpPr>
        <p:spPr>
          <a:xfrm>
            <a:off x="9782175" y="7909322"/>
            <a:ext cx="656611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Repeatability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TMD can rebuild the model from scratch in any language or platform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620250" y="8358783"/>
            <a:ext cx="66675" cy="66675"/>
          </a:xfrm>
          <a:prstGeom prst="ellipse">
            <a:avLst/>
          </a:prstGeom>
          <a:solidFill>
            <a:srgbClr val="FB4D0A"/>
          </a:solidFill>
          <a:ln/>
        </p:spPr>
      </p:sp>
      <p:sp>
        <p:nvSpPr>
          <p:cNvPr id="75" name="Text 73"/>
          <p:cNvSpPr/>
          <p:nvPr/>
        </p:nvSpPr>
        <p:spPr>
          <a:xfrm>
            <a:off x="9782175" y="8292108"/>
            <a:ext cx="574920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testing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§23.5 reproducibility checklist is a ready-made test suite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28650" y="9267825"/>
            <a:ext cx="170307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Text 75"/>
          <p:cNvSpPr/>
          <p:nvPr/>
        </p:nvSpPr>
        <p:spPr>
          <a:xfrm>
            <a:off x="628650" y="9372600"/>
            <a:ext cx="11020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i="1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workflow:</a:t>
            </a:r>
            <a:endParaRPr lang="en-US" sz="1275" dirty="0"/>
          </a:p>
        </p:txBody>
      </p:sp>
      <p:sp>
        <p:nvSpPr>
          <p:cNvPr id="78" name="Text 76"/>
          <p:cNvSpPr/>
          <p:nvPr/>
        </p:nvSpPr>
        <p:spPr>
          <a:xfrm>
            <a:off x="1749772" y="9372600"/>
            <a:ext cx="10480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TMD creation</a:t>
            </a:r>
            <a:endParaRPr lang="en-US" sz="1275" dirty="0"/>
          </a:p>
        </p:txBody>
      </p:sp>
      <p:sp>
        <p:nvSpPr>
          <p:cNvPr id="79" name="Text 77"/>
          <p:cNvSpPr/>
          <p:nvPr/>
        </p:nvSpPr>
        <p:spPr>
          <a:xfrm>
            <a:off x="2816870" y="9372600"/>
            <a:ext cx="2201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i="1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75" dirty="0"/>
          </a:p>
        </p:txBody>
      </p:sp>
      <p:sp>
        <p:nvSpPr>
          <p:cNvPr id="80" name="Text 78"/>
          <p:cNvSpPr/>
          <p:nvPr/>
        </p:nvSpPr>
        <p:spPr>
          <a:xfrm>
            <a:off x="3056037" y="9372600"/>
            <a:ext cx="186139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section-by-section build</a:t>
            </a:r>
            <a:endParaRPr lang="en-US" sz="1275" dirty="0"/>
          </a:p>
        </p:txBody>
      </p:sp>
      <p:sp>
        <p:nvSpPr>
          <p:cNvPr id="81" name="Text 79"/>
          <p:cNvSpPr/>
          <p:nvPr/>
        </p:nvSpPr>
        <p:spPr>
          <a:xfrm>
            <a:off x="4843463" y="9372600"/>
            <a:ext cx="2201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i="1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75" dirty="0"/>
          </a:p>
        </p:txBody>
      </p:sp>
      <p:sp>
        <p:nvSpPr>
          <p:cNvPr id="82" name="Text 80"/>
          <p:cNvSpPr/>
          <p:nvPr/>
        </p:nvSpPr>
        <p:spPr>
          <a:xfrm>
            <a:off x="5082629" y="9372600"/>
            <a:ext cx="13568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and validate</a:t>
            </a:r>
            <a:endParaRPr lang="en-US" sz="1275" dirty="0"/>
          </a:p>
        </p:txBody>
      </p:sp>
      <p:sp>
        <p:nvSpPr>
          <p:cNvPr id="83" name="Text 81"/>
          <p:cNvSpPr/>
          <p:nvPr/>
        </p:nvSpPr>
        <p:spPr>
          <a:xfrm>
            <a:off x="6411367" y="9372600"/>
            <a:ext cx="2201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i="1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75" dirty="0"/>
          </a:p>
        </p:txBody>
      </p:sp>
      <p:sp>
        <p:nvSpPr>
          <p:cNvPr id="84" name="Text 82"/>
          <p:cNvSpPr/>
          <p:nvPr/>
        </p:nvSpPr>
        <p:spPr>
          <a:xfrm>
            <a:off x="6650534" y="9372600"/>
            <a:ext cx="1970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Python model</a:t>
            </a:r>
            <a:endParaRPr lang="en-US" sz="1275" dirty="0"/>
          </a:p>
        </p:txBody>
      </p:sp>
      <p:sp>
        <p:nvSpPr>
          <p:cNvPr id="85" name="Shape 83"/>
          <p:cNvSpPr/>
          <p:nvPr/>
        </p:nvSpPr>
        <p:spPr>
          <a:xfrm>
            <a:off x="0" y="9639300"/>
            <a:ext cx="182880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6" name="Text 84"/>
          <p:cNvSpPr/>
          <p:nvPr/>
        </p:nvSpPr>
        <p:spPr>
          <a:xfrm>
            <a:off x="628650" y="9896475"/>
            <a:ext cx="1791947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ExlService Holdings, Inc. All rights reserved.</a:t>
            </a:r>
            <a:endParaRPr lang="en-US" sz="975" dirty="0"/>
          </a:p>
        </p:txBody>
      </p:sp>
      <p:pic>
        <p:nvPicPr>
          <p:cNvPr id="8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2" b="-12"/>
          <a:stretch/>
        </p:blipFill>
        <p:spPr>
          <a:xfrm>
            <a:off x="16919079" y="9796463"/>
            <a:ext cx="538014" cy="342900"/>
          </a:xfrm>
          <a:prstGeom prst="rect">
            <a:avLst/>
          </a:prstGeom>
        </p:spPr>
      </p:pic>
      <p:sp>
        <p:nvSpPr>
          <p:cNvPr id="88" name="Text 85"/>
          <p:cNvSpPr/>
          <p:nvPr/>
        </p:nvSpPr>
        <p:spPr>
          <a:xfrm>
            <a:off x="17590443" y="9896475"/>
            <a:ext cx="14510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28650" y="133350"/>
            <a:ext cx="34937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a Model Using Claude · 2 /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8650" y="419100"/>
            <a:ext cx="17329785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5-Phase Workflow: TMD → Python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28650" y="1352550"/>
            <a:ext cx="17329785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produces a verifiable artifact — a DataFrame, a test result, or a number checked against the source workbook — before moving 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8650" y="2247900"/>
            <a:ext cx="3238500" cy="834330"/>
          </a:xfrm>
          <a:prstGeom prst="roundRect">
            <a:avLst>
              <a:gd name="adj" fmla="val 6850"/>
            </a:avLst>
          </a:prstGeom>
          <a:solidFill>
            <a:srgbClr val="2F5496"/>
          </a:solidFill>
          <a:ln/>
        </p:spPr>
      </p:sp>
      <p:sp>
        <p:nvSpPr>
          <p:cNvPr id="7" name="Text 5"/>
          <p:cNvSpPr/>
          <p:nvPr/>
        </p:nvSpPr>
        <p:spPr>
          <a:xfrm>
            <a:off x="2157710" y="2381250"/>
            <a:ext cx="2564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777901" y="2743200"/>
            <a:ext cx="939998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TMD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76700" y="2247900"/>
            <a:ext cx="3238500" cy="834330"/>
          </a:xfrm>
          <a:prstGeom prst="roundRect">
            <a:avLst>
              <a:gd name="adj" fmla="val 6850"/>
            </a:avLst>
          </a:prstGeom>
          <a:solidFill>
            <a:srgbClr val="005071"/>
          </a:solidFill>
          <a:ln/>
        </p:spPr>
      </p:sp>
      <p:sp>
        <p:nvSpPr>
          <p:cNvPr id="10" name="Text 8"/>
          <p:cNvSpPr/>
          <p:nvPr/>
        </p:nvSpPr>
        <p:spPr>
          <a:xfrm>
            <a:off x="5605760" y="2381250"/>
            <a:ext cx="2564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324326" y="2743200"/>
            <a:ext cx="743248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24750" y="2247900"/>
            <a:ext cx="3238500" cy="834330"/>
          </a:xfrm>
          <a:prstGeom prst="roundRect">
            <a:avLst>
              <a:gd name="adj" fmla="val 6850"/>
            </a:avLst>
          </a:prstGeom>
          <a:solidFill>
            <a:srgbClr val="FB4D0A"/>
          </a:solidFill>
          <a:ln/>
        </p:spPr>
      </p:sp>
      <p:sp>
        <p:nvSpPr>
          <p:cNvPr id="13" name="Text 11"/>
          <p:cNvSpPr/>
          <p:nvPr/>
        </p:nvSpPr>
        <p:spPr>
          <a:xfrm>
            <a:off x="9053810" y="2381250"/>
            <a:ext cx="2564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8915251" y="2743200"/>
            <a:ext cx="457498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972800" y="2247900"/>
            <a:ext cx="3238500" cy="834330"/>
          </a:xfrm>
          <a:prstGeom prst="roundRect">
            <a:avLst>
              <a:gd name="adj" fmla="val 6850"/>
            </a:avLst>
          </a:prstGeom>
          <a:solidFill>
            <a:srgbClr val="70AD47"/>
          </a:solidFill>
          <a:ln/>
        </p:spPr>
      </p:sp>
      <p:sp>
        <p:nvSpPr>
          <p:cNvPr id="16" name="Text 14"/>
          <p:cNvSpPr/>
          <p:nvPr/>
        </p:nvSpPr>
        <p:spPr>
          <a:xfrm>
            <a:off x="12501860" y="2381250"/>
            <a:ext cx="2564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250489" y="2743200"/>
            <a:ext cx="683121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4420850" y="2247900"/>
            <a:ext cx="3238500" cy="834330"/>
          </a:xfrm>
          <a:prstGeom prst="roundRect">
            <a:avLst>
              <a:gd name="adj" fmla="val 6850"/>
            </a:avLst>
          </a:prstGeom>
          <a:solidFill>
            <a:srgbClr val="2E3643"/>
          </a:solidFill>
          <a:ln/>
        </p:spPr>
      </p:sp>
      <p:sp>
        <p:nvSpPr>
          <p:cNvPr id="19" name="Text 17"/>
          <p:cNvSpPr/>
          <p:nvPr/>
        </p:nvSpPr>
        <p:spPr>
          <a:xfrm>
            <a:off x="15949910" y="2381250"/>
            <a:ext cx="2564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5668327" y="2743200"/>
            <a:ext cx="743545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8650" y="3429000"/>
            <a:ext cx="3238500" cy="2952750"/>
          </a:xfrm>
          <a:prstGeom prst="roundRect">
            <a:avLst>
              <a:gd name="adj" fmla="val 1935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" y="3581400"/>
            <a:ext cx="31851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0100" y="3771900"/>
            <a:ext cx="31851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TMD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800100" y="4038600"/>
            <a:ext cx="2982468" cy="1804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§N · Extract named formulas, input columns, output columns, branch conditions, D-codes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"Read §3. Return: all named formulas, input columns required, output columns, conditional branches, flagged issues."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76700" y="3429000"/>
            <a:ext cx="3238500" cy="2952750"/>
          </a:xfrm>
          <a:prstGeom prst="roundRect">
            <a:avLst>
              <a:gd name="adj" fmla="val 1935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4248150" y="3581400"/>
            <a:ext cx="31851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48150" y="3771900"/>
            <a:ext cx="31851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4248150" y="4067175"/>
            <a:ext cx="2661013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sections → Python layers. Define data flow before writing code.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48150" y="4701183"/>
            <a:ext cx="318516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&amp; Config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48150" y="4960144"/>
            <a:ext cx="318516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L1a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48150" y="5219105"/>
            <a:ext cx="318516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L1b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Cashflows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48150" y="5478066"/>
            <a:ext cx="318516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48150" y="5784652"/>
            <a:ext cx="19815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flows downward only.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24750" y="3429000"/>
            <a:ext cx="3238500" cy="2952750"/>
          </a:xfrm>
          <a:prstGeom prst="roundRect">
            <a:avLst>
              <a:gd name="adj" fmla="val 1935"/>
            </a:avLst>
          </a:prstGeom>
          <a:solidFill>
            <a:srgbClr val="F2F2F2"/>
          </a:solidFill>
          <a:ln/>
        </p:spPr>
      </p:sp>
      <p:sp>
        <p:nvSpPr>
          <p:cNvPr id="35" name="Text 33"/>
          <p:cNvSpPr/>
          <p:nvPr/>
        </p:nvSpPr>
        <p:spPr>
          <a:xfrm>
            <a:off x="7696200" y="3581400"/>
            <a:ext cx="31851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KEY PHASE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96200" y="3771900"/>
            <a:ext cx="31851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Module by Module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7696200" y="4038600"/>
            <a:ext cx="2982468" cy="1363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pattern: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[module].py based on TMD §N. Inputs: [DataFrame + cols] Outputs: [DataFrame + cols] Rules: [verbatim from TMD] </a:t>
            </a:r>
            <a:pPr algn="l"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 NOT import downstream —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972800" y="3429000"/>
            <a:ext cx="3238500" cy="2952750"/>
          </a:xfrm>
          <a:prstGeom prst="roundRect">
            <a:avLst>
              <a:gd name="adj" fmla="val 1935"/>
            </a:avLst>
          </a:prstGeom>
          <a:solidFill>
            <a:srgbClr val="F2F2F2"/>
          </a:solidFill>
          <a:ln/>
        </p:spPr>
      </p:sp>
      <p:sp>
        <p:nvSpPr>
          <p:cNvPr id="39" name="Text 37"/>
          <p:cNvSpPr/>
          <p:nvPr/>
        </p:nvSpPr>
        <p:spPr>
          <a:xfrm>
            <a:off x="11144250" y="3581400"/>
            <a:ext cx="31851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44250" y="3771900"/>
            <a:ext cx="31851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1144250" y="4038600"/>
            <a:ext cx="2982468" cy="1804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every output column vs. Excel workbook within tolerance. Discrepancies logged as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D-codes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root cause — never silently absorbed. Gate rule: only proceed to §N+1 when outputs match.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420850" y="3429000"/>
            <a:ext cx="3238500" cy="2952750"/>
          </a:xfrm>
          <a:prstGeom prst="roundRect">
            <a:avLst>
              <a:gd name="adj" fmla="val 1935"/>
            </a:avLst>
          </a:prstGeom>
          <a:solidFill>
            <a:srgbClr val="F2F2F2"/>
          </a:solidFill>
          <a:ln/>
        </p:spPr>
      </p:sp>
      <p:sp>
        <p:nvSpPr>
          <p:cNvPr id="43" name="Text 41"/>
          <p:cNvSpPr/>
          <p:nvPr/>
        </p:nvSpPr>
        <p:spPr>
          <a:xfrm>
            <a:off x="14592300" y="3581400"/>
            <a:ext cx="31851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4592300" y="3771900"/>
            <a:ext cx="31851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14592300" y="4038600"/>
            <a:ext cx="2982468" cy="1804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runner · formatted Excel output (17 sheets) · FastAPI layer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Endpoints: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/run-model · GET /job-status · GET /outputs/download · GET /assumptions Formula AST reference sheet included.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8650" y="6572250"/>
            <a:ext cx="4722019" cy="1041797"/>
          </a:xfrm>
          <a:prstGeom prst="roundRect">
            <a:avLst>
              <a:gd name="adj" fmla="val 5486"/>
            </a:avLst>
          </a:prstGeom>
          <a:solidFill>
            <a:srgbClr val="DDEBF7"/>
          </a:solidFill>
          <a:ln/>
        </p:spPr>
      </p:sp>
      <p:sp>
        <p:nvSpPr>
          <p:cNvPr id="47" name="Text 45"/>
          <p:cNvSpPr/>
          <p:nvPr/>
        </p:nvSpPr>
        <p:spPr>
          <a:xfrm>
            <a:off x="819150" y="6743700"/>
            <a:ext cx="47751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ANATOMY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819150" y="6962775"/>
            <a:ext cx="447124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§ per prompt · Specify DataFrames · Paste formulas verbatim · Flag don't assume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541169" y="6878836"/>
            <a:ext cx="457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50" name="Shape 48"/>
          <p:cNvSpPr/>
          <p:nvPr/>
        </p:nvSpPr>
        <p:spPr>
          <a:xfrm>
            <a:off x="6112669" y="6572250"/>
            <a:ext cx="4722168" cy="1041797"/>
          </a:xfrm>
          <a:prstGeom prst="roundRect">
            <a:avLst>
              <a:gd name="adj" fmla="val 5486"/>
            </a:avLst>
          </a:prstGeom>
          <a:solidFill>
            <a:srgbClr val="E2EFDA"/>
          </a:solidFill>
          <a:ln/>
        </p:spPr>
      </p:sp>
      <p:sp>
        <p:nvSpPr>
          <p:cNvPr id="51" name="Text 49"/>
          <p:cNvSpPr/>
          <p:nvPr/>
        </p:nvSpPr>
        <p:spPr>
          <a:xfrm>
            <a:off x="6303169" y="6743700"/>
            <a:ext cx="47752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BUILDS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6303169" y="6962775"/>
            <a:ext cx="4471403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Section-by-section · One module per session · Gate before proceeding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1025336" y="6878836"/>
            <a:ext cx="457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54" name="Shape 52"/>
          <p:cNvSpPr/>
          <p:nvPr/>
        </p:nvSpPr>
        <p:spPr>
          <a:xfrm>
            <a:off x="11596836" y="6692205"/>
            <a:ext cx="6062514" cy="801886"/>
          </a:xfrm>
          <a:prstGeom prst="roundRect">
            <a:avLst>
              <a:gd name="adj" fmla="val 7127"/>
            </a:avLst>
          </a:prstGeom>
          <a:solidFill>
            <a:srgbClr val="FFF2CC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96836" y="6692205"/>
            <a:ext cx="38100" cy="80188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56" name="Text 54"/>
          <p:cNvSpPr/>
          <p:nvPr/>
        </p:nvSpPr>
        <p:spPr>
          <a:xfrm>
            <a:off x="11825436" y="6863655"/>
            <a:ext cx="62077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IMPACT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1825436" y="7082730"/>
            <a:ext cx="620775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TMD §§ · 14 modules · 137 tests · 16 D-codes ·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→ Weeks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0" y="9639300"/>
            <a:ext cx="182880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9" name="Text 57"/>
          <p:cNvSpPr/>
          <p:nvPr/>
        </p:nvSpPr>
        <p:spPr>
          <a:xfrm>
            <a:off x="628650" y="9896475"/>
            <a:ext cx="1791947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ExlService Holdings, Inc. All rights reserved.</a:t>
            </a:r>
            <a:endParaRPr lang="en-US" sz="975" dirty="0"/>
          </a:p>
        </p:txBody>
      </p:sp>
      <p:pic>
        <p:nvPicPr>
          <p:cNvPr id="6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2" b="-12"/>
          <a:stretch/>
        </p:blipFill>
        <p:spPr>
          <a:xfrm>
            <a:off x="16919079" y="9796463"/>
            <a:ext cx="538014" cy="342900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17590443" y="9896475"/>
            <a:ext cx="14510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28650" y="133350"/>
            <a:ext cx="34937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a Model Using Claude · 3 /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8650" y="419100"/>
            <a:ext cx="17329785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Can Do — and How to Use It Well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28650" y="1409700"/>
            <a:ext cx="17329785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converts a Technical Model Document into working Python by acting as a section-by-section implementer. The TMD is the spec; Claude is the engineer; you are the architect and reviewer.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8650" y="2343150"/>
            <a:ext cx="8286750" cy="6877050"/>
          </a:xfrm>
          <a:prstGeom prst="roundRect">
            <a:avLst>
              <a:gd name="adj" fmla="val 554"/>
            </a:avLst>
          </a:prstGeom>
          <a:solidFill>
            <a:srgbClr val="DCF3FA"/>
          </a:solidFill>
          <a:ln/>
        </p:spPr>
      </p:sp>
      <p:sp>
        <p:nvSpPr>
          <p:cNvPr id="7" name="Shape 5"/>
          <p:cNvSpPr/>
          <p:nvPr/>
        </p:nvSpPr>
        <p:spPr>
          <a:xfrm>
            <a:off x="895350" y="2590800"/>
            <a:ext cx="438150" cy="438150"/>
          </a:xfrm>
          <a:prstGeom prst="roundRect">
            <a:avLst>
              <a:gd name="adj" fmla="val 6522"/>
            </a:avLst>
          </a:prstGeom>
          <a:solidFill>
            <a:srgbClr val="FB4D0A"/>
          </a:solidFill>
          <a:ln/>
        </p:spPr>
      </p:sp>
      <p:sp>
        <p:nvSpPr>
          <p:cNvPr id="8" name="Text 6"/>
          <p:cNvSpPr/>
          <p:nvPr/>
        </p:nvSpPr>
        <p:spPr>
          <a:xfrm>
            <a:off x="1466850" y="2672655"/>
            <a:ext cx="243176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Delivers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5350" y="3124200"/>
            <a:ext cx="85286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5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ACTUARIAL MODEL BUILD CAPABILITIES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95350" y="3371850"/>
            <a:ext cx="7753350" cy="662880"/>
          </a:xfrm>
          <a:prstGeom prst="roundRect">
            <a:avLst>
              <a:gd name="adj" fmla="val 574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95350" y="3371850"/>
            <a:ext cx="28575" cy="662880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12" name="Text 10"/>
          <p:cNvSpPr/>
          <p:nvPr/>
        </p:nvSpPr>
        <p:spPr>
          <a:xfrm>
            <a:off x="1076325" y="3486150"/>
            <a:ext cx="81619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Excel models automatically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6325" y="3714750"/>
            <a:ext cx="8161973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every tab, formula, defined name — extracts structure without manual 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5350" y="4129980"/>
            <a:ext cx="7753350" cy="662880"/>
          </a:xfrm>
          <a:prstGeom prst="roundRect">
            <a:avLst>
              <a:gd name="adj" fmla="val 574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95350" y="4129980"/>
            <a:ext cx="28575" cy="662880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16" name="Text 14"/>
          <p:cNvSpPr/>
          <p:nvPr/>
        </p:nvSpPr>
        <p:spPr>
          <a:xfrm>
            <a:off x="1076325" y="4244280"/>
            <a:ext cx="81619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full Python modules per section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76325" y="4472880"/>
            <a:ext cx="8161973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layer separation · no downstream imports · one file per TMD section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5350" y="4888111"/>
            <a:ext cx="7753350" cy="662880"/>
          </a:xfrm>
          <a:prstGeom prst="roundRect">
            <a:avLst>
              <a:gd name="adj" fmla="val 574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95350" y="4888111"/>
            <a:ext cx="28575" cy="662880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20" name="Text 18"/>
          <p:cNvSpPr/>
          <p:nvPr/>
        </p:nvSpPr>
        <p:spPr>
          <a:xfrm>
            <a:off x="1076325" y="5002411"/>
            <a:ext cx="81619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automated test suites from the fixture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76325" y="5231011"/>
            <a:ext cx="8161973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§23.5 reproducibility fixture into 137 assertions before code runs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5350" y="5646241"/>
            <a:ext cx="7753350" cy="662880"/>
          </a:xfrm>
          <a:prstGeom prst="roundRect">
            <a:avLst>
              <a:gd name="adj" fmla="val 574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95350" y="5646241"/>
            <a:ext cx="28575" cy="662880"/>
          </a:xfrm>
          <a:prstGeom prst="rect">
            <a:avLst/>
          </a:prstGeom>
          <a:solidFill>
            <a:srgbClr val="005071"/>
          </a:solidFill>
          <a:ln/>
        </p:spPr>
      </p:sp>
      <p:sp>
        <p:nvSpPr>
          <p:cNvPr id="24" name="Text 22"/>
          <p:cNvSpPr/>
          <p:nvPr/>
        </p:nvSpPr>
        <p:spPr>
          <a:xfrm>
            <a:off x="1076325" y="5760541"/>
            <a:ext cx="81619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AST formula reference + D-code logs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76325" y="5989141"/>
            <a:ext cx="8161973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Cell-level citations linking every output to its source formula — discrepancies documented with root cause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5350" y="6404372"/>
            <a:ext cx="7753350" cy="662880"/>
          </a:xfrm>
          <a:prstGeom prst="roundRect">
            <a:avLst>
              <a:gd name="adj" fmla="val 574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5350" y="6404372"/>
            <a:ext cx="28575" cy="662880"/>
          </a:xfrm>
          <a:prstGeom prst="rect">
            <a:avLst/>
          </a:prstGeom>
          <a:solidFill>
            <a:srgbClr val="005071"/>
          </a:solidFill>
          <a:ln/>
        </p:spPr>
      </p:sp>
      <p:sp>
        <p:nvSpPr>
          <p:cNvPr id="28" name="Text 26"/>
          <p:cNvSpPr/>
          <p:nvPr/>
        </p:nvSpPr>
        <p:spPr>
          <a:xfrm>
            <a:off x="1076325" y="6518672"/>
            <a:ext cx="81619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model with FastAPI + batch runner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76325" y="6747272"/>
            <a:ext cx="8161973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REST endpoints: run model · job polling · assumption queries · Excel output download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372600" y="2343150"/>
            <a:ext cx="8286750" cy="3257550"/>
          </a:xfrm>
          <a:prstGeom prst="roundRect">
            <a:avLst>
              <a:gd name="adj" fmla="val 1170"/>
            </a:avLst>
          </a:prstGeom>
          <a:solidFill>
            <a:srgbClr val="EAF7FC"/>
          </a:solidFill>
          <a:ln/>
        </p:spPr>
      </p:sp>
      <p:sp>
        <p:nvSpPr>
          <p:cNvPr id="31" name="Shape 29"/>
          <p:cNvSpPr/>
          <p:nvPr/>
        </p:nvSpPr>
        <p:spPr>
          <a:xfrm>
            <a:off x="9620250" y="2552700"/>
            <a:ext cx="438150" cy="438150"/>
          </a:xfrm>
          <a:prstGeom prst="roundRect">
            <a:avLst>
              <a:gd name="adj" fmla="val 6522"/>
            </a:avLst>
          </a:prstGeom>
          <a:solidFill>
            <a:srgbClr val="FB4D0A"/>
          </a:solidFill>
          <a:ln/>
        </p:spPr>
      </p:sp>
      <p:sp>
        <p:nvSpPr>
          <p:cNvPr id="32" name="Text 30"/>
          <p:cNvSpPr/>
          <p:nvPr/>
        </p:nvSpPr>
        <p:spPr>
          <a:xfrm>
            <a:off x="10191750" y="2634555"/>
            <a:ext cx="336295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— Best Practices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20250" y="3086100"/>
            <a:ext cx="85705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5" kern="0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PATTERNS FROM THE LINCOLN VA BUILD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20250" y="3352800"/>
            <a:ext cx="290513" cy="152400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35" name="Text 33"/>
          <p:cNvSpPr/>
          <p:nvPr/>
        </p:nvSpPr>
        <p:spPr>
          <a:xfrm>
            <a:off x="9686925" y="3371850"/>
            <a:ext cx="1862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10006013" y="3333750"/>
            <a:ext cx="542227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section-by-section — one §, one module, one test run at a time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9620250" y="3731865"/>
            <a:ext cx="290513" cy="152400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38" name="Text 36"/>
          <p:cNvSpPr/>
          <p:nvPr/>
        </p:nvSpPr>
        <p:spPr>
          <a:xfrm>
            <a:off x="9686925" y="3750915"/>
            <a:ext cx="1862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10006013" y="3712815"/>
            <a:ext cx="5042788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architect and reviewer — Claude is the implementer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9620250" y="4110930"/>
            <a:ext cx="290513" cy="152400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41" name="Text 39"/>
          <p:cNvSpPr/>
          <p:nvPr/>
        </p:nvSpPr>
        <p:spPr>
          <a:xfrm>
            <a:off x="9686925" y="4129980"/>
            <a:ext cx="1862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10006013" y="4091880"/>
            <a:ext cx="5069145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formula tables verbatim — never paraphrase a calculation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9620250" y="4489996"/>
            <a:ext cx="290513" cy="152400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44" name="Text 42"/>
          <p:cNvSpPr/>
          <p:nvPr/>
        </p:nvSpPr>
        <p:spPr>
          <a:xfrm>
            <a:off x="9686925" y="4509046"/>
            <a:ext cx="1862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10006013" y="4470946"/>
            <a:ext cx="5871329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all discrepancies as D-codes — never let Claude absorb a gap silently</a:t>
            </a:r>
            <a:endParaRPr lang="en-US" sz="1275" dirty="0"/>
          </a:p>
        </p:txBody>
      </p:sp>
      <p:sp>
        <p:nvSpPr>
          <p:cNvPr id="46" name="Shape 44"/>
          <p:cNvSpPr/>
          <p:nvPr/>
        </p:nvSpPr>
        <p:spPr>
          <a:xfrm>
            <a:off x="9372600" y="5734050"/>
            <a:ext cx="8286750" cy="3486150"/>
          </a:xfrm>
          <a:prstGeom prst="roundRect">
            <a:avLst>
              <a:gd name="adj" fmla="val 1093"/>
            </a:avLst>
          </a:prstGeom>
          <a:solidFill>
            <a:srgbClr val="EAF7FC"/>
          </a:solidFill>
          <a:ln/>
        </p:spPr>
      </p:sp>
      <p:sp>
        <p:nvSpPr>
          <p:cNvPr id="47" name="Shape 45"/>
          <p:cNvSpPr/>
          <p:nvPr/>
        </p:nvSpPr>
        <p:spPr>
          <a:xfrm>
            <a:off x="9620250" y="5943600"/>
            <a:ext cx="438150" cy="438150"/>
          </a:xfrm>
          <a:prstGeom prst="roundRect">
            <a:avLst>
              <a:gd name="adj" fmla="val 6522"/>
            </a:avLst>
          </a:prstGeom>
          <a:solidFill>
            <a:srgbClr val="C0504D"/>
          </a:solidFill>
          <a:ln/>
        </p:spPr>
      </p:sp>
      <p:sp>
        <p:nvSpPr>
          <p:cNvPr id="48" name="Text 46"/>
          <p:cNvSpPr/>
          <p:nvPr/>
        </p:nvSpPr>
        <p:spPr>
          <a:xfrm>
            <a:off x="10191750" y="6025455"/>
            <a:ext cx="154706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Avoid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620250" y="6477000"/>
            <a:ext cx="85705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5" kern="0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FAILURE MODES IN AI-ASSISTED MODEL BUILDS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620250" y="6743700"/>
            <a:ext cx="451693" cy="152400"/>
          </a:xfrm>
          <a:prstGeom prst="roundRect">
            <a:avLst>
              <a:gd name="adj" fmla="val 18750"/>
            </a:avLst>
          </a:prstGeom>
          <a:solidFill>
            <a:srgbClr val="FEE2E2"/>
          </a:solidFill>
          <a:ln/>
        </p:spPr>
      </p:sp>
      <p:sp>
        <p:nvSpPr>
          <p:cNvPr id="51" name="Text 49"/>
          <p:cNvSpPr/>
          <p:nvPr/>
        </p:nvSpPr>
        <p:spPr>
          <a:xfrm>
            <a:off x="9686925" y="6762750"/>
            <a:ext cx="363513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10167193" y="6724650"/>
            <a:ext cx="6845245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Claude to "figure out" branch conditions — specify them explicitly from the TMD</a:t>
            </a:r>
            <a:endParaRPr lang="en-US" sz="1275" dirty="0"/>
          </a:p>
        </p:txBody>
      </p:sp>
      <p:sp>
        <p:nvSpPr>
          <p:cNvPr id="53" name="Shape 51"/>
          <p:cNvSpPr/>
          <p:nvPr/>
        </p:nvSpPr>
        <p:spPr>
          <a:xfrm>
            <a:off x="9620250" y="7122765"/>
            <a:ext cx="451693" cy="152400"/>
          </a:xfrm>
          <a:prstGeom prst="roundRect">
            <a:avLst>
              <a:gd name="adj" fmla="val 18750"/>
            </a:avLst>
          </a:prstGeom>
          <a:solidFill>
            <a:srgbClr val="FEE2E2"/>
          </a:solidFill>
          <a:ln/>
        </p:spPr>
      </p:sp>
      <p:sp>
        <p:nvSpPr>
          <p:cNvPr id="54" name="Text 52"/>
          <p:cNvSpPr/>
          <p:nvPr/>
        </p:nvSpPr>
        <p:spPr>
          <a:xfrm>
            <a:off x="9686925" y="7141815"/>
            <a:ext cx="363513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10167193" y="7103715"/>
            <a:ext cx="6445463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Skipping validation between phases — errors compound across calculation layers</a:t>
            </a:r>
            <a:endParaRPr lang="en-US" sz="1275" dirty="0"/>
          </a:p>
        </p:txBody>
      </p:sp>
      <p:sp>
        <p:nvSpPr>
          <p:cNvPr id="56" name="Shape 54"/>
          <p:cNvSpPr/>
          <p:nvPr/>
        </p:nvSpPr>
        <p:spPr>
          <a:xfrm>
            <a:off x="9620250" y="7501830"/>
            <a:ext cx="451693" cy="152400"/>
          </a:xfrm>
          <a:prstGeom prst="roundRect">
            <a:avLst>
              <a:gd name="adj" fmla="val 18750"/>
            </a:avLst>
          </a:prstGeom>
          <a:solidFill>
            <a:srgbClr val="FEE2E2"/>
          </a:solidFill>
          <a:ln/>
        </p:spPr>
      </p:sp>
      <p:sp>
        <p:nvSpPr>
          <p:cNvPr id="57" name="Text 55"/>
          <p:cNvSpPr/>
          <p:nvPr/>
        </p:nvSpPr>
        <p:spPr>
          <a:xfrm>
            <a:off x="9686925" y="7520880"/>
            <a:ext cx="363513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10167193" y="7482780"/>
            <a:ext cx="7138943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more than one module per session — context overflow degrades output quality</a:t>
            </a:r>
            <a:endParaRPr lang="en-US" sz="1275" dirty="0"/>
          </a:p>
        </p:txBody>
      </p:sp>
      <p:sp>
        <p:nvSpPr>
          <p:cNvPr id="59" name="Shape 57"/>
          <p:cNvSpPr/>
          <p:nvPr/>
        </p:nvSpPr>
        <p:spPr>
          <a:xfrm>
            <a:off x="9620250" y="7938046"/>
            <a:ext cx="7791450" cy="632222"/>
          </a:xfrm>
          <a:prstGeom prst="roundRect">
            <a:avLst>
              <a:gd name="adj" fmla="val 6026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20250" y="7938046"/>
            <a:ext cx="28575" cy="632222"/>
          </a:xfrm>
          <a:prstGeom prst="rect">
            <a:avLst/>
          </a:prstGeom>
          <a:solidFill>
            <a:srgbClr val="FB4D0A"/>
          </a:solidFill>
          <a:ln/>
        </p:spPr>
      </p:sp>
      <p:sp>
        <p:nvSpPr>
          <p:cNvPr id="61" name="Text 59"/>
          <p:cNvSpPr/>
          <p:nvPr/>
        </p:nvSpPr>
        <p:spPr>
          <a:xfrm>
            <a:off x="9782175" y="8033296"/>
            <a:ext cx="772106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2E36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TMD is not overhead — it is the work. The Python model is execution against a specification that already exists."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28650" y="9267825"/>
            <a:ext cx="170307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628650" y="9372600"/>
            <a:ext cx="19669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VA Build Results:</a:t>
            </a:r>
            <a:endParaRPr lang="en-US" sz="1275" dirty="0"/>
          </a:p>
        </p:txBody>
      </p:sp>
      <p:sp>
        <p:nvSpPr>
          <p:cNvPr id="64" name="Text 62"/>
          <p:cNvSpPr/>
          <p:nvPr/>
        </p:nvSpPr>
        <p:spPr>
          <a:xfrm>
            <a:off x="2512070" y="9372600"/>
            <a:ext cx="256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75" dirty="0"/>
          </a:p>
        </p:txBody>
      </p:sp>
      <p:sp>
        <p:nvSpPr>
          <p:cNvPr id="65" name="Text 63"/>
          <p:cNvSpPr/>
          <p:nvPr/>
        </p:nvSpPr>
        <p:spPr>
          <a:xfrm>
            <a:off x="2787551" y="9372600"/>
            <a:ext cx="10929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TMD Sections</a:t>
            </a:r>
            <a:endParaRPr lang="en-US" sz="1275" dirty="0"/>
          </a:p>
        </p:txBody>
      </p:sp>
      <p:sp>
        <p:nvSpPr>
          <p:cNvPr id="66" name="Text 64"/>
          <p:cNvSpPr/>
          <p:nvPr/>
        </p:nvSpPr>
        <p:spPr>
          <a:xfrm>
            <a:off x="3899595" y="9372600"/>
            <a:ext cx="2201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75" dirty="0"/>
          </a:p>
        </p:txBody>
      </p:sp>
      <p:sp>
        <p:nvSpPr>
          <p:cNvPr id="67" name="Text 65"/>
          <p:cNvSpPr/>
          <p:nvPr/>
        </p:nvSpPr>
        <p:spPr>
          <a:xfrm>
            <a:off x="4138761" y="9372600"/>
            <a:ext cx="256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75" dirty="0"/>
          </a:p>
        </p:txBody>
      </p:sp>
      <p:sp>
        <p:nvSpPr>
          <p:cNvPr id="68" name="Text 66"/>
          <p:cNvSpPr/>
          <p:nvPr/>
        </p:nvSpPr>
        <p:spPr>
          <a:xfrm>
            <a:off x="4414242" y="9372600"/>
            <a:ext cx="12373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1275" dirty="0"/>
          </a:p>
        </p:txBody>
      </p:sp>
      <p:sp>
        <p:nvSpPr>
          <p:cNvPr id="69" name="Text 67"/>
          <p:cNvSpPr/>
          <p:nvPr/>
        </p:nvSpPr>
        <p:spPr>
          <a:xfrm>
            <a:off x="5670649" y="9372600"/>
            <a:ext cx="2201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75" dirty="0"/>
          </a:p>
        </p:txBody>
      </p:sp>
      <p:sp>
        <p:nvSpPr>
          <p:cNvPr id="70" name="Text 68"/>
          <p:cNvSpPr/>
          <p:nvPr/>
        </p:nvSpPr>
        <p:spPr>
          <a:xfrm>
            <a:off x="5909816" y="9372600"/>
            <a:ext cx="3464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1275" dirty="0"/>
          </a:p>
        </p:txBody>
      </p:sp>
      <p:sp>
        <p:nvSpPr>
          <p:cNvPr id="71" name="Text 69"/>
          <p:cNvSpPr/>
          <p:nvPr/>
        </p:nvSpPr>
        <p:spPr>
          <a:xfrm>
            <a:off x="6275338" y="9372600"/>
            <a:ext cx="13236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275" dirty="0"/>
          </a:p>
        </p:txBody>
      </p:sp>
      <p:sp>
        <p:nvSpPr>
          <p:cNvPr id="72" name="Text 70"/>
          <p:cNvSpPr/>
          <p:nvPr/>
        </p:nvSpPr>
        <p:spPr>
          <a:xfrm>
            <a:off x="7573863" y="9372600"/>
            <a:ext cx="2201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75" dirty="0"/>
          </a:p>
        </p:txBody>
      </p:sp>
      <p:sp>
        <p:nvSpPr>
          <p:cNvPr id="73" name="Text 71"/>
          <p:cNvSpPr/>
          <p:nvPr/>
        </p:nvSpPr>
        <p:spPr>
          <a:xfrm>
            <a:off x="7813030" y="9372600"/>
            <a:ext cx="1663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75" dirty="0"/>
          </a:p>
        </p:txBody>
      </p:sp>
      <p:sp>
        <p:nvSpPr>
          <p:cNvPr id="74" name="Text 72"/>
          <p:cNvSpPr/>
          <p:nvPr/>
        </p:nvSpPr>
        <p:spPr>
          <a:xfrm>
            <a:off x="7998470" y="9372600"/>
            <a:ext cx="11383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Sessions</a:t>
            </a:r>
            <a:endParaRPr lang="en-US" sz="1275" dirty="0"/>
          </a:p>
        </p:txBody>
      </p:sp>
      <p:sp>
        <p:nvSpPr>
          <p:cNvPr id="75" name="Text 73"/>
          <p:cNvSpPr/>
          <p:nvPr/>
        </p:nvSpPr>
        <p:spPr>
          <a:xfrm>
            <a:off x="9155906" y="9372600"/>
            <a:ext cx="2201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75" dirty="0"/>
          </a:p>
        </p:txBody>
      </p:sp>
      <p:sp>
        <p:nvSpPr>
          <p:cNvPr id="76" name="Text 74"/>
          <p:cNvSpPr/>
          <p:nvPr/>
        </p:nvSpPr>
        <p:spPr>
          <a:xfrm>
            <a:off x="9395073" y="9372600"/>
            <a:ext cx="256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5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75" dirty="0"/>
          </a:p>
        </p:txBody>
      </p:sp>
      <p:sp>
        <p:nvSpPr>
          <p:cNvPr id="77" name="Text 75"/>
          <p:cNvSpPr/>
          <p:nvPr/>
        </p:nvSpPr>
        <p:spPr>
          <a:xfrm>
            <a:off x="9670554" y="9372600"/>
            <a:ext cx="679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D7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D-codes</a:t>
            </a:r>
            <a:endParaRPr lang="en-US" sz="1275" dirty="0"/>
          </a:p>
        </p:txBody>
      </p:sp>
      <p:sp>
        <p:nvSpPr>
          <p:cNvPr id="78" name="Text 76"/>
          <p:cNvSpPr/>
          <p:nvPr/>
        </p:nvSpPr>
        <p:spPr>
          <a:xfrm>
            <a:off x="10368855" y="9372600"/>
            <a:ext cx="2201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75" dirty="0"/>
          </a:p>
        </p:txBody>
      </p:sp>
      <p:sp>
        <p:nvSpPr>
          <p:cNvPr id="79" name="Text 77"/>
          <p:cNvSpPr/>
          <p:nvPr/>
        </p:nvSpPr>
        <p:spPr>
          <a:xfrm>
            <a:off x="10608022" y="9372600"/>
            <a:ext cx="14023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B4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→ Weeks</a:t>
            </a:r>
            <a:endParaRPr lang="en-US" sz="1275" dirty="0"/>
          </a:p>
        </p:txBody>
      </p:sp>
      <p:sp>
        <p:nvSpPr>
          <p:cNvPr id="80" name="Shape 78"/>
          <p:cNvSpPr/>
          <p:nvPr/>
        </p:nvSpPr>
        <p:spPr>
          <a:xfrm>
            <a:off x="0" y="9639300"/>
            <a:ext cx="182880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1" name="Text 79"/>
          <p:cNvSpPr/>
          <p:nvPr/>
        </p:nvSpPr>
        <p:spPr>
          <a:xfrm>
            <a:off x="628650" y="9896475"/>
            <a:ext cx="1791947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ExlService Holdings, Inc. All rights reserved.</a:t>
            </a:r>
            <a:endParaRPr lang="en-US" sz="975" dirty="0"/>
          </a:p>
        </p:txBody>
      </p:sp>
      <p:pic>
        <p:nvPicPr>
          <p:cNvPr id="8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2" b="-12"/>
          <a:stretch/>
        </p:blipFill>
        <p:spPr>
          <a:xfrm>
            <a:off x="16919079" y="9796463"/>
            <a:ext cx="538014" cy="342900"/>
          </a:xfrm>
          <a:prstGeom prst="rect">
            <a:avLst/>
          </a:prstGeom>
        </p:spPr>
      </p:pic>
      <p:sp>
        <p:nvSpPr>
          <p:cNvPr id="83" name="Text 80"/>
          <p:cNvSpPr/>
          <p:nvPr/>
        </p:nvSpPr>
        <p:spPr>
          <a:xfrm>
            <a:off x="17590443" y="9896475"/>
            <a:ext cx="14510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2026-06-29T17:49:39Z</dcterms:created>
  <dcterms:modified xsi:type="dcterms:W3CDTF">2026-06-29T17:49:39Z</dcterms:modified>
</cp:coreProperties>
</file>