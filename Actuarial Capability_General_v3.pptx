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35"/>
  </p:notesMasterIdLst>
  <p:handoutMasterIdLst>
    <p:handoutMasterId r:id="rId36"/>
  </p:handoutMasterIdLst>
  <p:sldIdLst>
    <p:sldId id="484" r:id="rId5"/>
    <p:sldId id="2147482590" r:id="rId6"/>
    <p:sldId id="2147482601" r:id="rId7"/>
    <p:sldId id="2147482591" r:id="rId8"/>
    <p:sldId id="2147482602" r:id="rId9"/>
    <p:sldId id="2147482574" r:id="rId10"/>
    <p:sldId id="487" r:id="rId11"/>
    <p:sldId id="2147482573" r:id="rId12"/>
    <p:sldId id="490" r:id="rId13"/>
    <p:sldId id="2147482604" r:id="rId14"/>
    <p:sldId id="2147482603" r:id="rId15"/>
    <p:sldId id="2147482572" r:id="rId16"/>
    <p:sldId id="468" r:id="rId17"/>
    <p:sldId id="2147482605" r:id="rId18"/>
    <p:sldId id="2147482608" r:id="rId19"/>
    <p:sldId id="2147482609" r:id="rId20"/>
    <p:sldId id="427" r:id="rId21"/>
    <p:sldId id="2147482570" r:id="rId22"/>
    <p:sldId id="2147482610" r:id="rId23"/>
    <p:sldId id="2147483612" r:id="rId24"/>
    <p:sldId id="2147482611" r:id="rId25"/>
    <p:sldId id="2147483611" r:id="rId26"/>
    <p:sldId id="2147482612" r:id="rId27"/>
    <p:sldId id="432" r:id="rId28"/>
    <p:sldId id="2147483613" r:id="rId29"/>
    <p:sldId id="2147482682" r:id="rId30"/>
    <p:sldId id="2147482702" r:id="rId31"/>
    <p:sldId id="2147483614" r:id="rId32"/>
    <p:sldId id="2147483615" r:id="rId33"/>
    <p:sldId id="2147483616"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28" userDrawn="1">
          <p15:clr>
            <a:srgbClr val="A4A3A4"/>
          </p15:clr>
        </p15:guide>
        <p15:guide id="5" pos="3840" userDrawn="1">
          <p15:clr>
            <a:srgbClr val="A4A3A4"/>
          </p15:clr>
        </p15:guide>
        <p15:guide id="6" pos="7392" userDrawn="1">
          <p15:clr>
            <a:srgbClr val="A4A3A4"/>
          </p15:clr>
        </p15:guide>
        <p15:guide id="7" pos="288" userDrawn="1">
          <p15:clr>
            <a:srgbClr val="A4A3A4"/>
          </p15:clr>
        </p15:guide>
        <p15:guide id="9" orient="horz"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071"/>
    <a:srgbClr val="DCF3FA"/>
    <a:srgbClr val="FB4E0B"/>
    <a:srgbClr val="004EFF"/>
    <a:srgbClr val="F7F7F7"/>
    <a:srgbClr val="E5EDFF"/>
    <a:srgbClr val="C0D2FF"/>
    <a:srgbClr val="83A8FF"/>
    <a:srgbClr val="407A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300" y="76"/>
      </p:cViewPr>
      <p:guideLst>
        <p:guide orient="horz" pos="4128"/>
        <p:guide pos="3840"/>
        <p:guide pos="7392"/>
        <p:guide pos="288"/>
        <p:guide orient="horz"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nkaj Jaitly" userId="64a4ca56-d0bb-4f73-bf1d-197e9057de99" providerId="ADAL" clId="{6AC71E9C-D582-4508-9DDF-A5E9557FF85E}"/>
    <pc:docChg chg="modSld">
      <pc:chgData name="Pankaj Jaitly" userId="64a4ca56-d0bb-4f73-bf1d-197e9057de99" providerId="ADAL" clId="{6AC71E9C-D582-4508-9DDF-A5E9557FF85E}" dt="2026-05-07T08:06:32.699" v="2" actId="6549"/>
      <pc:docMkLst>
        <pc:docMk/>
      </pc:docMkLst>
      <pc:sldChg chg="modSp mod">
        <pc:chgData name="Pankaj Jaitly" userId="64a4ca56-d0bb-4f73-bf1d-197e9057de99" providerId="ADAL" clId="{6AC71E9C-D582-4508-9DDF-A5E9557FF85E}" dt="2026-05-07T08:06:32.699" v="2" actId="6549"/>
        <pc:sldMkLst>
          <pc:docMk/>
          <pc:sldMk cId="3022584697" sldId="2147482570"/>
        </pc:sldMkLst>
        <pc:spChg chg="mod">
          <ac:chgData name="Pankaj Jaitly" userId="64a4ca56-d0bb-4f73-bf1d-197e9057de99" providerId="ADAL" clId="{6AC71E9C-D582-4508-9DDF-A5E9557FF85E}" dt="2026-05-07T08:06:32.699" v="2" actId="6549"/>
          <ac:spMkLst>
            <pc:docMk/>
            <pc:sldMk cId="3022584697" sldId="2147482570"/>
            <ac:spMk id="92" creationId="{C1339115-A987-4FB9-A336-98EF6D3BF327}"/>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ECF2B5-EFCC-44DE-9623-FA3985D5F4A2}" type="doc">
      <dgm:prSet loTypeId="urn:microsoft.com/office/officeart/2005/8/layout/hList1" loCatId="list" qsTypeId="urn:microsoft.com/office/officeart/2005/8/quickstyle/simple5" qsCatId="simple" csTypeId="urn:microsoft.com/office/officeart/2005/8/colors/accent1_2" csCatId="accent1" phldr="1"/>
      <dgm:spPr/>
      <dgm:t>
        <a:bodyPr/>
        <a:lstStyle/>
        <a:p>
          <a:endParaRPr lang="en-US"/>
        </a:p>
      </dgm:t>
    </dgm:pt>
    <dgm:pt modelId="{CE053B9C-EF65-42F2-B0E3-5E6F6F75C9A0}">
      <dgm:prSet phldrT="[Text]" custT="1">
        <dgm:style>
          <a:lnRef idx="0">
            <a:schemeClr val="accent1"/>
          </a:lnRef>
          <a:fillRef idx="3">
            <a:schemeClr val="accent1"/>
          </a:fillRef>
          <a:effectRef idx="3">
            <a:schemeClr val="accent1"/>
          </a:effectRef>
          <a:fontRef idx="minor">
            <a:schemeClr val="lt1"/>
          </a:fontRef>
        </dgm:style>
      </dgm:prSet>
      <dgm:spPr>
        <a:solidFill>
          <a:schemeClr val="accent3"/>
        </a:solidFill>
        <a:ln/>
        <a:effectLst/>
      </dgm:spPr>
      <dgm:t>
        <a:bodyPr spcFirstLastPara="0" vert="horz" wrap="none" lIns="0" tIns="0" rIns="0" bIns="0" numCol="1" spcCol="1270" anchor="ctr" anchorCtr="1"/>
        <a:lstStyle/>
        <a:p>
          <a:pPr marL="0" marR="0" lvl="0" indent="0" algn="ctr" defTabSz="533400" rtl="0" eaLnBrk="1" fontAlgn="auto" latinLnBrk="0" hangingPunct="1">
            <a:lnSpc>
              <a:spcPct val="113000"/>
            </a:lnSpc>
            <a:spcBef>
              <a:spcPct val="0"/>
            </a:spcBef>
            <a:spcAft>
              <a:spcPct val="35000"/>
            </a:spcAft>
            <a:buClrTx/>
            <a:buSzTx/>
            <a:buFontTx/>
            <a:buNone/>
            <a:tabLst/>
            <a:defRPr/>
          </a:pPr>
          <a:r>
            <a:rPr kumimoji="0" lang="en-US" sz="1600" b="1" i="0" u="none" strike="noStrike" kern="1200" cap="none" spc="0" normalizeH="0" baseline="0">
              <a:ln>
                <a:noFill/>
              </a:ln>
              <a:solidFill>
                <a:srgbClr val="FFFFFF"/>
              </a:solidFill>
              <a:effectLst/>
              <a:uLnTx/>
              <a:uFillTx/>
              <a:latin typeface="Calibri" panose="020F0502020204030204" pitchFamily="34" charset="0"/>
              <a:ea typeface="+mn-ea"/>
              <a:cs typeface="+mn-cs"/>
            </a:rPr>
            <a:t>CLIENT CHALLENGES</a:t>
          </a:r>
        </a:p>
      </dgm:t>
    </dgm:pt>
    <dgm:pt modelId="{B2DF5A18-F0F1-406D-A5ED-138B7254C563}" type="parTrans" cxnId="{0F4C5907-EDA6-4101-AE1D-9E4719297F2F}">
      <dgm:prSet/>
      <dgm:spPr/>
      <dgm:t>
        <a:bodyPr/>
        <a:lstStyle/>
        <a:p>
          <a:endParaRPr lang="en-US"/>
        </a:p>
      </dgm:t>
    </dgm:pt>
    <dgm:pt modelId="{0CE7B25F-BAE1-4106-82A0-D670510F0252}" type="sibTrans" cxnId="{0F4C5907-EDA6-4101-AE1D-9E4719297F2F}">
      <dgm:prSet/>
      <dgm:spPr/>
      <dgm:t>
        <a:bodyPr/>
        <a:lstStyle/>
        <a:p>
          <a:endParaRPr lang="en-US"/>
        </a:p>
      </dgm:t>
    </dgm:pt>
    <dgm:pt modelId="{D5C55211-078F-44CE-A325-73809A55AA80}">
      <dgm:prSet phldrT="[Text]" custT="1"/>
      <dgm:spPr>
        <a:solidFill>
          <a:schemeClr val="bg1">
            <a:alpha val="90000"/>
          </a:schemeClr>
        </a:solidFill>
        <a:ln>
          <a:solidFill>
            <a:schemeClr val="tx1">
              <a:alpha val="90000"/>
            </a:schemeClr>
          </a:solidFill>
        </a:ln>
      </dgm:spPr>
      <dgm:t>
        <a:bodyPr spcFirstLastPara="0" vert="horz" wrap="square" lIns="114300" tIns="0" rIns="113585" bIns="0" numCol="1" spcCol="1270" anchor="ctr" anchorCtr="0"/>
        <a:lstStyle/>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Manual and time‑intensive FIA validation in Excel</a:t>
          </a:r>
        </a:p>
      </dgm:t>
    </dgm:pt>
    <dgm:pt modelId="{2A5AE108-A18E-4BA9-AF03-77A5848C1FDE}" type="parTrans" cxnId="{B9A07677-56FF-4C9A-950B-54D6871A25CC}">
      <dgm:prSet/>
      <dgm:spPr/>
      <dgm:t>
        <a:bodyPr/>
        <a:lstStyle/>
        <a:p>
          <a:endParaRPr lang="en-US"/>
        </a:p>
      </dgm:t>
    </dgm:pt>
    <dgm:pt modelId="{BFB88234-E65B-4BE5-9640-75AED9C3F679}" type="sibTrans" cxnId="{B9A07677-56FF-4C9A-950B-54D6871A25CC}">
      <dgm:prSet/>
      <dgm:spPr/>
      <dgm:t>
        <a:bodyPr/>
        <a:lstStyle/>
        <a:p>
          <a:endParaRPr lang="en-US"/>
        </a:p>
      </dgm:t>
    </dgm:pt>
    <dgm:pt modelId="{BC4FC635-32CD-48EA-A215-A78DC1AA3844}">
      <dgm:prSet phldrT="[Text]" custT="1">
        <dgm:style>
          <a:lnRef idx="0">
            <a:schemeClr val="accent1"/>
          </a:lnRef>
          <a:fillRef idx="3">
            <a:schemeClr val="accent1"/>
          </a:fillRef>
          <a:effectRef idx="3">
            <a:schemeClr val="accent1"/>
          </a:effectRef>
          <a:fontRef idx="minor">
            <a:schemeClr val="lt1"/>
          </a:fontRef>
        </dgm:style>
      </dgm:prSet>
      <dgm:spPr>
        <a:solidFill>
          <a:schemeClr val="accent3"/>
        </a:solidFill>
        <a:ln/>
        <a:effectLst/>
      </dgm:spPr>
      <dgm:t>
        <a:bodyPr spcFirstLastPara="0" vert="horz" wrap="none" lIns="0" tIns="0" rIns="0" bIns="0" numCol="1" spcCol="1270" anchor="ctr" anchorCtr="1"/>
        <a:lstStyle/>
        <a:p>
          <a:pPr marL="0" marR="0" lvl="0" indent="0" algn="ctr" defTabSz="533400" rtl="0" eaLnBrk="1" fontAlgn="auto" latinLnBrk="0" hangingPunct="1">
            <a:lnSpc>
              <a:spcPct val="113000"/>
            </a:lnSpc>
            <a:spcBef>
              <a:spcPct val="0"/>
            </a:spcBef>
            <a:spcAft>
              <a:spcPct val="35000"/>
            </a:spcAft>
            <a:buClrTx/>
            <a:buSzTx/>
            <a:buFontTx/>
            <a:buNone/>
            <a:tabLst/>
            <a:defRPr/>
          </a:pPr>
          <a:r>
            <a:rPr kumimoji="0" lang="en-US" sz="1600" b="1" i="0" u="none" strike="noStrike" kern="1200" cap="none" spc="0" normalizeH="0" baseline="0">
              <a:ln>
                <a:noFill/>
              </a:ln>
              <a:solidFill>
                <a:srgbClr val="FFFFFF"/>
              </a:solidFill>
              <a:effectLst/>
              <a:uLnTx/>
              <a:uFillTx/>
              <a:latin typeface="Calibri" panose="020F0502020204030204" pitchFamily="34" charset="0"/>
              <a:ea typeface="+mn-ea"/>
              <a:cs typeface="+mn-cs"/>
            </a:rPr>
            <a:t>OUR</a:t>
          </a:r>
          <a:r>
            <a:rPr kumimoji="0" lang="en-US" sz="1300" b="1" i="0" u="none" strike="noStrike" kern="1200" cap="none" spc="0" normalizeH="0" baseline="0">
              <a:ln>
                <a:noFill/>
              </a:ln>
              <a:solidFill>
                <a:srgbClr val="FFFFFF"/>
              </a:solidFill>
              <a:effectLst/>
              <a:uLnTx/>
              <a:uFillTx/>
              <a:latin typeface="Calibri" panose="020F0502020204030204" pitchFamily="34" charset="0"/>
              <a:ea typeface="+mn-ea"/>
              <a:cs typeface="+mn-cs"/>
            </a:rPr>
            <a:t> </a:t>
          </a:r>
          <a:r>
            <a:rPr kumimoji="0" lang="en-US" sz="1600" b="1" i="0" u="none" strike="noStrike" kern="1200" cap="none" spc="0" normalizeH="0" baseline="0">
              <a:ln>
                <a:noFill/>
              </a:ln>
              <a:solidFill>
                <a:srgbClr val="FFFFFF"/>
              </a:solidFill>
              <a:effectLst/>
              <a:uLnTx/>
              <a:uFillTx/>
              <a:latin typeface="Calibri" panose="020F0502020204030204" pitchFamily="34" charset="0"/>
              <a:ea typeface="+mn-ea"/>
              <a:cs typeface="+mn-cs"/>
            </a:rPr>
            <a:t>SOLUTION</a:t>
          </a:r>
        </a:p>
      </dgm:t>
    </dgm:pt>
    <dgm:pt modelId="{E5F993B4-555A-4D64-859F-41E5C6039E24}" type="parTrans" cxnId="{A2A6FB24-0405-466A-AFCA-A5A515C45638}">
      <dgm:prSet/>
      <dgm:spPr/>
      <dgm:t>
        <a:bodyPr/>
        <a:lstStyle/>
        <a:p>
          <a:endParaRPr lang="en-US"/>
        </a:p>
      </dgm:t>
    </dgm:pt>
    <dgm:pt modelId="{57153F3B-D33F-4803-B66F-2D6A84C33377}" type="sibTrans" cxnId="{A2A6FB24-0405-466A-AFCA-A5A515C45638}">
      <dgm:prSet/>
      <dgm:spPr/>
      <dgm:t>
        <a:bodyPr/>
        <a:lstStyle/>
        <a:p>
          <a:endParaRPr lang="en-US"/>
        </a:p>
      </dgm:t>
    </dgm:pt>
    <dgm:pt modelId="{D23C8FA6-4239-4E52-8886-D2FDE650F054}">
      <dgm:prSet phldrT="[Text]" custT="1"/>
      <dgm:spPr>
        <a:solidFill>
          <a:schemeClr val="bg1">
            <a:alpha val="90000"/>
          </a:schemeClr>
        </a:solidFill>
        <a:ln>
          <a:solidFill>
            <a:schemeClr val="tx1">
              <a:alpha val="90000"/>
            </a:schemeClr>
          </a:solidFill>
        </a:ln>
      </dgm:spPr>
      <dgm:t>
        <a:bodyPr spcFirstLastPara="0" vert="horz" wrap="square" lIns="114300" tIns="0" rIns="113585" bIns="0" numCol="1" spcCol="1270" anchor="ctr" anchorCtr="0"/>
        <a:lstStyle/>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Modular Python‑based FIA modeling framework</a:t>
          </a:r>
        </a:p>
      </dgm:t>
    </dgm:pt>
    <dgm:pt modelId="{F058D7CC-483C-49E0-89EB-8D488B3CCC8D}" type="parTrans" cxnId="{B78B3B3D-9C0B-489D-8457-66F1B3624E0B}">
      <dgm:prSet/>
      <dgm:spPr/>
      <dgm:t>
        <a:bodyPr/>
        <a:lstStyle/>
        <a:p>
          <a:endParaRPr lang="en-US"/>
        </a:p>
      </dgm:t>
    </dgm:pt>
    <dgm:pt modelId="{EB63F72B-4B49-40BC-AAE0-1E50B89C8C7D}" type="sibTrans" cxnId="{B78B3B3D-9C0B-489D-8457-66F1B3624E0B}">
      <dgm:prSet/>
      <dgm:spPr/>
      <dgm:t>
        <a:bodyPr/>
        <a:lstStyle/>
        <a:p>
          <a:endParaRPr lang="en-US"/>
        </a:p>
      </dgm:t>
    </dgm:pt>
    <dgm:pt modelId="{E59E7D97-9F72-4868-A0B5-F3AD558426CE}">
      <dgm:prSet phldrT="[Text]" custT="1">
        <dgm:style>
          <a:lnRef idx="0">
            <a:schemeClr val="accent1"/>
          </a:lnRef>
          <a:fillRef idx="3">
            <a:schemeClr val="accent1"/>
          </a:fillRef>
          <a:effectRef idx="3">
            <a:schemeClr val="accent1"/>
          </a:effectRef>
          <a:fontRef idx="minor">
            <a:schemeClr val="lt1"/>
          </a:fontRef>
        </dgm:style>
      </dgm:prSet>
      <dgm:spPr>
        <a:solidFill>
          <a:schemeClr val="accent3"/>
        </a:solidFill>
        <a:ln/>
        <a:effectLst/>
      </dgm:spPr>
      <dgm:t>
        <a:bodyPr spcFirstLastPara="0" vert="horz" wrap="none" lIns="0" tIns="0" rIns="0" bIns="0" numCol="1" spcCol="1270" anchor="ctr" anchorCtr="1"/>
        <a:lstStyle/>
        <a:p>
          <a:pPr marL="0" marR="0" lvl="0" indent="0" algn="ctr" defTabSz="533400" rtl="0" eaLnBrk="1" fontAlgn="auto" latinLnBrk="0" hangingPunct="1">
            <a:lnSpc>
              <a:spcPct val="113000"/>
            </a:lnSpc>
            <a:spcBef>
              <a:spcPct val="0"/>
            </a:spcBef>
            <a:spcAft>
              <a:spcPct val="35000"/>
            </a:spcAft>
            <a:buClrTx/>
            <a:buSzTx/>
            <a:buFontTx/>
            <a:buNone/>
            <a:tabLst/>
            <a:defRPr/>
          </a:pPr>
          <a:r>
            <a:rPr kumimoji="0" lang="en-US" sz="1600" b="1" i="0" u="none" strike="noStrike" kern="1200" cap="none" spc="0" normalizeH="0" baseline="0">
              <a:ln>
                <a:noFill/>
              </a:ln>
              <a:solidFill>
                <a:srgbClr val="FFFFFF"/>
              </a:solidFill>
              <a:effectLst/>
              <a:uLnTx/>
              <a:uFillTx/>
              <a:latin typeface="Calibri" panose="020F0502020204030204" pitchFamily="34" charset="0"/>
              <a:ea typeface="+mn-ea"/>
              <a:cs typeface="+mn-cs"/>
            </a:rPr>
            <a:t>CLIENT</a:t>
          </a:r>
          <a:r>
            <a:rPr kumimoji="0" lang="en-US" sz="1300" b="1" i="0" u="none" strike="noStrike" kern="1200" cap="none" spc="0" normalizeH="0" baseline="0">
              <a:ln>
                <a:noFill/>
              </a:ln>
              <a:solidFill>
                <a:srgbClr val="FFFFFF"/>
              </a:solidFill>
              <a:effectLst/>
              <a:uLnTx/>
              <a:uFillTx/>
              <a:latin typeface="Calibri" panose="020F0502020204030204" pitchFamily="34" charset="0"/>
              <a:ea typeface="+mn-ea"/>
              <a:cs typeface="+mn-cs"/>
            </a:rPr>
            <a:t> </a:t>
          </a:r>
          <a:r>
            <a:rPr kumimoji="0" lang="en-US" sz="1600" b="1" i="0" u="none" strike="noStrike" kern="1200" cap="none" spc="0" normalizeH="0" baseline="0">
              <a:ln>
                <a:noFill/>
              </a:ln>
              <a:solidFill>
                <a:srgbClr val="FFFFFF"/>
              </a:solidFill>
              <a:effectLst/>
              <a:uLnTx/>
              <a:uFillTx/>
              <a:latin typeface="Calibri" panose="020F0502020204030204" pitchFamily="34" charset="0"/>
              <a:ea typeface="+mn-ea"/>
              <a:cs typeface="+mn-cs"/>
            </a:rPr>
            <a:t>VALUE</a:t>
          </a:r>
        </a:p>
      </dgm:t>
    </dgm:pt>
    <dgm:pt modelId="{BF7DC707-1BA0-4B11-A4F5-0E8D401E1C3E}" type="parTrans" cxnId="{0715AD3B-4EA8-4FD9-A9AF-867E9AE907FD}">
      <dgm:prSet/>
      <dgm:spPr/>
      <dgm:t>
        <a:bodyPr/>
        <a:lstStyle/>
        <a:p>
          <a:endParaRPr lang="en-US"/>
        </a:p>
      </dgm:t>
    </dgm:pt>
    <dgm:pt modelId="{E3F7765A-9D5D-41E7-8614-17A8AC9A14BA}" type="sibTrans" cxnId="{0715AD3B-4EA8-4FD9-A9AF-867E9AE907FD}">
      <dgm:prSet/>
      <dgm:spPr/>
      <dgm:t>
        <a:bodyPr/>
        <a:lstStyle/>
        <a:p>
          <a:endParaRPr lang="en-US"/>
        </a:p>
      </dgm:t>
    </dgm:pt>
    <dgm:pt modelId="{2348815F-BE05-4A18-BE86-29B8A44BEAAF}">
      <dgm:prSet phldrT="[Text]" custT="1"/>
      <dgm:spPr>
        <a:solidFill>
          <a:schemeClr val="bg1">
            <a:alpha val="90000"/>
          </a:schemeClr>
        </a:solidFill>
        <a:ln>
          <a:solidFill>
            <a:schemeClr val="tx1">
              <a:alpha val="90000"/>
            </a:schemeClr>
          </a:solidFill>
        </a:ln>
      </dgm:spPr>
      <dgm:t>
        <a:bodyPr spcFirstLastPara="0" vert="horz" wrap="square" lIns="114300" tIns="0" rIns="113585" bIns="0" numCol="1" spcCol="1270" anchor="ctr" anchorCtr="0"/>
        <a:lstStyle/>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Faster execution and reduced turnaround time</a:t>
          </a:r>
        </a:p>
      </dgm:t>
    </dgm:pt>
    <dgm:pt modelId="{296CE957-A895-4A0B-84BA-BBDB925DA973}" type="parTrans" cxnId="{FD4A50B8-4A29-46B1-B635-A9C103C3AFA5}">
      <dgm:prSet/>
      <dgm:spPr/>
      <dgm:t>
        <a:bodyPr/>
        <a:lstStyle/>
        <a:p>
          <a:endParaRPr lang="en-US"/>
        </a:p>
      </dgm:t>
    </dgm:pt>
    <dgm:pt modelId="{D79800DB-DBC3-4A08-98BE-045B20DE9370}" type="sibTrans" cxnId="{FD4A50B8-4A29-46B1-B635-A9C103C3AFA5}">
      <dgm:prSet/>
      <dgm:spPr/>
      <dgm:t>
        <a:bodyPr/>
        <a:lstStyle/>
        <a:p>
          <a:endParaRPr lang="en-US"/>
        </a:p>
      </dgm:t>
    </dgm:pt>
    <dgm:pt modelId="{4E0691EB-3D72-4BB9-87F1-B96C13BC174E}">
      <dgm:prSet custT="1"/>
      <dgm:spPr>
        <a:solidFill>
          <a:schemeClr val="bg1">
            <a:alpha val="90000"/>
          </a:schemeClr>
        </a:solidFill>
        <a:ln>
          <a:solidFill>
            <a:schemeClr val="tx1">
              <a:alpha val="90000"/>
            </a:schemeClr>
          </a:solidFill>
        </a:ln>
      </dgm:spPr>
      <dgm:t>
        <a:bodyPr spcFirstLastPara="0" vert="horz" wrap="square" lIns="114300" tIns="0" rIns="113585" bIns="0" numCol="1" spcCol="1270" anchor="ctr" anchorCtr="0"/>
        <a:lstStyle/>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Limited transparency and audit traceability</a:t>
          </a:r>
        </a:p>
      </dgm:t>
    </dgm:pt>
    <dgm:pt modelId="{0C464350-DC7C-41F1-8269-C42CB11B0805}" type="parTrans" cxnId="{841CC906-6668-454D-BB47-9E2176151319}">
      <dgm:prSet/>
      <dgm:spPr/>
      <dgm:t>
        <a:bodyPr/>
        <a:lstStyle/>
        <a:p>
          <a:endParaRPr lang="en-US"/>
        </a:p>
      </dgm:t>
    </dgm:pt>
    <dgm:pt modelId="{755DC058-E74F-4648-95E2-318C58C8174A}" type="sibTrans" cxnId="{841CC906-6668-454D-BB47-9E2176151319}">
      <dgm:prSet/>
      <dgm:spPr/>
      <dgm:t>
        <a:bodyPr/>
        <a:lstStyle/>
        <a:p>
          <a:endParaRPr lang="en-US"/>
        </a:p>
      </dgm:t>
    </dgm:pt>
    <dgm:pt modelId="{FD47039D-0619-4F84-82E6-4FFB3FA493FD}">
      <dgm:prSet custT="1"/>
      <dgm:spPr>
        <a:solidFill>
          <a:schemeClr val="bg1">
            <a:alpha val="90000"/>
          </a:schemeClr>
        </a:solidFill>
        <a:ln>
          <a:solidFill>
            <a:schemeClr val="tx1">
              <a:alpha val="90000"/>
            </a:schemeClr>
          </a:solidFill>
        </a:ln>
      </dgm:spPr>
      <dgm:t>
        <a:bodyPr spcFirstLastPara="0" vert="horz" wrap="square" lIns="114300" tIns="0" rIns="113585" bIns="0" numCol="1" spcCol="1270" anchor="ctr" anchorCtr="0"/>
        <a:lstStyle/>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Performance issues at higher policy volumes</a:t>
          </a:r>
        </a:p>
      </dgm:t>
    </dgm:pt>
    <dgm:pt modelId="{CABA093D-0743-4D47-9C04-DC62CBA1B786}" type="parTrans" cxnId="{728EF0B0-6B71-4B54-9CBD-8D59B7F2005F}">
      <dgm:prSet/>
      <dgm:spPr/>
      <dgm:t>
        <a:bodyPr/>
        <a:lstStyle/>
        <a:p>
          <a:endParaRPr lang="en-US"/>
        </a:p>
      </dgm:t>
    </dgm:pt>
    <dgm:pt modelId="{65B3C26D-6AB0-4701-AFDE-7CC345266105}" type="sibTrans" cxnId="{728EF0B0-6B71-4B54-9CBD-8D59B7F2005F}">
      <dgm:prSet/>
      <dgm:spPr/>
      <dgm:t>
        <a:bodyPr/>
        <a:lstStyle/>
        <a:p>
          <a:endParaRPr lang="en-US"/>
        </a:p>
      </dgm:t>
    </dgm:pt>
    <dgm:pt modelId="{9CF7A578-1D7D-4D1A-9748-3834F1BEFEF5}">
      <dgm:prSet custT="1"/>
      <dgm:spPr>
        <a:solidFill>
          <a:schemeClr val="bg1">
            <a:alpha val="90000"/>
          </a:schemeClr>
        </a:solidFill>
        <a:ln>
          <a:solidFill>
            <a:schemeClr val="tx1">
              <a:alpha val="90000"/>
            </a:schemeClr>
          </a:solidFill>
        </a:ln>
      </dgm:spPr>
      <dgm:t>
        <a:bodyPr spcFirstLastPara="0" vert="horz" wrap="square" lIns="114300" tIns="0" rIns="113585" bIns="0" numCol="1" spcCol="1270" anchor="ctr" anchorCtr="0"/>
        <a:lstStyle/>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Complex change management for assumptions</a:t>
          </a:r>
          <a:endParaRPr lang="en-US" sz="1600" kern="1200">
            <a:latin typeface="Calibri" panose="020F0502020204030204"/>
            <a:ea typeface="+mn-ea"/>
            <a:cs typeface="+mn-cs"/>
          </a:endParaRPr>
        </a:p>
      </dgm:t>
    </dgm:pt>
    <dgm:pt modelId="{3453A7DF-BFFA-4DE3-9096-E6DB0B7A6547}" type="parTrans" cxnId="{EA6A634B-BBF0-4223-9254-E10A0BDBA297}">
      <dgm:prSet/>
      <dgm:spPr/>
      <dgm:t>
        <a:bodyPr/>
        <a:lstStyle/>
        <a:p>
          <a:endParaRPr lang="en-US"/>
        </a:p>
      </dgm:t>
    </dgm:pt>
    <dgm:pt modelId="{DE48C386-19E4-482F-9182-173DC22DA77D}" type="sibTrans" cxnId="{EA6A634B-BBF0-4223-9254-E10A0BDBA297}">
      <dgm:prSet/>
      <dgm:spPr/>
      <dgm:t>
        <a:bodyPr/>
        <a:lstStyle/>
        <a:p>
          <a:endParaRPr lang="en-US"/>
        </a:p>
      </dgm:t>
    </dgm:pt>
    <dgm:pt modelId="{9E40C30E-3A95-48C1-A7D4-A36C78BCBB2C}">
      <dgm:prSet custT="1"/>
      <dgm:spPr>
        <a:solidFill>
          <a:schemeClr val="bg1">
            <a:alpha val="90000"/>
          </a:schemeClr>
        </a:solidFill>
        <a:ln>
          <a:solidFill>
            <a:schemeClr val="tx1">
              <a:alpha val="90000"/>
            </a:schemeClr>
          </a:solidFill>
        </a:ln>
      </dgm:spPr>
      <dgm:t>
        <a:bodyPr spcFirstLastPara="0" vert="horz" wrap="square" lIns="114300" tIns="0" rIns="113585" bIns="0" numCol="1" spcCol="1270" anchor="ctr" anchorCtr="0"/>
        <a:lstStyle/>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Centralized assumptions and formula logic</a:t>
          </a:r>
        </a:p>
      </dgm:t>
    </dgm:pt>
    <dgm:pt modelId="{44F2E7B8-38AC-4D95-9662-5B170DB683D9}" type="parTrans" cxnId="{73AAFD03-FFFA-441C-8621-FD06E843A33E}">
      <dgm:prSet/>
      <dgm:spPr/>
      <dgm:t>
        <a:bodyPr/>
        <a:lstStyle/>
        <a:p>
          <a:endParaRPr lang="en-US"/>
        </a:p>
      </dgm:t>
    </dgm:pt>
    <dgm:pt modelId="{B10663B1-58F2-4752-B172-9152AD1AB810}" type="sibTrans" cxnId="{73AAFD03-FFFA-441C-8621-FD06E843A33E}">
      <dgm:prSet/>
      <dgm:spPr/>
      <dgm:t>
        <a:bodyPr/>
        <a:lstStyle/>
        <a:p>
          <a:endParaRPr lang="en-US"/>
        </a:p>
      </dgm:t>
    </dgm:pt>
    <dgm:pt modelId="{97ACA503-CFE4-4A21-B0A2-860095B4C35B}">
      <dgm:prSet custT="1"/>
      <dgm:spPr>
        <a:solidFill>
          <a:schemeClr val="bg1">
            <a:alpha val="90000"/>
          </a:schemeClr>
        </a:solidFill>
        <a:ln>
          <a:solidFill>
            <a:schemeClr val="tx1">
              <a:alpha val="90000"/>
            </a:schemeClr>
          </a:solidFill>
        </a:ln>
      </dgm:spPr>
      <dgm:t>
        <a:bodyPr spcFirstLastPara="0" vert="horz" wrap="square" lIns="114300" tIns="0" rIns="113585" bIns="0" numCol="1" spcCol="1270" anchor="ctr" anchorCtr="0"/>
        <a:lstStyle/>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Automated, repeatable, and auditable execution</a:t>
          </a:r>
        </a:p>
      </dgm:t>
    </dgm:pt>
    <dgm:pt modelId="{4A6EC36C-A0AF-4985-B30C-8C0DE6A90201}" type="parTrans" cxnId="{DC2E313A-A455-4891-80E4-6096DA0D503B}">
      <dgm:prSet/>
      <dgm:spPr/>
      <dgm:t>
        <a:bodyPr/>
        <a:lstStyle/>
        <a:p>
          <a:endParaRPr lang="en-US"/>
        </a:p>
      </dgm:t>
    </dgm:pt>
    <dgm:pt modelId="{F9B17A41-8C4D-4A21-9579-D7FE401E8908}" type="sibTrans" cxnId="{DC2E313A-A455-4891-80E4-6096DA0D503B}">
      <dgm:prSet/>
      <dgm:spPr/>
      <dgm:t>
        <a:bodyPr/>
        <a:lstStyle/>
        <a:p>
          <a:endParaRPr lang="en-US"/>
        </a:p>
      </dgm:t>
    </dgm:pt>
    <dgm:pt modelId="{58DAE124-6FA9-4BB8-AB3E-F44E16D5F0E7}">
      <dgm:prSet custT="1"/>
      <dgm:spPr>
        <a:solidFill>
          <a:schemeClr val="bg1">
            <a:alpha val="90000"/>
          </a:schemeClr>
        </a:solidFill>
        <a:ln>
          <a:solidFill>
            <a:schemeClr val="tx1">
              <a:alpha val="90000"/>
            </a:schemeClr>
          </a:solidFill>
        </a:ln>
      </dgm:spPr>
      <dgm:t>
        <a:bodyPr spcFirstLastPara="0" vert="horz" wrap="square" lIns="114300" tIns="0" rIns="113585" bIns="0" numCol="1" spcCol="1270" anchor="ctr" anchorCtr="0"/>
        <a:lstStyle/>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Aligned to existing actuarial workflows</a:t>
          </a:r>
        </a:p>
      </dgm:t>
    </dgm:pt>
    <dgm:pt modelId="{48BCE90A-BF69-4585-841B-A38471E7DE7F}" type="parTrans" cxnId="{65E866DD-ADA1-4461-B64C-F1E65998001C}">
      <dgm:prSet/>
      <dgm:spPr/>
      <dgm:t>
        <a:bodyPr/>
        <a:lstStyle/>
        <a:p>
          <a:endParaRPr lang="en-US"/>
        </a:p>
      </dgm:t>
    </dgm:pt>
    <dgm:pt modelId="{9F994EE7-C98C-4F63-BB53-3E4EB84D658F}" type="sibTrans" cxnId="{65E866DD-ADA1-4461-B64C-F1E65998001C}">
      <dgm:prSet/>
      <dgm:spPr/>
      <dgm:t>
        <a:bodyPr/>
        <a:lstStyle/>
        <a:p>
          <a:endParaRPr lang="en-US"/>
        </a:p>
      </dgm:t>
    </dgm:pt>
    <dgm:pt modelId="{E18C2CE1-A701-4BD0-8668-5382FDD42E90}">
      <dgm:prSet custT="1">
        <dgm:style>
          <a:lnRef idx="0">
            <a:schemeClr val="accent1"/>
          </a:lnRef>
          <a:fillRef idx="3">
            <a:schemeClr val="accent1"/>
          </a:fillRef>
          <a:effectRef idx="3">
            <a:schemeClr val="accent1"/>
          </a:effectRef>
          <a:fontRef idx="minor">
            <a:schemeClr val="lt1"/>
          </a:fontRef>
        </dgm:style>
      </dgm:prSet>
      <dgm:spPr>
        <a:solidFill>
          <a:schemeClr val="accent3"/>
        </a:solidFill>
        <a:ln/>
        <a:effectLst/>
      </dgm:spPr>
      <dgm:t>
        <a:bodyPr spcFirstLastPara="0" vert="horz" wrap="none" lIns="0" tIns="0" rIns="0" bIns="0" numCol="1" spcCol="1270" anchor="ctr" anchorCtr="1"/>
        <a:lstStyle/>
        <a:p>
          <a:pPr marL="0" marR="0" lvl="0" indent="0" algn="ctr" defTabSz="533400" rtl="0" eaLnBrk="1" fontAlgn="auto" latinLnBrk="0" hangingPunct="1">
            <a:lnSpc>
              <a:spcPct val="113000"/>
            </a:lnSpc>
            <a:spcBef>
              <a:spcPct val="0"/>
            </a:spcBef>
            <a:spcAft>
              <a:spcPct val="35000"/>
            </a:spcAft>
            <a:buClrTx/>
            <a:buSzTx/>
            <a:buFontTx/>
            <a:buNone/>
            <a:tabLst/>
            <a:defRPr/>
          </a:pPr>
          <a:r>
            <a:rPr kumimoji="0" lang="en-US" sz="1600" b="1" i="0" u="none" strike="noStrike" kern="1200" cap="none" spc="0" normalizeH="0" baseline="0">
              <a:ln>
                <a:noFill/>
              </a:ln>
              <a:solidFill>
                <a:srgbClr val="FFFFFF"/>
              </a:solidFill>
              <a:effectLst/>
              <a:uLnTx/>
              <a:uFillTx/>
              <a:latin typeface="Calibri" panose="020F0502020204030204" pitchFamily="34" charset="0"/>
              <a:ea typeface="+mn-ea"/>
              <a:cs typeface="+mn-cs"/>
            </a:rPr>
            <a:t>SCOPE</a:t>
          </a:r>
          <a:r>
            <a:rPr kumimoji="0" lang="en-US" sz="1300" b="1" i="0" u="none" strike="noStrike" kern="1200" cap="none" spc="0" normalizeH="0" baseline="0">
              <a:ln>
                <a:noFill/>
              </a:ln>
              <a:solidFill>
                <a:srgbClr val="FFFFFF"/>
              </a:solidFill>
              <a:effectLst/>
              <a:uLnTx/>
              <a:uFillTx/>
              <a:latin typeface="Calibri" panose="020F0502020204030204" pitchFamily="34" charset="0"/>
              <a:ea typeface="+mn-ea"/>
              <a:cs typeface="+mn-cs"/>
            </a:rPr>
            <a:t> </a:t>
          </a:r>
          <a:r>
            <a:rPr kumimoji="0" lang="en-US" sz="1600" b="1" i="0" u="none" strike="noStrike" kern="1200" cap="none" spc="0" normalizeH="0" baseline="0">
              <a:ln>
                <a:noFill/>
              </a:ln>
              <a:solidFill>
                <a:srgbClr val="FFFFFF"/>
              </a:solidFill>
              <a:effectLst/>
              <a:uLnTx/>
              <a:uFillTx/>
              <a:latin typeface="Calibri" panose="020F0502020204030204" pitchFamily="34" charset="0"/>
              <a:ea typeface="+mn-ea"/>
              <a:cs typeface="+mn-cs"/>
            </a:rPr>
            <a:t>OF</a:t>
          </a:r>
          <a:r>
            <a:rPr kumimoji="0" lang="en-US" sz="1300" b="1" i="0" u="none" strike="noStrike" kern="1200" cap="none" spc="0" normalizeH="0" baseline="0">
              <a:ln>
                <a:noFill/>
              </a:ln>
              <a:solidFill>
                <a:srgbClr val="FFFFFF"/>
              </a:solidFill>
              <a:effectLst/>
              <a:uLnTx/>
              <a:uFillTx/>
              <a:latin typeface="Calibri" panose="020F0502020204030204" pitchFamily="34" charset="0"/>
              <a:ea typeface="+mn-ea"/>
              <a:cs typeface="+mn-cs"/>
            </a:rPr>
            <a:t> </a:t>
          </a:r>
          <a:r>
            <a:rPr kumimoji="0" lang="en-US" sz="1600" b="1" i="0" u="none" strike="noStrike" kern="1200" cap="none" spc="0" normalizeH="0" baseline="0">
              <a:ln>
                <a:noFill/>
              </a:ln>
              <a:solidFill>
                <a:srgbClr val="FFFFFF"/>
              </a:solidFill>
              <a:effectLst/>
              <a:uLnTx/>
              <a:uFillTx/>
              <a:latin typeface="Calibri" panose="020F0502020204030204" pitchFamily="34" charset="0"/>
              <a:ea typeface="+mn-ea"/>
              <a:cs typeface="+mn-cs"/>
            </a:rPr>
            <a:t>WORK</a:t>
          </a:r>
        </a:p>
      </dgm:t>
    </dgm:pt>
    <dgm:pt modelId="{64FD4F03-F46B-4FFE-BCD9-C36403CD7D09}" type="parTrans" cxnId="{6F3523BC-9812-45A0-8632-BFEDBE685A64}">
      <dgm:prSet/>
      <dgm:spPr/>
      <dgm:t>
        <a:bodyPr/>
        <a:lstStyle/>
        <a:p>
          <a:endParaRPr lang="en-US"/>
        </a:p>
      </dgm:t>
    </dgm:pt>
    <dgm:pt modelId="{D75A3E4F-7A81-4A20-B465-0B8EFA0330FD}" type="sibTrans" cxnId="{6F3523BC-9812-45A0-8632-BFEDBE685A64}">
      <dgm:prSet/>
      <dgm:spPr/>
      <dgm:t>
        <a:bodyPr/>
        <a:lstStyle/>
        <a:p>
          <a:endParaRPr lang="en-US"/>
        </a:p>
      </dgm:t>
    </dgm:pt>
    <dgm:pt modelId="{28C13582-6BD5-4999-BA68-40E311354F60}">
      <dgm:prSet custT="1"/>
      <dgm:spPr>
        <a:solidFill>
          <a:schemeClr val="bg1">
            <a:alpha val="90000"/>
          </a:schemeClr>
        </a:solidFill>
        <a:ln>
          <a:solidFill>
            <a:schemeClr val="tx1">
              <a:alpha val="90000"/>
            </a:schemeClr>
          </a:solidFill>
        </a:ln>
      </dgm:spPr>
      <dgm:t>
        <a:bodyPr spcFirstLastPara="0" vert="horz" wrap="square" lIns="114300" tIns="0" rIns="113585" bIns="0" numCol="1" spcCol="1270" anchor="ctr" anchorCtr="0"/>
        <a:lstStyle/>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Replicate FIA validation logic with output reconciliation</a:t>
          </a:r>
        </a:p>
      </dgm:t>
    </dgm:pt>
    <dgm:pt modelId="{EAE165CE-9709-437A-B97F-18CAF0224271}" type="parTrans" cxnId="{335D2FFC-3517-4CA6-96F2-99B4895D0194}">
      <dgm:prSet/>
      <dgm:spPr/>
      <dgm:t>
        <a:bodyPr/>
        <a:lstStyle/>
        <a:p>
          <a:endParaRPr lang="en-US"/>
        </a:p>
      </dgm:t>
    </dgm:pt>
    <dgm:pt modelId="{2C92D968-FBD1-42A5-926B-E29A9CAF82BD}" type="sibTrans" cxnId="{335D2FFC-3517-4CA6-96F2-99B4895D0194}">
      <dgm:prSet/>
      <dgm:spPr/>
      <dgm:t>
        <a:bodyPr/>
        <a:lstStyle/>
        <a:p>
          <a:endParaRPr lang="en-US"/>
        </a:p>
      </dgm:t>
    </dgm:pt>
    <dgm:pt modelId="{4ABEFB5C-865C-4129-B473-65A4A56C2798}">
      <dgm:prSet custT="1"/>
      <dgm:spPr>
        <a:solidFill>
          <a:schemeClr val="bg1">
            <a:alpha val="90000"/>
          </a:schemeClr>
        </a:solidFill>
        <a:ln>
          <a:solidFill>
            <a:schemeClr val="tx1">
              <a:alpha val="90000"/>
            </a:schemeClr>
          </a:solidFill>
        </a:ln>
      </dgm:spPr>
      <dgm:t>
        <a:bodyPr spcFirstLastPara="0" vert="horz" wrap="square" lIns="114300" tIns="0" rIns="113585" bIns="0" numCol="1" spcCol="1270" anchor="ctr" anchorCtr="0"/>
        <a:lstStyle/>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Modular separation of data, assumptions, calculations, outputs</a:t>
          </a:r>
        </a:p>
      </dgm:t>
    </dgm:pt>
    <dgm:pt modelId="{7B210476-A25C-4490-8325-F8144A17D882}" type="parTrans" cxnId="{45A82833-3558-4543-B319-C3F51A3EA505}">
      <dgm:prSet/>
      <dgm:spPr/>
      <dgm:t>
        <a:bodyPr/>
        <a:lstStyle/>
        <a:p>
          <a:endParaRPr lang="en-US"/>
        </a:p>
      </dgm:t>
    </dgm:pt>
    <dgm:pt modelId="{86018426-584C-42B4-8B5F-2E9AAC891DB0}" type="sibTrans" cxnId="{45A82833-3558-4543-B319-C3F51A3EA505}">
      <dgm:prSet/>
      <dgm:spPr/>
      <dgm:t>
        <a:bodyPr/>
        <a:lstStyle/>
        <a:p>
          <a:endParaRPr lang="en-US"/>
        </a:p>
      </dgm:t>
    </dgm:pt>
    <dgm:pt modelId="{3FB4E240-3393-4AB1-B348-70EDF41552D6}">
      <dgm:prSet custT="1"/>
      <dgm:spPr>
        <a:solidFill>
          <a:schemeClr val="bg1">
            <a:alpha val="90000"/>
          </a:schemeClr>
        </a:solidFill>
        <a:ln>
          <a:solidFill>
            <a:schemeClr val="tx1">
              <a:alpha val="90000"/>
            </a:schemeClr>
          </a:solidFill>
        </a:ln>
      </dgm:spPr>
      <dgm:t>
        <a:bodyPr spcFirstLastPara="0" vert="horz" wrap="square" lIns="114300" tIns="0" rIns="113585" bIns="0" numCol="1" spcCol="1270" anchor="ctr" anchorCtr="0"/>
        <a:lstStyle/>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Axis integration as single source of inputs</a:t>
          </a:r>
        </a:p>
      </dgm:t>
    </dgm:pt>
    <dgm:pt modelId="{0DE6858F-2395-4B10-A659-8843B60EE0DD}" type="parTrans" cxnId="{8296865D-5C31-403D-9ED1-2C6F3C89978B}">
      <dgm:prSet/>
      <dgm:spPr/>
      <dgm:t>
        <a:bodyPr/>
        <a:lstStyle/>
        <a:p>
          <a:endParaRPr lang="en-US"/>
        </a:p>
      </dgm:t>
    </dgm:pt>
    <dgm:pt modelId="{38AD2881-F36B-46C0-83AB-1F3F369EF155}" type="sibTrans" cxnId="{8296865D-5C31-403D-9ED1-2C6F3C89978B}">
      <dgm:prSet/>
      <dgm:spPr/>
      <dgm:t>
        <a:bodyPr/>
        <a:lstStyle/>
        <a:p>
          <a:endParaRPr lang="en-US"/>
        </a:p>
      </dgm:t>
    </dgm:pt>
    <dgm:pt modelId="{AC76FA4F-6B7C-4E54-9A0E-271389C8AA00}">
      <dgm:prSet custT="1"/>
      <dgm:spPr>
        <a:solidFill>
          <a:schemeClr val="bg1">
            <a:alpha val="90000"/>
          </a:schemeClr>
        </a:solidFill>
        <a:ln>
          <a:solidFill>
            <a:schemeClr val="tx1">
              <a:alpha val="90000"/>
            </a:schemeClr>
          </a:solidFill>
        </a:ln>
      </dgm:spPr>
      <dgm:t>
        <a:bodyPr spcFirstLastPara="0" vert="horz" wrap="square" lIns="114300" tIns="0" rIns="113585" bIns="0" numCol="1" spcCol="1270" anchor="ctr" anchorCtr="0"/>
        <a:lstStyle/>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Multi‑policy processing and reporting layer</a:t>
          </a:r>
        </a:p>
      </dgm:t>
    </dgm:pt>
    <dgm:pt modelId="{8215CBC1-C742-4A7B-97C8-0B875357015A}" type="parTrans" cxnId="{25703C52-2EDE-4C2A-B2E6-14D80717E49B}">
      <dgm:prSet/>
      <dgm:spPr/>
      <dgm:t>
        <a:bodyPr/>
        <a:lstStyle/>
        <a:p>
          <a:endParaRPr lang="en-US"/>
        </a:p>
      </dgm:t>
    </dgm:pt>
    <dgm:pt modelId="{9F0DB084-938C-4C48-82CA-CE1F8D9A191B}" type="sibTrans" cxnId="{25703C52-2EDE-4C2A-B2E6-14D80717E49B}">
      <dgm:prSet/>
      <dgm:spPr/>
      <dgm:t>
        <a:bodyPr/>
        <a:lstStyle/>
        <a:p>
          <a:endParaRPr lang="en-US"/>
        </a:p>
      </dgm:t>
    </dgm:pt>
    <dgm:pt modelId="{F2D44835-1C2D-4D09-8735-18398DA56B0B}">
      <dgm:prSet custT="1"/>
      <dgm:spPr>
        <a:solidFill>
          <a:schemeClr val="bg1">
            <a:alpha val="90000"/>
          </a:schemeClr>
        </a:solidFill>
        <a:ln>
          <a:solidFill>
            <a:schemeClr val="tx1">
              <a:alpha val="90000"/>
            </a:schemeClr>
          </a:solidFill>
        </a:ln>
      </dgm:spPr>
      <dgm:t>
        <a:bodyPr spcFirstLastPara="0" vert="horz" wrap="square" lIns="114300" tIns="0" rIns="113585" bIns="0" numCol="1" spcCol="1270" anchor="ctr" anchorCtr="0"/>
        <a:lstStyle/>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Built‑in audit traceability and structured debugging</a:t>
          </a:r>
        </a:p>
      </dgm:t>
    </dgm:pt>
    <dgm:pt modelId="{FC314554-A0D8-4FA6-A6D6-DBCADE96633B}" type="parTrans" cxnId="{769060AC-C9C8-4294-B468-CC86BBA6734F}">
      <dgm:prSet/>
      <dgm:spPr/>
      <dgm:t>
        <a:bodyPr/>
        <a:lstStyle/>
        <a:p>
          <a:endParaRPr lang="en-US"/>
        </a:p>
      </dgm:t>
    </dgm:pt>
    <dgm:pt modelId="{35C56359-8C95-4B05-ABFA-A393A535BD11}" type="sibTrans" cxnId="{769060AC-C9C8-4294-B468-CC86BBA6734F}">
      <dgm:prSet/>
      <dgm:spPr/>
      <dgm:t>
        <a:bodyPr/>
        <a:lstStyle/>
        <a:p>
          <a:endParaRPr lang="en-US"/>
        </a:p>
      </dgm:t>
    </dgm:pt>
    <dgm:pt modelId="{756E20E3-0B2F-48DF-8FAD-EBE532324F3E}">
      <dgm:prSet custT="1"/>
      <dgm:spPr>
        <a:solidFill>
          <a:schemeClr val="bg1">
            <a:alpha val="90000"/>
          </a:schemeClr>
        </a:solidFill>
        <a:ln>
          <a:solidFill>
            <a:schemeClr val="tx1">
              <a:alpha val="90000"/>
            </a:schemeClr>
          </a:solidFill>
        </a:ln>
      </dgm:spPr>
      <dgm:t>
        <a:bodyPr spcFirstLastPara="0" vert="horz" wrap="square" lIns="114300" tIns="0" rIns="113585" bIns="0" numCol="1" spcCol="1270" anchor="ctr" anchorCtr="0"/>
        <a:lstStyle/>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Lower operational risk and manual dependency</a:t>
          </a:r>
        </a:p>
      </dgm:t>
    </dgm:pt>
    <dgm:pt modelId="{285EA184-9518-4F3E-965E-D418083AC4E7}" type="parTrans" cxnId="{79E77C5F-956B-400F-A7DF-BF495C2BD2B6}">
      <dgm:prSet/>
      <dgm:spPr/>
      <dgm:t>
        <a:bodyPr/>
        <a:lstStyle/>
        <a:p>
          <a:endParaRPr lang="en-US"/>
        </a:p>
      </dgm:t>
    </dgm:pt>
    <dgm:pt modelId="{99B883B3-BDBD-4F77-956D-3CF20423404C}" type="sibTrans" cxnId="{79E77C5F-956B-400F-A7DF-BF495C2BD2B6}">
      <dgm:prSet/>
      <dgm:spPr/>
      <dgm:t>
        <a:bodyPr/>
        <a:lstStyle/>
        <a:p>
          <a:endParaRPr lang="en-US"/>
        </a:p>
      </dgm:t>
    </dgm:pt>
    <dgm:pt modelId="{51F7A804-9068-49C6-9C43-6A09115DDD5B}">
      <dgm:prSet custT="1"/>
      <dgm:spPr>
        <a:solidFill>
          <a:schemeClr val="bg1">
            <a:alpha val="90000"/>
          </a:schemeClr>
        </a:solidFill>
        <a:ln>
          <a:solidFill>
            <a:schemeClr val="tx1">
              <a:alpha val="90000"/>
            </a:schemeClr>
          </a:solidFill>
        </a:ln>
      </dgm:spPr>
      <dgm:t>
        <a:bodyPr spcFirstLastPara="0" vert="horz" wrap="square" lIns="114300" tIns="0" rIns="113585" bIns="0" numCol="1" spcCol="1270" anchor="ctr" anchorCtr="0"/>
        <a:lstStyle/>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Audit‑ready, regulator‑friendly outputs</a:t>
          </a:r>
        </a:p>
      </dgm:t>
    </dgm:pt>
    <dgm:pt modelId="{1EFCD89C-F900-457D-BC07-7BDFD7B083CB}" type="parTrans" cxnId="{0BE37EE3-DB8B-4D6F-913E-821B939755F7}">
      <dgm:prSet/>
      <dgm:spPr/>
      <dgm:t>
        <a:bodyPr/>
        <a:lstStyle/>
        <a:p>
          <a:endParaRPr lang="en-US"/>
        </a:p>
      </dgm:t>
    </dgm:pt>
    <dgm:pt modelId="{00967D30-4B73-46CB-9822-656A44055196}" type="sibTrans" cxnId="{0BE37EE3-DB8B-4D6F-913E-821B939755F7}">
      <dgm:prSet/>
      <dgm:spPr/>
      <dgm:t>
        <a:bodyPr/>
        <a:lstStyle/>
        <a:p>
          <a:endParaRPr lang="en-US"/>
        </a:p>
      </dgm:t>
    </dgm:pt>
    <dgm:pt modelId="{E56348B9-67AF-41BD-ADA2-D2656667FB6A}">
      <dgm:prSet custT="1"/>
      <dgm:spPr>
        <a:solidFill>
          <a:schemeClr val="bg1">
            <a:alpha val="90000"/>
          </a:schemeClr>
        </a:solidFill>
        <a:ln>
          <a:solidFill>
            <a:schemeClr val="tx1">
              <a:alpha val="90000"/>
            </a:schemeClr>
          </a:solidFill>
        </a:ln>
      </dgm:spPr>
      <dgm:t>
        <a:bodyPr spcFirstLastPara="0" vert="horz" wrap="square" lIns="114300" tIns="0" rIns="113585" bIns="0" numCol="1" spcCol="1270" anchor="ctr" anchorCtr="0"/>
        <a:lstStyle/>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Flexible foundation for future product expansion</a:t>
          </a:r>
        </a:p>
      </dgm:t>
    </dgm:pt>
    <dgm:pt modelId="{CED581F2-F6D6-4AB1-BAE4-B94CEDD4DE6D}" type="parTrans" cxnId="{CA9CF149-B133-4FA5-BAED-4E2470FE9528}">
      <dgm:prSet/>
      <dgm:spPr/>
      <dgm:t>
        <a:bodyPr/>
        <a:lstStyle/>
        <a:p>
          <a:endParaRPr lang="en-US"/>
        </a:p>
      </dgm:t>
    </dgm:pt>
    <dgm:pt modelId="{1C2AE1CB-672A-45EB-94D0-5F5C0733EE3F}" type="sibTrans" cxnId="{CA9CF149-B133-4FA5-BAED-4E2470FE9528}">
      <dgm:prSet/>
      <dgm:spPr/>
      <dgm:t>
        <a:bodyPr/>
        <a:lstStyle/>
        <a:p>
          <a:endParaRPr lang="en-US"/>
        </a:p>
      </dgm:t>
    </dgm:pt>
    <dgm:pt modelId="{A59C7A14-E551-4557-8540-2AF9F1294EFC}" type="pres">
      <dgm:prSet presAssocID="{91ECF2B5-EFCC-44DE-9623-FA3985D5F4A2}" presName="Name0" presStyleCnt="0">
        <dgm:presLayoutVars>
          <dgm:dir/>
          <dgm:animLvl val="lvl"/>
          <dgm:resizeHandles val="exact"/>
        </dgm:presLayoutVars>
      </dgm:prSet>
      <dgm:spPr/>
    </dgm:pt>
    <dgm:pt modelId="{307E9267-B4D2-4A6A-95A0-4D70259FE141}" type="pres">
      <dgm:prSet presAssocID="{CE053B9C-EF65-42F2-B0E3-5E6F6F75C9A0}" presName="composite" presStyleCnt="0"/>
      <dgm:spPr/>
    </dgm:pt>
    <dgm:pt modelId="{BC06B27C-AF3E-4C35-8CCF-79485472C3A2}" type="pres">
      <dgm:prSet presAssocID="{CE053B9C-EF65-42F2-B0E3-5E6F6F75C9A0}" presName="parTx" presStyleLbl="alignNode1" presStyleIdx="0" presStyleCnt="4">
        <dgm:presLayoutVars>
          <dgm:chMax val="0"/>
          <dgm:chPref val="0"/>
          <dgm:bulletEnabled val="1"/>
        </dgm:presLayoutVars>
      </dgm:prSet>
      <dgm:spPr>
        <a:xfrm>
          <a:off x="4071" y="607051"/>
          <a:ext cx="2448366" cy="979346"/>
        </a:xfrm>
        <a:prstGeom prst="rect">
          <a:avLst/>
        </a:prstGeom>
      </dgm:spPr>
    </dgm:pt>
    <dgm:pt modelId="{1D467B5B-4A6B-466B-85D4-2BC38E165FA0}" type="pres">
      <dgm:prSet presAssocID="{CE053B9C-EF65-42F2-B0E3-5E6F6F75C9A0}" presName="desTx" presStyleLbl="alignAccFollowNode1" presStyleIdx="0" presStyleCnt="4">
        <dgm:presLayoutVars>
          <dgm:bulletEnabled val="1"/>
        </dgm:presLayoutVars>
      </dgm:prSet>
      <dgm:spPr/>
    </dgm:pt>
    <dgm:pt modelId="{DBD57555-56C2-4927-ADE3-C142860EB1FD}" type="pres">
      <dgm:prSet presAssocID="{0CE7B25F-BAE1-4106-82A0-D670510F0252}" presName="space" presStyleCnt="0"/>
      <dgm:spPr/>
    </dgm:pt>
    <dgm:pt modelId="{E5A1544A-9412-4670-8ADF-85F4F7E5E03B}" type="pres">
      <dgm:prSet presAssocID="{BC4FC635-32CD-48EA-A215-A78DC1AA3844}" presName="composite" presStyleCnt="0"/>
      <dgm:spPr/>
    </dgm:pt>
    <dgm:pt modelId="{03BAA669-588D-40C1-88F3-056C4DC1CBAA}" type="pres">
      <dgm:prSet presAssocID="{BC4FC635-32CD-48EA-A215-A78DC1AA3844}" presName="parTx" presStyleLbl="alignNode1" presStyleIdx="1" presStyleCnt="4">
        <dgm:presLayoutVars>
          <dgm:chMax val="0"/>
          <dgm:chPref val="0"/>
          <dgm:bulletEnabled val="1"/>
        </dgm:presLayoutVars>
      </dgm:prSet>
      <dgm:spPr>
        <a:xfrm>
          <a:off x="2795209" y="607051"/>
          <a:ext cx="2448366" cy="979346"/>
        </a:xfrm>
        <a:prstGeom prst="rect">
          <a:avLst/>
        </a:prstGeom>
      </dgm:spPr>
    </dgm:pt>
    <dgm:pt modelId="{9F4F6C32-53B9-4A81-B2DF-6706D9EC2A9F}" type="pres">
      <dgm:prSet presAssocID="{BC4FC635-32CD-48EA-A215-A78DC1AA3844}" presName="desTx" presStyleLbl="alignAccFollowNode1" presStyleIdx="1" presStyleCnt="4">
        <dgm:presLayoutVars>
          <dgm:bulletEnabled val="1"/>
        </dgm:presLayoutVars>
      </dgm:prSet>
      <dgm:spPr>
        <a:xfrm>
          <a:off x="2644905" y="1293766"/>
          <a:ext cx="2316712" cy="2882250"/>
        </a:xfrm>
        <a:prstGeom prst="rect">
          <a:avLst/>
        </a:prstGeom>
      </dgm:spPr>
    </dgm:pt>
    <dgm:pt modelId="{A5DBC24E-E481-4749-96B6-B9D43FF33064}" type="pres">
      <dgm:prSet presAssocID="{57153F3B-D33F-4803-B66F-2D6A84C33377}" presName="space" presStyleCnt="0"/>
      <dgm:spPr/>
    </dgm:pt>
    <dgm:pt modelId="{8F5DB569-F9C1-41E7-B13E-CBC35DC80B36}" type="pres">
      <dgm:prSet presAssocID="{E18C2CE1-A701-4BD0-8668-5382FDD42E90}" presName="composite" presStyleCnt="0"/>
      <dgm:spPr/>
    </dgm:pt>
    <dgm:pt modelId="{D7EAE1CF-E2F5-459E-86D8-E3E2C84E7B83}" type="pres">
      <dgm:prSet presAssocID="{E18C2CE1-A701-4BD0-8668-5382FDD42E90}" presName="parTx" presStyleLbl="alignNode1" presStyleIdx="2" presStyleCnt="4">
        <dgm:presLayoutVars>
          <dgm:chMax val="0"/>
          <dgm:chPref val="0"/>
          <dgm:bulletEnabled val="1"/>
        </dgm:presLayoutVars>
      </dgm:prSet>
      <dgm:spPr>
        <a:xfrm>
          <a:off x="5586348" y="607051"/>
          <a:ext cx="2448366" cy="979346"/>
        </a:xfrm>
        <a:prstGeom prst="rect">
          <a:avLst/>
        </a:prstGeom>
      </dgm:spPr>
    </dgm:pt>
    <dgm:pt modelId="{14F8AB43-A790-44F5-B37B-A7358B6E5F8C}" type="pres">
      <dgm:prSet presAssocID="{E18C2CE1-A701-4BD0-8668-5382FDD42E90}" presName="desTx" presStyleLbl="alignAccFollowNode1" presStyleIdx="2" presStyleCnt="4">
        <dgm:presLayoutVars>
          <dgm:bulletEnabled val="1"/>
        </dgm:presLayoutVars>
      </dgm:prSet>
      <dgm:spPr>
        <a:xfrm>
          <a:off x="5285958" y="1293766"/>
          <a:ext cx="2316712" cy="2882250"/>
        </a:xfrm>
        <a:prstGeom prst="rect">
          <a:avLst/>
        </a:prstGeom>
      </dgm:spPr>
    </dgm:pt>
    <dgm:pt modelId="{258BABF5-38B7-4F2B-89EC-FED313184C8D}" type="pres">
      <dgm:prSet presAssocID="{D75A3E4F-7A81-4A20-B465-0B8EFA0330FD}" presName="space" presStyleCnt="0"/>
      <dgm:spPr/>
    </dgm:pt>
    <dgm:pt modelId="{40DCA0DE-BB2A-424A-A198-1184C753E0D4}" type="pres">
      <dgm:prSet presAssocID="{E59E7D97-9F72-4868-A0B5-F3AD558426CE}" presName="composite" presStyleCnt="0"/>
      <dgm:spPr/>
    </dgm:pt>
    <dgm:pt modelId="{6C110C0F-BD23-41E2-9718-98D343FDF519}" type="pres">
      <dgm:prSet presAssocID="{E59E7D97-9F72-4868-A0B5-F3AD558426CE}" presName="parTx" presStyleLbl="alignNode1" presStyleIdx="3" presStyleCnt="4">
        <dgm:presLayoutVars>
          <dgm:chMax val="0"/>
          <dgm:chPref val="0"/>
          <dgm:bulletEnabled val="1"/>
        </dgm:presLayoutVars>
      </dgm:prSet>
      <dgm:spPr>
        <a:xfrm>
          <a:off x="8377486" y="607051"/>
          <a:ext cx="2448366" cy="979346"/>
        </a:xfrm>
        <a:prstGeom prst="rect">
          <a:avLst/>
        </a:prstGeom>
      </dgm:spPr>
    </dgm:pt>
    <dgm:pt modelId="{59E6D004-B451-486B-A25B-EA643BA46236}" type="pres">
      <dgm:prSet presAssocID="{E59E7D97-9F72-4868-A0B5-F3AD558426CE}" presName="desTx" presStyleLbl="alignAccFollowNode1" presStyleIdx="3" presStyleCnt="4">
        <dgm:presLayoutVars>
          <dgm:bulletEnabled val="1"/>
        </dgm:presLayoutVars>
      </dgm:prSet>
      <dgm:spPr/>
    </dgm:pt>
  </dgm:ptLst>
  <dgm:cxnLst>
    <dgm:cxn modelId="{8657DE00-8E8B-4CAB-B9AF-F0DD7D63A381}" type="presOf" srcId="{9CF7A578-1D7D-4D1A-9748-3834F1BEFEF5}" destId="{1D467B5B-4A6B-466B-85D4-2BC38E165FA0}" srcOrd="0" destOrd="3" presId="urn:microsoft.com/office/officeart/2005/8/layout/hList1"/>
    <dgm:cxn modelId="{C6E1A203-0FEF-4770-B059-F4731DEC10FB}" type="presOf" srcId="{E56348B9-67AF-41BD-ADA2-D2656667FB6A}" destId="{59E6D004-B451-486B-A25B-EA643BA46236}" srcOrd="0" destOrd="3" presId="urn:microsoft.com/office/officeart/2005/8/layout/hList1"/>
    <dgm:cxn modelId="{73AAFD03-FFFA-441C-8621-FD06E843A33E}" srcId="{BC4FC635-32CD-48EA-A215-A78DC1AA3844}" destId="{9E40C30E-3A95-48C1-A7D4-A36C78BCBB2C}" srcOrd="1" destOrd="0" parTransId="{44F2E7B8-38AC-4D95-9662-5B170DB683D9}" sibTransId="{B10663B1-58F2-4752-B172-9152AD1AB810}"/>
    <dgm:cxn modelId="{B8036E04-5D45-4902-8533-1D94533FFE66}" type="presOf" srcId="{97ACA503-CFE4-4A21-B0A2-860095B4C35B}" destId="{9F4F6C32-53B9-4A81-B2DF-6706D9EC2A9F}" srcOrd="0" destOrd="2" presId="urn:microsoft.com/office/officeart/2005/8/layout/hList1"/>
    <dgm:cxn modelId="{841CC906-6668-454D-BB47-9E2176151319}" srcId="{CE053B9C-EF65-42F2-B0E3-5E6F6F75C9A0}" destId="{4E0691EB-3D72-4BB9-87F1-B96C13BC174E}" srcOrd="1" destOrd="0" parTransId="{0C464350-DC7C-41F1-8269-C42CB11B0805}" sibTransId="{755DC058-E74F-4648-95E2-318C58C8174A}"/>
    <dgm:cxn modelId="{0F4C5907-EDA6-4101-AE1D-9E4719297F2F}" srcId="{91ECF2B5-EFCC-44DE-9623-FA3985D5F4A2}" destId="{CE053B9C-EF65-42F2-B0E3-5E6F6F75C9A0}" srcOrd="0" destOrd="0" parTransId="{B2DF5A18-F0F1-406D-A5ED-138B7254C563}" sibTransId="{0CE7B25F-BAE1-4106-82A0-D670510F0252}"/>
    <dgm:cxn modelId="{01EA7809-C50C-4C03-856C-222BCE4CDAA2}" type="presOf" srcId="{28C13582-6BD5-4999-BA68-40E311354F60}" destId="{14F8AB43-A790-44F5-B37B-A7358B6E5F8C}" srcOrd="0" destOrd="0" presId="urn:microsoft.com/office/officeart/2005/8/layout/hList1"/>
    <dgm:cxn modelId="{88A09C19-BEB9-4BC0-83DE-FBA34E87201F}" type="presOf" srcId="{4E0691EB-3D72-4BB9-87F1-B96C13BC174E}" destId="{1D467B5B-4A6B-466B-85D4-2BC38E165FA0}" srcOrd="0" destOrd="1" presId="urn:microsoft.com/office/officeart/2005/8/layout/hList1"/>
    <dgm:cxn modelId="{B419A21D-9B89-464A-8FDD-F9133870A63A}" type="presOf" srcId="{51F7A804-9068-49C6-9C43-6A09115DDD5B}" destId="{59E6D004-B451-486B-A25B-EA643BA46236}" srcOrd="0" destOrd="2" presId="urn:microsoft.com/office/officeart/2005/8/layout/hList1"/>
    <dgm:cxn modelId="{A2A6FB24-0405-466A-AFCA-A5A515C45638}" srcId="{91ECF2B5-EFCC-44DE-9623-FA3985D5F4A2}" destId="{BC4FC635-32CD-48EA-A215-A78DC1AA3844}" srcOrd="1" destOrd="0" parTransId="{E5F993B4-555A-4D64-859F-41E5C6039E24}" sibTransId="{57153F3B-D33F-4803-B66F-2D6A84C33377}"/>
    <dgm:cxn modelId="{45A82833-3558-4543-B319-C3F51A3EA505}" srcId="{E18C2CE1-A701-4BD0-8668-5382FDD42E90}" destId="{4ABEFB5C-865C-4129-B473-65A4A56C2798}" srcOrd="1" destOrd="0" parTransId="{7B210476-A25C-4490-8325-F8144A17D882}" sibTransId="{86018426-584C-42B4-8B5F-2E9AAC891DB0}"/>
    <dgm:cxn modelId="{33C8B834-6EB7-42B5-9791-BE54C344394C}" type="presOf" srcId="{2348815F-BE05-4A18-BE86-29B8A44BEAAF}" destId="{59E6D004-B451-486B-A25B-EA643BA46236}" srcOrd="0" destOrd="0" presId="urn:microsoft.com/office/officeart/2005/8/layout/hList1"/>
    <dgm:cxn modelId="{DC2E313A-A455-4891-80E4-6096DA0D503B}" srcId="{BC4FC635-32CD-48EA-A215-A78DC1AA3844}" destId="{97ACA503-CFE4-4A21-B0A2-860095B4C35B}" srcOrd="2" destOrd="0" parTransId="{4A6EC36C-A0AF-4985-B30C-8C0DE6A90201}" sibTransId="{F9B17A41-8C4D-4A21-9579-D7FE401E8908}"/>
    <dgm:cxn modelId="{0715AD3B-4EA8-4FD9-A9AF-867E9AE907FD}" srcId="{91ECF2B5-EFCC-44DE-9623-FA3985D5F4A2}" destId="{E59E7D97-9F72-4868-A0B5-F3AD558426CE}" srcOrd="3" destOrd="0" parTransId="{BF7DC707-1BA0-4B11-A4F5-0E8D401E1C3E}" sibTransId="{E3F7765A-9D5D-41E7-8614-17A8AC9A14BA}"/>
    <dgm:cxn modelId="{B78B3B3D-9C0B-489D-8457-66F1B3624E0B}" srcId="{BC4FC635-32CD-48EA-A215-A78DC1AA3844}" destId="{D23C8FA6-4239-4E52-8886-D2FDE650F054}" srcOrd="0" destOrd="0" parTransId="{F058D7CC-483C-49E0-89EB-8D488B3CCC8D}" sibTransId="{EB63F72B-4B49-40BC-AAE0-1E50B89C8C7D}"/>
    <dgm:cxn modelId="{8296865D-5C31-403D-9ED1-2C6F3C89978B}" srcId="{E18C2CE1-A701-4BD0-8668-5382FDD42E90}" destId="{3FB4E240-3393-4AB1-B348-70EDF41552D6}" srcOrd="2" destOrd="0" parTransId="{0DE6858F-2395-4B10-A659-8843B60EE0DD}" sibTransId="{38AD2881-F36B-46C0-83AB-1F3F369EF155}"/>
    <dgm:cxn modelId="{79E77C5F-956B-400F-A7DF-BF495C2BD2B6}" srcId="{E59E7D97-9F72-4868-A0B5-F3AD558426CE}" destId="{756E20E3-0B2F-48DF-8FAD-EBE532324F3E}" srcOrd="1" destOrd="0" parTransId="{285EA184-9518-4F3E-965E-D418083AC4E7}" sibTransId="{99B883B3-BDBD-4F77-956D-3CF20423404C}"/>
    <dgm:cxn modelId="{74C5DE5F-81B3-46F9-8323-3E289EF8C09B}" type="presOf" srcId="{58DAE124-6FA9-4BB8-AB3E-F44E16D5F0E7}" destId="{9F4F6C32-53B9-4A81-B2DF-6706D9EC2A9F}" srcOrd="0" destOrd="3" presId="urn:microsoft.com/office/officeart/2005/8/layout/hList1"/>
    <dgm:cxn modelId="{9823C441-5F9E-4C08-AF1B-0DEB28CACA8E}" type="presOf" srcId="{4ABEFB5C-865C-4129-B473-65A4A56C2798}" destId="{14F8AB43-A790-44F5-B37B-A7358B6E5F8C}" srcOrd="0" destOrd="1" presId="urn:microsoft.com/office/officeart/2005/8/layout/hList1"/>
    <dgm:cxn modelId="{09779644-41C2-4651-84F9-DA0F0C37074E}" type="presOf" srcId="{AC76FA4F-6B7C-4E54-9A0E-271389C8AA00}" destId="{14F8AB43-A790-44F5-B37B-A7358B6E5F8C}" srcOrd="0" destOrd="3" presId="urn:microsoft.com/office/officeart/2005/8/layout/hList1"/>
    <dgm:cxn modelId="{CA9CF149-B133-4FA5-BAED-4E2470FE9528}" srcId="{E59E7D97-9F72-4868-A0B5-F3AD558426CE}" destId="{E56348B9-67AF-41BD-ADA2-D2656667FB6A}" srcOrd="3" destOrd="0" parTransId="{CED581F2-F6D6-4AB1-BAE4-B94CEDD4DE6D}" sibTransId="{1C2AE1CB-672A-45EB-94D0-5F5C0733EE3F}"/>
    <dgm:cxn modelId="{EA6A634B-BBF0-4223-9254-E10A0BDBA297}" srcId="{CE053B9C-EF65-42F2-B0E3-5E6F6F75C9A0}" destId="{9CF7A578-1D7D-4D1A-9748-3834F1BEFEF5}" srcOrd="3" destOrd="0" parTransId="{3453A7DF-BFFA-4DE3-9096-E6DB0B7A6547}" sibTransId="{DE48C386-19E4-482F-9182-173DC22DA77D}"/>
    <dgm:cxn modelId="{DDA9264E-206B-4C40-A17F-DCC18CBFE988}" type="presOf" srcId="{D23C8FA6-4239-4E52-8886-D2FDE650F054}" destId="{9F4F6C32-53B9-4A81-B2DF-6706D9EC2A9F}" srcOrd="0" destOrd="0" presId="urn:microsoft.com/office/officeart/2005/8/layout/hList1"/>
    <dgm:cxn modelId="{25703C52-2EDE-4C2A-B2E6-14D80717E49B}" srcId="{E18C2CE1-A701-4BD0-8668-5382FDD42E90}" destId="{AC76FA4F-6B7C-4E54-9A0E-271389C8AA00}" srcOrd="3" destOrd="0" parTransId="{8215CBC1-C742-4A7B-97C8-0B875357015A}" sibTransId="{9F0DB084-938C-4C48-82CA-CE1F8D9A191B}"/>
    <dgm:cxn modelId="{B9A07677-56FF-4C9A-950B-54D6871A25CC}" srcId="{CE053B9C-EF65-42F2-B0E3-5E6F6F75C9A0}" destId="{D5C55211-078F-44CE-A325-73809A55AA80}" srcOrd="0" destOrd="0" parTransId="{2A5AE108-A18E-4BA9-AF03-77A5848C1FDE}" sibTransId="{BFB88234-E65B-4BE5-9640-75AED9C3F679}"/>
    <dgm:cxn modelId="{049A438E-C0B0-4A50-84E0-F4FAF2116BD2}" type="presOf" srcId="{3FB4E240-3393-4AB1-B348-70EDF41552D6}" destId="{14F8AB43-A790-44F5-B37B-A7358B6E5F8C}" srcOrd="0" destOrd="2" presId="urn:microsoft.com/office/officeart/2005/8/layout/hList1"/>
    <dgm:cxn modelId="{EE203790-DD63-4E76-9C1D-7B41B2571ED2}" type="presOf" srcId="{FD47039D-0619-4F84-82E6-4FFB3FA493FD}" destId="{1D467B5B-4A6B-466B-85D4-2BC38E165FA0}" srcOrd="0" destOrd="2" presId="urn:microsoft.com/office/officeart/2005/8/layout/hList1"/>
    <dgm:cxn modelId="{11F8E09A-8FFE-49D9-8569-2F431FE00288}" type="presOf" srcId="{D5C55211-078F-44CE-A325-73809A55AA80}" destId="{1D467B5B-4A6B-466B-85D4-2BC38E165FA0}" srcOrd="0" destOrd="0" presId="urn:microsoft.com/office/officeart/2005/8/layout/hList1"/>
    <dgm:cxn modelId="{C922B19F-BA33-4A4C-8A2B-1D71C9328D53}" type="presOf" srcId="{BC4FC635-32CD-48EA-A215-A78DC1AA3844}" destId="{03BAA669-588D-40C1-88F3-056C4DC1CBAA}" srcOrd="0" destOrd="0" presId="urn:microsoft.com/office/officeart/2005/8/layout/hList1"/>
    <dgm:cxn modelId="{C4DC25A5-9B73-4ACD-AF4B-0CA08C085C00}" type="presOf" srcId="{F2D44835-1C2D-4D09-8735-18398DA56B0B}" destId="{14F8AB43-A790-44F5-B37B-A7358B6E5F8C}" srcOrd="0" destOrd="4" presId="urn:microsoft.com/office/officeart/2005/8/layout/hList1"/>
    <dgm:cxn modelId="{1D2E09A7-CD68-476D-882A-8D852A0BF114}" type="presOf" srcId="{CE053B9C-EF65-42F2-B0E3-5E6F6F75C9A0}" destId="{BC06B27C-AF3E-4C35-8CCF-79485472C3A2}" srcOrd="0" destOrd="0" presId="urn:microsoft.com/office/officeart/2005/8/layout/hList1"/>
    <dgm:cxn modelId="{769060AC-C9C8-4294-B468-CC86BBA6734F}" srcId="{E18C2CE1-A701-4BD0-8668-5382FDD42E90}" destId="{F2D44835-1C2D-4D09-8735-18398DA56B0B}" srcOrd="4" destOrd="0" parTransId="{FC314554-A0D8-4FA6-A6D6-DBCADE96633B}" sibTransId="{35C56359-8C95-4B05-ABFA-A393A535BD11}"/>
    <dgm:cxn modelId="{5697C8AD-F21F-4437-AA87-A335867E34D0}" type="presOf" srcId="{E18C2CE1-A701-4BD0-8668-5382FDD42E90}" destId="{D7EAE1CF-E2F5-459E-86D8-E3E2C84E7B83}" srcOrd="0" destOrd="0" presId="urn:microsoft.com/office/officeart/2005/8/layout/hList1"/>
    <dgm:cxn modelId="{728EF0B0-6B71-4B54-9CBD-8D59B7F2005F}" srcId="{CE053B9C-EF65-42F2-B0E3-5E6F6F75C9A0}" destId="{FD47039D-0619-4F84-82E6-4FFB3FA493FD}" srcOrd="2" destOrd="0" parTransId="{CABA093D-0743-4D47-9C04-DC62CBA1B786}" sibTransId="{65B3C26D-6AB0-4701-AFDE-7CC345266105}"/>
    <dgm:cxn modelId="{FD4A50B8-4A29-46B1-B635-A9C103C3AFA5}" srcId="{E59E7D97-9F72-4868-A0B5-F3AD558426CE}" destId="{2348815F-BE05-4A18-BE86-29B8A44BEAAF}" srcOrd="0" destOrd="0" parTransId="{296CE957-A895-4A0B-84BA-BBDB925DA973}" sibTransId="{D79800DB-DBC3-4A08-98BE-045B20DE9370}"/>
    <dgm:cxn modelId="{6F3523BC-9812-45A0-8632-BFEDBE685A64}" srcId="{91ECF2B5-EFCC-44DE-9623-FA3985D5F4A2}" destId="{E18C2CE1-A701-4BD0-8668-5382FDD42E90}" srcOrd="2" destOrd="0" parTransId="{64FD4F03-F46B-4FFE-BCD9-C36403CD7D09}" sibTransId="{D75A3E4F-7A81-4A20-B465-0B8EFA0330FD}"/>
    <dgm:cxn modelId="{74C10ACA-ACB6-4D48-BCAD-27F808F10D53}" type="presOf" srcId="{91ECF2B5-EFCC-44DE-9623-FA3985D5F4A2}" destId="{A59C7A14-E551-4557-8540-2AF9F1294EFC}" srcOrd="0" destOrd="0" presId="urn:microsoft.com/office/officeart/2005/8/layout/hList1"/>
    <dgm:cxn modelId="{C20347DC-0FB5-486F-B6CF-8040D887D09E}" type="presOf" srcId="{9E40C30E-3A95-48C1-A7D4-A36C78BCBB2C}" destId="{9F4F6C32-53B9-4A81-B2DF-6706D9EC2A9F}" srcOrd="0" destOrd="1" presId="urn:microsoft.com/office/officeart/2005/8/layout/hList1"/>
    <dgm:cxn modelId="{4D4D4DDC-E149-492E-B3BE-B919EB605A58}" type="presOf" srcId="{E59E7D97-9F72-4868-A0B5-F3AD558426CE}" destId="{6C110C0F-BD23-41E2-9718-98D343FDF519}" srcOrd="0" destOrd="0" presId="urn:microsoft.com/office/officeart/2005/8/layout/hList1"/>
    <dgm:cxn modelId="{65E866DD-ADA1-4461-B64C-F1E65998001C}" srcId="{BC4FC635-32CD-48EA-A215-A78DC1AA3844}" destId="{58DAE124-6FA9-4BB8-AB3E-F44E16D5F0E7}" srcOrd="3" destOrd="0" parTransId="{48BCE90A-BF69-4585-841B-A38471E7DE7F}" sibTransId="{9F994EE7-C98C-4F63-BB53-3E4EB84D658F}"/>
    <dgm:cxn modelId="{0BE37EE3-DB8B-4D6F-913E-821B939755F7}" srcId="{E59E7D97-9F72-4868-A0B5-F3AD558426CE}" destId="{51F7A804-9068-49C6-9C43-6A09115DDD5B}" srcOrd="2" destOrd="0" parTransId="{1EFCD89C-F900-457D-BC07-7BDFD7B083CB}" sibTransId="{00967D30-4B73-46CB-9822-656A44055196}"/>
    <dgm:cxn modelId="{138BA4F5-4501-498D-A945-D2521B8E28C4}" type="presOf" srcId="{756E20E3-0B2F-48DF-8FAD-EBE532324F3E}" destId="{59E6D004-B451-486B-A25B-EA643BA46236}" srcOrd="0" destOrd="1" presId="urn:microsoft.com/office/officeart/2005/8/layout/hList1"/>
    <dgm:cxn modelId="{335D2FFC-3517-4CA6-96F2-99B4895D0194}" srcId="{E18C2CE1-A701-4BD0-8668-5382FDD42E90}" destId="{28C13582-6BD5-4999-BA68-40E311354F60}" srcOrd="0" destOrd="0" parTransId="{EAE165CE-9709-437A-B97F-18CAF0224271}" sibTransId="{2C92D968-FBD1-42A5-926B-E29A9CAF82BD}"/>
    <dgm:cxn modelId="{E24A013C-8B64-44D8-92B5-AD90ABD506B1}" type="presParOf" srcId="{A59C7A14-E551-4557-8540-2AF9F1294EFC}" destId="{307E9267-B4D2-4A6A-95A0-4D70259FE141}" srcOrd="0" destOrd="0" presId="urn:microsoft.com/office/officeart/2005/8/layout/hList1"/>
    <dgm:cxn modelId="{2CCECCA0-EF1F-42DE-B3F0-4002F150300A}" type="presParOf" srcId="{307E9267-B4D2-4A6A-95A0-4D70259FE141}" destId="{BC06B27C-AF3E-4C35-8CCF-79485472C3A2}" srcOrd="0" destOrd="0" presId="urn:microsoft.com/office/officeart/2005/8/layout/hList1"/>
    <dgm:cxn modelId="{C211387A-B5AB-4AB5-94E1-E82C058AE01A}" type="presParOf" srcId="{307E9267-B4D2-4A6A-95A0-4D70259FE141}" destId="{1D467B5B-4A6B-466B-85D4-2BC38E165FA0}" srcOrd="1" destOrd="0" presId="urn:microsoft.com/office/officeart/2005/8/layout/hList1"/>
    <dgm:cxn modelId="{0AED96F6-D9BA-40F5-A9A2-948F166F4A4B}" type="presParOf" srcId="{A59C7A14-E551-4557-8540-2AF9F1294EFC}" destId="{DBD57555-56C2-4927-ADE3-C142860EB1FD}" srcOrd="1" destOrd="0" presId="urn:microsoft.com/office/officeart/2005/8/layout/hList1"/>
    <dgm:cxn modelId="{489C49A2-90D7-4FFC-B9EF-457768D4862D}" type="presParOf" srcId="{A59C7A14-E551-4557-8540-2AF9F1294EFC}" destId="{E5A1544A-9412-4670-8ADF-85F4F7E5E03B}" srcOrd="2" destOrd="0" presId="urn:microsoft.com/office/officeart/2005/8/layout/hList1"/>
    <dgm:cxn modelId="{2E7382C3-F1FC-4472-BD12-5A03550016D4}" type="presParOf" srcId="{E5A1544A-9412-4670-8ADF-85F4F7E5E03B}" destId="{03BAA669-588D-40C1-88F3-056C4DC1CBAA}" srcOrd="0" destOrd="0" presId="urn:microsoft.com/office/officeart/2005/8/layout/hList1"/>
    <dgm:cxn modelId="{46676FCA-68A1-4005-8592-08021DA70F75}" type="presParOf" srcId="{E5A1544A-9412-4670-8ADF-85F4F7E5E03B}" destId="{9F4F6C32-53B9-4A81-B2DF-6706D9EC2A9F}" srcOrd="1" destOrd="0" presId="urn:microsoft.com/office/officeart/2005/8/layout/hList1"/>
    <dgm:cxn modelId="{B6C6840C-129A-4EFE-8BE4-0301421614FB}" type="presParOf" srcId="{A59C7A14-E551-4557-8540-2AF9F1294EFC}" destId="{A5DBC24E-E481-4749-96B6-B9D43FF33064}" srcOrd="3" destOrd="0" presId="urn:microsoft.com/office/officeart/2005/8/layout/hList1"/>
    <dgm:cxn modelId="{24131008-79D3-47B7-93E0-37A5CFD23DD0}" type="presParOf" srcId="{A59C7A14-E551-4557-8540-2AF9F1294EFC}" destId="{8F5DB569-F9C1-41E7-B13E-CBC35DC80B36}" srcOrd="4" destOrd="0" presId="urn:microsoft.com/office/officeart/2005/8/layout/hList1"/>
    <dgm:cxn modelId="{8B24E0B7-F5E3-4029-9972-B8462A970C3B}" type="presParOf" srcId="{8F5DB569-F9C1-41E7-B13E-CBC35DC80B36}" destId="{D7EAE1CF-E2F5-459E-86D8-E3E2C84E7B83}" srcOrd="0" destOrd="0" presId="urn:microsoft.com/office/officeart/2005/8/layout/hList1"/>
    <dgm:cxn modelId="{9EB7047F-D370-42A8-AC90-A6E18B8E1079}" type="presParOf" srcId="{8F5DB569-F9C1-41E7-B13E-CBC35DC80B36}" destId="{14F8AB43-A790-44F5-B37B-A7358B6E5F8C}" srcOrd="1" destOrd="0" presId="urn:microsoft.com/office/officeart/2005/8/layout/hList1"/>
    <dgm:cxn modelId="{1516B102-0EC4-4F53-A790-AEA902F0EF96}" type="presParOf" srcId="{A59C7A14-E551-4557-8540-2AF9F1294EFC}" destId="{258BABF5-38B7-4F2B-89EC-FED313184C8D}" srcOrd="5" destOrd="0" presId="urn:microsoft.com/office/officeart/2005/8/layout/hList1"/>
    <dgm:cxn modelId="{068E9C39-149B-419D-85A6-CBABDF0CEDA9}" type="presParOf" srcId="{A59C7A14-E551-4557-8540-2AF9F1294EFC}" destId="{40DCA0DE-BB2A-424A-A198-1184C753E0D4}" srcOrd="6" destOrd="0" presId="urn:microsoft.com/office/officeart/2005/8/layout/hList1"/>
    <dgm:cxn modelId="{BD2B2833-CEC8-4FF0-90BF-989C84C8D8D5}" type="presParOf" srcId="{40DCA0DE-BB2A-424A-A198-1184C753E0D4}" destId="{6C110C0F-BD23-41E2-9718-98D343FDF519}" srcOrd="0" destOrd="0" presId="urn:microsoft.com/office/officeart/2005/8/layout/hList1"/>
    <dgm:cxn modelId="{DA4D4869-3707-4EEE-B893-56EF8165B92E}" type="presParOf" srcId="{40DCA0DE-BB2A-424A-A198-1184C753E0D4}" destId="{59E6D004-B451-486B-A25B-EA643BA46236}"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06B27C-AF3E-4C35-8CCF-79485472C3A2}">
      <dsp:nvSpPr>
        <dsp:cNvPr id="0" name=""/>
        <dsp:cNvSpPr/>
      </dsp:nvSpPr>
      <dsp:spPr>
        <a:xfrm>
          <a:off x="4071" y="802314"/>
          <a:ext cx="2448366" cy="979346"/>
        </a:xfrm>
        <a:prstGeom prst="rect">
          <a:avLst/>
        </a:prstGeom>
        <a:solidFill>
          <a:schemeClr val="accent3"/>
        </a:solidFill>
        <a:ln>
          <a:noFill/>
        </a:ln>
        <a:effectLst/>
      </dsp:spPr>
      <dsp:style>
        <a:lnRef idx="0">
          <a:schemeClr val="accent1"/>
        </a:lnRef>
        <a:fillRef idx="3">
          <a:schemeClr val="accent1"/>
        </a:fillRef>
        <a:effectRef idx="3">
          <a:schemeClr val="accent1"/>
        </a:effectRef>
        <a:fontRef idx="minor">
          <a:schemeClr val="lt1"/>
        </a:fontRef>
      </dsp:style>
      <dsp:txBody>
        <a:bodyPr spcFirstLastPara="0" vert="horz" wrap="square" lIns="0" tIns="0" rIns="0" bIns="0" numCol="1" spcCol="1270" anchor="ctr" anchorCtr="1">
          <a:noAutofit/>
        </a:bodyPr>
        <a:lstStyle/>
        <a:p>
          <a:pPr marL="0" marR="0" lvl="0" indent="0" algn="ctr" defTabSz="533400" rtl="0" eaLnBrk="1" fontAlgn="auto" latinLnBrk="0" hangingPunct="1">
            <a:lnSpc>
              <a:spcPct val="113000"/>
            </a:lnSpc>
            <a:spcBef>
              <a:spcPct val="0"/>
            </a:spcBef>
            <a:spcAft>
              <a:spcPct val="35000"/>
            </a:spcAft>
            <a:buClrTx/>
            <a:buSzTx/>
            <a:buFontTx/>
            <a:buNone/>
            <a:tabLst/>
            <a:defRPr/>
          </a:pPr>
          <a:r>
            <a:rPr kumimoji="0" lang="en-US" sz="1600" b="1" i="0" u="none" strike="noStrike" kern="1200" cap="none" spc="0" normalizeH="0" baseline="0">
              <a:ln>
                <a:noFill/>
              </a:ln>
              <a:solidFill>
                <a:srgbClr val="FFFFFF"/>
              </a:solidFill>
              <a:effectLst/>
              <a:uLnTx/>
              <a:uFillTx/>
              <a:latin typeface="Calibri" panose="020F0502020204030204" pitchFamily="34" charset="0"/>
              <a:ea typeface="+mn-ea"/>
              <a:cs typeface="+mn-cs"/>
            </a:rPr>
            <a:t>CLIENT CHALLENGES</a:t>
          </a:r>
        </a:p>
      </dsp:txBody>
      <dsp:txXfrm>
        <a:off x="4071" y="802314"/>
        <a:ext cx="2448366" cy="979346"/>
      </dsp:txXfrm>
    </dsp:sp>
    <dsp:sp modelId="{1D467B5B-4A6B-466B-85D4-2BC38E165FA0}">
      <dsp:nvSpPr>
        <dsp:cNvPr id="0" name=""/>
        <dsp:cNvSpPr/>
      </dsp:nvSpPr>
      <dsp:spPr>
        <a:xfrm>
          <a:off x="4071" y="1781660"/>
          <a:ext cx="2448366" cy="2854800"/>
        </a:xfrm>
        <a:prstGeom prst="rect">
          <a:avLst/>
        </a:prstGeom>
        <a:solidFill>
          <a:schemeClr val="bg1">
            <a:alpha val="90000"/>
          </a:schemeClr>
        </a:solidFill>
        <a:ln w="6350" cap="flat" cmpd="sng" algn="ctr">
          <a:solidFill>
            <a:schemeClr val="tx1">
              <a:alpha val="9000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14300" tIns="0" rIns="113585" bIns="0" numCol="1" spcCol="1270" anchor="ctr" anchorCtr="0">
          <a:noAutofit/>
        </a:bodyPr>
        <a:lstStyle/>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Manual and time‑intensive FIA validation in Excel</a:t>
          </a:r>
        </a:p>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Limited transparency and audit traceability</a:t>
          </a:r>
        </a:p>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Performance issues at higher policy volumes</a:t>
          </a:r>
        </a:p>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Complex change management for assumptions</a:t>
          </a:r>
          <a:endParaRPr lang="en-US" sz="1600" kern="1200">
            <a:latin typeface="Calibri" panose="020F0502020204030204"/>
            <a:ea typeface="+mn-ea"/>
            <a:cs typeface="+mn-cs"/>
          </a:endParaRPr>
        </a:p>
      </dsp:txBody>
      <dsp:txXfrm>
        <a:off x="4071" y="1781660"/>
        <a:ext cx="2448366" cy="2854800"/>
      </dsp:txXfrm>
    </dsp:sp>
    <dsp:sp modelId="{03BAA669-588D-40C1-88F3-056C4DC1CBAA}">
      <dsp:nvSpPr>
        <dsp:cNvPr id="0" name=""/>
        <dsp:cNvSpPr/>
      </dsp:nvSpPr>
      <dsp:spPr>
        <a:xfrm>
          <a:off x="2795209" y="802314"/>
          <a:ext cx="2448366" cy="979346"/>
        </a:xfrm>
        <a:prstGeom prst="rect">
          <a:avLst/>
        </a:prstGeom>
        <a:solidFill>
          <a:schemeClr val="accent3"/>
        </a:solidFill>
        <a:ln>
          <a:noFill/>
        </a:ln>
        <a:effectLst/>
      </dsp:spPr>
      <dsp:style>
        <a:lnRef idx="0">
          <a:schemeClr val="accent1"/>
        </a:lnRef>
        <a:fillRef idx="3">
          <a:schemeClr val="accent1"/>
        </a:fillRef>
        <a:effectRef idx="3">
          <a:schemeClr val="accent1"/>
        </a:effectRef>
        <a:fontRef idx="minor">
          <a:schemeClr val="lt1"/>
        </a:fontRef>
      </dsp:style>
      <dsp:txBody>
        <a:bodyPr spcFirstLastPara="0" vert="horz" wrap="square" lIns="0" tIns="0" rIns="0" bIns="0" numCol="1" spcCol="1270" anchor="ctr" anchorCtr="1">
          <a:noAutofit/>
        </a:bodyPr>
        <a:lstStyle/>
        <a:p>
          <a:pPr marL="0" marR="0" lvl="0" indent="0" algn="ctr" defTabSz="533400" rtl="0" eaLnBrk="1" fontAlgn="auto" latinLnBrk="0" hangingPunct="1">
            <a:lnSpc>
              <a:spcPct val="113000"/>
            </a:lnSpc>
            <a:spcBef>
              <a:spcPct val="0"/>
            </a:spcBef>
            <a:spcAft>
              <a:spcPct val="35000"/>
            </a:spcAft>
            <a:buClrTx/>
            <a:buSzTx/>
            <a:buFontTx/>
            <a:buNone/>
            <a:tabLst/>
            <a:defRPr/>
          </a:pPr>
          <a:r>
            <a:rPr kumimoji="0" lang="en-US" sz="1600" b="1" i="0" u="none" strike="noStrike" kern="1200" cap="none" spc="0" normalizeH="0" baseline="0">
              <a:ln>
                <a:noFill/>
              </a:ln>
              <a:solidFill>
                <a:srgbClr val="FFFFFF"/>
              </a:solidFill>
              <a:effectLst/>
              <a:uLnTx/>
              <a:uFillTx/>
              <a:latin typeface="Calibri" panose="020F0502020204030204" pitchFamily="34" charset="0"/>
              <a:ea typeface="+mn-ea"/>
              <a:cs typeface="+mn-cs"/>
            </a:rPr>
            <a:t>OUR</a:t>
          </a:r>
          <a:r>
            <a:rPr kumimoji="0" lang="en-US" sz="1300" b="1" i="0" u="none" strike="noStrike" kern="1200" cap="none" spc="0" normalizeH="0" baseline="0">
              <a:ln>
                <a:noFill/>
              </a:ln>
              <a:solidFill>
                <a:srgbClr val="FFFFFF"/>
              </a:solidFill>
              <a:effectLst/>
              <a:uLnTx/>
              <a:uFillTx/>
              <a:latin typeface="Calibri" panose="020F0502020204030204" pitchFamily="34" charset="0"/>
              <a:ea typeface="+mn-ea"/>
              <a:cs typeface="+mn-cs"/>
            </a:rPr>
            <a:t> </a:t>
          </a:r>
          <a:r>
            <a:rPr kumimoji="0" lang="en-US" sz="1600" b="1" i="0" u="none" strike="noStrike" kern="1200" cap="none" spc="0" normalizeH="0" baseline="0">
              <a:ln>
                <a:noFill/>
              </a:ln>
              <a:solidFill>
                <a:srgbClr val="FFFFFF"/>
              </a:solidFill>
              <a:effectLst/>
              <a:uLnTx/>
              <a:uFillTx/>
              <a:latin typeface="Calibri" panose="020F0502020204030204" pitchFamily="34" charset="0"/>
              <a:ea typeface="+mn-ea"/>
              <a:cs typeface="+mn-cs"/>
            </a:rPr>
            <a:t>SOLUTION</a:t>
          </a:r>
        </a:p>
      </dsp:txBody>
      <dsp:txXfrm>
        <a:off x="2795209" y="802314"/>
        <a:ext cx="2448366" cy="979346"/>
      </dsp:txXfrm>
    </dsp:sp>
    <dsp:sp modelId="{9F4F6C32-53B9-4A81-B2DF-6706D9EC2A9F}">
      <dsp:nvSpPr>
        <dsp:cNvPr id="0" name=""/>
        <dsp:cNvSpPr/>
      </dsp:nvSpPr>
      <dsp:spPr>
        <a:xfrm>
          <a:off x="2795209" y="1781660"/>
          <a:ext cx="2448366" cy="2854800"/>
        </a:xfrm>
        <a:prstGeom prst="rect">
          <a:avLst/>
        </a:prstGeom>
        <a:solidFill>
          <a:schemeClr val="bg1">
            <a:alpha val="90000"/>
          </a:schemeClr>
        </a:solidFill>
        <a:ln w="6350" cap="flat" cmpd="sng" algn="ctr">
          <a:solidFill>
            <a:schemeClr val="tx1">
              <a:alpha val="9000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14300" tIns="0" rIns="113585" bIns="0" numCol="1" spcCol="1270" anchor="ctr" anchorCtr="0">
          <a:noAutofit/>
        </a:bodyPr>
        <a:lstStyle/>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Modular Python‑based FIA modeling framework</a:t>
          </a:r>
        </a:p>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Centralized assumptions and formula logic</a:t>
          </a:r>
        </a:p>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Automated, repeatable, and auditable execution</a:t>
          </a:r>
        </a:p>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Aligned to existing actuarial workflows</a:t>
          </a:r>
        </a:p>
      </dsp:txBody>
      <dsp:txXfrm>
        <a:off x="2795209" y="1781660"/>
        <a:ext cx="2448366" cy="2854800"/>
      </dsp:txXfrm>
    </dsp:sp>
    <dsp:sp modelId="{D7EAE1CF-E2F5-459E-86D8-E3E2C84E7B83}">
      <dsp:nvSpPr>
        <dsp:cNvPr id="0" name=""/>
        <dsp:cNvSpPr/>
      </dsp:nvSpPr>
      <dsp:spPr>
        <a:xfrm>
          <a:off x="5586348" y="802314"/>
          <a:ext cx="2448366" cy="979346"/>
        </a:xfrm>
        <a:prstGeom prst="rect">
          <a:avLst/>
        </a:prstGeom>
        <a:solidFill>
          <a:schemeClr val="accent3"/>
        </a:solidFill>
        <a:ln>
          <a:noFill/>
        </a:ln>
        <a:effectLst/>
      </dsp:spPr>
      <dsp:style>
        <a:lnRef idx="0">
          <a:schemeClr val="accent1"/>
        </a:lnRef>
        <a:fillRef idx="3">
          <a:schemeClr val="accent1"/>
        </a:fillRef>
        <a:effectRef idx="3">
          <a:schemeClr val="accent1"/>
        </a:effectRef>
        <a:fontRef idx="minor">
          <a:schemeClr val="lt1"/>
        </a:fontRef>
      </dsp:style>
      <dsp:txBody>
        <a:bodyPr spcFirstLastPara="0" vert="horz" wrap="square" lIns="0" tIns="0" rIns="0" bIns="0" numCol="1" spcCol="1270" anchor="ctr" anchorCtr="1">
          <a:noAutofit/>
        </a:bodyPr>
        <a:lstStyle/>
        <a:p>
          <a:pPr marL="0" marR="0" lvl="0" indent="0" algn="ctr" defTabSz="533400" rtl="0" eaLnBrk="1" fontAlgn="auto" latinLnBrk="0" hangingPunct="1">
            <a:lnSpc>
              <a:spcPct val="113000"/>
            </a:lnSpc>
            <a:spcBef>
              <a:spcPct val="0"/>
            </a:spcBef>
            <a:spcAft>
              <a:spcPct val="35000"/>
            </a:spcAft>
            <a:buClrTx/>
            <a:buSzTx/>
            <a:buFontTx/>
            <a:buNone/>
            <a:tabLst/>
            <a:defRPr/>
          </a:pPr>
          <a:r>
            <a:rPr kumimoji="0" lang="en-US" sz="1600" b="1" i="0" u="none" strike="noStrike" kern="1200" cap="none" spc="0" normalizeH="0" baseline="0">
              <a:ln>
                <a:noFill/>
              </a:ln>
              <a:solidFill>
                <a:srgbClr val="FFFFFF"/>
              </a:solidFill>
              <a:effectLst/>
              <a:uLnTx/>
              <a:uFillTx/>
              <a:latin typeface="Calibri" panose="020F0502020204030204" pitchFamily="34" charset="0"/>
              <a:ea typeface="+mn-ea"/>
              <a:cs typeface="+mn-cs"/>
            </a:rPr>
            <a:t>SCOPE</a:t>
          </a:r>
          <a:r>
            <a:rPr kumimoji="0" lang="en-US" sz="1300" b="1" i="0" u="none" strike="noStrike" kern="1200" cap="none" spc="0" normalizeH="0" baseline="0">
              <a:ln>
                <a:noFill/>
              </a:ln>
              <a:solidFill>
                <a:srgbClr val="FFFFFF"/>
              </a:solidFill>
              <a:effectLst/>
              <a:uLnTx/>
              <a:uFillTx/>
              <a:latin typeface="Calibri" panose="020F0502020204030204" pitchFamily="34" charset="0"/>
              <a:ea typeface="+mn-ea"/>
              <a:cs typeface="+mn-cs"/>
            </a:rPr>
            <a:t> </a:t>
          </a:r>
          <a:r>
            <a:rPr kumimoji="0" lang="en-US" sz="1600" b="1" i="0" u="none" strike="noStrike" kern="1200" cap="none" spc="0" normalizeH="0" baseline="0">
              <a:ln>
                <a:noFill/>
              </a:ln>
              <a:solidFill>
                <a:srgbClr val="FFFFFF"/>
              </a:solidFill>
              <a:effectLst/>
              <a:uLnTx/>
              <a:uFillTx/>
              <a:latin typeface="Calibri" panose="020F0502020204030204" pitchFamily="34" charset="0"/>
              <a:ea typeface="+mn-ea"/>
              <a:cs typeface="+mn-cs"/>
            </a:rPr>
            <a:t>OF</a:t>
          </a:r>
          <a:r>
            <a:rPr kumimoji="0" lang="en-US" sz="1300" b="1" i="0" u="none" strike="noStrike" kern="1200" cap="none" spc="0" normalizeH="0" baseline="0">
              <a:ln>
                <a:noFill/>
              </a:ln>
              <a:solidFill>
                <a:srgbClr val="FFFFFF"/>
              </a:solidFill>
              <a:effectLst/>
              <a:uLnTx/>
              <a:uFillTx/>
              <a:latin typeface="Calibri" panose="020F0502020204030204" pitchFamily="34" charset="0"/>
              <a:ea typeface="+mn-ea"/>
              <a:cs typeface="+mn-cs"/>
            </a:rPr>
            <a:t> </a:t>
          </a:r>
          <a:r>
            <a:rPr kumimoji="0" lang="en-US" sz="1600" b="1" i="0" u="none" strike="noStrike" kern="1200" cap="none" spc="0" normalizeH="0" baseline="0">
              <a:ln>
                <a:noFill/>
              </a:ln>
              <a:solidFill>
                <a:srgbClr val="FFFFFF"/>
              </a:solidFill>
              <a:effectLst/>
              <a:uLnTx/>
              <a:uFillTx/>
              <a:latin typeface="Calibri" panose="020F0502020204030204" pitchFamily="34" charset="0"/>
              <a:ea typeface="+mn-ea"/>
              <a:cs typeface="+mn-cs"/>
            </a:rPr>
            <a:t>WORK</a:t>
          </a:r>
        </a:p>
      </dsp:txBody>
      <dsp:txXfrm>
        <a:off x="5586348" y="802314"/>
        <a:ext cx="2448366" cy="979346"/>
      </dsp:txXfrm>
    </dsp:sp>
    <dsp:sp modelId="{14F8AB43-A790-44F5-B37B-A7358B6E5F8C}">
      <dsp:nvSpPr>
        <dsp:cNvPr id="0" name=""/>
        <dsp:cNvSpPr/>
      </dsp:nvSpPr>
      <dsp:spPr>
        <a:xfrm>
          <a:off x="5586348" y="1781660"/>
          <a:ext cx="2448366" cy="2854800"/>
        </a:xfrm>
        <a:prstGeom prst="rect">
          <a:avLst/>
        </a:prstGeom>
        <a:solidFill>
          <a:schemeClr val="bg1">
            <a:alpha val="90000"/>
          </a:schemeClr>
        </a:solidFill>
        <a:ln w="6350" cap="flat" cmpd="sng" algn="ctr">
          <a:solidFill>
            <a:schemeClr val="tx1">
              <a:alpha val="9000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14300" tIns="0" rIns="113585" bIns="0" numCol="1" spcCol="1270" anchor="ctr" anchorCtr="0">
          <a:noAutofit/>
        </a:bodyPr>
        <a:lstStyle/>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Replicate FIA validation logic with output reconciliation</a:t>
          </a:r>
        </a:p>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Modular separation of data, assumptions, calculations, outputs</a:t>
          </a:r>
        </a:p>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Axis integration as single source of inputs</a:t>
          </a:r>
        </a:p>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Multi‑policy processing and reporting layer</a:t>
          </a:r>
        </a:p>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Built‑in audit traceability and structured debugging</a:t>
          </a:r>
        </a:p>
      </dsp:txBody>
      <dsp:txXfrm>
        <a:off x="5586348" y="1781660"/>
        <a:ext cx="2448366" cy="2854800"/>
      </dsp:txXfrm>
    </dsp:sp>
    <dsp:sp modelId="{6C110C0F-BD23-41E2-9718-98D343FDF519}">
      <dsp:nvSpPr>
        <dsp:cNvPr id="0" name=""/>
        <dsp:cNvSpPr/>
      </dsp:nvSpPr>
      <dsp:spPr>
        <a:xfrm>
          <a:off x="8377486" y="802314"/>
          <a:ext cx="2448366" cy="979346"/>
        </a:xfrm>
        <a:prstGeom prst="rect">
          <a:avLst/>
        </a:prstGeom>
        <a:solidFill>
          <a:schemeClr val="accent3"/>
        </a:solidFill>
        <a:ln>
          <a:noFill/>
        </a:ln>
        <a:effectLst/>
      </dsp:spPr>
      <dsp:style>
        <a:lnRef idx="0">
          <a:schemeClr val="accent1"/>
        </a:lnRef>
        <a:fillRef idx="3">
          <a:schemeClr val="accent1"/>
        </a:fillRef>
        <a:effectRef idx="3">
          <a:schemeClr val="accent1"/>
        </a:effectRef>
        <a:fontRef idx="minor">
          <a:schemeClr val="lt1"/>
        </a:fontRef>
      </dsp:style>
      <dsp:txBody>
        <a:bodyPr spcFirstLastPara="0" vert="horz" wrap="square" lIns="0" tIns="0" rIns="0" bIns="0" numCol="1" spcCol="1270" anchor="ctr" anchorCtr="1">
          <a:noAutofit/>
        </a:bodyPr>
        <a:lstStyle/>
        <a:p>
          <a:pPr marL="0" marR="0" lvl="0" indent="0" algn="ctr" defTabSz="533400" rtl="0" eaLnBrk="1" fontAlgn="auto" latinLnBrk="0" hangingPunct="1">
            <a:lnSpc>
              <a:spcPct val="113000"/>
            </a:lnSpc>
            <a:spcBef>
              <a:spcPct val="0"/>
            </a:spcBef>
            <a:spcAft>
              <a:spcPct val="35000"/>
            </a:spcAft>
            <a:buClrTx/>
            <a:buSzTx/>
            <a:buFontTx/>
            <a:buNone/>
            <a:tabLst/>
            <a:defRPr/>
          </a:pPr>
          <a:r>
            <a:rPr kumimoji="0" lang="en-US" sz="1600" b="1" i="0" u="none" strike="noStrike" kern="1200" cap="none" spc="0" normalizeH="0" baseline="0">
              <a:ln>
                <a:noFill/>
              </a:ln>
              <a:solidFill>
                <a:srgbClr val="FFFFFF"/>
              </a:solidFill>
              <a:effectLst/>
              <a:uLnTx/>
              <a:uFillTx/>
              <a:latin typeface="Calibri" panose="020F0502020204030204" pitchFamily="34" charset="0"/>
              <a:ea typeface="+mn-ea"/>
              <a:cs typeface="+mn-cs"/>
            </a:rPr>
            <a:t>CLIENT</a:t>
          </a:r>
          <a:r>
            <a:rPr kumimoji="0" lang="en-US" sz="1300" b="1" i="0" u="none" strike="noStrike" kern="1200" cap="none" spc="0" normalizeH="0" baseline="0">
              <a:ln>
                <a:noFill/>
              </a:ln>
              <a:solidFill>
                <a:srgbClr val="FFFFFF"/>
              </a:solidFill>
              <a:effectLst/>
              <a:uLnTx/>
              <a:uFillTx/>
              <a:latin typeface="Calibri" panose="020F0502020204030204" pitchFamily="34" charset="0"/>
              <a:ea typeface="+mn-ea"/>
              <a:cs typeface="+mn-cs"/>
            </a:rPr>
            <a:t> </a:t>
          </a:r>
          <a:r>
            <a:rPr kumimoji="0" lang="en-US" sz="1600" b="1" i="0" u="none" strike="noStrike" kern="1200" cap="none" spc="0" normalizeH="0" baseline="0">
              <a:ln>
                <a:noFill/>
              </a:ln>
              <a:solidFill>
                <a:srgbClr val="FFFFFF"/>
              </a:solidFill>
              <a:effectLst/>
              <a:uLnTx/>
              <a:uFillTx/>
              <a:latin typeface="Calibri" panose="020F0502020204030204" pitchFamily="34" charset="0"/>
              <a:ea typeface="+mn-ea"/>
              <a:cs typeface="+mn-cs"/>
            </a:rPr>
            <a:t>VALUE</a:t>
          </a:r>
        </a:p>
      </dsp:txBody>
      <dsp:txXfrm>
        <a:off x="8377486" y="802314"/>
        <a:ext cx="2448366" cy="979346"/>
      </dsp:txXfrm>
    </dsp:sp>
    <dsp:sp modelId="{59E6D004-B451-486B-A25B-EA643BA46236}">
      <dsp:nvSpPr>
        <dsp:cNvPr id="0" name=""/>
        <dsp:cNvSpPr/>
      </dsp:nvSpPr>
      <dsp:spPr>
        <a:xfrm>
          <a:off x="8377486" y="1781660"/>
          <a:ext cx="2448366" cy="2854800"/>
        </a:xfrm>
        <a:prstGeom prst="rect">
          <a:avLst/>
        </a:prstGeom>
        <a:solidFill>
          <a:schemeClr val="bg1">
            <a:alpha val="90000"/>
          </a:schemeClr>
        </a:solidFill>
        <a:ln w="6350" cap="flat" cmpd="sng" algn="ctr">
          <a:solidFill>
            <a:schemeClr val="tx1">
              <a:alpha val="9000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14300" tIns="0" rIns="113585" bIns="0" numCol="1" spcCol="1270" anchor="ctr" anchorCtr="0">
          <a:noAutofit/>
        </a:bodyPr>
        <a:lstStyle/>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Faster execution and reduced turnaround time</a:t>
          </a:r>
        </a:p>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Lower operational risk and manual dependency</a:t>
          </a:r>
        </a:p>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Audit‑ready, regulator‑friendly outputs</a:t>
          </a:r>
        </a:p>
        <a:p>
          <a:pPr marL="171450" lvl="0" indent="-171450" algn="l" defTabSz="800100">
            <a:lnSpc>
              <a:spcPct val="90000"/>
            </a:lnSpc>
            <a:spcBef>
              <a:spcPct val="0"/>
            </a:spcBef>
            <a:spcAft>
              <a:spcPct val="35000"/>
            </a:spcAft>
            <a:buFont typeface="Arial" panose="020B0604020202020204" pitchFamily="34" charset="0"/>
            <a:buChar char="•"/>
          </a:pPr>
          <a:r>
            <a:rPr lang="en-US" sz="1400" kern="1200">
              <a:latin typeface="Calibri" panose="020F0502020204030204"/>
              <a:ea typeface="+mn-ea"/>
              <a:cs typeface="+mn-cs"/>
            </a:rPr>
            <a:t>Flexible foundation for future product expansion</a:t>
          </a:r>
        </a:p>
      </dsp:txBody>
      <dsp:txXfrm>
        <a:off x="8377486" y="1781660"/>
        <a:ext cx="2448366" cy="285480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6561233-45DC-0946-2455-02C93F71AD3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48A0130-1F16-3354-5317-EAAD29FFB5D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8D917C0-D42B-47D1-A861-215602EF8B73}" type="datetimeFigureOut">
              <a:rPr lang="en-US" smtClean="0"/>
              <a:t>5/7/2026</a:t>
            </a:fld>
            <a:endParaRPr lang="en-US"/>
          </a:p>
        </p:txBody>
      </p:sp>
      <p:sp>
        <p:nvSpPr>
          <p:cNvPr id="4" name="Footer Placeholder 3">
            <a:extLst>
              <a:ext uri="{FF2B5EF4-FFF2-40B4-BE49-F238E27FC236}">
                <a16:creationId xmlns:a16="http://schemas.microsoft.com/office/drawing/2014/main" id="{EA8E4F27-4BF2-3909-3638-05880831A7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7B71824-2436-611A-E077-B0450E3664A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D1FE844-F6AC-4291-8AAC-EA332323428F}" type="slidenum">
              <a:rPr lang="en-US" smtClean="0"/>
              <a:t>‹#›</a:t>
            </a:fld>
            <a:endParaRPr lang="en-US"/>
          </a:p>
        </p:txBody>
      </p:sp>
    </p:spTree>
    <p:extLst>
      <p:ext uri="{BB962C8B-B14F-4D97-AF65-F5344CB8AC3E}">
        <p14:creationId xmlns:p14="http://schemas.microsoft.com/office/powerpoint/2010/main" val="6110829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4D9FB6-F063-5E4C-8E15-DE2BAD5FDB90}" type="datetimeFigureOut">
              <a:rPr lang="en-US" smtClean="0"/>
              <a:t>5/7/2026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941F17-4160-ED44-996C-2E44614DC808}" type="slidenum">
              <a:rPr lang="en-US" smtClean="0"/>
              <a:t>‹#›</a:t>
            </a:fld>
            <a:endParaRPr lang="en-US"/>
          </a:p>
        </p:txBody>
      </p:sp>
    </p:spTree>
    <p:extLst>
      <p:ext uri="{BB962C8B-B14F-4D97-AF65-F5344CB8AC3E}">
        <p14:creationId xmlns:p14="http://schemas.microsoft.com/office/powerpoint/2010/main" val="3309279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BF28EF-CFCC-4138-9E36-ED9031B2EE7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193031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B1941F17-4160-ED44-996C-2E44614DC808}" type="slidenum">
              <a:rPr lang="en-US" smtClean="0"/>
              <a:t>7</a:t>
            </a:fld>
            <a:endParaRPr lang="en-US"/>
          </a:p>
        </p:txBody>
      </p:sp>
    </p:spTree>
    <p:extLst>
      <p:ext uri="{BB962C8B-B14F-4D97-AF65-F5344CB8AC3E}">
        <p14:creationId xmlns:p14="http://schemas.microsoft.com/office/powerpoint/2010/main" val="3531758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1941F17-4160-ED44-996C-2E44614DC808}" type="slidenum">
              <a:rPr lang="en-US" smtClean="0"/>
              <a:t>9</a:t>
            </a:fld>
            <a:endParaRPr lang="en-US"/>
          </a:p>
        </p:txBody>
      </p:sp>
    </p:spTree>
    <p:extLst>
      <p:ext uri="{BB962C8B-B14F-4D97-AF65-F5344CB8AC3E}">
        <p14:creationId xmlns:p14="http://schemas.microsoft.com/office/powerpoint/2010/main" val="38718203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D22CB-3C2F-2AA2-FBB1-E635CEBFAF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662284-EDF0-0198-3F19-BCAA015686A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A6E57D8-4E0A-9A1E-4965-BB7BBF49E44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50A37E4-31C8-E04B-DB95-EFC5E71DE3DE}"/>
              </a:ext>
            </a:extLst>
          </p:cNvPr>
          <p:cNvSpPr>
            <a:spLocks noGrp="1"/>
          </p:cNvSpPr>
          <p:nvPr>
            <p:ph type="sldNum" sz="quarter" idx="5"/>
          </p:nvPr>
        </p:nvSpPr>
        <p:spPr/>
        <p:txBody>
          <a:bodyPr/>
          <a:lstStyle/>
          <a:p>
            <a:fld id="{B1941F17-4160-ED44-996C-2E44614DC808}" type="slidenum">
              <a:rPr lang="en-US" smtClean="0"/>
              <a:t>11</a:t>
            </a:fld>
            <a:endParaRPr lang="en-US"/>
          </a:p>
        </p:txBody>
      </p:sp>
    </p:spTree>
    <p:extLst>
      <p:ext uri="{BB962C8B-B14F-4D97-AF65-F5344CB8AC3E}">
        <p14:creationId xmlns:p14="http://schemas.microsoft.com/office/powerpoint/2010/main" val="27105291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1941F17-4160-ED44-996C-2E44614DC808}" type="slidenum">
              <a:rPr lang="en-US" smtClean="0"/>
              <a:t>13</a:t>
            </a:fld>
            <a:endParaRPr lang="en-US"/>
          </a:p>
        </p:txBody>
      </p:sp>
    </p:spTree>
    <p:extLst>
      <p:ext uri="{BB962C8B-B14F-4D97-AF65-F5344CB8AC3E}">
        <p14:creationId xmlns:p14="http://schemas.microsoft.com/office/powerpoint/2010/main" val="13826875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IN"/>
              <a:t>Interesting case study on Process Improvement using Python</a:t>
            </a:r>
          </a:p>
          <a:p>
            <a:r>
              <a:rPr lang="en-IN"/>
              <a:t>Longevity Risk Model in excel. Output of this model is effect of longevity on Liability CF</a:t>
            </a:r>
          </a:p>
          <a:p>
            <a:r>
              <a:rPr lang="en-IN"/>
              <a:t>Advantage of Excel – Better auditability, better transparency, better understanding of flow of calculation</a:t>
            </a:r>
          </a:p>
          <a:p>
            <a:r>
              <a:rPr lang="en-IN"/>
              <a:t>Disadvantage – NO centralised LRM model, High run time, Susceptible to error, not scalable.</a:t>
            </a:r>
          </a:p>
          <a:p>
            <a:r>
              <a:rPr lang="en-US"/>
              <a:t>We used Python and Casandra database to create web-based environment to create Excel like environment.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A62024-8659-466B-93A3-B99B4EB9A16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7455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A62024-8659-466B-93A3-B99B4EB9A16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74555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DA357-D1CB-7896-8B39-82D2E4DE34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317189-6289-D701-04B1-E1AB555CC58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BA87469-972C-4E16-043A-7668D22E9A1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35DCEBF-8030-98C1-0AA6-27E65D1A609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A62024-8659-466B-93A3-B99B4EB9A16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878213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a:p>
        </p:txBody>
      </p:sp>
    </p:spTree>
    <p:extLst>
      <p:ext uri="{BB962C8B-B14F-4D97-AF65-F5344CB8AC3E}">
        <p14:creationId xmlns:p14="http://schemas.microsoft.com/office/powerpoint/2010/main" val="21606088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1E405-6883-82FA-6F0B-EB9CC661EA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139176-1ABC-F06D-4EA3-24F19F8A4BF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ADDA1A6-F380-26FD-ED7F-96E442865DDD}"/>
              </a:ext>
            </a:extLst>
          </p:cNvPr>
          <p:cNvSpPr>
            <a:spLocks noGrp="1"/>
          </p:cNvSpPr>
          <p:nvPr>
            <p:ph type="body" idx="1"/>
          </p:nvPr>
        </p:nvSpPr>
        <p:spPr/>
        <p:txBody>
          <a:bodyPr/>
          <a:lstStyle/>
          <a:p>
            <a:r>
              <a:rPr lang="en-US"/>
              <a:t>SG – Collective capabilities</a:t>
            </a:r>
          </a:p>
        </p:txBody>
      </p:sp>
      <p:sp>
        <p:nvSpPr>
          <p:cNvPr id="4" name="Slide Number Placeholder 3">
            <a:extLst>
              <a:ext uri="{FF2B5EF4-FFF2-40B4-BE49-F238E27FC236}">
                <a16:creationId xmlns:a16="http://schemas.microsoft.com/office/drawing/2014/main" id="{3A6FEA4F-61A3-94ED-8813-02D2FD397F8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BF28EF-CFCC-4138-9E36-ED9031B2EE7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14279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941F17-4160-ED44-996C-2E44614DC8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685191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05282-39B1-E9A4-E524-1FAFE1D5FC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A399FD-E988-62A4-4C55-E11DD59783B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763C48B-AA7C-17BA-3A24-DD6653F76595}"/>
              </a:ext>
            </a:extLst>
          </p:cNvPr>
          <p:cNvSpPr>
            <a:spLocks noGrp="1"/>
          </p:cNvSpPr>
          <p:nvPr>
            <p:ph type="body" idx="1"/>
          </p:nvPr>
        </p:nvSpPr>
        <p:spPr/>
        <p:txBody>
          <a:bodyPr/>
          <a:lstStyle/>
          <a:p>
            <a:r>
              <a:rPr lang="en-IN"/>
              <a:t>Interesting case study on Process Improvement using Python</a:t>
            </a:r>
          </a:p>
          <a:p>
            <a:r>
              <a:rPr lang="en-IN"/>
              <a:t>Longevity Risk Model in excel. Output of this model is effect of longevity on Liability CF</a:t>
            </a:r>
          </a:p>
          <a:p>
            <a:r>
              <a:rPr lang="en-IN"/>
              <a:t>Advantage of Excel – Better auditability, better transparency, better understanding of flow of calculation</a:t>
            </a:r>
          </a:p>
          <a:p>
            <a:r>
              <a:rPr lang="en-IN"/>
              <a:t>Disadvantage – NO centralised LRM model, High run time, Susceptible to error, not scalable.</a:t>
            </a:r>
          </a:p>
          <a:p>
            <a:r>
              <a:rPr lang="en-US"/>
              <a:t>We used Python and Casandra database to create web-based environment to create Excel like environment. </a:t>
            </a:r>
          </a:p>
        </p:txBody>
      </p:sp>
      <p:sp>
        <p:nvSpPr>
          <p:cNvPr id="4" name="Slide Number Placeholder 3">
            <a:extLst>
              <a:ext uri="{FF2B5EF4-FFF2-40B4-BE49-F238E27FC236}">
                <a16:creationId xmlns:a16="http://schemas.microsoft.com/office/drawing/2014/main" id="{28707D4E-A301-A440-2F11-0BD907D8937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A62024-8659-466B-93A3-B99B4EB9A16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423114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8447B-B75B-8A99-210A-34870074B1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9F1047-14A1-5FB7-081D-D8C237EDDBF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0C5DD02-6F74-C690-7530-6CAFC061BEAD}"/>
              </a:ext>
            </a:extLst>
          </p:cNvPr>
          <p:cNvSpPr>
            <a:spLocks noGrp="1"/>
          </p:cNvSpPr>
          <p:nvPr>
            <p:ph type="body" idx="1"/>
          </p:nvPr>
        </p:nvSpPr>
        <p:spPr/>
        <p:txBody>
          <a:bodyPr/>
          <a:lstStyle/>
          <a:p>
            <a:r>
              <a:rPr lang="en-US" b="0"/>
              <a:t>OEM – Original Equipment Manufacturers, LLM – Large Language Models, FNOL – First Notice Of Loss, CAN – Controller Area Network, GPS – Global Positioning System, EDR – Event Data Recorders, EV SOC – Electrical Vehicle State of Charge</a:t>
            </a:r>
          </a:p>
          <a:p>
            <a:endParaRPr lang="en-US" b="0"/>
          </a:p>
        </p:txBody>
      </p:sp>
      <p:sp>
        <p:nvSpPr>
          <p:cNvPr id="4" name="Slide Number Placeholder 3">
            <a:extLst>
              <a:ext uri="{FF2B5EF4-FFF2-40B4-BE49-F238E27FC236}">
                <a16:creationId xmlns:a16="http://schemas.microsoft.com/office/drawing/2014/main" id="{402E7FB4-072F-BF47-339D-6A914D7AAF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941F17-4160-ED44-996C-2E44614DC8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17568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7EC89-B0B8-1F4E-309D-A9F30CDBEF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092A72-2ACC-277D-86F4-D2E79502DA6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797BDED-9369-289B-37D7-0A8A6E4424FE}"/>
              </a:ext>
            </a:extLst>
          </p:cNvPr>
          <p:cNvSpPr>
            <a:spLocks noGrp="1"/>
          </p:cNvSpPr>
          <p:nvPr>
            <p:ph type="body" idx="1"/>
          </p:nvPr>
        </p:nvSpPr>
        <p:spPr/>
        <p:txBody>
          <a:bodyPr/>
          <a:lstStyle/>
          <a:p>
            <a:r>
              <a:rPr lang="en-US"/>
              <a:t>New format needed.</a:t>
            </a:r>
          </a:p>
        </p:txBody>
      </p:sp>
      <p:sp>
        <p:nvSpPr>
          <p:cNvPr id="4" name="Slide Number Placeholder 3">
            <a:extLst>
              <a:ext uri="{FF2B5EF4-FFF2-40B4-BE49-F238E27FC236}">
                <a16:creationId xmlns:a16="http://schemas.microsoft.com/office/drawing/2014/main" id="{B563CA40-5EE1-22FC-8107-F36DD74CE71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633033-05D8-4866-9CE7-DE0492C1C8F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970528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80A08-01F8-CDAE-2A64-B2B4B75E87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7B9BA9-2D6E-03E7-F729-AB52034AB07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13EA6EB-BEC1-DD74-3699-6778498DB0BE}"/>
              </a:ext>
            </a:extLst>
          </p:cNvPr>
          <p:cNvSpPr>
            <a:spLocks noGrp="1"/>
          </p:cNvSpPr>
          <p:nvPr>
            <p:ph type="body" idx="1"/>
          </p:nvPr>
        </p:nvSpPr>
        <p:spPr/>
        <p:txBody>
          <a:bodyPr/>
          <a:lstStyle/>
          <a:p>
            <a:r>
              <a:rPr lang="en-US"/>
              <a:t>New format needed.</a:t>
            </a:r>
          </a:p>
        </p:txBody>
      </p:sp>
      <p:sp>
        <p:nvSpPr>
          <p:cNvPr id="4" name="Slide Number Placeholder 3">
            <a:extLst>
              <a:ext uri="{FF2B5EF4-FFF2-40B4-BE49-F238E27FC236}">
                <a16:creationId xmlns:a16="http://schemas.microsoft.com/office/drawing/2014/main" id="{92FBA2C4-B50B-A36B-407E-E0EA25CA94D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633033-05D8-4866-9CE7-DE0492C1C8F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004606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Logo Orang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50621" y="89262"/>
            <a:ext cx="10490758" cy="6679475"/>
          </a:xfrm>
          <a:prstGeom prst="rect">
            <a:avLst/>
          </a:prstGeom>
        </p:spPr>
      </p:pic>
    </p:spTree>
    <p:extLst>
      <p:ext uri="{BB962C8B-B14F-4D97-AF65-F5344CB8AC3E}">
        <p14:creationId xmlns:p14="http://schemas.microsoft.com/office/powerpoint/2010/main" val="97455533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alk-In Logo Whit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50621" y="89262"/>
            <a:ext cx="10490758" cy="6679474"/>
          </a:xfrm>
          <a:prstGeom prst="rect">
            <a:avLst/>
          </a:prstGeom>
        </p:spPr>
      </p:pic>
    </p:spTree>
    <p:extLst>
      <p:ext uri="{BB962C8B-B14F-4D97-AF65-F5344CB8AC3E}">
        <p14:creationId xmlns:p14="http://schemas.microsoft.com/office/powerpoint/2010/main" val="1122447627"/>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title orang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lstStyle>
            <a:lvl1pPr algn="l">
              <a:lnSpc>
                <a:spcPct val="80000"/>
              </a:lnSpc>
              <a:defRPr sz="6000">
                <a:solidFill>
                  <a:schemeClr val="tx1"/>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rmAutofit/>
          </a:bodyPr>
          <a:lstStyle>
            <a:lvl1pPr marL="0" indent="0" algn="l">
              <a:spcBef>
                <a:spcPts val="0"/>
              </a:spcBef>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378841678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title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2"/>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accent3"/>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0" name="Picture 9" descr="Logo&#10;&#10;Description automatically generated">
            <a:extLst>
              <a:ext uri="{FF2B5EF4-FFF2-40B4-BE49-F238E27FC236}">
                <a16:creationId xmlns:a16="http://schemas.microsoft.com/office/drawing/2014/main" id="{55FCFE5F-EACE-DF4E-98EB-EB028DF66F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59193" y="6132957"/>
            <a:ext cx="990600" cy="635000"/>
          </a:xfrm>
          <a:prstGeom prst="rect">
            <a:avLst/>
          </a:prstGeom>
        </p:spPr>
      </p:pic>
    </p:spTree>
    <p:extLst>
      <p:ext uri="{BB962C8B-B14F-4D97-AF65-F5344CB8AC3E}">
        <p14:creationId xmlns:p14="http://schemas.microsoft.com/office/powerpoint/2010/main" val="230833486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title white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bg1"/>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Text Placeholder 7">
            <a:extLst>
              <a:ext uri="{FF2B5EF4-FFF2-40B4-BE49-F238E27FC236}">
                <a16:creationId xmlns:a16="http://schemas.microsoft.com/office/drawing/2014/main" id="{A507E633-4606-0F5C-1C47-2E2296BF6013}"/>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4044465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title arrow window">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3048" y="0"/>
            <a:ext cx="12192000" cy="6858000"/>
          </a:xfrm>
          <a:solidFill>
            <a:schemeClr val="accent6"/>
          </a:solidFill>
        </p:spPr>
        <p:txBody>
          <a:bodyPr tIns="1188720" rIns="914400"/>
          <a:lstStyle>
            <a:lvl1pPr marL="0" indent="0" algn="r">
              <a:buNone/>
              <a:defRPr/>
            </a:lvl1pPr>
          </a:lstStyle>
          <a:p>
            <a:r>
              <a:rPr lang="en-US"/>
              <a:t>Insert Picture</a:t>
            </a:r>
            <a:br>
              <a:rPr lang="en-US"/>
            </a:br>
            <a:r>
              <a:rPr lang="en-US"/>
              <a:t>and send to back</a:t>
            </a:r>
          </a:p>
        </p:txBody>
      </p:sp>
      <p:sp>
        <p:nvSpPr>
          <p:cNvPr id="12" name="Text Placeholder 11">
            <a:extLst>
              <a:ext uri="{FF2B5EF4-FFF2-40B4-BE49-F238E27FC236}">
                <a16:creationId xmlns:a16="http://schemas.microsoft.com/office/drawing/2014/main" id="{67CD8347-12EC-7004-68FD-F0EB1360FD8F}"/>
              </a:ext>
            </a:extLst>
          </p:cNvPr>
          <p:cNvSpPr>
            <a:spLocks noGrp="1"/>
          </p:cNvSpPr>
          <p:nvPr>
            <p:ph type="body" sz="quarter" idx="12" hasCustomPrompt="1"/>
          </p:nvPr>
        </p:nvSpPr>
        <p:spPr>
          <a:xfrm>
            <a:off x="0" y="0"/>
            <a:ext cx="12188952" cy="6858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0" indent="0">
              <a:buFontTx/>
              <a:buNone/>
              <a:defRPr/>
            </a:lvl1pPr>
          </a:lstStyle>
          <a:p>
            <a:pPr lvl="0"/>
            <a:r>
              <a:rPr lang="en-US"/>
              <a:t> </a:t>
            </a:r>
          </a:p>
        </p:txBody>
      </p:sp>
      <p:sp>
        <p:nvSpPr>
          <p:cNvPr id="2" name="Title 1"/>
          <p:cNvSpPr>
            <a:spLocks noGrp="1"/>
          </p:cNvSpPr>
          <p:nvPr>
            <p:ph type="ctrTitle"/>
          </p:nvPr>
        </p:nvSpPr>
        <p:spPr>
          <a:xfrm>
            <a:off x="2752627" y="457200"/>
            <a:ext cx="5637229" cy="3413547"/>
          </a:xfrm>
        </p:spPr>
        <p:txBody>
          <a:bodyPr anchor="b">
            <a:noAutofit/>
          </a:bodyPr>
          <a:lstStyle>
            <a:lvl1pPr algn="l">
              <a:lnSpc>
                <a:spcPct val="80000"/>
              </a:lnSpc>
              <a:defRPr sz="6000">
                <a:solidFill>
                  <a:schemeClr val="tx2"/>
                </a:solidFill>
              </a:defRPr>
            </a:lvl1pPr>
          </a:lstStyle>
          <a:p>
            <a:r>
              <a:rPr lang="en-US"/>
              <a:t>Click to edit Master title style</a:t>
            </a:r>
          </a:p>
        </p:txBody>
      </p:sp>
      <p:sp>
        <p:nvSpPr>
          <p:cNvPr id="3" name="Subtitle 2"/>
          <p:cNvSpPr>
            <a:spLocks noGrp="1"/>
          </p:cNvSpPr>
          <p:nvPr>
            <p:ph type="subTitle" idx="1"/>
          </p:nvPr>
        </p:nvSpPr>
        <p:spPr>
          <a:xfrm>
            <a:off x="2752627" y="4027501"/>
            <a:ext cx="5637229" cy="936385"/>
          </a:xfrm>
        </p:spPr>
        <p:txBody>
          <a:bodyPr>
            <a:noAutofit/>
          </a:bodyPr>
          <a:lstStyle>
            <a:lvl1pPr marL="0" indent="0" algn="l">
              <a:spcBef>
                <a:spcPts val="0"/>
              </a:spcBef>
              <a:buNone/>
              <a:defRPr sz="2000">
                <a:solidFill>
                  <a:schemeClr val="accent3"/>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87C4AD12-4ACC-C840-8312-C7E5355E4FF9}"/>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19666504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title orange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2"/>
                </a:solidFill>
              </a:defRPr>
            </a:lvl1pPr>
          </a:lstStyle>
          <a:p>
            <a:r>
              <a:rPr lang="en-US"/>
              <a:t>Click to edit Master title style</a:t>
            </a:r>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accent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7">
            <a:extLst>
              <a:ext uri="{FF2B5EF4-FFF2-40B4-BE49-F238E27FC236}">
                <a16:creationId xmlns:a16="http://schemas.microsoft.com/office/drawing/2014/main" id="{051F0EE0-3D9B-E861-B59E-EC60640064C5}"/>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1389755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ate blue bkgrd">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5" name="Group 4">
            <a:extLst>
              <a:ext uri="{FF2B5EF4-FFF2-40B4-BE49-F238E27FC236}">
                <a16:creationId xmlns:a16="http://schemas.microsoft.com/office/drawing/2014/main" id="{B5E7F613-476C-024A-86BD-E0B81985C92A}"/>
              </a:ext>
            </a:extLst>
          </p:cNvPr>
          <p:cNvGrpSpPr/>
          <p:nvPr userDrawn="1"/>
        </p:nvGrpSpPr>
        <p:grpSpPr>
          <a:xfrm>
            <a:off x="1466513" y="1697519"/>
            <a:ext cx="4045461" cy="3447288"/>
            <a:chOff x="4060628" y="1718294"/>
            <a:chExt cx="4045461" cy="3443084"/>
          </a:xfrm>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82087288"/>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light blue bkgrd">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accent3"/>
                </a:solidFill>
              </a:defRPr>
            </a:lvl1pPr>
          </a:lstStyle>
          <a:p>
            <a:r>
              <a:rPr lang="en-US"/>
              <a:t>Click to edit Master title style</a:t>
            </a:r>
          </a:p>
        </p:txBody>
      </p:sp>
      <p:grpSp>
        <p:nvGrpSpPr>
          <p:cNvPr id="5" name="Group 4">
            <a:extLst>
              <a:ext uri="{FF2B5EF4-FFF2-40B4-BE49-F238E27FC236}">
                <a16:creationId xmlns:a16="http://schemas.microsoft.com/office/drawing/2014/main" id="{B5E7F613-476C-024A-86BD-E0B81985C92A}"/>
              </a:ext>
            </a:extLst>
          </p:cNvPr>
          <p:cNvGrpSpPr/>
          <p:nvPr userDrawn="1"/>
        </p:nvGrpSpPr>
        <p:grpSpPr>
          <a:xfrm>
            <a:off x="1466513" y="1697519"/>
            <a:ext cx="4045461" cy="3447288"/>
            <a:chOff x="4060628" y="1718294"/>
            <a:chExt cx="4045461" cy="3443084"/>
          </a:xfrm>
          <a:solidFill>
            <a:schemeClr val="bg2"/>
          </a:solidFill>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ext Placeholder 7">
            <a:extLst>
              <a:ext uri="{FF2B5EF4-FFF2-40B4-BE49-F238E27FC236}">
                <a16:creationId xmlns:a16="http://schemas.microsoft.com/office/drawing/2014/main" id="{21022AB0-A6DF-42F4-2FD1-C8A66FD65C79}"/>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3102934108"/>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triangle slate blue">
    <p:bg>
      <p:bgPr>
        <a:solidFill>
          <a:schemeClr val="accent1"/>
        </a:solidFill>
        <a:effectLst/>
      </p:bgPr>
    </p:bg>
    <p:spTree>
      <p:nvGrpSpPr>
        <p:cNvPr id="1" name=""/>
        <p:cNvGrpSpPr/>
        <p:nvPr/>
      </p:nvGrpSpPr>
      <p:grpSpPr>
        <a:xfrm>
          <a:off x="0" y="0"/>
          <a:ext cx="0" cy="0"/>
          <a:chOff x="0" y="0"/>
          <a:chExt cx="0" cy="0"/>
        </a:xfrm>
      </p:grpSpPr>
      <p:sp>
        <p:nvSpPr>
          <p:cNvPr id="3" name="Triangle 6">
            <a:extLst>
              <a:ext uri="{FF2B5EF4-FFF2-40B4-BE49-F238E27FC236}">
                <a16:creationId xmlns:a16="http://schemas.microsoft.com/office/drawing/2014/main" id="{931308C3-C86F-8439-79F6-BF2D0C1E6F6F}"/>
              </a:ext>
            </a:extLst>
          </p:cNvPr>
          <p:cNvSpPr>
            <a:spLocks noChangeAspect="1"/>
          </p:cNvSpPr>
          <p:nvPr userDrawn="1"/>
        </p:nvSpPr>
        <p:spPr>
          <a:xfrm>
            <a:off x="1041123" y="1864380"/>
            <a:ext cx="4572001" cy="3152731"/>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1154065436"/>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triangle light blue">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bg2"/>
                </a:solidFill>
              </a:defRPr>
            </a:lvl1pPr>
          </a:lstStyle>
          <a:p>
            <a:r>
              <a:rPr lang="en-US"/>
              <a:t>Click to edit Master title style</a:t>
            </a:r>
          </a:p>
        </p:txBody>
      </p:sp>
      <p:sp>
        <p:nvSpPr>
          <p:cNvPr id="3" name="Text Placeholder 7">
            <a:extLst>
              <a:ext uri="{FF2B5EF4-FFF2-40B4-BE49-F238E27FC236}">
                <a16:creationId xmlns:a16="http://schemas.microsoft.com/office/drawing/2014/main" id="{AF3ADCCC-FA43-7DCA-36DD-741C471925AA}"/>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
        <p:nvSpPr>
          <p:cNvPr id="4" name="Triangle 6">
            <a:extLst>
              <a:ext uri="{FF2B5EF4-FFF2-40B4-BE49-F238E27FC236}">
                <a16:creationId xmlns:a16="http://schemas.microsoft.com/office/drawing/2014/main" id="{4766D99B-C9CC-1DAD-1E54-88F872622439}"/>
              </a:ext>
            </a:extLst>
          </p:cNvPr>
          <p:cNvSpPr>
            <a:spLocks noChangeAspect="1"/>
          </p:cNvSpPr>
          <p:nvPr userDrawn="1"/>
        </p:nvSpPr>
        <p:spPr>
          <a:xfrm>
            <a:off x="1041123" y="1864380"/>
            <a:ext cx="4572001" cy="3152731"/>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0190957"/>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photo">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93EB44E-E9F3-8842-B537-69D4B697C4AC}"/>
              </a:ext>
            </a:extLst>
          </p:cNvPr>
          <p:cNvSpPr>
            <a:spLocks noGrp="1"/>
          </p:cNvSpPr>
          <p:nvPr>
            <p:ph type="pic" sz="quarter" idx="12" hasCustomPrompt="1"/>
          </p:nvPr>
        </p:nvSpPr>
        <p:spPr>
          <a:xfrm>
            <a:off x="0" y="0"/>
            <a:ext cx="12192000" cy="6858000"/>
          </a:xfrm>
        </p:spPr>
        <p:txBody>
          <a:bodyPr tIns="1097280"/>
          <a:lstStyle>
            <a:lvl1pPr marL="0" indent="0" algn="ctr">
              <a:buNone/>
              <a:defRPr/>
            </a:lvl1pPr>
          </a:lstStyle>
          <a:p>
            <a:r>
              <a:rPr lang="en-US"/>
              <a:t>Insert Picture</a:t>
            </a:r>
            <a:br>
              <a:rPr lang="en-US"/>
            </a:br>
            <a:r>
              <a:rPr lang="en-US"/>
              <a:t>then send to back</a:t>
            </a:r>
          </a:p>
        </p:txBody>
      </p:sp>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7">
            <a:extLst>
              <a:ext uri="{FF2B5EF4-FFF2-40B4-BE49-F238E27FC236}">
                <a16:creationId xmlns:a16="http://schemas.microsoft.com/office/drawing/2014/main" id="{64E7516A-EF6D-1A45-8147-27BA6599CE8D}"/>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15745958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triangle window photo">
    <p:bg>
      <p:bgPr>
        <a:solidFill>
          <a:schemeClr val="tx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68FB34F-AFB3-FB22-6CF1-6C96D239CF45}"/>
              </a:ext>
            </a:extLst>
          </p:cNvPr>
          <p:cNvSpPr>
            <a:spLocks noGrp="1"/>
          </p:cNvSpPr>
          <p:nvPr>
            <p:ph type="body" sz="quarter" idx="13" hasCustomPrompt="1"/>
          </p:nvPr>
        </p:nvSpPr>
        <p:spPr>
          <a:xfrm>
            <a:off x="0" y="0"/>
            <a:ext cx="12188952" cy="6858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0" indent="0">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 </a:t>
            </a:r>
          </a:p>
        </p:txBody>
      </p:sp>
      <p:sp>
        <p:nvSpPr>
          <p:cNvPr id="13" name="Picture Placeholder 12">
            <a:extLst>
              <a:ext uri="{FF2B5EF4-FFF2-40B4-BE49-F238E27FC236}">
                <a16:creationId xmlns:a16="http://schemas.microsoft.com/office/drawing/2014/main" id="{22DD5020-0712-DF29-4789-07AE704465D4}"/>
              </a:ext>
            </a:extLst>
          </p:cNvPr>
          <p:cNvSpPr>
            <a:spLocks noGrp="1"/>
          </p:cNvSpPr>
          <p:nvPr>
            <p:ph type="pic" sz="quarter" idx="12"/>
          </p:nvPr>
        </p:nvSpPr>
        <p:spPr>
          <a:xfrm>
            <a:off x="0" y="0"/>
            <a:ext cx="12188952" cy="6858000"/>
          </a:xfrm>
        </p:spPr>
        <p:txBody>
          <a:bodyPr/>
          <a:lstStyle>
            <a:lvl1pPr marL="0" indent="0" algn="ctr">
              <a:buNone/>
              <a:defRPr>
                <a:solidFill>
                  <a:schemeClr val="accent3"/>
                </a:solidFill>
              </a:defRPr>
            </a:lvl1pPr>
          </a:lstStyle>
          <a:p>
            <a:r>
              <a:rPr lang="en-US"/>
              <a:t>Click icon to add picture</a:t>
            </a:r>
          </a:p>
        </p:txBody>
      </p:sp>
      <p:sp>
        <p:nvSpPr>
          <p:cNvPr id="2" name="Title 1"/>
          <p:cNvSpPr>
            <a:spLocks noGrp="1"/>
          </p:cNvSpPr>
          <p:nvPr>
            <p:ph type="ctrTitle"/>
          </p:nvPr>
        </p:nvSpPr>
        <p:spPr>
          <a:xfrm>
            <a:off x="8097625" y="696688"/>
            <a:ext cx="3912124" cy="3447288"/>
          </a:xfrm>
        </p:spPr>
        <p:txBody>
          <a:bodyPr anchor="ctr" anchorCtr="0">
            <a:noAutofit/>
          </a:bodyPr>
          <a:lstStyle>
            <a:lvl1pPr algn="l">
              <a:lnSpc>
                <a:spcPct val="80000"/>
              </a:lnSpc>
              <a:defRPr sz="4000">
                <a:solidFill>
                  <a:schemeClr val="bg2"/>
                </a:solidFill>
              </a:defRPr>
            </a:lvl1pPr>
          </a:lstStyle>
          <a:p>
            <a:r>
              <a:rPr lang="en-US"/>
              <a:t>Click to edit Master title style</a:t>
            </a:r>
          </a:p>
        </p:txBody>
      </p:sp>
      <p:sp>
        <p:nvSpPr>
          <p:cNvPr id="3" name="Text Placeholder 7">
            <a:extLst>
              <a:ext uri="{FF2B5EF4-FFF2-40B4-BE49-F238E27FC236}">
                <a16:creationId xmlns:a16="http://schemas.microsoft.com/office/drawing/2014/main" id="{AF3ADCCC-FA43-7DCA-36DD-741C471925AA}"/>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Tree>
    <p:extLst>
      <p:ext uri="{BB962C8B-B14F-4D97-AF65-F5344CB8AC3E}">
        <p14:creationId xmlns:p14="http://schemas.microsoft.com/office/powerpoint/2010/main" val="2944141090"/>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eader1">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557784"/>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260109626"/>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Header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558199"/>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©2024 </a:t>
            </a:r>
            <a:r>
              <a:rPr kumimoji="0" lang="en-US" sz="800" b="0" i="0" u="none" strike="noStrike" kern="1200" cap="none" spc="0" normalizeH="0" baseline="0" noProof="0" err="1">
                <a:ln>
                  <a:noFill/>
                </a:ln>
                <a:solidFill>
                  <a:srgbClr val="000000"/>
                </a:solidFill>
                <a:effectLst/>
                <a:uLnTx/>
                <a:uFillTx/>
                <a:latin typeface="Calibri" panose="020F0502020204030204"/>
                <a:ea typeface="+mn-ea"/>
                <a:cs typeface="+mn-cs"/>
              </a:rPr>
              <a:t>ExlService</a:t>
            </a: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4" name="Text Placeholder 3">
            <a:extLst>
              <a:ext uri="{FF2B5EF4-FFF2-40B4-BE49-F238E27FC236}">
                <a16:creationId xmlns:a16="http://schemas.microsoft.com/office/drawing/2014/main" id="{CC51CF4F-FD7D-FD19-6372-B37CB1750868}"/>
              </a:ext>
            </a:extLst>
          </p:cNvPr>
          <p:cNvSpPr>
            <a:spLocks noGrp="1"/>
          </p:cNvSpPr>
          <p:nvPr>
            <p:ph type="body" sz="quarter" idx="15"/>
          </p:nvPr>
        </p:nvSpPr>
        <p:spPr>
          <a:xfrm>
            <a:off x="485481" y="1111117"/>
            <a:ext cx="11249320" cy="245636"/>
          </a:xfrm>
        </p:spPr>
        <p:txBody>
          <a:bodyPr/>
          <a:lstStyle>
            <a:lvl1pPr marL="0" indent="0">
              <a:buFontTx/>
              <a:buNone/>
              <a:defRPr sz="1600" b="1">
                <a:solidFill>
                  <a:schemeClr val="accent3"/>
                </a:solidFill>
                <a:latin typeface="+mn-lt"/>
              </a:defRPr>
            </a:lvl1pPr>
            <a:lvl2pPr marL="290513" indent="0">
              <a:buFontTx/>
              <a:buNone/>
              <a:defRPr sz="1800">
                <a:solidFill>
                  <a:schemeClr val="accent3"/>
                </a:solidFill>
                <a:latin typeface="+mn-lt"/>
              </a:defRPr>
            </a:lvl2pPr>
            <a:lvl3pPr marL="582613" indent="0">
              <a:buFontTx/>
              <a:buNone/>
              <a:defRPr sz="1800">
                <a:solidFill>
                  <a:schemeClr val="accent3"/>
                </a:solidFill>
                <a:latin typeface="+mn-lt"/>
              </a:defRPr>
            </a:lvl3pPr>
            <a:lvl4pPr marL="855663" indent="0">
              <a:buFontTx/>
              <a:buNone/>
              <a:defRPr sz="1800">
                <a:solidFill>
                  <a:schemeClr val="accent3"/>
                </a:solidFill>
                <a:latin typeface="+mn-lt"/>
              </a:defRPr>
            </a:lvl4pPr>
            <a:lvl5pPr marL="1100138" indent="0">
              <a:buFontTx/>
              <a:buNone/>
              <a:defRPr sz="1800">
                <a:solidFill>
                  <a:schemeClr val="accent3"/>
                </a:solidFill>
                <a:latin typeface="+mn-lt"/>
              </a:defRPr>
            </a:lvl5pPr>
          </a:lstStyle>
          <a:p>
            <a:pPr lvl="0"/>
            <a:r>
              <a:rPr lang="en-US"/>
              <a:t>Click to edit Master text styles</a:t>
            </a:r>
          </a:p>
        </p:txBody>
      </p:sp>
    </p:spTree>
    <p:extLst>
      <p:ext uri="{BB962C8B-B14F-4D97-AF65-F5344CB8AC3E}">
        <p14:creationId xmlns:p14="http://schemas.microsoft.com/office/powerpoint/2010/main" val="2729602138"/>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eader 3">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558199"/>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©2024 </a:t>
            </a:r>
            <a:r>
              <a:rPr kumimoji="0" lang="en-US" sz="800" b="0" i="0" u="none" strike="noStrike" kern="1200" cap="none" spc="0" normalizeH="0" baseline="0" noProof="0" err="1">
                <a:ln>
                  <a:noFill/>
                </a:ln>
                <a:solidFill>
                  <a:srgbClr val="000000"/>
                </a:solidFill>
                <a:effectLst/>
                <a:uLnTx/>
                <a:uFillTx/>
                <a:latin typeface="Calibri" panose="020F0502020204030204"/>
                <a:ea typeface="+mn-ea"/>
                <a:cs typeface="+mn-cs"/>
              </a:rPr>
              <a:t>ExlService</a:t>
            </a: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4" name="Text Placeholder 3">
            <a:extLst>
              <a:ext uri="{FF2B5EF4-FFF2-40B4-BE49-F238E27FC236}">
                <a16:creationId xmlns:a16="http://schemas.microsoft.com/office/drawing/2014/main" id="{CC51CF4F-FD7D-FD19-6372-B37CB1750868}"/>
              </a:ext>
            </a:extLst>
          </p:cNvPr>
          <p:cNvSpPr>
            <a:spLocks noGrp="1"/>
          </p:cNvSpPr>
          <p:nvPr>
            <p:ph type="body" sz="quarter" idx="15"/>
          </p:nvPr>
        </p:nvSpPr>
        <p:spPr>
          <a:xfrm>
            <a:off x="457200" y="260512"/>
            <a:ext cx="11249320" cy="245636"/>
          </a:xfrm>
        </p:spPr>
        <p:txBody>
          <a:bodyPr/>
          <a:lstStyle>
            <a:lvl1pPr marL="0" indent="0">
              <a:buFontTx/>
              <a:buNone/>
              <a:defRPr sz="1400" b="1">
                <a:solidFill>
                  <a:schemeClr val="accent3"/>
                </a:solidFill>
                <a:latin typeface="+mn-lt"/>
              </a:defRPr>
            </a:lvl1pPr>
            <a:lvl2pPr marL="290513" indent="0">
              <a:buFontTx/>
              <a:buNone/>
              <a:defRPr sz="1800">
                <a:solidFill>
                  <a:schemeClr val="accent3"/>
                </a:solidFill>
                <a:latin typeface="+mn-lt"/>
              </a:defRPr>
            </a:lvl2pPr>
            <a:lvl3pPr marL="582613" indent="0">
              <a:buFontTx/>
              <a:buNone/>
              <a:defRPr sz="1800">
                <a:solidFill>
                  <a:schemeClr val="accent3"/>
                </a:solidFill>
                <a:latin typeface="+mn-lt"/>
              </a:defRPr>
            </a:lvl3pPr>
            <a:lvl4pPr marL="855663" indent="0">
              <a:buFontTx/>
              <a:buNone/>
              <a:defRPr sz="1800">
                <a:solidFill>
                  <a:schemeClr val="accent3"/>
                </a:solidFill>
                <a:latin typeface="+mn-lt"/>
              </a:defRPr>
            </a:lvl4pPr>
            <a:lvl5pPr marL="1100138" indent="0">
              <a:buFontTx/>
              <a:buNone/>
              <a:defRPr sz="1800">
                <a:solidFill>
                  <a:schemeClr val="accent3"/>
                </a:solidFill>
                <a:latin typeface="+mn-lt"/>
              </a:defRPr>
            </a:lvl5pPr>
          </a:lstStyle>
          <a:p>
            <a:pPr lvl="0"/>
            <a:r>
              <a:rPr lang="en-US"/>
              <a:t>Click to edit Master text styles</a:t>
            </a:r>
          </a:p>
        </p:txBody>
      </p:sp>
    </p:spTree>
    <p:extLst>
      <p:ext uri="{BB962C8B-B14F-4D97-AF65-F5344CB8AC3E}">
        <p14:creationId xmlns:p14="http://schemas.microsoft.com/office/powerpoint/2010/main" val="2093503273"/>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One column layout">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672567"/>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1" y="1420992"/>
            <a:ext cx="11249320"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©2024 </a:t>
            </a:r>
            <a:r>
              <a:rPr kumimoji="0" lang="en-US" sz="800" b="0" i="0" u="none" strike="noStrike" kern="1200" cap="none" spc="0" normalizeH="0" baseline="0" noProof="0" err="1">
                <a:ln>
                  <a:noFill/>
                </a:ln>
                <a:solidFill>
                  <a:srgbClr val="000000"/>
                </a:solidFill>
                <a:effectLst/>
                <a:uLnTx/>
                <a:uFillTx/>
                <a:latin typeface="Calibri" panose="020F0502020204030204"/>
                <a:ea typeface="+mn-ea"/>
                <a:cs typeface="+mn-cs"/>
              </a:rPr>
              <a:t>ExlService</a:t>
            </a: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2677143594"/>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ne column sub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558199"/>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1" y="1636226"/>
            <a:ext cx="11249320" cy="4344320"/>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©2024 </a:t>
            </a:r>
            <a:r>
              <a:rPr kumimoji="0" lang="en-US" sz="800" b="0" i="0" u="none" strike="noStrike" kern="1200" cap="none" spc="0" normalizeH="0" baseline="0" noProof="0" err="1">
                <a:ln>
                  <a:noFill/>
                </a:ln>
                <a:solidFill>
                  <a:srgbClr val="000000"/>
                </a:solidFill>
                <a:effectLst/>
                <a:uLnTx/>
                <a:uFillTx/>
                <a:latin typeface="Calibri" panose="020F0502020204030204"/>
                <a:ea typeface="+mn-ea"/>
                <a:cs typeface="+mn-cs"/>
              </a:rPr>
              <a:t>ExlService</a:t>
            </a: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4" name="Text Placeholder 3">
            <a:extLst>
              <a:ext uri="{FF2B5EF4-FFF2-40B4-BE49-F238E27FC236}">
                <a16:creationId xmlns:a16="http://schemas.microsoft.com/office/drawing/2014/main" id="{CC51CF4F-FD7D-FD19-6372-B37CB1750868}"/>
              </a:ext>
            </a:extLst>
          </p:cNvPr>
          <p:cNvSpPr>
            <a:spLocks noGrp="1"/>
          </p:cNvSpPr>
          <p:nvPr>
            <p:ph type="body" sz="quarter" idx="15"/>
          </p:nvPr>
        </p:nvSpPr>
        <p:spPr>
          <a:xfrm>
            <a:off x="485481" y="1111117"/>
            <a:ext cx="11249320" cy="245636"/>
          </a:xfrm>
        </p:spPr>
        <p:txBody>
          <a:bodyPr/>
          <a:lstStyle>
            <a:lvl1pPr marL="0" indent="0">
              <a:buFontTx/>
              <a:buNone/>
              <a:defRPr sz="1600" b="1">
                <a:solidFill>
                  <a:schemeClr val="accent3"/>
                </a:solidFill>
                <a:latin typeface="+mn-lt"/>
              </a:defRPr>
            </a:lvl1pPr>
            <a:lvl2pPr marL="290513" indent="0">
              <a:buFontTx/>
              <a:buNone/>
              <a:defRPr sz="1800">
                <a:solidFill>
                  <a:schemeClr val="accent3"/>
                </a:solidFill>
                <a:latin typeface="+mn-lt"/>
              </a:defRPr>
            </a:lvl2pPr>
            <a:lvl3pPr marL="582613" indent="0">
              <a:buFontTx/>
              <a:buNone/>
              <a:defRPr sz="1800">
                <a:solidFill>
                  <a:schemeClr val="accent3"/>
                </a:solidFill>
                <a:latin typeface="+mn-lt"/>
              </a:defRPr>
            </a:lvl3pPr>
            <a:lvl4pPr marL="855663" indent="0">
              <a:buFontTx/>
              <a:buNone/>
              <a:defRPr sz="1800">
                <a:solidFill>
                  <a:schemeClr val="accent3"/>
                </a:solidFill>
                <a:latin typeface="+mn-lt"/>
              </a:defRPr>
            </a:lvl4pPr>
            <a:lvl5pPr marL="1100138" indent="0">
              <a:buFontTx/>
              <a:buNone/>
              <a:defRPr sz="1800">
                <a:solidFill>
                  <a:schemeClr val="accent3"/>
                </a:solidFill>
                <a:latin typeface="+mn-lt"/>
              </a:defRPr>
            </a:lvl5pPr>
          </a:lstStyle>
          <a:p>
            <a:pPr lvl="0"/>
            <a:r>
              <a:rPr lang="en-US"/>
              <a:t>Click to edit Master text styles</a:t>
            </a:r>
          </a:p>
        </p:txBody>
      </p:sp>
    </p:spTree>
    <p:extLst>
      <p:ext uri="{BB962C8B-B14F-4D97-AF65-F5344CB8AC3E}">
        <p14:creationId xmlns:p14="http://schemas.microsoft.com/office/powerpoint/2010/main" val="3641992004"/>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lumn layout">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672567"/>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2" y="1420992"/>
            <a:ext cx="5077716"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©2024 </a:t>
            </a:r>
            <a:r>
              <a:rPr kumimoji="0" lang="en-US" sz="800" b="0" i="0" u="none" strike="noStrike" kern="1200" cap="none" spc="0" normalizeH="0" baseline="0" noProof="0" err="1">
                <a:ln>
                  <a:noFill/>
                </a:ln>
                <a:solidFill>
                  <a:srgbClr val="000000"/>
                </a:solidFill>
                <a:effectLst/>
                <a:uLnTx/>
                <a:uFillTx/>
                <a:latin typeface="Calibri" panose="020F0502020204030204"/>
                <a:ea typeface="+mn-ea"/>
                <a:cs typeface="+mn-cs"/>
              </a:rPr>
              <a:t>ExlService</a:t>
            </a: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 Placeholder 5">
            <a:extLst>
              <a:ext uri="{FF2B5EF4-FFF2-40B4-BE49-F238E27FC236}">
                <a16:creationId xmlns:a16="http://schemas.microsoft.com/office/drawing/2014/main" id="{0DF97235-8ACD-EA2A-2D57-3EF3975E30C5}"/>
              </a:ext>
            </a:extLst>
          </p:cNvPr>
          <p:cNvSpPr>
            <a:spLocks noGrp="1"/>
          </p:cNvSpPr>
          <p:nvPr>
            <p:ph type="body" sz="quarter" idx="16"/>
          </p:nvPr>
        </p:nvSpPr>
        <p:spPr>
          <a:xfrm>
            <a:off x="6019016" y="1420813"/>
            <a:ext cx="5104613" cy="4572092"/>
          </a:xfrm>
        </p:spPr>
        <p:txBody>
          <a:bodyPr/>
          <a:lstStyle>
            <a:lvl1pPr marL="0" indent="0">
              <a:lnSpc>
                <a:spcPct val="100000"/>
              </a:lnSpc>
              <a:spcBef>
                <a:spcPts val="600"/>
              </a:spcBef>
              <a:spcAft>
                <a:spcPts val="600"/>
              </a:spcAft>
              <a:buFontTx/>
              <a:buNone/>
              <a:defRPr sz="2000">
                <a:solidFill>
                  <a:schemeClr val="tx1"/>
                </a:solidFill>
                <a:latin typeface="+mn-lt"/>
              </a:defRPr>
            </a:lvl1pPr>
            <a:lvl2pPr marL="515938" indent="-225425">
              <a:lnSpc>
                <a:spcPct val="100000"/>
              </a:lnSpc>
              <a:spcBef>
                <a:spcPts val="0"/>
              </a:spcBef>
              <a:spcAft>
                <a:spcPts val="600"/>
              </a:spcAft>
              <a:buClr>
                <a:schemeClr val="tx2"/>
              </a:buClr>
              <a:buFont typeface="Arial" panose="020B0604020202020204" pitchFamily="34" charset="0"/>
              <a:buChar char="•"/>
              <a:defRPr sz="2000">
                <a:solidFill>
                  <a:schemeClr val="tx1"/>
                </a:solidFill>
              </a:defRPr>
            </a:lvl2pPr>
            <a:lvl3pPr>
              <a:lnSpc>
                <a:spcPct val="100000"/>
              </a:lnSpc>
              <a:spcBef>
                <a:spcPts val="0"/>
              </a:spcBef>
              <a:spcAft>
                <a:spcPts val="600"/>
              </a:spcAft>
              <a:defRPr sz="1600">
                <a:solidFill>
                  <a:schemeClr val="tx1"/>
                </a:solidFill>
              </a:defRPr>
            </a:lvl3pPr>
            <a:lvl4pPr>
              <a:lnSpc>
                <a:spcPct val="100000"/>
              </a:lnSpc>
              <a:spcBef>
                <a:spcPts val="0"/>
              </a:spcBef>
              <a:spcAft>
                <a:spcPts val="600"/>
              </a:spcAft>
              <a:defRPr sz="1400">
                <a:solidFill>
                  <a:schemeClr val="tx1"/>
                </a:solidFill>
              </a:defRPr>
            </a:lvl4pPr>
            <a:lvl5pPr marL="1257300" indent="-157163">
              <a:lnSpc>
                <a:spcPct val="100000"/>
              </a:lnSpc>
              <a:spcBef>
                <a:spcPts val="0"/>
              </a:spcBef>
              <a:spcAft>
                <a:spcPts val="600"/>
              </a:spcAf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39444678"/>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 sub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2"/>
            <a:ext cx="11277600" cy="567626"/>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2" y="1636226"/>
            <a:ext cx="5077716"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©2024 </a:t>
            </a:r>
            <a:r>
              <a:rPr kumimoji="0" lang="en-US" sz="800" b="0" i="0" u="none" strike="noStrike" kern="1200" cap="none" spc="0" normalizeH="0" baseline="0" noProof="0" err="1">
                <a:ln>
                  <a:noFill/>
                </a:ln>
                <a:solidFill>
                  <a:srgbClr val="000000"/>
                </a:solidFill>
                <a:effectLst/>
                <a:uLnTx/>
                <a:uFillTx/>
                <a:latin typeface="Calibri" panose="020F0502020204030204"/>
                <a:ea typeface="+mn-ea"/>
                <a:cs typeface="+mn-cs"/>
              </a:rPr>
              <a:t>ExlService</a:t>
            </a: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 Placeholder 5">
            <a:extLst>
              <a:ext uri="{FF2B5EF4-FFF2-40B4-BE49-F238E27FC236}">
                <a16:creationId xmlns:a16="http://schemas.microsoft.com/office/drawing/2014/main" id="{0DF97235-8ACD-EA2A-2D57-3EF3975E30C5}"/>
              </a:ext>
            </a:extLst>
          </p:cNvPr>
          <p:cNvSpPr>
            <a:spLocks noGrp="1"/>
          </p:cNvSpPr>
          <p:nvPr>
            <p:ph type="body" sz="quarter" idx="16"/>
          </p:nvPr>
        </p:nvSpPr>
        <p:spPr>
          <a:xfrm>
            <a:off x="6019016" y="1636226"/>
            <a:ext cx="5104613" cy="4572092"/>
          </a:xfrm>
        </p:spPr>
        <p:txBody>
          <a:bodyPr/>
          <a:lstStyle>
            <a:lvl1pPr marL="0" indent="0">
              <a:lnSpc>
                <a:spcPct val="100000"/>
              </a:lnSpc>
              <a:spcBef>
                <a:spcPts val="600"/>
              </a:spcBef>
              <a:spcAft>
                <a:spcPts val="600"/>
              </a:spcAft>
              <a:buFontTx/>
              <a:buNone/>
              <a:defRPr sz="2000">
                <a:solidFill>
                  <a:schemeClr val="tx1"/>
                </a:solidFill>
                <a:latin typeface="+mn-lt"/>
              </a:defRPr>
            </a:lvl1pPr>
            <a:lvl2pPr marL="515938" indent="-225425">
              <a:lnSpc>
                <a:spcPct val="100000"/>
              </a:lnSpc>
              <a:spcBef>
                <a:spcPts val="0"/>
              </a:spcBef>
              <a:spcAft>
                <a:spcPts val="600"/>
              </a:spcAft>
              <a:buClr>
                <a:schemeClr val="tx2"/>
              </a:buClr>
              <a:buFont typeface="Arial" panose="020B0604020202020204" pitchFamily="34" charset="0"/>
              <a:buChar char="•"/>
              <a:defRPr sz="2000">
                <a:solidFill>
                  <a:schemeClr val="tx1"/>
                </a:solidFill>
              </a:defRPr>
            </a:lvl2pPr>
            <a:lvl3pPr>
              <a:lnSpc>
                <a:spcPct val="100000"/>
              </a:lnSpc>
              <a:spcBef>
                <a:spcPts val="0"/>
              </a:spcBef>
              <a:spcAft>
                <a:spcPts val="600"/>
              </a:spcAft>
              <a:defRPr sz="1600">
                <a:solidFill>
                  <a:schemeClr val="tx1"/>
                </a:solidFill>
              </a:defRPr>
            </a:lvl3pPr>
            <a:lvl4pPr>
              <a:lnSpc>
                <a:spcPct val="100000"/>
              </a:lnSpc>
              <a:spcBef>
                <a:spcPts val="0"/>
              </a:spcBef>
              <a:spcAft>
                <a:spcPts val="600"/>
              </a:spcAft>
              <a:defRPr sz="1400">
                <a:solidFill>
                  <a:schemeClr val="tx1"/>
                </a:solidFill>
              </a:defRPr>
            </a:lvl4pPr>
            <a:lvl5pPr marL="1257300" indent="-157163">
              <a:lnSpc>
                <a:spcPct val="100000"/>
              </a:lnSpc>
              <a:spcBef>
                <a:spcPts val="0"/>
              </a:spcBef>
              <a:spcAft>
                <a:spcPts val="600"/>
              </a:spcAf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3">
            <a:extLst>
              <a:ext uri="{FF2B5EF4-FFF2-40B4-BE49-F238E27FC236}">
                <a16:creationId xmlns:a16="http://schemas.microsoft.com/office/drawing/2014/main" id="{7DC9EA03-FA8F-AD79-F54A-F23726C03305}"/>
              </a:ext>
            </a:extLst>
          </p:cNvPr>
          <p:cNvSpPr>
            <a:spLocks noGrp="1"/>
          </p:cNvSpPr>
          <p:nvPr>
            <p:ph type="body" sz="quarter" idx="15"/>
          </p:nvPr>
        </p:nvSpPr>
        <p:spPr>
          <a:xfrm>
            <a:off x="485481" y="1111117"/>
            <a:ext cx="11249320" cy="245636"/>
          </a:xfrm>
        </p:spPr>
        <p:txBody>
          <a:bodyPr/>
          <a:lstStyle>
            <a:lvl1pPr marL="0" indent="0">
              <a:buFontTx/>
              <a:buNone/>
              <a:defRPr sz="1600" b="1">
                <a:solidFill>
                  <a:schemeClr val="accent3"/>
                </a:solidFill>
                <a:latin typeface="+mn-lt"/>
              </a:defRPr>
            </a:lvl1pPr>
            <a:lvl2pPr marL="290513" indent="0">
              <a:buFontTx/>
              <a:buNone/>
              <a:defRPr sz="1800">
                <a:solidFill>
                  <a:schemeClr val="accent3"/>
                </a:solidFill>
                <a:latin typeface="+mn-lt"/>
              </a:defRPr>
            </a:lvl2pPr>
            <a:lvl3pPr marL="582613" indent="0">
              <a:buFontTx/>
              <a:buNone/>
              <a:defRPr sz="1800">
                <a:solidFill>
                  <a:schemeClr val="accent3"/>
                </a:solidFill>
                <a:latin typeface="+mn-lt"/>
              </a:defRPr>
            </a:lvl3pPr>
            <a:lvl4pPr marL="855663" indent="0">
              <a:buFontTx/>
              <a:buNone/>
              <a:defRPr sz="1800">
                <a:solidFill>
                  <a:schemeClr val="accent3"/>
                </a:solidFill>
                <a:latin typeface="+mn-lt"/>
              </a:defRPr>
            </a:lvl4pPr>
            <a:lvl5pPr marL="1100138" indent="0">
              <a:buFontTx/>
              <a:buNone/>
              <a:defRPr sz="1800">
                <a:solidFill>
                  <a:schemeClr val="accent3"/>
                </a:solidFill>
                <a:latin typeface="+mn-lt"/>
              </a:defRPr>
            </a:lvl5pPr>
          </a:lstStyle>
          <a:p>
            <a:pPr lvl="0"/>
            <a:r>
              <a:rPr lang="en-US"/>
              <a:t>Click to edit Master text styles</a:t>
            </a:r>
          </a:p>
        </p:txBody>
      </p:sp>
    </p:spTree>
    <p:extLst>
      <p:ext uri="{BB962C8B-B14F-4D97-AF65-F5344CB8AC3E}">
        <p14:creationId xmlns:p14="http://schemas.microsoft.com/office/powerpoint/2010/main" val="3693004530"/>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ider orang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©2024 </a:t>
            </a:r>
            <a:r>
              <a:rPr kumimoji="0" lang="en-US" sz="800" b="0" i="0" u="none" strike="noStrike" kern="1200" cap="none" spc="0" normalizeH="0" baseline="0" noProof="0" err="1">
                <a:ln>
                  <a:noFill/>
                </a:ln>
                <a:solidFill>
                  <a:srgbClr val="000000"/>
                </a:solidFill>
                <a:effectLst/>
                <a:uLnTx/>
                <a:uFillTx/>
                <a:latin typeface="Calibri" panose="020F0502020204030204"/>
                <a:ea typeface="+mn-ea"/>
                <a:cs typeface="+mn-cs"/>
              </a:rPr>
              <a:t>ExlService</a:t>
            </a: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6" name="Text Placeholder 5">
            <a:extLst>
              <a:ext uri="{FF2B5EF4-FFF2-40B4-BE49-F238E27FC236}">
                <a16:creationId xmlns:a16="http://schemas.microsoft.com/office/drawing/2014/main" id="{F6620FF5-63E7-D7A1-E95E-667A3A5A47A4}"/>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51915494"/>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ider slate gray">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©2024 </a:t>
            </a:r>
            <a:r>
              <a:rPr kumimoji="0" lang="en-US" sz="800" b="0" i="0" u="none" strike="noStrike" kern="1200" cap="none" spc="0" normalizeH="0" baseline="0" noProof="0" err="1">
                <a:ln>
                  <a:noFill/>
                </a:ln>
                <a:solidFill>
                  <a:srgbClr val="000000"/>
                </a:solidFill>
                <a:effectLst/>
                <a:uLnTx/>
                <a:uFillTx/>
                <a:latin typeface="Calibri" panose="020F0502020204030204"/>
                <a:ea typeface="+mn-ea"/>
                <a:cs typeface="+mn-cs"/>
              </a:rPr>
              <a:t>ExlService</a:t>
            </a: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4" name="Text Placeholder 5">
            <a:extLst>
              <a:ext uri="{FF2B5EF4-FFF2-40B4-BE49-F238E27FC236}">
                <a16:creationId xmlns:a16="http://schemas.microsoft.com/office/drawing/2014/main" id="{C8AEF62A-DB20-DFA5-60EF-17E3D0291795}"/>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56923571"/>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ider midnight blu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accent3"/>
                </a:solidFill>
                <a:latin typeface="+mn-lt"/>
              </a:defRPr>
            </a:lvl1pPr>
            <a:lvl2pPr marL="460375" indent="-223838">
              <a:lnSpc>
                <a:spcPct val="100000"/>
              </a:lnSpc>
              <a:spcBef>
                <a:spcPts val="0"/>
              </a:spcBef>
              <a:spcAft>
                <a:spcPts val="600"/>
              </a:spcAft>
              <a:buClr>
                <a:schemeClr val="accent3"/>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buClr>
                <a:schemeClr val="accent3"/>
              </a:buClr>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©2024 </a:t>
            </a:r>
            <a:r>
              <a:rPr kumimoji="0" lang="en-US" sz="800" b="0" i="0" u="none" strike="noStrike" kern="1200" cap="none" spc="0" normalizeH="0" baseline="0" noProof="0" err="1">
                <a:ln>
                  <a:noFill/>
                </a:ln>
                <a:solidFill>
                  <a:srgbClr val="000000"/>
                </a:solidFill>
                <a:effectLst/>
                <a:uLnTx/>
                <a:uFillTx/>
                <a:latin typeface="Calibri" panose="020F0502020204030204"/>
                <a:ea typeface="+mn-ea"/>
                <a:cs typeface="+mn-cs"/>
              </a:rPr>
              <a:t>ExlService</a:t>
            </a: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3" name="Text Placeholder 5">
            <a:extLst>
              <a:ext uri="{FF2B5EF4-FFF2-40B4-BE49-F238E27FC236}">
                <a16:creationId xmlns:a16="http://schemas.microsoft.com/office/drawing/2014/main" id="{150E4EC5-C9CD-0784-3B8B-14E383CDC869}"/>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26775995"/>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ider light blu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buClr>
                <a:schemeClr val="tx1"/>
              </a:buClr>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©2024 </a:t>
            </a:r>
            <a:r>
              <a:rPr kumimoji="0" lang="en-US" sz="800" b="0" i="0" u="none" strike="noStrike" kern="1200" cap="none" spc="0" normalizeH="0" baseline="0" noProof="0" err="1">
                <a:ln>
                  <a:noFill/>
                </a:ln>
                <a:solidFill>
                  <a:srgbClr val="000000"/>
                </a:solidFill>
                <a:effectLst/>
                <a:uLnTx/>
                <a:uFillTx/>
                <a:latin typeface="Calibri" panose="020F0502020204030204"/>
                <a:ea typeface="+mn-ea"/>
                <a:cs typeface="+mn-cs"/>
              </a:rPr>
              <a:t>ExlService</a:t>
            </a: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3" name="Text Placeholder 5">
            <a:extLst>
              <a:ext uri="{FF2B5EF4-FFF2-40B4-BE49-F238E27FC236}">
                <a16:creationId xmlns:a16="http://schemas.microsoft.com/office/drawing/2014/main" id="{87AF6875-806F-55D2-B677-EBF1DABD0717}"/>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tx2"/>
                </a:solidFill>
                <a:latin typeface="+mn-lt"/>
              </a:defRPr>
            </a:lvl1pPr>
            <a:lvl2pPr marL="227013" indent="-227013">
              <a:lnSpc>
                <a:spcPct val="100000"/>
              </a:lnSpc>
              <a:spcAft>
                <a:spcPts val="300"/>
              </a:spcAft>
              <a:buFont typeface="Arial" panose="020B0604020202020204" pitchFamily="34" charset="0"/>
              <a:buChar char="•"/>
              <a:defRPr sz="2000">
                <a:solidFill>
                  <a:schemeClr val="tx2"/>
                </a:solidFill>
              </a:defRPr>
            </a:lvl2pPr>
            <a:lvl3pPr marL="461963" indent="-225425">
              <a:lnSpc>
                <a:spcPct val="100000"/>
              </a:lnSpc>
              <a:spcAft>
                <a:spcPts val="300"/>
              </a:spcAft>
              <a:tabLst/>
              <a:defRPr>
                <a:solidFill>
                  <a:schemeClr val="tx2"/>
                </a:solidFill>
              </a:defRPr>
            </a:lvl3pPr>
            <a:lvl4pPr marL="744538" indent="-225425">
              <a:lnSpc>
                <a:spcPct val="100000"/>
              </a:lnSpc>
              <a:spcAft>
                <a:spcPts val="300"/>
              </a:spcAft>
              <a:tabLst/>
              <a:defRPr>
                <a:solidFill>
                  <a:schemeClr val="tx2"/>
                </a:solidFill>
              </a:defRPr>
            </a:lvl4pPr>
            <a:lvl5pPr marL="971550" indent="-169863">
              <a:lnSpc>
                <a:spcPct val="100000"/>
              </a:lnSpc>
              <a:spcAft>
                <a:spcPts val="300"/>
              </a:spcAft>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0712290"/>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ider photo">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977353" y="984831"/>
            <a:ext cx="6136849" cy="891103"/>
          </a:xfrm>
        </p:spPr>
        <p:txBody>
          <a:bodyPr anchor="t" anchorCtr="0">
            <a:normAutofit/>
          </a:bodyPr>
          <a:lstStyle>
            <a:lvl1pPr algn="l">
              <a:lnSpc>
                <a:spcPct val="80000"/>
              </a:lnSpc>
              <a:defRPr sz="36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1883303"/>
            <a:ext cx="6136849" cy="4130997"/>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©2024 </a:t>
            </a:r>
            <a:r>
              <a:rPr kumimoji="0" lang="en-US" sz="800" b="0" i="0" u="none" strike="noStrike" kern="1200" cap="none" spc="0" normalizeH="0" baseline="0" noProof="0" err="1">
                <a:ln>
                  <a:noFill/>
                </a:ln>
                <a:solidFill>
                  <a:srgbClr val="000000"/>
                </a:solidFill>
                <a:effectLst/>
                <a:uLnTx/>
                <a:uFillTx/>
                <a:latin typeface="Calibri" panose="020F0502020204030204"/>
                <a:ea typeface="+mn-ea"/>
                <a:cs typeface="+mn-cs"/>
              </a:rPr>
              <a:t>ExlService</a:t>
            </a: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4" name="Picture Placeholder 3">
            <a:extLst>
              <a:ext uri="{FF2B5EF4-FFF2-40B4-BE49-F238E27FC236}">
                <a16:creationId xmlns:a16="http://schemas.microsoft.com/office/drawing/2014/main" id="{4B95AAFB-5AB3-8043-3405-030A209051B7}"/>
              </a:ext>
            </a:extLst>
          </p:cNvPr>
          <p:cNvSpPr>
            <a:spLocks noGrp="1"/>
          </p:cNvSpPr>
          <p:nvPr>
            <p:ph type="pic" sz="quarter" idx="15" hasCustomPrompt="1"/>
          </p:nvPr>
        </p:nvSpPr>
        <p:spPr>
          <a:xfrm>
            <a:off x="0" y="0"/>
            <a:ext cx="4434840" cy="6858000"/>
          </a:xfrm>
          <a:solidFill>
            <a:schemeClr val="bg1">
              <a:lumMod val="95000"/>
            </a:schemeClr>
          </a:solidFill>
        </p:spPr>
        <p:txBody>
          <a:bodyPr tIns="1828800"/>
          <a:lstStyle>
            <a:lvl1pPr marL="0" indent="0" algn="ctr">
              <a:buFontTx/>
              <a:buNone/>
              <a:defRPr>
                <a:solidFill>
                  <a:schemeClr val="tx1"/>
                </a:solidFill>
              </a:defRPr>
            </a:lvl1pPr>
          </a:lstStyle>
          <a:p>
            <a:r>
              <a:rPr lang="en-US"/>
              <a:t>Insert photo here</a:t>
            </a:r>
            <a:br>
              <a:rPr lang="en-US"/>
            </a:br>
            <a:r>
              <a:rPr lang="en-US"/>
              <a:t>4.85”w x 7.5” h </a:t>
            </a:r>
          </a:p>
        </p:txBody>
      </p:sp>
    </p:spTree>
    <p:extLst>
      <p:ext uri="{BB962C8B-B14F-4D97-AF65-F5344CB8AC3E}">
        <p14:creationId xmlns:p14="http://schemas.microsoft.com/office/powerpoint/2010/main" val="2884971735"/>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arge photo graphic">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3B1206E-A64A-F045-95E1-24068C9F08E7}"/>
              </a:ext>
            </a:extLst>
          </p:cNvPr>
          <p:cNvSpPr>
            <a:spLocks noGrp="1"/>
          </p:cNvSpPr>
          <p:nvPr>
            <p:ph type="pic" sz="quarter" idx="15" hasCustomPrompt="1"/>
          </p:nvPr>
        </p:nvSpPr>
        <p:spPr>
          <a:xfrm>
            <a:off x="4433888" y="0"/>
            <a:ext cx="7758112" cy="6858000"/>
          </a:xfrm>
          <a:solidFill>
            <a:schemeClr val="accent6"/>
          </a:solidFill>
        </p:spPr>
        <p:txBody>
          <a:bodyPr anchor="ctr" anchorCtr="0"/>
          <a:lstStyle>
            <a:lvl1pPr marL="0" indent="0" algn="ctr">
              <a:buNone/>
              <a:defRPr>
                <a:solidFill>
                  <a:schemeClr val="accent1"/>
                </a:solidFill>
              </a:defRPr>
            </a:lvl1pPr>
          </a:lstStyle>
          <a:p>
            <a:r>
              <a:rPr lang="en-US"/>
              <a:t>Insert  photo</a:t>
            </a:r>
            <a:br>
              <a:rPr lang="en-US"/>
            </a:br>
            <a:r>
              <a:rPr lang="en-US"/>
              <a:t>8.48”w x 7.5”h</a:t>
            </a:r>
          </a:p>
        </p:txBody>
      </p:sp>
      <p:sp>
        <p:nvSpPr>
          <p:cNvPr id="10" name="Rectangle 9">
            <a:extLst>
              <a:ext uri="{FF2B5EF4-FFF2-40B4-BE49-F238E27FC236}">
                <a16:creationId xmlns:a16="http://schemas.microsoft.com/office/drawing/2014/main" id="{F3400FEE-AF2A-4A4C-A689-68AC86084282}"/>
              </a:ext>
            </a:extLst>
          </p:cNvPr>
          <p:cNvSpPr/>
          <p:nvPr userDrawn="1"/>
        </p:nvSpPr>
        <p:spPr>
          <a:xfrm>
            <a:off x="-1" y="0"/>
            <a:ext cx="443310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984831"/>
            <a:ext cx="3679371" cy="1649186"/>
          </a:xfrm>
        </p:spPr>
        <p:txBody>
          <a:bodyPr anchor="t" anchorCtr="0">
            <a:noAutofit/>
          </a:bodyPr>
          <a:lstStyle>
            <a:lvl1pPr algn="l">
              <a:lnSpc>
                <a:spcPct val="80000"/>
              </a:lnSpc>
              <a:defRPr sz="4400">
                <a:solidFill>
                  <a:schemeClr val="bg1"/>
                </a:solidFill>
              </a:defRPr>
            </a:lvl1pPr>
          </a:lstStyle>
          <a:p>
            <a:r>
              <a:rPr lang="en-US"/>
              <a:t>Click to edit Master title style</a:t>
            </a:r>
          </a:p>
        </p:txBody>
      </p:sp>
      <p:sp>
        <p:nvSpPr>
          <p:cNvPr id="6" name="Text Placeholder 5">
            <a:extLst>
              <a:ext uri="{FF2B5EF4-FFF2-40B4-BE49-F238E27FC236}">
                <a16:creationId xmlns:a16="http://schemas.microsoft.com/office/drawing/2014/main" id="{06621137-81BE-E247-928E-32116562395A}"/>
              </a:ext>
            </a:extLst>
          </p:cNvPr>
          <p:cNvSpPr>
            <a:spLocks noGrp="1"/>
          </p:cNvSpPr>
          <p:nvPr>
            <p:ph type="body" sz="quarter" idx="14"/>
          </p:nvPr>
        </p:nvSpPr>
        <p:spPr>
          <a:xfrm>
            <a:off x="457200" y="3234979"/>
            <a:ext cx="3679825" cy="3159220"/>
          </a:xfrm>
        </p:spPr>
        <p:txBody>
          <a:bodyPr/>
          <a:lstStyle>
            <a:lvl1pPr marL="0" indent="0">
              <a:lnSpc>
                <a:spcPct val="100000"/>
              </a:lnSpc>
              <a:spcBef>
                <a:spcPts val="0"/>
              </a:spcBef>
              <a:spcAft>
                <a:spcPts val="1200"/>
              </a:spcAft>
              <a:buFontTx/>
              <a:buNone/>
              <a:defRPr sz="1800">
                <a:solidFill>
                  <a:schemeClr val="bg1"/>
                </a:solidFill>
                <a:latin typeface="+mn-lt"/>
              </a:defRPr>
            </a:lvl1pPr>
            <a:lvl2pPr marL="228600" indent="-222250">
              <a:lnSpc>
                <a:spcPct val="100000"/>
              </a:lnSpc>
              <a:spcBef>
                <a:spcPts val="0"/>
              </a:spcBef>
              <a:spcAft>
                <a:spcPts val="600"/>
              </a:spcAft>
              <a:buFont typeface="Arial" panose="020B0604020202020204" pitchFamily="34" charset="0"/>
              <a:buChar char="•"/>
              <a:tabLst/>
              <a:defRPr sz="1800">
                <a:solidFill>
                  <a:schemeClr val="bg1"/>
                </a:solidFill>
                <a:latin typeface="+mj-lt"/>
              </a:defRPr>
            </a:lvl2pPr>
            <a:lvl3pPr marL="519113" indent="-274638">
              <a:lnSpc>
                <a:spcPct val="100000"/>
              </a:lnSpc>
              <a:spcBef>
                <a:spcPts val="0"/>
              </a:spcBef>
              <a:spcAft>
                <a:spcPts val="600"/>
              </a:spcAft>
              <a:tabLst/>
              <a:defRPr sz="1800">
                <a:solidFill>
                  <a:schemeClr val="bg1"/>
                </a:solidFill>
                <a:latin typeface="+mj-lt"/>
              </a:defRPr>
            </a:lvl3pPr>
            <a:lvl4pPr marL="803275" indent="-238125">
              <a:lnSpc>
                <a:spcPct val="100000"/>
              </a:lnSpc>
              <a:spcBef>
                <a:spcPts val="0"/>
              </a:spcBef>
              <a:spcAft>
                <a:spcPts val="600"/>
              </a:spcAft>
              <a:tabLst/>
              <a:defRPr sz="1800">
                <a:solidFill>
                  <a:schemeClr val="bg1"/>
                </a:solidFill>
                <a:latin typeface="+mj-lt"/>
              </a:defRPr>
            </a:lvl4pPr>
            <a:lvl5pPr marL="1085850" indent="-276225">
              <a:lnSpc>
                <a:spcPct val="100000"/>
              </a:lnSpc>
              <a:spcBef>
                <a:spcPts val="0"/>
              </a:spcBef>
              <a:spcAft>
                <a:spcPts val="600"/>
              </a:spcAft>
              <a:tabLst/>
              <a:defRPr sz="18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7">
            <a:extLst>
              <a:ext uri="{FF2B5EF4-FFF2-40B4-BE49-F238E27FC236}">
                <a16:creationId xmlns:a16="http://schemas.microsoft.com/office/drawing/2014/main" id="{58AB0188-0104-FB47-ADB6-72A9A5869AD9}"/>
              </a:ext>
            </a:extLst>
          </p:cNvPr>
          <p:cNvSpPr>
            <a:spLocks noGrp="1"/>
          </p:cNvSpPr>
          <p:nvPr>
            <p:ph type="body" sz="quarter" idx="16"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a:t> </a:t>
            </a:r>
          </a:p>
        </p:txBody>
      </p:sp>
      <p:sp>
        <p:nvSpPr>
          <p:cNvPr id="12" name="TextBox 11">
            <a:extLst>
              <a:ext uri="{FF2B5EF4-FFF2-40B4-BE49-F238E27FC236}">
                <a16:creationId xmlns:a16="http://schemas.microsoft.com/office/drawing/2014/main" id="{02021025-6C5D-4AD1-B98F-3B9F05B818B5}"/>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Calibri" panose="020F0502020204030204"/>
                <a:ea typeface="+mn-ea"/>
                <a:cs typeface="+mn-cs"/>
              </a:rPr>
              <a:t>©2024 ExlService Holdings, Inc. All rights reserved.</a:t>
            </a:r>
          </a:p>
        </p:txBody>
      </p:sp>
      <p:sp>
        <p:nvSpPr>
          <p:cNvPr id="13" name="TextBox 12">
            <a:extLst>
              <a:ext uri="{FF2B5EF4-FFF2-40B4-BE49-F238E27FC236}">
                <a16:creationId xmlns:a16="http://schemas.microsoft.com/office/drawing/2014/main" id="{0927DF11-5732-451F-BDC5-76D509152895}"/>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bg1"/>
                </a:solidFill>
              </a:rPr>
              <a:t>‹#›</a:t>
            </a:fld>
            <a:endParaRPr lang="en-US" sz="800">
              <a:solidFill>
                <a:schemeClr val="bg1"/>
              </a:solidFill>
            </a:endParaRPr>
          </a:p>
        </p:txBody>
      </p:sp>
    </p:spTree>
    <p:extLst>
      <p:ext uri="{BB962C8B-B14F-4D97-AF65-F5344CB8AC3E}">
        <p14:creationId xmlns:p14="http://schemas.microsoft.com/office/powerpoint/2010/main" val="3211801618"/>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ase study stats">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022A485-3031-104C-93B7-435966E4994D}"/>
              </a:ext>
            </a:extLst>
          </p:cNvPr>
          <p:cNvSpPr/>
          <p:nvPr userDrawn="1"/>
        </p:nvSpPr>
        <p:spPr>
          <a:xfrm>
            <a:off x="0" y="0"/>
            <a:ext cx="12192000" cy="2844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457200" y="3302000"/>
            <a:ext cx="5638800" cy="1598774"/>
          </a:xfrm>
        </p:spPr>
        <p:txBody>
          <a:bodyPr anchor="t" anchorCtr="0">
            <a:noAutofit/>
          </a:bodyPr>
          <a:lstStyle>
            <a:lvl1pPr algn="l">
              <a:lnSpc>
                <a:spcPct val="80000"/>
              </a:lnSpc>
              <a:defRPr sz="4400">
                <a:solidFill>
                  <a:schemeClr val="tx2"/>
                </a:solidFill>
              </a:defRPr>
            </a:lvl1pPr>
          </a:lstStyle>
          <a:p>
            <a:r>
              <a:rPr lang="en-US"/>
              <a:t>Click to edit </a:t>
            </a:r>
            <a:br>
              <a:rPr lang="en-US"/>
            </a:br>
            <a:r>
              <a:rPr lang="en-US"/>
              <a:t>Master </a:t>
            </a:r>
            <a:br>
              <a:rPr lang="en-US"/>
            </a:br>
            <a:r>
              <a:rPr lang="en-US"/>
              <a:t>title style</a:t>
            </a: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lnSpc>
                <a:spcPct val="100000"/>
              </a:lnSpc>
              <a:spcBef>
                <a:spcPts val="0"/>
              </a:spcBef>
              <a:spcAft>
                <a:spcPts val="300"/>
              </a:spcAft>
              <a:buNone/>
              <a:defRPr sz="1400" b="1" i="0">
                <a:solidFill>
                  <a:schemeClr val="accent3"/>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4" name="Text Placeholder 13">
            <a:extLst>
              <a:ext uri="{FF2B5EF4-FFF2-40B4-BE49-F238E27FC236}">
                <a16:creationId xmlns:a16="http://schemas.microsoft.com/office/drawing/2014/main" id="{B3583DCB-C2A9-8D44-82F4-C2F87B09BE52}"/>
              </a:ext>
            </a:extLst>
          </p:cNvPr>
          <p:cNvSpPr>
            <a:spLocks noGrp="1"/>
          </p:cNvSpPr>
          <p:nvPr>
            <p:ph type="body" sz="quarter" idx="15"/>
          </p:nvPr>
        </p:nvSpPr>
        <p:spPr>
          <a:xfrm>
            <a:off x="457200"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7" name="Text Placeholder 13">
            <a:extLst>
              <a:ext uri="{FF2B5EF4-FFF2-40B4-BE49-F238E27FC236}">
                <a16:creationId xmlns:a16="http://schemas.microsoft.com/office/drawing/2014/main" id="{CD5564F4-F564-D243-90A4-29A81E8B1643}"/>
              </a:ext>
            </a:extLst>
          </p:cNvPr>
          <p:cNvSpPr>
            <a:spLocks noGrp="1"/>
          </p:cNvSpPr>
          <p:nvPr>
            <p:ph type="body" sz="quarter" idx="16"/>
          </p:nvPr>
        </p:nvSpPr>
        <p:spPr>
          <a:xfrm>
            <a:off x="4320283"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8" name="Text Placeholder 13">
            <a:extLst>
              <a:ext uri="{FF2B5EF4-FFF2-40B4-BE49-F238E27FC236}">
                <a16:creationId xmlns:a16="http://schemas.microsoft.com/office/drawing/2014/main" id="{029C3C3B-98EF-4B44-BB0A-8940FAB64FCD}"/>
              </a:ext>
            </a:extLst>
          </p:cNvPr>
          <p:cNvSpPr>
            <a:spLocks noGrp="1"/>
          </p:cNvSpPr>
          <p:nvPr>
            <p:ph type="body" sz="quarter" idx="17"/>
          </p:nvPr>
        </p:nvSpPr>
        <p:spPr>
          <a:xfrm>
            <a:off x="8183365"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9" name="Text Placeholder 5">
            <a:extLst>
              <a:ext uri="{FF2B5EF4-FFF2-40B4-BE49-F238E27FC236}">
                <a16:creationId xmlns:a16="http://schemas.microsoft.com/office/drawing/2014/main" id="{73B81C94-B4A5-5B45-9AF6-02EAAAE1B2ED}"/>
              </a:ext>
            </a:extLst>
          </p:cNvPr>
          <p:cNvSpPr>
            <a:spLocks noGrp="1"/>
          </p:cNvSpPr>
          <p:nvPr>
            <p:ph type="body" sz="quarter" idx="18"/>
          </p:nvPr>
        </p:nvSpPr>
        <p:spPr>
          <a:xfrm>
            <a:off x="457200"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20" name="Text Placeholder 5">
            <a:extLst>
              <a:ext uri="{FF2B5EF4-FFF2-40B4-BE49-F238E27FC236}">
                <a16:creationId xmlns:a16="http://schemas.microsoft.com/office/drawing/2014/main" id="{C134E51F-B9D7-714C-A962-DAC3EA7E9B3B}"/>
              </a:ext>
            </a:extLst>
          </p:cNvPr>
          <p:cNvSpPr>
            <a:spLocks noGrp="1"/>
          </p:cNvSpPr>
          <p:nvPr>
            <p:ph type="body" sz="quarter" idx="19"/>
          </p:nvPr>
        </p:nvSpPr>
        <p:spPr>
          <a:xfrm>
            <a:off x="4310008"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21" name="Text Placeholder 5">
            <a:extLst>
              <a:ext uri="{FF2B5EF4-FFF2-40B4-BE49-F238E27FC236}">
                <a16:creationId xmlns:a16="http://schemas.microsoft.com/office/drawing/2014/main" id="{B8FBFB3F-D200-8E45-A44B-EBD239092EB0}"/>
              </a:ext>
            </a:extLst>
          </p:cNvPr>
          <p:cNvSpPr>
            <a:spLocks noGrp="1"/>
          </p:cNvSpPr>
          <p:nvPr>
            <p:ph type="body" sz="quarter" idx="20"/>
          </p:nvPr>
        </p:nvSpPr>
        <p:spPr>
          <a:xfrm>
            <a:off x="8173092"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15" name="Text Placeholder 10">
            <a:extLst>
              <a:ext uri="{FF2B5EF4-FFF2-40B4-BE49-F238E27FC236}">
                <a16:creationId xmlns:a16="http://schemas.microsoft.com/office/drawing/2014/main" id="{DB9533FB-101C-564C-A9B2-8BBC8342D8CB}"/>
              </a:ext>
            </a:extLst>
          </p:cNvPr>
          <p:cNvSpPr>
            <a:spLocks noGrp="1"/>
          </p:cNvSpPr>
          <p:nvPr>
            <p:ph type="body" sz="quarter" idx="21"/>
          </p:nvPr>
        </p:nvSpPr>
        <p:spPr>
          <a:xfrm>
            <a:off x="457200" y="5001689"/>
            <a:ext cx="5638800" cy="1240085"/>
          </a:xfrm>
        </p:spPr>
        <p:txBody>
          <a:bodyPr>
            <a:noAutofit/>
          </a:bodyPr>
          <a:lstStyle>
            <a:lvl1pPr marL="0" indent="0">
              <a:spcBef>
                <a:spcPts val="0"/>
              </a:spcBef>
              <a:spcAft>
                <a:spcPts val="400"/>
              </a:spcAft>
              <a:buFontTx/>
              <a:buNone/>
              <a:tabLst/>
              <a:defRPr sz="1500" b="1">
                <a:solidFill>
                  <a:schemeClr val="tx1"/>
                </a:solidFill>
                <a:latin typeface="+mj-lt"/>
              </a:defRPr>
            </a:lvl1pPr>
            <a:lvl2pPr marL="230188" indent="-230188">
              <a:spcBef>
                <a:spcPts val="0"/>
              </a:spcBef>
              <a:spcAft>
                <a:spcPts val="400"/>
              </a:spcAft>
              <a:buFont typeface="Arial" panose="020B0604020202020204" pitchFamily="34" charset="0"/>
              <a:buChar char="•"/>
              <a:tabLst/>
              <a:defRPr sz="1500">
                <a:solidFill>
                  <a:schemeClr val="tx1"/>
                </a:solidFill>
                <a:latin typeface="+mj-lt"/>
              </a:defRPr>
            </a:lvl2pPr>
            <a:lvl3pPr marL="460375" indent="-223838">
              <a:spcBef>
                <a:spcPts val="0"/>
              </a:spcBef>
              <a:spcAft>
                <a:spcPts val="400"/>
              </a:spcAft>
              <a:tabLst/>
              <a:defRPr sz="1500">
                <a:solidFill>
                  <a:schemeClr val="tx1"/>
                </a:solidFill>
                <a:latin typeface="+mj-lt"/>
              </a:defRPr>
            </a:lvl3pPr>
            <a:lvl4pPr marL="690563" indent="-230188">
              <a:spcBef>
                <a:spcPts val="0"/>
              </a:spcBef>
              <a:spcAft>
                <a:spcPts val="400"/>
              </a:spcAft>
              <a:tabLst/>
              <a:defRPr sz="1500">
                <a:solidFill>
                  <a:schemeClr val="tx1"/>
                </a:solidFill>
                <a:latin typeface="+mj-lt"/>
              </a:defRPr>
            </a:lvl4pPr>
            <a:lvl5pPr marL="914400" indent="-211138">
              <a:spcBef>
                <a:spcPts val="0"/>
              </a:spcBef>
              <a:spcAft>
                <a:spcPts val="400"/>
              </a:spcAft>
              <a:tabLst/>
              <a:defRPr sz="15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Box 15">
            <a:extLst>
              <a:ext uri="{FF2B5EF4-FFF2-40B4-BE49-F238E27FC236}">
                <a16:creationId xmlns:a16="http://schemas.microsoft.com/office/drawing/2014/main" id="{57023BF8-94F9-4D4F-AE8F-3AB0B07713D0}"/>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©2024 </a:t>
            </a:r>
            <a:r>
              <a:rPr kumimoji="0" lang="en-US" sz="800" b="0" i="0" u="none" strike="noStrike" kern="1200" cap="none" spc="0" normalizeH="0" baseline="0" noProof="0" err="1">
                <a:ln>
                  <a:noFill/>
                </a:ln>
                <a:solidFill>
                  <a:srgbClr val="000000"/>
                </a:solidFill>
                <a:effectLst/>
                <a:uLnTx/>
                <a:uFillTx/>
                <a:latin typeface="Calibri" panose="020F0502020204030204"/>
                <a:ea typeface="+mn-ea"/>
                <a:cs typeface="+mn-cs"/>
              </a:rPr>
              <a:t>ExlService</a:t>
            </a: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 Holdings, Inc. All rights reserved.</a:t>
            </a:r>
          </a:p>
        </p:txBody>
      </p:sp>
      <p:sp>
        <p:nvSpPr>
          <p:cNvPr id="22" name="TextBox 21">
            <a:extLst>
              <a:ext uri="{FF2B5EF4-FFF2-40B4-BE49-F238E27FC236}">
                <a16:creationId xmlns:a16="http://schemas.microsoft.com/office/drawing/2014/main" id="{554628D0-DB29-484F-AE87-9BA55BF787A1}"/>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654665069"/>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ase study detailed">
    <p:bg>
      <p:bgRef idx="1001">
        <a:schemeClr val="bg1"/>
      </p:bgRef>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6" name="TextBox 15">
            <a:extLst>
              <a:ext uri="{FF2B5EF4-FFF2-40B4-BE49-F238E27FC236}">
                <a16:creationId xmlns:a16="http://schemas.microsoft.com/office/drawing/2014/main" id="{57023BF8-94F9-4D4F-AE8F-3AB0B07713D0}"/>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©2025 EXL Service Holdings, Inc. All rights reserved.</a:t>
            </a:r>
          </a:p>
        </p:txBody>
      </p:sp>
      <p:sp>
        <p:nvSpPr>
          <p:cNvPr id="22" name="TextBox 21">
            <a:extLst>
              <a:ext uri="{FF2B5EF4-FFF2-40B4-BE49-F238E27FC236}">
                <a16:creationId xmlns:a16="http://schemas.microsoft.com/office/drawing/2014/main" id="{554628D0-DB29-484F-AE87-9BA55BF787A1}"/>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4" name="Rectangle 3">
            <a:extLst>
              <a:ext uri="{FF2B5EF4-FFF2-40B4-BE49-F238E27FC236}">
                <a16:creationId xmlns:a16="http://schemas.microsoft.com/office/drawing/2014/main" id="{BB91A87A-BFA2-5774-D897-5DA882B78A77}"/>
              </a:ext>
            </a:extLst>
          </p:cNvPr>
          <p:cNvSpPr/>
          <p:nvPr userDrawn="1"/>
        </p:nvSpPr>
        <p:spPr>
          <a:xfrm>
            <a:off x="0" y="2"/>
            <a:ext cx="12192000" cy="1302326"/>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C0C95D7-21A9-CC2A-7CC1-81A26F21BCF3}"/>
              </a:ext>
            </a:extLst>
          </p:cNvPr>
          <p:cNvSpPr txBox="1"/>
          <p:nvPr userDrawn="1"/>
        </p:nvSpPr>
        <p:spPr>
          <a:xfrm>
            <a:off x="9912760" y="881559"/>
            <a:ext cx="2068708" cy="553998"/>
          </a:xfrm>
          <a:prstGeom prst="rect">
            <a:avLst/>
          </a:prstGeom>
          <a:noFill/>
        </p:spPr>
        <p:txBody>
          <a:bodyPr wrap="none" rtlCol="0">
            <a:spAutoFit/>
          </a:bodyPr>
          <a:lstStyle/>
          <a:p>
            <a:r>
              <a:rPr lang="en-US" sz="3000">
                <a:solidFill>
                  <a:schemeClr val="bg1"/>
                </a:solidFill>
                <a:latin typeface="+mj-lt"/>
              </a:rPr>
              <a:t>CASE STUDY</a:t>
            </a:r>
          </a:p>
        </p:txBody>
      </p:sp>
      <p:sp>
        <p:nvSpPr>
          <p:cNvPr id="10" name="Text Placeholder 9">
            <a:extLst>
              <a:ext uri="{FF2B5EF4-FFF2-40B4-BE49-F238E27FC236}">
                <a16:creationId xmlns:a16="http://schemas.microsoft.com/office/drawing/2014/main" id="{09F8A7F0-36A8-F7F8-93EA-B7D45AAAE0F1}"/>
              </a:ext>
            </a:extLst>
          </p:cNvPr>
          <p:cNvSpPr>
            <a:spLocks noGrp="1"/>
          </p:cNvSpPr>
          <p:nvPr>
            <p:ph type="body" sz="quarter" idx="10"/>
          </p:nvPr>
        </p:nvSpPr>
        <p:spPr>
          <a:xfrm>
            <a:off x="457200" y="315990"/>
            <a:ext cx="11524268" cy="558199"/>
          </a:xfrm>
        </p:spPr>
        <p:txBody>
          <a:bodyPr/>
          <a:lstStyle>
            <a:lvl1pPr marL="0" indent="0">
              <a:buNone/>
              <a:defRPr sz="3600"/>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27" name="Text Placeholder 26">
            <a:extLst>
              <a:ext uri="{FF2B5EF4-FFF2-40B4-BE49-F238E27FC236}">
                <a16:creationId xmlns:a16="http://schemas.microsoft.com/office/drawing/2014/main" id="{0341B144-3A4C-B95E-E40F-3D52D3981375}"/>
              </a:ext>
            </a:extLst>
          </p:cNvPr>
          <p:cNvSpPr>
            <a:spLocks noGrp="1"/>
          </p:cNvSpPr>
          <p:nvPr>
            <p:ph type="body" sz="quarter" idx="12"/>
          </p:nvPr>
        </p:nvSpPr>
        <p:spPr>
          <a:xfrm>
            <a:off x="457200" y="976313"/>
            <a:ext cx="8308975" cy="499237"/>
          </a:xfrm>
        </p:spPr>
        <p:txBody>
          <a:bodyPr/>
          <a:lstStyle>
            <a:lvl1pPr marL="0" indent="0">
              <a:buFontTx/>
              <a:buNone/>
              <a:defRPr sz="1600" b="1">
                <a:solidFill>
                  <a:schemeClr val="accent3"/>
                </a:solidFill>
                <a:latin typeface="+mn-lt"/>
              </a:defRPr>
            </a:lvl1pPr>
          </a:lstStyle>
          <a:p>
            <a:pPr lvl="0"/>
            <a:r>
              <a:rPr lang="en-US"/>
              <a:t>Click to edit Master text styles</a:t>
            </a:r>
          </a:p>
        </p:txBody>
      </p:sp>
      <p:sp>
        <p:nvSpPr>
          <p:cNvPr id="29" name="Text Placeholder 26">
            <a:extLst>
              <a:ext uri="{FF2B5EF4-FFF2-40B4-BE49-F238E27FC236}">
                <a16:creationId xmlns:a16="http://schemas.microsoft.com/office/drawing/2014/main" id="{85C16B2F-0E6E-4C9F-FDC9-5049DDE918B7}"/>
              </a:ext>
            </a:extLst>
          </p:cNvPr>
          <p:cNvSpPr>
            <a:spLocks noGrp="1"/>
          </p:cNvSpPr>
          <p:nvPr>
            <p:ph type="body" sz="quarter" idx="13" hasCustomPrompt="1"/>
          </p:nvPr>
        </p:nvSpPr>
        <p:spPr>
          <a:xfrm>
            <a:off x="457201" y="1866901"/>
            <a:ext cx="2201157" cy="282410"/>
          </a:xfrm>
        </p:spPr>
        <p:txBody>
          <a:bodyPr/>
          <a:lstStyle>
            <a:lvl1pPr marL="0" indent="0">
              <a:buFontTx/>
              <a:buNone/>
              <a:defRPr sz="1600" b="1">
                <a:solidFill>
                  <a:schemeClr val="accent3"/>
                </a:solidFill>
                <a:latin typeface="+mn-lt"/>
              </a:defRPr>
            </a:lvl1pPr>
          </a:lstStyle>
          <a:p>
            <a:pPr lvl="0"/>
            <a:r>
              <a:rPr lang="en-US"/>
              <a:t>Client</a:t>
            </a:r>
          </a:p>
        </p:txBody>
      </p:sp>
      <p:sp>
        <p:nvSpPr>
          <p:cNvPr id="32" name="Text Placeholder 31">
            <a:extLst>
              <a:ext uri="{FF2B5EF4-FFF2-40B4-BE49-F238E27FC236}">
                <a16:creationId xmlns:a16="http://schemas.microsoft.com/office/drawing/2014/main" id="{FD25BC01-6A2C-BC8A-CE0F-9CCBDA97A1D6}"/>
              </a:ext>
            </a:extLst>
          </p:cNvPr>
          <p:cNvSpPr>
            <a:spLocks noGrp="1"/>
          </p:cNvSpPr>
          <p:nvPr>
            <p:ph type="body" sz="quarter" idx="14" hasCustomPrompt="1"/>
          </p:nvPr>
        </p:nvSpPr>
        <p:spPr>
          <a:xfrm>
            <a:off x="461388" y="2221522"/>
            <a:ext cx="2196206" cy="1055065"/>
          </a:xfrm>
        </p:spPr>
        <p:txBody>
          <a:bodyPr/>
          <a:lstStyle>
            <a:lvl1pPr marL="0" indent="0">
              <a:buFontTx/>
              <a:buNone/>
              <a:defRPr lang="en-US" sz="1800" kern="1200" dirty="0" smtClean="0">
                <a:solidFill>
                  <a:srgbClr val="000000"/>
                </a:solidFill>
                <a:latin typeface="+mj-lt"/>
                <a:ea typeface="+mn-ea"/>
                <a:cs typeface="+mn-cs"/>
              </a:defRPr>
            </a:lvl1pPr>
            <a:lvl2pPr marL="290513" indent="0">
              <a:buFontTx/>
              <a:buNone/>
              <a:defRPr lang="en-US" sz="1800" kern="1200" dirty="0" smtClean="0">
                <a:solidFill>
                  <a:srgbClr val="000000"/>
                </a:solidFill>
                <a:latin typeface="+mj-lt"/>
                <a:ea typeface="+mn-ea"/>
                <a:cs typeface="+mn-cs"/>
              </a:defRPr>
            </a:lvl2pPr>
            <a:lvl3pPr marL="582613" indent="0">
              <a:buFontTx/>
              <a:buNone/>
              <a:defRPr lang="en-US" sz="1800" kern="1200" dirty="0" smtClean="0">
                <a:solidFill>
                  <a:srgbClr val="000000"/>
                </a:solidFill>
                <a:latin typeface="+mj-lt"/>
                <a:ea typeface="+mn-ea"/>
                <a:cs typeface="+mn-cs"/>
              </a:defRPr>
            </a:lvl3pPr>
            <a:lvl4pPr marL="855663" indent="0">
              <a:buFontTx/>
              <a:buNone/>
              <a:defRPr lang="en-US" sz="1800" kern="1200" dirty="0" smtClean="0">
                <a:solidFill>
                  <a:srgbClr val="000000"/>
                </a:solidFill>
                <a:latin typeface="+mj-lt"/>
                <a:ea typeface="+mn-ea"/>
                <a:cs typeface="+mn-cs"/>
              </a:defRPr>
            </a:lvl4pPr>
            <a:lvl5pPr marL="1100138" indent="0">
              <a:buFontTx/>
              <a:buNone/>
              <a:defRPr lang="en-US" sz="1800" kern="1200" dirty="0">
                <a:solidFill>
                  <a:srgbClr val="000000"/>
                </a:solidFill>
                <a:latin typeface="+mj-lt"/>
                <a:ea typeface="+mn-ea"/>
                <a:cs typeface="+mn-cs"/>
              </a:defRPr>
            </a:lvl5pPr>
          </a:lstStyle>
          <a:p>
            <a:pPr lvl="0"/>
            <a:r>
              <a:rPr lang="en-US"/>
              <a:t>Client industry intro description goes here on up to four lines of text content</a:t>
            </a:r>
          </a:p>
        </p:txBody>
      </p:sp>
    </p:spTree>
    <p:extLst>
      <p:ext uri="{BB962C8B-B14F-4D97-AF65-F5344CB8AC3E}">
        <p14:creationId xmlns:p14="http://schemas.microsoft.com/office/powerpoint/2010/main" val="2728269061"/>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ase study option">
    <p:bg>
      <p:bgRef idx="1001">
        <a:schemeClr val="bg1"/>
      </p:bgRef>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6" name="TextBox 15">
            <a:extLst>
              <a:ext uri="{FF2B5EF4-FFF2-40B4-BE49-F238E27FC236}">
                <a16:creationId xmlns:a16="http://schemas.microsoft.com/office/drawing/2014/main" id="{57023BF8-94F9-4D4F-AE8F-3AB0B07713D0}"/>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©2024 </a:t>
            </a:r>
            <a:r>
              <a:rPr kumimoji="0" lang="en-US" sz="800" b="0" i="0" u="none" strike="noStrike" kern="1200" cap="none" spc="0" normalizeH="0" baseline="0" noProof="0" err="1">
                <a:ln>
                  <a:noFill/>
                </a:ln>
                <a:solidFill>
                  <a:srgbClr val="000000"/>
                </a:solidFill>
                <a:effectLst/>
                <a:uLnTx/>
                <a:uFillTx/>
                <a:latin typeface="Calibri" panose="020F0502020204030204"/>
                <a:ea typeface="+mn-ea"/>
                <a:cs typeface="+mn-cs"/>
              </a:rPr>
              <a:t>ExlService</a:t>
            </a: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 Holdings, Inc. All rights reserved.</a:t>
            </a:r>
          </a:p>
        </p:txBody>
      </p:sp>
      <p:sp>
        <p:nvSpPr>
          <p:cNvPr id="22" name="TextBox 21">
            <a:extLst>
              <a:ext uri="{FF2B5EF4-FFF2-40B4-BE49-F238E27FC236}">
                <a16:creationId xmlns:a16="http://schemas.microsoft.com/office/drawing/2014/main" id="{554628D0-DB29-484F-AE87-9BA55BF787A1}"/>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
        <p:nvSpPr>
          <p:cNvPr id="4" name="Rectangle 3">
            <a:extLst>
              <a:ext uri="{FF2B5EF4-FFF2-40B4-BE49-F238E27FC236}">
                <a16:creationId xmlns:a16="http://schemas.microsoft.com/office/drawing/2014/main" id="{BB91A87A-BFA2-5774-D897-5DA882B78A77}"/>
              </a:ext>
            </a:extLst>
          </p:cNvPr>
          <p:cNvSpPr/>
          <p:nvPr userDrawn="1"/>
        </p:nvSpPr>
        <p:spPr>
          <a:xfrm>
            <a:off x="0" y="1"/>
            <a:ext cx="12192000" cy="161198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C0C95D7-21A9-CC2A-7CC1-81A26F21BCF3}"/>
              </a:ext>
            </a:extLst>
          </p:cNvPr>
          <p:cNvSpPr txBox="1"/>
          <p:nvPr userDrawn="1"/>
        </p:nvSpPr>
        <p:spPr>
          <a:xfrm>
            <a:off x="8766928" y="976213"/>
            <a:ext cx="3322063" cy="861774"/>
          </a:xfrm>
          <a:prstGeom prst="rect">
            <a:avLst/>
          </a:prstGeom>
          <a:noFill/>
        </p:spPr>
        <p:txBody>
          <a:bodyPr wrap="none" rtlCol="0">
            <a:spAutoFit/>
          </a:bodyPr>
          <a:lstStyle/>
          <a:p>
            <a:r>
              <a:rPr lang="en-US" sz="5000">
                <a:solidFill>
                  <a:schemeClr val="bg1"/>
                </a:solidFill>
                <a:latin typeface="+mj-lt"/>
              </a:rPr>
              <a:t>CASE STUDY</a:t>
            </a:r>
          </a:p>
        </p:txBody>
      </p:sp>
      <p:sp>
        <p:nvSpPr>
          <p:cNvPr id="10" name="Text Placeholder 9">
            <a:extLst>
              <a:ext uri="{FF2B5EF4-FFF2-40B4-BE49-F238E27FC236}">
                <a16:creationId xmlns:a16="http://schemas.microsoft.com/office/drawing/2014/main" id="{09F8A7F0-36A8-F7F8-93EA-B7D45AAAE0F1}"/>
              </a:ext>
            </a:extLst>
          </p:cNvPr>
          <p:cNvSpPr>
            <a:spLocks noGrp="1"/>
          </p:cNvSpPr>
          <p:nvPr>
            <p:ph type="body" sz="quarter" idx="10"/>
          </p:nvPr>
        </p:nvSpPr>
        <p:spPr>
          <a:xfrm>
            <a:off x="457200" y="315990"/>
            <a:ext cx="11524268" cy="558199"/>
          </a:xfrm>
        </p:spPr>
        <p:txBody>
          <a:bodyPr/>
          <a:lstStyle>
            <a:lvl1pPr marL="0" indent="0">
              <a:buNone/>
              <a:defRPr sz="3600"/>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27" name="Text Placeholder 26">
            <a:extLst>
              <a:ext uri="{FF2B5EF4-FFF2-40B4-BE49-F238E27FC236}">
                <a16:creationId xmlns:a16="http://schemas.microsoft.com/office/drawing/2014/main" id="{0341B144-3A4C-B95E-E40F-3D52D3981375}"/>
              </a:ext>
            </a:extLst>
          </p:cNvPr>
          <p:cNvSpPr>
            <a:spLocks noGrp="1"/>
          </p:cNvSpPr>
          <p:nvPr>
            <p:ph type="body" sz="quarter" idx="12"/>
          </p:nvPr>
        </p:nvSpPr>
        <p:spPr>
          <a:xfrm>
            <a:off x="457200" y="976313"/>
            <a:ext cx="8308975" cy="499237"/>
          </a:xfrm>
        </p:spPr>
        <p:txBody>
          <a:bodyPr/>
          <a:lstStyle>
            <a:lvl1pPr marL="0" indent="0">
              <a:buFontTx/>
              <a:buNone/>
              <a:defRPr sz="1600" b="1">
                <a:solidFill>
                  <a:schemeClr val="accent3"/>
                </a:solidFill>
                <a:latin typeface="+mn-lt"/>
              </a:defRPr>
            </a:lvl1pPr>
          </a:lstStyle>
          <a:p>
            <a:pPr lvl="0"/>
            <a:r>
              <a:rPr lang="en-US"/>
              <a:t>Click to edit Master text styles</a:t>
            </a:r>
          </a:p>
        </p:txBody>
      </p:sp>
    </p:spTree>
    <p:extLst>
      <p:ext uri="{BB962C8B-B14F-4D97-AF65-F5344CB8AC3E}">
        <p14:creationId xmlns:p14="http://schemas.microsoft.com/office/powerpoint/2010/main" val="1535956283"/>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hart highlight">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433888" y="1184239"/>
            <a:ext cx="7300912" cy="4456113"/>
          </a:xfrm>
          <a:noFill/>
        </p:spPr>
        <p:txBody>
          <a:bodyPr anchor="ctr" anchorCtr="0"/>
          <a:lstStyle>
            <a:lvl1pPr marL="0" indent="0" algn="ctr">
              <a:buNone/>
              <a:defRPr sz="1600"/>
            </a:lvl1pPr>
          </a:lstStyle>
          <a:p>
            <a:pPr lvl="0"/>
            <a:r>
              <a:rPr lang="en-US"/>
              <a:t>Insert infographics within this area</a:t>
            </a:r>
          </a:p>
        </p:txBody>
      </p:sp>
      <p:sp>
        <p:nvSpPr>
          <p:cNvPr id="10" name="Title 1">
            <a:extLst>
              <a:ext uri="{FF2B5EF4-FFF2-40B4-BE49-F238E27FC236}">
                <a16:creationId xmlns:a16="http://schemas.microsoft.com/office/drawing/2014/main" id="{1ACA16BD-E4B6-9444-B185-131F327A874C}"/>
              </a:ext>
            </a:extLst>
          </p:cNvPr>
          <p:cNvSpPr>
            <a:spLocks noGrp="1"/>
          </p:cNvSpPr>
          <p:nvPr>
            <p:ph type="ctrTitle"/>
          </p:nvPr>
        </p:nvSpPr>
        <p:spPr>
          <a:xfrm>
            <a:off x="457200" y="1184239"/>
            <a:ext cx="3679371" cy="1649186"/>
          </a:xfrm>
        </p:spPr>
        <p:txBody>
          <a:bodyPr anchor="t" anchorCtr="0">
            <a:noAutofit/>
          </a:bodyPr>
          <a:lstStyle>
            <a:lvl1pPr algn="l">
              <a:lnSpc>
                <a:spcPct val="80000"/>
              </a:lnSpc>
              <a:defRPr sz="4400">
                <a:solidFill>
                  <a:schemeClr val="tx2"/>
                </a:solidFill>
              </a:defRPr>
            </a:lvl1pPr>
          </a:lstStyle>
          <a:p>
            <a:r>
              <a:rPr lang="en-US"/>
              <a:t>Click to edit Master title style</a:t>
            </a:r>
          </a:p>
        </p:txBody>
      </p:sp>
      <p:sp>
        <p:nvSpPr>
          <p:cNvPr id="6" name="Text Placeholder 5">
            <a:extLst>
              <a:ext uri="{FF2B5EF4-FFF2-40B4-BE49-F238E27FC236}">
                <a16:creationId xmlns:a16="http://schemas.microsoft.com/office/drawing/2014/main" id="{B9479803-0328-0048-8006-F62792C416FF}"/>
              </a:ext>
            </a:extLst>
          </p:cNvPr>
          <p:cNvSpPr>
            <a:spLocks noGrp="1"/>
          </p:cNvSpPr>
          <p:nvPr>
            <p:ph type="body" sz="quarter" idx="16"/>
          </p:nvPr>
        </p:nvSpPr>
        <p:spPr>
          <a:xfrm>
            <a:off x="457200" y="6265985"/>
            <a:ext cx="3679825" cy="311028"/>
          </a:xfrm>
        </p:spPr>
        <p:txBody>
          <a:bodyPr anchor="b" anchorCtr="0"/>
          <a:lstStyle>
            <a:lvl1pPr marL="0" indent="0">
              <a:spcBef>
                <a:spcPts val="0"/>
              </a:spcBef>
              <a:buNone/>
              <a:defRPr sz="800">
                <a:latin typeface="+mj-lt"/>
              </a:defRPr>
            </a:lvl1pPr>
            <a:lvl2pPr marL="290513" indent="0">
              <a:spcBef>
                <a:spcPts val="0"/>
              </a:spcBef>
              <a:buNone/>
              <a:defRPr sz="1050"/>
            </a:lvl2pPr>
            <a:lvl3pPr marL="582613" indent="0">
              <a:spcBef>
                <a:spcPts val="0"/>
              </a:spcBef>
              <a:buNone/>
              <a:defRPr sz="1050"/>
            </a:lvl3pPr>
            <a:lvl4pPr marL="855663" indent="0">
              <a:spcBef>
                <a:spcPts val="0"/>
              </a:spcBef>
              <a:buNone/>
              <a:defRPr sz="1050"/>
            </a:lvl4pPr>
            <a:lvl5pPr marL="1100138" indent="0">
              <a:spcBef>
                <a:spcPts val="0"/>
              </a:spcBef>
              <a:buNone/>
              <a:defRPr sz="1050"/>
            </a:lvl5pPr>
          </a:lstStyle>
          <a:p>
            <a:pPr lvl="0"/>
            <a:r>
              <a:rPr lang="en-US"/>
              <a:t>Click to edit Master text styles</a:t>
            </a:r>
          </a:p>
        </p:txBody>
      </p:sp>
      <p:sp>
        <p:nvSpPr>
          <p:cNvPr id="12" name="Text Placeholder 10">
            <a:extLst>
              <a:ext uri="{FF2B5EF4-FFF2-40B4-BE49-F238E27FC236}">
                <a16:creationId xmlns:a16="http://schemas.microsoft.com/office/drawing/2014/main" id="{6CEDD1B3-BEED-F34A-B2B4-FB9C258BD230}"/>
              </a:ext>
            </a:extLst>
          </p:cNvPr>
          <p:cNvSpPr>
            <a:spLocks noGrp="1"/>
          </p:cNvSpPr>
          <p:nvPr>
            <p:ph type="body" sz="quarter" idx="19"/>
          </p:nvPr>
        </p:nvSpPr>
        <p:spPr>
          <a:xfrm>
            <a:off x="457200" y="2933317"/>
            <a:ext cx="3667742" cy="1822983"/>
          </a:xfrm>
        </p:spPr>
        <p:txBody>
          <a:bodyPr>
            <a:noAutofit/>
          </a:bodyPr>
          <a:lstStyle>
            <a:lvl1pPr marL="0" indent="0">
              <a:spcBef>
                <a:spcPts val="0"/>
              </a:spcBef>
              <a:spcAft>
                <a:spcPts val="400"/>
              </a:spcAft>
              <a:buFontTx/>
              <a:buNone/>
              <a:tabLst/>
              <a:defRPr sz="2200">
                <a:solidFill>
                  <a:schemeClr val="tx1"/>
                </a:solidFill>
                <a:latin typeface="+mn-lt"/>
              </a:defRPr>
            </a:lvl1pPr>
            <a:lvl2pPr marL="460375" indent="-223838">
              <a:spcBef>
                <a:spcPts val="0"/>
              </a:spcBef>
              <a:spcAft>
                <a:spcPts val="400"/>
              </a:spcAft>
              <a:buClr>
                <a:schemeClr val="tx2"/>
              </a:buClr>
              <a:buFont typeface="Arial" panose="020B0604020202020204" pitchFamily="34" charset="0"/>
              <a:buChar char="•"/>
              <a:tabLst/>
              <a:defRPr sz="2000">
                <a:solidFill>
                  <a:schemeClr val="tx1"/>
                </a:solidFill>
                <a:latin typeface="+mj-lt"/>
              </a:defRPr>
            </a:lvl2pPr>
            <a:lvl3pPr marL="690563" indent="-223838">
              <a:spcBef>
                <a:spcPts val="0"/>
              </a:spcBef>
              <a:spcAft>
                <a:spcPts val="400"/>
              </a:spcAft>
              <a:tabLst/>
              <a:defRPr sz="2000">
                <a:solidFill>
                  <a:schemeClr val="tx1"/>
                </a:solidFill>
                <a:latin typeface="+mj-lt"/>
              </a:defRPr>
            </a:lvl3pPr>
            <a:lvl4pPr marL="914400" indent="-230188">
              <a:spcBef>
                <a:spcPts val="0"/>
              </a:spcBef>
              <a:spcAft>
                <a:spcPts val="400"/>
              </a:spcAft>
              <a:tabLst/>
              <a:defRPr sz="1800">
                <a:solidFill>
                  <a:schemeClr val="tx1"/>
                </a:solidFill>
                <a:latin typeface="+mj-lt"/>
              </a:defRPr>
            </a:lvl4pPr>
            <a:lvl5pPr marL="1144588" indent="-211138">
              <a:spcBef>
                <a:spcPts val="0"/>
              </a:spcBef>
              <a:spcAft>
                <a:spcPts val="400"/>
              </a:spcAft>
              <a:tabLst/>
              <a:defRPr sz="18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Box 10">
            <a:extLst>
              <a:ext uri="{FF2B5EF4-FFF2-40B4-BE49-F238E27FC236}">
                <a16:creationId xmlns:a16="http://schemas.microsoft.com/office/drawing/2014/main" id="{BE405EF5-67A3-467C-B557-30C099F3F7D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©2024 </a:t>
            </a:r>
            <a:r>
              <a:rPr kumimoji="0" lang="en-US" sz="800" b="0" i="0" u="none" strike="noStrike" kern="1200" cap="none" spc="0" normalizeH="0" baseline="0" noProof="0" err="1">
                <a:ln>
                  <a:noFill/>
                </a:ln>
                <a:solidFill>
                  <a:srgbClr val="000000"/>
                </a:solidFill>
                <a:effectLst/>
                <a:uLnTx/>
                <a:uFillTx/>
                <a:latin typeface="Calibri" panose="020F0502020204030204"/>
                <a:ea typeface="+mn-ea"/>
                <a:cs typeface="+mn-cs"/>
              </a:rPr>
              <a:t>ExlService</a:t>
            </a: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 Holdings, Inc. All rights reserved.</a:t>
            </a:r>
          </a:p>
        </p:txBody>
      </p:sp>
      <p:sp>
        <p:nvSpPr>
          <p:cNvPr id="13" name="TextBox 12">
            <a:extLst>
              <a:ext uri="{FF2B5EF4-FFF2-40B4-BE49-F238E27FC236}">
                <a16:creationId xmlns:a16="http://schemas.microsoft.com/office/drawing/2014/main" id="{F7E476FB-F1EB-4325-8567-72CD95BF0CAA}"/>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69665918"/>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873797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ct Slide White">
    <p:bg>
      <p:bgRef idx="1001">
        <a:schemeClr val="bg1"/>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6" name="Text Placeholder 4">
            <a:extLst>
              <a:ext uri="{FF2B5EF4-FFF2-40B4-BE49-F238E27FC236}">
                <a16:creationId xmlns:a16="http://schemas.microsoft.com/office/drawing/2014/main" id="{5EC6E547-EACF-304E-A8A1-B89AA8072024}"/>
              </a:ext>
            </a:extLst>
          </p:cNvPr>
          <p:cNvSpPr>
            <a:spLocks noGrp="1"/>
          </p:cNvSpPr>
          <p:nvPr>
            <p:ph type="body" sz="quarter" idx="17"/>
          </p:nvPr>
        </p:nvSpPr>
        <p:spPr>
          <a:xfrm>
            <a:off x="4792607"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684" y="1133447"/>
            <a:ext cx="1797646" cy="1152337"/>
          </a:xfrm>
          <a:prstGeom prst="rect">
            <a:avLst/>
          </a:prstGeom>
        </p:spPr>
      </p:pic>
    </p:spTree>
    <p:extLst>
      <p:ext uri="{BB962C8B-B14F-4D97-AF65-F5344CB8AC3E}">
        <p14:creationId xmlns:p14="http://schemas.microsoft.com/office/powerpoint/2010/main" val="1573514717"/>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act Slide Orange">
    <p:bg>
      <p:bgPr>
        <a:solidFill>
          <a:schemeClr val="bg2"/>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6" name="Text Placeholder 4">
            <a:extLst>
              <a:ext uri="{FF2B5EF4-FFF2-40B4-BE49-F238E27FC236}">
                <a16:creationId xmlns:a16="http://schemas.microsoft.com/office/drawing/2014/main" id="{5EC6E547-EACF-304E-A8A1-B89AA8072024}"/>
              </a:ext>
            </a:extLst>
          </p:cNvPr>
          <p:cNvSpPr>
            <a:spLocks noGrp="1"/>
          </p:cNvSpPr>
          <p:nvPr>
            <p:ph type="body" sz="quarter" idx="17"/>
          </p:nvPr>
        </p:nvSpPr>
        <p:spPr>
          <a:xfrm>
            <a:off x="4792607"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684" y="1133447"/>
            <a:ext cx="1797645" cy="1152337"/>
          </a:xfrm>
          <a:prstGeom prst="rect">
            <a:avLst/>
          </a:prstGeom>
        </p:spPr>
      </p:pic>
    </p:spTree>
    <p:extLst>
      <p:ext uri="{BB962C8B-B14F-4D97-AF65-F5344CB8AC3E}">
        <p14:creationId xmlns:p14="http://schemas.microsoft.com/office/powerpoint/2010/main" val="2378266953"/>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Main Slid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05975"/>
            <a:ext cx="11277600" cy="635000"/>
          </a:xfrm>
        </p:spPr>
        <p:txBody>
          <a:bodyPr anchor="t" anchorCtr="0">
            <a:noAutofit/>
          </a:bodyPr>
          <a:lstStyle>
            <a:lvl1pPr algn="l">
              <a:lnSpc>
                <a:spcPct val="80000"/>
              </a:lnSpc>
              <a:defRPr sz="3600">
                <a:solidFill>
                  <a:schemeClr val="tx1"/>
                </a:solidFill>
              </a:defRPr>
            </a:lvl1pPr>
          </a:lstStyle>
          <a:p>
            <a:r>
              <a:rPr lang="en-US"/>
              <a:t>Click to edit Master title style</a:t>
            </a: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245445"/>
            <a:ext cx="5638800" cy="197318"/>
          </a:xfrm>
        </p:spPr>
        <p:txBody>
          <a:bodyPr>
            <a:noAutofit/>
          </a:bodyPr>
          <a:lstStyle>
            <a:lvl1pPr marL="0" indent="0" algn="l" defTabSz="914400" rtl="0" eaLnBrk="1" latinLnBrk="0" hangingPunct="1">
              <a:lnSpc>
                <a:spcPct val="90000"/>
              </a:lnSpc>
              <a:spcBef>
                <a:spcPts val="0"/>
              </a:spcBef>
              <a:buClr>
                <a:schemeClr val="tx1"/>
              </a:buClr>
              <a:buFont typeface="System Font Regular"/>
              <a:buNone/>
              <a:defRPr lang="en-US" sz="1400" b="1" i="0" kern="1200" dirty="0" smtClean="0">
                <a:solidFill>
                  <a:schemeClr val="tx2"/>
                </a:solidFill>
                <a:latin typeface="Calibri" panose="020F0502020204030204" pitchFamily="34" charset="0"/>
                <a:ea typeface="+mn-ea"/>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Edit Master text styles</a:t>
            </a:r>
          </a:p>
        </p:txBody>
      </p:sp>
      <p:pic>
        <p:nvPicPr>
          <p:cNvPr id="14" name="Picture 13">
            <a:extLst>
              <a:ext uri="{FF2B5EF4-FFF2-40B4-BE49-F238E27FC236}">
                <a16:creationId xmlns:a16="http://schemas.microsoft.com/office/drawing/2014/main" id="{C6B72333-1498-944B-A236-F01FCD24FF7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29" name="TextBox 28">
            <a:extLst>
              <a:ext uri="{FF2B5EF4-FFF2-40B4-BE49-F238E27FC236}">
                <a16:creationId xmlns:a16="http://schemas.microsoft.com/office/drawing/2014/main" id="{BA34894E-B79F-463F-BA97-84C5F3367B2E}"/>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©2024 ExlService Holdings, Inc. All rights reserved.</a:t>
            </a:r>
          </a:p>
        </p:txBody>
      </p:sp>
      <p:sp>
        <p:nvSpPr>
          <p:cNvPr id="30" name="TextBox 29">
            <a:extLst>
              <a:ext uri="{FF2B5EF4-FFF2-40B4-BE49-F238E27FC236}">
                <a16:creationId xmlns:a16="http://schemas.microsoft.com/office/drawing/2014/main" id="{EA53703C-A54A-44E3-8138-DA5F3806C0E6}"/>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a:solidFill>
                <a:schemeClr val="tx2"/>
              </a:solidFill>
            </a:endParaRPr>
          </a:p>
        </p:txBody>
      </p:sp>
    </p:spTree>
    <p:extLst>
      <p:ext uri="{BB962C8B-B14F-4D97-AF65-F5344CB8AC3E}">
        <p14:creationId xmlns:p14="http://schemas.microsoft.com/office/powerpoint/2010/main" val="3234217516"/>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One Column Content">
    <p:bg>
      <p:bgRef idx="1001">
        <a:schemeClr val="bg1"/>
      </p:bgRef>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57200" y="1415144"/>
            <a:ext cx="11277600" cy="4717813"/>
          </a:xfrm>
          <a:noFill/>
        </p:spPr>
        <p:txBody>
          <a:bodyPr anchor="ctr" anchorCtr="0"/>
          <a:lstStyle>
            <a:lvl1pPr marL="0" indent="0" algn="ctr">
              <a:buNone/>
              <a:defRPr sz="1600"/>
            </a:lvl1pPr>
          </a:lstStyle>
          <a:p>
            <a:pPr lvl="0"/>
            <a:r>
              <a:rPr lang="en-US"/>
              <a:t>Insert infographics within this area</a:t>
            </a:r>
          </a:p>
        </p:txBody>
      </p:sp>
      <p:sp>
        <p:nvSpPr>
          <p:cNvPr id="2" name="Title 1"/>
          <p:cNvSpPr>
            <a:spLocks noGrp="1"/>
          </p:cNvSpPr>
          <p:nvPr>
            <p:ph type="ctrTitle"/>
          </p:nvPr>
        </p:nvSpPr>
        <p:spPr>
          <a:xfrm>
            <a:off x="457200" y="456744"/>
            <a:ext cx="11277600" cy="864056"/>
          </a:xfrm>
        </p:spPr>
        <p:txBody>
          <a:bodyPr anchor="t" anchorCtr="0">
            <a:noAutofit/>
          </a:bodyPr>
          <a:lstStyle>
            <a:lvl1pPr algn="l">
              <a:lnSpc>
                <a:spcPct val="80000"/>
              </a:lnSpc>
              <a:defRPr sz="3200">
                <a:solidFill>
                  <a:schemeClr val="tx2"/>
                </a:solidFill>
              </a:defRPr>
            </a:lvl1pPr>
          </a:lstStyle>
          <a:p>
            <a:r>
              <a:rPr lang="en-US"/>
              <a:t>Click to edit Master title style</a:t>
            </a:r>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lvl1pPr>
          </a:lstStyle>
          <a:p>
            <a:r>
              <a:rPr lang="en-US"/>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lvl1pPr>
          </a:lstStyle>
          <a:p>
            <a:fld id="{CCA08CA8-4222-D24F-ACDB-33341C247B6F}" type="slidenum">
              <a:rPr lang="en-US" smtClean="0"/>
              <a:pPr/>
              <a:t>‹#›</a:t>
            </a:fld>
            <a:endParaRPr lang="en-US"/>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696686" y="1626159"/>
            <a:ext cx="5399314" cy="500184"/>
          </a:xfrm>
        </p:spPr>
        <p:txBody>
          <a:bodyPr>
            <a:noAutofit/>
          </a:bodyPr>
          <a:lstStyle>
            <a:lvl1pPr marL="0" indent="0">
              <a:spcBef>
                <a:spcPts val="0"/>
              </a:spcBef>
              <a:buNone/>
              <a:defRPr sz="1400" b="1" i="0">
                <a:solidFill>
                  <a:schemeClr val="tx2"/>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Tree>
    <p:extLst>
      <p:ext uri="{BB962C8B-B14F-4D97-AF65-F5344CB8AC3E}">
        <p14:creationId xmlns:p14="http://schemas.microsoft.com/office/powerpoint/2010/main" val="343778735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_Main">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41853"/>
            <a:ext cx="11277600" cy="489437"/>
          </a:xfrm>
        </p:spPr>
        <p:txBody>
          <a:bodyPr anchor="t" anchorCtr="0">
            <a:noAutofit/>
          </a:bodyPr>
          <a:lstStyle>
            <a:lvl1pPr algn="l">
              <a:lnSpc>
                <a:spcPct val="80000"/>
              </a:lnSpc>
              <a:defRPr sz="3600">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5016542" y="6394198"/>
            <a:ext cx="5398374" cy="182358"/>
          </a:xfrm>
        </p:spPr>
        <p:txBody>
          <a:bodyPr>
            <a:noAutofit/>
          </a:bodyPr>
          <a:lstStyle>
            <a:lvl1pPr algn="r">
              <a:defRPr sz="800">
                <a:solidFill>
                  <a:schemeClr val="tx2"/>
                </a:solidFill>
              </a:defRPr>
            </a:lvl1pPr>
          </a:lstStyle>
          <a:p>
            <a:r>
              <a:rPr lang="en-US"/>
              <a:t>©2022 ExlService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394198"/>
            <a:ext cx="481556" cy="182358"/>
          </a:xfrm>
        </p:spPr>
        <p:txBody>
          <a:bodyPr>
            <a:noAutofit/>
          </a:bodyPr>
          <a:lstStyle>
            <a:lvl1pPr algn="l">
              <a:defRPr sz="800">
                <a:solidFill>
                  <a:schemeClr val="tx2"/>
                </a:solidFill>
              </a:defRPr>
            </a:lvl1pPr>
          </a:lstStyle>
          <a:p>
            <a:fld id="{CCA08CA8-4222-D24F-ACDB-33341C247B6F}" type="slidenum">
              <a:rPr lang="en-US" smtClean="0"/>
              <a:pPr/>
              <a:t>‹#›</a:t>
            </a:fld>
            <a:endParaRPr lang="en-US"/>
          </a:p>
        </p:txBody>
      </p:sp>
      <p:pic>
        <p:nvPicPr>
          <p:cNvPr id="14" name="Picture 13">
            <a:extLst>
              <a:ext uri="{FF2B5EF4-FFF2-40B4-BE49-F238E27FC236}">
                <a16:creationId xmlns:a16="http://schemas.microsoft.com/office/drawing/2014/main" id="{C6B72333-1498-944B-A236-F01FCD24FF7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308253729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57200"/>
            <a:ext cx="11277600" cy="1233488"/>
          </a:xfrm>
          <a:prstGeom prst="rect">
            <a:avLst/>
          </a:prstGeom>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457200" y="1825625"/>
            <a:ext cx="11277600" cy="390587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176963"/>
            <a:ext cx="3124200" cy="365125"/>
          </a:xfrm>
          <a:prstGeom prst="rect">
            <a:avLst/>
          </a:prstGeom>
        </p:spPr>
        <p:txBody>
          <a:bodyPr vert="horz" lIns="0" tIns="0" rIns="0" bIns="0" rtlCol="0" anchor="b" anchorCtr="0">
            <a:noAutofit/>
          </a:bodyPr>
          <a:lstStyle>
            <a:lvl1pPr algn="l">
              <a:defRPr sz="1200">
                <a:solidFill>
                  <a:schemeClr val="tx2"/>
                </a:solidFill>
              </a:defRPr>
            </a:lvl1pPr>
          </a:lstStyle>
          <a:p>
            <a:fld id="{0CCCACD6-8279-7A43-AFDE-A51255A0F160}" type="datetime1">
              <a:rPr lang="en-US" smtClean="0"/>
              <a:t>5/7/2026</a:t>
            </a:fld>
            <a:endParaRPr lang="en-US"/>
          </a:p>
        </p:txBody>
      </p:sp>
      <p:sp>
        <p:nvSpPr>
          <p:cNvPr id="5" name="Footer Placeholder 4"/>
          <p:cNvSpPr>
            <a:spLocks noGrp="1"/>
          </p:cNvSpPr>
          <p:nvPr>
            <p:ph type="ftr" sz="quarter" idx="3"/>
          </p:nvPr>
        </p:nvSpPr>
        <p:spPr>
          <a:xfrm>
            <a:off x="4038600" y="6176963"/>
            <a:ext cx="4114800" cy="365125"/>
          </a:xfrm>
          <a:prstGeom prst="rect">
            <a:avLst/>
          </a:prstGeom>
        </p:spPr>
        <p:txBody>
          <a:bodyPr vert="horz" lIns="0" tIns="0" rIns="0" bIns="0" rtlCol="0" anchor="b" anchorCtr="0">
            <a:noAutofit/>
          </a:bodyPr>
          <a:lstStyle>
            <a:lvl1pPr algn="ctr">
              <a:defRPr sz="1200">
                <a:solidFill>
                  <a:schemeClr val="tx2"/>
                </a:solidFill>
              </a:defRPr>
            </a:lvl1pPr>
          </a:lstStyle>
          <a:p>
            <a:r>
              <a:rPr lang="en-US"/>
              <a:t>©2024 </a:t>
            </a:r>
            <a:r>
              <a:rPr lang="en-US" err="1"/>
              <a:t>ExlService</a:t>
            </a:r>
            <a:r>
              <a:rPr lang="en-US"/>
              <a:t> Holdings, Inc. All rights reserved.</a:t>
            </a:r>
          </a:p>
        </p:txBody>
      </p:sp>
      <p:sp>
        <p:nvSpPr>
          <p:cNvPr id="6" name="Slide Number Placeholder 5"/>
          <p:cNvSpPr>
            <a:spLocks noGrp="1"/>
          </p:cNvSpPr>
          <p:nvPr>
            <p:ph type="sldNum" sz="quarter" idx="4"/>
          </p:nvPr>
        </p:nvSpPr>
        <p:spPr>
          <a:xfrm>
            <a:off x="8991600" y="6176963"/>
            <a:ext cx="2743200" cy="365125"/>
          </a:xfrm>
          <a:prstGeom prst="rect">
            <a:avLst/>
          </a:prstGeom>
        </p:spPr>
        <p:txBody>
          <a:bodyPr vert="horz" lIns="0" tIns="0" rIns="0" bIns="0" rtlCol="0" anchor="b" anchorCtr="0">
            <a:noAutofit/>
          </a:bodyPr>
          <a:lstStyle>
            <a:lvl1pPr algn="r">
              <a:defRPr sz="1200">
                <a:solidFill>
                  <a:schemeClr val="tx2"/>
                </a:solidFill>
              </a:defRPr>
            </a:lvl1pPr>
          </a:lstStyle>
          <a:p>
            <a:fld id="{CCA08CA8-4222-D24F-ACDB-33341C247B6F}" type="slidenum">
              <a:rPr lang="en-US" smtClean="0"/>
              <a:pPr/>
              <a:t>‹#›</a:t>
            </a:fld>
            <a:endParaRPr lang="en-US"/>
          </a:p>
        </p:txBody>
      </p:sp>
    </p:spTree>
    <p:extLst>
      <p:ext uri="{BB962C8B-B14F-4D97-AF65-F5344CB8AC3E}">
        <p14:creationId xmlns:p14="http://schemas.microsoft.com/office/powerpoint/2010/main" val="2537403804"/>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61" r:id="rId3"/>
    <p:sldLayoutId id="2147483675" r:id="rId4"/>
    <p:sldLayoutId id="2147483677" r:id="rId5"/>
    <p:sldLayoutId id="2147483727" r:id="rId6"/>
    <p:sldLayoutId id="2147483678" r:id="rId7"/>
    <p:sldLayoutId id="2147483681" r:id="rId8"/>
    <p:sldLayoutId id="2147483728" r:id="rId9"/>
    <p:sldLayoutId id="2147483685" r:id="rId10"/>
    <p:sldLayoutId id="2147483729" r:id="rId11"/>
    <p:sldLayoutId id="2147483717" r:id="rId12"/>
    <p:sldLayoutId id="2147483731" r:id="rId13"/>
    <p:sldLayoutId id="2147483741" r:id="rId14"/>
    <p:sldLayoutId id="2147483742" r:id="rId15"/>
    <p:sldLayoutId id="2147483744" r:id="rId16"/>
    <p:sldLayoutId id="2147483719" r:id="rId17"/>
    <p:sldLayoutId id="2147483733" r:id="rId18"/>
    <p:sldLayoutId id="2147483734" r:id="rId19"/>
    <p:sldLayoutId id="2147483735" r:id="rId20"/>
    <p:sldLayoutId id="2147483689" r:id="rId21"/>
    <p:sldLayoutId id="2147483736" r:id="rId22"/>
    <p:sldLayoutId id="2147483737" r:id="rId23"/>
    <p:sldLayoutId id="2147483738" r:id="rId24"/>
    <p:sldLayoutId id="2147483739" r:id="rId25"/>
    <p:sldLayoutId id="2147483701" r:id="rId26"/>
    <p:sldLayoutId id="2147483699" r:id="rId27"/>
    <p:sldLayoutId id="2147483740" r:id="rId28"/>
    <p:sldLayoutId id="2147483743" r:id="rId29"/>
    <p:sldLayoutId id="2147483705" r:id="rId30"/>
    <p:sldLayoutId id="2147483708" r:id="rId31"/>
    <p:sldLayoutId id="2147483709" r:id="rId32"/>
    <p:sldLayoutId id="2147483710" r:id="rId33"/>
    <p:sldLayoutId id="2147483745" r:id="rId34"/>
    <p:sldLayoutId id="2147483746" r:id="rId35"/>
    <p:sldLayoutId id="2147483747" r:id="rId3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buClr>
        <a:buFont typeface="Arial" panose="020B0604020202020204" pitchFamily="34" charset="0"/>
        <a:buChar char="•"/>
        <a:defRPr sz="28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288" userDrawn="1">
          <p15:clr>
            <a:srgbClr val="F26B43"/>
          </p15:clr>
        </p15:guide>
        <p15:guide id="4" pos="7392" userDrawn="1">
          <p15:clr>
            <a:srgbClr val="F26B43"/>
          </p15:clr>
        </p15:guide>
        <p15:guide id="5" orient="horz" pos="4128" userDrawn="1">
          <p15:clr>
            <a:srgbClr val="F26B43"/>
          </p15:clr>
        </p15:guide>
        <p15:guide id="6" orient="horz" pos="28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8.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jpeg"/><Relationship Id="rId2" Type="http://schemas.openxmlformats.org/officeDocument/2006/relationships/notesSlide" Target="../notesSlides/notesSlide3.xml"/><Relationship Id="rId1" Type="http://schemas.openxmlformats.org/officeDocument/2006/relationships/slideLayout" Target="../slideLayouts/slideLayout28.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jpeg"/><Relationship Id="rId9" Type="http://schemas.openxmlformats.org/officeDocument/2006/relationships/image" Target="../media/image20.jpeg"/></Relationships>
</file>

<file path=ppt/slides/_rels/slide10.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4.xml"/><Relationship Id="rId1" Type="http://schemas.openxmlformats.org/officeDocument/2006/relationships/slideLayout" Target="../slideLayouts/slideLayout28.xml"/><Relationship Id="rId6" Type="http://schemas.openxmlformats.org/officeDocument/2006/relationships/image" Target="../media/image23.jpeg"/><Relationship Id="rId5" Type="http://schemas.openxmlformats.org/officeDocument/2006/relationships/image" Target="../media/image22.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gif"/><Relationship Id="rId1" Type="http://schemas.openxmlformats.org/officeDocument/2006/relationships/slideLayout" Target="../slideLayouts/slideLayout28.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hyperlink" Target="http://www.exlservice.com/legal-disclaimer"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8" Type="http://schemas.openxmlformats.org/officeDocument/2006/relationships/image" Target="../media/image34.jpeg"/><Relationship Id="rId3" Type="http://schemas.openxmlformats.org/officeDocument/2006/relationships/image" Target="../media/image14.png"/><Relationship Id="rId7" Type="http://schemas.openxmlformats.org/officeDocument/2006/relationships/image" Target="../media/image33.jpeg"/><Relationship Id="rId2" Type="http://schemas.openxmlformats.org/officeDocument/2006/relationships/notesSlide" Target="../notesSlides/notesSlide6.xml"/><Relationship Id="rId1" Type="http://schemas.openxmlformats.org/officeDocument/2006/relationships/slideLayout" Target="../slideLayouts/slideLayout16.xml"/><Relationship Id="rId6" Type="http://schemas.openxmlformats.org/officeDocument/2006/relationships/image" Target="../media/image32.png"/><Relationship Id="rId5" Type="http://schemas.openxmlformats.org/officeDocument/2006/relationships/image" Target="../media/image31.jpeg"/><Relationship Id="rId4" Type="http://schemas.openxmlformats.org/officeDocument/2006/relationships/image" Target="../media/image20.jpeg"/><Relationship Id="rId9"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7.xml"/><Relationship Id="rId1" Type="http://schemas.openxmlformats.org/officeDocument/2006/relationships/slideLayout" Target="../slideLayouts/slideLayout16.xml"/><Relationship Id="rId5" Type="http://schemas.openxmlformats.org/officeDocument/2006/relationships/image" Target="../media/image37.png"/><Relationship Id="rId4" Type="http://schemas.openxmlformats.org/officeDocument/2006/relationships/image" Target="../media/image33.jpeg"/></Relationships>
</file>

<file path=ppt/slides/_rels/slide2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8.xml"/><Relationship Id="rId1" Type="http://schemas.openxmlformats.org/officeDocument/2006/relationships/slideLayout" Target="../slideLayouts/slideLayout16.xml"/><Relationship Id="rId5" Type="http://schemas.openxmlformats.org/officeDocument/2006/relationships/image" Target="../media/image37.png"/><Relationship Id="rId4" Type="http://schemas.openxmlformats.org/officeDocument/2006/relationships/image" Target="../media/image33.jpeg"/></Relationships>
</file>

<file path=ppt/slides/_rels/slide21.xml.rels><?xml version="1.0" encoding="UTF-8" standalone="yes"?>
<Relationships xmlns="http://schemas.openxmlformats.org/package/2006/relationships"><Relationship Id="rId8" Type="http://schemas.openxmlformats.org/officeDocument/2006/relationships/image" Target="../media/image36.jpeg"/><Relationship Id="rId3" Type="http://schemas.openxmlformats.org/officeDocument/2006/relationships/notesSlide" Target="../notesSlides/notesSlide9.xml"/><Relationship Id="rId7" Type="http://schemas.openxmlformats.org/officeDocument/2006/relationships/image" Target="../media/image37.png"/><Relationship Id="rId2" Type="http://schemas.openxmlformats.org/officeDocument/2006/relationships/slideLayout" Target="../slideLayouts/slideLayout16.xml"/><Relationship Id="rId1" Type="http://schemas.openxmlformats.org/officeDocument/2006/relationships/tags" Target="../tags/tag1.xml"/><Relationship Id="rId6" Type="http://schemas.openxmlformats.org/officeDocument/2006/relationships/image" Target="../media/image8.png"/><Relationship Id="rId5" Type="http://schemas.openxmlformats.org/officeDocument/2006/relationships/image" Target="../media/image38.emf"/><Relationship Id="rId4" Type="http://schemas.openxmlformats.org/officeDocument/2006/relationships/oleObject" Target="../embeddings/oleObject1.bin"/><Relationship Id="rId9" Type="http://schemas.openxmlformats.org/officeDocument/2006/relationships/image" Target="../media/image33.jpeg"/></Relationships>
</file>

<file path=ppt/slides/_rels/slide22.xml.rels><?xml version="1.0" encoding="UTF-8" standalone="yes"?>
<Relationships xmlns="http://schemas.openxmlformats.org/package/2006/relationships"><Relationship Id="rId8" Type="http://schemas.openxmlformats.org/officeDocument/2006/relationships/image" Target="../media/image44.emf"/><Relationship Id="rId3" Type="http://schemas.openxmlformats.org/officeDocument/2006/relationships/image" Target="../media/image39.emf"/><Relationship Id="rId7" Type="http://schemas.openxmlformats.org/officeDocument/2006/relationships/image" Target="../media/image43.emf"/><Relationship Id="rId2" Type="http://schemas.openxmlformats.org/officeDocument/2006/relationships/notesSlide" Target="../notesSlides/notesSlide10.xml"/><Relationship Id="rId1" Type="http://schemas.openxmlformats.org/officeDocument/2006/relationships/slideLayout" Target="../slideLayouts/slideLayout16.xml"/><Relationship Id="rId6" Type="http://schemas.openxmlformats.org/officeDocument/2006/relationships/image" Target="../media/image42.emf"/><Relationship Id="rId5" Type="http://schemas.openxmlformats.org/officeDocument/2006/relationships/image" Target="../media/image41.emf"/><Relationship Id="rId10" Type="http://schemas.openxmlformats.org/officeDocument/2006/relationships/image" Target="../media/image46.emf"/><Relationship Id="rId4" Type="http://schemas.openxmlformats.org/officeDocument/2006/relationships/image" Target="../media/image40.emf"/><Relationship Id="rId9" Type="http://schemas.openxmlformats.org/officeDocument/2006/relationships/image" Target="../media/image45.e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8" Type="http://schemas.openxmlformats.org/officeDocument/2006/relationships/image" Target="../media/image34.jpeg"/><Relationship Id="rId3" Type="http://schemas.openxmlformats.org/officeDocument/2006/relationships/image" Target="../media/image14.png"/><Relationship Id="rId7" Type="http://schemas.openxmlformats.org/officeDocument/2006/relationships/image" Target="../media/image20.jpeg"/><Relationship Id="rId2" Type="http://schemas.openxmlformats.org/officeDocument/2006/relationships/notesSlide" Target="../notesSlides/notesSlide12.xml"/><Relationship Id="rId1" Type="http://schemas.openxmlformats.org/officeDocument/2006/relationships/slideLayout" Target="../slideLayouts/slideLayout16.xml"/><Relationship Id="rId6" Type="http://schemas.openxmlformats.org/officeDocument/2006/relationships/image" Target="../media/image37.png"/><Relationship Id="rId5" Type="http://schemas.openxmlformats.org/officeDocument/2006/relationships/image" Target="../media/image33.jpeg"/><Relationship Id="rId4" Type="http://schemas.openxmlformats.org/officeDocument/2006/relationships/image" Target="../media/image31.jpeg"/></Relationships>
</file>

<file path=ppt/slides/_rels/slide26.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notesSlide" Target="../notesSlides/notesSlide13.xml"/><Relationship Id="rId1" Type="http://schemas.openxmlformats.org/officeDocument/2006/relationships/slideLayout" Target="../slideLayouts/slideLayout36.xml"/><Relationship Id="rId6" Type="http://schemas.openxmlformats.org/officeDocument/2006/relationships/image" Target="../media/image50.jpeg"/><Relationship Id="rId5" Type="http://schemas.openxmlformats.org/officeDocument/2006/relationships/image" Target="../media/image49.png"/><Relationship Id="rId4" Type="http://schemas.openxmlformats.org/officeDocument/2006/relationships/image" Target="../media/image48.jpeg"/></Relationships>
</file>

<file path=ppt/slides/_rels/slide27.xml.rels><?xml version="1.0" encoding="UTF-8" standalone="yes"?>
<Relationships xmlns="http://schemas.openxmlformats.org/package/2006/relationships"><Relationship Id="rId8" Type="http://schemas.openxmlformats.org/officeDocument/2006/relationships/image" Target="../media/image57.svg"/><Relationship Id="rId13" Type="http://schemas.openxmlformats.org/officeDocument/2006/relationships/image" Target="../media/image62.svg"/><Relationship Id="rId3" Type="http://schemas.openxmlformats.org/officeDocument/2006/relationships/image" Target="../media/image52.svg"/><Relationship Id="rId7" Type="http://schemas.openxmlformats.org/officeDocument/2006/relationships/image" Target="../media/image56.svg"/><Relationship Id="rId12" Type="http://schemas.openxmlformats.org/officeDocument/2006/relationships/image" Target="../media/image61.sv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55.svg"/><Relationship Id="rId11" Type="http://schemas.openxmlformats.org/officeDocument/2006/relationships/image" Target="../media/image60.svg"/><Relationship Id="rId5" Type="http://schemas.openxmlformats.org/officeDocument/2006/relationships/image" Target="../media/image54.svg"/><Relationship Id="rId15" Type="http://schemas.openxmlformats.org/officeDocument/2006/relationships/image" Target="../media/image64.png"/><Relationship Id="rId10" Type="http://schemas.openxmlformats.org/officeDocument/2006/relationships/image" Target="../media/image59.svg"/><Relationship Id="rId4" Type="http://schemas.openxmlformats.org/officeDocument/2006/relationships/image" Target="../media/image53.svg"/><Relationship Id="rId9" Type="http://schemas.openxmlformats.org/officeDocument/2006/relationships/image" Target="../media/image58.svg"/><Relationship Id="rId14" Type="http://schemas.openxmlformats.org/officeDocument/2006/relationships/image" Target="../media/image63.svg"/></Relationships>
</file>

<file path=ppt/slides/_rels/slide2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B943E-2172-4402-BA45-AAC5C503C13A}"/>
              </a:ext>
            </a:extLst>
          </p:cNvPr>
          <p:cNvSpPr>
            <a:spLocks noGrp="1"/>
          </p:cNvSpPr>
          <p:nvPr>
            <p:ph type="ctrTitle"/>
          </p:nvPr>
        </p:nvSpPr>
        <p:spPr/>
        <p:txBody>
          <a:bodyPr/>
          <a:lstStyle/>
          <a:p>
            <a:r>
              <a:rPr lang="en-IN"/>
              <a:t>Actuarial Case Example</a:t>
            </a:r>
          </a:p>
        </p:txBody>
      </p:sp>
    </p:spTree>
    <p:extLst>
      <p:ext uri="{BB962C8B-B14F-4D97-AF65-F5344CB8AC3E}">
        <p14:creationId xmlns:p14="http://schemas.microsoft.com/office/powerpoint/2010/main" val="4201644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8A52375-2FD7-645F-94AB-A4905BFC9F41}"/>
              </a:ext>
            </a:extLst>
          </p:cNvPr>
          <p:cNvSpPr>
            <a:spLocks noGrp="1"/>
          </p:cNvSpPr>
          <p:nvPr>
            <p:ph type="ctrTitle"/>
          </p:nvPr>
        </p:nvSpPr>
        <p:spPr>
          <a:noFill/>
          <a:ln>
            <a:noFill/>
          </a:ln>
        </p:spPr>
        <p:txBody>
          <a:bodyPr spcFirstLastPara="1" vert="horz" wrap="square" lIns="0" tIns="0" rIns="0" bIns="0" rtlCol="0" anchor="t" anchorCtr="0">
            <a:noAutofit/>
          </a:bodyPr>
          <a:lstStyle/>
          <a:p>
            <a:pPr>
              <a:buClr>
                <a:schemeClr val="dk1"/>
              </a:buClr>
              <a:buSzPts val="3200"/>
              <a:buFont typeface="Calibri"/>
            </a:pPr>
            <a:r>
              <a:rPr lang="en-US" sz="2800"/>
              <a:t>EXL’s expertise in Product Development &amp; Management makes us</a:t>
            </a:r>
            <a:br>
              <a:rPr lang="en-US" sz="2800"/>
            </a:br>
            <a:r>
              <a:rPr lang="en-US" sz="2800"/>
              <a:t>trustworthy partner</a:t>
            </a:r>
          </a:p>
        </p:txBody>
      </p:sp>
      <p:sp>
        <p:nvSpPr>
          <p:cNvPr id="21" name="Rectangle 20">
            <a:extLst>
              <a:ext uri="{FF2B5EF4-FFF2-40B4-BE49-F238E27FC236}">
                <a16:creationId xmlns:a16="http://schemas.microsoft.com/office/drawing/2014/main" id="{7FD9656C-CA8A-69C4-4DC8-56CB71BE8187}"/>
              </a:ext>
            </a:extLst>
          </p:cNvPr>
          <p:cNvSpPr/>
          <p:nvPr/>
        </p:nvSpPr>
        <p:spPr>
          <a:xfrm>
            <a:off x="698500" y="1485900"/>
            <a:ext cx="10845800" cy="2971800"/>
          </a:xfrm>
          <a:prstGeom prst="rect">
            <a:avLst/>
          </a:prstGeom>
          <a:solidFill>
            <a:schemeClr val="bg1">
              <a:lumMod val="75000"/>
              <a:alpha val="29804"/>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6" name="Freeform 14">
            <a:extLst>
              <a:ext uri="{FF2B5EF4-FFF2-40B4-BE49-F238E27FC236}">
                <a16:creationId xmlns:a16="http://schemas.microsoft.com/office/drawing/2014/main" id="{7D75F03E-370B-0A16-F956-F63E0456EDB7}"/>
              </a:ext>
            </a:extLst>
          </p:cNvPr>
          <p:cNvSpPr/>
          <p:nvPr/>
        </p:nvSpPr>
        <p:spPr>
          <a:xfrm>
            <a:off x="5219870" y="1597818"/>
            <a:ext cx="1463040" cy="365760"/>
          </a:xfrm>
          <a:prstGeom prst="roundRect">
            <a:avLst/>
          </a:prstGeom>
          <a:solidFill>
            <a:schemeClr val="accent3"/>
          </a:solidFill>
          <a:ln/>
          <a:effectLst/>
        </p:spPr>
        <p:style>
          <a:lnRef idx="0">
            <a:schemeClr val="accent1"/>
          </a:lnRef>
          <a:fillRef idx="3">
            <a:schemeClr val="accent1"/>
          </a:fillRef>
          <a:effectRef idx="3">
            <a:schemeClr val="accent1"/>
          </a:effectRef>
          <a:fontRef idx="minor">
            <a:schemeClr val="lt1"/>
          </a:fontRef>
        </p:style>
        <p:txBody>
          <a:bodyPr spcFirstLastPara="0" vert="horz" wrap="square" lIns="303997" tIns="21336" rIns="261325" bIns="21336" numCol="1" spcCol="1270" anchor="ctr" anchorCtr="0">
            <a:noAutofit/>
          </a:bodyPr>
          <a:lstStyle/>
          <a:p>
            <a:pPr marL="0" marR="0" lvl="0" indent="0" algn="ctr" defTabSz="711200" rtl="0" eaLnBrk="1" fontAlgn="auto" latinLnBrk="0" hangingPunct="1">
              <a:lnSpc>
                <a:spcPct val="90000"/>
              </a:lnSpc>
              <a:spcBef>
                <a:spcPct val="0"/>
              </a:spcBef>
              <a:spcAft>
                <a:spcPct val="35000"/>
              </a:spcAft>
              <a:buClrTx/>
              <a:buSzTx/>
              <a:buFontTx/>
              <a:buNone/>
              <a:tabLst/>
              <a:defRPr/>
            </a:pPr>
            <a:r>
              <a:rPr kumimoji="0" lang="en-US" sz="1050" b="1" i="0" u="none" strike="noStrike" kern="1200" cap="none" spc="0" normalizeH="0" baseline="0" noProof="0">
                <a:ln>
                  <a:noFill/>
                </a:ln>
                <a:solidFill>
                  <a:srgbClr val="FFFFFF"/>
                </a:solidFill>
                <a:effectLst/>
                <a:uLnTx/>
                <a:uFillTx/>
                <a:latin typeface="Arial"/>
                <a:ea typeface="+mn-ea"/>
                <a:cs typeface="+mn-cs"/>
              </a:rPr>
              <a:t>Product Pricing</a:t>
            </a:r>
          </a:p>
        </p:txBody>
      </p:sp>
      <p:sp>
        <p:nvSpPr>
          <p:cNvPr id="27" name="Rounded Rectangle 7">
            <a:extLst>
              <a:ext uri="{FF2B5EF4-FFF2-40B4-BE49-F238E27FC236}">
                <a16:creationId xmlns:a16="http://schemas.microsoft.com/office/drawing/2014/main" id="{CF824B86-B8D0-09BC-3269-51799A4AEFC4}"/>
              </a:ext>
            </a:extLst>
          </p:cNvPr>
          <p:cNvSpPr/>
          <p:nvPr/>
        </p:nvSpPr>
        <p:spPr>
          <a:xfrm>
            <a:off x="5229809" y="2090220"/>
            <a:ext cx="1463040" cy="365760"/>
          </a:xfrm>
          <a:prstGeom prst="roundRect">
            <a:avLst/>
          </a:prstGeom>
          <a:solidFill>
            <a:schemeClr val="bg1"/>
          </a:solidFill>
          <a:ln>
            <a:solidFill>
              <a:schemeClr val="accent2"/>
            </a:solidFill>
            <a:prstDash val="solid"/>
          </a:ln>
          <a:effectLst/>
          <a:scene3d>
            <a:camera prst="orthographicFront"/>
            <a:lightRig rig="threePt" dir="t"/>
          </a:scene3d>
          <a:sp3d prstMaterial="dkEdg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libri" panose="020F0502020204030204"/>
                <a:ea typeface="+mn-ea"/>
                <a:cs typeface="+mn-cs"/>
              </a:rPr>
              <a:t>Pricing Model Maintenance</a:t>
            </a:r>
          </a:p>
        </p:txBody>
      </p:sp>
      <p:sp>
        <p:nvSpPr>
          <p:cNvPr id="28" name="Rounded Rectangle 8">
            <a:extLst>
              <a:ext uri="{FF2B5EF4-FFF2-40B4-BE49-F238E27FC236}">
                <a16:creationId xmlns:a16="http://schemas.microsoft.com/office/drawing/2014/main" id="{9910C167-4091-B735-AE68-7C7096ADC143}"/>
              </a:ext>
            </a:extLst>
          </p:cNvPr>
          <p:cNvSpPr/>
          <p:nvPr/>
        </p:nvSpPr>
        <p:spPr>
          <a:xfrm>
            <a:off x="5229809" y="2547357"/>
            <a:ext cx="1463040" cy="365760"/>
          </a:xfrm>
          <a:prstGeom prst="roundRect">
            <a:avLst/>
          </a:prstGeom>
          <a:solidFill>
            <a:schemeClr val="bg1"/>
          </a:solidFill>
          <a:ln>
            <a:solidFill>
              <a:schemeClr val="accent2"/>
            </a:solidFill>
            <a:prstDash val="solid"/>
          </a:ln>
          <a:effectLst/>
          <a:scene3d>
            <a:camera prst="orthographicFront"/>
            <a:lightRig rig="threePt" dir="t"/>
          </a:scene3d>
          <a:sp3d prstMaterial="dkEdg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libri" panose="020F0502020204030204"/>
                <a:ea typeface="+mn-ea"/>
                <a:cs typeface="+mn-cs"/>
              </a:rPr>
              <a:t>Factor Calculation</a:t>
            </a:r>
          </a:p>
        </p:txBody>
      </p:sp>
      <p:sp>
        <p:nvSpPr>
          <p:cNvPr id="29" name="Rounded Rectangle 9">
            <a:extLst>
              <a:ext uri="{FF2B5EF4-FFF2-40B4-BE49-F238E27FC236}">
                <a16:creationId xmlns:a16="http://schemas.microsoft.com/office/drawing/2014/main" id="{6D42895E-38C8-F939-73A8-D04642820ECF}"/>
              </a:ext>
            </a:extLst>
          </p:cNvPr>
          <p:cNvSpPr/>
          <p:nvPr/>
        </p:nvSpPr>
        <p:spPr>
          <a:xfrm>
            <a:off x="5239522" y="2996779"/>
            <a:ext cx="1463040" cy="365760"/>
          </a:xfrm>
          <a:prstGeom prst="roundRect">
            <a:avLst/>
          </a:prstGeom>
          <a:solidFill>
            <a:schemeClr val="bg1"/>
          </a:solidFill>
          <a:ln>
            <a:solidFill>
              <a:schemeClr val="accent2"/>
            </a:solidFill>
            <a:prstDash val="solid"/>
          </a:ln>
          <a:effectLst/>
          <a:scene3d>
            <a:camera prst="orthographicFront"/>
            <a:lightRig rig="threePt" dir="t"/>
          </a:scene3d>
          <a:sp3d prstMaterial="dkEdg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libri" panose="020F0502020204030204"/>
                <a:ea typeface="+mn-ea"/>
                <a:cs typeface="+mn-cs"/>
              </a:rPr>
              <a:t>Rate Monitoring</a:t>
            </a:r>
          </a:p>
        </p:txBody>
      </p:sp>
      <p:sp>
        <p:nvSpPr>
          <p:cNvPr id="30" name="Rounded Rectangle 10">
            <a:extLst>
              <a:ext uri="{FF2B5EF4-FFF2-40B4-BE49-F238E27FC236}">
                <a16:creationId xmlns:a16="http://schemas.microsoft.com/office/drawing/2014/main" id="{120D137E-8A1A-301F-AE44-5C1A94D61B88}"/>
              </a:ext>
            </a:extLst>
          </p:cNvPr>
          <p:cNvSpPr/>
          <p:nvPr/>
        </p:nvSpPr>
        <p:spPr>
          <a:xfrm>
            <a:off x="5239522" y="3429372"/>
            <a:ext cx="1463040" cy="365760"/>
          </a:xfrm>
          <a:prstGeom prst="roundRect">
            <a:avLst/>
          </a:prstGeom>
          <a:solidFill>
            <a:schemeClr val="bg1"/>
          </a:solidFill>
          <a:ln>
            <a:solidFill>
              <a:schemeClr val="accent2"/>
            </a:solidFill>
            <a:prstDash val="solid"/>
          </a:ln>
          <a:effectLst/>
          <a:scene3d>
            <a:camera prst="orthographicFront"/>
            <a:lightRig rig="threePt" dir="t"/>
          </a:scene3d>
          <a:sp3d prstMaterial="dkEdg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libri" panose="020F0502020204030204"/>
                <a:ea typeface="+mn-ea"/>
                <a:cs typeface="+mn-cs"/>
              </a:rPr>
              <a:t>Model Prep/Runs</a:t>
            </a:r>
          </a:p>
        </p:txBody>
      </p:sp>
      <p:sp>
        <p:nvSpPr>
          <p:cNvPr id="31" name="Rounded Rectangle 11">
            <a:extLst>
              <a:ext uri="{FF2B5EF4-FFF2-40B4-BE49-F238E27FC236}">
                <a16:creationId xmlns:a16="http://schemas.microsoft.com/office/drawing/2014/main" id="{C441EDD1-068D-62B9-3778-F6E578D3451B}"/>
              </a:ext>
            </a:extLst>
          </p:cNvPr>
          <p:cNvSpPr/>
          <p:nvPr/>
        </p:nvSpPr>
        <p:spPr>
          <a:xfrm>
            <a:off x="5239522" y="3861965"/>
            <a:ext cx="1463040" cy="365760"/>
          </a:xfrm>
          <a:prstGeom prst="roundRect">
            <a:avLst/>
          </a:prstGeom>
          <a:solidFill>
            <a:schemeClr val="bg1"/>
          </a:solidFill>
          <a:ln>
            <a:solidFill>
              <a:schemeClr val="accent2"/>
            </a:solidFill>
            <a:prstDash val="solid"/>
          </a:ln>
          <a:effectLst/>
          <a:scene3d>
            <a:camera prst="orthographicFront"/>
            <a:lightRig rig="threePt" dir="t"/>
          </a:scene3d>
          <a:sp3d prstMaterial="dkEdg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libri" panose="020F0502020204030204"/>
                <a:ea typeface="+mn-ea"/>
                <a:cs typeface="+mn-cs"/>
              </a:rPr>
              <a:t>Documentation</a:t>
            </a:r>
          </a:p>
        </p:txBody>
      </p:sp>
      <p:sp>
        <p:nvSpPr>
          <p:cNvPr id="32" name="Freeform 14">
            <a:extLst>
              <a:ext uri="{FF2B5EF4-FFF2-40B4-BE49-F238E27FC236}">
                <a16:creationId xmlns:a16="http://schemas.microsoft.com/office/drawing/2014/main" id="{3998B91C-B6FF-0640-E081-EEE6AA78FE3F}"/>
              </a:ext>
            </a:extLst>
          </p:cNvPr>
          <p:cNvSpPr/>
          <p:nvPr/>
        </p:nvSpPr>
        <p:spPr>
          <a:xfrm>
            <a:off x="6803552" y="1597818"/>
            <a:ext cx="1308717" cy="365760"/>
          </a:xfrm>
          <a:prstGeom prst="roundRect">
            <a:avLst/>
          </a:prstGeom>
          <a:solidFill>
            <a:schemeClr val="accent3"/>
          </a:solidFill>
          <a:ln/>
          <a:effectLst/>
        </p:spPr>
        <p:style>
          <a:lnRef idx="0">
            <a:schemeClr val="accent1"/>
          </a:lnRef>
          <a:fillRef idx="3">
            <a:schemeClr val="accent1"/>
          </a:fillRef>
          <a:effectRef idx="3">
            <a:schemeClr val="accent1"/>
          </a:effectRef>
          <a:fontRef idx="minor">
            <a:schemeClr val="lt1"/>
          </a:fontRef>
        </p:style>
        <p:txBody>
          <a:bodyPr spcFirstLastPara="0" vert="horz" wrap="square" lIns="303997" tIns="21336" rIns="261325" bIns="21336" numCol="1" spcCol="1270" anchor="ctr" anchorCtr="0">
            <a:noAutofit/>
          </a:bodyPr>
          <a:lstStyle/>
          <a:p>
            <a:pPr marL="0" marR="0" lvl="0" indent="0" algn="ctr" defTabSz="711200" rtl="0" eaLnBrk="1" fontAlgn="auto" latinLnBrk="0" hangingPunct="1">
              <a:lnSpc>
                <a:spcPct val="90000"/>
              </a:lnSpc>
              <a:spcBef>
                <a:spcPct val="0"/>
              </a:spcBef>
              <a:spcAft>
                <a:spcPct val="35000"/>
              </a:spcAft>
              <a:buClrTx/>
              <a:buSzTx/>
              <a:buFontTx/>
              <a:buNone/>
              <a:tabLst/>
              <a:defRPr/>
            </a:pPr>
            <a:r>
              <a:rPr kumimoji="0" lang="en-US" sz="1050" b="1" i="0" u="none" strike="noStrike" kern="1200" cap="none" spc="0" normalizeH="0" baseline="0" noProof="0">
                <a:ln>
                  <a:noFill/>
                </a:ln>
                <a:solidFill>
                  <a:srgbClr val="FFFFFF"/>
                </a:solidFill>
                <a:effectLst/>
                <a:uLnTx/>
                <a:uFillTx/>
                <a:latin typeface="Arial"/>
                <a:ea typeface="+mn-ea"/>
                <a:cs typeface="+mn-cs"/>
              </a:rPr>
              <a:t>IT Systems</a:t>
            </a:r>
          </a:p>
        </p:txBody>
      </p:sp>
      <p:sp>
        <p:nvSpPr>
          <p:cNvPr id="34" name="Freeform 14">
            <a:extLst>
              <a:ext uri="{FF2B5EF4-FFF2-40B4-BE49-F238E27FC236}">
                <a16:creationId xmlns:a16="http://schemas.microsoft.com/office/drawing/2014/main" id="{EB63EB16-283B-1427-40F3-C826C16DB029}"/>
              </a:ext>
            </a:extLst>
          </p:cNvPr>
          <p:cNvSpPr/>
          <p:nvPr/>
        </p:nvSpPr>
        <p:spPr>
          <a:xfrm>
            <a:off x="3817022" y="1583637"/>
            <a:ext cx="1297285" cy="379941"/>
          </a:xfrm>
          <a:prstGeom prst="roundRect">
            <a:avLst/>
          </a:prstGeom>
          <a:solidFill>
            <a:schemeClr val="accent3"/>
          </a:solidFill>
          <a:ln/>
          <a:effectLst/>
        </p:spPr>
        <p:style>
          <a:lnRef idx="0">
            <a:schemeClr val="accent1"/>
          </a:lnRef>
          <a:fillRef idx="3">
            <a:schemeClr val="accent1"/>
          </a:fillRef>
          <a:effectRef idx="3">
            <a:schemeClr val="accent1"/>
          </a:effectRef>
          <a:fontRef idx="minor">
            <a:schemeClr val="lt1"/>
          </a:fontRef>
        </p:style>
        <p:txBody>
          <a:bodyPr spcFirstLastPara="0" vert="horz" wrap="square" lIns="91440" tIns="21336" rIns="91440" bIns="21336" numCol="1" spcCol="1270" anchor="ctr" anchorCtr="0">
            <a:noAutofit/>
          </a:bodyPr>
          <a:lstStyle/>
          <a:p>
            <a:pPr marL="0" marR="0" lvl="0" indent="0" algn="ctr" defTabSz="711200" rtl="0" eaLnBrk="1" fontAlgn="auto" latinLnBrk="0" hangingPunct="1">
              <a:lnSpc>
                <a:spcPct val="90000"/>
              </a:lnSpc>
              <a:spcBef>
                <a:spcPct val="0"/>
              </a:spcBef>
              <a:spcAft>
                <a:spcPct val="35000"/>
              </a:spcAft>
              <a:buClrTx/>
              <a:buSzTx/>
              <a:buFontTx/>
              <a:buNone/>
              <a:tabLst/>
              <a:defRPr/>
            </a:pPr>
            <a:r>
              <a:rPr kumimoji="0" lang="en-US" sz="1050" b="1" i="0" u="none" strike="noStrike" kern="1200" cap="none" spc="0" normalizeH="0" baseline="0" noProof="0">
                <a:ln>
                  <a:noFill/>
                </a:ln>
                <a:solidFill>
                  <a:srgbClr val="FFFFFF"/>
                </a:solidFill>
                <a:effectLst/>
                <a:uLnTx/>
                <a:uFillTx/>
                <a:latin typeface="Arial"/>
                <a:ea typeface="+mn-ea"/>
                <a:cs typeface="+mn-cs"/>
              </a:rPr>
              <a:t>Underwriting</a:t>
            </a:r>
          </a:p>
        </p:txBody>
      </p:sp>
      <p:sp>
        <p:nvSpPr>
          <p:cNvPr id="35" name="Rounded Rectangle 22">
            <a:extLst>
              <a:ext uri="{FF2B5EF4-FFF2-40B4-BE49-F238E27FC236}">
                <a16:creationId xmlns:a16="http://schemas.microsoft.com/office/drawing/2014/main" id="{CC653988-7229-AB31-6FD1-97B954D8FACD}"/>
              </a:ext>
            </a:extLst>
          </p:cNvPr>
          <p:cNvSpPr/>
          <p:nvPr/>
        </p:nvSpPr>
        <p:spPr>
          <a:xfrm>
            <a:off x="3810964" y="2090220"/>
            <a:ext cx="1329070" cy="377598"/>
          </a:xfrm>
          <a:prstGeom prst="roundRect">
            <a:avLst/>
          </a:prstGeom>
          <a:solidFill>
            <a:schemeClr val="bg1"/>
          </a:solidFill>
          <a:ln>
            <a:solidFill>
              <a:schemeClr val="accent2"/>
            </a:solidFill>
            <a:prstDash val="solid"/>
          </a:ln>
          <a:effectLst/>
          <a:scene3d>
            <a:camera prst="orthographicFront"/>
            <a:lightRig rig="threePt" dir="t"/>
          </a:scene3d>
          <a:sp3d prstMaterial="dkEdg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libri" panose="020F0502020204030204"/>
                <a:ea typeface="+mn-ea"/>
                <a:cs typeface="+mn-cs"/>
              </a:rPr>
              <a:t>Rule Engine</a:t>
            </a:r>
          </a:p>
        </p:txBody>
      </p:sp>
      <p:sp>
        <p:nvSpPr>
          <p:cNvPr id="36" name="Rounded Rectangle 23">
            <a:extLst>
              <a:ext uri="{FF2B5EF4-FFF2-40B4-BE49-F238E27FC236}">
                <a16:creationId xmlns:a16="http://schemas.microsoft.com/office/drawing/2014/main" id="{7586AAE3-758B-5EFB-6E6D-AD0B54301A74}"/>
              </a:ext>
            </a:extLst>
          </p:cNvPr>
          <p:cNvSpPr/>
          <p:nvPr/>
        </p:nvSpPr>
        <p:spPr>
          <a:xfrm>
            <a:off x="3806610" y="2547357"/>
            <a:ext cx="1329070" cy="377598"/>
          </a:xfrm>
          <a:prstGeom prst="roundRect">
            <a:avLst/>
          </a:prstGeom>
          <a:solidFill>
            <a:schemeClr val="bg1"/>
          </a:solidFill>
          <a:ln>
            <a:solidFill>
              <a:schemeClr val="accent2"/>
            </a:solidFill>
            <a:prstDash val="solid"/>
          </a:ln>
          <a:effectLst/>
          <a:scene3d>
            <a:camera prst="orthographicFront"/>
            <a:lightRig rig="threePt" dir="t"/>
          </a:scene3d>
          <a:sp3d prstMaterial="dkEdg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libri" panose="020F0502020204030204"/>
                <a:ea typeface="+mn-ea"/>
                <a:cs typeface="+mn-cs"/>
              </a:rPr>
              <a:t>Case Management</a:t>
            </a:r>
          </a:p>
        </p:txBody>
      </p:sp>
      <p:sp>
        <p:nvSpPr>
          <p:cNvPr id="37" name="Rounded Rectangle 24">
            <a:extLst>
              <a:ext uri="{FF2B5EF4-FFF2-40B4-BE49-F238E27FC236}">
                <a16:creationId xmlns:a16="http://schemas.microsoft.com/office/drawing/2014/main" id="{0E330187-0462-3C2A-C110-6E491FDA8959}"/>
              </a:ext>
            </a:extLst>
          </p:cNvPr>
          <p:cNvSpPr/>
          <p:nvPr/>
        </p:nvSpPr>
        <p:spPr>
          <a:xfrm>
            <a:off x="3806609" y="2996779"/>
            <a:ext cx="1329070" cy="377598"/>
          </a:xfrm>
          <a:prstGeom prst="roundRect">
            <a:avLst/>
          </a:prstGeom>
          <a:solidFill>
            <a:schemeClr val="bg1"/>
          </a:solidFill>
          <a:ln>
            <a:solidFill>
              <a:schemeClr val="accent2"/>
            </a:solidFill>
            <a:prstDash val="solid"/>
          </a:ln>
          <a:effectLst/>
          <a:scene3d>
            <a:camera prst="orthographicFront"/>
            <a:lightRig rig="threePt" dir="t"/>
          </a:scene3d>
          <a:sp3d prstMaterial="dkEdg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libri" panose="020F0502020204030204"/>
                <a:ea typeface="+mn-ea"/>
                <a:cs typeface="+mn-cs"/>
              </a:rPr>
              <a:t>Integration with Eco system</a:t>
            </a:r>
          </a:p>
        </p:txBody>
      </p:sp>
      <p:sp>
        <p:nvSpPr>
          <p:cNvPr id="38" name="Rounded Rectangle 25">
            <a:extLst>
              <a:ext uri="{FF2B5EF4-FFF2-40B4-BE49-F238E27FC236}">
                <a16:creationId xmlns:a16="http://schemas.microsoft.com/office/drawing/2014/main" id="{424D95DD-DD6F-E6E9-87A1-DF88521EA3CC}"/>
              </a:ext>
            </a:extLst>
          </p:cNvPr>
          <p:cNvSpPr/>
          <p:nvPr/>
        </p:nvSpPr>
        <p:spPr>
          <a:xfrm>
            <a:off x="3817584" y="3429372"/>
            <a:ext cx="1329070" cy="377598"/>
          </a:xfrm>
          <a:prstGeom prst="roundRect">
            <a:avLst/>
          </a:prstGeom>
          <a:solidFill>
            <a:schemeClr val="bg1"/>
          </a:solidFill>
          <a:ln>
            <a:solidFill>
              <a:schemeClr val="accent2"/>
            </a:solidFill>
            <a:prstDash val="solid"/>
          </a:ln>
          <a:effectLst/>
          <a:scene3d>
            <a:camera prst="orthographicFront"/>
            <a:lightRig rig="threePt" dir="t"/>
          </a:scene3d>
          <a:sp3d prstMaterial="dkEdg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libri" panose="020F0502020204030204"/>
                <a:ea typeface="+mn-ea"/>
                <a:cs typeface="+mn-cs"/>
              </a:rPr>
              <a:t>Analytics &amp; Documentation</a:t>
            </a:r>
          </a:p>
        </p:txBody>
      </p:sp>
      <p:sp>
        <p:nvSpPr>
          <p:cNvPr id="39" name="Rounded Rectangle 26">
            <a:extLst>
              <a:ext uri="{FF2B5EF4-FFF2-40B4-BE49-F238E27FC236}">
                <a16:creationId xmlns:a16="http://schemas.microsoft.com/office/drawing/2014/main" id="{A02B048E-9582-EEB1-34CD-A5D22122EC7E}"/>
              </a:ext>
            </a:extLst>
          </p:cNvPr>
          <p:cNvSpPr/>
          <p:nvPr/>
        </p:nvSpPr>
        <p:spPr>
          <a:xfrm>
            <a:off x="6809136" y="2090220"/>
            <a:ext cx="1282902" cy="377598"/>
          </a:xfrm>
          <a:prstGeom prst="roundRect">
            <a:avLst/>
          </a:prstGeom>
          <a:solidFill>
            <a:schemeClr val="bg1"/>
          </a:solidFill>
          <a:ln>
            <a:solidFill>
              <a:schemeClr val="accent2"/>
            </a:solidFill>
            <a:prstDash val="solid"/>
          </a:ln>
          <a:effectLst/>
          <a:scene3d>
            <a:camera prst="orthographicFront"/>
            <a:lightRig rig="threePt" dir="t"/>
          </a:scene3d>
          <a:sp3d prstMaterial="dkEdg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libri" panose="020F0502020204030204"/>
                <a:ea typeface="+mn-ea"/>
                <a:cs typeface="+mn-cs"/>
              </a:rPr>
              <a:t>System Changes</a:t>
            </a:r>
          </a:p>
        </p:txBody>
      </p:sp>
      <p:sp>
        <p:nvSpPr>
          <p:cNvPr id="40" name="Rounded Rectangle 27">
            <a:extLst>
              <a:ext uri="{FF2B5EF4-FFF2-40B4-BE49-F238E27FC236}">
                <a16:creationId xmlns:a16="http://schemas.microsoft.com/office/drawing/2014/main" id="{015A33A4-063C-B8AB-289A-91D4AA7D91A9}"/>
              </a:ext>
            </a:extLst>
          </p:cNvPr>
          <p:cNvSpPr/>
          <p:nvPr/>
        </p:nvSpPr>
        <p:spPr>
          <a:xfrm>
            <a:off x="6809136" y="2547357"/>
            <a:ext cx="1282902" cy="377598"/>
          </a:xfrm>
          <a:prstGeom prst="roundRect">
            <a:avLst/>
          </a:prstGeom>
          <a:solidFill>
            <a:schemeClr val="bg1"/>
          </a:solidFill>
          <a:ln>
            <a:solidFill>
              <a:schemeClr val="accent2"/>
            </a:solidFill>
            <a:prstDash val="solid"/>
          </a:ln>
          <a:effectLst/>
          <a:scene3d>
            <a:camera prst="orthographicFront"/>
            <a:lightRig rig="threePt" dir="t"/>
          </a:scene3d>
          <a:sp3d prstMaterial="dkEdg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libri" panose="020F0502020204030204"/>
                <a:ea typeface="+mn-ea"/>
                <a:cs typeface="+mn-cs"/>
              </a:rPr>
              <a:t>Process Improvement</a:t>
            </a:r>
          </a:p>
        </p:txBody>
      </p:sp>
      <p:sp>
        <p:nvSpPr>
          <p:cNvPr id="41" name="Rounded Rectangle 28">
            <a:extLst>
              <a:ext uri="{FF2B5EF4-FFF2-40B4-BE49-F238E27FC236}">
                <a16:creationId xmlns:a16="http://schemas.microsoft.com/office/drawing/2014/main" id="{ECF232CE-EEE4-1ACD-F0B8-D568EEF94B97}"/>
              </a:ext>
            </a:extLst>
          </p:cNvPr>
          <p:cNvSpPr/>
          <p:nvPr/>
        </p:nvSpPr>
        <p:spPr>
          <a:xfrm>
            <a:off x="6815533" y="2996779"/>
            <a:ext cx="1282902" cy="377598"/>
          </a:xfrm>
          <a:prstGeom prst="roundRect">
            <a:avLst/>
          </a:prstGeom>
          <a:solidFill>
            <a:schemeClr val="bg1"/>
          </a:solidFill>
          <a:ln>
            <a:solidFill>
              <a:schemeClr val="accent2"/>
            </a:solidFill>
            <a:prstDash val="solid"/>
          </a:ln>
          <a:effectLst/>
          <a:scene3d>
            <a:camera prst="orthographicFront"/>
            <a:lightRig rig="threePt" dir="t"/>
          </a:scene3d>
          <a:sp3d prstMaterial="dkEdg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libri" panose="020F0502020204030204"/>
                <a:ea typeface="+mn-ea"/>
                <a:cs typeface="+mn-cs"/>
              </a:rPr>
              <a:t>Development Support</a:t>
            </a:r>
          </a:p>
        </p:txBody>
      </p:sp>
      <p:sp>
        <p:nvSpPr>
          <p:cNvPr id="47" name="Rounded Rectangle 34">
            <a:extLst>
              <a:ext uri="{FF2B5EF4-FFF2-40B4-BE49-F238E27FC236}">
                <a16:creationId xmlns:a16="http://schemas.microsoft.com/office/drawing/2014/main" id="{10E3999D-D9B3-BD3C-D1A0-4EA906A46725}"/>
              </a:ext>
            </a:extLst>
          </p:cNvPr>
          <p:cNvSpPr/>
          <p:nvPr/>
        </p:nvSpPr>
        <p:spPr>
          <a:xfrm>
            <a:off x="6815533" y="3429372"/>
            <a:ext cx="1282902" cy="377598"/>
          </a:xfrm>
          <a:prstGeom prst="roundRect">
            <a:avLst/>
          </a:prstGeom>
          <a:solidFill>
            <a:schemeClr val="bg1"/>
          </a:solidFill>
          <a:ln>
            <a:solidFill>
              <a:schemeClr val="accent2"/>
            </a:solidFill>
            <a:prstDash val="solid"/>
          </a:ln>
          <a:effectLst/>
          <a:scene3d>
            <a:camera prst="orthographicFront"/>
            <a:lightRig rig="threePt" dir="t"/>
          </a:scene3d>
          <a:sp3d prstMaterial="dkEdg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libri" panose="020F0502020204030204"/>
                <a:ea typeface="+mn-ea"/>
                <a:cs typeface="+mn-cs"/>
              </a:rPr>
              <a:t>Testing</a:t>
            </a:r>
          </a:p>
        </p:txBody>
      </p:sp>
      <p:sp>
        <p:nvSpPr>
          <p:cNvPr id="48" name="Freeform 14">
            <a:extLst>
              <a:ext uri="{FF2B5EF4-FFF2-40B4-BE49-F238E27FC236}">
                <a16:creationId xmlns:a16="http://schemas.microsoft.com/office/drawing/2014/main" id="{5B8A1FBA-8AB7-58C8-FCA7-F9F3EACE43CA}"/>
              </a:ext>
            </a:extLst>
          </p:cNvPr>
          <p:cNvSpPr/>
          <p:nvPr/>
        </p:nvSpPr>
        <p:spPr>
          <a:xfrm>
            <a:off x="2208674" y="1597818"/>
            <a:ext cx="1463040" cy="365760"/>
          </a:xfrm>
          <a:prstGeom prst="roundRect">
            <a:avLst/>
          </a:prstGeom>
          <a:solidFill>
            <a:schemeClr val="accent3"/>
          </a:solidFill>
          <a:ln/>
          <a:effectLst/>
        </p:spPr>
        <p:style>
          <a:lnRef idx="0">
            <a:schemeClr val="accent1"/>
          </a:lnRef>
          <a:fillRef idx="3">
            <a:schemeClr val="accent1"/>
          </a:fillRef>
          <a:effectRef idx="3">
            <a:schemeClr val="accent1"/>
          </a:effectRef>
          <a:fontRef idx="minor">
            <a:schemeClr val="lt1"/>
          </a:fontRef>
        </p:style>
        <p:txBody>
          <a:bodyPr spcFirstLastPara="0" vert="horz" wrap="square" lIns="91440" tIns="21336" rIns="91440" bIns="21336" numCol="1" spcCol="1270" anchor="ctr" anchorCtr="0">
            <a:noAutofit/>
          </a:bodyPr>
          <a:lstStyle/>
          <a:p>
            <a:pPr marL="0" marR="0" lvl="0" indent="0" algn="ctr" defTabSz="711200" rtl="0" eaLnBrk="1" fontAlgn="auto" latinLnBrk="0" hangingPunct="1">
              <a:lnSpc>
                <a:spcPct val="90000"/>
              </a:lnSpc>
              <a:spcBef>
                <a:spcPct val="0"/>
              </a:spcBef>
              <a:spcAft>
                <a:spcPct val="35000"/>
              </a:spcAft>
              <a:buClrTx/>
              <a:buSzTx/>
              <a:buFontTx/>
              <a:buNone/>
              <a:tabLst/>
              <a:defRPr/>
            </a:pPr>
            <a:r>
              <a:rPr kumimoji="0" lang="en-US" sz="1050" b="1" i="0" u="none" strike="noStrike" kern="1200" cap="none" spc="0" normalizeH="0" baseline="0" noProof="0">
                <a:ln>
                  <a:noFill/>
                </a:ln>
                <a:solidFill>
                  <a:srgbClr val="FFFFFF"/>
                </a:solidFill>
                <a:effectLst/>
                <a:uLnTx/>
                <a:uFillTx/>
                <a:latin typeface="Arial"/>
                <a:ea typeface="+mn-ea"/>
                <a:cs typeface="+mn-cs"/>
              </a:rPr>
              <a:t>Product Planning &amp; Designing</a:t>
            </a:r>
          </a:p>
        </p:txBody>
      </p:sp>
      <p:sp>
        <p:nvSpPr>
          <p:cNvPr id="49" name="Rounded Rectangle 36">
            <a:extLst>
              <a:ext uri="{FF2B5EF4-FFF2-40B4-BE49-F238E27FC236}">
                <a16:creationId xmlns:a16="http://schemas.microsoft.com/office/drawing/2014/main" id="{6E7A8BBE-CE22-1E06-F121-F477F56D8261}"/>
              </a:ext>
            </a:extLst>
          </p:cNvPr>
          <p:cNvSpPr/>
          <p:nvPr/>
        </p:nvSpPr>
        <p:spPr>
          <a:xfrm>
            <a:off x="2208674" y="2097037"/>
            <a:ext cx="1463040" cy="365760"/>
          </a:xfrm>
          <a:prstGeom prst="roundRect">
            <a:avLst/>
          </a:prstGeom>
          <a:solidFill>
            <a:schemeClr val="bg1"/>
          </a:solidFill>
          <a:ln>
            <a:solidFill>
              <a:schemeClr val="accent2"/>
            </a:solidFill>
            <a:prstDash val="solid"/>
          </a:ln>
          <a:effectLst/>
          <a:scene3d>
            <a:camera prst="orthographicFront"/>
            <a:lightRig rig="threePt" dir="t"/>
          </a:scene3d>
          <a:sp3d prstMaterial="dkEdg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libri" panose="020F0502020204030204"/>
                <a:ea typeface="+mn-ea"/>
                <a:cs typeface="+mn-cs"/>
              </a:rPr>
              <a:t>Product Development</a:t>
            </a:r>
          </a:p>
        </p:txBody>
      </p:sp>
      <p:sp>
        <p:nvSpPr>
          <p:cNvPr id="50" name="Rounded Rectangle 37">
            <a:extLst>
              <a:ext uri="{FF2B5EF4-FFF2-40B4-BE49-F238E27FC236}">
                <a16:creationId xmlns:a16="http://schemas.microsoft.com/office/drawing/2014/main" id="{6E703080-AC22-0D94-45E6-98C609689557}"/>
              </a:ext>
            </a:extLst>
          </p:cNvPr>
          <p:cNvSpPr/>
          <p:nvPr/>
        </p:nvSpPr>
        <p:spPr>
          <a:xfrm>
            <a:off x="2208674" y="2541149"/>
            <a:ext cx="1463040" cy="365760"/>
          </a:xfrm>
          <a:prstGeom prst="roundRect">
            <a:avLst/>
          </a:prstGeom>
          <a:solidFill>
            <a:schemeClr val="bg1"/>
          </a:solidFill>
          <a:ln>
            <a:solidFill>
              <a:schemeClr val="accent2"/>
            </a:solidFill>
            <a:prstDash val="solid"/>
          </a:ln>
          <a:effectLst/>
          <a:scene3d>
            <a:camera prst="orthographicFront"/>
            <a:lightRig rig="threePt" dir="t"/>
          </a:scene3d>
          <a:sp3d prstMaterial="dkEdg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libri" panose="020F0502020204030204"/>
                <a:ea typeface="+mn-ea"/>
                <a:cs typeface="+mn-cs"/>
              </a:rPr>
              <a:t>Enlist Product Features</a:t>
            </a:r>
          </a:p>
        </p:txBody>
      </p:sp>
      <p:sp>
        <p:nvSpPr>
          <p:cNvPr id="51" name="Rounded Rectangle 38">
            <a:extLst>
              <a:ext uri="{FF2B5EF4-FFF2-40B4-BE49-F238E27FC236}">
                <a16:creationId xmlns:a16="http://schemas.microsoft.com/office/drawing/2014/main" id="{E0616CC6-7454-FCF7-9FED-DF77D110DF9C}"/>
              </a:ext>
            </a:extLst>
          </p:cNvPr>
          <p:cNvSpPr/>
          <p:nvPr/>
        </p:nvSpPr>
        <p:spPr>
          <a:xfrm>
            <a:off x="2204127" y="2985260"/>
            <a:ext cx="1463040" cy="365760"/>
          </a:xfrm>
          <a:prstGeom prst="roundRect">
            <a:avLst/>
          </a:prstGeom>
          <a:solidFill>
            <a:schemeClr val="bg1"/>
          </a:solidFill>
          <a:ln>
            <a:solidFill>
              <a:schemeClr val="accent2"/>
            </a:solidFill>
            <a:prstDash val="solid"/>
          </a:ln>
          <a:effectLst/>
          <a:scene3d>
            <a:camera prst="orthographicFront"/>
            <a:lightRig rig="threePt" dir="t"/>
          </a:scene3d>
          <a:sp3d prstMaterial="dkEdg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libri" panose="020F0502020204030204"/>
                <a:ea typeface="+mn-ea"/>
                <a:cs typeface="+mn-cs"/>
              </a:rPr>
              <a:t>Build MVP</a:t>
            </a:r>
          </a:p>
        </p:txBody>
      </p:sp>
      <p:sp>
        <p:nvSpPr>
          <p:cNvPr id="52" name="Rounded Rectangle 39">
            <a:extLst>
              <a:ext uri="{FF2B5EF4-FFF2-40B4-BE49-F238E27FC236}">
                <a16:creationId xmlns:a16="http://schemas.microsoft.com/office/drawing/2014/main" id="{A78BDA34-4513-056B-2445-184C74E0256D}"/>
              </a:ext>
            </a:extLst>
          </p:cNvPr>
          <p:cNvSpPr/>
          <p:nvPr/>
        </p:nvSpPr>
        <p:spPr>
          <a:xfrm>
            <a:off x="2204127" y="3429372"/>
            <a:ext cx="1463040" cy="365760"/>
          </a:xfrm>
          <a:prstGeom prst="roundRect">
            <a:avLst/>
          </a:prstGeom>
          <a:solidFill>
            <a:schemeClr val="bg1"/>
          </a:solidFill>
          <a:ln>
            <a:solidFill>
              <a:schemeClr val="accent2"/>
            </a:solidFill>
            <a:prstDash val="solid"/>
          </a:ln>
          <a:effectLst/>
          <a:scene3d>
            <a:camera prst="orthographicFront"/>
            <a:lightRig rig="threePt" dir="t"/>
          </a:scene3d>
          <a:sp3d prstMaterial="dkEdg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libri" panose="020F0502020204030204"/>
                <a:ea typeface="+mn-ea"/>
                <a:cs typeface="+mn-cs"/>
              </a:rPr>
              <a:t>Testing</a:t>
            </a:r>
          </a:p>
        </p:txBody>
      </p:sp>
      <p:sp>
        <p:nvSpPr>
          <p:cNvPr id="53" name="Freeform 14">
            <a:extLst>
              <a:ext uri="{FF2B5EF4-FFF2-40B4-BE49-F238E27FC236}">
                <a16:creationId xmlns:a16="http://schemas.microsoft.com/office/drawing/2014/main" id="{66F57420-138A-0935-F2A3-3F4B43F42AC8}"/>
              </a:ext>
            </a:extLst>
          </p:cNvPr>
          <p:cNvSpPr/>
          <p:nvPr/>
        </p:nvSpPr>
        <p:spPr>
          <a:xfrm>
            <a:off x="8272493" y="1597818"/>
            <a:ext cx="1463040" cy="365760"/>
          </a:xfrm>
          <a:prstGeom prst="roundRect">
            <a:avLst/>
          </a:prstGeom>
          <a:solidFill>
            <a:schemeClr val="accent3"/>
          </a:solidFill>
          <a:ln/>
          <a:effectLst/>
        </p:spPr>
        <p:style>
          <a:lnRef idx="0">
            <a:schemeClr val="accent1"/>
          </a:lnRef>
          <a:fillRef idx="3">
            <a:schemeClr val="accent1"/>
          </a:fillRef>
          <a:effectRef idx="3">
            <a:schemeClr val="accent1"/>
          </a:effectRef>
          <a:fontRef idx="minor">
            <a:schemeClr val="lt1"/>
          </a:fontRef>
        </p:style>
        <p:txBody>
          <a:bodyPr spcFirstLastPara="0" vert="horz" wrap="square" lIns="303997" tIns="21336" rIns="261325" bIns="21336" numCol="1" spcCol="1270" anchor="ctr" anchorCtr="0">
            <a:noAutofit/>
          </a:bodyPr>
          <a:lstStyle/>
          <a:p>
            <a:pPr marL="0" marR="0" lvl="0" indent="0" algn="ctr" defTabSz="711200" rtl="0" eaLnBrk="1" fontAlgn="auto" latinLnBrk="0" hangingPunct="1">
              <a:lnSpc>
                <a:spcPct val="90000"/>
              </a:lnSpc>
              <a:spcBef>
                <a:spcPct val="0"/>
              </a:spcBef>
              <a:spcAft>
                <a:spcPct val="35000"/>
              </a:spcAft>
              <a:buClrTx/>
              <a:buSzTx/>
              <a:buFontTx/>
              <a:buNone/>
              <a:tabLst/>
              <a:defRPr/>
            </a:pPr>
            <a:r>
              <a:rPr kumimoji="0" lang="en-US" sz="1050" b="1" i="0" u="none" strike="noStrike" kern="1200" cap="none" spc="0" normalizeH="0" baseline="0" noProof="0">
                <a:ln>
                  <a:noFill/>
                </a:ln>
                <a:solidFill>
                  <a:srgbClr val="FFFFFF"/>
                </a:solidFill>
                <a:effectLst/>
                <a:uLnTx/>
                <a:uFillTx/>
                <a:latin typeface="Arial"/>
                <a:ea typeface="+mn-ea"/>
                <a:cs typeface="+mn-cs"/>
              </a:rPr>
              <a:t>Product Launch</a:t>
            </a:r>
          </a:p>
        </p:txBody>
      </p:sp>
      <p:sp>
        <p:nvSpPr>
          <p:cNvPr id="54" name="Rounded Rectangle 41">
            <a:extLst>
              <a:ext uri="{FF2B5EF4-FFF2-40B4-BE49-F238E27FC236}">
                <a16:creationId xmlns:a16="http://schemas.microsoft.com/office/drawing/2014/main" id="{E714CA66-938E-1032-94D1-083EB460A3BE}"/>
              </a:ext>
            </a:extLst>
          </p:cNvPr>
          <p:cNvSpPr/>
          <p:nvPr/>
        </p:nvSpPr>
        <p:spPr>
          <a:xfrm>
            <a:off x="8280389" y="2071989"/>
            <a:ext cx="1463040" cy="365760"/>
          </a:xfrm>
          <a:prstGeom prst="roundRect">
            <a:avLst/>
          </a:prstGeom>
          <a:solidFill>
            <a:schemeClr val="bg1"/>
          </a:solidFill>
          <a:ln>
            <a:solidFill>
              <a:schemeClr val="accent2"/>
            </a:solidFill>
            <a:prstDash val="solid"/>
          </a:ln>
          <a:effectLst/>
          <a:scene3d>
            <a:camera prst="orthographicFront"/>
            <a:lightRig rig="threePt" dir="t"/>
          </a:scene3d>
          <a:sp3d prstMaterial="dkEdg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libri" panose="020F0502020204030204"/>
                <a:ea typeface="+mn-ea"/>
                <a:cs typeface="+mn-cs"/>
              </a:rPr>
              <a:t>Market Identification</a:t>
            </a:r>
          </a:p>
        </p:txBody>
      </p:sp>
      <p:sp>
        <p:nvSpPr>
          <p:cNvPr id="55" name="Rounded Rectangle 42">
            <a:extLst>
              <a:ext uri="{FF2B5EF4-FFF2-40B4-BE49-F238E27FC236}">
                <a16:creationId xmlns:a16="http://schemas.microsoft.com/office/drawing/2014/main" id="{416D85F7-5A5A-19D7-207E-14231A9941B0}"/>
              </a:ext>
            </a:extLst>
          </p:cNvPr>
          <p:cNvSpPr/>
          <p:nvPr/>
        </p:nvSpPr>
        <p:spPr>
          <a:xfrm>
            <a:off x="8280389" y="2978548"/>
            <a:ext cx="1463040" cy="365760"/>
          </a:xfrm>
          <a:prstGeom prst="roundRect">
            <a:avLst/>
          </a:prstGeom>
          <a:solidFill>
            <a:schemeClr val="bg1"/>
          </a:solidFill>
          <a:ln>
            <a:solidFill>
              <a:schemeClr val="accent2"/>
            </a:solidFill>
            <a:prstDash val="solid"/>
          </a:ln>
          <a:effectLst/>
          <a:scene3d>
            <a:camera prst="orthographicFront"/>
            <a:lightRig rig="threePt" dir="t"/>
          </a:scene3d>
          <a:sp3d prstMaterial="dkEdg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libri" panose="020F0502020204030204"/>
                <a:ea typeface="+mn-ea"/>
                <a:cs typeface="+mn-cs"/>
              </a:rPr>
              <a:t>Go to Market Launch Plan</a:t>
            </a:r>
          </a:p>
        </p:txBody>
      </p:sp>
      <p:sp>
        <p:nvSpPr>
          <p:cNvPr id="56" name="Rounded Rectangle 43">
            <a:extLst>
              <a:ext uri="{FF2B5EF4-FFF2-40B4-BE49-F238E27FC236}">
                <a16:creationId xmlns:a16="http://schemas.microsoft.com/office/drawing/2014/main" id="{77CC0053-356D-EF21-EEBA-AD9ECD302FEB}"/>
              </a:ext>
            </a:extLst>
          </p:cNvPr>
          <p:cNvSpPr/>
          <p:nvPr/>
        </p:nvSpPr>
        <p:spPr>
          <a:xfrm>
            <a:off x="8280389" y="2529126"/>
            <a:ext cx="1463040" cy="365760"/>
          </a:xfrm>
          <a:prstGeom prst="roundRect">
            <a:avLst/>
          </a:prstGeom>
          <a:solidFill>
            <a:schemeClr val="bg1"/>
          </a:solidFill>
          <a:ln>
            <a:solidFill>
              <a:schemeClr val="accent2"/>
            </a:solidFill>
            <a:prstDash val="solid"/>
          </a:ln>
          <a:effectLst/>
          <a:scene3d>
            <a:camera prst="orthographicFront"/>
            <a:lightRig rig="threePt" dir="t"/>
          </a:scene3d>
          <a:sp3d prstMaterial="dkEdg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libri" panose="020F0502020204030204"/>
                <a:ea typeface="+mn-ea"/>
                <a:cs typeface="+mn-cs"/>
              </a:rPr>
              <a:t>Layout Strategic Plan</a:t>
            </a:r>
          </a:p>
        </p:txBody>
      </p:sp>
      <p:sp>
        <p:nvSpPr>
          <p:cNvPr id="57" name="Rectangle 56">
            <a:extLst>
              <a:ext uri="{FF2B5EF4-FFF2-40B4-BE49-F238E27FC236}">
                <a16:creationId xmlns:a16="http://schemas.microsoft.com/office/drawing/2014/main" id="{F18FFB72-1A8C-5257-DCB8-2C000751306B}"/>
              </a:ext>
            </a:extLst>
          </p:cNvPr>
          <p:cNvSpPr/>
          <p:nvPr/>
        </p:nvSpPr>
        <p:spPr>
          <a:xfrm>
            <a:off x="1905001" y="4577231"/>
            <a:ext cx="8398288" cy="58477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1">
                <a:ln>
                  <a:noFill/>
                </a:ln>
                <a:solidFill>
                  <a:srgbClr val="000000"/>
                </a:solidFill>
                <a:effectLst/>
                <a:uLnTx/>
                <a:uFillTx/>
                <a:latin typeface="Calibri" panose="020F0502020204030204"/>
                <a:ea typeface="+mn-ea"/>
                <a:cs typeface="+mn-cs"/>
              </a:rPr>
              <a:t>EXL leverages next-generation technologies effectively to drive further efficiency and enhance quality across different activities of PDLC </a:t>
            </a:r>
            <a:endParaRPr kumimoji="0" lang="en-US" sz="1600" b="1"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018500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Rounded Corners 58">
            <a:extLst>
              <a:ext uri="{FF2B5EF4-FFF2-40B4-BE49-F238E27FC236}">
                <a16:creationId xmlns:a16="http://schemas.microsoft.com/office/drawing/2014/main" id="{9EEAEFA7-D8E0-4AD0-A0A3-F71145E79B58}"/>
              </a:ext>
            </a:extLst>
          </p:cNvPr>
          <p:cNvSpPr/>
          <p:nvPr/>
        </p:nvSpPr>
        <p:spPr>
          <a:xfrm>
            <a:off x="457198" y="5860188"/>
            <a:ext cx="10172702" cy="524096"/>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2D8440BC-C221-4EB0-822C-1CDEA77BEFB0}"/>
              </a:ext>
            </a:extLst>
          </p:cNvPr>
          <p:cNvSpPr/>
          <p:nvPr/>
        </p:nvSpPr>
        <p:spPr>
          <a:xfrm>
            <a:off x="457199" y="3344233"/>
            <a:ext cx="11277599" cy="29682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a:ea typeface="+mn-ea"/>
                <a:cs typeface="+mn-cs"/>
              </a:rPr>
              <a:t>Process Followed</a:t>
            </a:r>
          </a:p>
        </p:txBody>
      </p:sp>
      <p:sp>
        <p:nvSpPr>
          <p:cNvPr id="16" name="Rectangle 15">
            <a:extLst>
              <a:ext uri="{FF2B5EF4-FFF2-40B4-BE49-F238E27FC236}">
                <a16:creationId xmlns:a16="http://schemas.microsoft.com/office/drawing/2014/main" id="{7A5FFDCA-4EBB-47F7-AFE9-9F92EB2CD398}"/>
              </a:ext>
            </a:extLst>
          </p:cNvPr>
          <p:cNvSpPr/>
          <p:nvPr/>
        </p:nvSpPr>
        <p:spPr>
          <a:xfrm>
            <a:off x="457198" y="4245654"/>
            <a:ext cx="2080518" cy="1351288"/>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4300" lvl="1" indent="-114300" defTabSz="622300">
              <a:lnSpc>
                <a:spcPct val="90000"/>
              </a:lnSpc>
              <a:spcBef>
                <a:spcPct val="0"/>
              </a:spcBef>
              <a:spcAft>
                <a:spcPct val="15000"/>
              </a:spcAft>
              <a:buFontTx/>
              <a:buChar char="•"/>
              <a:defRPr/>
            </a:pPr>
            <a:r>
              <a:rPr lang="en-US" sz="1200">
                <a:solidFill>
                  <a:prstClr val="black">
                    <a:hueOff val="0"/>
                    <a:satOff val="0"/>
                    <a:lumOff val="0"/>
                    <a:alphaOff val="0"/>
                  </a:prstClr>
                </a:solidFill>
              </a:rPr>
              <a:t>Validate all data transactions</a:t>
            </a:r>
          </a:p>
          <a:p>
            <a:pPr marL="114300" lvl="1" indent="-114300" defTabSz="622300">
              <a:lnSpc>
                <a:spcPct val="90000"/>
              </a:lnSpc>
              <a:spcBef>
                <a:spcPct val="0"/>
              </a:spcBef>
              <a:spcAft>
                <a:spcPct val="15000"/>
              </a:spcAft>
              <a:buFontTx/>
              <a:buChar char="•"/>
              <a:defRPr/>
            </a:pPr>
            <a:r>
              <a:rPr lang="en-US" sz="1200">
                <a:solidFill>
                  <a:prstClr val="black">
                    <a:hueOff val="0"/>
                    <a:satOff val="0"/>
                    <a:lumOff val="0"/>
                    <a:alphaOff val="0"/>
                  </a:prstClr>
                </a:solidFill>
              </a:rPr>
              <a:t>Identify mislabel contracts</a:t>
            </a:r>
          </a:p>
          <a:p>
            <a:pPr marL="114300" lvl="1" indent="-114300" defTabSz="622300">
              <a:lnSpc>
                <a:spcPct val="90000"/>
              </a:lnSpc>
              <a:spcBef>
                <a:spcPct val="0"/>
              </a:spcBef>
              <a:spcAft>
                <a:spcPct val="15000"/>
              </a:spcAft>
              <a:buFontTx/>
              <a:buChar char="•"/>
              <a:defRPr/>
            </a:pPr>
            <a:r>
              <a:rPr lang="en-US" sz="1200">
                <a:solidFill>
                  <a:prstClr val="black">
                    <a:hueOff val="0"/>
                    <a:satOff val="0"/>
                    <a:lumOff val="0"/>
                    <a:alphaOff val="0"/>
                  </a:prstClr>
                </a:solidFill>
              </a:rPr>
              <a:t>Stack input data from various product systems (like UWWB, QE and QUEST)</a:t>
            </a:r>
          </a:p>
          <a:p>
            <a:pPr marL="114300" lvl="1" indent="-114300" defTabSz="622300">
              <a:lnSpc>
                <a:spcPct val="90000"/>
              </a:lnSpc>
              <a:spcBef>
                <a:spcPct val="0"/>
              </a:spcBef>
              <a:spcAft>
                <a:spcPct val="15000"/>
              </a:spcAft>
              <a:buFontTx/>
              <a:buChar char="•"/>
              <a:defRPr/>
            </a:pPr>
            <a:r>
              <a:rPr lang="en-US" sz="1200">
                <a:solidFill>
                  <a:prstClr val="black">
                    <a:hueOff val="0"/>
                    <a:satOff val="0"/>
                    <a:lumOff val="0"/>
                    <a:alphaOff val="0"/>
                  </a:prstClr>
                </a:solidFill>
              </a:rPr>
              <a:t>Clean finalized data for ingestion</a:t>
            </a:r>
          </a:p>
        </p:txBody>
      </p:sp>
      <p:sp>
        <p:nvSpPr>
          <p:cNvPr id="22" name="Isosceles Triangle 21">
            <a:extLst>
              <a:ext uri="{FF2B5EF4-FFF2-40B4-BE49-F238E27FC236}">
                <a16:creationId xmlns:a16="http://schemas.microsoft.com/office/drawing/2014/main" id="{0BEEEB3A-53B5-49B3-8BA9-96B15A3EC4BB}"/>
              </a:ext>
            </a:extLst>
          </p:cNvPr>
          <p:cNvSpPr/>
          <p:nvPr/>
        </p:nvSpPr>
        <p:spPr>
          <a:xfrm rot="5400000">
            <a:off x="2558444" y="4829378"/>
            <a:ext cx="1019048" cy="183841"/>
          </a:xfrm>
          <a:prstGeom prst="triangle">
            <a:avLst>
              <a:gd name="adj" fmla="val 51179"/>
            </a:avLst>
          </a:prstGeom>
          <a:solidFill>
            <a:schemeClr val="accent6">
              <a:lumMod val="90000"/>
            </a:schemeClr>
          </a:solidFill>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8" name="TextBox 27">
            <a:extLst>
              <a:ext uri="{FF2B5EF4-FFF2-40B4-BE49-F238E27FC236}">
                <a16:creationId xmlns:a16="http://schemas.microsoft.com/office/drawing/2014/main" id="{433EAA50-E77F-4D1C-9658-568EA4198CC6}"/>
              </a:ext>
            </a:extLst>
          </p:cNvPr>
          <p:cNvSpPr txBox="1"/>
          <p:nvPr/>
        </p:nvSpPr>
        <p:spPr>
          <a:xfrm>
            <a:off x="457199" y="1710190"/>
            <a:ext cx="3713911" cy="1458632"/>
          </a:xfrm>
          <a:prstGeom prst="rect">
            <a:avLst/>
          </a:prstGeom>
          <a:ln/>
        </p:spPr>
        <p:style>
          <a:lnRef idx="3">
            <a:schemeClr val="lt1"/>
          </a:lnRef>
          <a:fillRef idx="1">
            <a:schemeClr val="accent6"/>
          </a:fillRef>
          <a:effectRef idx="1">
            <a:schemeClr val="accent6"/>
          </a:effectRef>
          <a:fontRef idx="minor">
            <a:schemeClr val="lt1"/>
          </a:fontRef>
        </p:style>
        <p:txBody>
          <a:bodyPr wrap="square" lIns="274320" tIns="0" rIns="91440" bIns="0" rtlCol="0" anchor="ctr">
            <a:noAutofit/>
          </a:bodyPr>
          <a:lstStyle/>
          <a:p>
            <a:pPr lvl="0" algn="ctr" defTabSz="914377">
              <a:spcBef>
                <a:spcPts val="200"/>
              </a:spcBef>
              <a:buClr>
                <a:srgbClr val="ED7D31"/>
              </a:buClr>
              <a:buSzPct val="70000"/>
              <a:defRPr/>
            </a:pPr>
            <a:endParaRPr lang="en-US" sz="1100" b="1">
              <a:solidFill>
                <a:srgbClr val="FF6503"/>
              </a:solidFill>
              <a:latin typeface="Arial"/>
            </a:endParaRPr>
          </a:p>
          <a:p>
            <a:pPr marL="285750" lvl="0" indent="-285750">
              <a:buFont typeface="Arial" panose="020B0604020202020204" pitchFamily="34" charset="0"/>
              <a:buChar char="•"/>
              <a:defRPr/>
            </a:pPr>
            <a:r>
              <a:rPr lang="en-US" sz="1100">
                <a:solidFill>
                  <a:prstClr val="black"/>
                </a:solidFill>
                <a:latin typeface="Arial" panose="020B0604020202020204" pitchFamily="34" charset="0"/>
                <a:cs typeface="Arial" panose="020B0604020202020204" pitchFamily="34" charset="0"/>
              </a:rPr>
              <a:t>Import precise census data and plan information for all STD / LTD products from various systems</a:t>
            </a:r>
          </a:p>
          <a:p>
            <a:pPr marL="285750" lvl="0" indent="-285750">
              <a:buFont typeface="Arial" panose="020B0604020202020204" pitchFamily="34" charset="0"/>
              <a:buChar char="•"/>
              <a:defRPr/>
            </a:pPr>
            <a:r>
              <a:rPr lang="en-US" sz="1100">
                <a:solidFill>
                  <a:prstClr val="black"/>
                </a:solidFill>
                <a:latin typeface="Arial" panose="020B0604020202020204" pitchFamily="34" charset="0"/>
                <a:cs typeface="Arial" panose="020B0604020202020204" pitchFamily="34" charset="0"/>
              </a:rPr>
              <a:t>Delinquencies occurs when data is unavailable or if any data related query is unresolved</a:t>
            </a:r>
          </a:p>
        </p:txBody>
      </p:sp>
      <p:sp>
        <p:nvSpPr>
          <p:cNvPr id="36" name="Rectangle 35">
            <a:extLst>
              <a:ext uri="{FF2B5EF4-FFF2-40B4-BE49-F238E27FC236}">
                <a16:creationId xmlns:a16="http://schemas.microsoft.com/office/drawing/2014/main" id="{041CF054-C2FA-4E53-83D3-B181CE058446}"/>
              </a:ext>
            </a:extLst>
          </p:cNvPr>
          <p:cNvSpPr/>
          <p:nvPr/>
        </p:nvSpPr>
        <p:spPr>
          <a:xfrm>
            <a:off x="2151761" y="5913916"/>
            <a:ext cx="1275108" cy="422517"/>
          </a:xfrm>
          <a:prstGeom prst="rect">
            <a:avLst/>
          </a:prstGeom>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64008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lumMod val="85000"/>
                    <a:lumOff val="15000"/>
                  </a:srgbClr>
                </a:solidFill>
                <a:effectLst/>
                <a:uLnTx/>
                <a:uFillTx/>
                <a:latin typeface="Arial"/>
                <a:ea typeface="+mn-ea"/>
                <a:cs typeface="+mn-cs"/>
              </a:rPr>
              <a:t>Integrated Group Pricing/ Quotation system</a:t>
            </a:r>
          </a:p>
        </p:txBody>
      </p:sp>
      <p:sp>
        <p:nvSpPr>
          <p:cNvPr id="47" name="TextBox 38">
            <a:extLst>
              <a:ext uri="{FF2B5EF4-FFF2-40B4-BE49-F238E27FC236}">
                <a16:creationId xmlns:a16="http://schemas.microsoft.com/office/drawing/2014/main" id="{A7D8FBFF-688D-442A-90E5-D35A9645F6DF}"/>
              </a:ext>
            </a:extLst>
          </p:cNvPr>
          <p:cNvSpPr txBox="1"/>
          <p:nvPr/>
        </p:nvSpPr>
        <p:spPr>
          <a:xfrm>
            <a:off x="457200" y="3720680"/>
            <a:ext cx="2080518" cy="453399"/>
          </a:xfrm>
          <a:prstGeom prst="rect">
            <a:avLst/>
          </a:prstGeom>
          <a:solidFill>
            <a:schemeClr val="bg1">
              <a:lumMod val="65000"/>
            </a:schemeClr>
          </a:solidFill>
          <a:ln>
            <a:solidFill>
              <a:schemeClr val="bg2"/>
            </a:solidFill>
          </a:ln>
        </p:spPr>
        <p:txBody>
          <a:bodyPr wrap="square" lIns="182880" tIns="91440" rIns="182880" bIns="9144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400050">
              <a:lnSpc>
                <a:spcPct val="90000"/>
              </a:lnSpc>
              <a:spcBef>
                <a:spcPct val="0"/>
              </a:spcBef>
              <a:spcAft>
                <a:spcPct val="35000"/>
              </a:spcAft>
              <a:defRPr/>
            </a:pPr>
            <a:r>
              <a:rPr lang="en-IN" sz="1400" b="1">
                <a:solidFill>
                  <a:prstClr val="white"/>
                </a:solidFill>
              </a:rPr>
              <a:t>Consolidate Data</a:t>
            </a:r>
            <a:endParaRPr lang="en-US" sz="1400">
              <a:solidFill>
                <a:srgbClr val="000000"/>
              </a:solidFill>
            </a:endParaRPr>
          </a:p>
        </p:txBody>
      </p:sp>
      <p:sp>
        <p:nvSpPr>
          <p:cNvPr id="48" name="TextBox 47">
            <a:extLst>
              <a:ext uri="{FF2B5EF4-FFF2-40B4-BE49-F238E27FC236}">
                <a16:creationId xmlns:a16="http://schemas.microsoft.com/office/drawing/2014/main" id="{A7ECD548-E021-4EAD-83DB-BE6B1057722C}"/>
              </a:ext>
            </a:extLst>
          </p:cNvPr>
          <p:cNvSpPr txBox="1"/>
          <p:nvPr/>
        </p:nvSpPr>
        <p:spPr>
          <a:xfrm>
            <a:off x="4239043" y="1718322"/>
            <a:ext cx="3713910" cy="1461951"/>
          </a:xfrm>
          <a:prstGeom prst="rect">
            <a:avLst/>
          </a:prstGeom>
          <a:ln/>
        </p:spPr>
        <p:style>
          <a:lnRef idx="3">
            <a:schemeClr val="lt1"/>
          </a:lnRef>
          <a:fillRef idx="1">
            <a:schemeClr val="accent6"/>
          </a:fillRef>
          <a:effectRef idx="1">
            <a:schemeClr val="accent6"/>
          </a:effectRef>
          <a:fontRef idx="minor">
            <a:schemeClr val="lt1"/>
          </a:fontRef>
        </p:style>
        <p:txBody>
          <a:bodyPr wrap="square" lIns="182880" tIns="0" rIns="0" bIns="0" rtlCol="0" anchor="ctr">
            <a:noAutofit/>
          </a:bodyPr>
          <a:lstStyle/>
          <a:p>
            <a:pPr lvl="0" defTabSz="914377">
              <a:spcBef>
                <a:spcPts val="200"/>
              </a:spcBef>
              <a:buClr>
                <a:srgbClr val="ED7D31"/>
              </a:buClr>
              <a:buSzPct val="70000"/>
              <a:defRPr/>
            </a:pPr>
            <a:endParaRPr lang="en-US" sz="1100" b="1">
              <a:solidFill>
                <a:srgbClr val="FF6503"/>
              </a:solidFill>
              <a:latin typeface="Arial"/>
            </a:endParaRPr>
          </a:p>
          <a:p>
            <a:pPr lvl="0" defTabSz="914377">
              <a:spcBef>
                <a:spcPts val="200"/>
              </a:spcBef>
              <a:buClr>
                <a:srgbClr val="ED7D31"/>
              </a:buClr>
              <a:buSzPct val="70000"/>
              <a:defRPr/>
            </a:pPr>
            <a:endParaRPr lang="en-US" sz="1100" b="1">
              <a:solidFill>
                <a:srgbClr val="FF6503"/>
              </a:solidFill>
              <a:latin typeface="Arial"/>
            </a:endParaRPr>
          </a:p>
          <a:p>
            <a:pPr marL="285750" lvl="0" indent="-285750">
              <a:buFont typeface="Arial" panose="020B0604020202020204" pitchFamily="34" charset="0"/>
              <a:buChar char="•"/>
              <a:defRPr/>
            </a:pPr>
            <a:r>
              <a:rPr lang="en-US" sz="1000">
                <a:solidFill>
                  <a:prstClr val="black"/>
                </a:solidFill>
                <a:latin typeface="Arial" panose="020B0604020202020204" pitchFamily="34" charset="0"/>
                <a:cs typeface="Arial" panose="020B0604020202020204" pitchFamily="34" charset="0"/>
              </a:rPr>
              <a:t>Consolidate / import external data using SQL/Python queries</a:t>
            </a:r>
          </a:p>
          <a:p>
            <a:pPr marL="285750" lvl="0" indent="-285750">
              <a:buFont typeface="Arial" panose="020B0604020202020204" pitchFamily="34" charset="0"/>
              <a:buChar char="•"/>
              <a:defRPr/>
            </a:pPr>
            <a:r>
              <a:rPr lang="en-US" sz="1000">
                <a:solidFill>
                  <a:prstClr val="black"/>
                </a:solidFill>
                <a:latin typeface="Arial" panose="020B0604020202020204" pitchFamily="34" charset="0"/>
                <a:cs typeface="Arial" panose="020B0604020202020204" pitchFamily="34" charset="0"/>
              </a:rPr>
              <a:t>Clean, stack and standardize consolidated data for ingestion using SQL/Python</a:t>
            </a:r>
          </a:p>
          <a:p>
            <a:pPr marL="285750" lvl="0" indent="-285750">
              <a:buFont typeface="Arial" panose="020B0604020202020204" pitchFamily="34" charset="0"/>
              <a:buChar char="•"/>
              <a:defRPr/>
            </a:pPr>
            <a:r>
              <a:rPr lang="en-US" sz="1000">
                <a:solidFill>
                  <a:prstClr val="black"/>
                </a:solidFill>
                <a:latin typeface="Arial" panose="020B0604020202020204" pitchFamily="34" charset="0"/>
                <a:cs typeface="Arial" panose="020B0604020202020204" pitchFamily="34" charset="0"/>
              </a:rPr>
              <a:t>Modeled STD and LTD rater calculator on Dataiku for BD team using SQL queries, MS Access </a:t>
            </a:r>
          </a:p>
        </p:txBody>
      </p:sp>
      <p:sp>
        <p:nvSpPr>
          <p:cNvPr id="57" name="TextBox 56">
            <a:extLst>
              <a:ext uri="{FF2B5EF4-FFF2-40B4-BE49-F238E27FC236}">
                <a16:creationId xmlns:a16="http://schemas.microsoft.com/office/drawing/2014/main" id="{306345E5-9C4F-4449-8F8B-C2DCE0F8BB3B}"/>
              </a:ext>
            </a:extLst>
          </p:cNvPr>
          <p:cNvSpPr txBox="1"/>
          <p:nvPr/>
        </p:nvSpPr>
        <p:spPr>
          <a:xfrm>
            <a:off x="911536" y="1718508"/>
            <a:ext cx="2682146" cy="338554"/>
          </a:xfrm>
          <a:prstGeom prst="rect">
            <a:avLst/>
          </a:prstGeom>
          <a:noFill/>
        </p:spPr>
        <p:txBody>
          <a:bodyPr wrap="none" rtlCol="0">
            <a:spAutoFit/>
          </a:bodyPr>
          <a:lstStyle/>
          <a:p>
            <a:pPr marL="0" marR="0" lvl="0" indent="0" algn="ctr" defTabSz="914377" rtl="0" eaLnBrk="1" fontAlgn="auto" latinLnBrk="0" hangingPunct="1">
              <a:lnSpc>
                <a:spcPct val="100000"/>
              </a:lnSpc>
              <a:spcBef>
                <a:spcPts val="200"/>
              </a:spcBef>
              <a:spcAft>
                <a:spcPts val="0"/>
              </a:spcAft>
              <a:buClr>
                <a:srgbClr val="ED7D31"/>
              </a:buClr>
              <a:buSzPct val="70000"/>
              <a:buFontTx/>
              <a:buNone/>
              <a:tabLst/>
              <a:defRPr/>
            </a:pPr>
            <a:r>
              <a:rPr kumimoji="0" lang="en-US" sz="1600" b="1" i="0" u="none" strike="noStrike" kern="1200" cap="none" spc="0" normalizeH="0" baseline="0" noProof="0">
                <a:ln>
                  <a:noFill/>
                </a:ln>
                <a:solidFill>
                  <a:srgbClr val="FF6503"/>
                </a:solidFill>
                <a:effectLst/>
                <a:uLnTx/>
                <a:uFillTx/>
                <a:latin typeface="Arial"/>
                <a:ea typeface="+mn-ea"/>
                <a:cs typeface="+mn-cs"/>
              </a:rPr>
              <a:t>Key Challenges identified</a:t>
            </a:r>
          </a:p>
        </p:txBody>
      </p:sp>
      <p:sp>
        <p:nvSpPr>
          <p:cNvPr id="58" name="TextBox 57">
            <a:extLst>
              <a:ext uri="{FF2B5EF4-FFF2-40B4-BE49-F238E27FC236}">
                <a16:creationId xmlns:a16="http://schemas.microsoft.com/office/drawing/2014/main" id="{B414ADB3-82A6-423B-9A50-E775B6DF2859}"/>
              </a:ext>
            </a:extLst>
          </p:cNvPr>
          <p:cNvSpPr txBox="1"/>
          <p:nvPr/>
        </p:nvSpPr>
        <p:spPr>
          <a:xfrm>
            <a:off x="5053101" y="1718508"/>
            <a:ext cx="2100255" cy="338554"/>
          </a:xfrm>
          <a:prstGeom prst="rect">
            <a:avLst/>
          </a:prstGeom>
          <a:noFill/>
        </p:spPr>
        <p:txBody>
          <a:bodyPr wrap="none" rtlCol="0">
            <a:spAutoFit/>
          </a:bodyPr>
          <a:lstStyle/>
          <a:p>
            <a:pPr marL="0" marR="0" lvl="0" indent="0" algn="ctr" defTabSz="914377" rtl="0" eaLnBrk="1" fontAlgn="auto" latinLnBrk="0" hangingPunct="1">
              <a:lnSpc>
                <a:spcPct val="100000"/>
              </a:lnSpc>
              <a:spcBef>
                <a:spcPts val="200"/>
              </a:spcBef>
              <a:spcAft>
                <a:spcPts val="0"/>
              </a:spcAft>
              <a:buClr>
                <a:srgbClr val="ED7D31"/>
              </a:buClr>
              <a:buSzPct val="70000"/>
              <a:buFontTx/>
              <a:buNone/>
              <a:tabLst/>
              <a:defRPr/>
            </a:pPr>
            <a:r>
              <a:rPr kumimoji="0" lang="en-US" sz="1600" b="1" i="0" u="none" strike="noStrike" kern="1200" cap="none" spc="0" normalizeH="0" baseline="0" noProof="0">
                <a:ln>
                  <a:noFill/>
                </a:ln>
                <a:solidFill>
                  <a:srgbClr val="FF6503"/>
                </a:solidFill>
                <a:effectLst/>
                <a:uLnTx/>
                <a:uFillTx/>
                <a:latin typeface="Arial"/>
                <a:ea typeface="+mn-ea"/>
                <a:cs typeface="+mn-cs"/>
              </a:rPr>
              <a:t>Solutions Delivered</a:t>
            </a:r>
          </a:p>
        </p:txBody>
      </p:sp>
      <p:sp>
        <p:nvSpPr>
          <p:cNvPr id="2" name="Rectangle 1">
            <a:extLst>
              <a:ext uri="{FF2B5EF4-FFF2-40B4-BE49-F238E27FC236}">
                <a16:creationId xmlns:a16="http://schemas.microsoft.com/office/drawing/2014/main" id="{EFE35257-C1C3-468E-4CBD-8349661A514E}"/>
              </a:ext>
            </a:extLst>
          </p:cNvPr>
          <p:cNvSpPr/>
          <p:nvPr/>
        </p:nvSpPr>
        <p:spPr>
          <a:xfrm>
            <a:off x="1892752" y="1008613"/>
            <a:ext cx="9842047" cy="622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914354">
              <a:defRPr/>
            </a:pPr>
            <a:r>
              <a:rPr lang="en-US" sz="1500" b="1" kern="0">
                <a:solidFill>
                  <a:srgbClr val="FFFFFF"/>
                </a:solidFill>
                <a:latin typeface="Calibri Light" panose="020F0302020204030204"/>
              </a:rPr>
              <a:t>To develop a robust integrated Group rater model for short- and long-term disability products on Dataiku platform to enable Group sales and strategy team.</a:t>
            </a:r>
            <a:endParaRPr lang="en-US" sz="1500" b="1">
              <a:solidFill>
                <a:srgbClr val="FFFFFF"/>
              </a:solidFill>
              <a:latin typeface="Calibri Light" panose="020F0302020204030204"/>
            </a:endParaRPr>
          </a:p>
        </p:txBody>
      </p:sp>
      <p:sp>
        <p:nvSpPr>
          <p:cNvPr id="3" name="Rectangle 2">
            <a:extLst>
              <a:ext uri="{FF2B5EF4-FFF2-40B4-BE49-F238E27FC236}">
                <a16:creationId xmlns:a16="http://schemas.microsoft.com/office/drawing/2014/main" id="{13D062C8-71A8-933C-1933-9DE03C86E211}"/>
              </a:ext>
            </a:extLst>
          </p:cNvPr>
          <p:cNvSpPr/>
          <p:nvPr/>
        </p:nvSpPr>
        <p:spPr>
          <a:xfrm>
            <a:off x="457200" y="1012245"/>
            <a:ext cx="1339361" cy="622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Calibri Light" panose="020F0302020204030204"/>
                <a:ea typeface="+mn-ea"/>
                <a:cs typeface="+mn-cs"/>
              </a:rPr>
              <a:t>Objective</a:t>
            </a:r>
          </a:p>
        </p:txBody>
      </p:sp>
      <p:sp>
        <p:nvSpPr>
          <p:cNvPr id="24" name="Title 2">
            <a:extLst>
              <a:ext uri="{FF2B5EF4-FFF2-40B4-BE49-F238E27FC236}">
                <a16:creationId xmlns:a16="http://schemas.microsoft.com/office/drawing/2014/main" id="{F9C42282-DEB8-4357-B544-879649C423D9}"/>
              </a:ext>
            </a:extLst>
          </p:cNvPr>
          <p:cNvSpPr>
            <a:spLocks noGrp="1"/>
          </p:cNvSpPr>
          <p:nvPr>
            <p:ph type="ctrTitle"/>
          </p:nvPr>
        </p:nvSpPr>
        <p:spPr>
          <a:xfrm>
            <a:off x="457200" y="543491"/>
            <a:ext cx="11277600" cy="557784"/>
          </a:xfrm>
          <a:noFill/>
          <a:ln>
            <a:noFill/>
          </a:ln>
        </p:spPr>
        <p:txBody>
          <a:bodyPr spcFirstLastPara="1" vert="horz" wrap="square" lIns="0" tIns="0" rIns="0" bIns="0" rtlCol="0" anchor="t" anchorCtr="0">
            <a:noAutofit/>
          </a:bodyPr>
          <a:lstStyle/>
          <a:p>
            <a:r>
              <a:rPr lang="en-US" sz="2800">
                <a:solidFill>
                  <a:schemeClr val="tx2"/>
                </a:solidFill>
              </a:rPr>
              <a:t>Development of Group Protection Rater model over Dataiku</a:t>
            </a:r>
          </a:p>
        </p:txBody>
      </p:sp>
      <p:sp>
        <p:nvSpPr>
          <p:cNvPr id="25" name="TextBox 38">
            <a:extLst>
              <a:ext uri="{FF2B5EF4-FFF2-40B4-BE49-F238E27FC236}">
                <a16:creationId xmlns:a16="http://schemas.microsoft.com/office/drawing/2014/main" id="{4F5F76F4-2503-48BF-8DCF-410732C9A0AF}"/>
              </a:ext>
            </a:extLst>
          </p:cNvPr>
          <p:cNvSpPr txBox="1"/>
          <p:nvPr/>
        </p:nvSpPr>
        <p:spPr>
          <a:xfrm>
            <a:off x="3535361" y="3720680"/>
            <a:ext cx="2080518" cy="453399"/>
          </a:xfrm>
          <a:prstGeom prst="rect">
            <a:avLst/>
          </a:prstGeom>
          <a:solidFill>
            <a:schemeClr val="bg1">
              <a:lumMod val="65000"/>
            </a:schemeClr>
          </a:solidFill>
          <a:ln>
            <a:solidFill>
              <a:schemeClr val="bg2"/>
            </a:solidFill>
          </a:ln>
        </p:spPr>
        <p:txBody>
          <a:bodyPr wrap="square" lIns="182880" tIns="91440" rIns="182880" bIns="9144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400050">
              <a:lnSpc>
                <a:spcPct val="90000"/>
              </a:lnSpc>
              <a:spcBef>
                <a:spcPct val="0"/>
              </a:spcBef>
              <a:spcAft>
                <a:spcPct val="35000"/>
              </a:spcAft>
              <a:defRPr/>
            </a:pPr>
            <a:r>
              <a:rPr lang="en-IN" sz="1400" b="1">
                <a:solidFill>
                  <a:prstClr val="white"/>
                </a:solidFill>
              </a:rPr>
              <a:t>Process data using SQL/Python</a:t>
            </a:r>
            <a:endParaRPr lang="en-US" sz="1400">
              <a:solidFill>
                <a:srgbClr val="000000"/>
              </a:solidFill>
            </a:endParaRPr>
          </a:p>
        </p:txBody>
      </p:sp>
      <p:sp>
        <p:nvSpPr>
          <p:cNvPr id="29" name="TextBox 38">
            <a:extLst>
              <a:ext uri="{FF2B5EF4-FFF2-40B4-BE49-F238E27FC236}">
                <a16:creationId xmlns:a16="http://schemas.microsoft.com/office/drawing/2014/main" id="{3E927973-85FC-481E-96B9-4BA64AC3066F}"/>
              </a:ext>
            </a:extLst>
          </p:cNvPr>
          <p:cNvSpPr txBox="1"/>
          <p:nvPr/>
        </p:nvSpPr>
        <p:spPr>
          <a:xfrm>
            <a:off x="6613525" y="3720680"/>
            <a:ext cx="2080518" cy="453399"/>
          </a:xfrm>
          <a:prstGeom prst="rect">
            <a:avLst/>
          </a:prstGeom>
          <a:solidFill>
            <a:schemeClr val="bg1">
              <a:lumMod val="65000"/>
            </a:schemeClr>
          </a:solidFill>
          <a:ln>
            <a:solidFill>
              <a:schemeClr val="bg2"/>
            </a:solidFill>
          </a:ln>
        </p:spPr>
        <p:txBody>
          <a:bodyPr wrap="square" lIns="182880" tIns="91440" rIns="182880" bIns="9144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400050">
              <a:lnSpc>
                <a:spcPct val="90000"/>
              </a:lnSpc>
              <a:spcBef>
                <a:spcPct val="0"/>
              </a:spcBef>
              <a:spcAft>
                <a:spcPct val="35000"/>
              </a:spcAft>
              <a:defRPr/>
            </a:pPr>
            <a:r>
              <a:rPr lang="en-IN" sz="1400" b="1">
                <a:solidFill>
                  <a:prstClr val="white"/>
                </a:solidFill>
              </a:rPr>
              <a:t>Quotation Rating Test </a:t>
            </a:r>
            <a:endParaRPr lang="en-US" sz="1400">
              <a:solidFill>
                <a:srgbClr val="000000"/>
              </a:solidFill>
            </a:endParaRPr>
          </a:p>
        </p:txBody>
      </p:sp>
      <p:sp>
        <p:nvSpPr>
          <p:cNvPr id="30" name="TextBox 38">
            <a:extLst>
              <a:ext uri="{FF2B5EF4-FFF2-40B4-BE49-F238E27FC236}">
                <a16:creationId xmlns:a16="http://schemas.microsoft.com/office/drawing/2014/main" id="{E79D74A7-23C5-4EC4-889B-65468F5D3C18}"/>
              </a:ext>
            </a:extLst>
          </p:cNvPr>
          <p:cNvSpPr txBox="1"/>
          <p:nvPr/>
        </p:nvSpPr>
        <p:spPr>
          <a:xfrm>
            <a:off x="9653995" y="3720680"/>
            <a:ext cx="2080518" cy="453399"/>
          </a:xfrm>
          <a:prstGeom prst="rect">
            <a:avLst/>
          </a:prstGeom>
          <a:solidFill>
            <a:schemeClr val="bg1">
              <a:lumMod val="65000"/>
            </a:schemeClr>
          </a:solidFill>
          <a:ln>
            <a:solidFill>
              <a:schemeClr val="bg2"/>
            </a:solidFill>
          </a:ln>
        </p:spPr>
        <p:txBody>
          <a:bodyPr wrap="square" lIns="182880" tIns="91440" rIns="182880" bIns="9144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622300">
              <a:lnSpc>
                <a:spcPct val="90000"/>
              </a:lnSpc>
              <a:spcBef>
                <a:spcPct val="0"/>
              </a:spcBef>
              <a:spcAft>
                <a:spcPct val="35000"/>
              </a:spcAft>
              <a:defRPr/>
            </a:pPr>
            <a:r>
              <a:rPr lang="en-IN" sz="1400" b="1">
                <a:solidFill>
                  <a:prstClr val="white"/>
                </a:solidFill>
              </a:rPr>
              <a:t>Communication</a:t>
            </a:r>
          </a:p>
        </p:txBody>
      </p:sp>
      <p:sp>
        <p:nvSpPr>
          <p:cNvPr id="31" name="Rectangle 30">
            <a:extLst>
              <a:ext uri="{FF2B5EF4-FFF2-40B4-BE49-F238E27FC236}">
                <a16:creationId xmlns:a16="http://schemas.microsoft.com/office/drawing/2014/main" id="{368549A9-7B1E-4334-BEB4-615FA03FC5CE}"/>
              </a:ext>
            </a:extLst>
          </p:cNvPr>
          <p:cNvSpPr/>
          <p:nvPr/>
        </p:nvSpPr>
        <p:spPr>
          <a:xfrm>
            <a:off x="3535361" y="4245654"/>
            <a:ext cx="2080518" cy="1351288"/>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4300" lvl="1" indent="-114300" defTabSz="622300">
              <a:lnSpc>
                <a:spcPct val="90000"/>
              </a:lnSpc>
              <a:spcBef>
                <a:spcPct val="0"/>
              </a:spcBef>
              <a:spcAft>
                <a:spcPct val="15000"/>
              </a:spcAft>
              <a:buFontTx/>
              <a:buChar char="•"/>
              <a:defRPr/>
            </a:pPr>
            <a:endParaRPr lang="en-US" sz="1200">
              <a:solidFill>
                <a:prstClr val="black">
                  <a:hueOff val="0"/>
                  <a:satOff val="0"/>
                  <a:lumOff val="0"/>
                  <a:alphaOff val="0"/>
                </a:prstClr>
              </a:solidFill>
            </a:endParaRPr>
          </a:p>
          <a:p>
            <a:pPr marL="114300" lvl="1" indent="-114300" defTabSz="622300">
              <a:lnSpc>
                <a:spcPct val="90000"/>
              </a:lnSpc>
              <a:spcBef>
                <a:spcPct val="0"/>
              </a:spcBef>
              <a:spcAft>
                <a:spcPct val="15000"/>
              </a:spcAft>
              <a:buFontTx/>
              <a:buChar char="•"/>
              <a:defRPr/>
            </a:pPr>
            <a:r>
              <a:rPr lang="en-US" sz="1200">
                <a:solidFill>
                  <a:prstClr val="black">
                    <a:hueOff val="0"/>
                    <a:satOff val="0"/>
                    <a:lumOff val="0"/>
                    <a:alphaOff val="0"/>
                  </a:prstClr>
                </a:solidFill>
              </a:rPr>
              <a:t>Derive required factors using SQL and MS Access</a:t>
            </a:r>
          </a:p>
          <a:p>
            <a:pPr marL="114300" lvl="1" indent="-114300" defTabSz="622300">
              <a:lnSpc>
                <a:spcPct val="90000"/>
              </a:lnSpc>
              <a:spcBef>
                <a:spcPct val="0"/>
              </a:spcBef>
              <a:spcAft>
                <a:spcPct val="15000"/>
              </a:spcAft>
              <a:buFontTx/>
              <a:buChar char="•"/>
              <a:defRPr/>
            </a:pPr>
            <a:r>
              <a:rPr lang="en-US" sz="1200">
                <a:solidFill>
                  <a:prstClr val="black">
                    <a:hueOff val="0"/>
                    <a:satOff val="0"/>
                    <a:lumOff val="0"/>
                    <a:alphaOff val="0"/>
                  </a:prstClr>
                </a:solidFill>
              </a:rPr>
              <a:t>Calculating required fields via derived factors and formulae</a:t>
            </a:r>
          </a:p>
          <a:p>
            <a:pPr marL="114300" lvl="1" indent="-114300" defTabSz="622300">
              <a:lnSpc>
                <a:spcPct val="90000"/>
              </a:lnSpc>
              <a:spcBef>
                <a:spcPct val="0"/>
              </a:spcBef>
              <a:spcAft>
                <a:spcPct val="15000"/>
              </a:spcAft>
              <a:buFontTx/>
              <a:buChar char="•"/>
              <a:defRPr/>
            </a:pPr>
            <a:r>
              <a:rPr lang="en-US" sz="1200">
                <a:solidFill>
                  <a:prstClr val="black">
                    <a:hueOff val="0"/>
                    <a:satOff val="0"/>
                    <a:lumOff val="0"/>
                    <a:alphaOff val="0"/>
                  </a:prstClr>
                </a:solidFill>
              </a:rPr>
              <a:t>Apply ratings to data using pre-defined algorithms</a:t>
            </a:r>
          </a:p>
          <a:p>
            <a:pPr marL="114300" lvl="1" indent="-114300" defTabSz="622300">
              <a:lnSpc>
                <a:spcPct val="90000"/>
              </a:lnSpc>
              <a:spcBef>
                <a:spcPct val="0"/>
              </a:spcBef>
              <a:spcAft>
                <a:spcPct val="15000"/>
              </a:spcAft>
              <a:buFontTx/>
              <a:buChar char="•"/>
              <a:defRPr/>
            </a:pPr>
            <a:endParaRPr lang="en-US" sz="1200">
              <a:solidFill>
                <a:prstClr val="black">
                  <a:hueOff val="0"/>
                  <a:satOff val="0"/>
                  <a:lumOff val="0"/>
                  <a:alphaOff val="0"/>
                </a:prstClr>
              </a:solidFill>
            </a:endParaRPr>
          </a:p>
        </p:txBody>
      </p:sp>
      <p:sp>
        <p:nvSpPr>
          <p:cNvPr id="32" name="Isosceles Triangle 31">
            <a:extLst>
              <a:ext uri="{FF2B5EF4-FFF2-40B4-BE49-F238E27FC236}">
                <a16:creationId xmlns:a16="http://schemas.microsoft.com/office/drawing/2014/main" id="{5F5FB4B9-687A-40BF-A289-17BE845C1D61}"/>
              </a:ext>
            </a:extLst>
          </p:cNvPr>
          <p:cNvSpPr/>
          <p:nvPr/>
        </p:nvSpPr>
        <p:spPr>
          <a:xfrm rot="5400000">
            <a:off x="5624025" y="4829378"/>
            <a:ext cx="1019048" cy="183841"/>
          </a:xfrm>
          <a:prstGeom prst="triangle">
            <a:avLst>
              <a:gd name="adj" fmla="val 51179"/>
            </a:avLst>
          </a:prstGeom>
          <a:solidFill>
            <a:schemeClr val="accent6">
              <a:lumMod val="90000"/>
            </a:schemeClr>
          </a:solidFill>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3" name="Isosceles Triangle 32">
            <a:extLst>
              <a:ext uri="{FF2B5EF4-FFF2-40B4-BE49-F238E27FC236}">
                <a16:creationId xmlns:a16="http://schemas.microsoft.com/office/drawing/2014/main" id="{BCB9AC40-6302-4BDB-ACBF-D5D35D14813D}"/>
              </a:ext>
            </a:extLst>
          </p:cNvPr>
          <p:cNvSpPr/>
          <p:nvPr/>
        </p:nvSpPr>
        <p:spPr>
          <a:xfrm rot="5400000">
            <a:off x="8664494" y="4829378"/>
            <a:ext cx="1019048" cy="183841"/>
          </a:xfrm>
          <a:prstGeom prst="triangle">
            <a:avLst>
              <a:gd name="adj" fmla="val 51179"/>
            </a:avLst>
          </a:prstGeom>
          <a:solidFill>
            <a:schemeClr val="accent6">
              <a:lumMod val="90000"/>
            </a:schemeClr>
          </a:solidFill>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0" name="Rectangle 39">
            <a:extLst>
              <a:ext uri="{FF2B5EF4-FFF2-40B4-BE49-F238E27FC236}">
                <a16:creationId xmlns:a16="http://schemas.microsoft.com/office/drawing/2014/main" id="{DC5FFF2F-5746-48ED-A397-E8F8D3D2C5F7}"/>
              </a:ext>
            </a:extLst>
          </p:cNvPr>
          <p:cNvSpPr/>
          <p:nvPr/>
        </p:nvSpPr>
        <p:spPr>
          <a:xfrm>
            <a:off x="6613525" y="4245654"/>
            <a:ext cx="2080518" cy="1351288"/>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4300" lvl="1" indent="-114300" defTabSz="622300">
              <a:lnSpc>
                <a:spcPct val="90000"/>
              </a:lnSpc>
              <a:spcBef>
                <a:spcPct val="0"/>
              </a:spcBef>
              <a:spcAft>
                <a:spcPct val="15000"/>
              </a:spcAft>
              <a:buFontTx/>
              <a:buChar char="•"/>
              <a:defRPr/>
            </a:pPr>
            <a:r>
              <a:rPr lang="en-US" sz="1200">
                <a:solidFill>
                  <a:prstClr val="black">
                    <a:hueOff val="0"/>
                    <a:satOff val="0"/>
                    <a:lumOff val="0"/>
                    <a:alphaOff val="0"/>
                  </a:prstClr>
                </a:solidFill>
                <a:latin typeface="Calibri" panose="020F0502020204030204" pitchFamily="34" charset="0"/>
                <a:cs typeface="Calibri" panose="020F0502020204030204" pitchFamily="34" charset="0"/>
              </a:rPr>
              <a:t>Validate all output by applying reasonable checks</a:t>
            </a:r>
          </a:p>
          <a:p>
            <a:pPr marL="114300" lvl="1" indent="-114300" defTabSz="622300">
              <a:lnSpc>
                <a:spcPct val="90000"/>
              </a:lnSpc>
              <a:spcBef>
                <a:spcPct val="0"/>
              </a:spcBef>
              <a:spcAft>
                <a:spcPct val="15000"/>
              </a:spcAft>
              <a:buFontTx/>
              <a:buChar char="•"/>
              <a:defRPr/>
            </a:pPr>
            <a:r>
              <a:rPr lang="en-US" sz="1200">
                <a:solidFill>
                  <a:prstClr val="black">
                    <a:hueOff val="0"/>
                    <a:satOff val="0"/>
                    <a:lumOff val="0"/>
                    <a:alphaOff val="0"/>
                  </a:prstClr>
                </a:solidFill>
                <a:latin typeface="Calibri" panose="020F0502020204030204" pitchFamily="34" charset="0"/>
                <a:cs typeface="Calibri" panose="020F0502020204030204" pitchFamily="34" charset="0"/>
              </a:rPr>
              <a:t>Scenario test with Underwriting Workbench Production</a:t>
            </a:r>
          </a:p>
          <a:p>
            <a:pPr marL="114300" lvl="1" indent="-114300" defTabSz="622300">
              <a:lnSpc>
                <a:spcPct val="90000"/>
              </a:lnSpc>
              <a:spcBef>
                <a:spcPct val="0"/>
              </a:spcBef>
              <a:spcAft>
                <a:spcPct val="15000"/>
              </a:spcAft>
              <a:buFontTx/>
              <a:buChar char="•"/>
              <a:defRPr/>
            </a:pPr>
            <a:r>
              <a:rPr lang="en-US" sz="1200">
                <a:solidFill>
                  <a:prstClr val="black">
                    <a:hueOff val="0"/>
                    <a:satOff val="0"/>
                    <a:lumOff val="0"/>
                    <a:alphaOff val="0"/>
                  </a:prstClr>
                </a:solidFill>
                <a:latin typeface="Calibri" panose="020F0502020204030204" pitchFamily="34" charset="0"/>
                <a:cs typeface="Calibri" panose="020F0502020204030204" pitchFamily="34" charset="0"/>
              </a:rPr>
              <a:t>Export and update the output format</a:t>
            </a:r>
          </a:p>
        </p:txBody>
      </p:sp>
      <p:sp>
        <p:nvSpPr>
          <p:cNvPr id="41" name="Rectangle 40">
            <a:extLst>
              <a:ext uri="{FF2B5EF4-FFF2-40B4-BE49-F238E27FC236}">
                <a16:creationId xmlns:a16="http://schemas.microsoft.com/office/drawing/2014/main" id="{67D4F0BB-8AC1-45C8-866A-9BBB11B14118}"/>
              </a:ext>
            </a:extLst>
          </p:cNvPr>
          <p:cNvSpPr/>
          <p:nvPr/>
        </p:nvSpPr>
        <p:spPr>
          <a:xfrm>
            <a:off x="9653995" y="4245654"/>
            <a:ext cx="2080518" cy="1351288"/>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4300" lvl="1" indent="-114300" defTabSz="622300">
              <a:lnSpc>
                <a:spcPct val="90000"/>
              </a:lnSpc>
              <a:spcBef>
                <a:spcPct val="0"/>
              </a:spcBef>
              <a:spcAft>
                <a:spcPct val="15000"/>
              </a:spcAft>
              <a:buFontTx/>
              <a:buChar char="•"/>
              <a:defRPr/>
            </a:pPr>
            <a:r>
              <a:rPr lang="en-US" sz="1200">
                <a:solidFill>
                  <a:prstClr val="black">
                    <a:hueOff val="0"/>
                    <a:satOff val="0"/>
                    <a:lumOff val="0"/>
                    <a:alphaOff val="0"/>
                  </a:prstClr>
                </a:solidFill>
              </a:rPr>
              <a:t>Final rater model delivered with client BD / Strategy team</a:t>
            </a:r>
          </a:p>
          <a:p>
            <a:pPr marL="114300" lvl="1" indent="-114300" defTabSz="622300">
              <a:lnSpc>
                <a:spcPct val="90000"/>
              </a:lnSpc>
              <a:spcBef>
                <a:spcPct val="0"/>
              </a:spcBef>
              <a:spcAft>
                <a:spcPct val="15000"/>
              </a:spcAft>
              <a:buFontTx/>
              <a:buChar char="•"/>
              <a:defRPr/>
            </a:pPr>
            <a:r>
              <a:rPr lang="en-US" sz="1200">
                <a:solidFill>
                  <a:prstClr val="black">
                    <a:hueOff val="0"/>
                    <a:satOff val="0"/>
                    <a:lumOff val="0"/>
                    <a:alphaOff val="0"/>
                  </a:prstClr>
                </a:solidFill>
              </a:rPr>
              <a:t>Provide appropriate responses to the stakeholder queries</a:t>
            </a:r>
          </a:p>
        </p:txBody>
      </p:sp>
      <p:sp>
        <p:nvSpPr>
          <p:cNvPr id="50" name="Rectangle 49">
            <a:extLst>
              <a:ext uri="{FF2B5EF4-FFF2-40B4-BE49-F238E27FC236}">
                <a16:creationId xmlns:a16="http://schemas.microsoft.com/office/drawing/2014/main" id="{40446001-5A8F-4104-89B6-F21251511791}"/>
              </a:ext>
            </a:extLst>
          </p:cNvPr>
          <p:cNvSpPr/>
          <p:nvPr/>
        </p:nvSpPr>
        <p:spPr>
          <a:xfrm>
            <a:off x="620743" y="5913916"/>
            <a:ext cx="1161507" cy="422517"/>
          </a:xfrm>
          <a:prstGeom prst="rect">
            <a:avLst/>
          </a:prstGeom>
          <a:solidFill>
            <a:srgbClr val="005071"/>
          </a:solidFill>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90000"/>
              </a:lnSpc>
              <a:spcBef>
                <a:spcPct val="0"/>
              </a:spcBef>
              <a:spcAft>
                <a:spcPct val="35000"/>
              </a:spcAft>
              <a:buClrTx/>
              <a:buSzTx/>
              <a:buFontTx/>
              <a:buNone/>
              <a:tabLst/>
              <a:defRPr/>
            </a:pPr>
            <a:r>
              <a:rPr kumimoji="0" lang="en-US" sz="900" b="1" i="0" u="none" strike="noStrike" kern="1200" cap="none" spc="0" normalizeH="0" baseline="0" noProof="0">
                <a:ln>
                  <a:noFill/>
                </a:ln>
                <a:solidFill>
                  <a:schemeClr val="bg1"/>
                </a:solidFill>
                <a:effectLst/>
                <a:uLnTx/>
                <a:uFillTx/>
                <a:latin typeface="Arial"/>
                <a:ea typeface="+mn-ea"/>
                <a:cs typeface="+mn-cs"/>
              </a:rPr>
              <a:t>Value Delivered</a:t>
            </a:r>
          </a:p>
        </p:txBody>
      </p:sp>
      <p:sp>
        <p:nvSpPr>
          <p:cNvPr id="53" name="TextBox 52">
            <a:extLst>
              <a:ext uri="{FF2B5EF4-FFF2-40B4-BE49-F238E27FC236}">
                <a16:creationId xmlns:a16="http://schemas.microsoft.com/office/drawing/2014/main" id="{F438CEF5-839B-4FF4-8059-DEF8F44908A5}"/>
              </a:ext>
            </a:extLst>
          </p:cNvPr>
          <p:cNvSpPr txBox="1"/>
          <p:nvPr/>
        </p:nvSpPr>
        <p:spPr>
          <a:xfrm>
            <a:off x="8020604" y="1713734"/>
            <a:ext cx="3713909" cy="1461951"/>
          </a:xfrm>
          <a:prstGeom prst="rect">
            <a:avLst/>
          </a:prstGeom>
          <a:ln/>
        </p:spPr>
        <p:style>
          <a:lnRef idx="3">
            <a:schemeClr val="lt1"/>
          </a:lnRef>
          <a:fillRef idx="1">
            <a:schemeClr val="accent6"/>
          </a:fillRef>
          <a:effectRef idx="1">
            <a:schemeClr val="accent6"/>
          </a:effectRef>
          <a:fontRef idx="minor">
            <a:schemeClr val="lt1"/>
          </a:fontRef>
        </p:style>
        <p:txBody>
          <a:bodyPr wrap="square" lIns="274320" tIns="0" rIns="91440" bIns="0" rtlCol="0" anchor="ctr">
            <a:noAutofit/>
          </a:bodyPr>
          <a:lstStyle/>
          <a:p>
            <a:pPr marL="285750" lvl="0" indent="-285750">
              <a:buFont typeface="Arial" panose="020B0604020202020204" pitchFamily="34" charset="0"/>
              <a:buChar char="•"/>
              <a:defRPr/>
            </a:pPr>
            <a:endParaRPr lang="en-US" sz="1100">
              <a:solidFill>
                <a:prstClr val="black"/>
              </a:solidFill>
              <a:latin typeface="Arial" panose="020B0604020202020204" pitchFamily="34" charset="0"/>
              <a:cs typeface="Arial" panose="020B0604020202020204" pitchFamily="34" charset="0"/>
            </a:endParaRPr>
          </a:p>
          <a:p>
            <a:pPr marL="285750" lvl="0" indent="-285750">
              <a:buFont typeface="Arial" panose="020B0604020202020204" pitchFamily="34" charset="0"/>
              <a:buChar char="•"/>
              <a:defRPr/>
            </a:pPr>
            <a:r>
              <a:rPr lang="en-US" sz="1100">
                <a:solidFill>
                  <a:prstClr val="black"/>
                </a:solidFill>
                <a:latin typeface="Arial" panose="020B0604020202020204" pitchFamily="34" charset="0"/>
                <a:cs typeface="Arial" panose="020B0604020202020204" pitchFamily="34" charset="0"/>
              </a:rPr>
              <a:t>Dataiku</a:t>
            </a:r>
          </a:p>
          <a:p>
            <a:pPr marL="285750" lvl="0" indent="-285750">
              <a:buFont typeface="Arial" panose="020B0604020202020204" pitchFamily="34" charset="0"/>
              <a:buChar char="•"/>
              <a:defRPr/>
            </a:pPr>
            <a:r>
              <a:rPr lang="en-US" sz="1100">
                <a:solidFill>
                  <a:prstClr val="black"/>
                </a:solidFill>
                <a:latin typeface="Arial" panose="020B0604020202020204" pitchFamily="34" charset="0"/>
                <a:cs typeface="Arial" panose="020B0604020202020204" pitchFamily="34" charset="0"/>
              </a:rPr>
              <a:t>SQL</a:t>
            </a:r>
          </a:p>
          <a:p>
            <a:pPr marL="285750" lvl="0" indent="-285750">
              <a:buFont typeface="Arial" panose="020B0604020202020204" pitchFamily="34" charset="0"/>
              <a:buChar char="•"/>
              <a:defRPr/>
            </a:pPr>
            <a:r>
              <a:rPr lang="en-US" sz="1100">
                <a:solidFill>
                  <a:prstClr val="black"/>
                </a:solidFill>
                <a:latin typeface="Arial" panose="020B0604020202020204" pitchFamily="34" charset="0"/>
                <a:cs typeface="Arial" panose="020B0604020202020204" pitchFamily="34" charset="0"/>
              </a:rPr>
              <a:t>MS-Excel / VBA</a:t>
            </a:r>
          </a:p>
          <a:p>
            <a:pPr marL="285750" lvl="0" indent="-285750">
              <a:buFont typeface="Arial" panose="020B0604020202020204" pitchFamily="34" charset="0"/>
              <a:buChar char="•"/>
              <a:defRPr/>
            </a:pPr>
            <a:r>
              <a:rPr lang="en-US" sz="1100">
                <a:solidFill>
                  <a:prstClr val="black"/>
                </a:solidFill>
                <a:latin typeface="Arial" panose="020B0604020202020204" pitchFamily="34" charset="0"/>
                <a:cs typeface="Arial" panose="020B0604020202020204" pitchFamily="34" charset="0"/>
              </a:rPr>
              <a:t>MS-Access</a:t>
            </a:r>
          </a:p>
          <a:p>
            <a:pPr marL="285750" lvl="0" indent="-285750">
              <a:buFont typeface="Arial" panose="020B0604020202020204" pitchFamily="34" charset="0"/>
              <a:buChar char="•"/>
              <a:defRPr/>
            </a:pPr>
            <a:r>
              <a:rPr lang="en-US" sz="1100">
                <a:solidFill>
                  <a:prstClr val="black"/>
                </a:solidFill>
                <a:latin typeface="Arial" panose="020B0604020202020204" pitchFamily="34" charset="0"/>
                <a:cs typeface="Arial" panose="020B0604020202020204" pitchFamily="34" charset="0"/>
              </a:rPr>
              <a:t>Python Language</a:t>
            </a:r>
          </a:p>
          <a:p>
            <a:pPr marL="285750" lvl="0" indent="-285750">
              <a:buFont typeface="Arial" panose="020B0604020202020204" pitchFamily="34" charset="0"/>
              <a:buChar char="•"/>
              <a:defRPr/>
            </a:pPr>
            <a:r>
              <a:rPr lang="en-US" sz="1100">
                <a:solidFill>
                  <a:prstClr val="black"/>
                </a:solidFill>
                <a:latin typeface="Arial" panose="020B0604020202020204" pitchFamily="34" charset="0"/>
                <a:cs typeface="Arial" panose="020B0604020202020204" pitchFamily="34" charset="0"/>
              </a:rPr>
              <a:t>R Language</a:t>
            </a:r>
          </a:p>
        </p:txBody>
      </p:sp>
      <p:sp>
        <p:nvSpPr>
          <p:cNvPr id="54" name="TextBox 53">
            <a:extLst>
              <a:ext uri="{FF2B5EF4-FFF2-40B4-BE49-F238E27FC236}">
                <a16:creationId xmlns:a16="http://schemas.microsoft.com/office/drawing/2014/main" id="{0F7DE9D5-4195-4067-85F1-5900BE5F997D}"/>
              </a:ext>
            </a:extLst>
          </p:cNvPr>
          <p:cNvSpPr txBox="1"/>
          <p:nvPr/>
        </p:nvSpPr>
        <p:spPr>
          <a:xfrm>
            <a:off x="8728958" y="1718322"/>
            <a:ext cx="2176366" cy="338554"/>
          </a:xfrm>
          <a:prstGeom prst="rect">
            <a:avLst/>
          </a:prstGeom>
          <a:noFill/>
        </p:spPr>
        <p:txBody>
          <a:bodyPr wrap="none" rtlCol="0">
            <a:spAutoFit/>
          </a:bodyPr>
          <a:lstStyle/>
          <a:p>
            <a:pPr marL="0" marR="0" lvl="0" indent="0" algn="ctr" defTabSz="914377" rtl="0" eaLnBrk="1" fontAlgn="auto" latinLnBrk="0" hangingPunct="1">
              <a:lnSpc>
                <a:spcPct val="100000"/>
              </a:lnSpc>
              <a:spcBef>
                <a:spcPts val="200"/>
              </a:spcBef>
              <a:spcAft>
                <a:spcPts val="0"/>
              </a:spcAft>
              <a:buClr>
                <a:srgbClr val="ED7D31"/>
              </a:buClr>
              <a:buSzPct val="70000"/>
              <a:buFontTx/>
              <a:buNone/>
              <a:tabLst/>
              <a:defRPr/>
            </a:pPr>
            <a:r>
              <a:rPr kumimoji="0" lang="en-US" sz="1600" b="1" i="0" u="none" strike="noStrike" kern="1200" cap="none" spc="0" normalizeH="0" baseline="0" noProof="0">
                <a:ln>
                  <a:noFill/>
                </a:ln>
                <a:solidFill>
                  <a:srgbClr val="FF6503"/>
                </a:solidFill>
                <a:effectLst/>
                <a:uLnTx/>
                <a:uFillTx/>
                <a:latin typeface="Arial"/>
                <a:ea typeface="+mn-ea"/>
                <a:cs typeface="+mn-cs"/>
              </a:rPr>
              <a:t>Software/Tools used</a:t>
            </a:r>
          </a:p>
        </p:txBody>
      </p:sp>
      <p:sp>
        <p:nvSpPr>
          <p:cNvPr id="34" name="TextBox 33">
            <a:extLst>
              <a:ext uri="{FF2B5EF4-FFF2-40B4-BE49-F238E27FC236}">
                <a16:creationId xmlns:a16="http://schemas.microsoft.com/office/drawing/2014/main" id="{0BE88DD0-41F8-415A-B25E-65C5AD972E12}"/>
              </a:ext>
            </a:extLst>
          </p:cNvPr>
          <p:cNvSpPr txBox="1"/>
          <p:nvPr/>
        </p:nvSpPr>
        <p:spPr>
          <a:xfrm>
            <a:off x="457198" y="6438012"/>
            <a:ext cx="4758106" cy="246221"/>
          </a:xfrm>
          <a:prstGeom prst="rect">
            <a:avLst/>
          </a:prstGeom>
          <a:noFill/>
        </p:spPr>
        <p:txBody>
          <a:bodyPr wrap="square" rtlCol="0">
            <a:spAutoFit/>
          </a:bodyPr>
          <a:lstStyle/>
          <a:p>
            <a:pPr marL="171450" indent="-171450">
              <a:buFont typeface="Arial" panose="020B0604020202020204" pitchFamily="34" charset="0"/>
              <a:buChar char="•"/>
            </a:pPr>
            <a:r>
              <a:rPr lang="en-US" sz="1000" i="1"/>
              <a:t>STD : Short Term Disability      LTD : Long Term Disability    BD : Business Development</a:t>
            </a:r>
          </a:p>
        </p:txBody>
      </p:sp>
      <p:sp>
        <p:nvSpPr>
          <p:cNvPr id="6" name="Rectangle 5">
            <a:extLst>
              <a:ext uri="{FF2B5EF4-FFF2-40B4-BE49-F238E27FC236}">
                <a16:creationId xmlns:a16="http://schemas.microsoft.com/office/drawing/2014/main" id="{A5BF8C8D-7C1B-F547-94EB-3A175580C325}"/>
              </a:ext>
            </a:extLst>
          </p:cNvPr>
          <p:cNvSpPr/>
          <p:nvPr/>
        </p:nvSpPr>
        <p:spPr>
          <a:xfrm>
            <a:off x="3968216" y="5914080"/>
            <a:ext cx="1275108" cy="422517"/>
          </a:xfrm>
          <a:prstGeom prst="rect">
            <a:avLst/>
          </a:prstGeom>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64008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lumMod val="85000"/>
                    <a:lumOff val="15000"/>
                  </a:srgbClr>
                </a:solidFill>
                <a:effectLst/>
                <a:uLnTx/>
                <a:uFillTx/>
                <a:latin typeface="Arial"/>
                <a:ea typeface="+mn-ea"/>
                <a:cs typeface="+mn-cs"/>
              </a:rPr>
              <a:t>Sales Enablement</a:t>
            </a:r>
          </a:p>
        </p:txBody>
      </p:sp>
      <p:sp>
        <p:nvSpPr>
          <p:cNvPr id="7" name="Rectangle 6">
            <a:extLst>
              <a:ext uri="{FF2B5EF4-FFF2-40B4-BE49-F238E27FC236}">
                <a16:creationId xmlns:a16="http://schemas.microsoft.com/office/drawing/2014/main" id="{9F3ED07F-CD58-8850-AEFD-702F15A47BEE}"/>
              </a:ext>
            </a:extLst>
          </p:cNvPr>
          <p:cNvSpPr/>
          <p:nvPr/>
        </p:nvSpPr>
        <p:spPr>
          <a:xfrm>
            <a:off x="6176221" y="5911857"/>
            <a:ext cx="1275108" cy="422517"/>
          </a:xfrm>
          <a:prstGeom prst="rect">
            <a:avLst/>
          </a:prstGeom>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64008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lumMod val="85000"/>
                    <a:lumOff val="15000"/>
                  </a:srgbClr>
                </a:solidFill>
                <a:effectLst/>
                <a:uLnTx/>
                <a:uFillTx/>
                <a:latin typeface="Arial"/>
                <a:ea typeface="+mn-ea"/>
                <a:cs typeface="+mn-cs"/>
              </a:rPr>
              <a:t>Reduced Turnaround Time</a:t>
            </a:r>
          </a:p>
        </p:txBody>
      </p:sp>
      <p:sp>
        <p:nvSpPr>
          <p:cNvPr id="8" name="Rectangle 7">
            <a:extLst>
              <a:ext uri="{FF2B5EF4-FFF2-40B4-BE49-F238E27FC236}">
                <a16:creationId xmlns:a16="http://schemas.microsoft.com/office/drawing/2014/main" id="{B802B209-5DCA-E8E0-CC0C-E700E84F6516}"/>
              </a:ext>
            </a:extLst>
          </p:cNvPr>
          <p:cNvSpPr/>
          <p:nvPr/>
        </p:nvSpPr>
        <p:spPr>
          <a:xfrm>
            <a:off x="8597360" y="5913916"/>
            <a:ext cx="1275108" cy="422517"/>
          </a:xfrm>
          <a:prstGeom prst="rect">
            <a:avLst/>
          </a:prstGeom>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64008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lumMod val="85000"/>
                    <a:lumOff val="15000"/>
                  </a:srgbClr>
                </a:solidFill>
                <a:effectLst/>
                <a:uLnTx/>
                <a:uFillTx/>
                <a:latin typeface="Arial"/>
                <a:ea typeface="+mn-ea"/>
                <a:cs typeface="+mn-cs"/>
              </a:rPr>
              <a:t>Enhance Actuarial bandwidth</a:t>
            </a:r>
          </a:p>
        </p:txBody>
      </p:sp>
    </p:spTree>
    <p:extLst>
      <p:ext uri="{BB962C8B-B14F-4D97-AF65-F5344CB8AC3E}">
        <p14:creationId xmlns:p14="http://schemas.microsoft.com/office/powerpoint/2010/main" val="112862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Rounded Corners 58">
            <a:extLst>
              <a:ext uri="{FF2B5EF4-FFF2-40B4-BE49-F238E27FC236}">
                <a16:creationId xmlns:a16="http://schemas.microsoft.com/office/drawing/2014/main" id="{9EEAEFA7-D8E0-4AD0-A0A3-F71145E79B58}"/>
              </a:ext>
            </a:extLst>
          </p:cNvPr>
          <p:cNvSpPr/>
          <p:nvPr/>
        </p:nvSpPr>
        <p:spPr>
          <a:xfrm>
            <a:off x="566387" y="6232639"/>
            <a:ext cx="8489930" cy="524096"/>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2D8440BC-C221-4EB0-822C-1CDEA77BEFB0}"/>
              </a:ext>
            </a:extLst>
          </p:cNvPr>
          <p:cNvSpPr/>
          <p:nvPr/>
        </p:nvSpPr>
        <p:spPr>
          <a:xfrm>
            <a:off x="572421" y="3530186"/>
            <a:ext cx="10810948" cy="31832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a:ea typeface="+mn-ea"/>
                <a:cs typeface="+mn-cs"/>
              </a:rPr>
              <a:t>Process Followed</a:t>
            </a:r>
          </a:p>
        </p:txBody>
      </p:sp>
      <p:sp>
        <p:nvSpPr>
          <p:cNvPr id="16" name="Rectangle 15">
            <a:extLst>
              <a:ext uri="{FF2B5EF4-FFF2-40B4-BE49-F238E27FC236}">
                <a16:creationId xmlns:a16="http://schemas.microsoft.com/office/drawing/2014/main" id="{7A5FFDCA-4EBB-47F7-AFE9-9F92EB2CD398}"/>
              </a:ext>
            </a:extLst>
          </p:cNvPr>
          <p:cNvSpPr/>
          <p:nvPr/>
        </p:nvSpPr>
        <p:spPr>
          <a:xfrm>
            <a:off x="566387" y="4704522"/>
            <a:ext cx="2652734" cy="1407642"/>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4300" marR="0" lvl="1" indent="-114300" algn="l" defTabSz="622300" rtl="0" eaLnBrk="1" fontAlgn="auto" latinLnBrk="0" hangingPunct="1">
              <a:lnSpc>
                <a:spcPct val="90000"/>
              </a:lnSpc>
              <a:spcBef>
                <a:spcPct val="0"/>
              </a:spcBef>
              <a:spcAft>
                <a:spcPct val="15000"/>
              </a:spcAft>
              <a:buClrTx/>
              <a:buSzTx/>
              <a:buFontTx/>
              <a:buChar char="•"/>
              <a:tabLst/>
              <a:defRPr/>
            </a:pPr>
            <a:r>
              <a:rPr kumimoji="0" lang="en-IN" sz="12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rPr>
              <a:t>Actuarial Analyst liaison with Pricing / Product team to create business requirement document enabling IT team to setup admin system</a:t>
            </a:r>
          </a:p>
          <a:p>
            <a:pPr marL="114300" marR="0" lvl="1" indent="-114300" algn="l" defTabSz="622300" rtl="0" eaLnBrk="1" fontAlgn="auto" latinLnBrk="0" hangingPunct="1">
              <a:lnSpc>
                <a:spcPct val="90000"/>
              </a:lnSpc>
              <a:spcBef>
                <a:spcPct val="0"/>
              </a:spcBef>
              <a:spcAft>
                <a:spcPct val="15000"/>
              </a:spcAft>
              <a:buClrTx/>
              <a:buSzTx/>
              <a:buFontTx/>
              <a:buChar char="•"/>
              <a:tabLst/>
              <a:defRPr/>
            </a:pPr>
            <a:r>
              <a:rPr kumimoji="0" lang="en-IN" sz="12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rPr>
              <a:t>Document entails policy life cycle scenarios and respective test cases </a:t>
            </a:r>
          </a:p>
        </p:txBody>
      </p:sp>
      <p:sp>
        <p:nvSpPr>
          <p:cNvPr id="18" name="TextBox 38">
            <a:extLst>
              <a:ext uri="{FF2B5EF4-FFF2-40B4-BE49-F238E27FC236}">
                <a16:creationId xmlns:a16="http://schemas.microsoft.com/office/drawing/2014/main" id="{10517E2B-1383-4CAA-BAAB-CA0C748F5E76}"/>
              </a:ext>
            </a:extLst>
          </p:cNvPr>
          <p:cNvSpPr txBox="1"/>
          <p:nvPr/>
        </p:nvSpPr>
        <p:spPr>
          <a:xfrm>
            <a:off x="8721677" y="4070690"/>
            <a:ext cx="2652733" cy="473947"/>
          </a:xfrm>
          <a:prstGeom prst="rect">
            <a:avLst/>
          </a:prstGeom>
          <a:solidFill>
            <a:schemeClr val="bg1">
              <a:lumMod val="65000"/>
            </a:schemeClr>
          </a:solidFill>
          <a:ln>
            <a:solidFill>
              <a:schemeClr val="bg2"/>
            </a:solidFill>
          </a:ln>
        </p:spPr>
        <p:txBody>
          <a:bodyPr wrap="square" lIns="182880" tIns="91440" rIns="182880" bIns="9144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IN" sz="1400" b="1" i="0" u="none" strike="noStrike" kern="1200" cap="none" spc="0" normalizeH="0" baseline="0" noProof="0">
                <a:ln>
                  <a:noFill/>
                </a:ln>
                <a:solidFill>
                  <a:prstClr val="white"/>
                </a:solidFill>
                <a:effectLst/>
                <a:uLnTx/>
                <a:uFillTx/>
                <a:latin typeface="Calibri" panose="020F0502020204030204"/>
                <a:ea typeface="+mn-ea"/>
                <a:cs typeface="+mn-cs"/>
              </a:rPr>
              <a:t>Sign off for Production</a:t>
            </a:r>
          </a:p>
        </p:txBody>
      </p:sp>
      <p:sp>
        <p:nvSpPr>
          <p:cNvPr id="22" name="Isosceles Triangle 21">
            <a:extLst>
              <a:ext uri="{FF2B5EF4-FFF2-40B4-BE49-F238E27FC236}">
                <a16:creationId xmlns:a16="http://schemas.microsoft.com/office/drawing/2014/main" id="{0BEEEB3A-53B5-49B3-8BA9-96B15A3EC4BB}"/>
              </a:ext>
            </a:extLst>
          </p:cNvPr>
          <p:cNvSpPr/>
          <p:nvPr/>
        </p:nvSpPr>
        <p:spPr>
          <a:xfrm rot="5400000">
            <a:off x="3229851" y="5063575"/>
            <a:ext cx="1407925" cy="689253"/>
          </a:xfrm>
          <a:prstGeom prst="triangle">
            <a:avLst>
              <a:gd name="adj" fmla="val 51179"/>
            </a:avLst>
          </a:prstGeom>
          <a:solidFill>
            <a:schemeClr val="accent6">
              <a:lumMod val="90000"/>
            </a:schemeClr>
          </a:solidFill>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8" name="TextBox 27">
            <a:extLst>
              <a:ext uri="{FF2B5EF4-FFF2-40B4-BE49-F238E27FC236}">
                <a16:creationId xmlns:a16="http://schemas.microsoft.com/office/drawing/2014/main" id="{433EAA50-E77F-4D1C-9658-568EA4198CC6}"/>
              </a:ext>
            </a:extLst>
          </p:cNvPr>
          <p:cNvSpPr txBox="1"/>
          <p:nvPr/>
        </p:nvSpPr>
        <p:spPr>
          <a:xfrm>
            <a:off x="572421" y="1845502"/>
            <a:ext cx="5323382" cy="1458632"/>
          </a:xfrm>
          <a:prstGeom prst="rect">
            <a:avLst/>
          </a:prstGeom>
          <a:ln/>
        </p:spPr>
        <p:style>
          <a:lnRef idx="3">
            <a:schemeClr val="lt1"/>
          </a:lnRef>
          <a:fillRef idx="1">
            <a:schemeClr val="accent6"/>
          </a:fillRef>
          <a:effectRef idx="1">
            <a:schemeClr val="accent6"/>
          </a:effectRef>
          <a:fontRef idx="minor">
            <a:schemeClr val="lt1"/>
          </a:fontRef>
        </p:style>
        <p:txBody>
          <a:bodyPr wrap="square" lIns="274320" tIns="0" rIns="91440" bIns="0" rtlCol="0" anchor="ctr">
            <a:noAutofit/>
          </a:bodyPr>
          <a:lstStyle/>
          <a:p>
            <a:pPr marL="0" marR="0" lvl="0" indent="0" algn="ctr" defTabSz="914377" rtl="0" eaLnBrk="1" fontAlgn="auto" latinLnBrk="0" hangingPunct="1">
              <a:lnSpc>
                <a:spcPct val="100000"/>
              </a:lnSpc>
              <a:spcBef>
                <a:spcPts val="200"/>
              </a:spcBef>
              <a:spcAft>
                <a:spcPts val="0"/>
              </a:spcAft>
              <a:buClr>
                <a:srgbClr val="ED7D31"/>
              </a:buClr>
              <a:buSzPct val="70000"/>
              <a:buFontTx/>
              <a:buNone/>
              <a:tabLst/>
              <a:defRPr/>
            </a:pPr>
            <a:endParaRPr kumimoji="0" lang="en-US" sz="1400" b="1" i="0" u="none" strike="noStrike" kern="1200" cap="none" spc="0" normalizeH="0" baseline="0" noProof="0">
              <a:ln>
                <a:noFill/>
              </a:ln>
              <a:solidFill>
                <a:srgbClr val="FF6503"/>
              </a:solidFill>
              <a:effectLst/>
              <a:uLnTx/>
              <a:uFillTx/>
              <a:latin typeface="Arial"/>
              <a:ea typeface="+mn-ea"/>
              <a:cs typeface="+mn-cs"/>
            </a:endParaRPr>
          </a:p>
          <a:p>
            <a:pPr marL="0" marR="0" lvl="0" indent="0" algn="ctr" defTabSz="914377" rtl="0" eaLnBrk="1" fontAlgn="auto" latinLnBrk="0" hangingPunct="1">
              <a:lnSpc>
                <a:spcPct val="100000"/>
              </a:lnSpc>
              <a:spcBef>
                <a:spcPts val="200"/>
              </a:spcBef>
              <a:spcAft>
                <a:spcPts val="0"/>
              </a:spcAft>
              <a:buClr>
                <a:srgbClr val="ED7D31"/>
              </a:buClr>
              <a:buSzPct val="70000"/>
              <a:buFontTx/>
              <a:buNone/>
              <a:tabLst/>
              <a:defRPr/>
            </a:pPr>
            <a:endParaRPr kumimoji="0" lang="en-US" sz="400" b="1" i="0" u="none" strike="noStrike" kern="1200" cap="none" spc="0" normalizeH="0" baseline="0" noProof="0">
              <a:ln>
                <a:noFill/>
              </a:ln>
              <a:solidFill>
                <a:srgbClr val="FF6503"/>
              </a:solidFill>
              <a:effectLst/>
              <a:uLnTx/>
              <a:uFillTx/>
              <a:latin typeface="Arial"/>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Existing system suffered from inaccurate Product configuration leading to incorrect payment of Annuity benefits, specifically in case of indexation and joint life annuity payments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 system also failed to accurately capture the Rider complexity.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Lack of Product Setup Documentation.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Policy values incorrectly calculated in the system.</a:t>
            </a:r>
          </a:p>
        </p:txBody>
      </p:sp>
      <p:sp>
        <p:nvSpPr>
          <p:cNvPr id="35" name="Rectangle 34">
            <a:extLst>
              <a:ext uri="{FF2B5EF4-FFF2-40B4-BE49-F238E27FC236}">
                <a16:creationId xmlns:a16="http://schemas.microsoft.com/office/drawing/2014/main" id="{A147C27C-910C-49C3-A392-D59C1AFB75AB}"/>
              </a:ext>
            </a:extLst>
          </p:cNvPr>
          <p:cNvSpPr/>
          <p:nvPr/>
        </p:nvSpPr>
        <p:spPr>
          <a:xfrm>
            <a:off x="729228" y="6311795"/>
            <a:ext cx="1463040" cy="3657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Value Delivered</a:t>
            </a:r>
          </a:p>
        </p:txBody>
      </p:sp>
      <p:sp>
        <p:nvSpPr>
          <p:cNvPr id="36" name="Rectangle 35">
            <a:extLst>
              <a:ext uri="{FF2B5EF4-FFF2-40B4-BE49-F238E27FC236}">
                <a16:creationId xmlns:a16="http://schemas.microsoft.com/office/drawing/2014/main" id="{041CF054-C2FA-4E53-83D3-B181CE058446}"/>
              </a:ext>
            </a:extLst>
          </p:cNvPr>
          <p:cNvSpPr/>
          <p:nvPr/>
        </p:nvSpPr>
        <p:spPr>
          <a:xfrm>
            <a:off x="2368137" y="6311795"/>
            <a:ext cx="1845206" cy="365760"/>
          </a:xfrm>
          <a:prstGeom prst="rect">
            <a:avLst/>
          </a:prstGeom>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lumMod val="85000"/>
                    <a:lumOff val="15000"/>
                  </a:srgbClr>
                </a:solidFill>
                <a:effectLst/>
                <a:uLnTx/>
                <a:uFillTx/>
                <a:latin typeface="Arial"/>
                <a:ea typeface="+mn-ea"/>
                <a:cs typeface="+mn-cs"/>
              </a:rPr>
              <a:t>Knowledge Repository</a:t>
            </a:r>
          </a:p>
        </p:txBody>
      </p:sp>
      <p:sp>
        <p:nvSpPr>
          <p:cNvPr id="37" name="Rectangle 36">
            <a:extLst>
              <a:ext uri="{FF2B5EF4-FFF2-40B4-BE49-F238E27FC236}">
                <a16:creationId xmlns:a16="http://schemas.microsoft.com/office/drawing/2014/main" id="{978D6E2A-5EDF-4435-ACEF-4EEC93623C5F}"/>
              </a:ext>
            </a:extLst>
          </p:cNvPr>
          <p:cNvSpPr/>
          <p:nvPr/>
        </p:nvSpPr>
        <p:spPr>
          <a:xfrm>
            <a:off x="4432763" y="6325265"/>
            <a:ext cx="1828130" cy="365760"/>
          </a:xfrm>
          <a:prstGeom prst="rect">
            <a:avLst/>
          </a:prstGeom>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90000"/>
              </a:lnSpc>
              <a:spcBef>
                <a:spcPct val="0"/>
              </a:spcBef>
              <a:spcAft>
                <a:spcPct val="35000"/>
              </a:spcAft>
              <a:buClrTx/>
              <a:buSzTx/>
              <a:buFontTx/>
              <a:buNone/>
              <a:tabLst/>
              <a:defRPr/>
            </a:pPr>
            <a:r>
              <a:rPr kumimoji="0" lang="en-US" sz="1050" b="1" i="0" u="none" strike="noStrike" kern="1200" cap="none" spc="0" normalizeH="0" baseline="0" noProof="0">
                <a:ln>
                  <a:noFill/>
                </a:ln>
                <a:solidFill>
                  <a:srgbClr val="000000">
                    <a:lumMod val="85000"/>
                    <a:lumOff val="15000"/>
                  </a:srgbClr>
                </a:solidFill>
                <a:effectLst/>
                <a:uLnTx/>
                <a:uFillTx/>
                <a:latin typeface="Arial"/>
                <a:ea typeface="+mn-ea"/>
                <a:cs typeface="+mn-cs"/>
              </a:rPr>
              <a:t>Control Environment</a:t>
            </a:r>
          </a:p>
        </p:txBody>
      </p:sp>
      <p:sp>
        <p:nvSpPr>
          <p:cNvPr id="38" name="Rectangle 37">
            <a:extLst>
              <a:ext uri="{FF2B5EF4-FFF2-40B4-BE49-F238E27FC236}">
                <a16:creationId xmlns:a16="http://schemas.microsoft.com/office/drawing/2014/main" id="{315CA953-7CF5-40D3-8F33-5677EA41D2EF}"/>
              </a:ext>
            </a:extLst>
          </p:cNvPr>
          <p:cNvSpPr/>
          <p:nvPr/>
        </p:nvSpPr>
        <p:spPr>
          <a:xfrm>
            <a:off x="6480313" y="6331143"/>
            <a:ext cx="2356584" cy="365760"/>
          </a:xfrm>
          <a:prstGeom prst="rect">
            <a:avLst/>
          </a:prstGeom>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90000"/>
              </a:lnSpc>
              <a:spcBef>
                <a:spcPct val="0"/>
              </a:spcBef>
              <a:spcAft>
                <a:spcPct val="35000"/>
              </a:spcAft>
              <a:buClrTx/>
              <a:buSzTx/>
              <a:buFontTx/>
              <a:buNone/>
              <a:tabLst/>
              <a:defRPr/>
            </a:pPr>
            <a:r>
              <a:rPr kumimoji="0" lang="en-US" sz="1050" b="1" i="0" u="none" strike="noStrike" kern="1200" cap="none" spc="0" normalizeH="0" baseline="0" noProof="0">
                <a:ln>
                  <a:noFill/>
                </a:ln>
                <a:solidFill>
                  <a:srgbClr val="000000">
                    <a:lumMod val="85000"/>
                    <a:lumOff val="15000"/>
                  </a:srgbClr>
                </a:solidFill>
                <a:effectLst/>
                <a:uLnTx/>
                <a:uFillTx/>
                <a:latin typeface="Arial"/>
                <a:ea typeface="+mn-ea"/>
                <a:cs typeface="+mn-cs"/>
              </a:rPr>
              <a:t>Auditable Process / Setup</a:t>
            </a:r>
          </a:p>
        </p:txBody>
      </p:sp>
      <p:sp>
        <p:nvSpPr>
          <p:cNvPr id="43" name="Rectangle 42">
            <a:extLst>
              <a:ext uri="{FF2B5EF4-FFF2-40B4-BE49-F238E27FC236}">
                <a16:creationId xmlns:a16="http://schemas.microsoft.com/office/drawing/2014/main" id="{C0606F47-CD43-41D4-819D-7EF0A403BB7E}"/>
              </a:ext>
            </a:extLst>
          </p:cNvPr>
          <p:cNvSpPr/>
          <p:nvPr/>
        </p:nvSpPr>
        <p:spPr>
          <a:xfrm>
            <a:off x="4648511" y="4704522"/>
            <a:ext cx="2652734" cy="1407642"/>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4300" marR="0" lvl="1" indent="-114300" algn="l" defTabSz="622300" rtl="0" eaLnBrk="1" fontAlgn="auto" latinLnBrk="0" hangingPunct="1">
              <a:lnSpc>
                <a:spcPct val="90000"/>
              </a:lnSpc>
              <a:spcBef>
                <a:spcPct val="0"/>
              </a:spcBef>
              <a:spcAft>
                <a:spcPct val="15000"/>
              </a:spcAft>
              <a:buClrTx/>
              <a:buSzTx/>
              <a:buFontTx/>
              <a:buChar char="•"/>
              <a:tabLst/>
              <a:defRPr/>
            </a:pPr>
            <a:r>
              <a:rPr kumimoji="0" lang="en-IN" sz="12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rPr>
              <a:t>Test cases and test scenarios are validated against expected output by a team of junior actuaries with help of excel based calculators</a:t>
            </a:r>
          </a:p>
          <a:p>
            <a:pPr marL="114300" marR="0" lvl="1" indent="-114300" algn="l" defTabSz="622300" rtl="0" eaLnBrk="1" fontAlgn="auto" latinLnBrk="0" hangingPunct="1">
              <a:lnSpc>
                <a:spcPct val="90000"/>
              </a:lnSpc>
              <a:spcBef>
                <a:spcPct val="0"/>
              </a:spcBef>
              <a:spcAft>
                <a:spcPct val="15000"/>
              </a:spcAft>
              <a:buClrTx/>
              <a:buSzTx/>
              <a:buFontTx/>
              <a:buChar char="•"/>
              <a:tabLst/>
              <a:defRPr/>
            </a:pPr>
            <a:r>
              <a:rPr kumimoji="0" lang="en-IN" sz="12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rPr>
              <a:t>Feedback to IT is provided for corrections (if any)</a:t>
            </a:r>
          </a:p>
        </p:txBody>
      </p:sp>
      <p:sp>
        <p:nvSpPr>
          <p:cNvPr id="44" name="Rectangle 43">
            <a:extLst>
              <a:ext uri="{FF2B5EF4-FFF2-40B4-BE49-F238E27FC236}">
                <a16:creationId xmlns:a16="http://schemas.microsoft.com/office/drawing/2014/main" id="{2BFD2064-E4B0-43A4-90B5-6B5C7A0D7DAB}"/>
              </a:ext>
            </a:extLst>
          </p:cNvPr>
          <p:cNvSpPr/>
          <p:nvPr/>
        </p:nvSpPr>
        <p:spPr>
          <a:xfrm>
            <a:off x="8730635" y="4704522"/>
            <a:ext cx="2652734" cy="1407642"/>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4300" marR="0" lvl="1" indent="-114300" algn="l" defTabSz="622300" rtl="0" eaLnBrk="1" fontAlgn="auto" latinLnBrk="0" hangingPunct="1">
              <a:lnSpc>
                <a:spcPct val="90000"/>
              </a:lnSpc>
              <a:spcBef>
                <a:spcPct val="0"/>
              </a:spcBef>
              <a:spcAft>
                <a:spcPct val="15000"/>
              </a:spcAft>
              <a:buClrTx/>
              <a:buSzTx/>
              <a:buFontTx/>
              <a:buChar char="•"/>
              <a:tabLst/>
              <a:defRPr/>
            </a:pPr>
            <a:r>
              <a:rPr kumimoji="0" lang="en-IN" sz="12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rPr>
              <a:t>Final UAT report is reviewed by an experienced Actuary and signoff is provided for system to Go Live</a:t>
            </a:r>
          </a:p>
        </p:txBody>
      </p:sp>
      <p:sp>
        <p:nvSpPr>
          <p:cNvPr id="45" name="Isosceles Triangle 44">
            <a:extLst>
              <a:ext uri="{FF2B5EF4-FFF2-40B4-BE49-F238E27FC236}">
                <a16:creationId xmlns:a16="http://schemas.microsoft.com/office/drawing/2014/main" id="{D3ECDB23-2627-4A9D-A23A-53DAB6C44B63}"/>
              </a:ext>
            </a:extLst>
          </p:cNvPr>
          <p:cNvSpPr/>
          <p:nvPr/>
        </p:nvSpPr>
        <p:spPr>
          <a:xfrm rot="5400000">
            <a:off x="7311975" y="5063574"/>
            <a:ext cx="1407927" cy="689253"/>
          </a:xfrm>
          <a:prstGeom prst="triangle">
            <a:avLst>
              <a:gd name="adj" fmla="val 51179"/>
            </a:avLst>
          </a:prstGeom>
          <a:solidFill>
            <a:schemeClr val="accent6">
              <a:lumMod val="90000"/>
            </a:schemeClr>
          </a:solidFill>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6" name="TextBox 38">
            <a:extLst>
              <a:ext uri="{FF2B5EF4-FFF2-40B4-BE49-F238E27FC236}">
                <a16:creationId xmlns:a16="http://schemas.microsoft.com/office/drawing/2014/main" id="{BA6D7CEA-9B69-4863-96B9-05C3D0D6C039}"/>
              </a:ext>
            </a:extLst>
          </p:cNvPr>
          <p:cNvSpPr txBox="1"/>
          <p:nvPr/>
        </p:nvSpPr>
        <p:spPr>
          <a:xfrm>
            <a:off x="4648511" y="4074560"/>
            <a:ext cx="2652733" cy="473947"/>
          </a:xfrm>
          <a:prstGeom prst="rect">
            <a:avLst/>
          </a:prstGeom>
          <a:solidFill>
            <a:schemeClr val="bg1">
              <a:lumMod val="65000"/>
            </a:schemeClr>
          </a:solidFill>
          <a:ln>
            <a:solidFill>
              <a:schemeClr val="bg2"/>
            </a:solidFill>
          </a:ln>
        </p:spPr>
        <p:txBody>
          <a:bodyPr wrap="square" lIns="182880" tIns="91440" rIns="182880" bIns="9144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22300" rtl="0" eaLnBrk="1" fontAlgn="auto" latinLnBrk="0" hangingPunct="1">
              <a:lnSpc>
                <a:spcPct val="90000"/>
              </a:lnSpc>
              <a:spcBef>
                <a:spcPct val="0"/>
              </a:spcBef>
              <a:spcAft>
                <a:spcPct val="35000"/>
              </a:spcAft>
              <a:buClrTx/>
              <a:buSzTx/>
              <a:buFontTx/>
              <a:buNone/>
              <a:tabLst/>
              <a:defRPr/>
            </a:pPr>
            <a:r>
              <a:rPr kumimoji="0" lang="en-IN" sz="1400" b="1" i="0" u="none" strike="noStrike" kern="1200" cap="none" spc="0" normalizeH="0" baseline="0" noProof="0">
                <a:ln>
                  <a:noFill/>
                </a:ln>
                <a:solidFill>
                  <a:prstClr val="white"/>
                </a:solidFill>
                <a:effectLst/>
                <a:uLnTx/>
                <a:uFillTx/>
                <a:latin typeface="Calibri" panose="020F0502020204030204"/>
                <a:ea typeface="+mn-ea"/>
                <a:cs typeface="+mn-cs"/>
              </a:rPr>
              <a:t>User Acceptance Testing (UAT)</a:t>
            </a:r>
          </a:p>
        </p:txBody>
      </p:sp>
      <p:sp>
        <p:nvSpPr>
          <p:cNvPr id="47" name="TextBox 38">
            <a:extLst>
              <a:ext uri="{FF2B5EF4-FFF2-40B4-BE49-F238E27FC236}">
                <a16:creationId xmlns:a16="http://schemas.microsoft.com/office/drawing/2014/main" id="{A7D8FBFF-688D-442A-90E5-D35A9645F6DF}"/>
              </a:ext>
            </a:extLst>
          </p:cNvPr>
          <p:cNvSpPr txBox="1"/>
          <p:nvPr/>
        </p:nvSpPr>
        <p:spPr>
          <a:xfrm>
            <a:off x="566387" y="4070690"/>
            <a:ext cx="2652733" cy="473947"/>
          </a:xfrm>
          <a:prstGeom prst="rect">
            <a:avLst/>
          </a:prstGeom>
          <a:solidFill>
            <a:schemeClr val="bg1">
              <a:lumMod val="65000"/>
            </a:schemeClr>
          </a:solidFill>
          <a:ln>
            <a:solidFill>
              <a:schemeClr val="bg2"/>
            </a:solidFill>
          </a:ln>
        </p:spPr>
        <p:txBody>
          <a:bodyPr wrap="square" lIns="182880" tIns="91440" rIns="182880" bIns="9144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00050" rtl="0" eaLnBrk="1" fontAlgn="auto" latinLnBrk="0" hangingPunct="1">
              <a:lnSpc>
                <a:spcPct val="90000"/>
              </a:lnSpc>
              <a:spcBef>
                <a:spcPct val="0"/>
              </a:spcBef>
              <a:spcAft>
                <a:spcPct val="35000"/>
              </a:spcAft>
              <a:buClrTx/>
              <a:buSzTx/>
              <a:buFontTx/>
              <a:buNone/>
              <a:tabLst/>
              <a:defRPr/>
            </a:pPr>
            <a:r>
              <a:rPr kumimoji="0" lang="en-IN" sz="1400" b="1" i="0" u="none" strike="noStrike" kern="1200" cap="none" spc="0" normalizeH="0" baseline="0" noProof="0">
                <a:ln>
                  <a:noFill/>
                </a:ln>
                <a:solidFill>
                  <a:prstClr val="white"/>
                </a:solidFill>
                <a:effectLst/>
                <a:uLnTx/>
                <a:uFillTx/>
                <a:latin typeface="Calibri" panose="020F0502020204030204"/>
                <a:ea typeface="+mn-ea"/>
                <a:cs typeface="+mn-cs"/>
              </a:rPr>
              <a:t>Business Requirement Document and Test cases </a:t>
            </a:r>
            <a:endParaRPr kumimoji="0" lang="en-US" sz="1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8" name="TextBox 47">
            <a:extLst>
              <a:ext uri="{FF2B5EF4-FFF2-40B4-BE49-F238E27FC236}">
                <a16:creationId xmlns:a16="http://schemas.microsoft.com/office/drawing/2014/main" id="{A7ECD548-E021-4EAD-83DB-BE6B1057722C}"/>
              </a:ext>
            </a:extLst>
          </p:cNvPr>
          <p:cNvSpPr txBox="1"/>
          <p:nvPr/>
        </p:nvSpPr>
        <p:spPr>
          <a:xfrm>
            <a:off x="6047037" y="1842183"/>
            <a:ext cx="5323382" cy="1461951"/>
          </a:xfrm>
          <a:prstGeom prst="rect">
            <a:avLst/>
          </a:prstGeom>
          <a:ln/>
        </p:spPr>
        <p:style>
          <a:lnRef idx="3">
            <a:schemeClr val="lt1"/>
          </a:lnRef>
          <a:fillRef idx="1">
            <a:schemeClr val="accent6"/>
          </a:fillRef>
          <a:effectRef idx="1">
            <a:schemeClr val="accent6"/>
          </a:effectRef>
          <a:fontRef idx="minor">
            <a:schemeClr val="lt1"/>
          </a:fontRef>
        </p:style>
        <p:txBody>
          <a:bodyPr wrap="square" lIns="274320" tIns="0" rIns="91440" bIns="0" rtlCol="0" anchor="ctr">
            <a:noAutofit/>
          </a:bodyPr>
          <a:lstStyle/>
          <a:p>
            <a:pPr marL="0" marR="0" lvl="0" indent="0" algn="l" defTabSz="914377" rtl="0" eaLnBrk="1" fontAlgn="auto" latinLnBrk="0" hangingPunct="1">
              <a:lnSpc>
                <a:spcPct val="100000"/>
              </a:lnSpc>
              <a:spcBef>
                <a:spcPts val="200"/>
              </a:spcBef>
              <a:spcAft>
                <a:spcPts val="0"/>
              </a:spcAft>
              <a:buClr>
                <a:srgbClr val="ED7D31"/>
              </a:buClr>
              <a:buSzPct val="70000"/>
              <a:buFontTx/>
              <a:buNone/>
              <a:tabLst/>
              <a:defRPr/>
            </a:pPr>
            <a:endParaRPr kumimoji="0" lang="en-US" sz="1600" b="1" i="0" u="none" strike="noStrike" kern="1200" cap="none" spc="0" normalizeH="0" baseline="0" noProof="0">
              <a:ln>
                <a:noFill/>
              </a:ln>
              <a:solidFill>
                <a:srgbClr val="FF6503"/>
              </a:solidFill>
              <a:effectLst/>
              <a:uLnTx/>
              <a:uFillTx/>
              <a:latin typeface="Arial"/>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Enable cross functional knowledge transfer through collaboration.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Robust policy life cycle documentation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Identification of all possible policy transactions.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Enablement of IT team through BRD and test cases.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Correct system setup delivered together with product setup documentation.</a:t>
            </a:r>
          </a:p>
        </p:txBody>
      </p:sp>
      <p:sp>
        <p:nvSpPr>
          <p:cNvPr id="55" name="TextBox 54">
            <a:extLst>
              <a:ext uri="{FF2B5EF4-FFF2-40B4-BE49-F238E27FC236}">
                <a16:creationId xmlns:a16="http://schemas.microsoft.com/office/drawing/2014/main" id="{D7068EB8-0090-4476-B885-FBBDA61E2559}"/>
              </a:ext>
            </a:extLst>
          </p:cNvPr>
          <p:cNvSpPr txBox="1"/>
          <p:nvPr/>
        </p:nvSpPr>
        <p:spPr>
          <a:xfrm>
            <a:off x="566387" y="119532"/>
            <a:ext cx="10810948"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5071"/>
                </a:solidFill>
                <a:effectLst/>
                <a:uLnTx/>
                <a:uFillTx/>
                <a:latin typeface="Calibri" panose="020F0502020204030204" pitchFamily="34" charset="0"/>
                <a:ea typeface="+mn-ea"/>
                <a:cs typeface="+mn-cs"/>
              </a:rPr>
              <a:t>Product Development Support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i="0" u="none" strike="noStrike" kern="0" cap="none" spc="0" normalizeH="0" baseline="0" noProof="0">
                <a:ln>
                  <a:noFill/>
                </a:ln>
                <a:solidFill>
                  <a:srgbClr val="FB4D0A"/>
                </a:solidFill>
                <a:effectLst/>
                <a:uLnTx/>
                <a:uFillTx/>
                <a:latin typeface="+mj-lt"/>
                <a:ea typeface="+mn-ea"/>
                <a:cs typeface="+mn-cs"/>
              </a:rPr>
              <a:t>Product setup on policy administration </a:t>
            </a:r>
            <a:r>
              <a:rPr lang="en-US" sz="2800" kern="0">
                <a:solidFill>
                  <a:srgbClr val="FB4D0A"/>
                </a:solidFill>
                <a:latin typeface="+mj-lt"/>
              </a:rPr>
              <a:t>s</a:t>
            </a:r>
            <a:r>
              <a:rPr kumimoji="0" lang="en-US" sz="2800" i="0" u="none" strike="noStrike" kern="0" cap="none" spc="0" normalizeH="0" baseline="0" noProof="0" err="1">
                <a:ln>
                  <a:noFill/>
                </a:ln>
                <a:solidFill>
                  <a:srgbClr val="FB4D0A"/>
                </a:solidFill>
                <a:effectLst/>
                <a:uLnTx/>
                <a:uFillTx/>
                <a:latin typeface="+mj-lt"/>
                <a:ea typeface="+mn-ea"/>
                <a:cs typeface="+mn-cs"/>
              </a:rPr>
              <a:t>ystem</a:t>
            </a:r>
            <a:r>
              <a:rPr kumimoji="0" lang="en-US" sz="2800" i="0" u="none" strike="noStrike" kern="0" cap="none" spc="0" normalizeH="0" baseline="0" noProof="0">
                <a:ln>
                  <a:noFill/>
                </a:ln>
                <a:solidFill>
                  <a:srgbClr val="FB4D0A"/>
                </a:solidFill>
                <a:effectLst/>
                <a:uLnTx/>
                <a:uFillTx/>
                <a:latin typeface="+mj-lt"/>
                <a:ea typeface="+mn-ea"/>
                <a:cs typeface="+mn-cs"/>
              </a:rPr>
              <a:t> (FA &amp; WL)</a:t>
            </a:r>
          </a:p>
        </p:txBody>
      </p:sp>
      <p:sp>
        <p:nvSpPr>
          <p:cNvPr id="57" name="TextBox 56">
            <a:extLst>
              <a:ext uri="{FF2B5EF4-FFF2-40B4-BE49-F238E27FC236}">
                <a16:creationId xmlns:a16="http://schemas.microsoft.com/office/drawing/2014/main" id="{306345E5-9C4F-4449-8F8B-C2DCE0F8BB3B}"/>
              </a:ext>
            </a:extLst>
          </p:cNvPr>
          <p:cNvSpPr txBox="1"/>
          <p:nvPr/>
        </p:nvSpPr>
        <p:spPr>
          <a:xfrm>
            <a:off x="1905748" y="1842183"/>
            <a:ext cx="2682146" cy="338554"/>
          </a:xfrm>
          <a:prstGeom prst="rect">
            <a:avLst/>
          </a:prstGeom>
          <a:noFill/>
        </p:spPr>
        <p:txBody>
          <a:bodyPr wrap="none" rtlCol="0">
            <a:spAutoFit/>
          </a:bodyPr>
          <a:lstStyle/>
          <a:p>
            <a:pPr marL="0" marR="0" lvl="0" indent="0" algn="ctr" defTabSz="914377" rtl="0" eaLnBrk="1" fontAlgn="auto" latinLnBrk="0" hangingPunct="1">
              <a:lnSpc>
                <a:spcPct val="100000"/>
              </a:lnSpc>
              <a:spcBef>
                <a:spcPts val="200"/>
              </a:spcBef>
              <a:spcAft>
                <a:spcPts val="0"/>
              </a:spcAft>
              <a:buClr>
                <a:srgbClr val="ED7D31"/>
              </a:buClr>
              <a:buSzPct val="70000"/>
              <a:buFontTx/>
              <a:buNone/>
              <a:tabLst/>
              <a:defRPr/>
            </a:pPr>
            <a:r>
              <a:rPr kumimoji="0" lang="en-US" sz="1600" b="1" i="0" u="none" strike="noStrike" kern="1200" cap="none" spc="0" normalizeH="0" baseline="0" noProof="0">
                <a:ln>
                  <a:noFill/>
                </a:ln>
                <a:solidFill>
                  <a:srgbClr val="FF6503"/>
                </a:solidFill>
                <a:effectLst/>
                <a:uLnTx/>
                <a:uFillTx/>
                <a:latin typeface="Arial"/>
                <a:ea typeface="+mn-ea"/>
                <a:cs typeface="+mn-cs"/>
              </a:rPr>
              <a:t>Key Challenges identified</a:t>
            </a:r>
          </a:p>
        </p:txBody>
      </p:sp>
      <p:sp>
        <p:nvSpPr>
          <p:cNvPr id="58" name="TextBox 57">
            <a:extLst>
              <a:ext uri="{FF2B5EF4-FFF2-40B4-BE49-F238E27FC236}">
                <a16:creationId xmlns:a16="http://schemas.microsoft.com/office/drawing/2014/main" id="{B414ADB3-82A6-423B-9A50-E775B6DF2859}"/>
              </a:ext>
            </a:extLst>
          </p:cNvPr>
          <p:cNvSpPr txBox="1"/>
          <p:nvPr/>
        </p:nvSpPr>
        <p:spPr>
          <a:xfrm>
            <a:off x="7671312" y="1842183"/>
            <a:ext cx="2100255" cy="338554"/>
          </a:xfrm>
          <a:prstGeom prst="rect">
            <a:avLst/>
          </a:prstGeom>
          <a:noFill/>
        </p:spPr>
        <p:txBody>
          <a:bodyPr wrap="none" rtlCol="0">
            <a:spAutoFit/>
          </a:bodyPr>
          <a:lstStyle/>
          <a:p>
            <a:pPr marL="0" marR="0" lvl="0" indent="0" algn="ctr" defTabSz="914377" rtl="0" eaLnBrk="1" fontAlgn="auto" latinLnBrk="0" hangingPunct="1">
              <a:lnSpc>
                <a:spcPct val="100000"/>
              </a:lnSpc>
              <a:spcBef>
                <a:spcPts val="200"/>
              </a:spcBef>
              <a:spcAft>
                <a:spcPts val="0"/>
              </a:spcAft>
              <a:buClr>
                <a:srgbClr val="ED7D31"/>
              </a:buClr>
              <a:buSzPct val="70000"/>
              <a:buFontTx/>
              <a:buNone/>
              <a:tabLst/>
              <a:defRPr/>
            </a:pPr>
            <a:r>
              <a:rPr kumimoji="0" lang="en-US" sz="1600" b="1" i="0" u="none" strike="noStrike" kern="1200" cap="none" spc="0" normalizeH="0" baseline="0" noProof="0">
                <a:ln>
                  <a:noFill/>
                </a:ln>
                <a:solidFill>
                  <a:srgbClr val="FF6503"/>
                </a:solidFill>
                <a:effectLst/>
                <a:uLnTx/>
                <a:uFillTx/>
                <a:latin typeface="Arial"/>
                <a:ea typeface="+mn-ea"/>
                <a:cs typeface="+mn-cs"/>
              </a:rPr>
              <a:t>Solutions Delivered</a:t>
            </a:r>
          </a:p>
        </p:txBody>
      </p:sp>
      <p:sp>
        <p:nvSpPr>
          <p:cNvPr id="2" name="Rectangle 1">
            <a:extLst>
              <a:ext uri="{FF2B5EF4-FFF2-40B4-BE49-F238E27FC236}">
                <a16:creationId xmlns:a16="http://schemas.microsoft.com/office/drawing/2014/main" id="{EFE35257-C1C3-468E-4CBD-8349661A514E}"/>
              </a:ext>
            </a:extLst>
          </p:cNvPr>
          <p:cNvSpPr/>
          <p:nvPr/>
        </p:nvSpPr>
        <p:spPr>
          <a:xfrm>
            <a:off x="2040835" y="1140582"/>
            <a:ext cx="9411676" cy="622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Calibri Light" panose="020F0302020204030204"/>
                <a:ea typeface="+mn-ea"/>
                <a:cs typeface="+mn-cs"/>
              </a:rPr>
              <a:t>Transition to a new policy admin system by a US Life insurer with aim of addressing all the identified errors</a:t>
            </a:r>
            <a:endParaRPr kumimoji="0" lang="en-US" sz="1400" b="1" i="0" u="none" strike="noStrike" kern="1200" cap="none" spc="0" normalizeH="0" baseline="0" noProof="0">
              <a:ln>
                <a:noFill/>
              </a:ln>
              <a:solidFill>
                <a:srgbClr val="FFFFFF"/>
              </a:solidFill>
              <a:effectLst/>
              <a:uLnTx/>
              <a:uFillTx/>
              <a:latin typeface="Calibri Light" panose="020F0302020204030204"/>
              <a:ea typeface="+mn-ea"/>
              <a:cs typeface="+mn-cs"/>
            </a:endParaRPr>
          </a:p>
        </p:txBody>
      </p:sp>
      <p:sp>
        <p:nvSpPr>
          <p:cNvPr id="3" name="Rectangle 2">
            <a:extLst>
              <a:ext uri="{FF2B5EF4-FFF2-40B4-BE49-F238E27FC236}">
                <a16:creationId xmlns:a16="http://schemas.microsoft.com/office/drawing/2014/main" id="{13D062C8-71A8-933C-1933-9DE03C86E211}"/>
              </a:ext>
            </a:extLst>
          </p:cNvPr>
          <p:cNvSpPr/>
          <p:nvPr/>
        </p:nvSpPr>
        <p:spPr>
          <a:xfrm>
            <a:off x="566387" y="1134494"/>
            <a:ext cx="1339361" cy="622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Light" panose="020F0302020204030204"/>
                <a:ea typeface="+mn-ea"/>
                <a:cs typeface="+mn-cs"/>
              </a:rPr>
              <a:t>Objective</a:t>
            </a:r>
          </a:p>
        </p:txBody>
      </p:sp>
    </p:spTree>
    <p:extLst>
      <p:ext uri="{BB962C8B-B14F-4D97-AF65-F5344CB8AC3E}">
        <p14:creationId xmlns:p14="http://schemas.microsoft.com/office/powerpoint/2010/main" val="844251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Rounded Corners 58">
            <a:extLst>
              <a:ext uri="{FF2B5EF4-FFF2-40B4-BE49-F238E27FC236}">
                <a16:creationId xmlns:a16="http://schemas.microsoft.com/office/drawing/2014/main" id="{9EEAEFA7-D8E0-4AD0-A0A3-F71145E79B58}"/>
              </a:ext>
            </a:extLst>
          </p:cNvPr>
          <p:cNvSpPr/>
          <p:nvPr/>
        </p:nvSpPr>
        <p:spPr>
          <a:xfrm>
            <a:off x="464854" y="5655537"/>
            <a:ext cx="7682553" cy="524096"/>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2D8440BC-C221-4EB0-822C-1CDEA77BEFB0}"/>
              </a:ext>
            </a:extLst>
          </p:cNvPr>
          <p:cNvSpPr/>
          <p:nvPr/>
        </p:nvSpPr>
        <p:spPr>
          <a:xfrm>
            <a:off x="457199" y="3247978"/>
            <a:ext cx="11277599" cy="29682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a:ea typeface="+mn-ea"/>
                <a:cs typeface="+mn-cs"/>
              </a:rPr>
              <a:t>Process Followed</a:t>
            </a:r>
          </a:p>
        </p:txBody>
      </p:sp>
      <p:sp>
        <p:nvSpPr>
          <p:cNvPr id="16" name="Rectangle 15">
            <a:extLst>
              <a:ext uri="{FF2B5EF4-FFF2-40B4-BE49-F238E27FC236}">
                <a16:creationId xmlns:a16="http://schemas.microsoft.com/office/drawing/2014/main" id="{7A5FFDCA-4EBB-47F7-AFE9-9F92EB2CD398}"/>
              </a:ext>
            </a:extLst>
          </p:cNvPr>
          <p:cNvSpPr/>
          <p:nvPr/>
        </p:nvSpPr>
        <p:spPr>
          <a:xfrm>
            <a:off x="457198" y="4129498"/>
            <a:ext cx="2080518" cy="1442270"/>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4300" marR="0" lvl="1" indent="-114300" algn="l" defTabSz="622300" rtl="0" eaLnBrk="1" fontAlgn="auto" latinLnBrk="0" hangingPunct="1">
              <a:lnSpc>
                <a:spcPct val="90000"/>
              </a:lnSpc>
              <a:spcBef>
                <a:spcPct val="0"/>
              </a:spcBef>
              <a:spcAft>
                <a:spcPct val="15000"/>
              </a:spcAft>
              <a:buClrTx/>
              <a:buSzTx/>
              <a:buFontTx/>
              <a:buChar char="•"/>
              <a:tabLst/>
              <a:defRPr/>
            </a:pPr>
            <a:r>
              <a:rPr lang="en-IN" sz="1200">
                <a:solidFill>
                  <a:prstClr val="black">
                    <a:hueOff val="0"/>
                    <a:satOff val="0"/>
                    <a:lumOff val="0"/>
                    <a:alphaOff val="0"/>
                  </a:prstClr>
                </a:solidFill>
                <a:latin typeface="Calibri" panose="020F0502020204030204"/>
              </a:rPr>
              <a:t>Regular connects with client side for process walkthroughs and queries.</a:t>
            </a:r>
          </a:p>
          <a:p>
            <a:pPr marL="114300" marR="0" lvl="1" indent="-114300" algn="l" defTabSz="622300" rtl="0" eaLnBrk="1" fontAlgn="auto" latinLnBrk="0" hangingPunct="1">
              <a:lnSpc>
                <a:spcPct val="90000"/>
              </a:lnSpc>
              <a:spcBef>
                <a:spcPct val="0"/>
              </a:spcBef>
              <a:spcAft>
                <a:spcPct val="15000"/>
              </a:spcAft>
              <a:buClrTx/>
              <a:buSzTx/>
              <a:buFontTx/>
              <a:buChar char="•"/>
              <a:tabLst/>
              <a:defRPr/>
            </a:pPr>
            <a:r>
              <a:rPr kumimoji="0" lang="en-IN" sz="12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rPr>
              <a:t>Weekly meetings with client for progress update</a:t>
            </a:r>
          </a:p>
        </p:txBody>
      </p:sp>
      <p:sp>
        <p:nvSpPr>
          <p:cNvPr id="22" name="Isosceles Triangle 21">
            <a:extLst>
              <a:ext uri="{FF2B5EF4-FFF2-40B4-BE49-F238E27FC236}">
                <a16:creationId xmlns:a16="http://schemas.microsoft.com/office/drawing/2014/main" id="{0BEEEB3A-53B5-49B3-8BA9-96B15A3EC4BB}"/>
              </a:ext>
            </a:extLst>
          </p:cNvPr>
          <p:cNvSpPr/>
          <p:nvPr/>
        </p:nvSpPr>
        <p:spPr>
          <a:xfrm rot="5400000">
            <a:off x="2146967" y="4686555"/>
            <a:ext cx="1019048" cy="183841"/>
          </a:xfrm>
          <a:prstGeom prst="triangle">
            <a:avLst>
              <a:gd name="adj" fmla="val 51179"/>
            </a:avLst>
          </a:prstGeom>
          <a:solidFill>
            <a:schemeClr val="accent6">
              <a:lumMod val="90000"/>
            </a:schemeClr>
          </a:solidFill>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8" name="TextBox 27">
            <a:extLst>
              <a:ext uri="{FF2B5EF4-FFF2-40B4-BE49-F238E27FC236}">
                <a16:creationId xmlns:a16="http://schemas.microsoft.com/office/drawing/2014/main" id="{433EAA50-E77F-4D1C-9658-568EA4198CC6}"/>
              </a:ext>
            </a:extLst>
          </p:cNvPr>
          <p:cNvSpPr txBox="1"/>
          <p:nvPr/>
        </p:nvSpPr>
        <p:spPr>
          <a:xfrm>
            <a:off x="457199" y="1710190"/>
            <a:ext cx="3713911" cy="1458632"/>
          </a:xfrm>
          <a:prstGeom prst="rect">
            <a:avLst/>
          </a:prstGeom>
          <a:ln/>
        </p:spPr>
        <p:style>
          <a:lnRef idx="3">
            <a:schemeClr val="lt1"/>
          </a:lnRef>
          <a:fillRef idx="1">
            <a:schemeClr val="accent6"/>
          </a:fillRef>
          <a:effectRef idx="1">
            <a:schemeClr val="accent6"/>
          </a:effectRef>
          <a:fontRef idx="minor">
            <a:schemeClr val="lt1"/>
          </a:fontRef>
        </p:style>
        <p:txBody>
          <a:bodyPr wrap="square" lIns="274320" tIns="0" rIns="91440" bIns="0" rtlCol="0" anchor="ctr">
            <a:noAutofit/>
          </a:bodyPr>
          <a:lstStyle/>
          <a:p>
            <a:pPr marL="0" marR="0" lvl="0" indent="0" algn="ctr" defTabSz="914377" rtl="0" eaLnBrk="1" fontAlgn="auto" latinLnBrk="0" hangingPunct="1">
              <a:lnSpc>
                <a:spcPct val="100000"/>
              </a:lnSpc>
              <a:spcBef>
                <a:spcPts val="200"/>
              </a:spcBef>
              <a:spcAft>
                <a:spcPts val="0"/>
              </a:spcAft>
              <a:buClr>
                <a:srgbClr val="ED7D31"/>
              </a:buClr>
              <a:buSzPct val="70000"/>
              <a:buFontTx/>
              <a:buNone/>
              <a:tabLst/>
              <a:defRPr/>
            </a:pPr>
            <a:endParaRPr kumimoji="0" lang="en-US" sz="1100" b="1" i="0" u="none" strike="noStrike" kern="1200" cap="none" spc="0" normalizeH="0" baseline="0" noProof="0">
              <a:ln>
                <a:noFill/>
              </a:ln>
              <a:solidFill>
                <a:srgbClr val="FF6503"/>
              </a:solidFill>
              <a:effectLst/>
              <a:uLnTx/>
              <a:uFillTx/>
              <a:latin typeface="Arial"/>
              <a:ea typeface="+mn-ea"/>
              <a:cs typeface="+mn-cs"/>
            </a:endParaRPr>
          </a:p>
          <a:p>
            <a:pPr marL="0" marR="0" lvl="0" indent="0" algn="ctr" defTabSz="914377" rtl="0" eaLnBrk="1" fontAlgn="auto" latinLnBrk="0" hangingPunct="1">
              <a:lnSpc>
                <a:spcPct val="100000"/>
              </a:lnSpc>
              <a:spcBef>
                <a:spcPts val="200"/>
              </a:spcBef>
              <a:spcAft>
                <a:spcPts val="0"/>
              </a:spcAft>
              <a:buClr>
                <a:srgbClr val="ED7D31"/>
              </a:buClr>
              <a:buSzPct val="70000"/>
              <a:buFontTx/>
              <a:buNone/>
              <a:tabLst/>
              <a:defRPr/>
            </a:pPr>
            <a:endParaRPr kumimoji="0" lang="en-US" sz="1100" b="1" i="0" u="none" strike="noStrike" kern="1200" cap="none" spc="0" normalizeH="0" baseline="0" noProof="0">
              <a:ln>
                <a:noFill/>
              </a:ln>
              <a:solidFill>
                <a:srgbClr val="FF6503"/>
              </a:solidFill>
              <a:effectLst/>
              <a:uLnTx/>
              <a:uFillTx/>
              <a:latin typeface="Arial"/>
              <a:ea typeface="+mn-ea"/>
              <a:cs typeface="+mn-cs"/>
            </a:endParaRPr>
          </a:p>
          <a:p>
            <a:pPr marL="285750" lvl="0" indent="-285750">
              <a:buFont typeface="Arial" panose="020B0604020202020204" pitchFamily="34" charset="0"/>
              <a:buChar char="•"/>
              <a:defRPr/>
            </a:pPr>
            <a:r>
              <a:rPr lang="en-US" sz="1100">
                <a:solidFill>
                  <a:prstClr val="black"/>
                </a:solidFill>
                <a:latin typeface="Arial" panose="020B0604020202020204" pitchFamily="34" charset="0"/>
                <a:cs typeface="Arial" panose="020B0604020202020204" pitchFamily="34" charset="0"/>
              </a:rPr>
              <a:t>Complex product features to be modeled</a:t>
            </a:r>
          </a:p>
          <a:p>
            <a:pPr marL="285750" lvl="0" indent="-285750">
              <a:buFont typeface="Arial" panose="020B0604020202020204" pitchFamily="34" charset="0"/>
              <a:buChar char="•"/>
              <a:defRPr/>
            </a:pPr>
            <a:r>
              <a:rPr lang="en-US" sz="1100">
                <a:solidFill>
                  <a:prstClr val="black"/>
                </a:solidFill>
                <a:latin typeface="Arial" panose="020B0604020202020204" pitchFamily="34" charset="0"/>
                <a:cs typeface="Arial" panose="020B0604020202020204" pitchFamily="34" charset="0"/>
              </a:rPr>
              <a:t>Modeling of different option values originating via different guarantees</a:t>
            </a:r>
          </a:p>
          <a:p>
            <a:pPr marL="285750" lvl="0" indent="-285750">
              <a:buFont typeface="Arial" panose="020B0604020202020204" pitchFamily="34" charset="0"/>
              <a:buChar char="•"/>
              <a:defRPr/>
            </a:pPr>
            <a:r>
              <a:rPr lang="en-US" sz="1100">
                <a:solidFill>
                  <a:prstClr val="black"/>
                </a:solidFill>
                <a:latin typeface="Arial" panose="020B0604020202020204" pitchFamily="34" charset="0"/>
                <a:cs typeface="Arial" panose="020B0604020202020204" pitchFamily="34" charset="0"/>
              </a:rPr>
              <a:t>Multiple funds available within one product</a:t>
            </a:r>
          </a:p>
          <a:p>
            <a:pPr marL="285750" lvl="0" indent="-285750">
              <a:buFont typeface="Arial" panose="020B0604020202020204" pitchFamily="34" charset="0"/>
              <a:buChar char="•"/>
              <a:defRPr/>
            </a:pPr>
            <a:r>
              <a:rPr lang="en-US" sz="1100">
                <a:solidFill>
                  <a:prstClr val="black"/>
                </a:solidFill>
                <a:latin typeface="Arial" panose="020B0604020202020204" pitchFamily="34" charset="0"/>
                <a:cs typeface="Arial" panose="020B0604020202020204" pitchFamily="34" charset="0"/>
              </a:rPr>
              <a:t>Target reduction in runtime </a:t>
            </a:r>
          </a:p>
          <a:p>
            <a:pPr lvl="0">
              <a:defRPr/>
            </a:pPr>
            <a:r>
              <a:rPr lang="en-US" sz="1100">
                <a:solidFill>
                  <a:prstClr val="black"/>
                </a:solidFill>
                <a:latin typeface="Arial" panose="020B0604020202020204" pitchFamily="34" charset="0"/>
                <a:cs typeface="Arial" panose="020B0604020202020204" pitchFamily="34" charset="0"/>
              </a:rPr>
              <a:t> </a:t>
            </a:r>
          </a:p>
        </p:txBody>
      </p:sp>
      <p:sp>
        <p:nvSpPr>
          <p:cNvPr id="36" name="Rectangle 35">
            <a:extLst>
              <a:ext uri="{FF2B5EF4-FFF2-40B4-BE49-F238E27FC236}">
                <a16:creationId xmlns:a16="http://schemas.microsoft.com/office/drawing/2014/main" id="{041CF054-C2FA-4E53-83D3-B181CE058446}"/>
              </a:ext>
            </a:extLst>
          </p:cNvPr>
          <p:cNvSpPr/>
          <p:nvPr/>
        </p:nvSpPr>
        <p:spPr>
          <a:xfrm>
            <a:off x="2537717" y="5711758"/>
            <a:ext cx="1700562" cy="384106"/>
          </a:xfrm>
          <a:prstGeom prst="rect">
            <a:avLst/>
          </a:prstGeom>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lumMod val="85000"/>
                    <a:lumOff val="15000"/>
                  </a:srgbClr>
                </a:solidFill>
                <a:effectLst/>
                <a:uLnTx/>
                <a:uFillTx/>
                <a:latin typeface="Arial"/>
                <a:ea typeface="+mn-ea"/>
                <a:cs typeface="+mn-cs"/>
              </a:rPr>
              <a:t>Knowledge Repository</a:t>
            </a:r>
          </a:p>
        </p:txBody>
      </p:sp>
      <p:sp>
        <p:nvSpPr>
          <p:cNvPr id="47" name="TextBox 38">
            <a:extLst>
              <a:ext uri="{FF2B5EF4-FFF2-40B4-BE49-F238E27FC236}">
                <a16:creationId xmlns:a16="http://schemas.microsoft.com/office/drawing/2014/main" id="{A7D8FBFF-688D-442A-90E5-D35A9645F6DF}"/>
              </a:ext>
            </a:extLst>
          </p:cNvPr>
          <p:cNvSpPr txBox="1"/>
          <p:nvPr/>
        </p:nvSpPr>
        <p:spPr>
          <a:xfrm>
            <a:off x="457200" y="3623548"/>
            <a:ext cx="2080518" cy="453399"/>
          </a:xfrm>
          <a:prstGeom prst="rect">
            <a:avLst/>
          </a:prstGeom>
          <a:solidFill>
            <a:schemeClr val="bg1">
              <a:lumMod val="65000"/>
            </a:schemeClr>
          </a:solidFill>
          <a:ln>
            <a:solidFill>
              <a:schemeClr val="bg2"/>
            </a:solidFill>
          </a:ln>
        </p:spPr>
        <p:txBody>
          <a:bodyPr wrap="square" lIns="182880" tIns="91440" rIns="182880" bIns="9144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00050" rtl="0" eaLnBrk="1" fontAlgn="auto" latinLnBrk="0" hangingPunct="1">
              <a:lnSpc>
                <a:spcPct val="90000"/>
              </a:lnSpc>
              <a:spcBef>
                <a:spcPct val="0"/>
              </a:spcBef>
              <a:spcAft>
                <a:spcPct val="35000"/>
              </a:spcAft>
              <a:buClrTx/>
              <a:buSzTx/>
              <a:buFontTx/>
              <a:buNone/>
              <a:tabLst/>
              <a:defRPr/>
            </a:pPr>
            <a:r>
              <a:rPr lang="en-IN" sz="1400" b="1">
                <a:solidFill>
                  <a:prstClr val="white"/>
                </a:solidFill>
                <a:latin typeface="Calibri" panose="020F0502020204030204"/>
              </a:rPr>
              <a:t>Process Walkthrough</a:t>
            </a:r>
            <a:endParaRPr kumimoji="0" lang="en-US" sz="1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8" name="TextBox 47">
            <a:extLst>
              <a:ext uri="{FF2B5EF4-FFF2-40B4-BE49-F238E27FC236}">
                <a16:creationId xmlns:a16="http://schemas.microsoft.com/office/drawing/2014/main" id="{A7ECD548-E021-4EAD-83DB-BE6B1057722C}"/>
              </a:ext>
            </a:extLst>
          </p:cNvPr>
          <p:cNvSpPr txBox="1"/>
          <p:nvPr/>
        </p:nvSpPr>
        <p:spPr>
          <a:xfrm>
            <a:off x="4239043" y="1718322"/>
            <a:ext cx="3713910" cy="1461951"/>
          </a:xfrm>
          <a:prstGeom prst="rect">
            <a:avLst/>
          </a:prstGeom>
          <a:ln/>
        </p:spPr>
        <p:style>
          <a:lnRef idx="3">
            <a:schemeClr val="lt1"/>
          </a:lnRef>
          <a:fillRef idx="1">
            <a:schemeClr val="accent6"/>
          </a:fillRef>
          <a:effectRef idx="1">
            <a:schemeClr val="accent6"/>
          </a:effectRef>
          <a:fontRef idx="minor">
            <a:schemeClr val="lt1"/>
          </a:fontRef>
        </p:style>
        <p:txBody>
          <a:bodyPr wrap="square" lIns="274320" tIns="0" rIns="91440" bIns="0" rtlCol="0" anchor="ctr">
            <a:noAutofit/>
          </a:bodyPr>
          <a:lstStyle/>
          <a:p>
            <a:pPr marL="0" marR="0" lvl="0" indent="0" algn="l" defTabSz="914377" rtl="0" eaLnBrk="1" fontAlgn="auto" latinLnBrk="0" hangingPunct="1">
              <a:lnSpc>
                <a:spcPct val="100000"/>
              </a:lnSpc>
              <a:spcBef>
                <a:spcPts val="200"/>
              </a:spcBef>
              <a:spcAft>
                <a:spcPts val="0"/>
              </a:spcAft>
              <a:buClr>
                <a:srgbClr val="ED7D31"/>
              </a:buClr>
              <a:buSzPct val="70000"/>
              <a:buFontTx/>
              <a:buNone/>
              <a:tabLst/>
              <a:defRPr/>
            </a:pPr>
            <a:endParaRPr kumimoji="0" lang="en-US" sz="1100" b="1" i="0" u="none" strike="noStrike" kern="1200" cap="none" spc="0" normalizeH="0" baseline="0" noProof="0">
              <a:ln>
                <a:noFill/>
              </a:ln>
              <a:solidFill>
                <a:srgbClr val="FF6503"/>
              </a:solidFill>
              <a:effectLst/>
              <a:uLnTx/>
              <a:uFillTx/>
              <a:latin typeface="Arial"/>
              <a:ea typeface="+mn-ea"/>
              <a:cs typeface="+mn-cs"/>
            </a:endParaRPr>
          </a:p>
          <a:p>
            <a:pPr marL="0" marR="0" lvl="0" indent="0" algn="l" defTabSz="914377" rtl="0" eaLnBrk="1" fontAlgn="auto" latinLnBrk="0" hangingPunct="1">
              <a:lnSpc>
                <a:spcPct val="100000"/>
              </a:lnSpc>
              <a:spcBef>
                <a:spcPts val="200"/>
              </a:spcBef>
              <a:spcAft>
                <a:spcPts val="0"/>
              </a:spcAft>
              <a:buClr>
                <a:srgbClr val="ED7D31"/>
              </a:buClr>
              <a:buSzPct val="70000"/>
              <a:buFontTx/>
              <a:buNone/>
              <a:tabLst/>
              <a:defRPr/>
            </a:pPr>
            <a:endParaRPr kumimoji="0" lang="en-US" sz="1100" b="1" i="0" u="none" strike="noStrike" kern="1200" cap="none" spc="0" normalizeH="0" baseline="0" noProof="0">
              <a:ln>
                <a:noFill/>
              </a:ln>
              <a:solidFill>
                <a:srgbClr val="FF6503"/>
              </a:solidFill>
              <a:effectLst/>
              <a:uLnTx/>
              <a:uFillTx/>
              <a:latin typeface="Arial"/>
              <a:ea typeface="+mn-ea"/>
              <a:cs typeface="+mn-cs"/>
            </a:endParaRPr>
          </a:p>
          <a:p>
            <a:pPr marL="285750" indent="-285750">
              <a:buFont typeface="Arial" panose="020B0604020202020204" pitchFamily="34" charset="0"/>
              <a:buChar char="•"/>
              <a:defRPr/>
            </a:pPr>
            <a:r>
              <a:rPr lang="en-US" sz="1100">
                <a:solidFill>
                  <a:prstClr val="black"/>
                </a:solidFill>
                <a:latin typeface="Arial" panose="020B0604020202020204" pitchFamily="34" charset="0"/>
                <a:cs typeface="Arial" panose="020B0604020202020204" pitchFamily="34" charset="0"/>
              </a:rPr>
              <a:t>Prepared detailed BRD for Axis model and validation tool</a:t>
            </a:r>
          </a:p>
          <a:p>
            <a:pPr marL="285750" lvl="0" indent="-285750">
              <a:buFont typeface="Arial" panose="020B0604020202020204" pitchFamily="34" charset="0"/>
              <a:buChar char="•"/>
              <a:defRPr/>
            </a:pPr>
            <a:r>
              <a:rPr lang="en-US" sz="1100">
                <a:solidFill>
                  <a:prstClr val="black"/>
                </a:solidFill>
                <a:latin typeface="Arial" panose="020B0604020202020204" pitchFamily="34" charset="0"/>
                <a:cs typeface="Arial" panose="020B0604020202020204" pitchFamily="34" charset="0"/>
              </a:rPr>
              <a:t>Model transformation from MGALFA to Axis</a:t>
            </a:r>
          </a:p>
          <a:p>
            <a:pPr marL="285750" lvl="0" indent="-285750">
              <a:buFont typeface="Arial" panose="020B0604020202020204" pitchFamily="34" charset="0"/>
              <a:buChar char="•"/>
              <a:defRPr/>
            </a:pPr>
            <a:r>
              <a:rPr lang="en-US" sz="1100">
                <a:solidFill>
                  <a:prstClr val="black"/>
                </a:solidFill>
                <a:latin typeface="Arial" panose="020B0604020202020204" pitchFamily="34" charset="0"/>
                <a:cs typeface="Arial" panose="020B0604020202020204" pitchFamily="34" charset="0"/>
              </a:rPr>
              <a:t>Developed robust excel validator model for auditing and reviewing AXIS model results</a:t>
            </a:r>
          </a:p>
          <a:p>
            <a:pPr marL="285750" lvl="0" indent="-285750">
              <a:buFont typeface="Arial" panose="020B0604020202020204" pitchFamily="34" charset="0"/>
              <a:buChar char="•"/>
              <a:defRPr/>
            </a:pPr>
            <a:r>
              <a:rPr lang="en-US" sz="1100">
                <a:solidFill>
                  <a:prstClr val="black"/>
                </a:solidFill>
                <a:latin typeface="Arial" panose="020B0604020202020204" pitchFamily="34" charset="0"/>
                <a:cs typeface="Arial" panose="020B0604020202020204" pitchFamily="34" charset="0"/>
              </a:rPr>
              <a:t>Detailed documentation of model development for future reference and guidance</a:t>
            </a:r>
          </a:p>
        </p:txBody>
      </p:sp>
      <p:sp>
        <p:nvSpPr>
          <p:cNvPr id="57" name="TextBox 56">
            <a:extLst>
              <a:ext uri="{FF2B5EF4-FFF2-40B4-BE49-F238E27FC236}">
                <a16:creationId xmlns:a16="http://schemas.microsoft.com/office/drawing/2014/main" id="{306345E5-9C4F-4449-8F8B-C2DCE0F8BB3B}"/>
              </a:ext>
            </a:extLst>
          </p:cNvPr>
          <p:cNvSpPr txBox="1"/>
          <p:nvPr/>
        </p:nvSpPr>
        <p:spPr>
          <a:xfrm>
            <a:off x="911536" y="1718508"/>
            <a:ext cx="2682146" cy="338554"/>
          </a:xfrm>
          <a:prstGeom prst="rect">
            <a:avLst/>
          </a:prstGeom>
          <a:noFill/>
        </p:spPr>
        <p:txBody>
          <a:bodyPr wrap="none" rtlCol="0">
            <a:spAutoFit/>
          </a:bodyPr>
          <a:lstStyle/>
          <a:p>
            <a:pPr marL="0" marR="0" lvl="0" indent="0" algn="ctr" defTabSz="914377" rtl="0" eaLnBrk="1" fontAlgn="auto" latinLnBrk="0" hangingPunct="1">
              <a:lnSpc>
                <a:spcPct val="100000"/>
              </a:lnSpc>
              <a:spcBef>
                <a:spcPts val="200"/>
              </a:spcBef>
              <a:spcAft>
                <a:spcPts val="0"/>
              </a:spcAft>
              <a:buClr>
                <a:srgbClr val="ED7D31"/>
              </a:buClr>
              <a:buSzPct val="70000"/>
              <a:buFontTx/>
              <a:buNone/>
              <a:tabLst/>
              <a:defRPr/>
            </a:pPr>
            <a:r>
              <a:rPr kumimoji="0" lang="en-US" sz="1600" b="1" i="0" u="none" strike="noStrike" kern="1200" cap="none" spc="0" normalizeH="0" baseline="0" noProof="0">
                <a:ln>
                  <a:noFill/>
                </a:ln>
                <a:solidFill>
                  <a:srgbClr val="FF6503"/>
                </a:solidFill>
                <a:effectLst/>
                <a:uLnTx/>
                <a:uFillTx/>
                <a:latin typeface="Arial"/>
                <a:ea typeface="+mn-ea"/>
                <a:cs typeface="+mn-cs"/>
              </a:rPr>
              <a:t>Key Challenges identified</a:t>
            </a:r>
          </a:p>
        </p:txBody>
      </p:sp>
      <p:sp>
        <p:nvSpPr>
          <p:cNvPr id="58" name="TextBox 57">
            <a:extLst>
              <a:ext uri="{FF2B5EF4-FFF2-40B4-BE49-F238E27FC236}">
                <a16:creationId xmlns:a16="http://schemas.microsoft.com/office/drawing/2014/main" id="{B414ADB3-82A6-423B-9A50-E775B6DF2859}"/>
              </a:ext>
            </a:extLst>
          </p:cNvPr>
          <p:cNvSpPr txBox="1"/>
          <p:nvPr/>
        </p:nvSpPr>
        <p:spPr>
          <a:xfrm>
            <a:off x="5053101" y="1718508"/>
            <a:ext cx="2100255" cy="338554"/>
          </a:xfrm>
          <a:prstGeom prst="rect">
            <a:avLst/>
          </a:prstGeom>
          <a:noFill/>
        </p:spPr>
        <p:txBody>
          <a:bodyPr wrap="none" rtlCol="0">
            <a:spAutoFit/>
          </a:bodyPr>
          <a:lstStyle/>
          <a:p>
            <a:pPr marL="0" marR="0" lvl="0" indent="0" algn="ctr" defTabSz="914377" rtl="0" eaLnBrk="1" fontAlgn="auto" latinLnBrk="0" hangingPunct="1">
              <a:lnSpc>
                <a:spcPct val="100000"/>
              </a:lnSpc>
              <a:spcBef>
                <a:spcPts val="200"/>
              </a:spcBef>
              <a:spcAft>
                <a:spcPts val="0"/>
              </a:spcAft>
              <a:buClr>
                <a:srgbClr val="ED7D31"/>
              </a:buClr>
              <a:buSzPct val="70000"/>
              <a:buFontTx/>
              <a:buNone/>
              <a:tabLst/>
              <a:defRPr/>
            </a:pPr>
            <a:r>
              <a:rPr kumimoji="0" lang="en-US" sz="1600" b="1" i="0" u="none" strike="noStrike" kern="1200" cap="none" spc="0" normalizeH="0" baseline="0" noProof="0">
                <a:ln>
                  <a:noFill/>
                </a:ln>
                <a:solidFill>
                  <a:srgbClr val="FF6503"/>
                </a:solidFill>
                <a:effectLst/>
                <a:uLnTx/>
                <a:uFillTx/>
                <a:latin typeface="Arial"/>
                <a:ea typeface="+mn-ea"/>
                <a:cs typeface="+mn-cs"/>
              </a:rPr>
              <a:t>Solutions Delivered</a:t>
            </a:r>
          </a:p>
        </p:txBody>
      </p:sp>
      <p:sp>
        <p:nvSpPr>
          <p:cNvPr id="2" name="Rectangle 1">
            <a:extLst>
              <a:ext uri="{FF2B5EF4-FFF2-40B4-BE49-F238E27FC236}">
                <a16:creationId xmlns:a16="http://schemas.microsoft.com/office/drawing/2014/main" id="{EFE35257-C1C3-468E-4CBD-8349661A514E}"/>
              </a:ext>
            </a:extLst>
          </p:cNvPr>
          <p:cNvSpPr/>
          <p:nvPr/>
        </p:nvSpPr>
        <p:spPr>
          <a:xfrm>
            <a:off x="1892752" y="1008613"/>
            <a:ext cx="9842047" cy="622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500" b="1" kern="0">
                <a:solidFill>
                  <a:srgbClr val="FFFFFF"/>
                </a:solidFill>
                <a:latin typeface="Calibri Light" panose="020F0302020204030204"/>
              </a:rPr>
              <a:t>Develop  and transition from ALFA to Axis for FA , FIA, IVA </a:t>
            </a:r>
            <a:r>
              <a:rPr lang="en-US" sz="1500" b="1" kern="0" err="1">
                <a:solidFill>
                  <a:srgbClr val="FFFFFF"/>
                </a:solidFill>
                <a:latin typeface="Calibri Light" panose="020F0302020204030204"/>
              </a:rPr>
              <a:t>etc</a:t>
            </a:r>
            <a:r>
              <a:rPr lang="en-US" sz="1500" b="1" kern="0">
                <a:solidFill>
                  <a:srgbClr val="FFFFFF"/>
                </a:solidFill>
                <a:latin typeface="Calibri Light" panose="020F0302020204030204"/>
              </a:rPr>
              <a:t> products and create excel validator model for audit and review</a:t>
            </a:r>
            <a:endParaRPr kumimoji="0" lang="en-US" sz="1500" b="1" i="0" u="none" strike="noStrike" kern="1200" cap="none" spc="0" normalizeH="0" baseline="0" noProof="0">
              <a:ln>
                <a:noFill/>
              </a:ln>
              <a:solidFill>
                <a:srgbClr val="FFFFFF"/>
              </a:solidFill>
              <a:effectLst/>
              <a:uLnTx/>
              <a:uFillTx/>
              <a:latin typeface="Calibri Light" panose="020F0302020204030204"/>
              <a:ea typeface="+mn-ea"/>
              <a:cs typeface="+mn-cs"/>
            </a:endParaRPr>
          </a:p>
        </p:txBody>
      </p:sp>
      <p:sp>
        <p:nvSpPr>
          <p:cNvPr id="3" name="Rectangle 2">
            <a:extLst>
              <a:ext uri="{FF2B5EF4-FFF2-40B4-BE49-F238E27FC236}">
                <a16:creationId xmlns:a16="http://schemas.microsoft.com/office/drawing/2014/main" id="{13D062C8-71A8-933C-1933-9DE03C86E211}"/>
              </a:ext>
            </a:extLst>
          </p:cNvPr>
          <p:cNvSpPr/>
          <p:nvPr/>
        </p:nvSpPr>
        <p:spPr>
          <a:xfrm>
            <a:off x="457200" y="1012245"/>
            <a:ext cx="1339361" cy="622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Calibri Light" panose="020F0302020204030204"/>
                <a:ea typeface="+mn-ea"/>
                <a:cs typeface="+mn-cs"/>
              </a:rPr>
              <a:t>Objective</a:t>
            </a:r>
          </a:p>
        </p:txBody>
      </p:sp>
      <p:sp>
        <p:nvSpPr>
          <p:cNvPr id="24" name="Title 2">
            <a:extLst>
              <a:ext uri="{FF2B5EF4-FFF2-40B4-BE49-F238E27FC236}">
                <a16:creationId xmlns:a16="http://schemas.microsoft.com/office/drawing/2014/main" id="{F9C42282-DEB8-4357-B544-879649C423D9}"/>
              </a:ext>
            </a:extLst>
          </p:cNvPr>
          <p:cNvSpPr>
            <a:spLocks noGrp="1"/>
          </p:cNvSpPr>
          <p:nvPr>
            <p:ph type="ctrTitle"/>
          </p:nvPr>
        </p:nvSpPr>
        <p:spPr>
          <a:xfrm>
            <a:off x="457200" y="543491"/>
            <a:ext cx="11277600" cy="557784"/>
          </a:xfrm>
          <a:noFill/>
          <a:ln>
            <a:noFill/>
          </a:ln>
        </p:spPr>
        <p:txBody>
          <a:bodyPr spcFirstLastPara="1" vert="horz" wrap="square" lIns="0" tIns="0" rIns="0" bIns="0" rtlCol="0" anchor="t" anchorCtr="0">
            <a:noAutofit/>
          </a:bodyPr>
          <a:lstStyle/>
          <a:p>
            <a:r>
              <a:rPr lang="en-US" sz="2800">
                <a:solidFill>
                  <a:schemeClr val="tx2"/>
                </a:solidFill>
              </a:rPr>
              <a:t>Actuarial model transition from ALFA to AXIS</a:t>
            </a:r>
          </a:p>
        </p:txBody>
      </p:sp>
      <p:sp>
        <p:nvSpPr>
          <p:cNvPr id="25" name="TextBox 38">
            <a:extLst>
              <a:ext uri="{FF2B5EF4-FFF2-40B4-BE49-F238E27FC236}">
                <a16:creationId xmlns:a16="http://schemas.microsoft.com/office/drawing/2014/main" id="{4F5F76F4-2503-48BF-8DCF-410732C9A0AF}"/>
              </a:ext>
            </a:extLst>
          </p:cNvPr>
          <p:cNvSpPr txBox="1"/>
          <p:nvPr/>
        </p:nvSpPr>
        <p:spPr>
          <a:xfrm>
            <a:off x="2748053" y="3619877"/>
            <a:ext cx="2080518" cy="453399"/>
          </a:xfrm>
          <a:prstGeom prst="rect">
            <a:avLst/>
          </a:prstGeom>
          <a:solidFill>
            <a:schemeClr val="bg1">
              <a:lumMod val="65000"/>
            </a:schemeClr>
          </a:solidFill>
          <a:ln>
            <a:solidFill>
              <a:schemeClr val="bg2"/>
            </a:solidFill>
          </a:ln>
        </p:spPr>
        <p:txBody>
          <a:bodyPr wrap="square" lIns="182880" tIns="91440" rIns="182880" bIns="9144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00050" rtl="0" eaLnBrk="1" fontAlgn="auto" latinLnBrk="0" hangingPunct="1">
              <a:lnSpc>
                <a:spcPct val="90000"/>
              </a:lnSpc>
              <a:spcBef>
                <a:spcPct val="0"/>
              </a:spcBef>
              <a:spcAft>
                <a:spcPct val="35000"/>
              </a:spcAft>
              <a:buClrTx/>
              <a:buSzTx/>
              <a:buFontTx/>
              <a:buNone/>
              <a:tabLst/>
              <a:defRPr/>
            </a:pPr>
            <a:r>
              <a:rPr kumimoji="0" lang="en-IN" sz="1400" b="1" i="0" u="none" strike="noStrike" kern="1200" cap="none" spc="0" normalizeH="0" baseline="0" noProof="0">
                <a:ln>
                  <a:noFill/>
                </a:ln>
                <a:solidFill>
                  <a:prstClr val="white"/>
                </a:solidFill>
                <a:effectLst/>
                <a:uLnTx/>
                <a:uFillTx/>
                <a:latin typeface="Calibri" panose="020F0502020204030204"/>
                <a:ea typeface="+mn-ea"/>
                <a:cs typeface="+mn-cs"/>
              </a:rPr>
              <a:t>Validate Model Spec</a:t>
            </a:r>
            <a:endParaRPr kumimoji="0" lang="en-US" sz="1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7" name="TextBox 38">
            <a:extLst>
              <a:ext uri="{FF2B5EF4-FFF2-40B4-BE49-F238E27FC236}">
                <a16:creationId xmlns:a16="http://schemas.microsoft.com/office/drawing/2014/main" id="{D5C515C0-7459-483C-AA30-65B119E693BB}"/>
              </a:ext>
            </a:extLst>
          </p:cNvPr>
          <p:cNvSpPr txBox="1"/>
          <p:nvPr/>
        </p:nvSpPr>
        <p:spPr>
          <a:xfrm>
            <a:off x="5038906" y="3617094"/>
            <a:ext cx="2080518" cy="453399"/>
          </a:xfrm>
          <a:prstGeom prst="rect">
            <a:avLst/>
          </a:prstGeom>
          <a:solidFill>
            <a:schemeClr val="bg1">
              <a:lumMod val="65000"/>
            </a:schemeClr>
          </a:solidFill>
          <a:ln>
            <a:solidFill>
              <a:schemeClr val="bg2"/>
            </a:solidFill>
          </a:ln>
        </p:spPr>
        <p:txBody>
          <a:bodyPr wrap="square" lIns="182880" tIns="91440" rIns="182880" bIns="9144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00050" rtl="0" eaLnBrk="1" fontAlgn="auto" latinLnBrk="0" hangingPunct="1">
              <a:lnSpc>
                <a:spcPct val="90000"/>
              </a:lnSpc>
              <a:spcBef>
                <a:spcPct val="0"/>
              </a:spcBef>
              <a:spcAft>
                <a:spcPct val="35000"/>
              </a:spcAft>
              <a:buClrTx/>
              <a:buSzTx/>
              <a:buFontTx/>
              <a:buNone/>
              <a:tabLst/>
              <a:defRPr/>
            </a:pPr>
            <a:r>
              <a:rPr kumimoji="0" lang="en-IN" sz="1400" b="1" i="0" u="none" strike="noStrike" kern="1200" cap="none" spc="0" normalizeH="0" baseline="0" noProof="0">
                <a:ln>
                  <a:noFill/>
                </a:ln>
                <a:solidFill>
                  <a:prstClr val="white"/>
                </a:solidFill>
                <a:effectLst/>
                <a:uLnTx/>
                <a:uFillTx/>
                <a:latin typeface="Calibri" panose="020F0502020204030204"/>
                <a:ea typeface="+mn-ea"/>
                <a:cs typeface="+mn-cs"/>
              </a:rPr>
              <a:t>Document Modelling Gaps </a:t>
            </a:r>
            <a:endParaRPr kumimoji="0" lang="en-US" sz="1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9" name="TextBox 38">
            <a:extLst>
              <a:ext uri="{FF2B5EF4-FFF2-40B4-BE49-F238E27FC236}">
                <a16:creationId xmlns:a16="http://schemas.microsoft.com/office/drawing/2014/main" id="{3E927973-85FC-481E-96B9-4BA64AC3066F}"/>
              </a:ext>
            </a:extLst>
          </p:cNvPr>
          <p:cNvSpPr txBox="1"/>
          <p:nvPr/>
        </p:nvSpPr>
        <p:spPr>
          <a:xfrm>
            <a:off x="7363431" y="3623548"/>
            <a:ext cx="2080518" cy="453399"/>
          </a:xfrm>
          <a:prstGeom prst="rect">
            <a:avLst/>
          </a:prstGeom>
          <a:solidFill>
            <a:schemeClr val="bg1">
              <a:lumMod val="65000"/>
            </a:schemeClr>
          </a:solidFill>
          <a:ln>
            <a:solidFill>
              <a:schemeClr val="bg2"/>
            </a:solidFill>
          </a:ln>
        </p:spPr>
        <p:txBody>
          <a:bodyPr wrap="square" lIns="182880" tIns="91440" rIns="182880" bIns="9144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00050" rtl="0" eaLnBrk="1" fontAlgn="auto" latinLnBrk="0" hangingPunct="1">
              <a:lnSpc>
                <a:spcPct val="90000"/>
              </a:lnSpc>
              <a:spcBef>
                <a:spcPct val="0"/>
              </a:spcBef>
              <a:spcAft>
                <a:spcPct val="35000"/>
              </a:spcAft>
              <a:buClrTx/>
              <a:buSzTx/>
              <a:buFontTx/>
              <a:buNone/>
              <a:tabLst/>
              <a:defRPr/>
            </a:pPr>
            <a:r>
              <a:rPr kumimoji="0" lang="en-IN" sz="1400" b="1" i="0" u="none" strike="noStrike" kern="1200" cap="none" spc="0" normalizeH="0" baseline="0" noProof="0">
                <a:ln>
                  <a:noFill/>
                </a:ln>
                <a:solidFill>
                  <a:prstClr val="white"/>
                </a:solidFill>
                <a:effectLst/>
                <a:uLnTx/>
                <a:uFillTx/>
                <a:latin typeface="Calibri" panose="020F0502020204030204"/>
                <a:ea typeface="+mn-ea"/>
                <a:cs typeface="+mn-cs"/>
              </a:rPr>
              <a:t>Validate Excel Output</a:t>
            </a:r>
            <a:endParaRPr kumimoji="0" lang="en-US" sz="14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0" name="TextBox 38">
            <a:extLst>
              <a:ext uri="{FF2B5EF4-FFF2-40B4-BE49-F238E27FC236}">
                <a16:creationId xmlns:a16="http://schemas.microsoft.com/office/drawing/2014/main" id="{E79D74A7-23C5-4EC4-889B-65468F5D3C18}"/>
              </a:ext>
            </a:extLst>
          </p:cNvPr>
          <p:cNvSpPr txBox="1"/>
          <p:nvPr/>
        </p:nvSpPr>
        <p:spPr>
          <a:xfrm>
            <a:off x="9653995" y="3611530"/>
            <a:ext cx="2080518" cy="453399"/>
          </a:xfrm>
          <a:prstGeom prst="rect">
            <a:avLst/>
          </a:prstGeom>
          <a:solidFill>
            <a:schemeClr val="bg1">
              <a:lumMod val="65000"/>
            </a:schemeClr>
          </a:solidFill>
          <a:ln>
            <a:solidFill>
              <a:schemeClr val="bg2"/>
            </a:solidFill>
          </a:ln>
        </p:spPr>
        <p:txBody>
          <a:bodyPr wrap="square" lIns="182880" tIns="91440" rIns="182880" bIns="9144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622300">
              <a:lnSpc>
                <a:spcPct val="90000"/>
              </a:lnSpc>
              <a:spcBef>
                <a:spcPct val="0"/>
              </a:spcBef>
              <a:spcAft>
                <a:spcPct val="35000"/>
              </a:spcAft>
              <a:defRPr/>
            </a:pPr>
            <a:r>
              <a:rPr lang="en-IN" sz="1400" b="1">
                <a:solidFill>
                  <a:prstClr val="white"/>
                </a:solidFill>
              </a:rPr>
              <a:t>Communication</a:t>
            </a:r>
          </a:p>
        </p:txBody>
      </p:sp>
      <p:sp>
        <p:nvSpPr>
          <p:cNvPr id="31" name="Rectangle 30">
            <a:extLst>
              <a:ext uri="{FF2B5EF4-FFF2-40B4-BE49-F238E27FC236}">
                <a16:creationId xmlns:a16="http://schemas.microsoft.com/office/drawing/2014/main" id="{368549A9-7B1E-4334-BEB4-615FA03FC5CE}"/>
              </a:ext>
            </a:extLst>
          </p:cNvPr>
          <p:cNvSpPr/>
          <p:nvPr/>
        </p:nvSpPr>
        <p:spPr>
          <a:xfrm>
            <a:off x="2748053" y="4129497"/>
            <a:ext cx="2046848" cy="1442270"/>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4300" marR="0" lvl="1" indent="-114300" algn="l" defTabSz="622300" rtl="0" eaLnBrk="1" fontAlgn="auto" latinLnBrk="0" hangingPunct="1">
              <a:lnSpc>
                <a:spcPct val="90000"/>
              </a:lnSpc>
              <a:spcBef>
                <a:spcPct val="0"/>
              </a:spcBef>
              <a:spcAft>
                <a:spcPct val="15000"/>
              </a:spcAft>
              <a:buClrTx/>
              <a:buSzTx/>
              <a:buFontTx/>
              <a:buChar char="•"/>
              <a:tabLst/>
              <a:defRPr/>
            </a:pPr>
            <a:r>
              <a:rPr lang="en-IN" sz="1200">
                <a:solidFill>
                  <a:prstClr val="black">
                    <a:hueOff val="0"/>
                    <a:satOff val="0"/>
                    <a:lumOff val="0"/>
                    <a:alphaOff val="0"/>
                  </a:prstClr>
                </a:solidFill>
                <a:latin typeface="Calibri" panose="020F0502020204030204"/>
              </a:rPr>
              <a:t>As the project involved modelling multiple product with varied features, exhaustive validation was performed to ensure each feature is captured in both Axis &amp; excel validation model.</a:t>
            </a:r>
          </a:p>
        </p:txBody>
      </p:sp>
      <p:sp>
        <p:nvSpPr>
          <p:cNvPr id="32" name="Isosceles Triangle 31">
            <a:extLst>
              <a:ext uri="{FF2B5EF4-FFF2-40B4-BE49-F238E27FC236}">
                <a16:creationId xmlns:a16="http://schemas.microsoft.com/office/drawing/2014/main" id="{5F5FB4B9-687A-40BF-A289-17BE845C1D61}"/>
              </a:ext>
            </a:extLst>
          </p:cNvPr>
          <p:cNvSpPr/>
          <p:nvPr/>
        </p:nvSpPr>
        <p:spPr>
          <a:xfrm rot="5400000">
            <a:off x="4430330" y="4714538"/>
            <a:ext cx="1019048" cy="183841"/>
          </a:xfrm>
          <a:prstGeom prst="triangle">
            <a:avLst>
              <a:gd name="adj" fmla="val 51179"/>
            </a:avLst>
          </a:prstGeom>
          <a:solidFill>
            <a:schemeClr val="accent6">
              <a:lumMod val="90000"/>
            </a:schemeClr>
          </a:solidFill>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3" name="Isosceles Triangle 32">
            <a:extLst>
              <a:ext uri="{FF2B5EF4-FFF2-40B4-BE49-F238E27FC236}">
                <a16:creationId xmlns:a16="http://schemas.microsoft.com/office/drawing/2014/main" id="{BCB9AC40-6302-4BDB-ACBF-D5D35D14813D}"/>
              </a:ext>
            </a:extLst>
          </p:cNvPr>
          <p:cNvSpPr/>
          <p:nvPr/>
        </p:nvSpPr>
        <p:spPr>
          <a:xfrm rot="5400000">
            <a:off x="9045411" y="4711305"/>
            <a:ext cx="1019048" cy="183841"/>
          </a:xfrm>
          <a:prstGeom prst="triangle">
            <a:avLst>
              <a:gd name="adj" fmla="val 51179"/>
            </a:avLst>
          </a:prstGeom>
          <a:solidFill>
            <a:schemeClr val="accent6">
              <a:lumMod val="90000"/>
            </a:schemeClr>
          </a:solidFill>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4" name="Isosceles Triangle 33">
            <a:extLst>
              <a:ext uri="{FF2B5EF4-FFF2-40B4-BE49-F238E27FC236}">
                <a16:creationId xmlns:a16="http://schemas.microsoft.com/office/drawing/2014/main" id="{12AA2448-966F-4944-8C44-AA2E8B6896E7}"/>
              </a:ext>
            </a:extLst>
          </p:cNvPr>
          <p:cNvSpPr/>
          <p:nvPr/>
        </p:nvSpPr>
        <p:spPr>
          <a:xfrm rot="5400000">
            <a:off x="6728673" y="4711304"/>
            <a:ext cx="1019048" cy="183841"/>
          </a:xfrm>
          <a:prstGeom prst="triangle">
            <a:avLst>
              <a:gd name="adj" fmla="val 51179"/>
            </a:avLst>
          </a:prstGeom>
          <a:solidFill>
            <a:schemeClr val="accent6">
              <a:lumMod val="90000"/>
            </a:schemeClr>
          </a:solidFill>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9" name="Rectangle 38">
            <a:extLst>
              <a:ext uri="{FF2B5EF4-FFF2-40B4-BE49-F238E27FC236}">
                <a16:creationId xmlns:a16="http://schemas.microsoft.com/office/drawing/2014/main" id="{981CCD1D-9927-473E-A6BD-A23AE8C1C59F}"/>
              </a:ext>
            </a:extLst>
          </p:cNvPr>
          <p:cNvSpPr/>
          <p:nvPr/>
        </p:nvSpPr>
        <p:spPr>
          <a:xfrm>
            <a:off x="5038906" y="4192235"/>
            <a:ext cx="2080518" cy="1379531"/>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4300" marR="0" lvl="1" indent="-114300" algn="l" defTabSz="622300" rtl="0" eaLnBrk="1" fontAlgn="auto" latinLnBrk="0" hangingPunct="1">
              <a:lnSpc>
                <a:spcPct val="90000"/>
              </a:lnSpc>
              <a:spcBef>
                <a:spcPct val="0"/>
              </a:spcBef>
              <a:spcAft>
                <a:spcPct val="15000"/>
              </a:spcAft>
              <a:buClrTx/>
              <a:buSzTx/>
              <a:buFontTx/>
              <a:buChar char="•"/>
              <a:tabLst/>
              <a:defRPr/>
            </a:pPr>
            <a:r>
              <a:rPr lang="en-IN" sz="1200">
                <a:solidFill>
                  <a:prstClr val="black">
                    <a:hueOff val="0"/>
                    <a:satOff val="0"/>
                    <a:lumOff val="0"/>
                    <a:alphaOff val="0"/>
                  </a:prstClr>
                </a:solidFill>
                <a:latin typeface="Calibri" panose="020F0502020204030204"/>
              </a:rPr>
              <a:t>BRD was updated with audit findings and identified  gaps along with resolutions, full book impact analysis of transformation was also documented. </a:t>
            </a:r>
          </a:p>
        </p:txBody>
      </p:sp>
      <p:sp>
        <p:nvSpPr>
          <p:cNvPr id="40" name="Rectangle 39">
            <a:extLst>
              <a:ext uri="{FF2B5EF4-FFF2-40B4-BE49-F238E27FC236}">
                <a16:creationId xmlns:a16="http://schemas.microsoft.com/office/drawing/2014/main" id="{DC5FFF2F-5746-48ED-A397-E8F8D3D2C5F7}"/>
              </a:ext>
            </a:extLst>
          </p:cNvPr>
          <p:cNvSpPr/>
          <p:nvPr/>
        </p:nvSpPr>
        <p:spPr>
          <a:xfrm>
            <a:off x="7363429" y="4192236"/>
            <a:ext cx="2080518" cy="1379530"/>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4300" marR="0" lvl="1" indent="-114300" algn="l" defTabSz="622300" rtl="0" eaLnBrk="1" fontAlgn="auto" latinLnBrk="0" hangingPunct="1">
              <a:lnSpc>
                <a:spcPct val="90000"/>
              </a:lnSpc>
              <a:spcBef>
                <a:spcPct val="0"/>
              </a:spcBef>
              <a:spcAft>
                <a:spcPct val="15000"/>
              </a:spcAft>
              <a:buClrTx/>
              <a:buSzTx/>
              <a:buFontTx/>
              <a:buChar char="•"/>
              <a:tabLst/>
              <a:defRPr/>
            </a:pPr>
            <a:r>
              <a:rPr lang="en-IN" sz="1200">
                <a:solidFill>
                  <a:prstClr val="black">
                    <a:hueOff val="0"/>
                    <a:satOff val="0"/>
                    <a:lumOff val="0"/>
                    <a:alphaOff val="0"/>
                  </a:prstClr>
                </a:solidFill>
                <a:latin typeface="Calibri" panose="020F0502020204030204"/>
              </a:rPr>
              <a:t>Excel Validation model was tested for individual policies capturing all products/product features.</a:t>
            </a:r>
          </a:p>
          <a:p>
            <a:pPr marL="114300" marR="0" lvl="1" indent="-114300" algn="l" defTabSz="622300" rtl="0" eaLnBrk="1" fontAlgn="auto" latinLnBrk="0" hangingPunct="1">
              <a:lnSpc>
                <a:spcPct val="90000"/>
              </a:lnSpc>
              <a:spcBef>
                <a:spcPct val="0"/>
              </a:spcBef>
              <a:spcAft>
                <a:spcPct val="15000"/>
              </a:spcAft>
              <a:buClrTx/>
              <a:buSzTx/>
              <a:buFontTx/>
              <a:buChar char="•"/>
              <a:tabLst/>
              <a:defRPr/>
            </a:pPr>
            <a:r>
              <a:rPr lang="en-IN" sz="1200">
                <a:solidFill>
                  <a:prstClr val="black">
                    <a:hueOff val="0"/>
                    <a:satOff val="0"/>
                    <a:lumOff val="0"/>
                    <a:alphaOff val="0"/>
                  </a:prstClr>
                </a:solidFill>
                <a:latin typeface="Calibri" panose="020F0502020204030204"/>
              </a:rPr>
              <a:t>Variations were corrected &amp; documented in BRD.</a:t>
            </a:r>
          </a:p>
        </p:txBody>
      </p:sp>
      <p:sp>
        <p:nvSpPr>
          <p:cNvPr id="41" name="Rectangle 40">
            <a:extLst>
              <a:ext uri="{FF2B5EF4-FFF2-40B4-BE49-F238E27FC236}">
                <a16:creationId xmlns:a16="http://schemas.microsoft.com/office/drawing/2014/main" id="{67D4F0BB-8AC1-45C8-866A-9BBB11B14118}"/>
              </a:ext>
            </a:extLst>
          </p:cNvPr>
          <p:cNvSpPr/>
          <p:nvPr/>
        </p:nvSpPr>
        <p:spPr>
          <a:xfrm>
            <a:off x="9653995" y="4192236"/>
            <a:ext cx="2080518" cy="1379530"/>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4300" marR="0" lvl="1" indent="-114300" algn="l" defTabSz="622300" rtl="0" eaLnBrk="1" fontAlgn="auto" latinLnBrk="0" hangingPunct="1">
              <a:lnSpc>
                <a:spcPct val="90000"/>
              </a:lnSpc>
              <a:spcBef>
                <a:spcPct val="0"/>
              </a:spcBef>
              <a:spcAft>
                <a:spcPct val="15000"/>
              </a:spcAft>
              <a:buClrTx/>
              <a:buSzTx/>
              <a:buFontTx/>
              <a:buChar char="•"/>
              <a:tabLst/>
              <a:defRPr/>
            </a:pPr>
            <a:r>
              <a:rPr lang="en-IN" sz="1200">
                <a:solidFill>
                  <a:prstClr val="black">
                    <a:hueOff val="0"/>
                    <a:satOff val="0"/>
                    <a:lumOff val="0"/>
                    <a:alphaOff val="0"/>
                  </a:prstClr>
                </a:solidFill>
                <a:latin typeface="Calibri" panose="020F0502020204030204"/>
              </a:rPr>
              <a:t>Stakeholder communication was ensured to be timely &amp; efficient. Sign Offs on understanding, solutions &amp; findings were taken.</a:t>
            </a:r>
          </a:p>
        </p:txBody>
      </p:sp>
      <p:sp>
        <p:nvSpPr>
          <p:cNvPr id="50" name="Rectangle 49">
            <a:extLst>
              <a:ext uri="{FF2B5EF4-FFF2-40B4-BE49-F238E27FC236}">
                <a16:creationId xmlns:a16="http://schemas.microsoft.com/office/drawing/2014/main" id="{40446001-5A8F-4104-89B6-F21251511791}"/>
              </a:ext>
            </a:extLst>
          </p:cNvPr>
          <p:cNvSpPr/>
          <p:nvPr/>
        </p:nvSpPr>
        <p:spPr>
          <a:xfrm>
            <a:off x="672768" y="5711758"/>
            <a:ext cx="1700562" cy="384106"/>
          </a:xfrm>
          <a:prstGeom prst="rect">
            <a:avLst/>
          </a:prstGeom>
          <a:solidFill>
            <a:srgbClr val="005071"/>
          </a:solidFill>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90000"/>
              </a:lnSpc>
              <a:spcBef>
                <a:spcPct val="0"/>
              </a:spcBef>
              <a:spcAft>
                <a:spcPct val="35000"/>
              </a:spcAft>
              <a:buClrTx/>
              <a:buSzTx/>
              <a:buFontTx/>
              <a:buNone/>
              <a:tabLst/>
              <a:defRPr/>
            </a:pPr>
            <a:r>
              <a:rPr kumimoji="0" lang="en-US" sz="1050" b="1" i="0" u="none" strike="noStrike" kern="1200" cap="none" spc="0" normalizeH="0" baseline="0" noProof="0">
                <a:ln>
                  <a:noFill/>
                </a:ln>
                <a:solidFill>
                  <a:schemeClr val="bg1"/>
                </a:solidFill>
                <a:effectLst/>
                <a:uLnTx/>
                <a:uFillTx/>
                <a:latin typeface="Arial"/>
                <a:ea typeface="+mn-ea"/>
                <a:cs typeface="+mn-cs"/>
              </a:rPr>
              <a:t>Value Delivered</a:t>
            </a:r>
          </a:p>
        </p:txBody>
      </p:sp>
      <p:sp>
        <p:nvSpPr>
          <p:cNvPr id="52" name="Rectangle 51">
            <a:extLst>
              <a:ext uri="{FF2B5EF4-FFF2-40B4-BE49-F238E27FC236}">
                <a16:creationId xmlns:a16="http://schemas.microsoft.com/office/drawing/2014/main" id="{522F65F8-DA4C-49B6-BA4C-98B4A5A6B5B0}"/>
              </a:ext>
            </a:extLst>
          </p:cNvPr>
          <p:cNvSpPr/>
          <p:nvPr/>
        </p:nvSpPr>
        <p:spPr>
          <a:xfrm>
            <a:off x="6267615" y="5722033"/>
            <a:ext cx="1700561" cy="384106"/>
          </a:xfrm>
          <a:prstGeom prst="rect">
            <a:avLst/>
          </a:prstGeom>
          <a:ln/>
        </p:spPr>
        <p:style>
          <a:lnRef idx="0">
            <a:schemeClr val="accent6"/>
          </a:lnRef>
          <a:fillRef idx="3">
            <a:schemeClr val="accent6"/>
          </a:fillRef>
          <a:effectRef idx="3">
            <a:schemeClr val="accent6"/>
          </a:effectRef>
          <a:fontRef idx="minor">
            <a:schemeClr val="lt1"/>
          </a:fontRef>
        </p:style>
        <p:txBody>
          <a:bodyPr rtlCol="0" anchor="ctr"/>
          <a:lstStyle/>
          <a:p>
            <a:pPr lvl="0" algn="ctr">
              <a:lnSpc>
                <a:spcPct val="90000"/>
              </a:lnSpc>
              <a:spcBef>
                <a:spcPct val="0"/>
              </a:spcBef>
              <a:spcAft>
                <a:spcPct val="35000"/>
              </a:spcAft>
              <a:defRPr/>
            </a:pPr>
            <a:r>
              <a:rPr lang="en-US" sz="1050" b="1">
                <a:solidFill>
                  <a:schemeClr val="tx1"/>
                </a:solidFill>
                <a:latin typeface="Arial"/>
              </a:rPr>
              <a:t>Auditable Process Setup</a:t>
            </a:r>
          </a:p>
        </p:txBody>
      </p:sp>
      <p:sp>
        <p:nvSpPr>
          <p:cNvPr id="53" name="TextBox 52">
            <a:extLst>
              <a:ext uri="{FF2B5EF4-FFF2-40B4-BE49-F238E27FC236}">
                <a16:creationId xmlns:a16="http://schemas.microsoft.com/office/drawing/2014/main" id="{F438CEF5-839B-4FF4-8059-DEF8F44908A5}"/>
              </a:ext>
            </a:extLst>
          </p:cNvPr>
          <p:cNvSpPr txBox="1"/>
          <p:nvPr/>
        </p:nvSpPr>
        <p:spPr>
          <a:xfrm>
            <a:off x="8020604" y="1713734"/>
            <a:ext cx="3713909" cy="1461951"/>
          </a:xfrm>
          <a:prstGeom prst="rect">
            <a:avLst/>
          </a:prstGeom>
          <a:ln/>
        </p:spPr>
        <p:style>
          <a:lnRef idx="3">
            <a:schemeClr val="lt1"/>
          </a:lnRef>
          <a:fillRef idx="1">
            <a:schemeClr val="accent6"/>
          </a:fillRef>
          <a:effectRef idx="1">
            <a:schemeClr val="accent6"/>
          </a:effectRef>
          <a:fontRef idx="minor">
            <a:schemeClr val="lt1"/>
          </a:fontRef>
        </p:style>
        <p:txBody>
          <a:bodyPr wrap="square" lIns="274320" tIns="0" rIns="91440" bIns="0" rtlCol="0" anchor="ctr">
            <a:noAutofit/>
          </a:bodyPr>
          <a:lstStyle/>
          <a:p>
            <a:pPr marL="285750" lvl="0" indent="-285750">
              <a:buFont typeface="Arial" panose="020B0604020202020204" pitchFamily="34" charset="0"/>
              <a:buChar char="•"/>
              <a:defRPr/>
            </a:pPr>
            <a:r>
              <a:rPr lang="en-US" sz="1100">
                <a:solidFill>
                  <a:prstClr val="black"/>
                </a:solidFill>
                <a:latin typeface="Arial" panose="020B0604020202020204" pitchFamily="34" charset="0"/>
                <a:cs typeface="Arial" panose="020B0604020202020204" pitchFamily="34" charset="0"/>
              </a:rPr>
              <a:t>Moody’s AXIS</a:t>
            </a:r>
          </a:p>
          <a:p>
            <a:pPr marL="285750" lvl="0" indent="-285750">
              <a:buFont typeface="Arial" panose="020B0604020202020204" pitchFamily="34" charset="0"/>
              <a:buChar char="•"/>
              <a:defRPr/>
            </a:pPr>
            <a:r>
              <a:rPr lang="en-US" sz="1100">
                <a:solidFill>
                  <a:prstClr val="black"/>
                </a:solidFill>
                <a:latin typeface="Arial" panose="020B0604020202020204" pitchFamily="34" charset="0"/>
                <a:cs typeface="Arial" panose="020B0604020202020204" pitchFamily="34" charset="0"/>
              </a:rPr>
              <a:t>MGALFA</a:t>
            </a:r>
          </a:p>
          <a:p>
            <a:pPr marL="285750" lvl="0" indent="-285750">
              <a:buFont typeface="Arial" panose="020B0604020202020204" pitchFamily="34" charset="0"/>
              <a:buChar char="•"/>
              <a:defRPr/>
            </a:pPr>
            <a:r>
              <a:rPr lang="en-US" sz="1100">
                <a:solidFill>
                  <a:prstClr val="black"/>
                </a:solidFill>
                <a:latin typeface="Arial" panose="020B0604020202020204" pitchFamily="34" charset="0"/>
                <a:cs typeface="Arial" panose="020B0604020202020204" pitchFamily="34" charset="0"/>
              </a:rPr>
              <a:t>MS-Excel</a:t>
            </a:r>
          </a:p>
          <a:p>
            <a:pPr marL="285750" lvl="0" indent="-285750">
              <a:buFont typeface="Arial" panose="020B0604020202020204" pitchFamily="34" charset="0"/>
              <a:buChar char="•"/>
              <a:defRPr/>
            </a:pPr>
            <a:r>
              <a:rPr lang="en-US" sz="1100">
                <a:solidFill>
                  <a:prstClr val="black"/>
                </a:solidFill>
                <a:latin typeface="Arial" panose="020B0604020202020204" pitchFamily="34" charset="0"/>
                <a:cs typeface="Arial" panose="020B0604020202020204" pitchFamily="34" charset="0"/>
              </a:rPr>
              <a:t>MS-Doc</a:t>
            </a:r>
          </a:p>
        </p:txBody>
      </p:sp>
      <p:sp>
        <p:nvSpPr>
          <p:cNvPr id="54" name="TextBox 53">
            <a:extLst>
              <a:ext uri="{FF2B5EF4-FFF2-40B4-BE49-F238E27FC236}">
                <a16:creationId xmlns:a16="http://schemas.microsoft.com/office/drawing/2014/main" id="{0F7DE9D5-4195-4067-85F1-5900BE5F997D}"/>
              </a:ext>
            </a:extLst>
          </p:cNvPr>
          <p:cNvSpPr txBox="1"/>
          <p:nvPr/>
        </p:nvSpPr>
        <p:spPr>
          <a:xfrm>
            <a:off x="8728958" y="1718322"/>
            <a:ext cx="2176366" cy="338554"/>
          </a:xfrm>
          <a:prstGeom prst="rect">
            <a:avLst/>
          </a:prstGeom>
          <a:noFill/>
        </p:spPr>
        <p:txBody>
          <a:bodyPr wrap="none" rtlCol="0">
            <a:spAutoFit/>
          </a:bodyPr>
          <a:lstStyle/>
          <a:p>
            <a:pPr marL="0" marR="0" lvl="0" indent="0" algn="ctr" defTabSz="914377" rtl="0" eaLnBrk="1" fontAlgn="auto" latinLnBrk="0" hangingPunct="1">
              <a:lnSpc>
                <a:spcPct val="100000"/>
              </a:lnSpc>
              <a:spcBef>
                <a:spcPts val="200"/>
              </a:spcBef>
              <a:spcAft>
                <a:spcPts val="0"/>
              </a:spcAft>
              <a:buClr>
                <a:srgbClr val="ED7D31"/>
              </a:buClr>
              <a:buSzPct val="70000"/>
              <a:buFontTx/>
              <a:buNone/>
              <a:tabLst/>
              <a:defRPr/>
            </a:pPr>
            <a:r>
              <a:rPr kumimoji="0" lang="en-US" sz="1600" b="1" i="0" u="none" strike="noStrike" kern="1200" cap="none" spc="0" normalizeH="0" baseline="0" noProof="0">
                <a:ln>
                  <a:noFill/>
                </a:ln>
                <a:solidFill>
                  <a:srgbClr val="FF6503"/>
                </a:solidFill>
                <a:effectLst/>
                <a:uLnTx/>
                <a:uFillTx/>
                <a:latin typeface="Arial"/>
                <a:ea typeface="+mn-ea"/>
                <a:cs typeface="+mn-cs"/>
              </a:rPr>
              <a:t>Software/Tools used</a:t>
            </a:r>
          </a:p>
        </p:txBody>
      </p:sp>
      <p:sp>
        <p:nvSpPr>
          <p:cNvPr id="7" name="TextBox 6">
            <a:extLst>
              <a:ext uri="{FF2B5EF4-FFF2-40B4-BE49-F238E27FC236}">
                <a16:creationId xmlns:a16="http://schemas.microsoft.com/office/drawing/2014/main" id="{E05C857C-B62D-4283-AAE9-4327060F93FB}"/>
              </a:ext>
            </a:extLst>
          </p:cNvPr>
          <p:cNvSpPr txBox="1"/>
          <p:nvPr/>
        </p:nvSpPr>
        <p:spPr>
          <a:xfrm>
            <a:off x="464854" y="6237467"/>
            <a:ext cx="5527876" cy="400110"/>
          </a:xfrm>
          <a:prstGeom prst="rect">
            <a:avLst/>
          </a:prstGeom>
          <a:noFill/>
        </p:spPr>
        <p:txBody>
          <a:bodyPr wrap="square" rtlCol="0">
            <a:spAutoFit/>
          </a:bodyPr>
          <a:lstStyle/>
          <a:p>
            <a:pPr marL="171450" indent="-171450">
              <a:buFont typeface="Arial" panose="020B0604020202020204" pitchFamily="34" charset="0"/>
              <a:buChar char="•"/>
            </a:pPr>
            <a:r>
              <a:rPr lang="en-US" sz="1000" i="1"/>
              <a:t>FA : Fixed Annuity </a:t>
            </a:r>
          </a:p>
          <a:p>
            <a:pPr marL="171450" indent="-171450">
              <a:buFont typeface="Arial" panose="020B0604020202020204" pitchFamily="34" charset="0"/>
              <a:buChar char="•"/>
            </a:pPr>
            <a:r>
              <a:rPr lang="en-US" sz="1000" i="1"/>
              <a:t>IVA : Indexed Variable Annuity</a:t>
            </a:r>
          </a:p>
        </p:txBody>
      </p:sp>
      <p:sp>
        <p:nvSpPr>
          <p:cNvPr id="4" name="Rectangle 3">
            <a:extLst>
              <a:ext uri="{FF2B5EF4-FFF2-40B4-BE49-F238E27FC236}">
                <a16:creationId xmlns:a16="http://schemas.microsoft.com/office/drawing/2014/main" id="{E0D39483-4918-E0E2-5AAA-D2FAF00C023B}"/>
              </a:ext>
            </a:extLst>
          </p:cNvPr>
          <p:cNvSpPr/>
          <p:nvPr/>
        </p:nvSpPr>
        <p:spPr>
          <a:xfrm>
            <a:off x="4378603" y="5722033"/>
            <a:ext cx="1700562" cy="384106"/>
          </a:xfrm>
          <a:prstGeom prst="rect">
            <a:avLst/>
          </a:prstGeom>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lumMod val="85000"/>
                    <a:lumOff val="15000"/>
                  </a:srgbClr>
                </a:solidFill>
                <a:effectLst/>
                <a:uLnTx/>
                <a:uFillTx/>
                <a:latin typeface="Arial"/>
                <a:ea typeface="+mn-ea"/>
                <a:cs typeface="+mn-cs"/>
              </a:rPr>
              <a:t>Domain Knowledge</a:t>
            </a:r>
          </a:p>
        </p:txBody>
      </p:sp>
    </p:spTree>
    <p:extLst>
      <p:ext uri="{BB962C8B-B14F-4D97-AF65-F5344CB8AC3E}">
        <p14:creationId xmlns:p14="http://schemas.microsoft.com/office/powerpoint/2010/main" val="1492747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19930AA-A355-72FF-92D9-8A55C53D2261}"/>
              </a:ext>
            </a:extLst>
          </p:cNvPr>
          <p:cNvSpPr>
            <a:spLocks noGrp="1"/>
          </p:cNvSpPr>
          <p:nvPr>
            <p:ph type="body" sz="quarter" idx="10"/>
          </p:nvPr>
        </p:nvSpPr>
        <p:spPr/>
        <p:txBody>
          <a:bodyPr vert="horz" lIns="0" tIns="0" rIns="0" bIns="0" rtlCol="0" anchor="t">
            <a:noAutofit/>
          </a:bodyPr>
          <a:lstStyle/>
          <a:p>
            <a:r>
              <a:rPr lang="en-US" sz="2400"/>
              <a:t>Case Example 1: Annuities valuation supports annuities products  valuation and its sub processes</a:t>
            </a:r>
          </a:p>
        </p:txBody>
      </p:sp>
      <p:sp>
        <p:nvSpPr>
          <p:cNvPr id="6" name="Rectangle 5">
            <a:extLst>
              <a:ext uri="{FF2B5EF4-FFF2-40B4-BE49-F238E27FC236}">
                <a16:creationId xmlns:a16="http://schemas.microsoft.com/office/drawing/2014/main" id="{91CE429C-F007-754A-DE17-F43C9D725E85}"/>
              </a:ext>
            </a:extLst>
          </p:cNvPr>
          <p:cNvSpPr/>
          <p:nvPr/>
        </p:nvSpPr>
        <p:spPr>
          <a:xfrm>
            <a:off x="468168" y="2758652"/>
            <a:ext cx="1132432" cy="3069238"/>
          </a:xfrm>
          <a:prstGeom prst="rect">
            <a:avLst/>
          </a:prstGeom>
          <a:noFill/>
          <a:ln w="6350" cap="flat" cmpd="sng" algn="ctr">
            <a:noFill/>
            <a:prstDash val="solid"/>
            <a:miter lim="800000"/>
          </a:ln>
          <a:effectLst/>
        </p:spPr>
        <p:txBody>
          <a:bodyPr lIns="0" tIns="0" rIns="0" bIns="0" rtlCol="0" anchor="t"/>
          <a:lstStyle/>
          <a:p>
            <a:pPr marL="0" marR="0" lvl="0" indent="0" defTabSz="914400">
              <a:lnSpc>
                <a:spcPct val="100000"/>
              </a:lnSpc>
              <a:spcBef>
                <a:spcPts val="0"/>
              </a:spcBef>
              <a:spcAft>
                <a:spcPts val="0"/>
              </a:spcAft>
              <a:buClrTx/>
              <a:buSzTx/>
              <a:buFontTx/>
              <a:buNone/>
              <a:tabLst/>
              <a:defRPr/>
            </a:pPr>
            <a:r>
              <a:rPr lang="en-US" sz="1200" b="1" kern="0">
                <a:solidFill>
                  <a:srgbClr val="000000">
                    <a:lumMod val="85000"/>
                    <a:lumOff val="15000"/>
                  </a:srgbClr>
                </a:solidFill>
                <a:cs typeface="Calibri"/>
              </a:rPr>
              <a:t>Assumptions</a:t>
            </a:r>
            <a:r>
              <a:rPr kumimoji="0" lang="en-US" sz="1200" b="1" i="0" u="none" strike="noStrike" kern="0" cap="none" spc="0" normalizeH="0" baseline="0" noProof="0">
                <a:ln>
                  <a:noFill/>
                </a:ln>
                <a:solidFill>
                  <a:srgbClr val="000000">
                    <a:lumMod val="85000"/>
                    <a:lumOff val="15000"/>
                  </a:srgbClr>
                </a:solidFill>
                <a:effectLst/>
                <a:uLnTx/>
                <a:uFillTx/>
                <a:ea typeface="+mn-ea"/>
                <a:cs typeface="Calibri"/>
              </a:rPr>
              <a:t> review </a:t>
            </a:r>
            <a:r>
              <a:rPr kumimoji="0" lang="en-US" sz="1200" b="0" i="0" u="none" strike="noStrike" kern="0" cap="none" spc="0" normalizeH="0" baseline="0" noProof="0">
                <a:ln>
                  <a:noFill/>
                </a:ln>
                <a:solidFill>
                  <a:srgbClr val="000000">
                    <a:lumMod val="85000"/>
                    <a:lumOff val="15000"/>
                  </a:srgbClr>
                </a:solidFill>
                <a:effectLst/>
                <a:uLnTx/>
                <a:uFillTx/>
                <a:ea typeface="+mn-ea"/>
                <a:cs typeface="Calibri"/>
              </a:rPr>
              <a:t>between Valuation Actuary &amp; Modelling Actuary</a:t>
            </a:r>
            <a:endParaRPr lang="en-US"/>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Some of the focus area are changes in swap rates, treasury rates, NPR spread and volatility  </a:t>
            </a:r>
          </a:p>
          <a:p>
            <a:pPr defTabSz="914400">
              <a:defRPr/>
            </a:pPr>
            <a:endParaRPr lang="en-US" sz="1200" kern="0">
              <a:solidFill>
                <a:srgbClr val="000000">
                  <a:lumMod val="85000"/>
                  <a:lumOff val="15000"/>
                </a:srgbClr>
              </a:solidFill>
              <a:ea typeface="Calibri"/>
              <a:cs typeface="Calibri" panose="020F0502020204030204" pitchFamily="34" charset="0"/>
            </a:endParaRPr>
          </a:p>
          <a:p>
            <a:pPr defTabSz="914400">
              <a:defRPr/>
            </a:pPr>
            <a:r>
              <a:rPr lang="en-US" sz="1200" b="1" kern="0">
                <a:solidFill>
                  <a:srgbClr val="000000">
                    <a:lumMod val="85000"/>
                    <a:lumOff val="15000"/>
                  </a:srgbClr>
                </a:solidFill>
                <a:ea typeface="Calibri"/>
                <a:cs typeface="Calibri"/>
              </a:rPr>
              <a:t>Cross team collaboration</a:t>
            </a:r>
            <a:r>
              <a:rPr lang="en-US" sz="1200" kern="0">
                <a:solidFill>
                  <a:srgbClr val="000000">
                    <a:lumMod val="85000"/>
                    <a:lumOff val="15000"/>
                  </a:srgbClr>
                </a:solidFill>
                <a:ea typeface="Calibri"/>
                <a:cs typeface="Calibri"/>
              </a:rPr>
              <a:t> b/w  </a:t>
            </a:r>
            <a:r>
              <a:rPr lang="en-US" sz="1200" kern="0" err="1">
                <a:solidFill>
                  <a:srgbClr val="000000">
                    <a:lumMod val="85000"/>
                    <a:lumOff val="15000"/>
                  </a:srgbClr>
                </a:solidFill>
                <a:ea typeface="Calibri"/>
                <a:cs typeface="Calibri"/>
              </a:rPr>
              <a:t>Modeling,</a:t>
            </a:r>
            <a:r>
              <a:rPr lang="en-US" sz="1200" kern="0">
                <a:solidFill>
                  <a:srgbClr val="000000">
                    <a:lumMod val="85000"/>
                    <a:lumOff val="15000"/>
                  </a:srgbClr>
                </a:solidFill>
                <a:ea typeface="Calibri"/>
                <a:cs typeface="Calibri"/>
              </a:rPr>
              <a:t> Valuation and Adim teams </a:t>
            </a:r>
            <a:endParaRPr lang="en-US" sz="1200" kern="0">
              <a:solidFill>
                <a:srgbClr val="000000">
                  <a:lumMod val="85000"/>
                  <a:lumOff val="15000"/>
                </a:srgbClr>
              </a:solidFill>
              <a:ea typeface="Calibri"/>
              <a:cs typeface="Calibri" panose="020F0502020204030204" pitchFamily="34" charset="0"/>
            </a:endParaRPr>
          </a:p>
        </p:txBody>
      </p:sp>
      <p:sp>
        <p:nvSpPr>
          <p:cNvPr id="7" name="Rectangle 6">
            <a:extLst>
              <a:ext uri="{FF2B5EF4-FFF2-40B4-BE49-F238E27FC236}">
                <a16:creationId xmlns:a16="http://schemas.microsoft.com/office/drawing/2014/main" id="{CA6B9915-62D0-40DB-4311-DEA0928A8DE7}"/>
              </a:ext>
            </a:extLst>
          </p:cNvPr>
          <p:cNvSpPr/>
          <p:nvPr/>
        </p:nvSpPr>
        <p:spPr>
          <a:xfrm>
            <a:off x="1906750" y="2758652"/>
            <a:ext cx="1253577" cy="3290731"/>
          </a:xfrm>
          <a:prstGeom prst="rect">
            <a:avLst/>
          </a:prstGeom>
          <a:noFill/>
          <a:ln w="6350" cap="flat" cmpd="sng" algn="ctr">
            <a:noFill/>
            <a:prstDash val="solid"/>
            <a:miter lim="800000"/>
          </a:ln>
          <a:effectLst/>
        </p:spPr>
        <p:txBody>
          <a:bodyPr lIns="0" tIns="0" rIns="0" bIns="0" rtlCol="0" anchor="t"/>
          <a:lstStyle/>
          <a:p>
            <a:pPr defTabSz="914400">
              <a:defRPr/>
            </a:pPr>
            <a:r>
              <a:rPr lang="en-US" sz="1200" b="1" kern="0">
                <a:solidFill>
                  <a:srgbClr val="000000">
                    <a:lumMod val="85000"/>
                    <a:lumOff val="15000"/>
                  </a:srgbClr>
                </a:solidFill>
                <a:cs typeface="Calibri"/>
              </a:rPr>
              <a:t>Reconciliation</a:t>
            </a:r>
            <a:r>
              <a:rPr kumimoji="0" lang="en-US" sz="1200" b="1" i="0" u="none" strike="noStrike" kern="0" cap="none" spc="0" normalizeH="0" baseline="0" noProof="0">
                <a:ln>
                  <a:noFill/>
                </a:ln>
                <a:solidFill>
                  <a:srgbClr val="000000">
                    <a:lumMod val="85000"/>
                    <a:lumOff val="15000"/>
                  </a:srgbClr>
                </a:solidFill>
                <a:effectLst/>
                <a:uLnTx/>
                <a:uFillTx/>
                <a:ea typeface="+mn-ea"/>
                <a:cs typeface="Calibri"/>
              </a:rPr>
              <a:t> </a:t>
            </a:r>
            <a:r>
              <a:rPr kumimoji="0" lang="en-US" sz="1200" b="0" i="0" u="none" strike="noStrike" kern="0" cap="none" spc="0" normalizeH="0" baseline="0" noProof="0">
                <a:ln>
                  <a:noFill/>
                </a:ln>
                <a:solidFill>
                  <a:srgbClr val="000000">
                    <a:lumMod val="85000"/>
                    <a:lumOff val="15000"/>
                  </a:srgbClr>
                </a:solidFill>
                <a:effectLst/>
                <a:uLnTx/>
                <a:uFillTx/>
                <a:ea typeface="+mn-ea"/>
                <a:cs typeface="Calibri"/>
              </a:rPr>
              <a:t>(comparison between different data sources)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Quality checks </a:t>
            </a:r>
            <a:r>
              <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 anomalies, demographic and financial changes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Reporting </a:t>
            </a:r>
            <a:r>
              <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of any missing/additional data </a:t>
            </a:r>
            <a:endParaRPr kumimoji="0" lang="en-US" sz="1200" b="1"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endParaRPr>
          </a:p>
          <a:p>
            <a:pPr marL="0" marR="0" lvl="0" indent="0" defTabSz="914400">
              <a:lnSpc>
                <a:spcPct val="100000"/>
              </a:lnSpc>
              <a:spcBef>
                <a:spcPts val="0"/>
              </a:spcBef>
              <a:spcAft>
                <a:spcPts val="0"/>
              </a:spcAft>
              <a:buClrTx/>
              <a:buSzTx/>
              <a:buFontTx/>
              <a:buNone/>
              <a:tabLst/>
              <a:defRPr/>
            </a:pPr>
            <a:endParaRPr lang="en-US" sz="1200" b="0" i="0" u="none" strike="noStrike" kern="0" cap="none" spc="0" normalizeH="0" baseline="0" noProof="0">
              <a:ln>
                <a:noFill/>
              </a:ln>
              <a:solidFill>
                <a:srgbClr val="000000">
                  <a:lumMod val="85000"/>
                  <a:lumOff val="15000"/>
                </a:srgbClr>
              </a:solidFill>
              <a:effectLst/>
              <a:uLnTx/>
              <a:uFillTx/>
              <a:ea typeface="Calibri"/>
              <a:cs typeface="Calibri" panose="020F0502020204030204" pitchFamily="34" charset="0"/>
            </a:endParaRPr>
          </a:p>
          <a:p>
            <a:pPr defTabSz="914400">
              <a:defRPr/>
            </a:pPr>
            <a:r>
              <a:rPr lang="en-US" sz="1200" b="1" kern="0">
                <a:solidFill>
                  <a:srgbClr val="000000">
                    <a:lumMod val="85000"/>
                    <a:lumOff val="15000"/>
                  </a:srgbClr>
                </a:solidFill>
                <a:ea typeface="Calibri" panose="020F0502020204030204"/>
                <a:cs typeface="Calibri"/>
              </a:rPr>
              <a:t>Dataiku runs</a:t>
            </a:r>
            <a:r>
              <a:rPr lang="en-US" sz="1200" kern="0">
                <a:solidFill>
                  <a:srgbClr val="000000">
                    <a:lumMod val="85000"/>
                    <a:lumOff val="15000"/>
                  </a:srgbClr>
                </a:solidFill>
                <a:ea typeface="Calibri" panose="020F0502020204030204"/>
                <a:cs typeface="Calibri"/>
              </a:rPr>
              <a:t> to prepare the </a:t>
            </a:r>
            <a:r>
              <a:rPr lang="en-US" sz="1200" kern="0" err="1">
                <a:solidFill>
                  <a:srgbClr val="000000">
                    <a:lumMod val="85000"/>
                    <a:lumOff val="15000"/>
                  </a:srgbClr>
                </a:solidFill>
                <a:ea typeface="Calibri" panose="020F0502020204030204"/>
                <a:cs typeface="Calibri"/>
              </a:rPr>
              <a:t>inforce</a:t>
            </a:r>
            <a:endParaRPr lang="en-US" sz="1200" kern="0" err="1">
              <a:solidFill>
                <a:srgbClr val="000000">
                  <a:lumMod val="85000"/>
                  <a:lumOff val="15000"/>
                </a:srgbClr>
              </a:solidFill>
              <a:ea typeface="Calibri" panose="020F0502020204030204"/>
              <a:cs typeface="Calibri" panose="020F0502020204030204" pitchFamily="34" charset="0"/>
            </a:endParaRPr>
          </a:p>
          <a:p>
            <a:pPr defTabSz="914400">
              <a:defRPr/>
            </a:pPr>
            <a:endParaRPr lang="en-US" sz="1200" kern="0">
              <a:solidFill>
                <a:srgbClr val="000000">
                  <a:lumMod val="85000"/>
                  <a:lumOff val="15000"/>
                </a:srgbClr>
              </a:solidFill>
              <a:ea typeface="Calibri" panose="020F0502020204030204"/>
              <a:cs typeface="Calibri" panose="020F0502020204030204" pitchFamily="34" charset="0"/>
            </a:endParaRPr>
          </a:p>
        </p:txBody>
      </p:sp>
      <p:sp>
        <p:nvSpPr>
          <p:cNvPr id="8" name="Rectangle 7">
            <a:extLst>
              <a:ext uri="{FF2B5EF4-FFF2-40B4-BE49-F238E27FC236}">
                <a16:creationId xmlns:a16="http://schemas.microsoft.com/office/drawing/2014/main" id="{618D5450-DDB9-4849-6810-D35395D2B509}"/>
              </a:ext>
            </a:extLst>
          </p:cNvPr>
          <p:cNvSpPr/>
          <p:nvPr/>
        </p:nvSpPr>
        <p:spPr>
          <a:xfrm>
            <a:off x="3476184" y="2758652"/>
            <a:ext cx="1123093" cy="3291129"/>
          </a:xfrm>
          <a:prstGeom prst="rect">
            <a:avLst/>
          </a:prstGeom>
          <a:noFill/>
          <a:ln w="6350" cap="flat" cmpd="sng" algn="ctr">
            <a:noFill/>
            <a:prstDash val="solid"/>
            <a:miter lim="800000"/>
          </a:ln>
          <a:effectLst/>
        </p:spPr>
        <p:txBody>
          <a:bodyPr lIns="0" tIns="0" rIns="0" bIns="0" rtlCol="0" anchor="t"/>
          <a:lstStyle/>
          <a:p>
            <a:pPr defTabSz="914400">
              <a:defRPr/>
            </a:pPr>
            <a:r>
              <a:rPr lang="en-US" sz="1200" b="1" kern="0">
                <a:solidFill>
                  <a:srgbClr val="000000">
                    <a:lumMod val="85000"/>
                    <a:lumOff val="15000"/>
                  </a:srgbClr>
                </a:solidFill>
                <a:cs typeface="Calibri"/>
              </a:rPr>
              <a:t>Valuation</a:t>
            </a:r>
            <a:r>
              <a:rPr kumimoji="0" lang="en-US" sz="1200" b="1" i="0" u="none" strike="noStrike" kern="0" cap="none" spc="0" normalizeH="0" baseline="0" noProof="0">
                <a:ln>
                  <a:noFill/>
                </a:ln>
                <a:solidFill>
                  <a:srgbClr val="000000">
                    <a:lumMod val="85000"/>
                    <a:lumOff val="15000"/>
                  </a:srgbClr>
                </a:solidFill>
                <a:effectLst/>
                <a:uLnTx/>
                <a:uFillTx/>
                <a:ea typeface="+mn-ea"/>
                <a:cs typeface="Calibri"/>
              </a:rPr>
              <a:t> runs </a:t>
            </a:r>
            <a:r>
              <a:rPr kumimoji="0" lang="en-US" sz="1200" b="0" i="0" u="none" strike="noStrike" kern="0" cap="none" spc="0" normalizeH="0" baseline="0" noProof="0">
                <a:ln>
                  <a:noFill/>
                </a:ln>
                <a:solidFill>
                  <a:srgbClr val="000000">
                    <a:lumMod val="85000"/>
                    <a:lumOff val="15000"/>
                  </a:srgbClr>
                </a:solidFill>
                <a:effectLst/>
                <a:uLnTx/>
                <a:uFillTx/>
                <a:ea typeface="+mn-ea"/>
                <a:cs typeface="Calibri"/>
              </a:rPr>
              <a:t>performed for different products on different assumptions</a:t>
            </a:r>
            <a:r>
              <a:rPr lang="en-US" sz="1200" kern="0">
                <a:solidFill>
                  <a:srgbClr val="000000">
                    <a:lumMod val="85000"/>
                    <a:lumOff val="15000"/>
                  </a:srgbClr>
                </a:solidFill>
                <a:cs typeface="Calibri"/>
              </a:rPr>
              <a:t>, sensitivities and shocks.</a:t>
            </a:r>
            <a:endParaRPr lang="en-US" sz="1200" b="0" i="0" u="none" strike="noStrike" kern="0" cap="none" spc="0" normalizeH="0" baseline="0" noProof="0">
              <a:ln>
                <a:noFill/>
              </a:ln>
              <a:solidFill>
                <a:srgbClr val="000000">
                  <a:lumMod val="85000"/>
                  <a:lumOff val="15000"/>
                </a:srgbClr>
              </a:solidFill>
              <a:effectLst/>
              <a:uLnTx/>
              <a:uFillTx/>
              <a:ea typeface="Calibri"/>
              <a:cs typeface="Calibri"/>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Replicate results of </a:t>
            </a:r>
            <a:r>
              <a:rPr kumimoji="0" lang="en-US" sz="1200" b="1"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old valuation</a:t>
            </a:r>
            <a:r>
              <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 in the current set-up</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Update assumptions </a:t>
            </a:r>
            <a:r>
              <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and modification </a:t>
            </a:r>
          </a:p>
        </p:txBody>
      </p:sp>
      <p:sp>
        <p:nvSpPr>
          <p:cNvPr id="9" name="Rectangle 8">
            <a:extLst>
              <a:ext uri="{FF2B5EF4-FFF2-40B4-BE49-F238E27FC236}">
                <a16:creationId xmlns:a16="http://schemas.microsoft.com/office/drawing/2014/main" id="{19D5C5A5-2388-2925-9B48-4F24EEE596D6}"/>
              </a:ext>
            </a:extLst>
          </p:cNvPr>
          <p:cNvSpPr/>
          <p:nvPr/>
        </p:nvSpPr>
        <p:spPr>
          <a:xfrm>
            <a:off x="4810482" y="2758652"/>
            <a:ext cx="1286289" cy="3050933"/>
          </a:xfrm>
          <a:prstGeom prst="rect">
            <a:avLst/>
          </a:prstGeom>
          <a:noFill/>
          <a:ln w="6350" cap="flat" cmpd="sng" algn="ctr">
            <a:noFill/>
            <a:prstDash val="solid"/>
            <a:miter lim="800000"/>
          </a:ln>
          <a:effectLst/>
        </p:spPr>
        <p:txBody>
          <a:bodyPr lIns="0" tIns="0" rIns="0" bIns="0"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Reconciliation </a:t>
            </a:r>
            <a:r>
              <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of results from different reports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Different teams </a:t>
            </a:r>
            <a:r>
              <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reconcile data agreed up to certain limit</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lumMod val="85000"/>
                    <a:lumOff val="15000"/>
                  </a:srgbClr>
                </a:solidFill>
                <a:effectLst/>
                <a:uLnTx/>
                <a:uFillTx/>
                <a:ea typeface="+mn-ea"/>
                <a:cs typeface="Calibri"/>
              </a:rPr>
              <a:t>Check impact of assumption changes</a:t>
            </a:r>
            <a:endParaRPr lang="en-US" sz="1200" b="1" i="0" u="none" strike="noStrike" kern="0" cap="none" spc="0" normalizeH="0" baseline="0" noProof="0">
              <a:ln>
                <a:noFill/>
              </a:ln>
              <a:solidFill>
                <a:srgbClr val="000000">
                  <a:lumMod val="85000"/>
                  <a:lumOff val="15000"/>
                </a:srgbClr>
              </a:solidFill>
              <a:effectLst/>
              <a:uLnTx/>
              <a:uFillTx/>
              <a:ea typeface="Calibri"/>
              <a:cs typeface="Calibri"/>
            </a:endParaRPr>
          </a:p>
          <a:p>
            <a:pPr marL="0" marR="0" lvl="0" indent="0" defTabSz="914400">
              <a:lnSpc>
                <a:spcPct val="100000"/>
              </a:lnSpc>
              <a:spcBef>
                <a:spcPts val="0"/>
              </a:spcBef>
              <a:spcAft>
                <a:spcPts val="0"/>
              </a:spcAft>
              <a:buClrTx/>
              <a:buSzTx/>
              <a:buFontTx/>
              <a:buNone/>
              <a:tabLst/>
              <a:defRPr/>
            </a:pPr>
            <a:endParaRPr lang="en-US" sz="1200" b="0" i="0" u="none" strike="noStrike" kern="0" cap="none" spc="0" normalizeH="0" baseline="0" noProof="0">
              <a:ln>
                <a:noFill/>
              </a:ln>
              <a:solidFill>
                <a:srgbClr val="000000">
                  <a:lumMod val="85000"/>
                  <a:lumOff val="15000"/>
                </a:srgbClr>
              </a:solidFill>
              <a:effectLst/>
              <a:uLnTx/>
              <a:uFillTx/>
              <a:ea typeface="Calibri"/>
              <a:cs typeface="Calibri" panose="020F0502020204030204" pitchFamily="34" charset="0"/>
            </a:endParaRPr>
          </a:p>
          <a:p>
            <a:pPr defTabSz="914400">
              <a:defRPr/>
            </a:pPr>
            <a:r>
              <a:rPr lang="en-US" sz="1200" b="1" kern="0">
                <a:solidFill>
                  <a:srgbClr val="000000">
                    <a:lumMod val="85000"/>
                    <a:lumOff val="15000"/>
                  </a:srgbClr>
                </a:solidFill>
                <a:ea typeface="Calibri"/>
                <a:cs typeface="Calibri"/>
              </a:rPr>
              <a:t>Tableau</a:t>
            </a:r>
            <a:r>
              <a:rPr lang="en-US" sz="1200" kern="0">
                <a:solidFill>
                  <a:srgbClr val="000000">
                    <a:lumMod val="85000"/>
                    <a:lumOff val="15000"/>
                  </a:srgbClr>
                </a:solidFill>
                <a:ea typeface="Calibri"/>
                <a:cs typeface="Calibri"/>
              </a:rPr>
              <a:t> to create reports as per client requirements.</a:t>
            </a:r>
            <a:endParaRPr lang="en-US" sz="1200" b="0" i="0" u="none" strike="noStrike" kern="0" cap="none" spc="0" normalizeH="0" baseline="0" noProof="0">
              <a:ln>
                <a:noFill/>
              </a:ln>
              <a:solidFill>
                <a:srgbClr val="000000">
                  <a:lumMod val="85000"/>
                  <a:lumOff val="15000"/>
                </a:srgbClr>
              </a:solidFill>
              <a:effectLst/>
              <a:uLnTx/>
              <a:uFillTx/>
              <a:ea typeface="Calibri"/>
              <a:cs typeface="Calibri" panose="020F0502020204030204" pitchFamily="34" charset="0"/>
            </a:endParaRPr>
          </a:p>
          <a:p>
            <a:pPr defTabSz="914400">
              <a:defRPr/>
            </a:pPr>
            <a:endParaRPr lang="en-US" sz="1100" kern="0">
              <a:solidFill>
                <a:srgbClr val="000000">
                  <a:lumMod val="85000"/>
                  <a:lumOff val="15000"/>
                </a:srgbClr>
              </a:solidFill>
              <a:ea typeface="Calibri" panose="020F0502020204030204"/>
              <a:cs typeface="Calibri" panose="020F0502020204030204" pitchFamily="34" charset="0"/>
            </a:endParaRPr>
          </a:p>
          <a:p>
            <a:pPr defTabSz="914400">
              <a:defRPr/>
            </a:pPr>
            <a:endParaRPr lang="en-US" sz="1100" kern="0">
              <a:solidFill>
                <a:srgbClr val="000000">
                  <a:lumMod val="85000"/>
                  <a:lumOff val="15000"/>
                </a:srgbClr>
              </a:solidFill>
              <a:ea typeface="Calibri" panose="020F0502020204030204"/>
              <a:cs typeface="Calibri" panose="020F0502020204030204" pitchFamily="34" charset="0"/>
            </a:endParaRPr>
          </a:p>
        </p:txBody>
      </p:sp>
      <p:sp>
        <p:nvSpPr>
          <p:cNvPr id="10" name="Rectangle 9">
            <a:extLst>
              <a:ext uri="{FF2B5EF4-FFF2-40B4-BE49-F238E27FC236}">
                <a16:creationId xmlns:a16="http://schemas.microsoft.com/office/drawing/2014/main" id="{F6B870B1-EAB9-2EF6-C604-F86EB2B4E6C3}"/>
              </a:ext>
            </a:extLst>
          </p:cNvPr>
          <p:cNvSpPr/>
          <p:nvPr/>
        </p:nvSpPr>
        <p:spPr>
          <a:xfrm>
            <a:off x="6306425" y="2766934"/>
            <a:ext cx="1302664" cy="2949809"/>
          </a:xfrm>
          <a:prstGeom prst="rect">
            <a:avLst/>
          </a:prstGeom>
          <a:noFill/>
          <a:ln w="6350" cap="flat" cmpd="sng" algn="ctr">
            <a:noFill/>
            <a:prstDash val="solid"/>
            <a:miter lim="800000"/>
          </a:ln>
          <a:effectLst/>
        </p:spPr>
        <p:txBody>
          <a:bodyPr lIns="0" tIns="0" rIns="0" bIns="0"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Review results </a:t>
            </a:r>
            <a:r>
              <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sample lives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and global checks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Analyze the  movement of valuation results when compared to previous valuations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Check reasonableness of Valuation results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Out of Model Adjustment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endParaRPr>
          </a:p>
        </p:txBody>
      </p:sp>
      <p:sp>
        <p:nvSpPr>
          <p:cNvPr id="11" name="Rectangle 10">
            <a:extLst>
              <a:ext uri="{FF2B5EF4-FFF2-40B4-BE49-F238E27FC236}">
                <a16:creationId xmlns:a16="http://schemas.microsoft.com/office/drawing/2014/main" id="{ED014413-60E4-C57B-3BF8-A3AEFC74C47C}"/>
              </a:ext>
            </a:extLst>
          </p:cNvPr>
          <p:cNvSpPr/>
          <p:nvPr/>
        </p:nvSpPr>
        <p:spPr>
          <a:xfrm>
            <a:off x="7685860" y="2758652"/>
            <a:ext cx="1279806" cy="3296661"/>
          </a:xfrm>
          <a:prstGeom prst="rect">
            <a:avLst/>
          </a:prstGeom>
          <a:noFill/>
          <a:ln w="6350" cap="flat" cmpd="sng" algn="ctr">
            <a:noFill/>
            <a:prstDash val="solid"/>
            <a:miter lim="800000"/>
          </a:ln>
          <a:effectLst/>
        </p:spPr>
        <p:txBody>
          <a:bodyPr lIns="0" tIns="0" rIns="0" bIns="0"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Generate valuation report </a:t>
            </a:r>
            <a:r>
              <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on required bases of monthly / quarterly / annually</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lumMod val="85000"/>
                    <a:lumOff val="15000"/>
                  </a:srgbClr>
                </a:solidFill>
                <a:effectLst/>
                <a:uLnTx/>
                <a:uFillTx/>
                <a:ea typeface="+mn-ea"/>
                <a:cs typeface="Calibri"/>
              </a:rPr>
              <a:t>Peer review report content for </a:t>
            </a:r>
            <a:r>
              <a:rPr kumimoji="0" lang="en-US" sz="1200" b="1" i="0" u="none" strike="noStrike" kern="0" cap="none" spc="0" normalizeH="0" baseline="0" noProof="0">
                <a:ln>
                  <a:noFill/>
                </a:ln>
                <a:solidFill>
                  <a:srgbClr val="000000">
                    <a:lumMod val="85000"/>
                    <a:lumOff val="15000"/>
                  </a:srgbClr>
                </a:solidFill>
                <a:effectLst/>
                <a:uLnTx/>
                <a:uFillTx/>
                <a:ea typeface="+mn-ea"/>
                <a:cs typeface="Calibri"/>
              </a:rPr>
              <a:t>reasonable-ness, accuracy </a:t>
            </a:r>
            <a:r>
              <a:rPr kumimoji="0" lang="en-US" sz="1200" b="0" i="0" u="none" strike="noStrike" kern="0" cap="none" spc="0" normalizeH="0" baseline="0" noProof="0">
                <a:ln>
                  <a:noFill/>
                </a:ln>
                <a:solidFill>
                  <a:srgbClr val="000000">
                    <a:lumMod val="85000"/>
                    <a:lumOff val="15000"/>
                  </a:srgbClr>
                </a:solidFill>
                <a:effectLst/>
                <a:uLnTx/>
                <a:uFillTx/>
                <a:ea typeface="+mn-ea"/>
                <a:cs typeface="Calibri"/>
              </a:rPr>
              <a:t>and </a:t>
            </a:r>
            <a:r>
              <a:rPr kumimoji="0" lang="en-US" sz="1200" b="1" i="0" u="none" strike="noStrike" kern="0" cap="none" spc="0" normalizeH="0" baseline="0" noProof="0">
                <a:ln>
                  <a:noFill/>
                </a:ln>
                <a:solidFill>
                  <a:srgbClr val="000000">
                    <a:lumMod val="85000"/>
                    <a:lumOff val="15000"/>
                  </a:srgbClr>
                </a:solidFill>
                <a:effectLst/>
                <a:uLnTx/>
                <a:uFillTx/>
                <a:ea typeface="+mn-ea"/>
                <a:cs typeface="Calibri"/>
              </a:rPr>
              <a:t>completeness</a:t>
            </a:r>
            <a:endParaRPr lang="en-US" sz="1200" b="1" i="0" u="none" strike="noStrike" kern="0" cap="none" spc="0" normalizeH="0" baseline="0" noProof="0">
              <a:ln>
                <a:noFill/>
              </a:ln>
              <a:solidFill>
                <a:srgbClr val="000000">
                  <a:lumMod val="85000"/>
                  <a:lumOff val="15000"/>
                </a:srgbClr>
              </a:solidFill>
              <a:effectLst/>
              <a:uLnTx/>
              <a:uFillTx/>
              <a:ea typeface="Calibri"/>
              <a:cs typeface="Calibri"/>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endParaRPr>
          </a:p>
          <a:p>
            <a:pPr defTabSz="914400">
              <a:defRPr/>
            </a:pPr>
            <a:r>
              <a:rPr lang="en-US" sz="1100" b="1" kern="0">
                <a:solidFill>
                  <a:srgbClr val="000000">
                    <a:lumMod val="85000"/>
                    <a:lumOff val="15000"/>
                  </a:srgbClr>
                </a:solidFill>
                <a:ea typeface="Calibri"/>
                <a:cs typeface="Calibri"/>
              </a:rPr>
              <a:t>Regulatory reporting - </a:t>
            </a:r>
            <a:r>
              <a:rPr lang="en-US" sz="1100" kern="0">
                <a:solidFill>
                  <a:srgbClr val="000000">
                    <a:lumMod val="85000"/>
                    <a:lumOff val="15000"/>
                  </a:srgbClr>
                </a:solidFill>
                <a:ea typeface="Calibri"/>
                <a:cs typeface="Calibri"/>
              </a:rPr>
              <a:t>VM21, CARVM, FAS107, FAS157, MRB, Cigna reporting.</a:t>
            </a:r>
            <a:endParaRPr lang="en-US" sz="1100" b="1" kern="0">
              <a:solidFill>
                <a:srgbClr val="000000">
                  <a:lumMod val="85000"/>
                  <a:lumOff val="15000"/>
                </a:srgbClr>
              </a:solidFill>
              <a:ea typeface="Calibri"/>
              <a:cs typeface="Calibri"/>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Check the trend as it should match the assumption changes</a:t>
            </a:r>
          </a:p>
        </p:txBody>
      </p:sp>
      <p:sp>
        <p:nvSpPr>
          <p:cNvPr id="12" name="Rectangle 11">
            <a:extLst>
              <a:ext uri="{FF2B5EF4-FFF2-40B4-BE49-F238E27FC236}">
                <a16:creationId xmlns:a16="http://schemas.microsoft.com/office/drawing/2014/main" id="{42F410A0-9BC4-E1C0-9E49-B9BBCC2B4BEF}"/>
              </a:ext>
            </a:extLst>
          </p:cNvPr>
          <p:cNvSpPr/>
          <p:nvPr/>
        </p:nvSpPr>
        <p:spPr>
          <a:xfrm>
            <a:off x="9260016" y="2766934"/>
            <a:ext cx="1323103" cy="1799427"/>
          </a:xfrm>
          <a:prstGeom prst="rect">
            <a:avLst/>
          </a:prstGeom>
          <a:noFill/>
          <a:ln w="6350" cap="flat" cmpd="sng" algn="ctr">
            <a:noFill/>
            <a:prstDash val="solid"/>
            <a:miter lim="800000"/>
          </a:ln>
          <a:effectLst/>
        </p:spPr>
        <p:txBody>
          <a:bodyPr lIns="0" tIns="0" rIns="0" bIns="0"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Benefit Statements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Benefit Information of </a:t>
            </a:r>
            <a:r>
              <a:rPr kumimoji="0" lang="en-US" sz="1200" b="0" i="0" u="none" strike="noStrike" kern="0" cap="none" spc="0" normalizeH="0" baseline="0" noProof="0" err="1">
                <a:ln>
                  <a:noFill/>
                </a:ln>
                <a:solidFill>
                  <a:srgbClr val="000000">
                    <a:lumMod val="85000"/>
                    <a:lumOff val="15000"/>
                  </a:srgbClr>
                </a:solidFill>
                <a:effectLst/>
                <a:uLnTx/>
                <a:uFillTx/>
                <a:ea typeface="+mn-ea"/>
                <a:cs typeface="Calibri" panose="020F0502020204030204" pitchFamily="34" charset="0"/>
              </a:rPr>
              <a:t>Inforce</a:t>
            </a:r>
            <a:r>
              <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 and New Business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Decision Matrix</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Decision to make any changes in the future valuation</a:t>
            </a:r>
            <a:endParaRPr kumimoji="0" lang="en-US" sz="1200" b="1"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endParaRPr>
          </a:p>
        </p:txBody>
      </p:sp>
      <p:sp>
        <p:nvSpPr>
          <p:cNvPr id="13" name="Right Arrow 24">
            <a:extLst>
              <a:ext uri="{FF2B5EF4-FFF2-40B4-BE49-F238E27FC236}">
                <a16:creationId xmlns:a16="http://schemas.microsoft.com/office/drawing/2014/main" id="{FB3D5FAC-379F-2023-8715-F75FB139B624}"/>
              </a:ext>
            </a:extLst>
          </p:cNvPr>
          <p:cNvSpPr/>
          <p:nvPr/>
        </p:nvSpPr>
        <p:spPr>
          <a:xfrm>
            <a:off x="9136031" y="1963240"/>
            <a:ext cx="1723685" cy="739354"/>
          </a:xfrm>
          <a:prstGeom prst="rightArrow">
            <a:avLst>
              <a:gd name="adj1" fmla="val 67668"/>
              <a:gd name="adj2" fmla="val 50000"/>
            </a:avLst>
          </a:prstGeom>
          <a:solidFill>
            <a:srgbClr val="BABABA">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ea typeface="+mn-ea"/>
                <a:cs typeface="Calibri" panose="020F0502020204030204" pitchFamily="34" charset="0"/>
              </a:rPr>
              <a:t>Output</a:t>
            </a:r>
          </a:p>
        </p:txBody>
      </p:sp>
      <p:sp>
        <p:nvSpPr>
          <p:cNvPr id="14" name="Right Arrow 23">
            <a:extLst>
              <a:ext uri="{FF2B5EF4-FFF2-40B4-BE49-F238E27FC236}">
                <a16:creationId xmlns:a16="http://schemas.microsoft.com/office/drawing/2014/main" id="{F616AFAD-4061-C31E-9FC9-5D67C09C4E67}"/>
              </a:ext>
            </a:extLst>
          </p:cNvPr>
          <p:cNvSpPr/>
          <p:nvPr/>
        </p:nvSpPr>
        <p:spPr>
          <a:xfrm>
            <a:off x="7689925" y="1963240"/>
            <a:ext cx="1723685" cy="739354"/>
          </a:xfrm>
          <a:prstGeom prst="rightArrow">
            <a:avLst>
              <a:gd name="adj1" fmla="val 67668"/>
              <a:gd name="adj2" fmla="val 50000"/>
            </a:avLst>
          </a:prstGeom>
          <a:solidFill>
            <a:schemeClr val="accent3">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ea typeface="+mn-ea"/>
                <a:cs typeface="Calibri" panose="020F0502020204030204" pitchFamily="34" charset="0"/>
              </a:rPr>
              <a:t>Report &amp; </a:t>
            </a:r>
            <a:br>
              <a:rPr kumimoji="0" lang="en-US" sz="1200" b="1" i="0" u="none" strike="noStrike" kern="0" cap="none" spc="0" normalizeH="0" baseline="0" noProof="0">
                <a:ln>
                  <a:noFill/>
                </a:ln>
                <a:solidFill>
                  <a:srgbClr val="FFFFFF"/>
                </a:solidFill>
                <a:effectLst/>
                <a:uLnTx/>
                <a:uFillTx/>
                <a:ea typeface="+mn-ea"/>
                <a:cs typeface="Calibri" panose="020F0502020204030204" pitchFamily="34" charset="0"/>
              </a:rPr>
            </a:br>
            <a:r>
              <a:rPr kumimoji="0" lang="en-US" sz="1200" b="1" i="0" u="none" strike="noStrike" kern="0" cap="none" spc="0" normalizeH="0" baseline="0" noProof="0">
                <a:ln>
                  <a:noFill/>
                </a:ln>
                <a:solidFill>
                  <a:srgbClr val="FFFFFF"/>
                </a:solidFill>
                <a:effectLst/>
                <a:uLnTx/>
                <a:uFillTx/>
                <a:ea typeface="+mn-ea"/>
                <a:cs typeface="Calibri" panose="020F0502020204030204" pitchFamily="34" charset="0"/>
              </a:rPr>
              <a:t>Insights</a:t>
            </a:r>
          </a:p>
        </p:txBody>
      </p:sp>
      <p:sp>
        <p:nvSpPr>
          <p:cNvPr id="15" name="Right Arrow 22">
            <a:extLst>
              <a:ext uri="{FF2B5EF4-FFF2-40B4-BE49-F238E27FC236}">
                <a16:creationId xmlns:a16="http://schemas.microsoft.com/office/drawing/2014/main" id="{08DA5839-E99C-2863-8009-261793901EE8}"/>
              </a:ext>
            </a:extLst>
          </p:cNvPr>
          <p:cNvSpPr/>
          <p:nvPr/>
        </p:nvSpPr>
        <p:spPr>
          <a:xfrm>
            <a:off x="6243819" y="1963240"/>
            <a:ext cx="1723685" cy="739354"/>
          </a:xfrm>
          <a:prstGeom prst="rightArrow">
            <a:avLst>
              <a:gd name="adj1" fmla="val 67668"/>
              <a:gd name="adj2" fmla="val 50000"/>
            </a:avLst>
          </a:prstGeom>
          <a:solidFill>
            <a:schemeClr val="bg1">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bg2"/>
                </a:solidFill>
                <a:effectLst/>
                <a:uLnTx/>
                <a:uFillTx/>
                <a:ea typeface="+mn-ea"/>
                <a:cs typeface="Calibri" panose="020F0502020204030204" pitchFamily="34" charset="0"/>
              </a:rPr>
              <a:t>Valuation </a:t>
            </a:r>
            <a:br>
              <a:rPr kumimoji="0" lang="en-US" sz="1200" b="1" i="0" u="none" strike="noStrike" kern="0" cap="none" spc="0" normalizeH="0" baseline="0" noProof="0">
                <a:ln>
                  <a:noFill/>
                </a:ln>
                <a:solidFill>
                  <a:schemeClr val="bg2"/>
                </a:solidFill>
                <a:effectLst/>
                <a:uLnTx/>
                <a:uFillTx/>
                <a:ea typeface="+mn-ea"/>
                <a:cs typeface="Calibri" panose="020F0502020204030204" pitchFamily="34" charset="0"/>
              </a:rPr>
            </a:br>
            <a:r>
              <a:rPr kumimoji="0" lang="en-US" sz="1200" b="1" i="0" u="none" strike="noStrike" kern="0" cap="none" spc="0" normalizeH="0" baseline="0" noProof="0">
                <a:ln>
                  <a:noFill/>
                </a:ln>
                <a:solidFill>
                  <a:schemeClr val="bg2"/>
                </a:solidFill>
                <a:effectLst/>
                <a:uLnTx/>
                <a:uFillTx/>
                <a:ea typeface="+mn-ea"/>
                <a:cs typeface="Calibri" panose="020F0502020204030204" pitchFamily="34" charset="0"/>
              </a:rPr>
              <a:t>Review</a:t>
            </a:r>
          </a:p>
        </p:txBody>
      </p:sp>
      <p:sp>
        <p:nvSpPr>
          <p:cNvPr id="16" name="Right Arrow 21">
            <a:extLst>
              <a:ext uri="{FF2B5EF4-FFF2-40B4-BE49-F238E27FC236}">
                <a16:creationId xmlns:a16="http://schemas.microsoft.com/office/drawing/2014/main" id="{D2D6861D-1907-32CF-F71E-8A613DCA4965}"/>
              </a:ext>
            </a:extLst>
          </p:cNvPr>
          <p:cNvSpPr/>
          <p:nvPr/>
        </p:nvSpPr>
        <p:spPr>
          <a:xfrm>
            <a:off x="4797712" y="1963240"/>
            <a:ext cx="1723685" cy="739354"/>
          </a:xfrm>
          <a:prstGeom prst="rightArrow">
            <a:avLst>
              <a:gd name="adj1" fmla="val 67668"/>
              <a:gd name="adj2" fmla="val 50000"/>
            </a:avLst>
          </a:prstGeom>
          <a:solidFill>
            <a:schemeClr val="accent4"/>
          </a:solidFill>
          <a:ln w="12700" cap="flat" cmpd="sng" algn="ctr">
            <a:noFill/>
            <a:prstDash val="solid"/>
            <a:miter lim="800000"/>
          </a:ln>
          <a:effectLst/>
        </p:spPr>
        <p:txBody>
          <a:bodyPr lIns="36576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ea typeface="+mn-ea"/>
                <a:cs typeface="Calibri" panose="020F0502020204030204" pitchFamily="34" charset="0"/>
              </a:rPr>
              <a:t>‘Result Reconciliation’</a:t>
            </a:r>
          </a:p>
        </p:txBody>
      </p:sp>
      <p:sp>
        <p:nvSpPr>
          <p:cNvPr id="17" name="Right Arrow 20">
            <a:extLst>
              <a:ext uri="{FF2B5EF4-FFF2-40B4-BE49-F238E27FC236}">
                <a16:creationId xmlns:a16="http://schemas.microsoft.com/office/drawing/2014/main" id="{9769A956-1F66-25E9-BE78-8554292AE547}"/>
              </a:ext>
            </a:extLst>
          </p:cNvPr>
          <p:cNvSpPr/>
          <p:nvPr/>
        </p:nvSpPr>
        <p:spPr>
          <a:xfrm>
            <a:off x="3351605" y="1963240"/>
            <a:ext cx="1723685" cy="739354"/>
          </a:xfrm>
          <a:prstGeom prst="rightArrow">
            <a:avLst>
              <a:gd name="adj1" fmla="val 67668"/>
              <a:gd name="adj2" fmla="val 50000"/>
            </a:avLst>
          </a:prstGeom>
          <a:solidFill>
            <a:schemeClr val="tx2"/>
          </a:solidFill>
          <a:ln w="12700" cap="flat" cmpd="sng" algn="ctr">
            <a:noFill/>
            <a:prstDash val="solid"/>
            <a:miter lim="800000"/>
          </a:ln>
          <a:effectLst/>
        </p:spPr>
        <p:txBody>
          <a:bodyPr lIns="36576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ea typeface="+mn-ea"/>
                <a:cs typeface="Calibri" panose="020F0502020204030204" pitchFamily="34" charset="0"/>
              </a:rPr>
              <a:t>‘GGY AXIS’  Run </a:t>
            </a:r>
          </a:p>
        </p:txBody>
      </p:sp>
      <p:sp>
        <p:nvSpPr>
          <p:cNvPr id="18" name="Right Arrow 19">
            <a:extLst>
              <a:ext uri="{FF2B5EF4-FFF2-40B4-BE49-F238E27FC236}">
                <a16:creationId xmlns:a16="http://schemas.microsoft.com/office/drawing/2014/main" id="{5DD370E0-BCAB-9A15-11EE-F60F4383F43F}"/>
              </a:ext>
            </a:extLst>
          </p:cNvPr>
          <p:cNvSpPr/>
          <p:nvPr/>
        </p:nvSpPr>
        <p:spPr>
          <a:xfrm>
            <a:off x="1905498" y="1963240"/>
            <a:ext cx="1723685" cy="739354"/>
          </a:xfrm>
          <a:prstGeom prst="rightArrow">
            <a:avLst>
              <a:gd name="adj1" fmla="val 67668"/>
              <a:gd name="adj2" fmla="val 50000"/>
            </a:avLst>
          </a:prstGeom>
          <a:solidFill>
            <a:schemeClr val="accent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ea typeface="+mn-ea"/>
                <a:cs typeface="Calibri" panose="020F0502020204030204" pitchFamily="34" charset="0"/>
              </a:rPr>
              <a:t>Data </a:t>
            </a:r>
            <a:br>
              <a:rPr kumimoji="0" lang="en-US" sz="1200" b="1" i="0" u="none" strike="noStrike" kern="0" cap="none" spc="0" normalizeH="0" baseline="0" noProof="0">
                <a:ln>
                  <a:noFill/>
                </a:ln>
                <a:solidFill>
                  <a:srgbClr val="FFFFFF"/>
                </a:solidFill>
                <a:effectLst/>
                <a:uLnTx/>
                <a:uFillTx/>
                <a:ea typeface="+mn-ea"/>
                <a:cs typeface="Calibri" panose="020F0502020204030204" pitchFamily="34" charset="0"/>
              </a:rPr>
            </a:br>
            <a:r>
              <a:rPr kumimoji="0" lang="en-US" sz="1200" b="1" i="0" u="none" strike="noStrike" kern="0" cap="none" spc="0" normalizeH="0" baseline="0" noProof="0">
                <a:ln>
                  <a:noFill/>
                </a:ln>
                <a:solidFill>
                  <a:srgbClr val="FFFFFF"/>
                </a:solidFill>
                <a:effectLst/>
                <a:uLnTx/>
                <a:uFillTx/>
                <a:ea typeface="+mn-ea"/>
                <a:cs typeface="Calibri" panose="020F0502020204030204" pitchFamily="34" charset="0"/>
              </a:rPr>
              <a:t>Preparation </a:t>
            </a:r>
          </a:p>
        </p:txBody>
      </p:sp>
      <p:sp>
        <p:nvSpPr>
          <p:cNvPr id="19" name="Right Arrow 16">
            <a:extLst>
              <a:ext uri="{FF2B5EF4-FFF2-40B4-BE49-F238E27FC236}">
                <a16:creationId xmlns:a16="http://schemas.microsoft.com/office/drawing/2014/main" id="{91150515-5A7E-B163-7A5A-F5B68F6DD901}"/>
              </a:ext>
            </a:extLst>
          </p:cNvPr>
          <p:cNvSpPr/>
          <p:nvPr/>
        </p:nvSpPr>
        <p:spPr>
          <a:xfrm>
            <a:off x="457199" y="1963240"/>
            <a:ext cx="1723685" cy="739354"/>
          </a:xfrm>
          <a:prstGeom prst="rightArrow">
            <a:avLst>
              <a:gd name="adj1" fmla="val 67668"/>
              <a:gd name="adj2" fmla="val 50000"/>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ea typeface="+mn-ea"/>
                <a:cs typeface="Calibri" panose="020F0502020204030204" pitchFamily="34" charset="0"/>
              </a:rPr>
              <a:t>Planning &amp; Assumption</a:t>
            </a:r>
          </a:p>
        </p:txBody>
      </p:sp>
      <p:grpSp>
        <p:nvGrpSpPr>
          <p:cNvPr id="20" name="Group 4">
            <a:extLst>
              <a:ext uri="{FF2B5EF4-FFF2-40B4-BE49-F238E27FC236}">
                <a16:creationId xmlns:a16="http://schemas.microsoft.com/office/drawing/2014/main" id="{94F4905F-7AB4-6581-484E-9D720DF460DA}"/>
              </a:ext>
            </a:extLst>
          </p:cNvPr>
          <p:cNvGrpSpPr>
            <a:grpSpLocks noChangeAspect="1"/>
          </p:cNvGrpSpPr>
          <p:nvPr/>
        </p:nvGrpSpPr>
        <p:grpSpPr bwMode="auto">
          <a:xfrm>
            <a:off x="934856" y="1557367"/>
            <a:ext cx="374256" cy="410624"/>
            <a:chOff x="303" y="2399"/>
            <a:chExt cx="591" cy="639"/>
          </a:xfrm>
          <a:solidFill>
            <a:schemeClr val="tx1"/>
          </a:solidFill>
        </p:grpSpPr>
        <p:sp>
          <p:nvSpPr>
            <p:cNvPr id="21" name="Freeform 5">
              <a:extLst>
                <a:ext uri="{FF2B5EF4-FFF2-40B4-BE49-F238E27FC236}">
                  <a16:creationId xmlns:a16="http://schemas.microsoft.com/office/drawing/2014/main" id="{4A906121-F25B-DDC8-0DDB-E8049DBB8A9D}"/>
                </a:ext>
              </a:extLst>
            </p:cNvPr>
            <p:cNvSpPr>
              <a:spLocks/>
            </p:cNvSpPr>
            <p:nvPr/>
          </p:nvSpPr>
          <p:spPr bwMode="auto">
            <a:xfrm>
              <a:off x="303" y="2399"/>
              <a:ext cx="591" cy="639"/>
            </a:xfrm>
            <a:custGeom>
              <a:avLst/>
              <a:gdLst>
                <a:gd name="T0" fmla="*/ 1639 w 1892"/>
                <a:gd name="T1" fmla="*/ 253 h 2048"/>
                <a:gd name="T2" fmla="*/ 1028 w 1892"/>
                <a:gd name="T3" fmla="*/ 0 h 2048"/>
                <a:gd name="T4" fmla="*/ 417 w 1892"/>
                <a:gd name="T5" fmla="*/ 253 h 2048"/>
                <a:gd name="T6" fmla="*/ 165 w 1892"/>
                <a:gd name="T7" fmla="*/ 857 h 2048"/>
                <a:gd name="T8" fmla="*/ 7 w 1892"/>
                <a:gd name="T9" fmla="*/ 1171 h 2048"/>
                <a:gd name="T10" fmla="*/ 19 w 1892"/>
                <a:gd name="T11" fmla="*/ 1210 h 2048"/>
                <a:gd name="T12" fmla="*/ 164 w 1892"/>
                <a:gd name="T13" fmla="*/ 1298 h 2048"/>
                <a:gd name="T14" fmla="*/ 164 w 1892"/>
                <a:gd name="T15" fmla="*/ 1761 h 2048"/>
                <a:gd name="T16" fmla="*/ 195 w 1892"/>
                <a:gd name="T17" fmla="*/ 1791 h 2048"/>
                <a:gd name="T18" fmla="*/ 485 w 1892"/>
                <a:gd name="T19" fmla="*/ 1791 h 2048"/>
                <a:gd name="T20" fmla="*/ 485 w 1892"/>
                <a:gd name="T21" fmla="*/ 2018 h 2048"/>
                <a:gd name="T22" fmla="*/ 515 w 1892"/>
                <a:gd name="T23" fmla="*/ 2048 h 2048"/>
                <a:gd name="T24" fmla="*/ 545 w 1892"/>
                <a:gd name="T25" fmla="*/ 2018 h 2048"/>
                <a:gd name="T26" fmla="*/ 545 w 1892"/>
                <a:gd name="T27" fmla="*/ 1761 h 2048"/>
                <a:gd name="T28" fmla="*/ 515 w 1892"/>
                <a:gd name="T29" fmla="*/ 1731 h 2048"/>
                <a:gd name="T30" fmla="*/ 225 w 1892"/>
                <a:gd name="T31" fmla="*/ 1731 h 2048"/>
                <a:gd name="T32" fmla="*/ 225 w 1892"/>
                <a:gd name="T33" fmla="*/ 1281 h 2048"/>
                <a:gd name="T34" fmla="*/ 210 w 1892"/>
                <a:gd name="T35" fmla="*/ 1255 h 2048"/>
                <a:gd name="T36" fmla="*/ 74 w 1892"/>
                <a:gd name="T37" fmla="*/ 1173 h 2048"/>
                <a:gd name="T38" fmla="*/ 221 w 1892"/>
                <a:gd name="T39" fmla="*/ 877 h 2048"/>
                <a:gd name="T40" fmla="*/ 225 w 1892"/>
                <a:gd name="T41" fmla="*/ 864 h 2048"/>
                <a:gd name="T42" fmla="*/ 1028 w 1892"/>
                <a:gd name="T43" fmla="*/ 60 h 2048"/>
                <a:gd name="T44" fmla="*/ 1832 w 1892"/>
                <a:gd name="T45" fmla="*/ 864 h 2048"/>
                <a:gd name="T46" fmla="*/ 1523 w 1892"/>
                <a:gd name="T47" fmla="*/ 1497 h 2048"/>
                <a:gd name="T48" fmla="*/ 1511 w 1892"/>
                <a:gd name="T49" fmla="*/ 1521 h 2048"/>
                <a:gd name="T50" fmla="*/ 1511 w 1892"/>
                <a:gd name="T51" fmla="*/ 2018 h 2048"/>
                <a:gd name="T52" fmla="*/ 1541 w 1892"/>
                <a:gd name="T53" fmla="*/ 2048 h 2048"/>
                <a:gd name="T54" fmla="*/ 1571 w 1892"/>
                <a:gd name="T55" fmla="*/ 2018 h 2048"/>
                <a:gd name="T56" fmla="*/ 1571 w 1892"/>
                <a:gd name="T57" fmla="*/ 1535 h 2048"/>
                <a:gd name="T58" fmla="*/ 1892 w 1892"/>
                <a:gd name="T59" fmla="*/ 864 h 2048"/>
                <a:gd name="T60" fmla="*/ 1639 w 1892"/>
                <a:gd name="T61" fmla="*/ 253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92" h="2048">
                  <a:moveTo>
                    <a:pt x="1639" y="253"/>
                  </a:moveTo>
                  <a:cubicBezTo>
                    <a:pt x="1476" y="90"/>
                    <a:pt x="1259" y="0"/>
                    <a:pt x="1028" y="0"/>
                  </a:cubicBezTo>
                  <a:cubicBezTo>
                    <a:pt x="797" y="0"/>
                    <a:pt x="581" y="90"/>
                    <a:pt x="417" y="253"/>
                  </a:cubicBezTo>
                  <a:cubicBezTo>
                    <a:pt x="256" y="414"/>
                    <a:pt x="166" y="629"/>
                    <a:pt x="165" y="857"/>
                  </a:cubicBezTo>
                  <a:cubicBezTo>
                    <a:pt x="7" y="1171"/>
                    <a:pt x="7" y="1171"/>
                    <a:pt x="7" y="1171"/>
                  </a:cubicBezTo>
                  <a:cubicBezTo>
                    <a:pt x="0" y="1185"/>
                    <a:pt x="5" y="1202"/>
                    <a:pt x="19" y="1210"/>
                  </a:cubicBezTo>
                  <a:cubicBezTo>
                    <a:pt x="164" y="1298"/>
                    <a:pt x="164" y="1298"/>
                    <a:pt x="164" y="1298"/>
                  </a:cubicBezTo>
                  <a:cubicBezTo>
                    <a:pt x="164" y="1761"/>
                    <a:pt x="164" y="1761"/>
                    <a:pt x="164" y="1761"/>
                  </a:cubicBezTo>
                  <a:cubicBezTo>
                    <a:pt x="164" y="1778"/>
                    <a:pt x="178" y="1791"/>
                    <a:pt x="195" y="1791"/>
                  </a:cubicBezTo>
                  <a:cubicBezTo>
                    <a:pt x="485" y="1791"/>
                    <a:pt x="485" y="1791"/>
                    <a:pt x="485" y="1791"/>
                  </a:cubicBezTo>
                  <a:cubicBezTo>
                    <a:pt x="485" y="2018"/>
                    <a:pt x="485" y="2018"/>
                    <a:pt x="485" y="2018"/>
                  </a:cubicBezTo>
                  <a:cubicBezTo>
                    <a:pt x="485" y="2035"/>
                    <a:pt x="499" y="2048"/>
                    <a:pt x="515" y="2048"/>
                  </a:cubicBezTo>
                  <a:cubicBezTo>
                    <a:pt x="532" y="2048"/>
                    <a:pt x="545" y="2035"/>
                    <a:pt x="545" y="2018"/>
                  </a:cubicBezTo>
                  <a:cubicBezTo>
                    <a:pt x="545" y="1761"/>
                    <a:pt x="545" y="1761"/>
                    <a:pt x="545" y="1761"/>
                  </a:cubicBezTo>
                  <a:cubicBezTo>
                    <a:pt x="545" y="1745"/>
                    <a:pt x="532" y="1731"/>
                    <a:pt x="515" y="1731"/>
                  </a:cubicBezTo>
                  <a:cubicBezTo>
                    <a:pt x="225" y="1731"/>
                    <a:pt x="225" y="1731"/>
                    <a:pt x="225" y="1731"/>
                  </a:cubicBezTo>
                  <a:cubicBezTo>
                    <a:pt x="225" y="1281"/>
                    <a:pt x="225" y="1281"/>
                    <a:pt x="225" y="1281"/>
                  </a:cubicBezTo>
                  <a:cubicBezTo>
                    <a:pt x="225" y="1270"/>
                    <a:pt x="219" y="1260"/>
                    <a:pt x="210" y="1255"/>
                  </a:cubicBezTo>
                  <a:cubicBezTo>
                    <a:pt x="74" y="1173"/>
                    <a:pt x="74" y="1173"/>
                    <a:pt x="74" y="1173"/>
                  </a:cubicBezTo>
                  <a:cubicBezTo>
                    <a:pt x="221" y="877"/>
                    <a:pt x="221" y="877"/>
                    <a:pt x="221" y="877"/>
                  </a:cubicBezTo>
                  <a:cubicBezTo>
                    <a:pt x="224" y="873"/>
                    <a:pt x="225" y="868"/>
                    <a:pt x="225" y="864"/>
                  </a:cubicBezTo>
                  <a:cubicBezTo>
                    <a:pt x="225" y="421"/>
                    <a:pt x="585" y="60"/>
                    <a:pt x="1028" y="60"/>
                  </a:cubicBezTo>
                  <a:cubicBezTo>
                    <a:pt x="1471" y="60"/>
                    <a:pt x="1832" y="421"/>
                    <a:pt x="1832" y="864"/>
                  </a:cubicBezTo>
                  <a:cubicBezTo>
                    <a:pt x="1832" y="1113"/>
                    <a:pt x="1719" y="1344"/>
                    <a:pt x="1523" y="1497"/>
                  </a:cubicBezTo>
                  <a:cubicBezTo>
                    <a:pt x="1515" y="1503"/>
                    <a:pt x="1511" y="1512"/>
                    <a:pt x="1511" y="1521"/>
                  </a:cubicBezTo>
                  <a:cubicBezTo>
                    <a:pt x="1511" y="2018"/>
                    <a:pt x="1511" y="2018"/>
                    <a:pt x="1511" y="2018"/>
                  </a:cubicBezTo>
                  <a:cubicBezTo>
                    <a:pt x="1511" y="2035"/>
                    <a:pt x="1525" y="2048"/>
                    <a:pt x="1541" y="2048"/>
                  </a:cubicBezTo>
                  <a:cubicBezTo>
                    <a:pt x="1558" y="2048"/>
                    <a:pt x="1571" y="2035"/>
                    <a:pt x="1571" y="2018"/>
                  </a:cubicBezTo>
                  <a:cubicBezTo>
                    <a:pt x="1571" y="1535"/>
                    <a:pt x="1571" y="1535"/>
                    <a:pt x="1571" y="1535"/>
                  </a:cubicBezTo>
                  <a:cubicBezTo>
                    <a:pt x="1775" y="1370"/>
                    <a:pt x="1892" y="1126"/>
                    <a:pt x="1892" y="864"/>
                  </a:cubicBezTo>
                  <a:cubicBezTo>
                    <a:pt x="1892" y="633"/>
                    <a:pt x="1802" y="416"/>
                    <a:pt x="1639" y="2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22" name="Freeform 6">
              <a:extLst>
                <a:ext uri="{FF2B5EF4-FFF2-40B4-BE49-F238E27FC236}">
                  <a16:creationId xmlns:a16="http://schemas.microsoft.com/office/drawing/2014/main" id="{345DED86-0D23-5672-1699-4467ACE3748B}"/>
                </a:ext>
              </a:extLst>
            </p:cNvPr>
            <p:cNvSpPr>
              <a:spLocks noEditPoints="1"/>
            </p:cNvSpPr>
            <p:nvPr/>
          </p:nvSpPr>
          <p:spPr bwMode="auto">
            <a:xfrm>
              <a:off x="495" y="2509"/>
              <a:ext cx="259" cy="399"/>
            </a:xfrm>
            <a:custGeom>
              <a:avLst/>
              <a:gdLst>
                <a:gd name="T0" fmla="*/ 752 w 830"/>
                <a:gd name="T1" fmla="*/ 656 h 1278"/>
                <a:gd name="T2" fmla="*/ 745 w 830"/>
                <a:gd name="T3" fmla="*/ 615 h 1278"/>
                <a:gd name="T4" fmla="*/ 703 w 830"/>
                <a:gd name="T5" fmla="*/ 621 h 1278"/>
                <a:gd name="T6" fmla="*/ 533 w 830"/>
                <a:gd name="T7" fmla="*/ 749 h 1278"/>
                <a:gd name="T8" fmla="*/ 513 w 830"/>
                <a:gd name="T9" fmla="*/ 777 h 1278"/>
                <a:gd name="T10" fmla="*/ 513 w 830"/>
                <a:gd name="T11" fmla="*/ 865 h 1278"/>
                <a:gd name="T12" fmla="*/ 317 w 830"/>
                <a:gd name="T13" fmla="*/ 865 h 1278"/>
                <a:gd name="T14" fmla="*/ 317 w 830"/>
                <a:gd name="T15" fmla="*/ 777 h 1278"/>
                <a:gd name="T16" fmla="*/ 297 w 830"/>
                <a:gd name="T17" fmla="*/ 749 h 1278"/>
                <a:gd name="T18" fmla="*/ 60 w 830"/>
                <a:gd name="T19" fmla="*/ 415 h 1278"/>
                <a:gd name="T20" fmla="*/ 415 w 830"/>
                <a:gd name="T21" fmla="*/ 60 h 1278"/>
                <a:gd name="T22" fmla="*/ 770 w 830"/>
                <a:gd name="T23" fmla="*/ 415 h 1278"/>
                <a:gd name="T24" fmla="*/ 759 w 830"/>
                <a:gd name="T25" fmla="*/ 503 h 1278"/>
                <a:gd name="T26" fmla="*/ 780 w 830"/>
                <a:gd name="T27" fmla="*/ 540 h 1278"/>
                <a:gd name="T28" fmla="*/ 817 w 830"/>
                <a:gd name="T29" fmla="*/ 518 h 1278"/>
                <a:gd name="T30" fmla="*/ 830 w 830"/>
                <a:gd name="T31" fmla="*/ 415 h 1278"/>
                <a:gd name="T32" fmla="*/ 415 w 830"/>
                <a:gd name="T33" fmla="*/ 0 h 1278"/>
                <a:gd name="T34" fmla="*/ 0 w 830"/>
                <a:gd name="T35" fmla="*/ 415 h 1278"/>
                <a:gd name="T36" fmla="*/ 257 w 830"/>
                <a:gd name="T37" fmla="*/ 798 h 1278"/>
                <a:gd name="T38" fmla="*/ 257 w 830"/>
                <a:gd name="T39" fmla="*/ 865 h 1278"/>
                <a:gd name="T40" fmla="*/ 223 w 830"/>
                <a:gd name="T41" fmla="*/ 865 h 1278"/>
                <a:gd name="T42" fmla="*/ 193 w 830"/>
                <a:gd name="T43" fmla="*/ 895 h 1278"/>
                <a:gd name="T44" fmla="*/ 193 w 830"/>
                <a:gd name="T45" fmla="*/ 1120 h 1278"/>
                <a:gd name="T46" fmla="*/ 351 w 830"/>
                <a:gd name="T47" fmla="*/ 1278 h 1278"/>
                <a:gd name="T48" fmla="*/ 479 w 830"/>
                <a:gd name="T49" fmla="*/ 1278 h 1278"/>
                <a:gd name="T50" fmla="*/ 638 w 830"/>
                <a:gd name="T51" fmla="*/ 1120 h 1278"/>
                <a:gd name="T52" fmla="*/ 638 w 830"/>
                <a:gd name="T53" fmla="*/ 895 h 1278"/>
                <a:gd name="T54" fmla="*/ 608 w 830"/>
                <a:gd name="T55" fmla="*/ 865 h 1278"/>
                <a:gd name="T56" fmla="*/ 573 w 830"/>
                <a:gd name="T57" fmla="*/ 865 h 1278"/>
                <a:gd name="T58" fmla="*/ 573 w 830"/>
                <a:gd name="T59" fmla="*/ 798 h 1278"/>
                <a:gd name="T60" fmla="*/ 752 w 830"/>
                <a:gd name="T61" fmla="*/ 656 h 1278"/>
                <a:gd name="T62" fmla="*/ 577 w 830"/>
                <a:gd name="T63" fmla="*/ 1058 h 1278"/>
                <a:gd name="T64" fmla="*/ 255 w 830"/>
                <a:gd name="T65" fmla="*/ 1058 h 1278"/>
                <a:gd name="T66" fmla="*/ 253 w 830"/>
                <a:gd name="T67" fmla="*/ 1058 h 1278"/>
                <a:gd name="T68" fmla="*/ 253 w 830"/>
                <a:gd name="T69" fmla="*/ 1022 h 1278"/>
                <a:gd name="T70" fmla="*/ 577 w 830"/>
                <a:gd name="T71" fmla="*/ 1022 h 1278"/>
                <a:gd name="T72" fmla="*/ 577 w 830"/>
                <a:gd name="T73" fmla="*/ 1058 h 1278"/>
                <a:gd name="T74" fmla="*/ 479 w 830"/>
                <a:gd name="T75" fmla="*/ 1218 h 1278"/>
                <a:gd name="T76" fmla="*/ 351 w 830"/>
                <a:gd name="T77" fmla="*/ 1218 h 1278"/>
                <a:gd name="T78" fmla="*/ 253 w 830"/>
                <a:gd name="T79" fmla="*/ 1120 h 1278"/>
                <a:gd name="T80" fmla="*/ 253 w 830"/>
                <a:gd name="T81" fmla="*/ 1118 h 1278"/>
                <a:gd name="T82" fmla="*/ 255 w 830"/>
                <a:gd name="T83" fmla="*/ 1118 h 1278"/>
                <a:gd name="T84" fmla="*/ 577 w 830"/>
                <a:gd name="T85" fmla="*/ 1118 h 1278"/>
                <a:gd name="T86" fmla="*/ 577 w 830"/>
                <a:gd name="T87" fmla="*/ 1120 h 1278"/>
                <a:gd name="T88" fmla="*/ 479 w 830"/>
                <a:gd name="T89" fmla="*/ 1218 h 1278"/>
                <a:gd name="T90" fmla="*/ 577 w 830"/>
                <a:gd name="T91" fmla="*/ 962 h 1278"/>
                <a:gd name="T92" fmla="*/ 253 w 830"/>
                <a:gd name="T93" fmla="*/ 962 h 1278"/>
                <a:gd name="T94" fmla="*/ 253 w 830"/>
                <a:gd name="T95" fmla="*/ 925 h 1278"/>
                <a:gd name="T96" fmla="*/ 287 w 830"/>
                <a:gd name="T97" fmla="*/ 925 h 1278"/>
                <a:gd name="T98" fmla="*/ 543 w 830"/>
                <a:gd name="T99" fmla="*/ 925 h 1278"/>
                <a:gd name="T100" fmla="*/ 577 w 830"/>
                <a:gd name="T101" fmla="*/ 925 h 1278"/>
                <a:gd name="T102" fmla="*/ 577 w 830"/>
                <a:gd name="T103" fmla="*/ 962 h 1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30" h="1278">
                  <a:moveTo>
                    <a:pt x="752" y="656"/>
                  </a:moveTo>
                  <a:cubicBezTo>
                    <a:pt x="762" y="643"/>
                    <a:pt x="759" y="624"/>
                    <a:pt x="745" y="615"/>
                  </a:cubicBezTo>
                  <a:cubicBezTo>
                    <a:pt x="732" y="605"/>
                    <a:pt x="713" y="608"/>
                    <a:pt x="703" y="621"/>
                  </a:cubicBezTo>
                  <a:cubicBezTo>
                    <a:pt x="661" y="681"/>
                    <a:pt x="602" y="725"/>
                    <a:pt x="533" y="749"/>
                  </a:cubicBezTo>
                  <a:cubicBezTo>
                    <a:pt x="521" y="753"/>
                    <a:pt x="513" y="765"/>
                    <a:pt x="513" y="777"/>
                  </a:cubicBezTo>
                  <a:cubicBezTo>
                    <a:pt x="513" y="865"/>
                    <a:pt x="513" y="865"/>
                    <a:pt x="513" y="865"/>
                  </a:cubicBezTo>
                  <a:cubicBezTo>
                    <a:pt x="317" y="865"/>
                    <a:pt x="317" y="865"/>
                    <a:pt x="317" y="865"/>
                  </a:cubicBezTo>
                  <a:cubicBezTo>
                    <a:pt x="317" y="777"/>
                    <a:pt x="317" y="777"/>
                    <a:pt x="317" y="777"/>
                  </a:cubicBezTo>
                  <a:cubicBezTo>
                    <a:pt x="317" y="765"/>
                    <a:pt x="309" y="753"/>
                    <a:pt x="297" y="749"/>
                  </a:cubicBezTo>
                  <a:cubicBezTo>
                    <a:pt x="155" y="699"/>
                    <a:pt x="60" y="565"/>
                    <a:pt x="60" y="415"/>
                  </a:cubicBezTo>
                  <a:cubicBezTo>
                    <a:pt x="60" y="219"/>
                    <a:pt x="220" y="60"/>
                    <a:pt x="415" y="60"/>
                  </a:cubicBezTo>
                  <a:cubicBezTo>
                    <a:pt x="611" y="60"/>
                    <a:pt x="770" y="219"/>
                    <a:pt x="770" y="415"/>
                  </a:cubicBezTo>
                  <a:cubicBezTo>
                    <a:pt x="770" y="445"/>
                    <a:pt x="766" y="474"/>
                    <a:pt x="759" y="503"/>
                  </a:cubicBezTo>
                  <a:cubicBezTo>
                    <a:pt x="755" y="519"/>
                    <a:pt x="764" y="536"/>
                    <a:pt x="780" y="540"/>
                  </a:cubicBezTo>
                  <a:cubicBezTo>
                    <a:pt x="796" y="544"/>
                    <a:pt x="813" y="534"/>
                    <a:pt x="817" y="518"/>
                  </a:cubicBezTo>
                  <a:cubicBezTo>
                    <a:pt x="826" y="484"/>
                    <a:pt x="830" y="450"/>
                    <a:pt x="830" y="415"/>
                  </a:cubicBezTo>
                  <a:cubicBezTo>
                    <a:pt x="830" y="186"/>
                    <a:pt x="644" y="0"/>
                    <a:pt x="415" y="0"/>
                  </a:cubicBezTo>
                  <a:cubicBezTo>
                    <a:pt x="186" y="0"/>
                    <a:pt x="0" y="186"/>
                    <a:pt x="0" y="415"/>
                  </a:cubicBezTo>
                  <a:cubicBezTo>
                    <a:pt x="0" y="583"/>
                    <a:pt x="103" y="734"/>
                    <a:pt x="257" y="798"/>
                  </a:cubicBezTo>
                  <a:cubicBezTo>
                    <a:pt x="257" y="865"/>
                    <a:pt x="257" y="865"/>
                    <a:pt x="257" y="865"/>
                  </a:cubicBezTo>
                  <a:cubicBezTo>
                    <a:pt x="223" y="865"/>
                    <a:pt x="223" y="865"/>
                    <a:pt x="223" y="865"/>
                  </a:cubicBezTo>
                  <a:cubicBezTo>
                    <a:pt x="206" y="865"/>
                    <a:pt x="193" y="879"/>
                    <a:pt x="193" y="895"/>
                  </a:cubicBezTo>
                  <a:cubicBezTo>
                    <a:pt x="193" y="1120"/>
                    <a:pt x="193" y="1120"/>
                    <a:pt x="193" y="1120"/>
                  </a:cubicBezTo>
                  <a:cubicBezTo>
                    <a:pt x="193" y="1207"/>
                    <a:pt x="264" y="1278"/>
                    <a:pt x="351" y="1278"/>
                  </a:cubicBezTo>
                  <a:cubicBezTo>
                    <a:pt x="479" y="1278"/>
                    <a:pt x="479" y="1278"/>
                    <a:pt x="479" y="1278"/>
                  </a:cubicBezTo>
                  <a:cubicBezTo>
                    <a:pt x="567" y="1278"/>
                    <a:pt x="638" y="1207"/>
                    <a:pt x="638" y="1120"/>
                  </a:cubicBezTo>
                  <a:cubicBezTo>
                    <a:pt x="638" y="895"/>
                    <a:pt x="638" y="895"/>
                    <a:pt x="638" y="895"/>
                  </a:cubicBezTo>
                  <a:cubicBezTo>
                    <a:pt x="638" y="879"/>
                    <a:pt x="624" y="865"/>
                    <a:pt x="608" y="865"/>
                  </a:cubicBezTo>
                  <a:cubicBezTo>
                    <a:pt x="573" y="865"/>
                    <a:pt x="573" y="865"/>
                    <a:pt x="573" y="865"/>
                  </a:cubicBezTo>
                  <a:cubicBezTo>
                    <a:pt x="573" y="798"/>
                    <a:pt x="573" y="798"/>
                    <a:pt x="573" y="798"/>
                  </a:cubicBezTo>
                  <a:cubicBezTo>
                    <a:pt x="645" y="769"/>
                    <a:pt x="706" y="720"/>
                    <a:pt x="752" y="656"/>
                  </a:cubicBezTo>
                  <a:close/>
                  <a:moveTo>
                    <a:pt x="577" y="1058"/>
                  </a:moveTo>
                  <a:cubicBezTo>
                    <a:pt x="255" y="1058"/>
                    <a:pt x="255" y="1058"/>
                    <a:pt x="255" y="1058"/>
                  </a:cubicBezTo>
                  <a:cubicBezTo>
                    <a:pt x="254" y="1058"/>
                    <a:pt x="254" y="1058"/>
                    <a:pt x="253" y="1058"/>
                  </a:cubicBezTo>
                  <a:cubicBezTo>
                    <a:pt x="253" y="1022"/>
                    <a:pt x="253" y="1022"/>
                    <a:pt x="253" y="1022"/>
                  </a:cubicBezTo>
                  <a:cubicBezTo>
                    <a:pt x="577" y="1022"/>
                    <a:pt x="577" y="1022"/>
                    <a:pt x="577" y="1022"/>
                  </a:cubicBezTo>
                  <a:lnTo>
                    <a:pt x="577" y="1058"/>
                  </a:lnTo>
                  <a:close/>
                  <a:moveTo>
                    <a:pt x="479" y="1218"/>
                  </a:moveTo>
                  <a:cubicBezTo>
                    <a:pt x="351" y="1218"/>
                    <a:pt x="351" y="1218"/>
                    <a:pt x="351" y="1218"/>
                  </a:cubicBezTo>
                  <a:cubicBezTo>
                    <a:pt x="297" y="1218"/>
                    <a:pt x="253" y="1174"/>
                    <a:pt x="253" y="1120"/>
                  </a:cubicBezTo>
                  <a:cubicBezTo>
                    <a:pt x="253" y="1118"/>
                    <a:pt x="253" y="1118"/>
                    <a:pt x="253" y="1118"/>
                  </a:cubicBezTo>
                  <a:cubicBezTo>
                    <a:pt x="254" y="1118"/>
                    <a:pt x="254" y="1118"/>
                    <a:pt x="255" y="1118"/>
                  </a:cubicBezTo>
                  <a:cubicBezTo>
                    <a:pt x="577" y="1118"/>
                    <a:pt x="577" y="1118"/>
                    <a:pt x="577" y="1118"/>
                  </a:cubicBezTo>
                  <a:cubicBezTo>
                    <a:pt x="577" y="1120"/>
                    <a:pt x="577" y="1120"/>
                    <a:pt x="577" y="1120"/>
                  </a:cubicBezTo>
                  <a:cubicBezTo>
                    <a:pt x="577" y="1174"/>
                    <a:pt x="533" y="1218"/>
                    <a:pt x="479" y="1218"/>
                  </a:cubicBezTo>
                  <a:close/>
                  <a:moveTo>
                    <a:pt x="577" y="962"/>
                  </a:moveTo>
                  <a:cubicBezTo>
                    <a:pt x="253" y="962"/>
                    <a:pt x="253" y="962"/>
                    <a:pt x="253" y="962"/>
                  </a:cubicBezTo>
                  <a:cubicBezTo>
                    <a:pt x="253" y="925"/>
                    <a:pt x="253" y="925"/>
                    <a:pt x="253" y="925"/>
                  </a:cubicBezTo>
                  <a:cubicBezTo>
                    <a:pt x="287" y="925"/>
                    <a:pt x="287" y="925"/>
                    <a:pt x="287" y="925"/>
                  </a:cubicBezTo>
                  <a:cubicBezTo>
                    <a:pt x="543" y="925"/>
                    <a:pt x="543" y="925"/>
                    <a:pt x="543" y="925"/>
                  </a:cubicBezTo>
                  <a:cubicBezTo>
                    <a:pt x="577" y="925"/>
                    <a:pt x="577" y="925"/>
                    <a:pt x="577" y="925"/>
                  </a:cubicBezTo>
                  <a:lnTo>
                    <a:pt x="577" y="9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23" name="Freeform 7">
              <a:extLst>
                <a:ext uri="{FF2B5EF4-FFF2-40B4-BE49-F238E27FC236}">
                  <a16:creationId xmlns:a16="http://schemas.microsoft.com/office/drawing/2014/main" id="{88A95768-8C6F-6B1A-FADA-87217F562508}"/>
                </a:ext>
              </a:extLst>
            </p:cNvPr>
            <p:cNvSpPr>
              <a:spLocks noEditPoints="1"/>
            </p:cNvSpPr>
            <p:nvPr/>
          </p:nvSpPr>
          <p:spPr bwMode="auto">
            <a:xfrm>
              <a:off x="552" y="2556"/>
              <a:ext cx="145" cy="163"/>
            </a:xfrm>
            <a:custGeom>
              <a:avLst/>
              <a:gdLst>
                <a:gd name="T0" fmla="*/ 190 w 464"/>
                <a:gd name="T1" fmla="*/ 517 h 521"/>
                <a:gd name="T2" fmla="*/ 223 w 464"/>
                <a:gd name="T3" fmla="*/ 509 h 521"/>
                <a:gd name="T4" fmla="*/ 447 w 464"/>
                <a:gd name="T5" fmla="*/ 252 h 521"/>
                <a:gd name="T6" fmla="*/ 425 w 464"/>
                <a:gd name="T7" fmla="*/ 202 h 521"/>
                <a:gd name="T8" fmla="*/ 294 w 464"/>
                <a:gd name="T9" fmla="*/ 202 h 521"/>
                <a:gd name="T10" fmla="*/ 294 w 464"/>
                <a:gd name="T11" fmla="*/ 40 h 521"/>
                <a:gd name="T12" fmla="*/ 242 w 464"/>
                <a:gd name="T13" fmla="*/ 20 h 521"/>
                <a:gd name="T14" fmla="*/ 17 w 464"/>
                <a:gd name="T15" fmla="*/ 277 h 521"/>
                <a:gd name="T16" fmla="*/ 40 w 464"/>
                <a:gd name="T17" fmla="*/ 327 h 521"/>
                <a:gd name="T18" fmla="*/ 170 w 464"/>
                <a:gd name="T19" fmla="*/ 327 h 521"/>
                <a:gd name="T20" fmla="*/ 170 w 464"/>
                <a:gd name="T21" fmla="*/ 489 h 521"/>
                <a:gd name="T22" fmla="*/ 190 w 464"/>
                <a:gd name="T23" fmla="*/ 517 h 521"/>
                <a:gd name="T24" fmla="*/ 106 w 464"/>
                <a:gd name="T25" fmla="*/ 267 h 521"/>
                <a:gd name="T26" fmla="*/ 234 w 464"/>
                <a:gd name="T27" fmla="*/ 120 h 521"/>
                <a:gd name="T28" fmla="*/ 234 w 464"/>
                <a:gd name="T29" fmla="*/ 232 h 521"/>
                <a:gd name="T30" fmla="*/ 264 w 464"/>
                <a:gd name="T31" fmla="*/ 262 h 521"/>
                <a:gd name="T32" fmla="*/ 358 w 464"/>
                <a:gd name="T33" fmla="*/ 262 h 521"/>
                <a:gd name="T34" fmla="*/ 230 w 464"/>
                <a:gd name="T35" fmla="*/ 409 h 521"/>
                <a:gd name="T36" fmla="*/ 230 w 464"/>
                <a:gd name="T37" fmla="*/ 297 h 521"/>
                <a:gd name="T38" fmla="*/ 200 w 464"/>
                <a:gd name="T39" fmla="*/ 267 h 521"/>
                <a:gd name="T40" fmla="*/ 106 w 464"/>
                <a:gd name="T41" fmla="*/ 267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64" h="521">
                  <a:moveTo>
                    <a:pt x="190" y="517"/>
                  </a:moveTo>
                  <a:cubicBezTo>
                    <a:pt x="201" y="521"/>
                    <a:pt x="215" y="518"/>
                    <a:pt x="223" y="509"/>
                  </a:cubicBezTo>
                  <a:cubicBezTo>
                    <a:pt x="447" y="252"/>
                    <a:pt x="447" y="252"/>
                    <a:pt x="447" y="252"/>
                  </a:cubicBezTo>
                  <a:cubicBezTo>
                    <a:pt x="464" y="233"/>
                    <a:pt x="450" y="202"/>
                    <a:pt x="425" y="202"/>
                  </a:cubicBezTo>
                  <a:cubicBezTo>
                    <a:pt x="294" y="202"/>
                    <a:pt x="294" y="202"/>
                    <a:pt x="294" y="202"/>
                  </a:cubicBezTo>
                  <a:cubicBezTo>
                    <a:pt x="294" y="40"/>
                    <a:pt x="294" y="40"/>
                    <a:pt x="294" y="40"/>
                  </a:cubicBezTo>
                  <a:cubicBezTo>
                    <a:pt x="294" y="13"/>
                    <a:pt x="260" y="0"/>
                    <a:pt x="242" y="20"/>
                  </a:cubicBezTo>
                  <a:cubicBezTo>
                    <a:pt x="17" y="277"/>
                    <a:pt x="17" y="277"/>
                    <a:pt x="17" y="277"/>
                  </a:cubicBezTo>
                  <a:cubicBezTo>
                    <a:pt x="0" y="296"/>
                    <a:pt x="15" y="327"/>
                    <a:pt x="40" y="327"/>
                  </a:cubicBezTo>
                  <a:cubicBezTo>
                    <a:pt x="170" y="327"/>
                    <a:pt x="170" y="327"/>
                    <a:pt x="170" y="327"/>
                  </a:cubicBezTo>
                  <a:cubicBezTo>
                    <a:pt x="170" y="489"/>
                    <a:pt x="170" y="489"/>
                    <a:pt x="170" y="489"/>
                  </a:cubicBezTo>
                  <a:cubicBezTo>
                    <a:pt x="170" y="501"/>
                    <a:pt x="178" y="513"/>
                    <a:pt x="190" y="517"/>
                  </a:cubicBezTo>
                  <a:close/>
                  <a:moveTo>
                    <a:pt x="106" y="267"/>
                  </a:moveTo>
                  <a:cubicBezTo>
                    <a:pt x="234" y="120"/>
                    <a:pt x="234" y="120"/>
                    <a:pt x="234" y="120"/>
                  </a:cubicBezTo>
                  <a:cubicBezTo>
                    <a:pt x="234" y="232"/>
                    <a:pt x="234" y="232"/>
                    <a:pt x="234" y="232"/>
                  </a:cubicBezTo>
                  <a:cubicBezTo>
                    <a:pt x="234" y="249"/>
                    <a:pt x="248" y="262"/>
                    <a:pt x="264" y="262"/>
                  </a:cubicBezTo>
                  <a:cubicBezTo>
                    <a:pt x="358" y="262"/>
                    <a:pt x="358" y="262"/>
                    <a:pt x="358" y="262"/>
                  </a:cubicBezTo>
                  <a:cubicBezTo>
                    <a:pt x="230" y="409"/>
                    <a:pt x="230" y="409"/>
                    <a:pt x="230" y="409"/>
                  </a:cubicBezTo>
                  <a:cubicBezTo>
                    <a:pt x="230" y="297"/>
                    <a:pt x="230" y="297"/>
                    <a:pt x="230" y="297"/>
                  </a:cubicBezTo>
                  <a:cubicBezTo>
                    <a:pt x="230" y="280"/>
                    <a:pt x="217" y="267"/>
                    <a:pt x="200" y="267"/>
                  </a:cubicBezTo>
                  <a:lnTo>
                    <a:pt x="106" y="2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24" name="Freeform 8">
              <a:extLst>
                <a:ext uri="{FF2B5EF4-FFF2-40B4-BE49-F238E27FC236}">
                  <a16:creationId xmlns:a16="http://schemas.microsoft.com/office/drawing/2014/main" id="{48666991-F2AB-787B-F59D-DAA008B14AE9}"/>
                </a:ext>
              </a:extLst>
            </p:cNvPr>
            <p:cNvSpPr>
              <a:spLocks/>
            </p:cNvSpPr>
            <p:nvPr/>
          </p:nvSpPr>
          <p:spPr bwMode="auto">
            <a:xfrm>
              <a:off x="615" y="2459"/>
              <a:ext cx="19" cy="39"/>
            </a:xfrm>
            <a:custGeom>
              <a:avLst/>
              <a:gdLst>
                <a:gd name="T0" fmla="*/ 60 w 60"/>
                <a:gd name="T1" fmla="*/ 95 h 125"/>
                <a:gd name="T2" fmla="*/ 60 w 60"/>
                <a:gd name="T3" fmla="*/ 30 h 125"/>
                <a:gd name="T4" fmla="*/ 30 w 60"/>
                <a:gd name="T5" fmla="*/ 0 h 125"/>
                <a:gd name="T6" fmla="*/ 0 w 60"/>
                <a:gd name="T7" fmla="*/ 30 h 125"/>
                <a:gd name="T8" fmla="*/ 0 w 60"/>
                <a:gd name="T9" fmla="*/ 95 h 125"/>
                <a:gd name="T10" fmla="*/ 30 w 60"/>
                <a:gd name="T11" fmla="*/ 125 h 125"/>
                <a:gd name="T12" fmla="*/ 60 w 60"/>
                <a:gd name="T13" fmla="*/ 95 h 125"/>
              </a:gdLst>
              <a:ahLst/>
              <a:cxnLst>
                <a:cxn ang="0">
                  <a:pos x="T0" y="T1"/>
                </a:cxn>
                <a:cxn ang="0">
                  <a:pos x="T2" y="T3"/>
                </a:cxn>
                <a:cxn ang="0">
                  <a:pos x="T4" y="T5"/>
                </a:cxn>
                <a:cxn ang="0">
                  <a:pos x="T6" y="T7"/>
                </a:cxn>
                <a:cxn ang="0">
                  <a:pos x="T8" y="T9"/>
                </a:cxn>
                <a:cxn ang="0">
                  <a:pos x="T10" y="T11"/>
                </a:cxn>
                <a:cxn ang="0">
                  <a:pos x="T12" y="T13"/>
                </a:cxn>
              </a:cxnLst>
              <a:rect l="0" t="0" r="r" b="b"/>
              <a:pathLst>
                <a:path w="60" h="125">
                  <a:moveTo>
                    <a:pt x="60" y="95"/>
                  </a:moveTo>
                  <a:cubicBezTo>
                    <a:pt x="60" y="30"/>
                    <a:pt x="60" y="30"/>
                    <a:pt x="60" y="30"/>
                  </a:cubicBezTo>
                  <a:cubicBezTo>
                    <a:pt x="60" y="14"/>
                    <a:pt x="47" y="0"/>
                    <a:pt x="30" y="0"/>
                  </a:cubicBezTo>
                  <a:cubicBezTo>
                    <a:pt x="14" y="0"/>
                    <a:pt x="0" y="14"/>
                    <a:pt x="0" y="30"/>
                  </a:cubicBezTo>
                  <a:cubicBezTo>
                    <a:pt x="0" y="95"/>
                    <a:pt x="0" y="95"/>
                    <a:pt x="0" y="95"/>
                  </a:cubicBezTo>
                  <a:cubicBezTo>
                    <a:pt x="0" y="111"/>
                    <a:pt x="14" y="125"/>
                    <a:pt x="30" y="125"/>
                  </a:cubicBezTo>
                  <a:cubicBezTo>
                    <a:pt x="47" y="125"/>
                    <a:pt x="60" y="111"/>
                    <a:pt x="60" y="9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25" name="Freeform 9">
              <a:extLst>
                <a:ext uri="{FF2B5EF4-FFF2-40B4-BE49-F238E27FC236}">
                  <a16:creationId xmlns:a16="http://schemas.microsoft.com/office/drawing/2014/main" id="{7BF5249B-451F-C121-EA51-E0D9BA1D7769}"/>
                </a:ext>
              </a:extLst>
            </p:cNvPr>
            <p:cNvSpPr>
              <a:spLocks/>
            </p:cNvSpPr>
            <p:nvPr/>
          </p:nvSpPr>
          <p:spPr bwMode="auto">
            <a:xfrm>
              <a:off x="494" y="2508"/>
              <a:ext cx="34" cy="35"/>
            </a:xfrm>
            <a:custGeom>
              <a:avLst/>
              <a:gdLst>
                <a:gd name="T0" fmla="*/ 57 w 111"/>
                <a:gd name="T1" fmla="*/ 100 h 112"/>
                <a:gd name="T2" fmla="*/ 101 w 111"/>
                <a:gd name="T3" fmla="*/ 98 h 112"/>
                <a:gd name="T4" fmla="*/ 99 w 111"/>
                <a:gd name="T5" fmla="*/ 57 h 112"/>
                <a:gd name="T6" fmla="*/ 54 w 111"/>
                <a:gd name="T7" fmla="*/ 12 h 112"/>
                <a:gd name="T8" fmla="*/ 11 w 111"/>
                <a:gd name="T9" fmla="*/ 12 h 112"/>
                <a:gd name="T10" fmla="*/ 11 w 111"/>
                <a:gd name="T11" fmla="*/ 54 h 112"/>
                <a:gd name="T12" fmla="*/ 57 w 111"/>
                <a:gd name="T13" fmla="*/ 100 h 112"/>
              </a:gdLst>
              <a:ahLst/>
              <a:cxnLst>
                <a:cxn ang="0">
                  <a:pos x="T0" y="T1"/>
                </a:cxn>
                <a:cxn ang="0">
                  <a:pos x="T2" y="T3"/>
                </a:cxn>
                <a:cxn ang="0">
                  <a:pos x="T4" y="T5"/>
                </a:cxn>
                <a:cxn ang="0">
                  <a:pos x="T6" y="T7"/>
                </a:cxn>
                <a:cxn ang="0">
                  <a:pos x="T8" y="T9"/>
                </a:cxn>
                <a:cxn ang="0">
                  <a:pos x="T10" y="T11"/>
                </a:cxn>
                <a:cxn ang="0">
                  <a:pos x="T12" y="T13"/>
                </a:cxn>
              </a:cxnLst>
              <a:rect l="0" t="0" r="r" b="b"/>
              <a:pathLst>
                <a:path w="111" h="112">
                  <a:moveTo>
                    <a:pt x="57" y="100"/>
                  </a:moveTo>
                  <a:cubicBezTo>
                    <a:pt x="69" y="112"/>
                    <a:pt x="90" y="111"/>
                    <a:pt x="101" y="98"/>
                  </a:cubicBezTo>
                  <a:cubicBezTo>
                    <a:pt x="111" y="86"/>
                    <a:pt x="110" y="68"/>
                    <a:pt x="99" y="57"/>
                  </a:cubicBezTo>
                  <a:cubicBezTo>
                    <a:pt x="54" y="12"/>
                    <a:pt x="54" y="12"/>
                    <a:pt x="54" y="12"/>
                  </a:cubicBezTo>
                  <a:cubicBezTo>
                    <a:pt x="42" y="0"/>
                    <a:pt x="23" y="0"/>
                    <a:pt x="11" y="12"/>
                  </a:cubicBezTo>
                  <a:cubicBezTo>
                    <a:pt x="0" y="24"/>
                    <a:pt x="0" y="43"/>
                    <a:pt x="11" y="54"/>
                  </a:cubicBezTo>
                  <a:lnTo>
                    <a:pt x="57" y="1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26" name="Freeform 10">
              <a:extLst>
                <a:ext uri="{FF2B5EF4-FFF2-40B4-BE49-F238E27FC236}">
                  <a16:creationId xmlns:a16="http://schemas.microsoft.com/office/drawing/2014/main" id="{AE101D3F-37BF-56AB-08B2-5FC567A7C90E}"/>
                </a:ext>
              </a:extLst>
            </p:cNvPr>
            <p:cNvSpPr>
              <a:spLocks/>
            </p:cNvSpPr>
            <p:nvPr/>
          </p:nvSpPr>
          <p:spPr bwMode="auto">
            <a:xfrm>
              <a:off x="445" y="2629"/>
              <a:ext cx="39" cy="19"/>
            </a:xfrm>
            <a:custGeom>
              <a:avLst/>
              <a:gdLst>
                <a:gd name="T0" fmla="*/ 94 w 124"/>
                <a:gd name="T1" fmla="*/ 0 h 61"/>
                <a:gd name="T2" fmla="*/ 30 w 124"/>
                <a:gd name="T3" fmla="*/ 0 h 61"/>
                <a:gd name="T4" fmla="*/ 0 w 124"/>
                <a:gd name="T5" fmla="*/ 30 h 61"/>
                <a:gd name="T6" fmla="*/ 30 w 124"/>
                <a:gd name="T7" fmla="*/ 61 h 61"/>
                <a:gd name="T8" fmla="*/ 94 w 124"/>
                <a:gd name="T9" fmla="*/ 61 h 61"/>
                <a:gd name="T10" fmla="*/ 124 w 124"/>
                <a:gd name="T11" fmla="*/ 30 h 61"/>
                <a:gd name="T12" fmla="*/ 94 w 124"/>
                <a:gd name="T13" fmla="*/ 0 h 61"/>
              </a:gdLst>
              <a:ahLst/>
              <a:cxnLst>
                <a:cxn ang="0">
                  <a:pos x="T0" y="T1"/>
                </a:cxn>
                <a:cxn ang="0">
                  <a:pos x="T2" y="T3"/>
                </a:cxn>
                <a:cxn ang="0">
                  <a:pos x="T4" y="T5"/>
                </a:cxn>
                <a:cxn ang="0">
                  <a:pos x="T6" y="T7"/>
                </a:cxn>
                <a:cxn ang="0">
                  <a:pos x="T8" y="T9"/>
                </a:cxn>
                <a:cxn ang="0">
                  <a:pos x="T10" y="T11"/>
                </a:cxn>
                <a:cxn ang="0">
                  <a:pos x="T12" y="T13"/>
                </a:cxn>
              </a:cxnLst>
              <a:rect l="0" t="0" r="r" b="b"/>
              <a:pathLst>
                <a:path w="124" h="61">
                  <a:moveTo>
                    <a:pt x="94" y="0"/>
                  </a:moveTo>
                  <a:cubicBezTo>
                    <a:pt x="30" y="0"/>
                    <a:pt x="30" y="0"/>
                    <a:pt x="30" y="0"/>
                  </a:cubicBezTo>
                  <a:cubicBezTo>
                    <a:pt x="13" y="0"/>
                    <a:pt x="0" y="14"/>
                    <a:pt x="0" y="30"/>
                  </a:cubicBezTo>
                  <a:cubicBezTo>
                    <a:pt x="0" y="47"/>
                    <a:pt x="13" y="61"/>
                    <a:pt x="30" y="61"/>
                  </a:cubicBezTo>
                  <a:cubicBezTo>
                    <a:pt x="94" y="61"/>
                    <a:pt x="94" y="61"/>
                    <a:pt x="94" y="61"/>
                  </a:cubicBezTo>
                  <a:cubicBezTo>
                    <a:pt x="111" y="61"/>
                    <a:pt x="124" y="47"/>
                    <a:pt x="124" y="30"/>
                  </a:cubicBezTo>
                  <a:cubicBezTo>
                    <a:pt x="124" y="14"/>
                    <a:pt x="111" y="0"/>
                    <a:pt x="9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27" name="Freeform 11">
              <a:extLst>
                <a:ext uri="{FF2B5EF4-FFF2-40B4-BE49-F238E27FC236}">
                  <a16:creationId xmlns:a16="http://schemas.microsoft.com/office/drawing/2014/main" id="{2FA958B2-AC10-72DB-E668-5327C158054A}"/>
                </a:ext>
              </a:extLst>
            </p:cNvPr>
            <p:cNvSpPr>
              <a:spLocks/>
            </p:cNvSpPr>
            <p:nvPr/>
          </p:nvSpPr>
          <p:spPr bwMode="auto">
            <a:xfrm>
              <a:off x="494" y="2735"/>
              <a:ext cx="34" cy="34"/>
            </a:xfrm>
            <a:custGeom>
              <a:avLst/>
              <a:gdLst>
                <a:gd name="T0" fmla="*/ 57 w 111"/>
                <a:gd name="T1" fmla="*/ 11 h 111"/>
                <a:gd name="T2" fmla="*/ 11 w 111"/>
                <a:gd name="T3" fmla="*/ 57 h 111"/>
                <a:gd name="T4" fmla="*/ 10 w 111"/>
                <a:gd name="T5" fmla="*/ 97 h 111"/>
                <a:gd name="T6" fmla="*/ 54 w 111"/>
                <a:gd name="T7" fmla="*/ 99 h 111"/>
                <a:gd name="T8" fmla="*/ 99 w 111"/>
                <a:gd name="T9" fmla="*/ 54 h 111"/>
                <a:gd name="T10" fmla="*/ 99 w 111"/>
                <a:gd name="T11" fmla="*/ 11 h 111"/>
                <a:gd name="T12" fmla="*/ 57 w 111"/>
                <a:gd name="T13" fmla="*/ 11 h 111"/>
              </a:gdLst>
              <a:ahLst/>
              <a:cxnLst>
                <a:cxn ang="0">
                  <a:pos x="T0" y="T1"/>
                </a:cxn>
                <a:cxn ang="0">
                  <a:pos x="T2" y="T3"/>
                </a:cxn>
                <a:cxn ang="0">
                  <a:pos x="T4" y="T5"/>
                </a:cxn>
                <a:cxn ang="0">
                  <a:pos x="T6" y="T7"/>
                </a:cxn>
                <a:cxn ang="0">
                  <a:pos x="T8" y="T9"/>
                </a:cxn>
                <a:cxn ang="0">
                  <a:pos x="T10" y="T11"/>
                </a:cxn>
                <a:cxn ang="0">
                  <a:pos x="T12" y="T13"/>
                </a:cxn>
              </a:cxnLst>
              <a:rect l="0" t="0" r="r" b="b"/>
              <a:pathLst>
                <a:path w="111" h="111">
                  <a:moveTo>
                    <a:pt x="57" y="11"/>
                  </a:moveTo>
                  <a:cubicBezTo>
                    <a:pt x="11" y="57"/>
                    <a:pt x="11" y="57"/>
                    <a:pt x="11" y="57"/>
                  </a:cubicBezTo>
                  <a:cubicBezTo>
                    <a:pt x="1" y="68"/>
                    <a:pt x="0" y="86"/>
                    <a:pt x="10" y="97"/>
                  </a:cubicBezTo>
                  <a:cubicBezTo>
                    <a:pt x="21" y="111"/>
                    <a:pt x="42" y="111"/>
                    <a:pt x="54" y="99"/>
                  </a:cubicBezTo>
                  <a:cubicBezTo>
                    <a:pt x="99" y="54"/>
                    <a:pt x="99" y="54"/>
                    <a:pt x="99" y="54"/>
                  </a:cubicBezTo>
                  <a:cubicBezTo>
                    <a:pt x="111" y="42"/>
                    <a:pt x="111" y="23"/>
                    <a:pt x="99" y="11"/>
                  </a:cubicBezTo>
                  <a:cubicBezTo>
                    <a:pt x="88" y="0"/>
                    <a:pt x="69" y="0"/>
                    <a:pt x="5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28" name="Freeform 12">
              <a:extLst>
                <a:ext uri="{FF2B5EF4-FFF2-40B4-BE49-F238E27FC236}">
                  <a16:creationId xmlns:a16="http://schemas.microsoft.com/office/drawing/2014/main" id="{263B2767-F207-3587-37E3-07428A0E5398}"/>
                </a:ext>
              </a:extLst>
            </p:cNvPr>
            <p:cNvSpPr>
              <a:spLocks/>
            </p:cNvSpPr>
            <p:nvPr/>
          </p:nvSpPr>
          <p:spPr bwMode="auto">
            <a:xfrm>
              <a:off x="720" y="2735"/>
              <a:ext cx="35" cy="34"/>
            </a:xfrm>
            <a:custGeom>
              <a:avLst/>
              <a:gdLst>
                <a:gd name="T0" fmla="*/ 54 w 111"/>
                <a:gd name="T1" fmla="*/ 11 h 112"/>
                <a:gd name="T2" fmla="*/ 12 w 111"/>
                <a:gd name="T3" fmla="*/ 11 h 112"/>
                <a:gd name="T4" fmla="*/ 12 w 111"/>
                <a:gd name="T5" fmla="*/ 54 h 112"/>
                <a:gd name="T6" fmla="*/ 57 w 111"/>
                <a:gd name="T7" fmla="*/ 99 h 112"/>
                <a:gd name="T8" fmla="*/ 102 w 111"/>
                <a:gd name="T9" fmla="*/ 96 h 112"/>
                <a:gd name="T10" fmla="*/ 100 w 111"/>
                <a:gd name="T11" fmla="*/ 57 h 112"/>
                <a:gd name="T12" fmla="*/ 54 w 111"/>
                <a:gd name="T13" fmla="*/ 11 h 112"/>
              </a:gdLst>
              <a:ahLst/>
              <a:cxnLst>
                <a:cxn ang="0">
                  <a:pos x="T0" y="T1"/>
                </a:cxn>
                <a:cxn ang="0">
                  <a:pos x="T2" y="T3"/>
                </a:cxn>
                <a:cxn ang="0">
                  <a:pos x="T4" y="T5"/>
                </a:cxn>
                <a:cxn ang="0">
                  <a:pos x="T6" y="T7"/>
                </a:cxn>
                <a:cxn ang="0">
                  <a:pos x="T8" y="T9"/>
                </a:cxn>
                <a:cxn ang="0">
                  <a:pos x="T10" y="T11"/>
                </a:cxn>
                <a:cxn ang="0">
                  <a:pos x="T12" y="T13"/>
                </a:cxn>
              </a:cxnLst>
              <a:rect l="0" t="0" r="r" b="b"/>
              <a:pathLst>
                <a:path w="111" h="112">
                  <a:moveTo>
                    <a:pt x="54" y="11"/>
                  </a:moveTo>
                  <a:cubicBezTo>
                    <a:pt x="43" y="0"/>
                    <a:pt x="24" y="0"/>
                    <a:pt x="12" y="11"/>
                  </a:cubicBezTo>
                  <a:cubicBezTo>
                    <a:pt x="0" y="23"/>
                    <a:pt x="0" y="42"/>
                    <a:pt x="12" y="54"/>
                  </a:cubicBezTo>
                  <a:cubicBezTo>
                    <a:pt x="57" y="99"/>
                    <a:pt x="57" y="99"/>
                    <a:pt x="57" y="99"/>
                  </a:cubicBezTo>
                  <a:cubicBezTo>
                    <a:pt x="70" y="112"/>
                    <a:pt x="91" y="110"/>
                    <a:pt x="102" y="96"/>
                  </a:cubicBezTo>
                  <a:cubicBezTo>
                    <a:pt x="111" y="85"/>
                    <a:pt x="111" y="67"/>
                    <a:pt x="100" y="57"/>
                  </a:cubicBezTo>
                  <a:lnTo>
                    <a:pt x="54"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29" name="Freeform 13">
              <a:extLst>
                <a:ext uri="{FF2B5EF4-FFF2-40B4-BE49-F238E27FC236}">
                  <a16:creationId xmlns:a16="http://schemas.microsoft.com/office/drawing/2014/main" id="{B6D88E64-B5A7-F3EB-2EBE-D17B5A461DD9}"/>
                </a:ext>
              </a:extLst>
            </p:cNvPr>
            <p:cNvSpPr>
              <a:spLocks/>
            </p:cNvSpPr>
            <p:nvPr/>
          </p:nvSpPr>
          <p:spPr bwMode="auto">
            <a:xfrm>
              <a:off x="765" y="2629"/>
              <a:ext cx="39" cy="19"/>
            </a:xfrm>
            <a:custGeom>
              <a:avLst/>
              <a:gdLst>
                <a:gd name="T0" fmla="*/ 124 w 124"/>
                <a:gd name="T1" fmla="*/ 30 h 61"/>
                <a:gd name="T2" fmla="*/ 94 w 124"/>
                <a:gd name="T3" fmla="*/ 0 h 61"/>
                <a:gd name="T4" fmla="*/ 30 w 124"/>
                <a:gd name="T5" fmla="*/ 0 h 61"/>
                <a:gd name="T6" fmla="*/ 0 w 124"/>
                <a:gd name="T7" fmla="*/ 30 h 61"/>
                <a:gd name="T8" fmla="*/ 30 w 124"/>
                <a:gd name="T9" fmla="*/ 61 h 61"/>
                <a:gd name="T10" fmla="*/ 94 w 124"/>
                <a:gd name="T11" fmla="*/ 61 h 61"/>
                <a:gd name="T12" fmla="*/ 124 w 124"/>
                <a:gd name="T13" fmla="*/ 30 h 61"/>
              </a:gdLst>
              <a:ahLst/>
              <a:cxnLst>
                <a:cxn ang="0">
                  <a:pos x="T0" y="T1"/>
                </a:cxn>
                <a:cxn ang="0">
                  <a:pos x="T2" y="T3"/>
                </a:cxn>
                <a:cxn ang="0">
                  <a:pos x="T4" y="T5"/>
                </a:cxn>
                <a:cxn ang="0">
                  <a:pos x="T6" y="T7"/>
                </a:cxn>
                <a:cxn ang="0">
                  <a:pos x="T8" y="T9"/>
                </a:cxn>
                <a:cxn ang="0">
                  <a:pos x="T10" y="T11"/>
                </a:cxn>
                <a:cxn ang="0">
                  <a:pos x="T12" y="T13"/>
                </a:cxn>
              </a:cxnLst>
              <a:rect l="0" t="0" r="r" b="b"/>
              <a:pathLst>
                <a:path w="124" h="61">
                  <a:moveTo>
                    <a:pt x="124" y="30"/>
                  </a:moveTo>
                  <a:cubicBezTo>
                    <a:pt x="124" y="14"/>
                    <a:pt x="111" y="0"/>
                    <a:pt x="94" y="0"/>
                  </a:cubicBezTo>
                  <a:cubicBezTo>
                    <a:pt x="30" y="0"/>
                    <a:pt x="30" y="0"/>
                    <a:pt x="30" y="0"/>
                  </a:cubicBezTo>
                  <a:cubicBezTo>
                    <a:pt x="13" y="0"/>
                    <a:pt x="0" y="14"/>
                    <a:pt x="0" y="30"/>
                  </a:cubicBezTo>
                  <a:cubicBezTo>
                    <a:pt x="0" y="47"/>
                    <a:pt x="13" y="61"/>
                    <a:pt x="30" y="61"/>
                  </a:cubicBezTo>
                  <a:cubicBezTo>
                    <a:pt x="94" y="61"/>
                    <a:pt x="94" y="61"/>
                    <a:pt x="94" y="61"/>
                  </a:cubicBezTo>
                  <a:cubicBezTo>
                    <a:pt x="111" y="61"/>
                    <a:pt x="124" y="47"/>
                    <a:pt x="124"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30" name="Freeform 14">
              <a:extLst>
                <a:ext uri="{FF2B5EF4-FFF2-40B4-BE49-F238E27FC236}">
                  <a16:creationId xmlns:a16="http://schemas.microsoft.com/office/drawing/2014/main" id="{E48F1A5A-8028-592D-9209-FF537A79EEFC}"/>
                </a:ext>
              </a:extLst>
            </p:cNvPr>
            <p:cNvSpPr>
              <a:spLocks/>
            </p:cNvSpPr>
            <p:nvPr/>
          </p:nvSpPr>
          <p:spPr bwMode="auto">
            <a:xfrm>
              <a:off x="720" y="2508"/>
              <a:ext cx="35" cy="35"/>
            </a:xfrm>
            <a:custGeom>
              <a:avLst/>
              <a:gdLst>
                <a:gd name="T0" fmla="*/ 56 w 111"/>
                <a:gd name="T1" fmla="*/ 12 h 112"/>
                <a:gd name="T2" fmla="*/ 11 w 111"/>
                <a:gd name="T3" fmla="*/ 57 h 112"/>
                <a:gd name="T4" fmla="*/ 9 w 111"/>
                <a:gd name="T5" fmla="*/ 97 h 112"/>
                <a:gd name="T6" fmla="*/ 53 w 111"/>
                <a:gd name="T7" fmla="*/ 100 h 112"/>
                <a:gd name="T8" fmla="*/ 99 w 111"/>
                <a:gd name="T9" fmla="*/ 54 h 112"/>
                <a:gd name="T10" fmla="*/ 99 w 111"/>
                <a:gd name="T11" fmla="*/ 12 h 112"/>
                <a:gd name="T12" fmla="*/ 56 w 111"/>
                <a:gd name="T13" fmla="*/ 12 h 112"/>
              </a:gdLst>
              <a:ahLst/>
              <a:cxnLst>
                <a:cxn ang="0">
                  <a:pos x="T0" y="T1"/>
                </a:cxn>
                <a:cxn ang="0">
                  <a:pos x="T2" y="T3"/>
                </a:cxn>
                <a:cxn ang="0">
                  <a:pos x="T4" y="T5"/>
                </a:cxn>
                <a:cxn ang="0">
                  <a:pos x="T6" y="T7"/>
                </a:cxn>
                <a:cxn ang="0">
                  <a:pos x="T8" y="T9"/>
                </a:cxn>
                <a:cxn ang="0">
                  <a:pos x="T10" y="T11"/>
                </a:cxn>
                <a:cxn ang="0">
                  <a:pos x="T12" y="T13"/>
                </a:cxn>
              </a:cxnLst>
              <a:rect l="0" t="0" r="r" b="b"/>
              <a:pathLst>
                <a:path w="111" h="112">
                  <a:moveTo>
                    <a:pt x="56" y="12"/>
                  </a:moveTo>
                  <a:cubicBezTo>
                    <a:pt x="11" y="57"/>
                    <a:pt x="11" y="57"/>
                    <a:pt x="11" y="57"/>
                  </a:cubicBezTo>
                  <a:cubicBezTo>
                    <a:pt x="0" y="68"/>
                    <a:pt x="0" y="85"/>
                    <a:pt x="9" y="97"/>
                  </a:cubicBezTo>
                  <a:cubicBezTo>
                    <a:pt x="20" y="111"/>
                    <a:pt x="41" y="112"/>
                    <a:pt x="53" y="100"/>
                  </a:cubicBezTo>
                  <a:cubicBezTo>
                    <a:pt x="99" y="54"/>
                    <a:pt x="99" y="54"/>
                    <a:pt x="99" y="54"/>
                  </a:cubicBezTo>
                  <a:cubicBezTo>
                    <a:pt x="111" y="43"/>
                    <a:pt x="111" y="24"/>
                    <a:pt x="99" y="12"/>
                  </a:cubicBezTo>
                  <a:cubicBezTo>
                    <a:pt x="87" y="0"/>
                    <a:pt x="68" y="0"/>
                    <a:pt x="5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grpSp>
      <p:grpSp>
        <p:nvGrpSpPr>
          <p:cNvPr id="31" name="Group 4">
            <a:extLst>
              <a:ext uri="{FF2B5EF4-FFF2-40B4-BE49-F238E27FC236}">
                <a16:creationId xmlns:a16="http://schemas.microsoft.com/office/drawing/2014/main" id="{F764EF8B-331D-0C40-7B31-6EA6DE36C44F}"/>
              </a:ext>
            </a:extLst>
          </p:cNvPr>
          <p:cNvGrpSpPr>
            <a:grpSpLocks noChangeAspect="1"/>
          </p:cNvGrpSpPr>
          <p:nvPr/>
        </p:nvGrpSpPr>
        <p:grpSpPr bwMode="auto">
          <a:xfrm>
            <a:off x="2349889" y="1539340"/>
            <a:ext cx="425792" cy="446679"/>
            <a:chOff x="3709" y="1629"/>
            <a:chExt cx="503" cy="520"/>
          </a:xfrm>
          <a:solidFill>
            <a:schemeClr val="tx1"/>
          </a:solidFill>
        </p:grpSpPr>
        <p:sp>
          <p:nvSpPr>
            <p:cNvPr id="32" name="Freeform 5">
              <a:extLst>
                <a:ext uri="{FF2B5EF4-FFF2-40B4-BE49-F238E27FC236}">
                  <a16:creationId xmlns:a16="http://schemas.microsoft.com/office/drawing/2014/main" id="{456A3474-486A-AB0B-998D-DA3EEA517E15}"/>
                </a:ext>
              </a:extLst>
            </p:cNvPr>
            <p:cNvSpPr>
              <a:spLocks noEditPoints="1"/>
            </p:cNvSpPr>
            <p:nvPr/>
          </p:nvSpPr>
          <p:spPr bwMode="auto">
            <a:xfrm>
              <a:off x="3975" y="1912"/>
              <a:ext cx="237" cy="237"/>
            </a:xfrm>
            <a:custGeom>
              <a:avLst/>
              <a:gdLst>
                <a:gd name="T0" fmla="*/ 76 w 83"/>
                <a:gd name="T1" fmla="*/ 34 h 83"/>
                <a:gd name="T2" fmla="*/ 72 w 83"/>
                <a:gd name="T3" fmla="*/ 24 h 83"/>
                <a:gd name="T4" fmla="*/ 74 w 83"/>
                <a:gd name="T5" fmla="*/ 16 h 83"/>
                <a:gd name="T6" fmla="*/ 64 w 83"/>
                <a:gd name="T7" fmla="*/ 9 h 83"/>
                <a:gd name="T8" fmla="*/ 54 w 83"/>
                <a:gd name="T9" fmla="*/ 13 h 83"/>
                <a:gd name="T10" fmla="*/ 50 w 83"/>
                <a:gd name="T11" fmla="*/ 3 h 83"/>
                <a:gd name="T12" fmla="*/ 38 w 83"/>
                <a:gd name="T13" fmla="*/ 0 h 83"/>
                <a:gd name="T14" fmla="*/ 33 w 83"/>
                <a:gd name="T15" fmla="*/ 9 h 83"/>
                <a:gd name="T16" fmla="*/ 24 w 83"/>
                <a:gd name="T17" fmla="*/ 13 h 83"/>
                <a:gd name="T18" fmla="*/ 15 w 83"/>
                <a:gd name="T19" fmla="*/ 10 h 83"/>
                <a:gd name="T20" fmla="*/ 8 w 83"/>
                <a:gd name="T21" fmla="*/ 20 h 83"/>
                <a:gd name="T22" fmla="*/ 12 w 83"/>
                <a:gd name="T23" fmla="*/ 30 h 83"/>
                <a:gd name="T24" fmla="*/ 2 w 83"/>
                <a:gd name="T25" fmla="*/ 35 h 83"/>
                <a:gd name="T26" fmla="*/ 0 w 83"/>
                <a:gd name="T27" fmla="*/ 47 h 83"/>
                <a:gd name="T28" fmla="*/ 7 w 83"/>
                <a:gd name="T29" fmla="*/ 51 h 83"/>
                <a:gd name="T30" fmla="*/ 12 w 83"/>
                <a:gd name="T31" fmla="*/ 61 h 83"/>
                <a:gd name="T32" fmla="*/ 9 w 83"/>
                <a:gd name="T33" fmla="*/ 69 h 83"/>
                <a:gd name="T34" fmla="*/ 20 w 83"/>
                <a:gd name="T35" fmla="*/ 75 h 83"/>
                <a:gd name="T36" fmla="*/ 30 w 83"/>
                <a:gd name="T37" fmla="*/ 71 h 83"/>
                <a:gd name="T38" fmla="*/ 35 w 83"/>
                <a:gd name="T39" fmla="*/ 81 h 83"/>
                <a:gd name="T40" fmla="*/ 47 w 83"/>
                <a:gd name="T41" fmla="*/ 83 h 83"/>
                <a:gd name="T42" fmla="*/ 50 w 83"/>
                <a:gd name="T43" fmla="*/ 77 h 83"/>
                <a:gd name="T44" fmla="*/ 60 w 83"/>
                <a:gd name="T45" fmla="*/ 73 h 83"/>
                <a:gd name="T46" fmla="*/ 67 w 83"/>
                <a:gd name="T47" fmla="*/ 75 h 83"/>
                <a:gd name="T48" fmla="*/ 74 w 83"/>
                <a:gd name="T49" fmla="*/ 65 h 83"/>
                <a:gd name="T50" fmla="*/ 71 w 83"/>
                <a:gd name="T51" fmla="*/ 55 h 83"/>
                <a:gd name="T52" fmla="*/ 80 w 83"/>
                <a:gd name="T53" fmla="*/ 50 h 83"/>
                <a:gd name="T54" fmla="*/ 83 w 83"/>
                <a:gd name="T55" fmla="*/ 38 h 83"/>
                <a:gd name="T56" fmla="*/ 77 w 83"/>
                <a:gd name="T57" fmla="*/ 44 h 83"/>
                <a:gd name="T58" fmla="*/ 65 w 83"/>
                <a:gd name="T59" fmla="*/ 52 h 83"/>
                <a:gd name="T60" fmla="*/ 67 w 83"/>
                <a:gd name="T61" fmla="*/ 66 h 83"/>
                <a:gd name="T62" fmla="*/ 64 w 83"/>
                <a:gd name="T63" fmla="*/ 68 h 83"/>
                <a:gd name="T64" fmla="*/ 44 w 83"/>
                <a:gd name="T65" fmla="*/ 76 h 83"/>
                <a:gd name="T66" fmla="*/ 40 w 83"/>
                <a:gd name="T67" fmla="*/ 77 h 83"/>
                <a:gd name="T68" fmla="*/ 32 w 83"/>
                <a:gd name="T69" fmla="*/ 66 h 83"/>
                <a:gd name="T70" fmla="*/ 18 w 83"/>
                <a:gd name="T71" fmla="*/ 68 h 83"/>
                <a:gd name="T72" fmla="*/ 17 w 83"/>
                <a:gd name="T73" fmla="*/ 64 h 83"/>
                <a:gd name="T74" fmla="*/ 8 w 83"/>
                <a:gd name="T75" fmla="*/ 45 h 83"/>
                <a:gd name="T76" fmla="*/ 6 w 83"/>
                <a:gd name="T77" fmla="*/ 41 h 83"/>
                <a:gd name="T78" fmla="*/ 18 w 83"/>
                <a:gd name="T79" fmla="*/ 32 h 83"/>
                <a:gd name="T80" fmla="*/ 15 w 83"/>
                <a:gd name="T81" fmla="*/ 19 h 83"/>
                <a:gd name="T82" fmla="*/ 20 w 83"/>
                <a:gd name="T83" fmla="*/ 18 h 83"/>
                <a:gd name="T84" fmla="*/ 40 w 83"/>
                <a:gd name="T85" fmla="*/ 10 h 83"/>
                <a:gd name="T86" fmla="*/ 44 w 83"/>
                <a:gd name="T87" fmla="*/ 7 h 83"/>
                <a:gd name="T88" fmla="*/ 52 w 83"/>
                <a:gd name="T89" fmla="*/ 18 h 83"/>
                <a:gd name="T90" fmla="*/ 66 w 83"/>
                <a:gd name="T91" fmla="*/ 16 h 83"/>
                <a:gd name="T92" fmla="*/ 67 w 83"/>
                <a:gd name="T93" fmla="*/ 20 h 83"/>
                <a:gd name="T94" fmla="*/ 75 w 83"/>
                <a:gd name="T95" fmla="*/ 40 h 83"/>
                <a:gd name="T96" fmla="*/ 77 w 83"/>
                <a:gd name="T97" fmla="*/ 44 h 83"/>
                <a:gd name="T98" fmla="*/ 77 w 83"/>
                <a:gd name="T99" fmla="*/ 44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3" h="83">
                  <a:moveTo>
                    <a:pt x="80" y="35"/>
                  </a:moveTo>
                  <a:cubicBezTo>
                    <a:pt x="76" y="34"/>
                    <a:pt x="76" y="34"/>
                    <a:pt x="76" y="34"/>
                  </a:cubicBezTo>
                  <a:cubicBezTo>
                    <a:pt x="74" y="34"/>
                    <a:pt x="72" y="32"/>
                    <a:pt x="71" y="30"/>
                  </a:cubicBezTo>
                  <a:cubicBezTo>
                    <a:pt x="70" y="28"/>
                    <a:pt x="71" y="26"/>
                    <a:pt x="72" y="24"/>
                  </a:cubicBezTo>
                  <a:cubicBezTo>
                    <a:pt x="75" y="20"/>
                    <a:pt x="75" y="20"/>
                    <a:pt x="75" y="20"/>
                  </a:cubicBezTo>
                  <a:cubicBezTo>
                    <a:pt x="76" y="19"/>
                    <a:pt x="76" y="17"/>
                    <a:pt x="74" y="16"/>
                  </a:cubicBezTo>
                  <a:cubicBezTo>
                    <a:pt x="68" y="10"/>
                    <a:pt x="68" y="10"/>
                    <a:pt x="68" y="10"/>
                  </a:cubicBezTo>
                  <a:cubicBezTo>
                    <a:pt x="67" y="9"/>
                    <a:pt x="65" y="8"/>
                    <a:pt x="64" y="9"/>
                  </a:cubicBezTo>
                  <a:cubicBezTo>
                    <a:pt x="60" y="12"/>
                    <a:pt x="60" y="12"/>
                    <a:pt x="60" y="12"/>
                  </a:cubicBezTo>
                  <a:cubicBezTo>
                    <a:pt x="58" y="13"/>
                    <a:pt x="56" y="13"/>
                    <a:pt x="54" y="13"/>
                  </a:cubicBezTo>
                  <a:cubicBezTo>
                    <a:pt x="52" y="12"/>
                    <a:pt x="51" y="10"/>
                    <a:pt x="50" y="8"/>
                  </a:cubicBezTo>
                  <a:cubicBezTo>
                    <a:pt x="50" y="3"/>
                    <a:pt x="50" y="3"/>
                    <a:pt x="50" y="3"/>
                  </a:cubicBezTo>
                  <a:cubicBezTo>
                    <a:pt x="49" y="1"/>
                    <a:pt x="48" y="0"/>
                    <a:pt x="47" y="0"/>
                  </a:cubicBezTo>
                  <a:cubicBezTo>
                    <a:pt x="38" y="0"/>
                    <a:pt x="38" y="0"/>
                    <a:pt x="38" y="0"/>
                  </a:cubicBezTo>
                  <a:cubicBezTo>
                    <a:pt x="36" y="0"/>
                    <a:pt x="35" y="1"/>
                    <a:pt x="35" y="3"/>
                  </a:cubicBezTo>
                  <a:cubicBezTo>
                    <a:pt x="33" y="9"/>
                    <a:pt x="33" y="9"/>
                    <a:pt x="33" y="9"/>
                  </a:cubicBezTo>
                  <a:cubicBezTo>
                    <a:pt x="33" y="11"/>
                    <a:pt x="32" y="13"/>
                    <a:pt x="30" y="13"/>
                  </a:cubicBezTo>
                  <a:cubicBezTo>
                    <a:pt x="28" y="14"/>
                    <a:pt x="25" y="14"/>
                    <a:pt x="24" y="13"/>
                  </a:cubicBezTo>
                  <a:cubicBezTo>
                    <a:pt x="19" y="9"/>
                    <a:pt x="19" y="9"/>
                    <a:pt x="19" y="9"/>
                  </a:cubicBezTo>
                  <a:cubicBezTo>
                    <a:pt x="17" y="8"/>
                    <a:pt x="16" y="9"/>
                    <a:pt x="15" y="10"/>
                  </a:cubicBezTo>
                  <a:cubicBezTo>
                    <a:pt x="8" y="16"/>
                    <a:pt x="8" y="16"/>
                    <a:pt x="8" y="16"/>
                  </a:cubicBezTo>
                  <a:cubicBezTo>
                    <a:pt x="7" y="17"/>
                    <a:pt x="7" y="19"/>
                    <a:pt x="8" y="20"/>
                  </a:cubicBezTo>
                  <a:cubicBezTo>
                    <a:pt x="11" y="24"/>
                    <a:pt x="11" y="24"/>
                    <a:pt x="11" y="24"/>
                  </a:cubicBezTo>
                  <a:cubicBezTo>
                    <a:pt x="12" y="26"/>
                    <a:pt x="13" y="28"/>
                    <a:pt x="12" y="30"/>
                  </a:cubicBezTo>
                  <a:cubicBezTo>
                    <a:pt x="11" y="32"/>
                    <a:pt x="9" y="34"/>
                    <a:pt x="7" y="34"/>
                  </a:cubicBezTo>
                  <a:cubicBezTo>
                    <a:pt x="2" y="35"/>
                    <a:pt x="2" y="35"/>
                    <a:pt x="2" y="35"/>
                  </a:cubicBezTo>
                  <a:cubicBezTo>
                    <a:pt x="1" y="35"/>
                    <a:pt x="0" y="37"/>
                    <a:pt x="0" y="38"/>
                  </a:cubicBezTo>
                  <a:cubicBezTo>
                    <a:pt x="0" y="47"/>
                    <a:pt x="0" y="47"/>
                    <a:pt x="0" y="47"/>
                  </a:cubicBezTo>
                  <a:cubicBezTo>
                    <a:pt x="0" y="49"/>
                    <a:pt x="1" y="50"/>
                    <a:pt x="3" y="50"/>
                  </a:cubicBezTo>
                  <a:cubicBezTo>
                    <a:pt x="7" y="51"/>
                    <a:pt x="7" y="51"/>
                    <a:pt x="7" y="51"/>
                  </a:cubicBezTo>
                  <a:cubicBezTo>
                    <a:pt x="10" y="51"/>
                    <a:pt x="11" y="53"/>
                    <a:pt x="12" y="55"/>
                  </a:cubicBezTo>
                  <a:cubicBezTo>
                    <a:pt x="13" y="57"/>
                    <a:pt x="13" y="59"/>
                    <a:pt x="12" y="61"/>
                  </a:cubicBezTo>
                  <a:cubicBezTo>
                    <a:pt x="9" y="65"/>
                    <a:pt x="9" y="65"/>
                    <a:pt x="9" y="65"/>
                  </a:cubicBezTo>
                  <a:cubicBezTo>
                    <a:pt x="8" y="66"/>
                    <a:pt x="8" y="67"/>
                    <a:pt x="9" y="69"/>
                  </a:cubicBezTo>
                  <a:cubicBezTo>
                    <a:pt x="16" y="75"/>
                    <a:pt x="16" y="75"/>
                    <a:pt x="16" y="75"/>
                  </a:cubicBezTo>
                  <a:cubicBezTo>
                    <a:pt x="17" y="76"/>
                    <a:pt x="19" y="76"/>
                    <a:pt x="20" y="75"/>
                  </a:cubicBezTo>
                  <a:cubicBezTo>
                    <a:pt x="24" y="72"/>
                    <a:pt x="24" y="72"/>
                    <a:pt x="24" y="72"/>
                  </a:cubicBezTo>
                  <a:cubicBezTo>
                    <a:pt x="26" y="71"/>
                    <a:pt x="28" y="71"/>
                    <a:pt x="30" y="71"/>
                  </a:cubicBezTo>
                  <a:cubicBezTo>
                    <a:pt x="32" y="72"/>
                    <a:pt x="33" y="74"/>
                    <a:pt x="34" y="76"/>
                  </a:cubicBezTo>
                  <a:cubicBezTo>
                    <a:pt x="35" y="81"/>
                    <a:pt x="35" y="81"/>
                    <a:pt x="35" y="81"/>
                  </a:cubicBezTo>
                  <a:cubicBezTo>
                    <a:pt x="35" y="82"/>
                    <a:pt x="36" y="83"/>
                    <a:pt x="38" y="83"/>
                  </a:cubicBezTo>
                  <a:cubicBezTo>
                    <a:pt x="47" y="83"/>
                    <a:pt x="47" y="83"/>
                    <a:pt x="47" y="83"/>
                  </a:cubicBezTo>
                  <a:cubicBezTo>
                    <a:pt x="48" y="83"/>
                    <a:pt x="50" y="82"/>
                    <a:pt x="50" y="81"/>
                  </a:cubicBezTo>
                  <a:cubicBezTo>
                    <a:pt x="50" y="77"/>
                    <a:pt x="50" y="77"/>
                    <a:pt x="50" y="77"/>
                  </a:cubicBezTo>
                  <a:cubicBezTo>
                    <a:pt x="51" y="75"/>
                    <a:pt x="52" y="73"/>
                    <a:pt x="54" y="72"/>
                  </a:cubicBezTo>
                  <a:cubicBezTo>
                    <a:pt x="56" y="72"/>
                    <a:pt x="58" y="72"/>
                    <a:pt x="60" y="73"/>
                  </a:cubicBezTo>
                  <a:cubicBezTo>
                    <a:pt x="63" y="75"/>
                    <a:pt x="63" y="75"/>
                    <a:pt x="63" y="75"/>
                  </a:cubicBezTo>
                  <a:cubicBezTo>
                    <a:pt x="64" y="76"/>
                    <a:pt x="66" y="76"/>
                    <a:pt x="67" y="75"/>
                  </a:cubicBezTo>
                  <a:cubicBezTo>
                    <a:pt x="73" y="69"/>
                    <a:pt x="73" y="69"/>
                    <a:pt x="73" y="69"/>
                  </a:cubicBezTo>
                  <a:cubicBezTo>
                    <a:pt x="75" y="67"/>
                    <a:pt x="75" y="66"/>
                    <a:pt x="74" y="65"/>
                  </a:cubicBezTo>
                  <a:cubicBezTo>
                    <a:pt x="71" y="61"/>
                    <a:pt x="71" y="61"/>
                    <a:pt x="71" y="61"/>
                  </a:cubicBezTo>
                  <a:cubicBezTo>
                    <a:pt x="70" y="59"/>
                    <a:pt x="70" y="57"/>
                    <a:pt x="71" y="55"/>
                  </a:cubicBezTo>
                  <a:cubicBezTo>
                    <a:pt x="71" y="53"/>
                    <a:pt x="73" y="51"/>
                    <a:pt x="75" y="51"/>
                  </a:cubicBezTo>
                  <a:cubicBezTo>
                    <a:pt x="80" y="50"/>
                    <a:pt x="80" y="50"/>
                    <a:pt x="80" y="50"/>
                  </a:cubicBezTo>
                  <a:cubicBezTo>
                    <a:pt x="82" y="50"/>
                    <a:pt x="83" y="49"/>
                    <a:pt x="83" y="47"/>
                  </a:cubicBezTo>
                  <a:cubicBezTo>
                    <a:pt x="83" y="38"/>
                    <a:pt x="83" y="38"/>
                    <a:pt x="83" y="38"/>
                  </a:cubicBezTo>
                  <a:cubicBezTo>
                    <a:pt x="83" y="37"/>
                    <a:pt x="82" y="35"/>
                    <a:pt x="80" y="35"/>
                  </a:cubicBezTo>
                  <a:close/>
                  <a:moveTo>
                    <a:pt x="77" y="44"/>
                  </a:moveTo>
                  <a:cubicBezTo>
                    <a:pt x="74" y="45"/>
                    <a:pt x="74" y="45"/>
                    <a:pt x="74" y="45"/>
                  </a:cubicBezTo>
                  <a:cubicBezTo>
                    <a:pt x="70" y="45"/>
                    <a:pt x="67" y="48"/>
                    <a:pt x="65" y="52"/>
                  </a:cubicBezTo>
                  <a:cubicBezTo>
                    <a:pt x="63" y="56"/>
                    <a:pt x="63" y="61"/>
                    <a:pt x="66" y="64"/>
                  </a:cubicBezTo>
                  <a:cubicBezTo>
                    <a:pt x="67" y="66"/>
                    <a:pt x="67" y="66"/>
                    <a:pt x="67" y="66"/>
                  </a:cubicBezTo>
                  <a:cubicBezTo>
                    <a:pt x="65" y="68"/>
                    <a:pt x="65" y="68"/>
                    <a:pt x="65" y="68"/>
                  </a:cubicBezTo>
                  <a:cubicBezTo>
                    <a:pt x="64" y="68"/>
                    <a:pt x="64" y="68"/>
                    <a:pt x="64" y="68"/>
                  </a:cubicBezTo>
                  <a:cubicBezTo>
                    <a:pt x="60" y="65"/>
                    <a:pt x="56" y="65"/>
                    <a:pt x="52" y="66"/>
                  </a:cubicBezTo>
                  <a:cubicBezTo>
                    <a:pt x="47" y="68"/>
                    <a:pt x="45" y="72"/>
                    <a:pt x="44" y="76"/>
                  </a:cubicBezTo>
                  <a:cubicBezTo>
                    <a:pt x="44" y="77"/>
                    <a:pt x="44" y="77"/>
                    <a:pt x="44" y="77"/>
                  </a:cubicBezTo>
                  <a:cubicBezTo>
                    <a:pt x="40" y="77"/>
                    <a:pt x="40" y="77"/>
                    <a:pt x="40" y="77"/>
                  </a:cubicBezTo>
                  <a:cubicBezTo>
                    <a:pt x="40" y="75"/>
                    <a:pt x="40" y="75"/>
                    <a:pt x="40" y="75"/>
                  </a:cubicBezTo>
                  <a:cubicBezTo>
                    <a:pt x="39" y="71"/>
                    <a:pt x="36" y="67"/>
                    <a:pt x="32" y="66"/>
                  </a:cubicBezTo>
                  <a:cubicBezTo>
                    <a:pt x="28" y="64"/>
                    <a:pt x="23" y="65"/>
                    <a:pt x="20" y="67"/>
                  </a:cubicBezTo>
                  <a:cubicBezTo>
                    <a:pt x="18" y="68"/>
                    <a:pt x="18" y="68"/>
                    <a:pt x="18" y="68"/>
                  </a:cubicBezTo>
                  <a:cubicBezTo>
                    <a:pt x="16" y="66"/>
                    <a:pt x="16" y="66"/>
                    <a:pt x="16" y="66"/>
                  </a:cubicBezTo>
                  <a:cubicBezTo>
                    <a:pt x="17" y="64"/>
                    <a:pt x="17" y="64"/>
                    <a:pt x="17" y="64"/>
                  </a:cubicBezTo>
                  <a:cubicBezTo>
                    <a:pt x="19" y="61"/>
                    <a:pt x="20" y="56"/>
                    <a:pt x="18" y="52"/>
                  </a:cubicBezTo>
                  <a:cubicBezTo>
                    <a:pt x="16" y="48"/>
                    <a:pt x="13" y="45"/>
                    <a:pt x="8" y="45"/>
                  </a:cubicBezTo>
                  <a:cubicBezTo>
                    <a:pt x="6" y="44"/>
                    <a:pt x="6" y="44"/>
                    <a:pt x="6" y="44"/>
                  </a:cubicBezTo>
                  <a:cubicBezTo>
                    <a:pt x="6" y="41"/>
                    <a:pt x="6" y="41"/>
                    <a:pt x="6" y="41"/>
                  </a:cubicBezTo>
                  <a:cubicBezTo>
                    <a:pt x="8" y="40"/>
                    <a:pt x="8" y="40"/>
                    <a:pt x="8" y="40"/>
                  </a:cubicBezTo>
                  <a:cubicBezTo>
                    <a:pt x="13" y="39"/>
                    <a:pt x="16" y="37"/>
                    <a:pt x="18" y="32"/>
                  </a:cubicBezTo>
                  <a:cubicBezTo>
                    <a:pt x="19" y="28"/>
                    <a:pt x="19" y="24"/>
                    <a:pt x="16" y="20"/>
                  </a:cubicBezTo>
                  <a:cubicBezTo>
                    <a:pt x="15" y="19"/>
                    <a:pt x="15" y="19"/>
                    <a:pt x="15" y="19"/>
                  </a:cubicBezTo>
                  <a:cubicBezTo>
                    <a:pt x="17" y="16"/>
                    <a:pt x="17" y="16"/>
                    <a:pt x="17" y="16"/>
                  </a:cubicBezTo>
                  <a:cubicBezTo>
                    <a:pt x="20" y="18"/>
                    <a:pt x="20" y="18"/>
                    <a:pt x="20" y="18"/>
                  </a:cubicBezTo>
                  <a:cubicBezTo>
                    <a:pt x="24" y="20"/>
                    <a:pt x="28" y="21"/>
                    <a:pt x="32" y="19"/>
                  </a:cubicBezTo>
                  <a:cubicBezTo>
                    <a:pt x="36" y="18"/>
                    <a:pt x="39" y="14"/>
                    <a:pt x="40" y="10"/>
                  </a:cubicBezTo>
                  <a:cubicBezTo>
                    <a:pt x="40" y="7"/>
                    <a:pt x="40" y="7"/>
                    <a:pt x="40" y="7"/>
                  </a:cubicBezTo>
                  <a:cubicBezTo>
                    <a:pt x="44" y="7"/>
                    <a:pt x="44" y="7"/>
                    <a:pt x="44" y="7"/>
                  </a:cubicBezTo>
                  <a:cubicBezTo>
                    <a:pt x="44" y="9"/>
                    <a:pt x="44" y="9"/>
                    <a:pt x="44" y="9"/>
                  </a:cubicBezTo>
                  <a:cubicBezTo>
                    <a:pt x="45" y="13"/>
                    <a:pt x="48" y="17"/>
                    <a:pt x="52" y="18"/>
                  </a:cubicBezTo>
                  <a:cubicBezTo>
                    <a:pt x="56" y="20"/>
                    <a:pt x="60" y="20"/>
                    <a:pt x="64" y="17"/>
                  </a:cubicBezTo>
                  <a:cubicBezTo>
                    <a:pt x="66" y="16"/>
                    <a:pt x="66" y="16"/>
                    <a:pt x="66" y="16"/>
                  </a:cubicBezTo>
                  <a:cubicBezTo>
                    <a:pt x="68" y="19"/>
                    <a:pt x="68" y="19"/>
                    <a:pt x="68" y="19"/>
                  </a:cubicBezTo>
                  <a:cubicBezTo>
                    <a:pt x="67" y="20"/>
                    <a:pt x="67" y="20"/>
                    <a:pt x="67" y="20"/>
                  </a:cubicBezTo>
                  <a:cubicBezTo>
                    <a:pt x="64" y="24"/>
                    <a:pt x="64" y="28"/>
                    <a:pt x="65" y="32"/>
                  </a:cubicBezTo>
                  <a:cubicBezTo>
                    <a:pt x="67" y="37"/>
                    <a:pt x="70" y="39"/>
                    <a:pt x="75" y="40"/>
                  </a:cubicBezTo>
                  <a:cubicBezTo>
                    <a:pt x="77" y="41"/>
                    <a:pt x="77" y="41"/>
                    <a:pt x="77" y="41"/>
                  </a:cubicBezTo>
                  <a:lnTo>
                    <a:pt x="77" y="44"/>
                  </a:lnTo>
                  <a:close/>
                  <a:moveTo>
                    <a:pt x="77" y="44"/>
                  </a:moveTo>
                  <a:cubicBezTo>
                    <a:pt x="77" y="44"/>
                    <a:pt x="77" y="44"/>
                    <a:pt x="77" y="4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33" name="Freeform 6">
              <a:extLst>
                <a:ext uri="{FF2B5EF4-FFF2-40B4-BE49-F238E27FC236}">
                  <a16:creationId xmlns:a16="http://schemas.microsoft.com/office/drawing/2014/main" id="{8B9761CD-17B4-BEE0-60D5-7B11810DB6B6}"/>
                </a:ext>
              </a:extLst>
            </p:cNvPr>
            <p:cNvSpPr>
              <a:spLocks noEditPoints="1"/>
            </p:cNvSpPr>
            <p:nvPr/>
          </p:nvSpPr>
          <p:spPr bwMode="auto">
            <a:xfrm>
              <a:off x="4046" y="1986"/>
              <a:ext cx="92" cy="91"/>
            </a:xfrm>
            <a:custGeom>
              <a:avLst/>
              <a:gdLst>
                <a:gd name="T0" fmla="*/ 16 w 32"/>
                <a:gd name="T1" fmla="*/ 0 h 32"/>
                <a:gd name="T2" fmla="*/ 0 w 32"/>
                <a:gd name="T3" fmla="*/ 16 h 32"/>
                <a:gd name="T4" fmla="*/ 16 w 32"/>
                <a:gd name="T5" fmla="*/ 32 h 32"/>
                <a:gd name="T6" fmla="*/ 32 w 32"/>
                <a:gd name="T7" fmla="*/ 16 h 32"/>
                <a:gd name="T8" fmla="*/ 16 w 32"/>
                <a:gd name="T9" fmla="*/ 0 h 32"/>
                <a:gd name="T10" fmla="*/ 16 w 32"/>
                <a:gd name="T11" fmla="*/ 25 h 32"/>
                <a:gd name="T12" fmla="*/ 7 w 32"/>
                <a:gd name="T13" fmla="*/ 16 h 32"/>
                <a:gd name="T14" fmla="*/ 16 w 32"/>
                <a:gd name="T15" fmla="*/ 6 h 32"/>
                <a:gd name="T16" fmla="*/ 26 w 32"/>
                <a:gd name="T17" fmla="*/ 16 h 32"/>
                <a:gd name="T18" fmla="*/ 16 w 32"/>
                <a:gd name="T19" fmla="*/ 25 h 32"/>
                <a:gd name="T20" fmla="*/ 16 w 32"/>
                <a:gd name="T21" fmla="*/ 25 h 32"/>
                <a:gd name="T22" fmla="*/ 16 w 32"/>
                <a:gd name="T23" fmla="*/ 2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32">
                  <a:moveTo>
                    <a:pt x="16" y="0"/>
                  </a:moveTo>
                  <a:cubicBezTo>
                    <a:pt x="8" y="0"/>
                    <a:pt x="0" y="7"/>
                    <a:pt x="0" y="16"/>
                  </a:cubicBezTo>
                  <a:cubicBezTo>
                    <a:pt x="0" y="25"/>
                    <a:pt x="8" y="32"/>
                    <a:pt x="16" y="32"/>
                  </a:cubicBezTo>
                  <a:cubicBezTo>
                    <a:pt x="25" y="32"/>
                    <a:pt x="32" y="25"/>
                    <a:pt x="32" y="16"/>
                  </a:cubicBezTo>
                  <a:cubicBezTo>
                    <a:pt x="32" y="7"/>
                    <a:pt x="25" y="0"/>
                    <a:pt x="16" y="0"/>
                  </a:cubicBezTo>
                  <a:close/>
                  <a:moveTo>
                    <a:pt x="16" y="25"/>
                  </a:moveTo>
                  <a:cubicBezTo>
                    <a:pt x="11" y="25"/>
                    <a:pt x="7" y="21"/>
                    <a:pt x="7" y="16"/>
                  </a:cubicBezTo>
                  <a:cubicBezTo>
                    <a:pt x="7" y="10"/>
                    <a:pt x="11" y="6"/>
                    <a:pt x="16" y="6"/>
                  </a:cubicBezTo>
                  <a:cubicBezTo>
                    <a:pt x="22" y="6"/>
                    <a:pt x="26" y="10"/>
                    <a:pt x="26" y="16"/>
                  </a:cubicBezTo>
                  <a:cubicBezTo>
                    <a:pt x="26" y="21"/>
                    <a:pt x="22" y="25"/>
                    <a:pt x="16" y="25"/>
                  </a:cubicBezTo>
                  <a:close/>
                  <a:moveTo>
                    <a:pt x="16" y="25"/>
                  </a:moveTo>
                  <a:cubicBezTo>
                    <a:pt x="16" y="25"/>
                    <a:pt x="16" y="25"/>
                    <a:pt x="16" y="2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34" name="Freeform 7">
              <a:extLst>
                <a:ext uri="{FF2B5EF4-FFF2-40B4-BE49-F238E27FC236}">
                  <a16:creationId xmlns:a16="http://schemas.microsoft.com/office/drawing/2014/main" id="{1BC73002-F902-05F1-A3C2-354DBA241B22}"/>
                </a:ext>
              </a:extLst>
            </p:cNvPr>
            <p:cNvSpPr>
              <a:spLocks noEditPoints="1"/>
            </p:cNvSpPr>
            <p:nvPr/>
          </p:nvSpPr>
          <p:spPr bwMode="auto">
            <a:xfrm>
              <a:off x="3709" y="1629"/>
              <a:ext cx="457" cy="500"/>
            </a:xfrm>
            <a:custGeom>
              <a:avLst/>
              <a:gdLst>
                <a:gd name="T0" fmla="*/ 68 w 160"/>
                <a:gd name="T1" fmla="*/ 131 h 175"/>
                <a:gd name="T2" fmla="*/ 58 w 160"/>
                <a:gd name="T3" fmla="*/ 130 h 175"/>
                <a:gd name="T4" fmla="*/ 24 w 160"/>
                <a:gd name="T5" fmla="*/ 122 h 175"/>
                <a:gd name="T6" fmla="*/ 19 w 160"/>
                <a:gd name="T7" fmla="*/ 120 h 175"/>
                <a:gd name="T8" fmla="*/ 13 w 160"/>
                <a:gd name="T9" fmla="*/ 117 h 175"/>
                <a:gd name="T10" fmla="*/ 10 w 160"/>
                <a:gd name="T11" fmla="*/ 114 h 175"/>
                <a:gd name="T12" fmla="*/ 7 w 160"/>
                <a:gd name="T13" fmla="*/ 111 h 175"/>
                <a:gd name="T14" fmla="*/ 6 w 160"/>
                <a:gd name="T15" fmla="*/ 107 h 175"/>
                <a:gd name="T16" fmla="*/ 9 w 160"/>
                <a:gd name="T17" fmla="*/ 83 h 175"/>
                <a:gd name="T18" fmla="*/ 154 w 160"/>
                <a:gd name="T19" fmla="*/ 81 h 175"/>
                <a:gd name="T20" fmla="*/ 160 w 160"/>
                <a:gd name="T21" fmla="*/ 93 h 175"/>
                <a:gd name="T22" fmla="*/ 80 w 160"/>
                <a:gd name="T23" fmla="*/ 0 h 175"/>
                <a:gd name="T24" fmla="*/ 0 w 160"/>
                <a:gd name="T25" fmla="*/ 147 h 175"/>
                <a:gd name="T26" fmla="*/ 64 w 160"/>
                <a:gd name="T27" fmla="*/ 175 h 175"/>
                <a:gd name="T28" fmla="*/ 7 w 160"/>
                <a:gd name="T29" fmla="*/ 147 h 175"/>
                <a:gd name="T30" fmla="*/ 7 w 160"/>
                <a:gd name="T31" fmla="*/ 120 h 175"/>
                <a:gd name="T32" fmla="*/ 83 w 160"/>
                <a:gd name="T33" fmla="*/ 134 h 175"/>
                <a:gd name="T34" fmla="*/ 11 w 160"/>
                <a:gd name="T35" fmla="*/ 46 h 175"/>
                <a:gd name="T36" fmla="*/ 16 w 160"/>
                <a:gd name="T37" fmla="*/ 49 h 175"/>
                <a:gd name="T38" fmla="*/ 25 w 160"/>
                <a:gd name="T39" fmla="*/ 53 h 175"/>
                <a:gd name="T40" fmla="*/ 32 w 160"/>
                <a:gd name="T41" fmla="*/ 55 h 175"/>
                <a:gd name="T42" fmla="*/ 45 w 160"/>
                <a:gd name="T43" fmla="*/ 58 h 175"/>
                <a:gd name="T44" fmla="*/ 54 w 160"/>
                <a:gd name="T45" fmla="*/ 59 h 175"/>
                <a:gd name="T46" fmla="*/ 69 w 160"/>
                <a:gd name="T47" fmla="*/ 61 h 175"/>
                <a:gd name="T48" fmla="*/ 88 w 160"/>
                <a:gd name="T49" fmla="*/ 61 h 175"/>
                <a:gd name="T50" fmla="*/ 99 w 160"/>
                <a:gd name="T51" fmla="*/ 60 h 175"/>
                <a:gd name="T52" fmla="*/ 113 w 160"/>
                <a:gd name="T53" fmla="*/ 58 h 175"/>
                <a:gd name="T54" fmla="*/ 122 w 160"/>
                <a:gd name="T55" fmla="*/ 57 h 175"/>
                <a:gd name="T56" fmla="*/ 133 w 160"/>
                <a:gd name="T57" fmla="*/ 53 h 175"/>
                <a:gd name="T58" fmla="*/ 140 w 160"/>
                <a:gd name="T59" fmla="*/ 51 h 175"/>
                <a:gd name="T60" fmla="*/ 148 w 160"/>
                <a:gd name="T61" fmla="*/ 47 h 175"/>
                <a:gd name="T62" fmla="*/ 152 w 160"/>
                <a:gd name="T63" fmla="*/ 44 h 175"/>
                <a:gd name="T64" fmla="*/ 153 w 160"/>
                <a:gd name="T65" fmla="*/ 70 h 175"/>
                <a:gd name="T66" fmla="*/ 152 w 160"/>
                <a:gd name="T67" fmla="*/ 74 h 175"/>
                <a:gd name="T68" fmla="*/ 149 w 160"/>
                <a:gd name="T69" fmla="*/ 76 h 175"/>
                <a:gd name="T70" fmla="*/ 144 w 160"/>
                <a:gd name="T71" fmla="*/ 80 h 175"/>
                <a:gd name="T72" fmla="*/ 140 w 160"/>
                <a:gd name="T73" fmla="*/ 82 h 175"/>
                <a:gd name="T74" fmla="*/ 109 w 160"/>
                <a:gd name="T75" fmla="*/ 91 h 175"/>
                <a:gd name="T76" fmla="*/ 101 w 160"/>
                <a:gd name="T77" fmla="*/ 92 h 175"/>
                <a:gd name="T78" fmla="*/ 88 w 160"/>
                <a:gd name="T79" fmla="*/ 93 h 175"/>
                <a:gd name="T80" fmla="*/ 68 w 160"/>
                <a:gd name="T81" fmla="*/ 92 h 175"/>
                <a:gd name="T82" fmla="*/ 58 w 160"/>
                <a:gd name="T83" fmla="*/ 92 h 175"/>
                <a:gd name="T84" fmla="*/ 24 w 160"/>
                <a:gd name="T85" fmla="*/ 84 h 175"/>
                <a:gd name="T86" fmla="*/ 19 w 160"/>
                <a:gd name="T87" fmla="*/ 82 h 175"/>
                <a:gd name="T88" fmla="*/ 13 w 160"/>
                <a:gd name="T89" fmla="*/ 78 h 175"/>
                <a:gd name="T90" fmla="*/ 10 w 160"/>
                <a:gd name="T91" fmla="*/ 76 h 175"/>
                <a:gd name="T92" fmla="*/ 7 w 160"/>
                <a:gd name="T93" fmla="*/ 72 h 175"/>
                <a:gd name="T94" fmla="*/ 6 w 160"/>
                <a:gd name="T95" fmla="*/ 69 h 175"/>
                <a:gd name="T96" fmla="*/ 8 w 160"/>
                <a:gd name="T97" fmla="*/ 44 h 175"/>
                <a:gd name="T98" fmla="*/ 80 w 160"/>
                <a:gd name="T99" fmla="*/ 54 h 175"/>
                <a:gd name="T100" fmla="*/ 80 w 160"/>
                <a:gd name="T101" fmla="*/ 6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60" h="175">
                  <a:moveTo>
                    <a:pt x="80" y="131"/>
                  </a:moveTo>
                  <a:cubicBezTo>
                    <a:pt x="77" y="131"/>
                    <a:pt x="75" y="131"/>
                    <a:pt x="72" y="131"/>
                  </a:cubicBezTo>
                  <a:cubicBezTo>
                    <a:pt x="71" y="131"/>
                    <a:pt x="69" y="131"/>
                    <a:pt x="68" y="131"/>
                  </a:cubicBezTo>
                  <a:cubicBezTo>
                    <a:pt x="67" y="131"/>
                    <a:pt x="66" y="131"/>
                    <a:pt x="65" y="131"/>
                  </a:cubicBezTo>
                  <a:cubicBezTo>
                    <a:pt x="63" y="130"/>
                    <a:pt x="61" y="130"/>
                    <a:pt x="59" y="130"/>
                  </a:cubicBezTo>
                  <a:cubicBezTo>
                    <a:pt x="59" y="130"/>
                    <a:pt x="58" y="130"/>
                    <a:pt x="58" y="130"/>
                  </a:cubicBezTo>
                  <a:cubicBezTo>
                    <a:pt x="56" y="130"/>
                    <a:pt x="53" y="129"/>
                    <a:pt x="51" y="129"/>
                  </a:cubicBezTo>
                  <a:cubicBezTo>
                    <a:pt x="51" y="129"/>
                    <a:pt x="51" y="129"/>
                    <a:pt x="51" y="129"/>
                  </a:cubicBezTo>
                  <a:cubicBezTo>
                    <a:pt x="40" y="128"/>
                    <a:pt x="31" y="125"/>
                    <a:pt x="24" y="122"/>
                  </a:cubicBezTo>
                  <a:cubicBezTo>
                    <a:pt x="24" y="122"/>
                    <a:pt x="24" y="122"/>
                    <a:pt x="24" y="122"/>
                  </a:cubicBezTo>
                  <a:cubicBezTo>
                    <a:pt x="22" y="122"/>
                    <a:pt x="21" y="121"/>
                    <a:pt x="20" y="120"/>
                  </a:cubicBezTo>
                  <a:cubicBezTo>
                    <a:pt x="20" y="120"/>
                    <a:pt x="20" y="120"/>
                    <a:pt x="19" y="120"/>
                  </a:cubicBezTo>
                  <a:cubicBezTo>
                    <a:pt x="18" y="120"/>
                    <a:pt x="17" y="119"/>
                    <a:pt x="16" y="119"/>
                  </a:cubicBezTo>
                  <a:cubicBezTo>
                    <a:pt x="16" y="119"/>
                    <a:pt x="16" y="118"/>
                    <a:pt x="16" y="118"/>
                  </a:cubicBezTo>
                  <a:cubicBezTo>
                    <a:pt x="15" y="118"/>
                    <a:pt x="14" y="117"/>
                    <a:pt x="13" y="117"/>
                  </a:cubicBezTo>
                  <a:cubicBezTo>
                    <a:pt x="13" y="117"/>
                    <a:pt x="13" y="116"/>
                    <a:pt x="13" y="116"/>
                  </a:cubicBezTo>
                  <a:cubicBezTo>
                    <a:pt x="12" y="116"/>
                    <a:pt x="11" y="115"/>
                    <a:pt x="11" y="115"/>
                  </a:cubicBezTo>
                  <a:cubicBezTo>
                    <a:pt x="11" y="115"/>
                    <a:pt x="10" y="114"/>
                    <a:pt x="10" y="114"/>
                  </a:cubicBezTo>
                  <a:cubicBezTo>
                    <a:pt x="10" y="114"/>
                    <a:pt x="9" y="113"/>
                    <a:pt x="9" y="113"/>
                  </a:cubicBezTo>
                  <a:cubicBezTo>
                    <a:pt x="9" y="113"/>
                    <a:pt x="8" y="112"/>
                    <a:pt x="8" y="112"/>
                  </a:cubicBezTo>
                  <a:cubicBezTo>
                    <a:pt x="8" y="112"/>
                    <a:pt x="8" y="111"/>
                    <a:pt x="7" y="111"/>
                  </a:cubicBezTo>
                  <a:cubicBezTo>
                    <a:pt x="7" y="110"/>
                    <a:pt x="7" y="110"/>
                    <a:pt x="7" y="110"/>
                  </a:cubicBezTo>
                  <a:cubicBezTo>
                    <a:pt x="7" y="109"/>
                    <a:pt x="7" y="109"/>
                    <a:pt x="7" y="109"/>
                  </a:cubicBezTo>
                  <a:cubicBezTo>
                    <a:pt x="7" y="108"/>
                    <a:pt x="6" y="108"/>
                    <a:pt x="6" y="107"/>
                  </a:cubicBezTo>
                  <a:cubicBezTo>
                    <a:pt x="6" y="81"/>
                    <a:pt x="6" y="81"/>
                    <a:pt x="6" y="81"/>
                  </a:cubicBezTo>
                  <a:cubicBezTo>
                    <a:pt x="6" y="81"/>
                    <a:pt x="7" y="81"/>
                    <a:pt x="7" y="81"/>
                  </a:cubicBezTo>
                  <a:cubicBezTo>
                    <a:pt x="7" y="82"/>
                    <a:pt x="8" y="82"/>
                    <a:pt x="9" y="83"/>
                  </a:cubicBezTo>
                  <a:cubicBezTo>
                    <a:pt x="21" y="92"/>
                    <a:pt x="45" y="99"/>
                    <a:pt x="80" y="99"/>
                  </a:cubicBezTo>
                  <a:cubicBezTo>
                    <a:pt x="115" y="99"/>
                    <a:pt x="139" y="92"/>
                    <a:pt x="151" y="83"/>
                  </a:cubicBezTo>
                  <a:cubicBezTo>
                    <a:pt x="152" y="82"/>
                    <a:pt x="153" y="82"/>
                    <a:pt x="154" y="81"/>
                  </a:cubicBezTo>
                  <a:cubicBezTo>
                    <a:pt x="154" y="93"/>
                    <a:pt x="154" y="93"/>
                    <a:pt x="154" y="93"/>
                  </a:cubicBezTo>
                  <a:cubicBezTo>
                    <a:pt x="154" y="95"/>
                    <a:pt x="155" y="96"/>
                    <a:pt x="157" y="96"/>
                  </a:cubicBezTo>
                  <a:cubicBezTo>
                    <a:pt x="159" y="96"/>
                    <a:pt x="160" y="95"/>
                    <a:pt x="160" y="93"/>
                  </a:cubicBezTo>
                  <a:cubicBezTo>
                    <a:pt x="160" y="29"/>
                    <a:pt x="160" y="29"/>
                    <a:pt x="160" y="29"/>
                  </a:cubicBezTo>
                  <a:cubicBezTo>
                    <a:pt x="160" y="28"/>
                    <a:pt x="160" y="28"/>
                    <a:pt x="160" y="27"/>
                  </a:cubicBezTo>
                  <a:cubicBezTo>
                    <a:pt x="156" y="13"/>
                    <a:pt x="128" y="0"/>
                    <a:pt x="80" y="0"/>
                  </a:cubicBezTo>
                  <a:cubicBezTo>
                    <a:pt x="32" y="0"/>
                    <a:pt x="4" y="13"/>
                    <a:pt x="0" y="27"/>
                  </a:cubicBezTo>
                  <a:cubicBezTo>
                    <a:pt x="0" y="28"/>
                    <a:pt x="0" y="28"/>
                    <a:pt x="0" y="29"/>
                  </a:cubicBezTo>
                  <a:cubicBezTo>
                    <a:pt x="0" y="147"/>
                    <a:pt x="0" y="147"/>
                    <a:pt x="0" y="147"/>
                  </a:cubicBezTo>
                  <a:cubicBezTo>
                    <a:pt x="0" y="148"/>
                    <a:pt x="0" y="148"/>
                    <a:pt x="0" y="149"/>
                  </a:cubicBezTo>
                  <a:cubicBezTo>
                    <a:pt x="4" y="164"/>
                    <a:pt x="35" y="173"/>
                    <a:pt x="64" y="175"/>
                  </a:cubicBezTo>
                  <a:cubicBezTo>
                    <a:pt x="64" y="175"/>
                    <a:pt x="64" y="175"/>
                    <a:pt x="64" y="175"/>
                  </a:cubicBezTo>
                  <a:cubicBezTo>
                    <a:pt x="66" y="175"/>
                    <a:pt x="67" y="174"/>
                    <a:pt x="67" y="172"/>
                  </a:cubicBezTo>
                  <a:cubicBezTo>
                    <a:pt x="67" y="171"/>
                    <a:pt x="66" y="169"/>
                    <a:pt x="64" y="169"/>
                  </a:cubicBezTo>
                  <a:cubicBezTo>
                    <a:pt x="29" y="166"/>
                    <a:pt x="8" y="155"/>
                    <a:pt x="7" y="147"/>
                  </a:cubicBezTo>
                  <a:cubicBezTo>
                    <a:pt x="6" y="146"/>
                    <a:pt x="6" y="146"/>
                    <a:pt x="6" y="146"/>
                  </a:cubicBezTo>
                  <a:cubicBezTo>
                    <a:pt x="6" y="119"/>
                    <a:pt x="6" y="119"/>
                    <a:pt x="6" y="119"/>
                  </a:cubicBezTo>
                  <a:cubicBezTo>
                    <a:pt x="6" y="119"/>
                    <a:pt x="7" y="119"/>
                    <a:pt x="7" y="120"/>
                  </a:cubicBezTo>
                  <a:cubicBezTo>
                    <a:pt x="7" y="120"/>
                    <a:pt x="8" y="121"/>
                    <a:pt x="9" y="121"/>
                  </a:cubicBezTo>
                  <a:cubicBezTo>
                    <a:pt x="21" y="130"/>
                    <a:pt x="45" y="138"/>
                    <a:pt x="80" y="138"/>
                  </a:cubicBezTo>
                  <a:cubicBezTo>
                    <a:pt x="82" y="138"/>
                    <a:pt x="83" y="136"/>
                    <a:pt x="83" y="134"/>
                  </a:cubicBezTo>
                  <a:cubicBezTo>
                    <a:pt x="83" y="133"/>
                    <a:pt x="82" y="131"/>
                    <a:pt x="80" y="131"/>
                  </a:cubicBezTo>
                  <a:close/>
                  <a:moveTo>
                    <a:pt x="8" y="44"/>
                  </a:moveTo>
                  <a:cubicBezTo>
                    <a:pt x="9" y="45"/>
                    <a:pt x="10" y="46"/>
                    <a:pt x="11" y="46"/>
                  </a:cubicBezTo>
                  <a:cubicBezTo>
                    <a:pt x="12" y="46"/>
                    <a:pt x="12" y="47"/>
                    <a:pt x="12" y="47"/>
                  </a:cubicBezTo>
                  <a:cubicBezTo>
                    <a:pt x="13" y="47"/>
                    <a:pt x="14" y="48"/>
                    <a:pt x="15" y="49"/>
                  </a:cubicBezTo>
                  <a:cubicBezTo>
                    <a:pt x="16" y="49"/>
                    <a:pt x="16" y="49"/>
                    <a:pt x="16" y="49"/>
                  </a:cubicBezTo>
                  <a:cubicBezTo>
                    <a:pt x="18" y="50"/>
                    <a:pt x="19" y="50"/>
                    <a:pt x="20" y="51"/>
                  </a:cubicBezTo>
                  <a:cubicBezTo>
                    <a:pt x="20" y="51"/>
                    <a:pt x="20" y="51"/>
                    <a:pt x="21" y="51"/>
                  </a:cubicBezTo>
                  <a:cubicBezTo>
                    <a:pt x="22" y="52"/>
                    <a:pt x="24" y="52"/>
                    <a:pt x="25" y="53"/>
                  </a:cubicBezTo>
                  <a:cubicBezTo>
                    <a:pt x="26" y="53"/>
                    <a:pt x="26" y="53"/>
                    <a:pt x="27" y="53"/>
                  </a:cubicBezTo>
                  <a:cubicBezTo>
                    <a:pt x="28" y="54"/>
                    <a:pt x="29" y="54"/>
                    <a:pt x="31" y="55"/>
                  </a:cubicBezTo>
                  <a:cubicBezTo>
                    <a:pt x="31" y="55"/>
                    <a:pt x="32" y="55"/>
                    <a:pt x="32" y="55"/>
                  </a:cubicBezTo>
                  <a:cubicBezTo>
                    <a:pt x="34" y="56"/>
                    <a:pt x="36" y="56"/>
                    <a:pt x="38" y="57"/>
                  </a:cubicBezTo>
                  <a:cubicBezTo>
                    <a:pt x="39" y="57"/>
                    <a:pt x="39" y="57"/>
                    <a:pt x="39" y="57"/>
                  </a:cubicBezTo>
                  <a:cubicBezTo>
                    <a:pt x="41" y="57"/>
                    <a:pt x="43" y="58"/>
                    <a:pt x="45" y="58"/>
                  </a:cubicBezTo>
                  <a:cubicBezTo>
                    <a:pt x="45" y="58"/>
                    <a:pt x="46" y="58"/>
                    <a:pt x="47" y="58"/>
                  </a:cubicBezTo>
                  <a:cubicBezTo>
                    <a:pt x="48" y="59"/>
                    <a:pt x="50" y="59"/>
                    <a:pt x="52" y="59"/>
                  </a:cubicBezTo>
                  <a:cubicBezTo>
                    <a:pt x="53" y="59"/>
                    <a:pt x="53" y="59"/>
                    <a:pt x="54" y="59"/>
                  </a:cubicBezTo>
                  <a:cubicBezTo>
                    <a:pt x="56" y="60"/>
                    <a:pt x="59" y="60"/>
                    <a:pt x="61" y="60"/>
                  </a:cubicBezTo>
                  <a:cubicBezTo>
                    <a:pt x="62" y="60"/>
                    <a:pt x="62" y="60"/>
                    <a:pt x="63" y="60"/>
                  </a:cubicBezTo>
                  <a:cubicBezTo>
                    <a:pt x="65" y="60"/>
                    <a:pt x="67" y="60"/>
                    <a:pt x="69" y="61"/>
                  </a:cubicBezTo>
                  <a:cubicBezTo>
                    <a:pt x="70" y="61"/>
                    <a:pt x="71" y="61"/>
                    <a:pt x="72" y="61"/>
                  </a:cubicBezTo>
                  <a:cubicBezTo>
                    <a:pt x="74" y="61"/>
                    <a:pt x="77" y="61"/>
                    <a:pt x="80" y="61"/>
                  </a:cubicBezTo>
                  <a:cubicBezTo>
                    <a:pt x="83" y="61"/>
                    <a:pt x="86" y="61"/>
                    <a:pt x="88" y="61"/>
                  </a:cubicBezTo>
                  <a:cubicBezTo>
                    <a:pt x="89" y="61"/>
                    <a:pt x="90" y="61"/>
                    <a:pt x="91" y="61"/>
                  </a:cubicBezTo>
                  <a:cubicBezTo>
                    <a:pt x="93" y="60"/>
                    <a:pt x="95" y="60"/>
                    <a:pt x="97" y="60"/>
                  </a:cubicBezTo>
                  <a:cubicBezTo>
                    <a:pt x="98" y="60"/>
                    <a:pt x="98" y="60"/>
                    <a:pt x="99" y="60"/>
                  </a:cubicBezTo>
                  <a:cubicBezTo>
                    <a:pt x="101" y="60"/>
                    <a:pt x="104" y="60"/>
                    <a:pt x="106" y="59"/>
                  </a:cubicBezTo>
                  <a:cubicBezTo>
                    <a:pt x="107" y="59"/>
                    <a:pt x="107" y="59"/>
                    <a:pt x="108" y="59"/>
                  </a:cubicBezTo>
                  <a:cubicBezTo>
                    <a:pt x="110" y="59"/>
                    <a:pt x="112" y="59"/>
                    <a:pt x="113" y="58"/>
                  </a:cubicBezTo>
                  <a:cubicBezTo>
                    <a:pt x="114" y="58"/>
                    <a:pt x="115" y="58"/>
                    <a:pt x="115" y="58"/>
                  </a:cubicBezTo>
                  <a:cubicBezTo>
                    <a:pt x="117" y="58"/>
                    <a:pt x="119" y="57"/>
                    <a:pt x="121" y="57"/>
                  </a:cubicBezTo>
                  <a:cubicBezTo>
                    <a:pt x="121" y="57"/>
                    <a:pt x="121" y="57"/>
                    <a:pt x="122" y="57"/>
                  </a:cubicBezTo>
                  <a:cubicBezTo>
                    <a:pt x="124" y="56"/>
                    <a:pt x="126" y="56"/>
                    <a:pt x="128" y="55"/>
                  </a:cubicBezTo>
                  <a:cubicBezTo>
                    <a:pt x="128" y="55"/>
                    <a:pt x="129" y="55"/>
                    <a:pt x="129" y="55"/>
                  </a:cubicBezTo>
                  <a:cubicBezTo>
                    <a:pt x="131" y="54"/>
                    <a:pt x="132" y="54"/>
                    <a:pt x="133" y="53"/>
                  </a:cubicBezTo>
                  <a:cubicBezTo>
                    <a:pt x="134" y="53"/>
                    <a:pt x="134" y="53"/>
                    <a:pt x="135" y="53"/>
                  </a:cubicBezTo>
                  <a:cubicBezTo>
                    <a:pt x="136" y="52"/>
                    <a:pt x="138" y="52"/>
                    <a:pt x="139" y="51"/>
                  </a:cubicBezTo>
                  <a:cubicBezTo>
                    <a:pt x="140" y="51"/>
                    <a:pt x="140" y="51"/>
                    <a:pt x="140" y="51"/>
                  </a:cubicBezTo>
                  <a:cubicBezTo>
                    <a:pt x="141" y="50"/>
                    <a:pt x="142" y="50"/>
                    <a:pt x="144" y="49"/>
                  </a:cubicBezTo>
                  <a:cubicBezTo>
                    <a:pt x="144" y="49"/>
                    <a:pt x="144" y="49"/>
                    <a:pt x="145" y="49"/>
                  </a:cubicBezTo>
                  <a:cubicBezTo>
                    <a:pt x="146" y="48"/>
                    <a:pt x="147" y="47"/>
                    <a:pt x="148" y="47"/>
                  </a:cubicBezTo>
                  <a:cubicBezTo>
                    <a:pt x="148" y="47"/>
                    <a:pt x="148" y="46"/>
                    <a:pt x="149" y="46"/>
                  </a:cubicBezTo>
                  <a:cubicBezTo>
                    <a:pt x="150" y="46"/>
                    <a:pt x="151" y="45"/>
                    <a:pt x="152" y="44"/>
                  </a:cubicBezTo>
                  <a:cubicBezTo>
                    <a:pt x="152" y="44"/>
                    <a:pt x="152" y="44"/>
                    <a:pt x="152" y="44"/>
                  </a:cubicBezTo>
                  <a:cubicBezTo>
                    <a:pt x="153" y="43"/>
                    <a:pt x="153" y="43"/>
                    <a:pt x="154" y="42"/>
                  </a:cubicBezTo>
                  <a:cubicBezTo>
                    <a:pt x="154" y="69"/>
                    <a:pt x="154" y="69"/>
                    <a:pt x="154" y="69"/>
                  </a:cubicBezTo>
                  <a:cubicBezTo>
                    <a:pt x="154" y="69"/>
                    <a:pt x="153" y="70"/>
                    <a:pt x="153" y="70"/>
                  </a:cubicBezTo>
                  <a:cubicBezTo>
                    <a:pt x="153" y="71"/>
                    <a:pt x="153" y="71"/>
                    <a:pt x="153" y="71"/>
                  </a:cubicBezTo>
                  <a:cubicBezTo>
                    <a:pt x="153" y="72"/>
                    <a:pt x="153" y="72"/>
                    <a:pt x="153" y="72"/>
                  </a:cubicBezTo>
                  <a:cubicBezTo>
                    <a:pt x="152" y="73"/>
                    <a:pt x="152" y="73"/>
                    <a:pt x="152" y="74"/>
                  </a:cubicBezTo>
                  <a:cubicBezTo>
                    <a:pt x="152" y="74"/>
                    <a:pt x="151" y="74"/>
                    <a:pt x="151" y="74"/>
                  </a:cubicBezTo>
                  <a:cubicBezTo>
                    <a:pt x="151" y="75"/>
                    <a:pt x="150" y="75"/>
                    <a:pt x="150" y="76"/>
                  </a:cubicBezTo>
                  <a:cubicBezTo>
                    <a:pt x="150" y="76"/>
                    <a:pt x="149" y="76"/>
                    <a:pt x="149" y="76"/>
                  </a:cubicBezTo>
                  <a:cubicBezTo>
                    <a:pt x="149" y="77"/>
                    <a:pt x="148" y="77"/>
                    <a:pt x="147" y="78"/>
                  </a:cubicBezTo>
                  <a:cubicBezTo>
                    <a:pt x="147" y="78"/>
                    <a:pt x="147" y="78"/>
                    <a:pt x="147" y="78"/>
                  </a:cubicBezTo>
                  <a:cubicBezTo>
                    <a:pt x="146" y="79"/>
                    <a:pt x="145" y="79"/>
                    <a:pt x="144" y="80"/>
                  </a:cubicBezTo>
                  <a:cubicBezTo>
                    <a:pt x="144" y="80"/>
                    <a:pt x="144" y="80"/>
                    <a:pt x="144" y="80"/>
                  </a:cubicBezTo>
                  <a:cubicBezTo>
                    <a:pt x="143" y="81"/>
                    <a:pt x="142" y="81"/>
                    <a:pt x="141" y="82"/>
                  </a:cubicBezTo>
                  <a:cubicBezTo>
                    <a:pt x="140" y="82"/>
                    <a:pt x="140" y="82"/>
                    <a:pt x="140" y="82"/>
                  </a:cubicBezTo>
                  <a:cubicBezTo>
                    <a:pt x="139" y="83"/>
                    <a:pt x="138" y="83"/>
                    <a:pt x="136" y="84"/>
                  </a:cubicBezTo>
                  <a:cubicBezTo>
                    <a:pt x="136" y="84"/>
                    <a:pt x="136" y="84"/>
                    <a:pt x="136" y="84"/>
                  </a:cubicBezTo>
                  <a:cubicBezTo>
                    <a:pt x="129" y="87"/>
                    <a:pt x="120" y="89"/>
                    <a:pt x="109" y="91"/>
                  </a:cubicBezTo>
                  <a:cubicBezTo>
                    <a:pt x="109" y="91"/>
                    <a:pt x="109" y="91"/>
                    <a:pt x="109" y="91"/>
                  </a:cubicBezTo>
                  <a:cubicBezTo>
                    <a:pt x="107" y="91"/>
                    <a:pt x="104" y="91"/>
                    <a:pt x="102" y="92"/>
                  </a:cubicBezTo>
                  <a:cubicBezTo>
                    <a:pt x="102" y="92"/>
                    <a:pt x="101" y="92"/>
                    <a:pt x="101" y="92"/>
                  </a:cubicBezTo>
                  <a:cubicBezTo>
                    <a:pt x="99" y="92"/>
                    <a:pt x="97" y="92"/>
                    <a:pt x="95" y="92"/>
                  </a:cubicBezTo>
                  <a:cubicBezTo>
                    <a:pt x="94" y="92"/>
                    <a:pt x="93" y="92"/>
                    <a:pt x="92" y="92"/>
                  </a:cubicBezTo>
                  <a:cubicBezTo>
                    <a:pt x="91" y="92"/>
                    <a:pt x="89" y="93"/>
                    <a:pt x="88" y="93"/>
                  </a:cubicBezTo>
                  <a:cubicBezTo>
                    <a:pt x="85" y="93"/>
                    <a:pt x="83" y="93"/>
                    <a:pt x="80" y="93"/>
                  </a:cubicBezTo>
                  <a:cubicBezTo>
                    <a:pt x="77" y="93"/>
                    <a:pt x="75" y="93"/>
                    <a:pt x="72" y="93"/>
                  </a:cubicBezTo>
                  <a:cubicBezTo>
                    <a:pt x="71" y="93"/>
                    <a:pt x="69" y="92"/>
                    <a:pt x="68" y="92"/>
                  </a:cubicBezTo>
                  <a:cubicBezTo>
                    <a:pt x="67" y="92"/>
                    <a:pt x="66" y="92"/>
                    <a:pt x="65" y="92"/>
                  </a:cubicBezTo>
                  <a:cubicBezTo>
                    <a:pt x="63" y="92"/>
                    <a:pt x="61" y="92"/>
                    <a:pt x="59" y="92"/>
                  </a:cubicBezTo>
                  <a:cubicBezTo>
                    <a:pt x="59" y="92"/>
                    <a:pt x="58" y="92"/>
                    <a:pt x="58" y="92"/>
                  </a:cubicBezTo>
                  <a:cubicBezTo>
                    <a:pt x="56" y="91"/>
                    <a:pt x="53" y="91"/>
                    <a:pt x="51" y="91"/>
                  </a:cubicBezTo>
                  <a:cubicBezTo>
                    <a:pt x="51" y="91"/>
                    <a:pt x="51" y="91"/>
                    <a:pt x="51" y="91"/>
                  </a:cubicBezTo>
                  <a:cubicBezTo>
                    <a:pt x="40" y="89"/>
                    <a:pt x="31" y="87"/>
                    <a:pt x="24" y="84"/>
                  </a:cubicBezTo>
                  <a:cubicBezTo>
                    <a:pt x="24" y="84"/>
                    <a:pt x="24" y="84"/>
                    <a:pt x="24" y="84"/>
                  </a:cubicBezTo>
                  <a:cubicBezTo>
                    <a:pt x="22" y="83"/>
                    <a:pt x="21" y="83"/>
                    <a:pt x="20" y="82"/>
                  </a:cubicBezTo>
                  <a:cubicBezTo>
                    <a:pt x="20" y="82"/>
                    <a:pt x="20" y="82"/>
                    <a:pt x="19" y="82"/>
                  </a:cubicBezTo>
                  <a:cubicBezTo>
                    <a:pt x="18" y="81"/>
                    <a:pt x="17" y="81"/>
                    <a:pt x="16" y="80"/>
                  </a:cubicBezTo>
                  <a:cubicBezTo>
                    <a:pt x="16" y="80"/>
                    <a:pt x="16" y="80"/>
                    <a:pt x="16" y="80"/>
                  </a:cubicBezTo>
                  <a:cubicBezTo>
                    <a:pt x="15" y="79"/>
                    <a:pt x="14" y="79"/>
                    <a:pt x="13" y="78"/>
                  </a:cubicBezTo>
                  <a:cubicBezTo>
                    <a:pt x="13" y="78"/>
                    <a:pt x="13" y="78"/>
                    <a:pt x="13" y="78"/>
                  </a:cubicBezTo>
                  <a:cubicBezTo>
                    <a:pt x="12" y="77"/>
                    <a:pt x="11" y="77"/>
                    <a:pt x="11" y="76"/>
                  </a:cubicBezTo>
                  <a:cubicBezTo>
                    <a:pt x="11" y="76"/>
                    <a:pt x="10" y="76"/>
                    <a:pt x="10" y="76"/>
                  </a:cubicBezTo>
                  <a:cubicBezTo>
                    <a:pt x="10" y="75"/>
                    <a:pt x="9" y="75"/>
                    <a:pt x="9" y="74"/>
                  </a:cubicBezTo>
                  <a:cubicBezTo>
                    <a:pt x="9" y="74"/>
                    <a:pt x="8" y="74"/>
                    <a:pt x="8" y="74"/>
                  </a:cubicBezTo>
                  <a:cubicBezTo>
                    <a:pt x="8" y="73"/>
                    <a:pt x="8" y="73"/>
                    <a:pt x="7" y="72"/>
                  </a:cubicBezTo>
                  <a:cubicBezTo>
                    <a:pt x="7" y="72"/>
                    <a:pt x="7" y="72"/>
                    <a:pt x="7" y="71"/>
                  </a:cubicBezTo>
                  <a:cubicBezTo>
                    <a:pt x="7" y="71"/>
                    <a:pt x="7" y="71"/>
                    <a:pt x="7" y="70"/>
                  </a:cubicBezTo>
                  <a:cubicBezTo>
                    <a:pt x="7" y="70"/>
                    <a:pt x="6" y="69"/>
                    <a:pt x="6" y="69"/>
                  </a:cubicBezTo>
                  <a:cubicBezTo>
                    <a:pt x="6" y="42"/>
                    <a:pt x="6" y="42"/>
                    <a:pt x="6" y="42"/>
                  </a:cubicBezTo>
                  <a:cubicBezTo>
                    <a:pt x="7" y="43"/>
                    <a:pt x="7" y="43"/>
                    <a:pt x="8" y="44"/>
                  </a:cubicBezTo>
                  <a:cubicBezTo>
                    <a:pt x="8" y="44"/>
                    <a:pt x="8" y="44"/>
                    <a:pt x="8" y="44"/>
                  </a:cubicBezTo>
                  <a:close/>
                  <a:moveTo>
                    <a:pt x="80" y="6"/>
                  </a:moveTo>
                  <a:cubicBezTo>
                    <a:pt x="123" y="6"/>
                    <a:pt x="154" y="19"/>
                    <a:pt x="154" y="30"/>
                  </a:cubicBezTo>
                  <a:cubicBezTo>
                    <a:pt x="154" y="42"/>
                    <a:pt x="123" y="54"/>
                    <a:pt x="80" y="54"/>
                  </a:cubicBezTo>
                  <a:cubicBezTo>
                    <a:pt x="37" y="54"/>
                    <a:pt x="6" y="42"/>
                    <a:pt x="6" y="30"/>
                  </a:cubicBezTo>
                  <a:cubicBezTo>
                    <a:pt x="6" y="19"/>
                    <a:pt x="37" y="6"/>
                    <a:pt x="80" y="6"/>
                  </a:cubicBezTo>
                  <a:close/>
                  <a:moveTo>
                    <a:pt x="80" y="6"/>
                  </a:moveTo>
                  <a:cubicBezTo>
                    <a:pt x="80" y="6"/>
                    <a:pt x="80" y="6"/>
                    <a:pt x="80" y="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grpSp>
      <p:sp>
        <p:nvSpPr>
          <p:cNvPr id="35" name="Freeform 11">
            <a:extLst>
              <a:ext uri="{FF2B5EF4-FFF2-40B4-BE49-F238E27FC236}">
                <a16:creationId xmlns:a16="http://schemas.microsoft.com/office/drawing/2014/main" id="{273EDA7B-526B-2579-B2EF-D17F673AE759}"/>
              </a:ext>
            </a:extLst>
          </p:cNvPr>
          <p:cNvSpPr>
            <a:spLocks noEditPoints="1"/>
          </p:cNvSpPr>
          <p:nvPr/>
        </p:nvSpPr>
        <p:spPr bwMode="auto">
          <a:xfrm>
            <a:off x="3853359" y="1576434"/>
            <a:ext cx="377918" cy="372490"/>
          </a:xfrm>
          <a:custGeom>
            <a:avLst/>
            <a:gdLst>
              <a:gd name="T0" fmla="*/ 1404 w 1689"/>
              <a:gd name="T1" fmla="*/ 1044 h 1640"/>
              <a:gd name="T2" fmla="*/ 1001 w 1689"/>
              <a:gd name="T3" fmla="*/ 780 h 1640"/>
              <a:gd name="T4" fmla="*/ 1474 w 1689"/>
              <a:gd name="T5" fmla="*/ 397 h 1640"/>
              <a:gd name="T6" fmla="*/ 1630 w 1689"/>
              <a:gd name="T7" fmla="*/ 164 h 1640"/>
              <a:gd name="T8" fmla="*/ 1513 w 1689"/>
              <a:gd name="T9" fmla="*/ 13 h 1640"/>
              <a:gd name="T10" fmla="*/ 1256 w 1689"/>
              <a:gd name="T11" fmla="*/ 138 h 1640"/>
              <a:gd name="T12" fmla="*/ 1238 w 1689"/>
              <a:gd name="T13" fmla="*/ 254 h 1640"/>
              <a:gd name="T14" fmla="*/ 595 w 1689"/>
              <a:gd name="T15" fmla="*/ 373 h 1640"/>
              <a:gd name="T16" fmla="*/ 144 w 1689"/>
              <a:gd name="T17" fmla="*/ 80 h 1640"/>
              <a:gd name="T18" fmla="*/ 146 w 1689"/>
              <a:gd name="T19" fmla="*/ 134 h 1640"/>
              <a:gd name="T20" fmla="*/ 304 w 1689"/>
              <a:gd name="T21" fmla="*/ 334 h 1640"/>
              <a:gd name="T22" fmla="*/ 61 w 1689"/>
              <a:gd name="T23" fmla="*/ 313 h 1640"/>
              <a:gd name="T24" fmla="*/ 14 w 1689"/>
              <a:gd name="T25" fmla="*/ 343 h 1640"/>
              <a:gd name="T26" fmla="*/ 421 w 1689"/>
              <a:gd name="T27" fmla="*/ 594 h 1640"/>
              <a:gd name="T28" fmla="*/ 556 w 1689"/>
              <a:gd name="T29" fmla="*/ 935 h 1640"/>
              <a:gd name="T30" fmla="*/ 441 w 1689"/>
              <a:gd name="T31" fmla="*/ 912 h 1640"/>
              <a:gd name="T32" fmla="*/ 405 w 1689"/>
              <a:gd name="T33" fmla="*/ 1032 h 1640"/>
              <a:gd name="T34" fmla="*/ 27 w 1689"/>
              <a:gd name="T35" fmla="*/ 1410 h 1640"/>
              <a:gd name="T36" fmla="*/ 27 w 1689"/>
              <a:gd name="T37" fmla="*/ 1502 h 1640"/>
              <a:gd name="T38" fmla="*/ 225 w 1689"/>
              <a:gd name="T39" fmla="*/ 1613 h 1640"/>
              <a:gd name="T40" fmla="*/ 606 w 1689"/>
              <a:gd name="T41" fmla="*/ 1232 h 1640"/>
              <a:gd name="T42" fmla="*/ 694 w 1689"/>
              <a:gd name="T43" fmla="*/ 1228 h 1640"/>
              <a:gd name="T44" fmla="*/ 728 w 1689"/>
              <a:gd name="T45" fmla="*/ 1106 h 1640"/>
              <a:gd name="T46" fmla="*/ 703 w 1689"/>
              <a:gd name="T47" fmla="*/ 1081 h 1640"/>
              <a:gd name="T48" fmla="*/ 1116 w 1689"/>
              <a:gd name="T49" fmla="*/ 1286 h 1640"/>
              <a:gd name="T50" fmla="*/ 1613 w 1689"/>
              <a:gd name="T51" fmla="*/ 1540 h 1640"/>
              <a:gd name="T52" fmla="*/ 1599 w 1689"/>
              <a:gd name="T53" fmla="*/ 1488 h 1640"/>
              <a:gd name="T54" fmla="*/ 1381 w 1689"/>
              <a:gd name="T55" fmla="*/ 1403 h 1640"/>
              <a:gd name="T56" fmla="*/ 1470 w 1689"/>
              <a:gd name="T57" fmla="*/ 1251 h 1640"/>
              <a:gd name="T58" fmla="*/ 1657 w 1689"/>
              <a:gd name="T59" fmla="*/ 1299 h 1640"/>
              <a:gd name="T60" fmla="*/ 1685 w 1689"/>
              <a:gd name="T61" fmla="*/ 1252 h 1640"/>
              <a:gd name="T62" fmla="*/ 1292 w 1689"/>
              <a:gd name="T63" fmla="*/ 290 h 1640"/>
              <a:gd name="T64" fmla="*/ 1303 w 1689"/>
              <a:gd name="T65" fmla="*/ 183 h 1640"/>
              <a:gd name="T66" fmla="*/ 1562 w 1689"/>
              <a:gd name="T67" fmla="*/ 152 h 1640"/>
              <a:gd name="T68" fmla="*/ 1369 w 1689"/>
              <a:gd name="T69" fmla="*/ 336 h 1640"/>
              <a:gd name="T70" fmla="*/ 957 w 1689"/>
              <a:gd name="T71" fmla="*/ 735 h 1640"/>
              <a:gd name="T72" fmla="*/ 1292 w 1689"/>
              <a:gd name="T73" fmla="*/ 290 h 1640"/>
              <a:gd name="T74" fmla="*/ 182 w 1689"/>
              <a:gd name="T75" fmla="*/ 1565 h 1640"/>
              <a:gd name="T76" fmla="*/ 452 w 1689"/>
              <a:gd name="T77" fmla="*/ 1076 h 1640"/>
              <a:gd name="T78" fmla="*/ 560 w 1689"/>
              <a:gd name="T79" fmla="*/ 1186 h 1640"/>
              <a:gd name="T80" fmla="*/ 650 w 1689"/>
              <a:gd name="T81" fmla="*/ 1181 h 1640"/>
              <a:gd name="T82" fmla="*/ 608 w 1689"/>
              <a:gd name="T83" fmla="*/ 1139 h 1640"/>
              <a:gd name="T84" fmla="*/ 591 w 1689"/>
              <a:gd name="T85" fmla="*/ 1122 h 1640"/>
              <a:gd name="T86" fmla="*/ 489 w 1689"/>
              <a:gd name="T87" fmla="*/ 955 h 1640"/>
              <a:gd name="T88" fmla="*/ 650 w 1689"/>
              <a:gd name="T89" fmla="*/ 1181 h 1640"/>
              <a:gd name="T90" fmla="*/ 601 w 1689"/>
              <a:gd name="T91" fmla="*/ 980 h 1640"/>
              <a:gd name="T92" fmla="*/ 759 w 1689"/>
              <a:gd name="T93" fmla="*/ 932 h 1640"/>
              <a:gd name="T94" fmla="*/ 1485 w 1689"/>
              <a:gd name="T95" fmla="*/ 1189 h 1640"/>
              <a:gd name="T96" fmla="*/ 1315 w 1689"/>
              <a:gd name="T97" fmla="*/ 1311 h 1640"/>
              <a:gd name="T98" fmla="*/ 1402 w 1689"/>
              <a:gd name="T99" fmla="*/ 1501 h 1640"/>
              <a:gd name="T100" fmla="*/ 1207 w 1689"/>
              <a:gd name="T101" fmla="*/ 1454 h 1640"/>
              <a:gd name="T102" fmla="*/ 1172 w 1689"/>
              <a:gd name="T103" fmla="*/ 1254 h 1640"/>
              <a:gd name="T104" fmla="*/ 413 w 1689"/>
              <a:gd name="T105" fmla="*/ 528 h 1640"/>
              <a:gd name="T106" fmla="*/ 91 w 1689"/>
              <a:gd name="T107" fmla="*/ 404 h 1640"/>
              <a:gd name="T108" fmla="*/ 220 w 1689"/>
              <a:gd name="T109" fmla="*/ 459 h 1640"/>
              <a:gd name="T110" fmla="*/ 321 w 1689"/>
              <a:gd name="T111" fmla="*/ 162 h 1640"/>
              <a:gd name="T112" fmla="*/ 521 w 1689"/>
              <a:gd name="T113" fmla="*/ 248 h 1640"/>
              <a:gd name="T114" fmla="*/ 537 w 1689"/>
              <a:gd name="T115" fmla="*/ 406 h 1640"/>
              <a:gd name="T116" fmla="*/ 1297 w 1689"/>
              <a:gd name="T117" fmla="*/ 1134 h 1640"/>
              <a:gd name="T118" fmla="*/ 1601 w 1689"/>
              <a:gd name="T119" fmla="*/ 1220 h 1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89" h="1640">
                <a:moveTo>
                  <a:pt x="1612" y="1130"/>
                </a:moveTo>
                <a:cubicBezTo>
                  <a:pt x="1557" y="1075"/>
                  <a:pt x="1482" y="1044"/>
                  <a:pt x="1404" y="1044"/>
                </a:cubicBezTo>
                <a:cubicBezTo>
                  <a:pt x="1365" y="1044"/>
                  <a:pt x="1325" y="1052"/>
                  <a:pt x="1289" y="1068"/>
                </a:cubicBezTo>
                <a:cubicBezTo>
                  <a:pt x="1001" y="780"/>
                  <a:pt x="1001" y="780"/>
                  <a:pt x="1001" y="780"/>
                </a:cubicBezTo>
                <a:cubicBezTo>
                  <a:pt x="1383" y="400"/>
                  <a:pt x="1383" y="400"/>
                  <a:pt x="1383" y="400"/>
                </a:cubicBezTo>
                <a:cubicBezTo>
                  <a:pt x="1474" y="397"/>
                  <a:pt x="1474" y="397"/>
                  <a:pt x="1474" y="397"/>
                </a:cubicBezTo>
                <a:cubicBezTo>
                  <a:pt x="1485" y="397"/>
                  <a:pt x="1495" y="391"/>
                  <a:pt x="1500" y="382"/>
                </a:cubicBezTo>
                <a:cubicBezTo>
                  <a:pt x="1630" y="164"/>
                  <a:pt x="1630" y="164"/>
                  <a:pt x="1630" y="164"/>
                </a:cubicBezTo>
                <a:cubicBezTo>
                  <a:pt x="1638" y="151"/>
                  <a:pt x="1636" y="135"/>
                  <a:pt x="1625" y="125"/>
                </a:cubicBezTo>
                <a:cubicBezTo>
                  <a:pt x="1513" y="13"/>
                  <a:pt x="1513" y="13"/>
                  <a:pt x="1513" y="13"/>
                </a:cubicBezTo>
                <a:cubicBezTo>
                  <a:pt x="1503" y="2"/>
                  <a:pt x="1487" y="0"/>
                  <a:pt x="1474" y="8"/>
                </a:cubicBezTo>
                <a:cubicBezTo>
                  <a:pt x="1256" y="138"/>
                  <a:pt x="1256" y="138"/>
                  <a:pt x="1256" y="138"/>
                </a:cubicBezTo>
                <a:cubicBezTo>
                  <a:pt x="1247" y="143"/>
                  <a:pt x="1241" y="153"/>
                  <a:pt x="1241" y="164"/>
                </a:cubicBezTo>
                <a:cubicBezTo>
                  <a:pt x="1238" y="254"/>
                  <a:pt x="1238" y="254"/>
                  <a:pt x="1238" y="254"/>
                </a:cubicBezTo>
                <a:cubicBezTo>
                  <a:pt x="857" y="635"/>
                  <a:pt x="857" y="635"/>
                  <a:pt x="857" y="635"/>
                </a:cubicBezTo>
                <a:cubicBezTo>
                  <a:pt x="595" y="373"/>
                  <a:pt x="595" y="373"/>
                  <a:pt x="595" y="373"/>
                </a:cubicBezTo>
                <a:cubicBezTo>
                  <a:pt x="622" y="214"/>
                  <a:pt x="515" y="63"/>
                  <a:pt x="356" y="35"/>
                </a:cubicBezTo>
                <a:cubicBezTo>
                  <a:pt x="282" y="22"/>
                  <a:pt x="206" y="38"/>
                  <a:pt x="144" y="80"/>
                </a:cubicBezTo>
                <a:cubicBezTo>
                  <a:pt x="129" y="90"/>
                  <a:pt x="126" y="110"/>
                  <a:pt x="135" y="124"/>
                </a:cubicBezTo>
                <a:cubicBezTo>
                  <a:pt x="138" y="129"/>
                  <a:pt x="142" y="132"/>
                  <a:pt x="146" y="134"/>
                </a:cubicBezTo>
                <a:cubicBezTo>
                  <a:pt x="292" y="215"/>
                  <a:pt x="292" y="215"/>
                  <a:pt x="292" y="215"/>
                </a:cubicBezTo>
                <a:cubicBezTo>
                  <a:pt x="324" y="234"/>
                  <a:pt x="330" y="288"/>
                  <a:pt x="304" y="334"/>
                </a:cubicBezTo>
                <a:cubicBezTo>
                  <a:pt x="278" y="380"/>
                  <a:pt x="228" y="404"/>
                  <a:pt x="196" y="386"/>
                </a:cubicBezTo>
                <a:cubicBezTo>
                  <a:pt x="61" y="313"/>
                  <a:pt x="61" y="313"/>
                  <a:pt x="61" y="313"/>
                </a:cubicBezTo>
                <a:cubicBezTo>
                  <a:pt x="46" y="304"/>
                  <a:pt x="26" y="310"/>
                  <a:pt x="18" y="326"/>
                </a:cubicBezTo>
                <a:cubicBezTo>
                  <a:pt x="15" y="331"/>
                  <a:pt x="14" y="337"/>
                  <a:pt x="14" y="343"/>
                </a:cubicBezTo>
                <a:cubicBezTo>
                  <a:pt x="24" y="504"/>
                  <a:pt x="163" y="627"/>
                  <a:pt x="325" y="617"/>
                </a:cubicBezTo>
                <a:cubicBezTo>
                  <a:pt x="358" y="615"/>
                  <a:pt x="391" y="607"/>
                  <a:pt x="421" y="594"/>
                </a:cubicBezTo>
                <a:cubicBezTo>
                  <a:pt x="660" y="832"/>
                  <a:pt x="660" y="832"/>
                  <a:pt x="660" y="832"/>
                </a:cubicBezTo>
                <a:cubicBezTo>
                  <a:pt x="556" y="935"/>
                  <a:pt x="556" y="935"/>
                  <a:pt x="556" y="935"/>
                </a:cubicBezTo>
                <a:cubicBezTo>
                  <a:pt x="533" y="912"/>
                  <a:pt x="533" y="912"/>
                  <a:pt x="533" y="912"/>
                </a:cubicBezTo>
                <a:cubicBezTo>
                  <a:pt x="507" y="887"/>
                  <a:pt x="467" y="887"/>
                  <a:pt x="441" y="912"/>
                </a:cubicBezTo>
                <a:cubicBezTo>
                  <a:pt x="409" y="944"/>
                  <a:pt x="409" y="944"/>
                  <a:pt x="409" y="944"/>
                </a:cubicBezTo>
                <a:cubicBezTo>
                  <a:pt x="384" y="968"/>
                  <a:pt x="383" y="1006"/>
                  <a:pt x="405" y="1032"/>
                </a:cubicBezTo>
                <a:cubicBezTo>
                  <a:pt x="405" y="1032"/>
                  <a:pt x="405" y="1032"/>
                  <a:pt x="405" y="1032"/>
                </a:cubicBezTo>
                <a:cubicBezTo>
                  <a:pt x="27" y="1410"/>
                  <a:pt x="27" y="1410"/>
                  <a:pt x="27" y="1410"/>
                </a:cubicBezTo>
                <a:cubicBezTo>
                  <a:pt x="1" y="1434"/>
                  <a:pt x="0" y="1475"/>
                  <a:pt x="25" y="1500"/>
                </a:cubicBezTo>
                <a:cubicBezTo>
                  <a:pt x="25" y="1501"/>
                  <a:pt x="26" y="1502"/>
                  <a:pt x="27" y="1502"/>
                </a:cubicBezTo>
                <a:cubicBezTo>
                  <a:pt x="135" y="1611"/>
                  <a:pt x="135" y="1611"/>
                  <a:pt x="135" y="1611"/>
                </a:cubicBezTo>
                <a:cubicBezTo>
                  <a:pt x="159" y="1636"/>
                  <a:pt x="200" y="1637"/>
                  <a:pt x="225" y="1613"/>
                </a:cubicBezTo>
                <a:cubicBezTo>
                  <a:pt x="226" y="1612"/>
                  <a:pt x="227" y="1611"/>
                  <a:pt x="227" y="1611"/>
                </a:cubicBezTo>
                <a:cubicBezTo>
                  <a:pt x="606" y="1232"/>
                  <a:pt x="606" y="1232"/>
                  <a:pt x="606" y="1232"/>
                </a:cubicBezTo>
                <a:cubicBezTo>
                  <a:pt x="606" y="1232"/>
                  <a:pt x="606" y="1232"/>
                  <a:pt x="606" y="1232"/>
                </a:cubicBezTo>
                <a:cubicBezTo>
                  <a:pt x="632" y="1254"/>
                  <a:pt x="670" y="1253"/>
                  <a:pt x="694" y="1228"/>
                </a:cubicBezTo>
                <a:cubicBezTo>
                  <a:pt x="726" y="1196"/>
                  <a:pt x="726" y="1196"/>
                  <a:pt x="726" y="1196"/>
                </a:cubicBezTo>
                <a:cubicBezTo>
                  <a:pt x="752" y="1172"/>
                  <a:pt x="753" y="1132"/>
                  <a:pt x="728" y="1106"/>
                </a:cubicBezTo>
                <a:cubicBezTo>
                  <a:pt x="727" y="1105"/>
                  <a:pt x="727" y="1105"/>
                  <a:pt x="726" y="1104"/>
                </a:cubicBezTo>
                <a:cubicBezTo>
                  <a:pt x="703" y="1081"/>
                  <a:pt x="703" y="1081"/>
                  <a:pt x="703" y="1081"/>
                </a:cubicBezTo>
                <a:cubicBezTo>
                  <a:pt x="805" y="976"/>
                  <a:pt x="805" y="976"/>
                  <a:pt x="805" y="976"/>
                </a:cubicBezTo>
                <a:cubicBezTo>
                  <a:pt x="1116" y="1286"/>
                  <a:pt x="1116" y="1286"/>
                  <a:pt x="1116" y="1286"/>
                </a:cubicBezTo>
                <a:cubicBezTo>
                  <a:pt x="1089" y="1446"/>
                  <a:pt x="1196" y="1597"/>
                  <a:pt x="1356" y="1624"/>
                </a:cubicBezTo>
                <a:cubicBezTo>
                  <a:pt x="1450" y="1640"/>
                  <a:pt x="1546" y="1608"/>
                  <a:pt x="1613" y="1540"/>
                </a:cubicBezTo>
                <a:cubicBezTo>
                  <a:pt x="1625" y="1527"/>
                  <a:pt x="1624" y="1506"/>
                  <a:pt x="1611" y="1495"/>
                </a:cubicBezTo>
                <a:cubicBezTo>
                  <a:pt x="1607" y="1492"/>
                  <a:pt x="1603" y="1489"/>
                  <a:pt x="1599" y="1488"/>
                </a:cubicBezTo>
                <a:cubicBezTo>
                  <a:pt x="1419" y="1440"/>
                  <a:pt x="1419" y="1440"/>
                  <a:pt x="1419" y="1440"/>
                </a:cubicBezTo>
                <a:cubicBezTo>
                  <a:pt x="1401" y="1434"/>
                  <a:pt x="1387" y="1420"/>
                  <a:pt x="1381" y="1403"/>
                </a:cubicBezTo>
                <a:cubicBezTo>
                  <a:pt x="1372" y="1379"/>
                  <a:pt x="1371" y="1352"/>
                  <a:pt x="1378" y="1327"/>
                </a:cubicBezTo>
                <a:cubicBezTo>
                  <a:pt x="1391" y="1277"/>
                  <a:pt x="1434" y="1241"/>
                  <a:pt x="1470" y="1251"/>
                </a:cubicBezTo>
                <a:cubicBezTo>
                  <a:pt x="1648" y="1299"/>
                  <a:pt x="1648" y="1299"/>
                  <a:pt x="1648" y="1299"/>
                </a:cubicBezTo>
                <a:cubicBezTo>
                  <a:pt x="1651" y="1299"/>
                  <a:pt x="1654" y="1299"/>
                  <a:pt x="1657" y="1299"/>
                </a:cubicBezTo>
                <a:cubicBezTo>
                  <a:pt x="1674" y="1299"/>
                  <a:pt x="1689" y="1285"/>
                  <a:pt x="1689" y="1267"/>
                </a:cubicBezTo>
                <a:cubicBezTo>
                  <a:pt x="1689" y="1262"/>
                  <a:pt x="1688" y="1257"/>
                  <a:pt x="1685" y="1252"/>
                </a:cubicBezTo>
                <a:cubicBezTo>
                  <a:pt x="1671" y="1206"/>
                  <a:pt x="1646" y="1164"/>
                  <a:pt x="1612" y="1130"/>
                </a:cubicBezTo>
                <a:close/>
                <a:moveTo>
                  <a:pt x="1292" y="290"/>
                </a:moveTo>
                <a:cubicBezTo>
                  <a:pt x="1297" y="284"/>
                  <a:pt x="1301" y="276"/>
                  <a:pt x="1301" y="268"/>
                </a:cubicBezTo>
                <a:cubicBezTo>
                  <a:pt x="1303" y="183"/>
                  <a:pt x="1303" y="183"/>
                  <a:pt x="1303" y="183"/>
                </a:cubicBezTo>
                <a:cubicBezTo>
                  <a:pt x="1485" y="75"/>
                  <a:pt x="1485" y="75"/>
                  <a:pt x="1485" y="75"/>
                </a:cubicBezTo>
                <a:cubicBezTo>
                  <a:pt x="1562" y="152"/>
                  <a:pt x="1562" y="152"/>
                  <a:pt x="1562" y="152"/>
                </a:cubicBezTo>
                <a:cubicBezTo>
                  <a:pt x="1456" y="333"/>
                  <a:pt x="1456" y="333"/>
                  <a:pt x="1456" y="333"/>
                </a:cubicBezTo>
                <a:cubicBezTo>
                  <a:pt x="1369" y="336"/>
                  <a:pt x="1369" y="336"/>
                  <a:pt x="1369" y="336"/>
                </a:cubicBezTo>
                <a:cubicBezTo>
                  <a:pt x="1361" y="336"/>
                  <a:pt x="1353" y="340"/>
                  <a:pt x="1347" y="345"/>
                </a:cubicBezTo>
                <a:cubicBezTo>
                  <a:pt x="957" y="735"/>
                  <a:pt x="957" y="735"/>
                  <a:pt x="957" y="735"/>
                </a:cubicBezTo>
                <a:cubicBezTo>
                  <a:pt x="902" y="680"/>
                  <a:pt x="902" y="680"/>
                  <a:pt x="902" y="680"/>
                </a:cubicBezTo>
                <a:lnTo>
                  <a:pt x="1292" y="290"/>
                </a:lnTo>
                <a:close/>
                <a:moveTo>
                  <a:pt x="182" y="1565"/>
                </a:moveTo>
                <a:cubicBezTo>
                  <a:pt x="182" y="1565"/>
                  <a:pt x="182" y="1565"/>
                  <a:pt x="182" y="1565"/>
                </a:cubicBezTo>
                <a:cubicBezTo>
                  <a:pt x="72" y="1456"/>
                  <a:pt x="72" y="1456"/>
                  <a:pt x="72" y="1456"/>
                </a:cubicBezTo>
                <a:cubicBezTo>
                  <a:pt x="452" y="1076"/>
                  <a:pt x="452" y="1076"/>
                  <a:pt x="452" y="1076"/>
                </a:cubicBezTo>
                <a:cubicBezTo>
                  <a:pt x="508" y="1132"/>
                  <a:pt x="508" y="1132"/>
                  <a:pt x="508" y="1132"/>
                </a:cubicBezTo>
                <a:cubicBezTo>
                  <a:pt x="560" y="1186"/>
                  <a:pt x="560" y="1186"/>
                  <a:pt x="560" y="1186"/>
                </a:cubicBezTo>
                <a:lnTo>
                  <a:pt x="182" y="1565"/>
                </a:lnTo>
                <a:close/>
                <a:moveTo>
                  <a:pt x="650" y="1181"/>
                </a:moveTo>
                <a:cubicBezTo>
                  <a:pt x="650" y="1181"/>
                  <a:pt x="650" y="1181"/>
                  <a:pt x="650" y="1181"/>
                </a:cubicBezTo>
                <a:cubicBezTo>
                  <a:pt x="608" y="1139"/>
                  <a:pt x="608" y="1139"/>
                  <a:pt x="608" y="1139"/>
                </a:cubicBezTo>
                <a:cubicBezTo>
                  <a:pt x="608" y="1139"/>
                  <a:pt x="608" y="1139"/>
                  <a:pt x="608" y="1139"/>
                </a:cubicBezTo>
                <a:cubicBezTo>
                  <a:pt x="591" y="1122"/>
                  <a:pt x="591" y="1122"/>
                  <a:pt x="591" y="1122"/>
                </a:cubicBezTo>
                <a:cubicBezTo>
                  <a:pt x="457" y="987"/>
                  <a:pt x="457" y="987"/>
                  <a:pt x="457" y="987"/>
                </a:cubicBezTo>
                <a:cubicBezTo>
                  <a:pt x="489" y="955"/>
                  <a:pt x="489" y="955"/>
                  <a:pt x="489" y="955"/>
                </a:cubicBezTo>
                <a:cubicBezTo>
                  <a:pt x="681" y="1149"/>
                  <a:pt x="681" y="1149"/>
                  <a:pt x="681" y="1149"/>
                </a:cubicBezTo>
                <a:lnTo>
                  <a:pt x="650" y="1181"/>
                </a:lnTo>
                <a:close/>
                <a:moveTo>
                  <a:pt x="656" y="1035"/>
                </a:moveTo>
                <a:cubicBezTo>
                  <a:pt x="601" y="980"/>
                  <a:pt x="601" y="980"/>
                  <a:pt x="601" y="980"/>
                </a:cubicBezTo>
                <a:cubicBezTo>
                  <a:pt x="704" y="877"/>
                  <a:pt x="704" y="877"/>
                  <a:pt x="704" y="877"/>
                </a:cubicBezTo>
                <a:cubicBezTo>
                  <a:pt x="759" y="932"/>
                  <a:pt x="759" y="932"/>
                  <a:pt x="759" y="932"/>
                </a:cubicBezTo>
                <a:lnTo>
                  <a:pt x="656" y="1035"/>
                </a:lnTo>
                <a:close/>
                <a:moveTo>
                  <a:pt x="1485" y="1189"/>
                </a:moveTo>
                <a:cubicBezTo>
                  <a:pt x="1476" y="1187"/>
                  <a:pt x="1466" y="1185"/>
                  <a:pt x="1456" y="1185"/>
                </a:cubicBezTo>
                <a:cubicBezTo>
                  <a:pt x="1387" y="1191"/>
                  <a:pt x="1329" y="1242"/>
                  <a:pt x="1315" y="1311"/>
                </a:cubicBezTo>
                <a:cubicBezTo>
                  <a:pt x="1304" y="1349"/>
                  <a:pt x="1306" y="1390"/>
                  <a:pt x="1321" y="1428"/>
                </a:cubicBezTo>
                <a:cubicBezTo>
                  <a:pt x="1335" y="1463"/>
                  <a:pt x="1365" y="1491"/>
                  <a:pt x="1402" y="1501"/>
                </a:cubicBezTo>
                <a:cubicBezTo>
                  <a:pt x="1521" y="1533"/>
                  <a:pt x="1521" y="1533"/>
                  <a:pt x="1521" y="1533"/>
                </a:cubicBezTo>
                <a:cubicBezTo>
                  <a:pt x="1412" y="1598"/>
                  <a:pt x="1272" y="1562"/>
                  <a:pt x="1207" y="1454"/>
                </a:cubicBezTo>
                <a:cubicBezTo>
                  <a:pt x="1177" y="1403"/>
                  <a:pt x="1167" y="1342"/>
                  <a:pt x="1181" y="1284"/>
                </a:cubicBezTo>
                <a:cubicBezTo>
                  <a:pt x="1183" y="1273"/>
                  <a:pt x="1180" y="1262"/>
                  <a:pt x="1172" y="1254"/>
                </a:cubicBezTo>
                <a:cubicBezTo>
                  <a:pt x="451" y="532"/>
                  <a:pt x="451" y="532"/>
                  <a:pt x="451" y="532"/>
                </a:cubicBezTo>
                <a:cubicBezTo>
                  <a:pt x="441" y="523"/>
                  <a:pt x="425" y="521"/>
                  <a:pt x="413" y="528"/>
                </a:cubicBezTo>
                <a:cubicBezTo>
                  <a:pt x="380" y="545"/>
                  <a:pt x="343" y="555"/>
                  <a:pt x="306" y="555"/>
                </a:cubicBezTo>
                <a:cubicBezTo>
                  <a:pt x="210" y="555"/>
                  <a:pt x="124" y="494"/>
                  <a:pt x="91" y="404"/>
                </a:cubicBezTo>
                <a:cubicBezTo>
                  <a:pt x="164" y="444"/>
                  <a:pt x="164" y="444"/>
                  <a:pt x="164" y="444"/>
                </a:cubicBezTo>
                <a:cubicBezTo>
                  <a:pt x="181" y="454"/>
                  <a:pt x="200" y="459"/>
                  <a:pt x="220" y="459"/>
                </a:cubicBezTo>
                <a:cubicBezTo>
                  <a:pt x="279" y="455"/>
                  <a:pt x="332" y="421"/>
                  <a:pt x="359" y="368"/>
                </a:cubicBezTo>
                <a:cubicBezTo>
                  <a:pt x="402" y="290"/>
                  <a:pt x="385" y="198"/>
                  <a:pt x="321" y="162"/>
                </a:cubicBezTo>
                <a:cubicBezTo>
                  <a:pt x="228" y="109"/>
                  <a:pt x="228" y="109"/>
                  <a:pt x="228" y="109"/>
                </a:cubicBezTo>
                <a:cubicBezTo>
                  <a:pt x="347" y="67"/>
                  <a:pt x="478" y="129"/>
                  <a:pt x="521" y="248"/>
                </a:cubicBezTo>
                <a:cubicBezTo>
                  <a:pt x="535" y="289"/>
                  <a:pt x="538" y="334"/>
                  <a:pt x="528" y="376"/>
                </a:cubicBezTo>
                <a:cubicBezTo>
                  <a:pt x="526" y="387"/>
                  <a:pt x="529" y="398"/>
                  <a:pt x="537" y="406"/>
                </a:cubicBezTo>
                <a:cubicBezTo>
                  <a:pt x="1260" y="1129"/>
                  <a:pt x="1260" y="1129"/>
                  <a:pt x="1260" y="1129"/>
                </a:cubicBezTo>
                <a:cubicBezTo>
                  <a:pt x="1269" y="1139"/>
                  <a:pt x="1285" y="1141"/>
                  <a:pt x="1297" y="1134"/>
                </a:cubicBezTo>
                <a:cubicBezTo>
                  <a:pt x="1330" y="1117"/>
                  <a:pt x="1367" y="1108"/>
                  <a:pt x="1404" y="1108"/>
                </a:cubicBezTo>
                <a:cubicBezTo>
                  <a:pt x="1485" y="1108"/>
                  <a:pt x="1560" y="1151"/>
                  <a:pt x="1601" y="1220"/>
                </a:cubicBezTo>
                <a:lnTo>
                  <a:pt x="1485" y="1189"/>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36" name="Freeform 67">
            <a:extLst>
              <a:ext uri="{FF2B5EF4-FFF2-40B4-BE49-F238E27FC236}">
                <a16:creationId xmlns:a16="http://schemas.microsoft.com/office/drawing/2014/main" id="{3311A086-CE22-A1E7-958A-5283DEEF0612}"/>
              </a:ext>
            </a:extLst>
          </p:cNvPr>
          <p:cNvSpPr>
            <a:spLocks noEditPoints="1"/>
          </p:cNvSpPr>
          <p:nvPr/>
        </p:nvSpPr>
        <p:spPr bwMode="auto">
          <a:xfrm>
            <a:off x="5295541" y="1550429"/>
            <a:ext cx="417690" cy="424500"/>
          </a:xfrm>
          <a:custGeom>
            <a:avLst/>
            <a:gdLst>
              <a:gd name="T0" fmla="*/ 3226 w 3936"/>
              <a:gd name="T1" fmla="*/ 2984 h 3942"/>
              <a:gd name="T2" fmla="*/ 2880 w 3936"/>
              <a:gd name="T3" fmla="*/ 2704 h 3942"/>
              <a:gd name="T4" fmla="*/ 2880 w 3936"/>
              <a:gd name="T5" fmla="*/ 3145 h 3942"/>
              <a:gd name="T6" fmla="*/ 3145 w 3936"/>
              <a:gd name="T7" fmla="*/ 3189 h 3942"/>
              <a:gd name="T8" fmla="*/ 2576 w 3936"/>
              <a:gd name="T9" fmla="*/ 2977 h 3942"/>
              <a:gd name="T10" fmla="*/ 3037 w 3936"/>
              <a:gd name="T11" fmla="*/ 1921 h 3942"/>
              <a:gd name="T12" fmla="*/ 3597 w 3936"/>
              <a:gd name="T13" fmla="*/ 2165 h 3942"/>
              <a:gd name="T14" fmla="*/ 3911 w 3936"/>
              <a:gd name="T15" fmla="*/ 2783 h 3942"/>
              <a:gd name="T16" fmla="*/ 3713 w 3936"/>
              <a:gd name="T17" fmla="*/ 3440 h 3942"/>
              <a:gd name="T18" fmla="*/ 3210 w 3936"/>
              <a:gd name="T19" fmla="*/ 3624 h 3942"/>
              <a:gd name="T20" fmla="*/ 2725 w 3936"/>
              <a:gd name="T21" fmla="*/ 3851 h 3942"/>
              <a:gd name="T22" fmla="*/ 2121 w 3936"/>
              <a:gd name="T23" fmla="*/ 3526 h 3942"/>
              <a:gd name="T24" fmla="*/ 1906 w 3936"/>
              <a:gd name="T25" fmla="*/ 2867 h 3942"/>
              <a:gd name="T26" fmla="*/ 2097 w 3936"/>
              <a:gd name="T27" fmla="*/ 2820 h 3942"/>
              <a:gd name="T28" fmla="*/ 2329 w 3936"/>
              <a:gd name="T29" fmla="*/ 3144 h 3942"/>
              <a:gd name="T30" fmla="*/ 2562 w 3936"/>
              <a:gd name="T31" fmla="*/ 3471 h 3942"/>
              <a:gd name="T32" fmla="*/ 2990 w 3936"/>
              <a:gd name="T33" fmla="*/ 3815 h 3942"/>
              <a:gd name="T34" fmla="*/ 3489 w 3936"/>
              <a:gd name="T35" fmla="*/ 3605 h 3942"/>
              <a:gd name="T36" fmla="*/ 3546 w 3936"/>
              <a:gd name="T37" fmla="*/ 3068 h 3942"/>
              <a:gd name="T38" fmla="*/ 3513 w 3936"/>
              <a:gd name="T39" fmla="*/ 2707 h 3942"/>
              <a:gd name="T40" fmla="*/ 3280 w 3936"/>
              <a:gd name="T41" fmla="*/ 2380 h 3942"/>
              <a:gd name="T42" fmla="*/ 2851 w 3936"/>
              <a:gd name="T43" fmla="*/ 2036 h 3942"/>
              <a:gd name="T44" fmla="*/ 2353 w 3936"/>
              <a:gd name="T45" fmla="*/ 2246 h 3942"/>
              <a:gd name="T46" fmla="*/ 2292 w 3936"/>
              <a:gd name="T47" fmla="*/ 2787 h 3942"/>
              <a:gd name="T48" fmla="*/ 2129 w 3936"/>
              <a:gd name="T49" fmla="*/ 2297 h 3942"/>
              <a:gd name="T50" fmla="*/ 2739 w 3936"/>
              <a:gd name="T51" fmla="*/ 1975 h 3942"/>
              <a:gd name="T52" fmla="*/ 1258 w 3936"/>
              <a:gd name="T53" fmla="*/ 1515 h 3942"/>
              <a:gd name="T54" fmla="*/ 1718 w 3936"/>
              <a:gd name="T55" fmla="*/ 1665 h 3942"/>
              <a:gd name="T56" fmla="*/ 930 w 3936"/>
              <a:gd name="T57" fmla="*/ 1248 h 3942"/>
              <a:gd name="T58" fmla="*/ 1127 w 3936"/>
              <a:gd name="T59" fmla="*/ 1941 h 3942"/>
              <a:gd name="T60" fmla="*/ 1895 w 3936"/>
              <a:gd name="T61" fmla="*/ 1970 h 3942"/>
              <a:gd name="T62" fmla="*/ 1512 w 3936"/>
              <a:gd name="T63" fmla="*/ 2215 h 3942"/>
              <a:gd name="T64" fmla="*/ 813 w 3936"/>
              <a:gd name="T65" fmla="*/ 1515 h 3942"/>
              <a:gd name="T66" fmla="*/ 1812 w 3936"/>
              <a:gd name="T67" fmla="*/ 1283 h 3942"/>
              <a:gd name="T68" fmla="*/ 1564 w 3936"/>
              <a:gd name="T69" fmla="*/ 1890 h 3942"/>
              <a:gd name="T70" fmla="*/ 1163 w 3936"/>
              <a:gd name="T71" fmla="*/ 1367 h 3942"/>
              <a:gd name="T72" fmla="*/ 1902 w 3936"/>
              <a:gd name="T73" fmla="*/ 934 h 3942"/>
              <a:gd name="T74" fmla="*/ 2124 w 3936"/>
              <a:gd name="T75" fmla="*/ 1848 h 3942"/>
              <a:gd name="T76" fmla="*/ 2086 w 3936"/>
              <a:gd name="T77" fmla="*/ 1515 h 3942"/>
              <a:gd name="T78" fmla="*/ 1456 w 3936"/>
              <a:gd name="T79" fmla="*/ 942 h 3942"/>
              <a:gd name="T80" fmla="*/ 1013 w 3936"/>
              <a:gd name="T81" fmla="*/ 1030 h 3942"/>
              <a:gd name="T82" fmla="*/ 1749 w 3936"/>
              <a:gd name="T83" fmla="*/ 67 h 3942"/>
              <a:gd name="T84" fmla="*/ 2518 w 3936"/>
              <a:gd name="T85" fmla="*/ 380 h 3942"/>
              <a:gd name="T86" fmla="*/ 2931 w 3936"/>
              <a:gd name="T87" fmla="*/ 1259 h 3942"/>
              <a:gd name="T88" fmla="*/ 2576 w 3936"/>
              <a:gd name="T89" fmla="*/ 1854 h 3942"/>
              <a:gd name="T90" fmla="*/ 2451 w 3936"/>
              <a:gd name="T91" fmla="*/ 1837 h 3942"/>
              <a:gd name="T92" fmla="*/ 2863 w 3936"/>
              <a:gd name="T93" fmla="*/ 1363 h 3942"/>
              <a:gd name="T94" fmla="*/ 2577 w 3936"/>
              <a:gd name="T95" fmla="*/ 647 h 3942"/>
              <a:gd name="T96" fmla="*/ 1856 w 3936"/>
              <a:gd name="T97" fmla="*/ 582 h 3942"/>
              <a:gd name="T98" fmla="*/ 1361 w 3936"/>
              <a:gd name="T99" fmla="*/ 162 h 3942"/>
              <a:gd name="T100" fmla="*/ 646 w 3936"/>
              <a:gd name="T101" fmla="*/ 448 h 3942"/>
              <a:gd name="T102" fmla="*/ 581 w 3936"/>
              <a:gd name="T103" fmla="*/ 1171 h 3942"/>
              <a:gd name="T104" fmla="*/ 162 w 3936"/>
              <a:gd name="T105" fmla="*/ 1666 h 3942"/>
              <a:gd name="T106" fmla="*/ 447 w 3936"/>
              <a:gd name="T107" fmla="*/ 2382 h 3942"/>
              <a:gd name="T108" fmla="*/ 1169 w 3936"/>
              <a:gd name="T109" fmla="*/ 2448 h 3942"/>
              <a:gd name="T110" fmla="*/ 1664 w 3936"/>
              <a:gd name="T111" fmla="*/ 2867 h 3942"/>
              <a:gd name="T112" fmla="*/ 2025 w 3936"/>
              <a:gd name="T113" fmla="*/ 2458 h 3942"/>
              <a:gd name="T114" fmla="*/ 1602 w 3936"/>
              <a:gd name="T115" fmla="*/ 3029 h 3942"/>
              <a:gd name="T116" fmla="*/ 689 w 3936"/>
              <a:gd name="T117" fmla="*/ 2701 h 3942"/>
              <a:gd name="T118" fmla="*/ 520 w 3936"/>
              <a:gd name="T119" fmla="*/ 2028 h 3942"/>
              <a:gd name="T120" fmla="*/ 25 w 3936"/>
              <a:gd name="T121" fmla="*/ 1328 h 3942"/>
              <a:gd name="T122" fmla="*/ 341 w 3936"/>
              <a:gd name="T123" fmla="*/ 563 h 3942"/>
              <a:gd name="T124" fmla="*/ 1232 w 3936"/>
              <a:gd name="T125" fmla="*/ 156 h 39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936" h="3942">
                <a:moveTo>
                  <a:pt x="2921" y="2577"/>
                </a:moveTo>
                <a:lnTo>
                  <a:pt x="2972" y="2580"/>
                </a:lnTo>
                <a:lnTo>
                  <a:pt x="3021" y="2592"/>
                </a:lnTo>
                <a:lnTo>
                  <a:pt x="3068" y="2609"/>
                </a:lnTo>
                <a:lnTo>
                  <a:pt x="3111" y="2633"/>
                </a:lnTo>
                <a:lnTo>
                  <a:pt x="3149" y="2663"/>
                </a:lnTo>
                <a:lnTo>
                  <a:pt x="3183" y="2697"/>
                </a:lnTo>
                <a:lnTo>
                  <a:pt x="3213" y="2736"/>
                </a:lnTo>
                <a:lnTo>
                  <a:pt x="3237" y="2779"/>
                </a:lnTo>
                <a:lnTo>
                  <a:pt x="3254" y="2825"/>
                </a:lnTo>
                <a:lnTo>
                  <a:pt x="3266" y="2874"/>
                </a:lnTo>
                <a:lnTo>
                  <a:pt x="3269" y="2925"/>
                </a:lnTo>
                <a:lnTo>
                  <a:pt x="3266" y="2945"/>
                </a:lnTo>
                <a:lnTo>
                  <a:pt x="3257" y="2962"/>
                </a:lnTo>
                <a:lnTo>
                  <a:pt x="3243" y="2976"/>
                </a:lnTo>
                <a:lnTo>
                  <a:pt x="3226" y="2984"/>
                </a:lnTo>
                <a:lnTo>
                  <a:pt x="3207" y="2988"/>
                </a:lnTo>
                <a:lnTo>
                  <a:pt x="3187" y="2984"/>
                </a:lnTo>
                <a:lnTo>
                  <a:pt x="3170" y="2976"/>
                </a:lnTo>
                <a:lnTo>
                  <a:pt x="3157" y="2962"/>
                </a:lnTo>
                <a:lnTo>
                  <a:pt x="3148" y="2945"/>
                </a:lnTo>
                <a:lnTo>
                  <a:pt x="3145" y="2925"/>
                </a:lnTo>
                <a:lnTo>
                  <a:pt x="3140" y="2885"/>
                </a:lnTo>
                <a:lnTo>
                  <a:pt x="3131" y="2848"/>
                </a:lnTo>
                <a:lnTo>
                  <a:pt x="3114" y="2812"/>
                </a:lnTo>
                <a:lnTo>
                  <a:pt x="3092" y="2781"/>
                </a:lnTo>
                <a:lnTo>
                  <a:pt x="3065" y="2755"/>
                </a:lnTo>
                <a:lnTo>
                  <a:pt x="3034" y="2732"/>
                </a:lnTo>
                <a:lnTo>
                  <a:pt x="2999" y="2715"/>
                </a:lnTo>
                <a:lnTo>
                  <a:pt x="2962" y="2704"/>
                </a:lnTo>
                <a:lnTo>
                  <a:pt x="2921" y="2701"/>
                </a:lnTo>
                <a:lnTo>
                  <a:pt x="2880" y="2704"/>
                </a:lnTo>
                <a:lnTo>
                  <a:pt x="2843" y="2715"/>
                </a:lnTo>
                <a:lnTo>
                  <a:pt x="2808" y="2732"/>
                </a:lnTo>
                <a:lnTo>
                  <a:pt x="2777" y="2755"/>
                </a:lnTo>
                <a:lnTo>
                  <a:pt x="2750" y="2781"/>
                </a:lnTo>
                <a:lnTo>
                  <a:pt x="2728" y="2812"/>
                </a:lnTo>
                <a:lnTo>
                  <a:pt x="2711" y="2848"/>
                </a:lnTo>
                <a:lnTo>
                  <a:pt x="2700" y="2885"/>
                </a:lnTo>
                <a:lnTo>
                  <a:pt x="2697" y="2925"/>
                </a:lnTo>
                <a:lnTo>
                  <a:pt x="2700" y="2966"/>
                </a:lnTo>
                <a:lnTo>
                  <a:pt x="2711" y="3003"/>
                </a:lnTo>
                <a:lnTo>
                  <a:pt x="2728" y="3039"/>
                </a:lnTo>
                <a:lnTo>
                  <a:pt x="2750" y="3070"/>
                </a:lnTo>
                <a:lnTo>
                  <a:pt x="2777" y="3096"/>
                </a:lnTo>
                <a:lnTo>
                  <a:pt x="2808" y="3119"/>
                </a:lnTo>
                <a:lnTo>
                  <a:pt x="2843" y="3136"/>
                </a:lnTo>
                <a:lnTo>
                  <a:pt x="2880" y="3145"/>
                </a:lnTo>
                <a:lnTo>
                  <a:pt x="2921" y="3150"/>
                </a:lnTo>
                <a:lnTo>
                  <a:pt x="2958" y="3146"/>
                </a:lnTo>
                <a:lnTo>
                  <a:pt x="2994" y="3138"/>
                </a:lnTo>
                <a:lnTo>
                  <a:pt x="3027" y="3123"/>
                </a:lnTo>
                <a:lnTo>
                  <a:pt x="3058" y="3102"/>
                </a:lnTo>
                <a:lnTo>
                  <a:pt x="3072" y="3094"/>
                </a:lnTo>
                <a:lnTo>
                  <a:pt x="3088" y="3090"/>
                </a:lnTo>
                <a:lnTo>
                  <a:pt x="3103" y="3090"/>
                </a:lnTo>
                <a:lnTo>
                  <a:pt x="3119" y="3094"/>
                </a:lnTo>
                <a:lnTo>
                  <a:pt x="3133" y="3102"/>
                </a:lnTo>
                <a:lnTo>
                  <a:pt x="3145" y="3114"/>
                </a:lnTo>
                <a:lnTo>
                  <a:pt x="3154" y="3129"/>
                </a:lnTo>
                <a:lnTo>
                  <a:pt x="3157" y="3144"/>
                </a:lnTo>
                <a:lnTo>
                  <a:pt x="3157" y="3160"/>
                </a:lnTo>
                <a:lnTo>
                  <a:pt x="3154" y="3175"/>
                </a:lnTo>
                <a:lnTo>
                  <a:pt x="3145" y="3189"/>
                </a:lnTo>
                <a:lnTo>
                  <a:pt x="3133" y="3201"/>
                </a:lnTo>
                <a:lnTo>
                  <a:pt x="3095" y="3228"/>
                </a:lnTo>
                <a:lnTo>
                  <a:pt x="3055" y="3248"/>
                </a:lnTo>
                <a:lnTo>
                  <a:pt x="3012" y="3262"/>
                </a:lnTo>
                <a:lnTo>
                  <a:pt x="2968" y="3271"/>
                </a:lnTo>
                <a:lnTo>
                  <a:pt x="2921" y="3274"/>
                </a:lnTo>
                <a:lnTo>
                  <a:pt x="2870" y="3271"/>
                </a:lnTo>
                <a:lnTo>
                  <a:pt x="2821" y="3259"/>
                </a:lnTo>
                <a:lnTo>
                  <a:pt x="2774" y="3242"/>
                </a:lnTo>
                <a:lnTo>
                  <a:pt x="2731" y="3218"/>
                </a:lnTo>
                <a:lnTo>
                  <a:pt x="2693" y="3188"/>
                </a:lnTo>
                <a:lnTo>
                  <a:pt x="2659" y="3154"/>
                </a:lnTo>
                <a:lnTo>
                  <a:pt x="2629" y="3115"/>
                </a:lnTo>
                <a:lnTo>
                  <a:pt x="2605" y="3072"/>
                </a:lnTo>
                <a:lnTo>
                  <a:pt x="2588" y="3026"/>
                </a:lnTo>
                <a:lnTo>
                  <a:pt x="2576" y="2977"/>
                </a:lnTo>
                <a:lnTo>
                  <a:pt x="2573" y="2925"/>
                </a:lnTo>
                <a:lnTo>
                  <a:pt x="2576" y="2874"/>
                </a:lnTo>
                <a:lnTo>
                  <a:pt x="2588" y="2825"/>
                </a:lnTo>
                <a:lnTo>
                  <a:pt x="2605" y="2779"/>
                </a:lnTo>
                <a:lnTo>
                  <a:pt x="2629" y="2736"/>
                </a:lnTo>
                <a:lnTo>
                  <a:pt x="2659" y="2697"/>
                </a:lnTo>
                <a:lnTo>
                  <a:pt x="2693" y="2663"/>
                </a:lnTo>
                <a:lnTo>
                  <a:pt x="2731" y="2633"/>
                </a:lnTo>
                <a:lnTo>
                  <a:pt x="2774" y="2609"/>
                </a:lnTo>
                <a:lnTo>
                  <a:pt x="2821" y="2592"/>
                </a:lnTo>
                <a:lnTo>
                  <a:pt x="2870" y="2580"/>
                </a:lnTo>
                <a:lnTo>
                  <a:pt x="2921" y="2577"/>
                </a:lnTo>
                <a:close/>
                <a:moveTo>
                  <a:pt x="2863" y="1909"/>
                </a:moveTo>
                <a:lnTo>
                  <a:pt x="2979" y="1909"/>
                </a:lnTo>
                <a:lnTo>
                  <a:pt x="3009" y="1911"/>
                </a:lnTo>
                <a:lnTo>
                  <a:pt x="3037" y="1921"/>
                </a:lnTo>
                <a:lnTo>
                  <a:pt x="3063" y="1934"/>
                </a:lnTo>
                <a:lnTo>
                  <a:pt x="3084" y="1952"/>
                </a:lnTo>
                <a:lnTo>
                  <a:pt x="3103" y="1975"/>
                </a:lnTo>
                <a:lnTo>
                  <a:pt x="3117" y="2000"/>
                </a:lnTo>
                <a:lnTo>
                  <a:pt x="3126" y="2028"/>
                </a:lnTo>
                <a:lnTo>
                  <a:pt x="3162" y="2209"/>
                </a:lnTo>
                <a:lnTo>
                  <a:pt x="3210" y="2227"/>
                </a:lnTo>
                <a:lnTo>
                  <a:pt x="3257" y="2248"/>
                </a:lnTo>
                <a:lnTo>
                  <a:pt x="3409" y="2147"/>
                </a:lnTo>
                <a:lnTo>
                  <a:pt x="3435" y="2132"/>
                </a:lnTo>
                <a:lnTo>
                  <a:pt x="3464" y="2124"/>
                </a:lnTo>
                <a:lnTo>
                  <a:pt x="3492" y="2122"/>
                </a:lnTo>
                <a:lnTo>
                  <a:pt x="3521" y="2124"/>
                </a:lnTo>
                <a:lnTo>
                  <a:pt x="3548" y="2132"/>
                </a:lnTo>
                <a:lnTo>
                  <a:pt x="3573" y="2145"/>
                </a:lnTo>
                <a:lnTo>
                  <a:pt x="3597" y="2165"/>
                </a:lnTo>
                <a:lnTo>
                  <a:pt x="3681" y="2248"/>
                </a:lnTo>
                <a:lnTo>
                  <a:pt x="3699" y="2271"/>
                </a:lnTo>
                <a:lnTo>
                  <a:pt x="3713" y="2297"/>
                </a:lnTo>
                <a:lnTo>
                  <a:pt x="3721" y="2325"/>
                </a:lnTo>
                <a:lnTo>
                  <a:pt x="3724" y="2353"/>
                </a:lnTo>
                <a:lnTo>
                  <a:pt x="3721" y="2382"/>
                </a:lnTo>
                <a:lnTo>
                  <a:pt x="3713" y="2409"/>
                </a:lnTo>
                <a:lnTo>
                  <a:pt x="3699" y="2436"/>
                </a:lnTo>
                <a:lnTo>
                  <a:pt x="3597" y="2589"/>
                </a:lnTo>
                <a:lnTo>
                  <a:pt x="3619" y="2636"/>
                </a:lnTo>
                <a:lnTo>
                  <a:pt x="3637" y="2684"/>
                </a:lnTo>
                <a:lnTo>
                  <a:pt x="3817" y="2720"/>
                </a:lnTo>
                <a:lnTo>
                  <a:pt x="3845" y="2730"/>
                </a:lnTo>
                <a:lnTo>
                  <a:pt x="3870" y="2743"/>
                </a:lnTo>
                <a:lnTo>
                  <a:pt x="3893" y="2762"/>
                </a:lnTo>
                <a:lnTo>
                  <a:pt x="3911" y="2783"/>
                </a:lnTo>
                <a:lnTo>
                  <a:pt x="3924" y="2808"/>
                </a:lnTo>
                <a:lnTo>
                  <a:pt x="3932" y="2837"/>
                </a:lnTo>
                <a:lnTo>
                  <a:pt x="3936" y="2867"/>
                </a:lnTo>
                <a:lnTo>
                  <a:pt x="3936" y="2984"/>
                </a:lnTo>
                <a:lnTo>
                  <a:pt x="3932" y="3014"/>
                </a:lnTo>
                <a:lnTo>
                  <a:pt x="3924" y="3041"/>
                </a:lnTo>
                <a:lnTo>
                  <a:pt x="3911" y="3068"/>
                </a:lnTo>
                <a:lnTo>
                  <a:pt x="3893" y="3089"/>
                </a:lnTo>
                <a:lnTo>
                  <a:pt x="3870" y="3108"/>
                </a:lnTo>
                <a:lnTo>
                  <a:pt x="3845" y="3121"/>
                </a:lnTo>
                <a:lnTo>
                  <a:pt x="3817" y="3131"/>
                </a:lnTo>
                <a:lnTo>
                  <a:pt x="3637" y="3167"/>
                </a:lnTo>
                <a:lnTo>
                  <a:pt x="3619" y="3215"/>
                </a:lnTo>
                <a:lnTo>
                  <a:pt x="3597" y="3262"/>
                </a:lnTo>
                <a:lnTo>
                  <a:pt x="3699" y="3414"/>
                </a:lnTo>
                <a:lnTo>
                  <a:pt x="3713" y="3440"/>
                </a:lnTo>
                <a:lnTo>
                  <a:pt x="3721" y="3469"/>
                </a:lnTo>
                <a:lnTo>
                  <a:pt x="3724" y="3498"/>
                </a:lnTo>
                <a:lnTo>
                  <a:pt x="3721" y="3526"/>
                </a:lnTo>
                <a:lnTo>
                  <a:pt x="3713" y="3554"/>
                </a:lnTo>
                <a:lnTo>
                  <a:pt x="3699" y="3579"/>
                </a:lnTo>
                <a:lnTo>
                  <a:pt x="3681" y="3603"/>
                </a:lnTo>
                <a:lnTo>
                  <a:pt x="3597" y="3686"/>
                </a:lnTo>
                <a:lnTo>
                  <a:pt x="3573" y="3704"/>
                </a:lnTo>
                <a:lnTo>
                  <a:pt x="3548" y="3719"/>
                </a:lnTo>
                <a:lnTo>
                  <a:pt x="3521" y="3727"/>
                </a:lnTo>
                <a:lnTo>
                  <a:pt x="3492" y="3729"/>
                </a:lnTo>
                <a:lnTo>
                  <a:pt x="3464" y="3727"/>
                </a:lnTo>
                <a:lnTo>
                  <a:pt x="3435" y="3719"/>
                </a:lnTo>
                <a:lnTo>
                  <a:pt x="3409" y="3704"/>
                </a:lnTo>
                <a:lnTo>
                  <a:pt x="3257" y="3603"/>
                </a:lnTo>
                <a:lnTo>
                  <a:pt x="3210" y="3624"/>
                </a:lnTo>
                <a:lnTo>
                  <a:pt x="3162" y="3642"/>
                </a:lnTo>
                <a:lnTo>
                  <a:pt x="3126" y="3823"/>
                </a:lnTo>
                <a:lnTo>
                  <a:pt x="3117" y="3851"/>
                </a:lnTo>
                <a:lnTo>
                  <a:pt x="3103" y="3876"/>
                </a:lnTo>
                <a:lnTo>
                  <a:pt x="3084" y="3899"/>
                </a:lnTo>
                <a:lnTo>
                  <a:pt x="3063" y="3917"/>
                </a:lnTo>
                <a:lnTo>
                  <a:pt x="3037" y="3930"/>
                </a:lnTo>
                <a:lnTo>
                  <a:pt x="3009" y="3938"/>
                </a:lnTo>
                <a:lnTo>
                  <a:pt x="2979" y="3942"/>
                </a:lnTo>
                <a:lnTo>
                  <a:pt x="2863" y="3942"/>
                </a:lnTo>
                <a:lnTo>
                  <a:pt x="2833" y="3938"/>
                </a:lnTo>
                <a:lnTo>
                  <a:pt x="2804" y="3930"/>
                </a:lnTo>
                <a:lnTo>
                  <a:pt x="2779" y="3917"/>
                </a:lnTo>
                <a:lnTo>
                  <a:pt x="2758" y="3899"/>
                </a:lnTo>
                <a:lnTo>
                  <a:pt x="2739" y="3876"/>
                </a:lnTo>
                <a:lnTo>
                  <a:pt x="2725" y="3851"/>
                </a:lnTo>
                <a:lnTo>
                  <a:pt x="2716" y="3823"/>
                </a:lnTo>
                <a:lnTo>
                  <a:pt x="2680" y="3642"/>
                </a:lnTo>
                <a:lnTo>
                  <a:pt x="2632" y="3624"/>
                </a:lnTo>
                <a:lnTo>
                  <a:pt x="2585" y="3603"/>
                </a:lnTo>
                <a:lnTo>
                  <a:pt x="2432" y="3704"/>
                </a:lnTo>
                <a:lnTo>
                  <a:pt x="2406" y="3719"/>
                </a:lnTo>
                <a:lnTo>
                  <a:pt x="2378" y="3727"/>
                </a:lnTo>
                <a:lnTo>
                  <a:pt x="2350" y="3729"/>
                </a:lnTo>
                <a:lnTo>
                  <a:pt x="2321" y="3727"/>
                </a:lnTo>
                <a:lnTo>
                  <a:pt x="2294" y="3719"/>
                </a:lnTo>
                <a:lnTo>
                  <a:pt x="2267" y="3704"/>
                </a:lnTo>
                <a:lnTo>
                  <a:pt x="2245" y="3686"/>
                </a:lnTo>
                <a:lnTo>
                  <a:pt x="2161" y="3603"/>
                </a:lnTo>
                <a:lnTo>
                  <a:pt x="2142" y="3579"/>
                </a:lnTo>
                <a:lnTo>
                  <a:pt x="2129" y="3554"/>
                </a:lnTo>
                <a:lnTo>
                  <a:pt x="2121" y="3526"/>
                </a:lnTo>
                <a:lnTo>
                  <a:pt x="2118" y="3498"/>
                </a:lnTo>
                <a:lnTo>
                  <a:pt x="2121" y="3469"/>
                </a:lnTo>
                <a:lnTo>
                  <a:pt x="2129" y="3440"/>
                </a:lnTo>
                <a:lnTo>
                  <a:pt x="2143" y="3414"/>
                </a:lnTo>
                <a:lnTo>
                  <a:pt x="2245" y="3262"/>
                </a:lnTo>
                <a:lnTo>
                  <a:pt x="2223" y="3215"/>
                </a:lnTo>
                <a:lnTo>
                  <a:pt x="2205" y="3167"/>
                </a:lnTo>
                <a:lnTo>
                  <a:pt x="2025" y="3131"/>
                </a:lnTo>
                <a:lnTo>
                  <a:pt x="1997" y="3121"/>
                </a:lnTo>
                <a:lnTo>
                  <a:pt x="1972" y="3108"/>
                </a:lnTo>
                <a:lnTo>
                  <a:pt x="1949" y="3089"/>
                </a:lnTo>
                <a:lnTo>
                  <a:pt x="1931" y="3068"/>
                </a:lnTo>
                <a:lnTo>
                  <a:pt x="1918" y="3041"/>
                </a:lnTo>
                <a:lnTo>
                  <a:pt x="1908" y="3014"/>
                </a:lnTo>
                <a:lnTo>
                  <a:pt x="1906" y="2984"/>
                </a:lnTo>
                <a:lnTo>
                  <a:pt x="1906" y="2867"/>
                </a:lnTo>
                <a:lnTo>
                  <a:pt x="1908" y="2837"/>
                </a:lnTo>
                <a:lnTo>
                  <a:pt x="1918" y="2808"/>
                </a:lnTo>
                <a:lnTo>
                  <a:pt x="1931" y="2783"/>
                </a:lnTo>
                <a:lnTo>
                  <a:pt x="1949" y="2762"/>
                </a:lnTo>
                <a:lnTo>
                  <a:pt x="1972" y="2743"/>
                </a:lnTo>
                <a:lnTo>
                  <a:pt x="1997" y="2730"/>
                </a:lnTo>
                <a:lnTo>
                  <a:pt x="2025" y="2720"/>
                </a:lnTo>
                <a:lnTo>
                  <a:pt x="2038" y="2718"/>
                </a:lnTo>
                <a:lnTo>
                  <a:pt x="2059" y="2716"/>
                </a:lnTo>
                <a:lnTo>
                  <a:pt x="2077" y="2722"/>
                </a:lnTo>
                <a:lnTo>
                  <a:pt x="2093" y="2733"/>
                </a:lnTo>
                <a:lnTo>
                  <a:pt x="2105" y="2747"/>
                </a:lnTo>
                <a:lnTo>
                  <a:pt x="2112" y="2767"/>
                </a:lnTo>
                <a:lnTo>
                  <a:pt x="2112" y="2787"/>
                </a:lnTo>
                <a:lnTo>
                  <a:pt x="2108" y="2805"/>
                </a:lnTo>
                <a:lnTo>
                  <a:pt x="2097" y="2820"/>
                </a:lnTo>
                <a:lnTo>
                  <a:pt x="2081" y="2832"/>
                </a:lnTo>
                <a:lnTo>
                  <a:pt x="2063" y="2839"/>
                </a:lnTo>
                <a:lnTo>
                  <a:pt x="2050" y="2842"/>
                </a:lnTo>
                <a:lnTo>
                  <a:pt x="2040" y="2847"/>
                </a:lnTo>
                <a:lnTo>
                  <a:pt x="2032" y="2855"/>
                </a:lnTo>
                <a:lnTo>
                  <a:pt x="2030" y="2867"/>
                </a:lnTo>
                <a:lnTo>
                  <a:pt x="2030" y="2984"/>
                </a:lnTo>
                <a:lnTo>
                  <a:pt x="2032" y="2995"/>
                </a:lnTo>
                <a:lnTo>
                  <a:pt x="2040" y="3004"/>
                </a:lnTo>
                <a:lnTo>
                  <a:pt x="2050" y="3008"/>
                </a:lnTo>
                <a:lnTo>
                  <a:pt x="2266" y="3052"/>
                </a:lnTo>
                <a:lnTo>
                  <a:pt x="2282" y="3057"/>
                </a:lnTo>
                <a:lnTo>
                  <a:pt x="2296" y="3068"/>
                </a:lnTo>
                <a:lnTo>
                  <a:pt x="2307" y="3081"/>
                </a:lnTo>
                <a:lnTo>
                  <a:pt x="2314" y="3096"/>
                </a:lnTo>
                <a:lnTo>
                  <a:pt x="2329" y="3144"/>
                </a:lnTo>
                <a:lnTo>
                  <a:pt x="2348" y="3191"/>
                </a:lnTo>
                <a:lnTo>
                  <a:pt x="2371" y="3235"/>
                </a:lnTo>
                <a:lnTo>
                  <a:pt x="2377" y="3250"/>
                </a:lnTo>
                <a:lnTo>
                  <a:pt x="2379" y="3268"/>
                </a:lnTo>
                <a:lnTo>
                  <a:pt x="2376" y="3285"/>
                </a:lnTo>
                <a:lnTo>
                  <a:pt x="2369" y="3301"/>
                </a:lnTo>
                <a:lnTo>
                  <a:pt x="2246" y="3483"/>
                </a:lnTo>
                <a:lnTo>
                  <a:pt x="2242" y="3494"/>
                </a:lnTo>
                <a:lnTo>
                  <a:pt x="2244" y="3505"/>
                </a:lnTo>
                <a:lnTo>
                  <a:pt x="2249" y="3514"/>
                </a:lnTo>
                <a:lnTo>
                  <a:pt x="2333" y="3598"/>
                </a:lnTo>
                <a:lnTo>
                  <a:pt x="2343" y="3604"/>
                </a:lnTo>
                <a:lnTo>
                  <a:pt x="2353" y="3605"/>
                </a:lnTo>
                <a:lnTo>
                  <a:pt x="2364" y="3602"/>
                </a:lnTo>
                <a:lnTo>
                  <a:pt x="2546" y="3479"/>
                </a:lnTo>
                <a:lnTo>
                  <a:pt x="2562" y="3471"/>
                </a:lnTo>
                <a:lnTo>
                  <a:pt x="2579" y="3468"/>
                </a:lnTo>
                <a:lnTo>
                  <a:pt x="2595" y="3470"/>
                </a:lnTo>
                <a:lnTo>
                  <a:pt x="2612" y="3476"/>
                </a:lnTo>
                <a:lnTo>
                  <a:pt x="2656" y="3499"/>
                </a:lnTo>
                <a:lnTo>
                  <a:pt x="2703" y="3518"/>
                </a:lnTo>
                <a:lnTo>
                  <a:pt x="2750" y="3533"/>
                </a:lnTo>
                <a:lnTo>
                  <a:pt x="2766" y="3541"/>
                </a:lnTo>
                <a:lnTo>
                  <a:pt x="2779" y="3551"/>
                </a:lnTo>
                <a:lnTo>
                  <a:pt x="2789" y="3566"/>
                </a:lnTo>
                <a:lnTo>
                  <a:pt x="2795" y="3581"/>
                </a:lnTo>
                <a:lnTo>
                  <a:pt x="2837" y="3797"/>
                </a:lnTo>
                <a:lnTo>
                  <a:pt x="2842" y="3808"/>
                </a:lnTo>
                <a:lnTo>
                  <a:pt x="2851" y="3815"/>
                </a:lnTo>
                <a:lnTo>
                  <a:pt x="2863" y="3818"/>
                </a:lnTo>
                <a:lnTo>
                  <a:pt x="2979" y="3818"/>
                </a:lnTo>
                <a:lnTo>
                  <a:pt x="2990" y="3815"/>
                </a:lnTo>
                <a:lnTo>
                  <a:pt x="3000" y="3808"/>
                </a:lnTo>
                <a:lnTo>
                  <a:pt x="3003" y="3797"/>
                </a:lnTo>
                <a:lnTo>
                  <a:pt x="3047" y="3581"/>
                </a:lnTo>
                <a:lnTo>
                  <a:pt x="3052" y="3566"/>
                </a:lnTo>
                <a:lnTo>
                  <a:pt x="3063" y="3551"/>
                </a:lnTo>
                <a:lnTo>
                  <a:pt x="3076" y="3541"/>
                </a:lnTo>
                <a:lnTo>
                  <a:pt x="3092" y="3533"/>
                </a:lnTo>
                <a:lnTo>
                  <a:pt x="3139" y="3518"/>
                </a:lnTo>
                <a:lnTo>
                  <a:pt x="3186" y="3499"/>
                </a:lnTo>
                <a:lnTo>
                  <a:pt x="3230" y="3476"/>
                </a:lnTo>
                <a:lnTo>
                  <a:pt x="3245" y="3470"/>
                </a:lnTo>
                <a:lnTo>
                  <a:pt x="3263" y="3468"/>
                </a:lnTo>
                <a:lnTo>
                  <a:pt x="3280" y="3471"/>
                </a:lnTo>
                <a:lnTo>
                  <a:pt x="3296" y="3479"/>
                </a:lnTo>
                <a:lnTo>
                  <a:pt x="3478" y="3602"/>
                </a:lnTo>
                <a:lnTo>
                  <a:pt x="3489" y="3605"/>
                </a:lnTo>
                <a:lnTo>
                  <a:pt x="3499" y="3604"/>
                </a:lnTo>
                <a:lnTo>
                  <a:pt x="3509" y="3598"/>
                </a:lnTo>
                <a:lnTo>
                  <a:pt x="3592" y="3514"/>
                </a:lnTo>
                <a:lnTo>
                  <a:pt x="3598" y="3505"/>
                </a:lnTo>
                <a:lnTo>
                  <a:pt x="3600" y="3494"/>
                </a:lnTo>
                <a:lnTo>
                  <a:pt x="3596" y="3483"/>
                </a:lnTo>
                <a:lnTo>
                  <a:pt x="3473" y="3301"/>
                </a:lnTo>
                <a:lnTo>
                  <a:pt x="3466" y="3285"/>
                </a:lnTo>
                <a:lnTo>
                  <a:pt x="3462" y="3268"/>
                </a:lnTo>
                <a:lnTo>
                  <a:pt x="3465" y="3250"/>
                </a:lnTo>
                <a:lnTo>
                  <a:pt x="3471" y="3235"/>
                </a:lnTo>
                <a:lnTo>
                  <a:pt x="3493" y="3191"/>
                </a:lnTo>
                <a:lnTo>
                  <a:pt x="3513" y="3144"/>
                </a:lnTo>
                <a:lnTo>
                  <a:pt x="3528" y="3096"/>
                </a:lnTo>
                <a:lnTo>
                  <a:pt x="3535" y="3081"/>
                </a:lnTo>
                <a:lnTo>
                  <a:pt x="3546" y="3068"/>
                </a:lnTo>
                <a:lnTo>
                  <a:pt x="3560" y="3057"/>
                </a:lnTo>
                <a:lnTo>
                  <a:pt x="3576" y="3052"/>
                </a:lnTo>
                <a:lnTo>
                  <a:pt x="3792" y="3008"/>
                </a:lnTo>
                <a:lnTo>
                  <a:pt x="3802" y="3004"/>
                </a:lnTo>
                <a:lnTo>
                  <a:pt x="3810" y="2995"/>
                </a:lnTo>
                <a:lnTo>
                  <a:pt x="3812" y="2984"/>
                </a:lnTo>
                <a:lnTo>
                  <a:pt x="3812" y="2867"/>
                </a:lnTo>
                <a:lnTo>
                  <a:pt x="3810" y="2855"/>
                </a:lnTo>
                <a:lnTo>
                  <a:pt x="3802" y="2847"/>
                </a:lnTo>
                <a:lnTo>
                  <a:pt x="3792" y="2842"/>
                </a:lnTo>
                <a:lnTo>
                  <a:pt x="3576" y="2799"/>
                </a:lnTo>
                <a:lnTo>
                  <a:pt x="3560" y="2793"/>
                </a:lnTo>
                <a:lnTo>
                  <a:pt x="3546" y="2783"/>
                </a:lnTo>
                <a:lnTo>
                  <a:pt x="3535" y="2770"/>
                </a:lnTo>
                <a:lnTo>
                  <a:pt x="3528" y="2755"/>
                </a:lnTo>
                <a:lnTo>
                  <a:pt x="3513" y="2707"/>
                </a:lnTo>
                <a:lnTo>
                  <a:pt x="3493" y="2660"/>
                </a:lnTo>
                <a:lnTo>
                  <a:pt x="3471" y="2616"/>
                </a:lnTo>
                <a:lnTo>
                  <a:pt x="3465" y="2599"/>
                </a:lnTo>
                <a:lnTo>
                  <a:pt x="3462" y="2583"/>
                </a:lnTo>
                <a:lnTo>
                  <a:pt x="3466" y="2566"/>
                </a:lnTo>
                <a:lnTo>
                  <a:pt x="3473" y="2550"/>
                </a:lnTo>
                <a:lnTo>
                  <a:pt x="3596" y="2368"/>
                </a:lnTo>
                <a:lnTo>
                  <a:pt x="3600" y="2357"/>
                </a:lnTo>
                <a:lnTo>
                  <a:pt x="3598" y="2346"/>
                </a:lnTo>
                <a:lnTo>
                  <a:pt x="3592" y="2337"/>
                </a:lnTo>
                <a:lnTo>
                  <a:pt x="3509" y="2253"/>
                </a:lnTo>
                <a:lnTo>
                  <a:pt x="3499" y="2247"/>
                </a:lnTo>
                <a:lnTo>
                  <a:pt x="3489" y="2246"/>
                </a:lnTo>
                <a:lnTo>
                  <a:pt x="3478" y="2249"/>
                </a:lnTo>
                <a:lnTo>
                  <a:pt x="3296" y="2372"/>
                </a:lnTo>
                <a:lnTo>
                  <a:pt x="3280" y="2380"/>
                </a:lnTo>
                <a:lnTo>
                  <a:pt x="3263" y="2383"/>
                </a:lnTo>
                <a:lnTo>
                  <a:pt x="3245" y="2381"/>
                </a:lnTo>
                <a:lnTo>
                  <a:pt x="3230" y="2375"/>
                </a:lnTo>
                <a:lnTo>
                  <a:pt x="3186" y="2352"/>
                </a:lnTo>
                <a:lnTo>
                  <a:pt x="3139" y="2333"/>
                </a:lnTo>
                <a:lnTo>
                  <a:pt x="3092" y="2317"/>
                </a:lnTo>
                <a:lnTo>
                  <a:pt x="3076" y="2310"/>
                </a:lnTo>
                <a:lnTo>
                  <a:pt x="3063" y="2300"/>
                </a:lnTo>
                <a:lnTo>
                  <a:pt x="3052" y="2285"/>
                </a:lnTo>
                <a:lnTo>
                  <a:pt x="3047" y="2270"/>
                </a:lnTo>
                <a:lnTo>
                  <a:pt x="3003" y="2053"/>
                </a:lnTo>
                <a:lnTo>
                  <a:pt x="3000" y="2043"/>
                </a:lnTo>
                <a:lnTo>
                  <a:pt x="2990" y="2036"/>
                </a:lnTo>
                <a:lnTo>
                  <a:pt x="2979" y="2033"/>
                </a:lnTo>
                <a:lnTo>
                  <a:pt x="2863" y="2033"/>
                </a:lnTo>
                <a:lnTo>
                  <a:pt x="2851" y="2036"/>
                </a:lnTo>
                <a:lnTo>
                  <a:pt x="2842" y="2043"/>
                </a:lnTo>
                <a:lnTo>
                  <a:pt x="2837" y="2053"/>
                </a:lnTo>
                <a:lnTo>
                  <a:pt x="2795" y="2270"/>
                </a:lnTo>
                <a:lnTo>
                  <a:pt x="2789" y="2285"/>
                </a:lnTo>
                <a:lnTo>
                  <a:pt x="2779" y="2300"/>
                </a:lnTo>
                <a:lnTo>
                  <a:pt x="2766" y="2310"/>
                </a:lnTo>
                <a:lnTo>
                  <a:pt x="2750" y="2317"/>
                </a:lnTo>
                <a:lnTo>
                  <a:pt x="2703" y="2333"/>
                </a:lnTo>
                <a:lnTo>
                  <a:pt x="2656" y="2352"/>
                </a:lnTo>
                <a:lnTo>
                  <a:pt x="2612" y="2375"/>
                </a:lnTo>
                <a:lnTo>
                  <a:pt x="2595" y="2381"/>
                </a:lnTo>
                <a:lnTo>
                  <a:pt x="2579" y="2383"/>
                </a:lnTo>
                <a:lnTo>
                  <a:pt x="2562" y="2380"/>
                </a:lnTo>
                <a:lnTo>
                  <a:pt x="2546" y="2372"/>
                </a:lnTo>
                <a:lnTo>
                  <a:pt x="2364" y="2249"/>
                </a:lnTo>
                <a:lnTo>
                  <a:pt x="2353" y="2246"/>
                </a:lnTo>
                <a:lnTo>
                  <a:pt x="2343" y="2247"/>
                </a:lnTo>
                <a:lnTo>
                  <a:pt x="2333" y="2253"/>
                </a:lnTo>
                <a:lnTo>
                  <a:pt x="2249" y="2337"/>
                </a:lnTo>
                <a:lnTo>
                  <a:pt x="2244" y="2346"/>
                </a:lnTo>
                <a:lnTo>
                  <a:pt x="2242" y="2357"/>
                </a:lnTo>
                <a:lnTo>
                  <a:pt x="2246" y="2368"/>
                </a:lnTo>
                <a:lnTo>
                  <a:pt x="2369" y="2550"/>
                </a:lnTo>
                <a:lnTo>
                  <a:pt x="2376" y="2566"/>
                </a:lnTo>
                <a:lnTo>
                  <a:pt x="2379" y="2583"/>
                </a:lnTo>
                <a:lnTo>
                  <a:pt x="2377" y="2599"/>
                </a:lnTo>
                <a:lnTo>
                  <a:pt x="2371" y="2616"/>
                </a:lnTo>
                <a:lnTo>
                  <a:pt x="2348" y="2660"/>
                </a:lnTo>
                <a:lnTo>
                  <a:pt x="2329" y="2707"/>
                </a:lnTo>
                <a:lnTo>
                  <a:pt x="2314" y="2755"/>
                </a:lnTo>
                <a:lnTo>
                  <a:pt x="2306" y="2773"/>
                </a:lnTo>
                <a:lnTo>
                  <a:pt x="2292" y="2787"/>
                </a:lnTo>
                <a:lnTo>
                  <a:pt x="2276" y="2796"/>
                </a:lnTo>
                <a:lnTo>
                  <a:pt x="2257" y="2800"/>
                </a:lnTo>
                <a:lnTo>
                  <a:pt x="2236" y="2798"/>
                </a:lnTo>
                <a:lnTo>
                  <a:pt x="2218" y="2789"/>
                </a:lnTo>
                <a:lnTo>
                  <a:pt x="2205" y="2776"/>
                </a:lnTo>
                <a:lnTo>
                  <a:pt x="2196" y="2759"/>
                </a:lnTo>
                <a:lnTo>
                  <a:pt x="2191" y="2741"/>
                </a:lnTo>
                <a:lnTo>
                  <a:pt x="2193" y="2721"/>
                </a:lnTo>
                <a:lnTo>
                  <a:pt x="2216" y="2654"/>
                </a:lnTo>
                <a:lnTo>
                  <a:pt x="2245" y="2589"/>
                </a:lnTo>
                <a:lnTo>
                  <a:pt x="2143" y="2436"/>
                </a:lnTo>
                <a:lnTo>
                  <a:pt x="2129" y="2409"/>
                </a:lnTo>
                <a:lnTo>
                  <a:pt x="2121" y="2382"/>
                </a:lnTo>
                <a:lnTo>
                  <a:pt x="2118" y="2353"/>
                </a:lnTo>
                <a:lnTo>
                  <a:pt x="2121" y="2325"/>
                </a:lnTo>
                <a:lnTo>
                  <a:pt x="2129" y="2297"/>
                </a:lnTo>
                <a:lnTo>
                  <a:pt x="2142" y="2271"/>
                </a:lnTo>
                <a:lnTo>
                  <a:pt x="2161" y="2248"/>
                </a:lnTo>
                <a:lnTo>
                  <a:pt x="2245" y="2165"/>
                </a:lnTo>
                <a:lnTo>
                  <a:pt x="2267" y="2145"/>
                </a:lnTo>
                <a:lnTo>
                  <a:pt x="2294" y="2132"/>
                </a:lnTo>
                <a:lnTo>
                  <a:pt x="2321" y="2124"/>
                </a:lnTo>
                <a:lnTo>
                  <a:pt x="2350" y="2122"/>
                </a:lnTo>
                <a:lnTo>
                  <a:pt x="2378" y="2124"/>
                </a:lnTo>
                <a:lnTo>
                  <a:pt x="2406" y="2132"/>
                </a:lnTo>
                <a:lnTo>
                  <a:pt x="2432" y="2147"/>
                </a:lnTo>
                <a:lnTo>
                  <a:pt x="2585" y="2248"/>
                </a:lnTo>
                <a:lnTo>
                  <a:pt x="2632" y="2227"/>
                </a:lnTo>
                <a:lnTo>
                  <a:pt x="2680" y="2209"/>
                </a:lnTo>
                <a:lnTo>
                  <a:pt x="2716" y="2028"/>
                </a:lnTo>
                <a:lnTo>
                  <a:pt x="2725" y="2000"/>
                </a:lnTo>
                <a:lnTo>
                  <a:pt x="2739" y="1975"/>
                </a:lnTo>
                <a:lnTo>
                  <a:pt x="2758" y="1952"/>
                </a:lnTo>
                <a:lnTo>
                  <a:pt x="2779" y="1934"/>
                </a:lnTo>
                <a:lnTo>
                  <a:pt x="2804" y="1921"/>
                </a:lnTo>
                <a:lnTo>
                  <a:pt x="2833" y="1911"/>
                </a:lnTo>
                <a:lnTo>
                  <a:pt x="2863" y="1909"/>
                </a:lnTo>
                <a:close/>
                <a:moveTo>
                  <a:pt x="1512" y="1260"/>
                </a:moveTo>
                <a:lnTo>
                  <a:pt x="1471" y="1263"/>
                </a:lnTo>
                <a:lnTo>
                  <a:pt x="1432" y="1273"/>
                </a:lnTo>
                <a:lnTo>
                  <a:pt x="1395" y="1288"/>
                </a:lnTo>
                <a:lnTo>
                  <a:pt x="1362" y="1309"/>
                </a:lnTo>
                <a:lnTo>
                  <a:pt x="1332" y="1334"/>
                </a:lnTo>
                <a:lnTo>
                  <a:pt x="1307" y="1364"/>
                </a:lnTo>
                <a:lnTo>
                  <a:pt x="1286" y="1398"/>
                </a:lnTo>
                <a:lnTo>
                  <a:pt x="1271" y="1435"/>
                </a:lnTo>
                <a:lnTo>
                  <a:pt x="1261" y="1473"/>
                </a:lnTo>
                <a:lnTo>
                  <a:pt x="1258" y="1515"/>
                </a:lnTo>
                <a:lnTo>
                  <a:pt x="1261" y="1555"/>
                </a:lnTo>
                <a:lnTo>
                  <a:pt x="1271" y="1595"/>
                </a:lnTo>
                <a:lnTo>
                  <a:pt x="1286" y="1632"/>
                </a:lnTo>
                <a:lnTo>
                  <a:pt x="1307" y="1665"/>
                </a:lnTo>
                <a:lnTo>
                  <a:pt x="1332" y="1695"/>
                </a:lnTo>
                <a:lnTo>
                  <a:pt x="1362" y="1720"/>
                </a:lnTo>
                <a:lnTo>
                  <a:pt x="1395" y="1740"/>
                </a:lnTo>
                <a:lnTo>
                  <a:pt x="1432" y="1756"/>
                </a:lnTo>
                <a:lnTo>
                  <a:pt x="1471" y="1766"/>
                </a:lnTo>
                <a:lnTo>
                  <a:pt x="1512" y="1769"/>
                </a:lnTo>
                <a:lnTo>
                  <a:pt x="1553" y="1766"/>
                </a:lnTo>
                <a:lnTo>
                  <a:pt x="1592" y="1756"/>
                </a:lnTo>
                <a:lnTo>
                  <a:pt x="1629" y="1740"/>
                </a:lnTo>
                <a:lnTo>
                  <a:pt x="1663" y="1720"/>
                </a:lnTo>
                <a:lnTo>
                  <a:pt x="1692" y="1695"/>
                </a:lnTo>
                <a:lnTo>
                  <a:pt x="1718" y="1665"/>
                </a:lnTo>
                <a:lnTo>
                  <a:pt x="1738" y="1632"/>
                </a:lnTo>
                <a:lnTo>
                  <a:pt x="1753" y="1595"/>
                </a:lnTo>
                <a:lnTo>
                  <a:pt x="1763" y="1555"/>
                </a:lnTo>
                <a:lnTo>
                  <a:pt x="1766" y="1515"/>
                </a:lnTo>
                <a:lnTo>
                  <a:pt x="1763" y="1473"/>
                </a:lnTo>
                <a:lnTo>
                  <a:pt x="1753" y="1435"/>
                </a:lnTo>
                <a:lnTo>
                  <a:pt x="1738" y="1398"/>
                </a:lnTo>
                <a:lnTo>
                  <a:pt x="1718" y="1364"/>
                </a:lnTo>
                <a:lnTo>
                  <a:pt x="1692" y="1334"/>
                </a:lnTo>
                <a:lnTo>
                  <a:pt x="1663" y="1309"/>
                </a:lnTo>
                <a:lnTo>
                  <a:pt x="1629" y="1288"/>
                </a:lnTo>
                <a:lnTo>
                  <a:pt x="1592" y="1273"/>
                </a:lnTo>
                <a:lnTo>
                  <a:pt x="1553" y="1263"/>
                </a:lnTo>
                <a:lnTo>
                  <a:pt x="1512" y="1260"/>
                </a:lnTo>
                <a:close/>
                <a:moveTo>
                  <a:pt x="911" y="1245"/>
                </a:moveTo>
                <a:lnTo>
                  <a:pt x="930" y="1248"/>
                </a:lnTo>
                <a:lnTo>
                  <a:pt x="948" y="1258"/>
                </a:lnTo>
                <a:lnTo>
                  <a:pt x="961" y="1271"/>
                </a:lnTo>
                <a:lnTo>
                  <a:pt x="970" y="1289"/>
                </a:lnTo>
                <a:lnTo>
                  <a:pt x="972" y="1308"/>
                </a:lnTo>
                <a:lnTo>
                  <a:pt x="968" y="1327"/>
                </a:lnTo>
                <a:lnTo>
                  <a:pt x="952" y="1388"/>
                </a:lnTo>
                <a:lnTo>
                  <a:pt x="941" y="1451"/>
                </a:lnTo>
                <a:lnTo>
                  <a:pt x="937" y="1515"/>
                </a:lnTo>
                <a:lnTo>
                  <a:pt x="941" y="1577"/>
                </a:lnTo>
                <a:lnTo>
                  <a:pt x="952" y="1638"/>
                </a:lnTo>
                <a:lnTo>
                  <a:pt x="967" y="1696"/>
                </a:lnTo>
                <a:lnTo>
                  <a:pt x="989" y="1752"/>
                </a:lnTo>
                <a:lnTo>
                  <a:pt x="1016" y="1805"/>
                </a:lnTo>
                <a:lnTo>
                  <a:pt x="1048" y="1854"/>
                </a:lnTo>
                <a:lnTo>
                  <a:pt x="1087" y="1899"/>
                </a:lnTo>
                <a:lnTo>
                  <a:pt x="1127" y="1941"/>
                </a:lnTo>
                <a:lnTo>
                  <a:pt x="1174" y="1978"/>
                </a:lnTo>
                <a:lnTo>
                  <a:pt x="1223" y="2012"/>
                </a:lnTo>
                <a:lnTo>
                  <a:pt x="1275" y="2038"/>
                </a:lnTo>
                <a:lnTo>
                  <a:pt x="1331" y="2061"/>
                </a:lnTo>
                <a:lnTo>
                  <a:pt x="1390" y="2076"/>
                </a:lnTo>
                <a:lnTo>
                  <a:pt x="1450" y="2087"/>
                </a:lnTo>
                <a:lnTo>
                  <a:pt x="1512" y="2089"/>
                </a:lnTo>
                <a:lnTo>
                  <a:pt x="1573" y="2087"/>
                </a:lnTo>
                <a:lnTo>
                  <a:pt x="1632" y="2077"/>
                </a:lnTo>
                <a:lnTo>
                  <a:pt x="1689" y="2062"/>
                </a:lnTo>
                <a:lnTo>
                  <a:pt x="1745" y="2040"/>
                </a:lnTo>
                <a:lnTo>
                  <a:pt x="1799" y="2014"/>
                </a:lnTo>
                <a:lnTo>
                  <a:pt x="1849" y="1981"/>
                </a:lnTo>
                <a:lnTo>
                  <a:pt x="1863" y="1973"/>
                </a:lnTo>
                <a:lnTo>
                  <a:pt x="1879" y="1970"/>
                </a:lnTo>
                <a:lnTo>
                  <a:pt x="1895" y="1970"/>
                </a:lnTo>
                <a:lnTo>
                  <a:pt x="1911" y="1975"/>
                </a:lnTo>
                <a:lnTo>
                  <a:pt x="1924" y="1983"/>
                </a:lnTo>
                <a:lnTo>
                  <a:pt x="1936" y="1995"/>
                </a:lnTo>
                <a:lnTo>
                  <a:pt x="1943" y="2009"/>
                </a:lnTo>
                <a:lnTo>
                  <a:pt x="1947" y="2025"/>
                </a:lnTo>
                <a:lnTo>
                  <a:pt x="1947" y="2041"/>
                </a:lnTo>
                <a:lnTo>
                  <a:pt x="1942" y="2056"/>
                </a:lnTo>
                <a:lnTo>
                  <a:pt x="1933" y="2070"/>
                </a:lnTo>
                <a:lnTo>
                  <a:pt x="1921" y="2082"/>
                </a:lnTo>
                <a:lnTo>
                  <a:pt x="1869" y="2117"/>
                </a:lnTo>
                <a:lnTo>
                  <a:pt x="1814" y="2145"/>
                </a:lnTo>
                <a:lnTo>
                  <a:pt x="1757" y="2170"/>
                </a:lnTo>
                <a:lnTo>
                  <a:pt x="1698" y="2190"/>
                </a:lnTo>
                <a:lnTo>
                  <a:pt x="1638" y="2203"/>
                </a:lnTo>
                <a:lnTo>
                  <a:pt x="1576" y="2211"/>
                </a:lnTo>
                <a:lnTo>
                  <a:pt x="1512" y="2215"/>
                </a:lnTo>
                <a:lnTo>
                  <a:pt x="1441" y="2211"/>
                </a:lnTo>
                <a:lnTo>
                  <a:pt x="1372" y="2200"/>
                </a:lnTo>
                <a:lnTo>
                  <a:pt x="1305" y="2182"/>
                </a:lnTo>
                <a:lnTo>
                  <a:pt x="1240" y="2160"/>
                </a:lnTo>
                <a:lnTo>
                  <a:pt x="1180" y="2130"/>
                </a:lnTo>
                <a:lnTo>
                  <a:pt x="1122" y="2094"/>
                </a:lnTo>
                <a:lnTo>
                  <a:pt x="1069" y="2055"/>
                </a:lnTo>
                <a:lnTo>
                  <a:pt x="1019" y="2009"/>
                </a:lnTo>
                <a:lnTo>
                  <a:pt x="973" y="1959"/>
                </a:lnTo>
                <a:lnTo>
                  <a:pt x="933" y="1905"/>
                </a:lnTo>
                <a:lnTo>
                  <a:pt x="898" y="1848"/>
                </a:lnTo>
                <a:lnTo>
                  <a:pt x="868" y="1787"/>
                </a:lnTo>
                <a:lnTo>
                  <a:pt x="846" y="1723"/>
                </a:lnTo>
                <a:lnTo>
                  <a:pt x="828" y="1656"/>
                </a:lnTo>
                <a:lnTo>
                  <a:pt x="817" y="1586"/>
                </a:lnTo>
                <a:lnTo>
                  <a:pt x="813" y="1515"/>
                </a:lnTo>
                <a:lnTo>
                  <a:pt x="816" y="1456"/>
                </a:lnTo>
                <a:lnTo>
                  <a:pt x="823" y="1399"/>
                </a:lnTo>
                <a:lnTo>
                  <a:pt x="835" y="1343"/>
                </a:lnTo>
                <a:lnTo>
                  <a:pt x="852" y="1287"/>
                </a:lnTo>
                <a:lnTo>
                  <a:pt x="861" y="1270"/>
                </a:lnTo>
                <a:lnTo>
                  <a:pt x="874" y="1255"/>
                </a:lnTo>
                <a:lnTo>
                  <a:pt x="892" y="1247"/>
                </a:lnTo>
                <a:lnTo>
                  <a:pt x="911" y="1245"/>
                </a:lnTo>
                <a:close/>
                <a:moveTo>
                  <a:pt x="1512" y="1135"/>
                </a:moveTo>
                <a:lnTo>
                  <a:pt x="1564" y="1138"/>
                </a:lnTo>
                <a:lnTo>
                  <a:pt x="1613" y="1149"/>
                </a:lnTo>
                <a:lnTo>
                  <a:pt x="1659" y="1165"/>
                </a:lnTo>
                <a:lnTo>
                  <a:pt x="1703" y="1187"/>
                </a:lnTo>
                <a:lnTo>
                  <a:pt x="1744" y="1215"/>
                </a:lnTo>
                <a:lnTo>
                  <a:pt x="1780" y="1247"/>
                </a:lnTo>
                <a:lnTo>
                  <a:pt x="1812" y="1283"/>
                </a:lnTo>
                <a:lnTo>
                  <a:pt x="1839" y="1324"/>
                </a:lnTo>
                <a:lnTo>
                  <a:pt x="1861" y="1367"/>
                </a:lnTo>
                <a:lnTo>
                  <a:pt x="1877" y="1414"/>
                </a:lnTo>
                <a:lnTo>
                  <a:pt x="1887" y="1463"/>
                </a:lnTo>
                <a:lnTo>
                  <a:pt x="1890" y="1515"/>
                </a:lnTo>
                <a:lnTo>
                  <a:pt x="1887" y="1566"/>
                </a:lnTo>
                <a:lnTo>
                  <a:pt x="1877" y="1615"/>
                </a:lnTo>
                <a:lnTo>
                  <a:pt x="1861" y="1662"/>
                </a:lnTo>
                <a:lnTo>
                  <a:pt x="1839" y="1706"/>
                </a:lnTo>
                <a:lnTo>
                  <a:pt x="1812" y="1746"/>
                </a:lnTo>
                <a:lnTo>
                  <a:pt x="1780" y="1782"/>
                </a:lnTo>
                <a:lnTo>
                  <a:pt x="1744" y="1815"/>
                </a:lnTo>
                <a:lnTo>
                  <a:pt x="1703" y="1842"/>
                </a:lnTo>
                <a:lnTo>
                  <a:pt x="1659" y="1863"/>
                </a:lnTo>
                <a:lnTo>
                  <a:pt x="1613" y="1880"/>
                </a:lnTo>
                <a:lnTo>
                  <a:pt x="1564" y="1890"/>
                </a:lnTo>
                <a:lnTo>
                  <a:pt x="1512" y="1893"/>
                </a:lnTo>
                <a:lnTo>
                  <a:pt x="1461" y="1890"/>
                </a:lnTo>
                <a:lnTo>
                  <a:pt x="1412" y="1880"/>
                </a:lnTo>
                <a:lnTo>
                  <a:pt x="1364" y="1863"/>
                </a:lnTo>
                <a:lnTo>
                  <a:pt x="1322" y="1842"/>
                </a:lnTo>
                <a:lnTo>
                  <a:pt x="1281" y="1815"/>
                </a:lnTo>
                <a:lnTo>
                  <a:pt x="1245" y="1782"/>
                </a:lnTo>
                <a:lnTo>
                  <a:pt x="1213" y="1746"/>
                </a:lnTo>
                <a:lnTo>
                  <a:pt x="1186" y="1706"/>
                </a:lnTo>
                <a:lnTo>
                  <a:pt x="1163" y="1662"/>
                </a:lnTo>
                <a:lnTo>
                  <a:pt x="1147" y="1615"/>
                </a:lnTo>
                <a:lnTo>
                  <a:pt x="1137" y="1566"/>
                </a:lnTo>
                <a:lnTo>
                  <a:pt x="1133" y="1515"/>
                </a:lnTo>
                <a:lnTo>
                  <a:pt x="1137" y="1463"/>
                </a:lnTo>
                <a:lnTo>
                  <a:pt x="1147" y="1414"/>
                </a:lnTo>
                <a:lnTo>
                  <a:pt x="1163" y="1367"/>
                </a:lnTo>
                <a:lnTo>
                  <a:pt x="1186" y="1324"/>
                </a:lnTo>
                <a:lnTo>
                  <a:pt x="1213" y="1283"/>
                </a:lnTo>
                <a:lnTo>
                  <a:pt x="1245" y="1247"/>
                </a:lnTo>
                <a:lnTo>
                  <a:pt x="1281" y="1215"/>
                </a:lnTo>
                <a:lnTo>
                  <a:pt x="1322" y="1187"/>
                </a:lnTo>
                <a:lnTo>
                  <a:pt x="1364" y="1165"/>
                </a:lnTo>
                <a:lnTo>
                  <a:pt x="1412" y="1149"/>
                </a:lnTo>
                <a:lnTo>
                  <a:pt x="1461" y="1138"/>
                </a:lnTo>
                <a:lnTo>
                  <a:pt x="1512" y="1135"/>
                </a:lnTo>
                <a:close/>
                <a:moveTo>
                  <a:pt x="1512" y="815"/>
                </a:moveTo>
                <a:lnTo>
                  <a:pt x="1584" y="818"/>
                </a:lnTo>
                <a:lnTo>
                  <a:pt x="1653" y="829"/>
                </a:lnTo>
                <a:lnTo>
                  <a:pt x="1720" y="847"/>
                </a:lnTo>
                <a:lnTo>
                  <a:pt x="1784" y="870"/>
                </a:lnTo>
                <a:lnTo>
                  <a:pt x="1845" y="899"/>
                </a:lnTo>
                <a:lnTo>
                  <a:pt x="1902" y="934"/>
                </a:lnTo>
                <a:lnTo>
                  <a:pt x="1956" y="975"/>
                </a:lnTo>
                <a:lnTo>
                  <a:pt x="2006" y="1020"/>
                </a:lnTo>
                <a:lnTo>
                  <a:pt x="2051" y="1070"/>
                </a:lnTo>
                <a:lnTo>
                  <a:pt x="2091" y="1124"/>
                </a:lnTo>
                <a:lnTo>
                  <a:pt x="2127" y="1181"/>
                </a:lnTo>
                <a:lnTo>
                  <a:pt x="2156" y="1242"/>
                </a:lnTo>
                <a:lnTo>
                  <a:pt x="2179" y="1307"/>
                </a:lnTo>
                <a:lnTo>
                  <a:pt x="2197" y="1374"/>
                </a:lnTo>
                <a:lnTo>
                  <a:pt x="2208" y="1443"/>
                </a:lnTo>
                <a:lnTo>
                  <a:pt x="2211" y="1515"/>
                </a:lnTo>
                <a:lnTo>
                  <a:pt x="2208" y="1580"/>
                </a:lnTo>
                <a:lnTo>
                  <a:pt x="2198" y="1646"/>
                </a:lnTo>
                <a:lnTo>
                  <a:pt x="2183" y="1711"/>
                </a:lnTo>
                <a:lnTo>
                  <a:pt x="2161" y="1774"/>
                </a:lnTo>
                <a:lnTo>
                  <a:pt x="2134" y="1834"/>
                </a:lnTo>
                <a:lnTo>
                  <a:pt x="2124" y="1848"/>
                </a:lnTo>
                <a:lnTo>
                  <a:pt x="2111" y="1859"/>
                </a:lnTo>
                <a:lnTo>
                  <a:pt x="2096" y="1865"/>
                </a:lnTo>
                <a:lnTo>
                  <a:pt x="2079" y="1867"/>
                </a:lnTo>
                <a:lnTo>
                  <a:pt x="2065" y="1866"/>
                </a:lnTo>
                <a:lnTo>
                  <a:pt x="2050" y="1860"/>
                </a:lnTo>
                <a:lnTo>
                  <a:pt x="2037" y="1850"/>
                </a:lnTo>
                <a:lnTo>
                  <a:pt x="2026" y="1838"/>
                </a:lnTo>
                <a:lnTo>
                  <a:pt x="2019" y="1824"/>
                </a:lnTo>
                <a:lnTo>
                  <a:pt x="2017" y="1809"/>
                </a:lnTo>
                <a:lnTo>
                  <a:pt x="2018" y="1792"/>
                </a:lnTo>
                <a:lnTo>
                  <a:pt x="2024" y="1776"/>
                </a:lnTo>
                <a:lnTo>
                  <a:pt x="2047" y="1727"/>
                </a:lnTo>
                <a:lnTo>
                  <a:pt x="2063" y="1676"/>
                </a:lnTo>
                <a:lnTo>
                  <a:pt x="2077" y="1623"/>
                </a:lnTo>
                <a:lnTo>
                  <a:pt x="2084" y="1570"/>
                </a:lnTo>
                <a:lnTo>
                  <a:pt x="2086" y="1515"/>
                </a:lnTo>
                <a:lnTo>
                  <a:pt x="2084" y="1453"/>
                </a:lnTo>
                <a:lnTo>
                  <a:pt x="2073" y="1392"/>
                </a:lnTo>
                <a:lnTo>
                  <a:pt x="2057" y="1333"/>
                </a:lnTo>
                <a:lnTo>
                  <a:pt x="2035" y="1277"/>
                </a:lnTo>
                <a:lnTo>
                  <a:pt x="2009" y="1224"/>
                </a:lnTo>
                <a:lnTo>
                  <a:pt x="1975" y="1175"/>
                </a:lnTo>
                <a:lnTo>
                  <a:pt x="1938" y="1129"/>
                </a:lnTo>
                <a:lnTo>
                  <a:pt x="1896" y="1088"/>
                </a:lnTo>
                <a:lnTo>
                  <a:pt x="1851" y="1050"/>
                </a:lnTo>
                <a:lnTo>
                  <a:pt x="1802" y="1018"/>
                </a:lnTo>
                <a:lnTo>
                  <a:pt x="1750" y="990"/>
                </a:lnTo>
                <a:lnTo>
                  <a:pt x="1694" y="969"/>
                </a:lnTo>
                <a:lnTo>
                  <a:pt x="1635" y="953"/>
                </a:lnTo>
                <a:lnTo>
                  <a:pt x="1574" y="942"/>
                </a:lnTo>
                <a:lnTo>
                  <a:pt x="1512" y="939"/>
                </a:lnTo>
                <a:lnTo>
                  <a:pt x="1456" y="942"/>
                </a:lnTo>
                <a:lnTo>
                  <a:pt x="1401" y="950"/>
                </a:lnTo>
                <a:lnTo>
                  <a:pt x="1348" y="963"/>
                </a:lnTo>
                <a:lnTo>
                  <a:pt x="1295" y="982"/>
                </a:lnTo>
                <a:lnTo>
                  <a:pt x="1246" y="1005"/>
                </a:lnTo>
                <a:lnTo>
                  <a:pt x="1199" y="1033"/>
                </a:lnTo>
                <a:lnTo>
                  <a:pt x="1153" y="1066"/>
                </a:lnTo>
                <a:lnTo>
                  <a:pt x="1112" y="1103"/>
                </a:lnTo>
                <a:lnTo>
                  <a:pt x="1095" y="1115"/>
                </a:lnTo>
                <a:lnTo>
                  <a:pt x="1077" y="1119"/>
                </a:lnTo>
                <a:lnTo>
                  <a:pt x="1058" y="1119"/>
                </a:lnTo>
                <a:lnTo>
                  <a:pt x="1040" y="1113"/>
                </a:lnTo>
                <a:lnTo>
                  <a:pt x="1023" y="1101"/>
                </a:lnTo>
                <a:lnTo>
                  <a:pt x="1013" y="1086"/>
                </a:lnTo>
                <a:lnTo>
                  <a:pt x="1007" y="1067"/>
                </a:lnTo>
                <a:lnTo>
                  <a:pt x="1007" y="1048"/>
                </a:lnTo>
                <a:lnTo>
                  <a:pt x="1013" y="1030"/>
                </a:lnTo>
                <a:lnTo>
                  <a:pt x="1025" y="1013"/>
                </a:lnTo>
                <a:lnTo>
                  <a:pt x="1076" y="969"/>
                </a:lnTo>
                <a:lnTo>
                  <a:pt x="1131" y="928"/>
                </a:lnTo>
                <a:lnTo>
                  <a:pt x="1188" y="895"/>
                </a:lnTo>
                <a:lnTo>
                  <a:pt x="1249" y="866"/>
                </a:lnTo>
                <a:lnTo>
                  <a:pt x="1312" y="845"/>
                </a:lnTo>
                <a:lnTo>
                  <a:pt x="1378" y="828"/>
                </a:lnTo>
                <a:lnTo>
                  <a:pt x="1444" y="818"/>
                </a:lnTo>
                <a:lnTo>
                  <a:pt x="1512" y="815"/>
                </a:lnTo>
                <a:close/>
                <a:moveTo>
                  <a:pt x="1423" y="0"/>
                </a:moveTo>
                <a:lnTo>
                  <a:pt x="1602" y="0"/>
                </a:lnTo>
                <a:lnTo>
                  <a:pt x="1635" y="4"/>
                </a:lnTo>
                <a:lnTo>
                  <a:pt x="1667" y="12"/>
                </a:lnTo>
                <a:lnTo>
                  <a:pt x="1697" y="25"/>
                </a:lnTo>
                <a:lnTo>
                  <a:pt x="1725" y="44"/>
                </a:lnTo>
                <a:lnTo>
                  <a:pt x="1749" y="67"/>
                </a:lnTo>
                <a:lnTo>
                  <a:pt x="1768" y="93"/>
                </a:lnTo>
                <a:lnTo>
                  <a:pt x="1783" y="123"/>
                </a:lnTo>
                <a:lnTo>
                  <a:pt x="1793" y="156"/>
                </a:lnTo>
                <a:lnTo>
                  <a:pt x="1851" y="449"/>
                </a:lnTo>
                <a:lnTo>
                  <a:pt x="1911" y="469"/>
                </a:lnTo>
                <a:lnTo>
                  <a:pt x="1969" y="493"/>
                </a:lnTo>
                <a:lnTo>
                  <a:pt x="2025" y="521"/>
                </a:lnTo>
                <a:lnTo>
                  <a:pt x="2273" y="356"/>
                </a:lnTo>
                <a:lnTo>
                  <a:pt x="2303" y="339"/>
                </a:lnTo>
                <a:lnTo>
                  <a:pt x="2335" y="329"/>
                </a:lnTo>
                <a:lnTo>
                  <a:pt x="2368" y="324"/>
                </a:lnTo>
                <a:lnTo>
                  <a:pt x="2400" y="324"/>
                </a:lnTo>
                <a:lnTo>
                  <a:pt x="2432" y="330"/>
                </a:lnTo>
                <a:lnTo>
                  <a:pt x="2463" y="342"/>
                </a:lnTo>
                <a:lnTo>
                  <a:pt x="2492" y="358"/>
                </a:lnTo>
                <a:lnTo>
                  <a:pt x="2518" y="380"/>
                </a:lnTo>
                <a:lnTo>
                  <a:pt x="2645" y="508"/>
                </a:lnTo>
                <a:lnTo>
                  <a:pt x="2667" y="533"/>
                </a:lnTo>
                <a:lnTo>
                  <a:pt x="2684" y="563"/>
                </a:lnTo>
                <a:lnTo>
                  <a:pt x="2694" y="592"/>
                </a:lnTo>
                <a:lnTo>
                  <a:pt x="2700" y="625"/>
                </a:lnTo>
                <a:lnTo>
                  <a:pt x="2702" y="658"/>
                </a:lnTo>
                <a:lnTo>
                  <a:pt x="2696" y="690"/>
                </a:lnTo>
                <a:lnTo>
                  <a:pt x="2686" y="723"/>
                </a:lnTo>
                <a:lnTo>
                  <a:pt x="2669" y="753"/>
                </a:lnTo>
                <a:lnTo>
                  <a:pt x="2504" y="1001"/>
                </a:lnTo>
                <a:lnTo>
                  <a:pt x="2531" y="1057"/>
                </a:lnTo>
                <a:lnTo>
                  <a:pt x="2556" y="1116"/>
                </a:lnTo>
                <a:lnTo>
                  <a:pt x="2576" y="1175"/>
                </a:lnTo>
                <a:lnTo>
                  <a:pt x="2869" y="1234"/>
                </a:lnTo>
                <a:lnTo>
                  <a:pt x="2901" y="1244"/>
                </a:lnTo>
                <a:lnTo>
                  <a:pt x="2931" y="1259"/>
                </a:lnTo>
                <a:lnTo>
                  <a:pt x="2958" y="1278"/>
                </a:lnTo>
                <a:lnTo>
                  <a:pt x="2981" y="1302"/>
                </a:lnTo>
                <a:lnTo>
                  <a:pt x="2999" y="1328"/>
                </a:lnTo>
                <a:lnTo>
                  <a:pt x="3013" y="1358"/>
                </a:lnTo>
                <a:lnTo>
                  <a:pt x="3021" y="1390"/>
                </a:lnTo>
                <a:lnTo>
                  <a:pt x="3025" y="1425"/>
                </a:lnTo>
                <a:lnTo>
                  <a:pt x="3025" y="1604"/>
                </a:lnTo>
                <a:lnTo>
                  <a:pt x="3021" y="1638"/>
                </a:lnTo>
                <a:lnTo>
                  <a:pt x="3013" y="1670"/>
                </a:lnTo>
                <a:lnTo>
                  <a:pt x="2999" y="1700"/>
                </a:lnTo>
                <a:lnTo>
                  <a:pt x="2981" y="1727"/>
                </a:lnTo>
                <a:lnTo>
                  <a:pt x="2958" y="1751"/>
                </a:lnTo>
                <a:lnTo>
                  <a:pt x="2931" y="1770"/>
                </a:lnTo>
                <a:lnTo>
                  <a:pt x="2901" y="1786"/>
                </a:lnTo>
                <a:lnTo>
                  <a:pt x="2869" y="1795"/>
                </a:lnTo>
                <a:lnTo>
                  <a:pt x="2576" y="1854"/>
                </a:lnTo>
                <a:lnTo>
                  <a:pt x="2550" y="1927"/>
                </a:lnTo>
                <a:lnTo>
                  <a:pt x="2519" y="1998"/>
                </a:lnTo>
                <a:lnTo>
                  <a:pt x="2511" y="2012"/>
                </a:lnTo>
                <a:lnTo>
                  <a:pt x="2498" y="2022"/>
                </a:lnTo>
                <a:lnTo>
                  <a:pt x="2484" y="2030"/>
                </a:lnTo>
                <a:lnTo>
                  <a:pt x="2469" y="2033"/>
                </a:lnTo>
                <a:lnTo>
                  <a:pt x="2452" y="2032"/>
                </a:lnTo>
                <a:lnTo>
                  <a:pt x="2437" y="2027"/>
                </a:lnTo>
                <a:lnTo>
                  <a:pt x="2422" y="2018"/>
                </a:lnTo>
                <a:lnTo>
                  <a:pt x="2412" y="2006"/>
                </a:lnTo>
                <a:lnTo>
                  <a:pt x="2405" y="1991"/>
                </a:lnTo>
                <a:lnTo>
                  <a:pt x="2401" y="1976"/>
                </a:lnTo>
                <a:lnTo>
                  <a:pt x="2402" y="1960"/>
                </a:lnTo>
                <a:lnTo>
                  <a:pt x="2407" y="1944"/>
                </a:lnTo>
                <a:lnTo>
                  <a:pt x="2431" y="1892"/>
                </a:lnTo>
                <a:lnTo>
                  <a:pt x="2451" y="1837"/>
                </a:lnTo>
                <a:lnTo>
                  <a:pt x="2468" y="1783"/>
                </a:lnTo>
                <a:lnTo>
                  <a:pt x="2475" y="1767"/>
                </a:lnTo>
                <a:lnTo>
                  <a:pt x="2486" y="1754"/>
                </a:lnTo>
                <a:lnTo>
                  <a:pt x="2499" y="1744"/>
                </a:lnTo>
                <a:lnTo>
                  <a:pt x="2515" y="1738"/>
                </a:lnTo>
                <a:lnTo>
                  <a:pt x="2845" y="1672"/>
                </a:lnTo>
                <a:lnTo>
                  <a:pt x="2863" y="1666"/>
                </a:lnTo>
                <a:lnTo>
                  <a:pt x="2878" y="1656"/>
                </a:lnTo>
                <a:lnTo>
                  <a:pt x="2890" y="1641"/>
                </a:lnTo>
                <a:lnTo>
                  <a:pt x="2897" y="1623"/>
                </a:lnTo>
                <a:lnTo>
                  <a:pt x="2901" y="1604"/>
                </a:lnTo>
                <a:lnTo>
                  <a:pt x="2901" y="1425"/>
                </a:lnTo>
                <a:lnTo>
                  <a:pt x="2897" y="1406"/>
                </a:lnTo>
                <a:lnTo>
                  <a:pt x="2890" y="1388"/>
                </a:lnTo>
                <a:lnTo>
                  <a:pt x="2878" y="1374"/>
                </a:lnTo>
                <a:lnTo>
                  <a:pt x="2863" y="1363"/>
                </a:lnTo>
                <a:lnTo>
                  <a:pt x="2845" y="1356"/>
                </a:lnTo>
                <a:lnTo>
                  <a:pt x="2515" y="1290"/>
                </a:lnTo>
                <a:lnTo>
                  <a:pt x="2499" y="1285"/>
                </a:lnTo>
                <a:lnTo>
                  <a:pt x="2486" y="1275"/>
                </a:lnTo>
                <a:lnTo>
                  <a:pt x="2475" y="1261"/>
                </a:lnTo>
                <a:lnTo>
                  <a:pt x="2468" y="1246"/>
                </a:lnTo>
                <a:lnTo>
                  <a:pt x="2444" y="1171"/>
                </a:lnTo>
                <a:lnTo>
                  <a:pt x="2413" y="1098"/>
                </a:lnTo>
                <a:lnTo>
                  <a:pt x="2377" y="1027"/>
                </a:lnTo>
                <a:lnTo>
                  <a:pt x="2371" y="1012"/>
                </a:lnTo>
                <a:lnTo>
                  <a:pt x="2370" y="995"/>
                </a:lnTo>
                <a:lnTo>
                  <a:pt x="2372" y="978"/>
                </a:lnTo>
                <a:lnTo>
                  <a:pt x="2379" y="963"/>
                </a:lnTo>
                <a:lnTo>
                  <a:pt x="2566" y="683"/>
                </a:lnTo>
                <a:lnTo>
                  <a:pt x="2574" y="665"/>
                </a:lnTo>
                <a:lnTo>
                  <a:pt x="2577" y="647"/>
                </a:lnTo>
                <a:lnTo>
                  <a:pt x="2575" y="628"/>
                </a:lnTo>
                <a:lnTo>
                  <a:pt x="2569" y="610"/>
                </a:lnTo>
                <a:lnTo>
                  <a:pt x="2557" y="595"/>
                </a:lnTo>
                <a:lnTo>
                  <a:pt x="2431" y="468"/>
                </a:lnTo>
                <a:lnTo>
                  <a:pt x="2415" y="456"/>
                </a:lnTo>
                <a:lnTo>
                  <a:pt x="2397" y="449"/>
                </a:lnTo>
                <a:lnTo>
                  <a:pt x="2378" y="448"/>
                </a:lnTo>
                <a:lnTo>
                  <a:pt x="2360" y="452"/>
                </a:lnTo>
                <a:lnTo>
                  <a:pt x="2343" y="460"/>
                </a:lnTo>
                <a:lnTo>
                  <a:pt x="2063" y="645"/>
                </a:lnTo>
                <a:lnTo>
                  <a:pt x="2048" y="653"/>
                </a:lnTo>
                <a:lnTo>
                  <a:pt x="2031" y="656"/>
                </a:lnTo>
                <a:lnTo>
                  <a:pt x="2015" y="655"/>
                </a:lnTo>
                <a:lnTo>
                  <a:pt x="1999" y="649"/>
                </a:lnTo>
                <a:lnTo>
                  <a:pt x="1929" y="612"/>
                </a:lnTo>
                <a:lnTo>
                  <a:pt x="1856" y="582"/>
                </a:lnTo>
                <a:lnTo>
                  <a:pt x="1781" y="558"/>
                </a:lnTo>
                <a:lnTo>
                  <a:pt x="1764" y="551"/>
                </a:lnTo>
                <a:lnTo>
                  <a:pt x="1751" y="540"/>
                </a:lnTo>
                <a:lnTo>
                  <a:pt x="1741" y="526"/>
                </a:lnTo>
                <a:lnTo>
                  <a:pt x="1735" y="510"/>
                </a:lnTo>
                <a:lnTo>
                  <a:pt x="1670" y="180"/>
                </a:lnTo>
                <a:lnTo>
                  <a:pt x="1664" y="162"/>
                </a:lnTo>
                <a:lnTo>
                  <a:pt x="1653" y="147"/>
                </a:lnTo>
                <a:lnTo>
                  <a:pt x="1639" y="135"/>
                </a:lnTo>
                <a:lnTo>
                  <a:pt x="1621" y="127"/>
                </a:lnTo>
                <a:lnTo>
                  <a:pt x="1602" y="124"/>
                </a:lnTo>
                <a:lnTo>
                  <a:pt x="1423" y="124"/>
                </a:lnTo>
                <a:lnTo>
                  <a:pt x="1404" y="127"/>
                </a:lnTo>
                <a:lnTo>
                  <a:pt x="1386" y="135"/>
                </a:lnTo>
                <a:lnTo>
                  <a:pt x="1372" y="147"/>
                </a:lnTo>
                <a:lnTo>
                  <a:pt x="1361" y="162"/>
                </a:lnTo>
                <a:lnTo>
                  <a:pt x="1354" y="180"/>
                </a:lnTo>
                <a:lnTo>
                  <a:pt x="1288" y="510"/>
                </a:lnTo>
                <a:lnTo>
                  <a:pt x="1283" y="526"/>
                </a:lnTo>
                <a:lnTo>
                  <a:pt x="1273" y="540"/>
                </a:lnTo>
                <a:lnTo>
                  <a:pt x="1260" y="551"/>
                </a:lnTo>
                <a:lnTo>
                  <a:pt x="1244" y="558"/>
                </a:lnTo>
                <a:lnTo>
                  <a:pt x="1169" y="582"/>
                </a:lnTo>
                <a:lnTo>
                  <a:pt x="1096" y="612"/>
                </a:lnTo>
                <a:lnTo>
                  <a:pt x="1026" y="649"/>
                </a:lnTo>
                <a:lnTo>
                  <a:pt x="1010" y="655"/>
                </a:lnTo>
                <a:lnTo>
                  <a:pt x="994" y="656"/>
                </a:lnTo>
                <a:lnTo>
                  <a:pt x="977" y="653"/>
                </a:lnTo>
                <a:lnTo>
                  <a:pt x="961" y="645"/>
                </a:lnTo>
                <a:lnTo>
                  <a:pt x="682" y="460"/>
                </a:lnTo>
                <a:lnTo>
                  <a:pt x="664" y="452"/>
                </a:lnTo>
                <a:lnTo>
                  <a:pt x="646" y="448"/>
                </a:lnTo>
                <a:lnTo>
                  <a:pt x="627" y="449"/>
                </a:lnTo>
                <a:lnTo>
                  <a:pt x="609" y="456"/>
                </a:lnTo>
                <a:lnTo>
                  <a:pt x="594" y="468"/>
                </a:lnTo>
                <a:lnTo>
                  <a:pt x="468" y="595"/>
                </a:lnTo>
                <a:lnTo>
                  <a:pt x="456" y="610"/>
                </a:lnTo>
                <a:lnTo>
                  <a:pt x="448" y="628"/>
                </a:lnTo>
                <a:lnTo>
                  <a:pt x="447" y="647"/>
                </a:lnTo>
                <a:lnTo>
                  <a:pt x="451" y="665"/>
                </a:lnTo>
                <a:lnTo>
                  <a:pt x="459" y="683"/>
                </a:lnTo>
                <a:lnTo>
                  <a:pt x="644" y="963"/>
                </a:lnTo>
                <a:lnTo>
                  <a:pt x="652" y="978"/>
                </a:lnTo>
                <a:lnTo>
                  <a:pt x="655" y="995"/>
                </a:lnTo>
                <a:lnTo>
                  <a:pt x="654" y="1012"/>
                </a:lnTo>
                <a:lnTo>
                  <a:pt x="648" y="1027"/>
                </a:lnTo>
                <a:lnTo>
                  <a:pt x="611" y="1098"/>
                </a:lnTo>
                <a:lnTo>
                  <a:pt x="581" y="1171"/>
                </a:lnTo>
                <a:lnTo>
                  <a:pt x="557" y="1246"/>
                </a:lnTo>
                <a:lnTo>
                  <a:pt x="550" y="1261"/>
                </a:lnTo>
                <a:lnTo>
                  <a:pt x="539" y="1275"/>
                </a:lnTo>
                <a:lnTo>
                  <a:pt x="525" y="1285"/>
                </a:lnTo>
                <a:lnTo>
                  <a:pt x="509" y="1290"/>
                </a:lnTo>
                <a:lnTo>
                  <a:pt x="180" y="1356"/>
                </a:lnTo>
                <a:lnTo>
                  <a:pt x="162" y="1363"/>
                </a:lnTo>
                <a:lnTo>
                  <a:pt x="147" y="1374"/>
                </a:lnTo>
                <a:lnTo>
                  <a:pt x="135" y="1388"/>
                </a:lnTo>
                <a:lnTo>
                  <a:pt x="126" y="1406"/>
                </a:lnTo>
                <a:lnTo>
                  <a:pt x="124" y="1425"/>
                </a:lnTo>
                <a:lnTo>
                  <a:pt x="124" y="1604"/>
                </a:lnTo>
                <a:lnTo>
                  <a:pt x="126" y="1623"/>
                </a:lnTo>
                <a:lnTo>
                  <a:pt x="135" y="1641"/>
                </a:lnTo>
                <a:lnTo>
                  <a:pt x="147" y="1656"/>
                </a:lnTo>
                <a:lnTo>
                  <a:pt x="162" y="1666"/>
                </a:lnTo>
                <a:lnTo>
                  <a:pt x="180" y="1672"/>
                </a:lnTo>
                <a:lnTo>
                  <a:pt x="509" y="1738"/>
                </a:lnTo>
                <a:lnTo>
                  <a:pt x="525" y="1744"/>
                </a:lnTo>
                <a:lnTo>
                  <a:pt x="539" y="1754"/>
                </a:lnTo>
                <a:lnTo>
                  <a:pt x="550" y="1767"/>
                </a:lnTo>
                <a:lnTo>
                  <a:pt x="557" y="1783"/>
                </a:lnTo>
                <a:lnTo>
                  <a:pt x="581" y="1858"/>
                </a:lnTo>
                <a:lnTo>
                  <a:pt x="611" y="1932"/>
                </a:lnTo>
                <a:lnTo>
                  <a:pt x="648" y="2001"/>
                </a:lnTo>
                <a:lnTo>
                  <a:pt x="654" y="2018"/>
                </a:lnTo>
                <a:lnTo>
                  <a:pt x="655" y="2034"/>
                </a:lnTo>
                <a:lnTo>
                  <a:pt x="652" y="2051"/>
                </a:lnTo>
                <a:lnTo>
                  <a:pt x="644" y="2067"/>
                </a:lnTo>
                <a:lnTo>
                  <a:pt x="459" y="2346"/>
                </a:lnTo>
                <a:lnTo>
                  <a:pt x="451" y="2363"/>
                </a:lnTo>
                <a:lnTo>
                  <a:pt x="447" y="2382"/>
                </a:lnTo>
                <a:lnTo>
                  <a:pt x="448" y="2401"/>
                </a:lnTo>
                <a:lnTo>
                  <a:pt x="456" y="2419"/>
                </a:lnTo>
                <a:lnTo>
                  <a:pt x="468" y="2434"/>
                </a:lnTo>
                <a:lnTo>
                  <a:pt x="594" y="2561"/>
                </a:lnTo>
                <a:lnTo>
                  <a:pt x="609" y="2573"/>
                </a:lnTo>
                <a:lnTo>
                  <a:pt x="627" y="2579"/>
                </a:lnTo>
                <a:lnTo>
                  <a:pt x="646" y="2581"/>
                </a:lnTo>
                <a:lnTo>
                  <a:pt x="664" y="2578"/>
                </a:lnTo>
                <a:lnTo>
                  <a:pt x="682" y="2569"/>
                </a:lnTo>
                <a:lnTo>
                  <a:pt x="961" y="2383"/>
                </a:lnTo>
                <a:lnTo>
                  <a:pt x="977" y="2376"/>
                </a:lnTo>
                <a:lnTo>
                  <a:pt x="994" y="2374"/>
                </a:lnTo>
                <a:lnTo>
                  <a:pt x="1010" y="2375"/>
                </a:lnTo>
                <a:lnTo>
                  <a:pt x="1026" y="2381"/>
                </a:lnTo>
                <a:lnTo>
                  <a:pt x="1096" y="2417"/>
                </a:lnTo>
                <a:lnTo>
                  <a:pt x="1169" y="2448"/>
                </a:lnTo>
                <a:lnTo>
                  <a:pt x="1244" y="2472"/>
                </a:lnTo>
                <a:lnTo>
                  <a:pt x="1260" y="2479"/>
                </a:lnTo>
                <a:lnTo>
                  <a:pt x="1273" y="2489"/>
                </a:lnTo>
                <a:lnTo>
                  <a:pt x="1283" y="2503"/>
                </a:lnTo>
                <a:lnTo>
                  <a:pt x="1288" y="2519"/>
                </a:lnTo>
                <a:lnTo>
                  <a:pt x="1354" y="2849"/>
                </a:lnTo>
                <a:lnTo>
                  <a:pt x="1361" y="2867"/>
                </a:lnTo>
                <a:lnTo>
                  <a:pt x="1372" y="2882"/>
                </a:lnTo>
                <a:lnTo>
                  <a:pt x="1386" y="2894"/>
                </a:lnTo>
                <a:lnTo>
                  <a:pt x="1404" y="2902"/>
                </a:lnTo>
                <a:lnTo>
                  <a:pt x="1423" y="2905"/>
                </a:lnTo>
                <a:lnTo>
                  <a:pt x="1602" y="2905"/>
                </a:lnTo>
                <a:lnTo>
                  <a:pt x="1621" y="2902"/>
                </a:lnTo>
                <a:lnTo>
                  <a:pt x="1639" y="2894"/>
                </a:lnTo>
                <a:lnTo>
                  <a:pt x="1653" y="2882"/>
                </a:lnTo>
                <a:lnTo>
                  <a:pt x="1664" y="2867"/>
                </a:lnTo>
                <a:lnTo>
                  <a:pt x="1670" y="2849"/>
                </a:lnTo>
                <a:lnTo>
                  <a:pt x="1735" y="2519"/>
                </a:lnTo>
                <a:lnTo>
                  <a:pt x="1741" y="2503"/>
                </a:lnTo>
                <a:lnTo>
                  <a:pt x="1751" y="2489"/>
                </a:lnTo>
                <a:lnTo>
                  <a:pt x="1764" y="2479"/>
                </a:lnTo>
                <a:lnTo>
                  <a:pt x="1781" y="2472"/>
                </a:lnTo>
                <a:lnTo>
                  <a:pt x="1833" y="2455"/>
                </a:lnTo>
                <a:lnTo>
                  <a:pt x="1886" y="2436"/>
                </a:lnTo>
                <a:lnTo>
                  <a:pt x="1937" y="2413"/>
                </a:lnTo>
                <a:lnTo>
                  <a:pt x="1954" y="2408"/>
                </a:lnTo>
                <a:lnTo>
                  <a:pt x="1969" y="2407"/>
                </a:lnTo>
                <a:lnTo>
                  <a:pt x="1985" y="2411"/>
                </a:lnTo>
                <a:lnTo>
                  <a:pt x="1999" y="2418"/>
                </a:lnTo>
                <a:lnTo>
                  <a:pt x="2011" y="2429"/>
                </a:lnTo>
                <a:lnTo>
                  <a:pt x="2020" y="2442"/>
                </a:lnTo>
                <a:lnTo>
                  <a:pt x="2025" y="2458"/>
                </a:lnTo>
                <a:lnTo>
                  <a:pt x="2026" y="2474"/>
                </a:lnTo>
                <a:lnTo>
                  <a:pt x="2023" y="2489"/>
                </a:lnTo>
                <a:lnTo>
                  <a:pt x="2016" y="2504"/>
                </a:lnTo>
                <a:lnTo>
                  <a:pt x="2005" y="2516"/>
                </a:lnTo>
                <a:lnTo>
                  <a:pt x="1991" y="2525"/>
                </a:lnTo>
                <a:lnTo>
                  <a:pt x="1921" y="2555"/>
                </a:lnTo>
                <a:lnTo>
                  <a:pt x="1851" y="2580"/>
                </a:lnTo>
                <a:lnTo>
                  <a:pt x="1793" y="2873"/>
                </a:lnTo>
                <a:lnTo>
                  <a:pt x="1783" y="2905"/>
                </a:lnTo>
                <a:lnTo>
                  <a:pt x="1768" y="2935"/>
                </a:lnTo>
                <a:lnTo>
                  <a:pt x="1749" y="2962"/>
                </a:lnTo>
                <a:lnTo>
                  <a:pt x="1725" y="2985"/>
                </a:lnTo>
                <a:lnTo>
                  <a:pt x="1697" y="3003"/>
                </a:lnTo>
                <a:lnTo>
                  <a:pt x="1667" y="3017"/>
                </a:lnTo>
                <a:lnTo>
                  <a:pt x="1635" y="3026"/>
                </a:lnTo>
                <a:lnTo>
                  <a:pt x="1602" y="3029"/>
                </a:lnTo>
                <a:lnTo>
                  <a:pt x="1423" y="3029"/>
                </a:lnTo>
                <a:lnTo>
                  <a:pt x="1388" y="3026"/>
                </a:lnTo>
                <a:lnTo>
                  <a:pt x="1356" y="3017"/>
                </a:lnTo>
                <a:lnTo>
                  <a:pt x="1326" y="3003"/>
                </a:lnTo>
                <a:lnTo>
                  <a:pt x="1300" y="2985"/>
                </a:lnTo>
                <a:lnTo>
                  <a:pt x="1276" y="2962"/>
                </a:lnTo>
                <a:lnTo>
                  <a:pt x="1257" y="2935"/>
                </a:lnTo>
                <a:lnTo>
                  <a:pt x="1242" y="2905"/>
                </a:lnTo>
                <a:lnTo>
                  <a:pt x="1232" y="2873"/>
                </a:lnTo>
                <a:lnTo>
                  <a:pt x="1174" y="2580"/>
                </a:lnTo>
                <a:lnTo>
                  <a:pt x="1114" y="2560"/>
                </a:lnTo>
                <a:lnTo>
                  <a:pt x="1056" y="2535"/>
                </a:lnTo>
                <a:lnTo>
                  <a:pt x="1000" y="2507"/>
                </a:lnTo>
                <a:lnTo>
                  <a:pt x="751" y="2673"/>
                </a:lnTo>
                <a:lnTo>
                  <a:pt x="722" y="2690"/>
                </a:lnTo>
                <a:lnTo>
                  <a:pt x="689" y="2701"/>
                </a:lnTo>
                <a:lnTo>
                  <a:pt x="657" y="2706"/>
                </a:lnTo>
                <a:lnTo>
                  <a:pt x="625" y="2704"/>
                </a:lnTo>
                <a:lnTo>
                  <a:pt x="593" y="2698"/>
                </a:lnTo>
                <a:lnTo>
                  <a:pt x="562" y="2688"/>
                </a:lnTo>
                <a:lnTo>
                  <a:pt x="532" y="2671"/>
                </a:lnTo>
                <a:lnTo>
                  <a:pt x="507" y="2650"/>
                </a:lnTo>
                <a:lnTo>
                  <a:pt x="379" y="2522"/>
                </a:lnTo>
                <a:lnTo>
                  <a:pt x="358" y="2495"/>
                </a:lnTo>
                <a:lnTo>
                  <a:pt x="341" y="2467"/>
                </a:lnTo>
                <a:lnTo>
                  <a:pt x="329" y="2436"/>
                </a:lnTo>
                <a:lnTo>
                  <a:pt x="323" y="2403"/>
                </a:lnTo>
                <a:lnTo>
                  <a:pt x="323" y="2371"/>
                </a:lnTo>
                <a:lnTo>
                  <a:pt x="328" y="2339"/>
                </a:lnTo>
                <a:lnTo>
                  <a:pt x="339" y="2307"/>
                </a:lnTo>
                <a:lnTo>
                  <a:pt x="355" y="2277"/>
                </a:lnTo>
                <a:lnTo>
                  <a:pt x="520" y="2028"/>
                </a:lnTo>
                <a:lnTo>
                  <a:pt x="493" y="1972"/>
                </a:lnTo>
                <a:lnTo>
                  <a:pt x="469" y="1914"/>
                </a:lnTo>
                <a:lnTo>
                  <a:pt x="448" y="1854"/>
                </a:lnTo>
                <a:lnTo>
                  <a:pt x="156" y="1795"/>
                </a:lnTo>
                <a:lnTo>
                  <a:pt x="123" y="1786"/>
                </a:lnTo>
                <a:lnTo>
                  <a:pt x="93" y="1770"/>
                </a:lnTo>
                <a:lnTo>
                  <a:pt x="67" y="1751"/>
                </a:lnTo>
                <a:lnTo>
                  <a:pt x="44" y="1727"/>
                </a:lnTo>
                <a:lnTo>
                  <a:pt x="25" y="1700"/>
                </a:lnTo>
                <a:lnTo>
                  <a:pt x="12" y="1670"/>
                </a:lnTo>
                <a:lnTo>
                  <a:pt x="4" y="1638"/>
                </a:lnTo>
                <a:lnTo>
                  <a:pt x="0" y="1604"/>
                </a:lnTo>
                <a:lnTo>
                  <a:pt x="0" y="1425"/>
                </a:lnTo>
                <a:lnTo>
                  <a:pt x="4" y="1390"/>
                </a:lnTo>
                <a:lnTo>
                  <a:pt x="12" y="1358"/>
                </a:lnTo>
                <a:lnTo>
                  <a:pt x="25" y="1328"/>
                </a:lnTo>
                <a:lnTo>
                  <a:pt x="44" y="1302"/>
                </a:lnTo>
                <a:lnTo>
                  <a:pt x="67" y="1278"/>
                </a:lnTo>
                <a:lnTo>
                  <a:pt x="93" y="1259"/>
                </a:lnTo>
                <a:lnTo>
                  <a:pt x="123" y="1244"/>
                </a:lnTo>
                <a:lnTo>
                  <a:pt x="156" y="1234"/>
                </a:lnTo>
                <a:lnTo>
                  <a:pt x="448" y="1175"/>
                </a:lnTo>
                <a:lnTo>
                  <a:pt x="469" y="1116"/>
                </a:lnTo>
                <a:lnTo>
                  <a:pt x="493" y="1057"/>
                </a:lnTo>
                <a:lnTo>
                  <a:pt x="520" y="1001"/>
                </a:lnTo>
                <a:lnTo>
                  <a:pt x="355" y="753"/>
                </a:lnTo>
                <a:lnTo>
                  <a:pt x="339" y="723"/>
                </a:lnTo>
                <a:lnTo>
                  <a:pt x="328" y="690"/>
                </a:lnTo>
                <a:lnTo>
                  <a:pt x="323" y="658"/>
                </a:lnTo>
                <a:lnTo>
                  <a:pt x="323" y="626"/>
                </a:lnTo>
                <a:lnTo>
                  <a:pt x="329" y="594"/>
                </a:lnTo>
                <a:lnTo>
                  <a:pt x="341" y="563"/>
                </a:lnTo>
                <a:lnTo>
                  <a:pt x="358" y="533"/>
                </a:lnTo>
                <a:lnTo>
                  <a:pt x="379" y="508"/>
                </a:lnTo>
                <a:lnTo>
                  <a:pt x="507" y="380"/>
                </a:lnTo>
                <a:lnTo>
                  <a:pt x="532" y="358"/>
                </a:lnTo>
                <a:lnTo>
                  <a:pt x="562" y="342"/>
                </a:lnTo>
                <a:lnTo>
                  <a:pt x="593" y="330"/>
                </a:lnTo>
                <a:lnTo>
                  <a:pt x="625" y="324"/>
                </a:lnTo>
                <a:lnTo>
                  <a:pt x="657" y="324"/>
                </a:lnTo>
                <a:lnTo>
                  <a:pt x="689" y="329"/>
                </a:lnTo>
                <a:lnTo>
                  <a:pt x="722" y="339"/>
                </a:lnTo>
                <a:lnTo>
                  <a:pt x="751" y="356"/>
                </a:lnTo>
                <a:lnTo>
                  <a:pt x="1000" y="521"/>
                </a:lnTo>
                <a:lnTo>
                  <a:pt x="1056" y="493"/>
                </a:lnTo>
                <a:lnTo>
                  <a:pt x="1114" y="469"/>
                </a:lnTo>
                <a:lnTo>
                  <a:pt x="1174" y="449"/>
                </a:lnTo>
                <a:lnTo>
                  <a:pt x="1232" y="156"/>
                </a:lnTo>
                <a:lnTo>
                  <a:pt x="1242" y="123"/>
                </a:lnTo>
                <a:lnTo>
                  <a:pt x="1257" y="93"/>
                </a:lnTo>
                <a:lnTo>
                  <a:pt x="1276" y="67"/>
                </a:lnTo>
                <a:lnTo>
                  <a:pt x="1300" y="44"/>
                </a:lnTo>
                <a:lnTo>
                  <a:pt x="1326" y="25"/>
                </a:lnTo>
                <a:lnTo>
                  <a:pt x="1356" y="12"/>
                </a:lnTo>
                <a:lnTo>
                  <a:pt x="1388" y="4"/>
                </a:lnTo>
                <a:lnTo>
                  <a:pt x="1423"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grpSp>
        <p:nvGrpSpPr>
          <p:cNvPr id="37" name="Group 30">
            <a:extLst>
              <a:ext uri="{FF2B5EF4-FFF2-40B4-BE49-F238E27FC236}">
                <a16:creationId xmlns:a16="http://schemas.microsoft.com/office/drawing/2014/main" id="{A1BE2B6F-5E3C-6CAC-A252-0AEFBBB71FC7}"/>
              </a:ext>
            </a:extLst>
          </p:cNvPr>
          <p:cNvGrpSpPr>
            <a:grpSpLocks noChangeAspect="1"/>
          </p:cNvGrpSpPr>
          <p:nvPr/>
        </p:nvGrpSpPr>
        <p:grpSpPr bwMode="auto">
          <a:xfrm>
            <a:off x="6716103" y="1545194"/>
            <a:ext cx="345732" cy="434970"/>
            <a:chOff x="2923" y="1578"/>
            <a:chExt cx="442" cy="548"/>
          </a:xfrm>
          <a:solidFill>
            <a:schemeClr val="tx1"/>
          </a:solidFill>
        </p:grpSpPr>
        <p:sp>
          <p:nvSpPr>
            <p:cNvPr id="38" name="Freeform 31">
              <a:extLst>
                <a:ext uri="{FF2B5EF4-FFF2-40B4-BE49-F238E27FC236}">
                  <a16:creationId xmlns:a16="http://schemas.microsoft.com/office/drawing/2014/main" id="{8BE8835B-416A-343B-4D44-2CAB69662183}"/>
                </a:ext>
              </a:extLst>
            </p:cNvPr>
            <p:cNvSpPr>
              <a:spLocks noEditPoints="1"/>
            </p:cNvSpPr>
            <p:nvPr/>
          </p:nvSpPr>
          <p:spPr bwMode="auto">
            <a:xfrm>
              <a:off x="2923" y="1578"/>
              <a:ext cx="442" cy="548"/>
            </a:xfrm>
            <a:custGeom>
              <a:avLst/>
              <a:gdLst>
                <a:gd name="T0" fmla="*/ 153 w 154"/>
                <a:gd name="T1" fmla="*/ 187 h 192"/>
                <a:gd name="T2" fmla="*/ 144 w 154"/>
                <a:gd name="T3" fmla="*/ 178 h 192"/>
                <a:gd name="T4" fmla="*/ 144 w 154"/>
                <a:gd name="T5" fmla="*/ 66 h 192"/>
                <a:gd name="T6" fmla="*/ 128 w 154"/>
                <a:gd name="T7" fmla="*/ 50 h 192"/>
                <a:gd name="T8" fmla="*/ 128 w 154"/>
                <a:gd name="T9" fmla="*/ 0 h 192"/>
                <a:gd name="T10" fmla="*/ 0 w 154"/>
                <a:gd name="T11" fmla="*/ 0 h 192"/>
                <a:gd name="T12" fmla="*/ 0 w 154"/>
                <a:gd name="T13" fmla="*/ 166 h 192"/>
                <a:gd name="T14" fmla="*/ 16 w 154"/>
                <a:gd name="T15" fmla="*/ 166 h 192"/>
                <a:gd name="T16" fmla="*/ 16 w 154"/>
                <a:gd name="T17" fmla="*/ 182 h 192"/>
                <a:gd name="T18" fmla="*/ 139 w 154"/>
                <a:gd name="T19" fmla="*/ 182 h 192"/>
                <a:gd name="T20" fmla="*/ 148 w 154"/>
                <a:gd name="T21" fmla="*/ 191 h 192"/>
                <a:gd name="T22" fmla="*/ 150 w 154"/>
                <a:gd name="T23" fmla="*/ 192 h 192"/>
                <a:gd name="T24" fmla="*/ 153 w 154"/>
                <a:gd name="T25" fmla="*/ 191 h 192"/>
                <a:gd name="T26" fmla="*/ 153 w 154"/>
                <a:gd name="T27" fmla="*/ 187 h 192"/>
                <a:gd name="T28" fmla="*/ 133 w 154"/>
                <a:gd name="T29" fmla="*/ 64 h 192"/>
                <a:gd name="T30" fmla="*/ 96 w 154"/>
                <a:gd name="T31" fmla="*/ 64 h 192"/>
                <a:gd name="T32" fmla="*/ 96 w 154"/>
                <a:gd name="T33" fmla="*/ 27 h 192"/>
                <a:gd name="T34" fmla="*/ 133 w 154"/>
                <a:gd name="T35" fmla="*/ 64 h 192"/>
                <a:gd name="T36" fmla="*/ 6 w 154"/>
                <a:gd name="T37" fmla="*/ 160 h 192"/>
                <a:gd name="T38" fmla="*/ 6 w 154"/>
                <a:gd name="T39" fmla="*/ 6 h 192"/>
                <a:gd name="T40" fmla="*/ 122 w 154"/>
                <a:gd name="T41" fmla="*/ 6 h 192"/>
                <a:gd name="T42" fmla="*/ 122 w 154"/>
                <a:gd name="T43" fmla="*/ 43 h 192"/>
                <a:gd name="T44" fmla="*/ 94 w 154"/>
                <a:gd name="T45" fmla="*/ 16 h 192"/>
                <a:gd name="T46" fmla="*/ 16 w 154"/>
                <a:gd name="T47" fmla="*/ 16 h 192"/>
                <a:gd name="T48" fmla="*/ 16 w 154"/>
                <a:gd name="T49" fmla="*/ 160 h 192"/>
                <a:gd name="T50" fmla="*/ 6 w 154"/>
                <a:gd name="T51" fmla="*/ 160 h 192"/>
                <a:gd name="T52" fmla="*/ 22 w 154"/>
                <a:gd name="T53" fmla="*/ 176 h 192"/>
                <a:gd name="T54" fmla="*/ 22 w 154"/>
                <a:gd name="T55" fmla="*/ 22 h 192"/>
                <a:gd name="T56" fmla="*/ 90 w 154"/>
                <a:gd name="T57" fmla="*/ 22 h 192"/>
                <a:gd name="T58" fmla="*/ 90 w 154"/>
                <a:gd name="T59" fmla="*/ 70 h 192"/>
                <a:gd name="T60" fmla="*/ 138 w 154"/>
                <a:gd name="T61" fmla="*/ 70 h 192"/>
                <a:gd name="T62" fmla="*/ 138 w 154"/>
                <a:gd name="T63" fmla="*/ 171 h 192"/>
                <a:gd name="T64" fmla="*/ 114 w 154"/>
                <a:gd name="T65" fmla="*/ 147 h 192"/>
                <a:gd name="T66" fmla="*/ 122 w 154"/>
                <a:gd name="T67" fmla="*/ 123 h 192"/>
                <a:gd name="T68" fmla="*/ 85 w 154"/>
                <a:gd name="T69" fmla="*/ 85 h 192"/>
                <a:gd name="T70" fmla="*/ 47 w 154"/>
                <a:gd name="T71" fmla="*/ 123 h 192"/>
                <a:gd name="T72" fmla="*/ 85 w 154"/>
                <a:gd name="T73" fmla="*/ 161 h 192"/>
                <a:gd name="T74" fmla="*/ 109 w 154"/>
                <a:gd name="T75" fmla="*/ 152 h 192"/>
                <a:gd name="T76" fmla="*/ 133 w 154"/>
                <a:gd name="T77" fmla="*/ 176 h 192"/>
                <a:gd name="T78" fmla="*/ 22 w 154"/>
                <a:gd name="T79" fmla="*/ 176 h 192"/>
                <a:gd name="T80" fmla="*/ 85 w 154"/>
                <a:gd name="T81" fmla="*/ 155 h 192"/>
                <a:gd name="T82" fmla="*/ 53 w 154"/>
                <a:gd name="T83" fmla="*/ 123 h 192"/>
                <a:gd name="T84" fmla="*/ 85 w 154"/>
                <a:gd name="T85" fmla="*/ 92 h 192"/>
                <a:gd name="T86" fmla="*/ 116 w 154"/>
                <a:gd name="T87" fmla="*/ 123 h 192"/>
                <a:gd name="T88" fmla="*/ 85 w 154"/>
                <a:gd name="T89" fmla="*/ 155 h 192"/>
                <a:gd name="T90" fmla="*/ 85 w 154"/>
                <a:gd name="T91" fmla="*/ 155 h 192"/>
                <a:gd name="T92" fmla="*/ 85 w 154"/>
                <a:gd name="T93" fmla="*/ 155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4" h="192">
                  <a:moveTo>
                    <a:pt x="153" y="187"/>
                  </a:moveTo>
                  <a:cubicBezTo>
                    <a:pt x="144" y="178"/>
                    <a:pt x="144" y="178"/>
                    <a:pt x="144" y="178"/>
                  </a:cubicBezTo>
                  <a:cubicBezTo>
                    <a:pt x="144" y="66"/>
                    <a:pt x="144" y="66"/>
                    <a:pt x="144" y="66"/>
                  </a:cubicBezTo>
                  <a:cubicBezTo>
                    <a:pt x="128" y="50"/>
                    <a:pt x="128" y="50"/>
                    <a:pt x="128" y="50"/>
                  </a:cubicBezTo>
                  <a:cubicBezTo>
                    <a:pt x="128" y="0"/>
                    <a:pt x="128" y="0"/>
                    <a:pt x="128" y="0"/>
                  </a:cubicBezTo>
                  <a:cubicBezTo>
                    <a:pt x="0" y="0"/>
                    <a:pt x="0" y="0"/>
                    <a:pt x="0" y="0"/>
                  </a:cubicBezTo>
                  <a:cubicBezTo>
                    <a:pt x="0" y="166"/>
                    <a:pt x="0" y="166"/>
                    <a:pt x="0" y="166"/>
                  </a:cubicBezTo>
                  <a:cubicBezTo>
                    <a:pt x="16" y="166"/>
                    <a:pt x="16" y="166"/>
                    <a:pt x="16" y="166"/>
                  </a:cubicBezTo>
                  <a:cubicBezTo>
                    <a:pt x="16" y="182"/>
                    <a:pt x="16" y="182"/>
                    <a:pt x="16" y="182"/>
                  </a:cubicBezTo>
                  <a:cubicBezTo>
                    <a:pt x="139" y="182"/>
                    <a:pt x="139" y="182"/>
                    <a:pt x="139" y="182"/>
                  </a:cubicBezTo>
                  <a:cubicBezTo>
                    <a:pt x="148" y="191"/>
                    <a:pt x="148" y="191"/>
                    <a:pt x="148" y="191"/>
                  </a:cubicBezTo>
                  <a:cubicBezTo>
                    <a:pt x="149" y="192"/>
                    <a:pt x="150" y="192"/>
                    <a:pt x="150" y="192"/>
                  </a:cubicBezTo>
                  <a:cubicBezTo>
                    <a:pt x="151" y="192"/>
                    <a:pt x="152" y="192"/>
                    <a:pt x="153" y="191"/>
                  </a:cubicBezTo>
                  <a:cubicBezTo>
                    <a:pt x="154" y="190"/>
                    <a:pt x="154" y="188"/>
                    <a:pt x="153" y="187"/>
                  </a:cubicBezTo>
                  <a:close/>
                  <a:moveTo>
                    <a:pt x="133" y="64"/>
                  </a:moveTo>
                  <a:cubicBezTo>
                    <a:pt x="96" y="64"/>
                    <a:pt x="96" y="64"/>
                    <a:pt x="96" y="64"/>
                  </a:cubicBezTo>
                  <a:cubicBezTo>
                    <a:pt x="96" y="27"/>
                    <a:pt x="96" y="27"/>
                    <a:pt x="96" y="27"/>
                  </a:cubicBezTo>
                  <a:lnTo>
                    <a:pt x="133" y="64"/>
                  </a:lnTo>
                  <a:close/>
                  <a:moveTo>
                    <a:pt x="6" y="160"/>
                  </a:moveTo>
                  <a:cubicBezTo>
                    <a:pt x="6" y="6"/>
                    <a:pt x="6" y="6"/>
                    <a:pt x="6" y="6"/>
                  </a:cubicBezTo>
                  <a:cubicBezTo>
                    <a:pt x="122" y="6"/>
                    <a:pt x="122" y="6"/>
                    <a:pt x="122" y="6"/>
                  </a:cubicBezTo>
                  <a:cubicBezTo>
                    <a:pt x="122" y="43"/>
                    <a:pt x="122" y="43"/>
                    <a:pt x="122" y="43"/>
                  </a:cubicBezTo>
                  <a:cubicBezTo>
                    <a:pt x="94" y="16"/>
                    <a:pt x="94" y="16"/>
                    <a:pt x="94" y="16"/>
                  </a:cubicBezTo>
                  <a:cubicBezTo>
                    <a:pt x="16" y="16"/>
                    <a:pt x="16" y="16"/>
                    <a:pt x="16" y="16"/>
                  </a:cubicBezTo>
                  <a:cubicBezTo>
                    <a:pt x="16" y="160"/>
                    <a:pt x="16" y="160"/>
                    <a:pt x="16" y="160"/>
                  </a:cubicBezTo>
                  <a:lnTo>
                    <a:pt x="6" y="160"/>
                  </a:lnTo>
                  <a:close/>
                  <a:moveTo>
                    <a:pt x="22" y="176"/>
                  </a:moveTo>
                  <a:cubicBezTo>
                    <a:pt x="22" y="22"/>
                    <a:pt x="22" y="22"/>
                    <a:pt x="22" y="22"/>
                  </a:cubicBezTo>
                  <a:cubicBezTo>
                    <a:pt x="90" y="22"/>
                    <a:pt x="90" y="22"/>
                    <a:pt x="90" y="22"/>
                  </a:cubicBezTo>
                  <a:cubicBezTo>
                    <a:pt x="90" y="70"/>
                    <a:pt x="90" y="70"/>
                    <a:pt x="90" y="70"/>
                  </a:cubicBezTo>
                  <a:cubicBezTo>
                    <a:pt x="138" y="70"/>
                    <a:pt x="138" y="70"/>
                    <a:pt x="138" y="70"/>
                  </a:cubicBezTo>
                  <a:cubicBezTo>
                    <a:pt x="138" y="171"/>
                    <a:pt x="138" y="171"/>
                    <a:pt x="138" y="171"/>
                  </a:cubicBezTo>
                  <a:cubicBezTo>
                    <a:pt x="114" y="147"/>
                    <a:pt x="114" y="147"/>
                    <a:pt x="114" y="147"/>
                  </a:cubicBezTo>
                  <a:cubicBezTo>
                    <a:pt x="119" y="141"/>
                    <a:pt x="122" y="132"/>
                    <a:pt x="122" y="123"/>
                  </a:cubicBezTo>
                  <a:cubicBezTo>
                    <a:pt x="122" y="102"/>
                    <a:pt x="106" y="85"/>
                    <a:pt x="85" y="85"/>
                  </a:cubicBezTo>
                  <a:cubicBezTo>
                    <a:pt x="64" y="85"/>
                    <a:pt x="47" y="102"/>
                    <a:pt x="47" y="123"/>
                  </a:cubicBezTo>
                  <a:cubicBezTo>
                    <a:pt x="47" y="144"/>
                    <a:pt x="64" y="161"/>
                    <a:pt x="85" y="161"/>
                  </a:cubicBezTo>
                  <a:cubicBezTo>
                    <a:pt x="94" y="161"/>
                    <a:pt x="102" y="158"/>
                    <a:pt x="109" y="152"/>
                  </a:cubicBezTo>
                  <a:cubicBezTo>
                    <a:pt x="133" y="176"/>
                    <a:pt x="133" y="176"/>
                    <a:pt x="133" y="176"/>
                  </a:cubicBezTo>
                  <a:lnTo>
                    <a:pt x="22" y="176"/>
                  </a:lnTo>
                  <a:close/>
                  <a:moveTo>
                    <a:pt x="85" y="155"/>
                  </a:moveTo>
                  <a:cubicBezTo>
                    <a:pt x="67" y="155"/>
                    <a:pt x="53" y="140"/>
                    <a:pt x="53" y="123"/>
                  </a:cubicBezTo>
                  <a:cubicBezTo>
                    <a:pt x="53" y="106"/>
                    <a:pt x="67" y="92"/>
                    <a:pt x="85" y="92"/>
                  </a:cubicBezTo>
                  <a:cubicBezTo>
                    <a:pt x="102" y="92"/>
                    <a:pt x="116" y="106"/>
                    <a:pt x="116" y="123"/>
                  </a:cubicBezTo>
                  <a:cubicBezTo>
                    <a:pt x="116" y="140"/>
                    <a:pt x="102" y="155"/>
                    <a:pt x="85" y="155"/>
                  </a:cubicBezTo>
                  <a:close/>
                  <a:moveTo>
                    <a:pt x="85" y="155"/>
                  </a:moveTo>
                  <a:cubicBezTo>
                    <a:pt x="85" y="155"/>
                    <a:pt x="85" y="155"/>
                    <a:pt x="85" y="15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39" name="Freeform 32">
              <a:extLst>
                <a:ext uri="{FF2B5EF4-FFF2-40B4-BE49-F238E27FC236}">
                  <a16:creationId xmlns:a16="http://schemas.microsoft.com/office/drawing/2014/main" id="{5C8C073E-5F3F-BF2B-C353-18433441626E}"/>
                </a:ext>
              </a:extLst>
            </p:cNvPr>
            <p:cNvSpPr>
              <a:spLocks noEditPoints="1"/>
            </p:cNvSpPr>
            <p:nvPr/>
          </p:nvSpPr>
          <p:spPr bwMode="auto">
            <a:xfrm>
              <a:off x="3104" y="1889"/>
              <a:ext cx="72" cy="17"/>
            </a:xfrm>
            <a:custGeom>
              <a:avLst/>
              <a:gdLst>
                <a:gd name="T0" fmla="*/ 3 w 25"/>
                <a:gd name="T1" fmla="*/ 6 h 6"/>
                <a:gd name="T2" fmla="*/ 22 w 25"/>
                <a:gd name="T3" fmla="*/ 6 h 6"/>
                <a:gd name="T4" fmla="*/ 25 w 25"/>
                <a:gd name="T5" fmla="*/ 3 h 6"/>
                <a:gd name="T6" fmla="*/ 22 w 25"/>
                <a:gd name="T7" fmla="*/ 0 h 6"/>
                <a:gd name="T8" fmla="*/ 3 w 25"/>
                <a:gd name="T9" fmla="*/ 0 h 6"/>
                <a:gd name="T10" fmla="*/ 0 w 25"/>
                <a:gd name="T11" fmla="*/ 3 h 6"/>
                <a:gd name="T12" fmla="*/ 3 w 25"/>
                <a:gd name="T13" fmla="*/ 6 h 6"/>
                <a:gd name="T14" fmla="*/ 3 w 25"/>
                <a:gd name="T15" fmla="*/ 6 h 6"/>
                <a:gd name="T16" fmla="*/ 3 w 25"/>
                <a:gd name="T17"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6">
                  <a:moveTo>
                    <a:pt x="3" y="6"/>
                  </a:moveTo>
                  <a:cubicBezTo>
                    <a:pt x="22" y="6"/>
                    <a:pt x="22" y="6"/>
                    <a:pt x="22" y="6"/>
                  </a:cubicBezTo>
                  <a:cubicBezTo>
                    <a:pt x="24" y="6"/>
                    <a:pt x="25" y="5"/>
                    <a:pt x="25" y="3"/>
                  </a:cubicBezTo>
                  <a:cubicBezTo>
                    <a:pt x="25" y="1"/>
                    <a:pt x="24" y="0"/>
                    <a:pt x="22" y="0"/>
                  </a:cubicBezTo>
                  <a:cubicBezTo>
                    <a:pt x="3" y="0"/>
                    <a:pt x="3" y="0"/>
                    <a:pt x="3" y="0"/>
                  </a:cubicBezTo>
                  <a:cubicBezTo>
                    <a:pt x="1" y="0"/>
                    <a:pt x="0" y="1"/>
                    <a:pt x="0" y="3"/>
                  </a:cubicBezTo>
                  <a:cubicBezTo>
                    <a:pt x="0" y="5"/>
                    <a:pt x="1" y="6"/>
                    <a:pt x="3" y="6"/>
                  </a:cubicBezTo>
                  <a:close/>
                  <a:moveTo>
                    <a:pt x="3" y="6"/>
                  </a:moveTo>
                  <a:cubicBezTo>
                    <a:pt x="3" y="6"/>
                    <a:pt x="3" y="6"/>
                    <a:pt x="3" y="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40" name="Freeform 33">
              <a:extLst>
                <a:ext uri="{FF2B5EF4-FFF2-40B4-BE49-F238E27FC236}">
                  <a16:creationId xmlns:a16="http://schemas.microsoft.com/office/drawing/2014/main" id="{887DC47A-B0DA-76B4-FC5D-960A171EFDE5}"/>
                </a:ext>
              </a:extLst>
            </p:cNvPr>
            <p:cNvSpPr>
              <a:spLocks noEditPoints="1"/>
            </p:cNvSpPr>
            <p:nvPr/>
          </p:nvSpPr>
          <p:spPr bwMode="auto">
            <a:xfrm>
              <a:off x="3104" y="1943"/>
              <a:ext cx="129" cy="17"/>
            </a:xfrm>
            <a:custGeom>
              <a:avLst/>
              <a:gdLst>
                <a:gd name="T0" fmla="*/ 41 w 45"/>
                <a:gd name="T1" fmla="*/ 0 h 6"/>
                <a:gd name="T2" fmla="*/ 3 w 45"/>
                <a:gd name="T3" fmla="*/ 0 h 6"/>
                <a:gd name="T4" fmla="*/ 0 w 45"/>
                <a:gd name="T5" fmla="*/ 3 h 6"/>
                <a:gd name="T6" fmla="*/ 3 w 45"/>
                <a:gd name="T7" fmla="*/ 6 h 6"/>
                <a:gd name="T8" fmla="*/ 41 w 45"/>
                <a:gd name="T9" fmla="*/ 6 h 6"/>
                <a:gd name="T10" fmla="*/ 45 w 45"/>
                <a:gd name="T11" fmla="*/ 3 h 6"/>
                <a:gd name="T12" fmla="*/ 41 w 45"/>
                <a:gd name="T13" fmla="*/ 0 h 6"/>
                <a:gd name="T14" fmla="*/ 41 w 45"/>
                <a:gd name="T15" fmla="*/ 0 h 6"/>
                <a:gd name="T16" fmla="*/ 41 w 45"/>
                <a:gd name="T17"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6">
                  <a:moveTo>
                    <a:pt x="41" y="0"/>
                  </a:moveTo>
                  <a:cubicBezTo>
                    <a:pt x="3" y="0"/>
                    <a:pt x="3" y="0"/>
                    <a:pt x="3" y="0"/>
                  </a:cubicBezTo>
                  <a:cubicBezTo>
                    <a:pt x="1" y="0"/>
                    <a:pt x="0" y="1"/>
                    <a:pt x="0" y="3"/>
                  </a:cubicBezTo>
                  <a:cubicBezTo>
                    <a:pt x="0" y="5"/>
                    <a:pt x="1" y="6"/>
                    <a:pt x="3" y="6"/>
                  </a:cubicBezTo>
                  <a:cubicBezTo>
                    <a:pt x="41" y="6"/>
                    <a:pt x="41" y="6"/>
                    <a:pt x="41" y="6"/>
                  </a:cubicBezTo>
                  <a:cubicBezTo>
                    <a:pt x="43" y="6"/>
                    <a:pt x="45" y="5"/>
                    <a:pt x="45" y="3"/>
                  </a:cubicBezTo>
                  <a:cubicBezTo>
                    <a:pt x="45" y="1"/>
                    <a:pt x="43" y="0"/>
                    <a:pt x="41" y="0"/>
                  </a:cubicBezTo>
                  <a:close/>
                  <a:moveTo>
                    <a:pt x="41" y="0"/>
                  </a:moveTo>
                  <a:cubicBezTo>
                    <a:pt x="41" y="0"/>
                    <a:pt x="41" y="0"/>
                    <a:pt x="4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grpSp>
      <p:grpSp>
        <p:nvGrpSpPr>
          <p:cNvPr id="41" name="Group 24">
            <a:extLst>
              <a:ext uri="{FF2B5EF4-FFF2-40B4-BE49-F238E27FC236}">
                <a16:creationId xmlns:a16="http://schemas.microsoft.com/office/drawing/2014/main" id="{5C264625-7B48-B802-3E82-52D1DF2F6C50}"/>
              </a:ext>
            </a:extLst>
          </p:cNvPr>
          <p:cNvGrpSpPr>
            <a:grpSpLocks noChangeAspect="1"/>
          </p:cNvGrpSpPr>
          <p:nvPr/>
        </p:nvGrpSpPr>
        <p:grpSpPr bwMode="auto">
          <a:xfrm>
            <a:off x="8144549" y="1577035"/>
            <a:ext cx="456806" cy="371288"/>
            <a:chOff x="2060" y="768"/>
            <a:chExt cx="618" cy="495"/>
          </a:xfrm>
          <a:solidFill>
            <a:schemeClr val="tx1"/>
          </a:solidFill>
        </p:grpSpPr>
        <p:sp>
          <p:nvSpPr>
            <p:cNvPr id="42" name="Freeform 25">
              <a:extLst>
                <a:ext uri="{FF2B5EF4-FFF2-40B4-BE49-F238E27FC236}">
                  <a16:creationId xmlns:a16="http://schemas.microsoft.com/office/drawing/2014/main" id="{BD21FBC2-50CA-8097-872F-42EDC5A0CA4C}"/>
                </a:ext>
              </a:extLst>
            </p:cNvPr>
            <p:cNvSpPr>
              <a:spLocks noEditPoints="1"/>
            </p:cNvSpPr>
            <p:nvPr/>
          </p:nvSpPr>
          <p:spPr bwMode="auto">
            <a:xfrm>
              <a:off x="2186" y="813"/>
              <a:ext cx="337" cy="18"/>
            </a:xfrm>
            <a:custGeom>
              <a:avLst/>
              <a:gdLst>
                <a:gd name="T0" fmla="*/ 869 w 893"/>
                <a:gd name="T1" fmla="*/ 0 h 48"/>
                <a:gd name="T2" fmla="*/ 24 w 893"/>
                <a:gd name="T3" fmla="*/ 0 h 48"/>
                <a:gd name="T4" fmla="*/ 0 w 893"/>
                <a:gd name="T5" fmla="*/ 24 h 48"/>
                <a:gd name="T6" fmla="*/ 24 w 893"/>
                <a:gd name="T7" fmla="*/ 48 h 48"/>
                <a:gd name="T8" fmla="*/ 869 w 893"/>
                <a:gd name="T9" fmla="*/ 48 h 48"/>
                <a:gd name="T10" fmla="*/ 893 w 893"/>
                <a:gd name="T11" fmla="*/ 24 h 48"/>
                <a:gd name="T12" fmla="*/ 869 w 893"/>
                <a:gd name="T13" fmla="*/ 0 h 48"/>
                <a:gd name="T14" fmla="*/ 869 w 893"/>
                <a:gd name="T15" fmla="*/ 0 h 48"/>
                <a:gd name="T16" fmla="*/ 869 w 893"/>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3" h="48">
                  <a:moveTo>
                    <a:pt x="869" y="0"/>
                  </a:moveTo>
                  <a:cubicBezTo>
                    <a:pt x="24" y="0"/>
                    <a:pt x="24" y="0"/>
                    <a:pt x="24" y="0"/>
                  </a:cubicBezTo>
                  <a:cubicBezTo>
                    <a:pt x="11" y="0"/>
                    <a:pt x="0" y="11"/>
                    <a:pt x="0" y="24"/>
                  </a:cubicBezTo>
                  <a:cubicBezTo>
                    <a:pt x="0" y="37"/>
                    <a:pt x="11" y="48"/>
                    <a:pt x="24" y="48"/>
                  </a:cubicBezTo>
                  <a:cubicBezTo>
                    <a:pt x="869" y="48"/>
                    <a:pt x="869" y="48"/>
                    <a:pt x="869" y="48"/>
                  </a:cubicBezTo>
                  <a:cubicBezTo>
                    <a:pt x="882" y="48"/>
                    <a:pt x="893" y="37"/>
                    <a:pt x="893" y="24"/>
                  </a:cubicBezTo>
                  <a:cubicBezTo>
                    <a:pt x="893" y="11"/>
                    <a:pt x="882" y="0"/>
                    <a:pt x="869" y="0"/>
                  </a:cubicBezTo>
                  <a:close/>
                  <a:moveTo>
                    <a:pt x="869" y="0"/>
                  </a:moveTo>
                  <a:cubicBezTo>
                    <a:pt x="869" y="0"/>
                    <a:pt x="869" y="0"/>
                    <a:pt x="869"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43" name="Freeform 26">
              <a:extLst>
                <a:ext uri="{FF2B5EF4-FFF2-40B4-BE49-F238E27FC236}">
                  <a16:creationId xmlns:a16="http://schemas.microsoft.com/office/drawing/2014/main" id="{B572A44B-4CAD-CD36-680A-0ED4F29E302D}"/>
                </a:ext>
              </a:extLst>
            </p:cNvPr>
            <p:cNvSpPr>
              <a:spLocks noEditPoints="1"/>
            </p:cNvSpPr>
            <p:nvPr/>
          </p:nvSpPr>
          <p:spPr bwMode="auto">
            <a:xfrm>
              <a:off x="2060" y="768"/>
              <a:ext cx="618" cy="495"/>
            </a:xfrm>
            <a:custGeom>
              <a:avLst/>
              <a:gdLst>
                <a:gd name="T0" fmla="*/ 1459 w 1638"/>
                <a:gd name="T1" fmla="*/ 557 h 1309"/>
                <a:gd name="T2" fmla="*/ 1400 w 1638"/>
                <a:gd name="T3" fmla="*/ 707 h 1309"/>
                <a:gd name="T4" fmla="*/ 1337 w 1638"/>
                <a:gd name="T5" fmla="*/ 0 h 1309"/>
                <a:gd name="T6" fmla="*/ 0 w 1638"/>
                <a:gd name="T7" fmla="*/ 62 h 1309"/>
                <a:gd name="T8" fmla="*/ 62 w 1638"/>
                <a:gd name="T9" fmla="*/ 1309 h 1309"/>
                <a:gd name="T10" fmla="*/ 694 w 1638"/>
                <a:gd name="T11" fmla="*/ 1285 h 1309"/>
                <a:gd name="T12" fmla="*/ 62 w 1638"/>
                <a:gd name="T13" fmla="*/ 1261 h 1309"/>
                <a:gd name="T14" fmla="*/ 48 w 1638"/>
                <a:gd name="T15" fmla="*/ 282 h 1309"/>
                <a:gd name="T16" fmla="*/ 1352 w 1638"/>
                <a:gd name="T17" fmla="*/ 768 h 1309"/>
                <a:gd name="T18" fmla="*/ 1227 w 1638"/>
                <a:gd name="T19" fmla="*/ 869 h 1309"/>
                <a:gd name="T20" fmla="*/ 1052 w 1638"/>
                <a:gd name="T21" fmla="*/ 794 h 1309"/>
                <a:gd name="T22" fmla="*/ 971 w 1638"/>
                <a:gd name="T23" fmla="*/ 665 h 1309"/>
                <a:gd name="T24" fmla="*/ 893 w 1638"/>
                <a:gd name="T25" fmla="*/ 799 h 1309"/>
                <a:gd name="T26" fmla="*/ 715 w 1638"/>
                <a:gd name="T27" fmla="*/ 903 h 1309"/>
                <a:gd name="T28" fmla="*/ 715 w 1638"/>
                <a:gd name="T29" fmla="*/ 1083 h 1309"/>
                <a:gd name="T30" fmla="*/ 795 w 1638"/>
                <a:gd name="T31" fmla="*/ 951 h 1309"/>
                <a:gd name="T32" fmla="*/ 971 w 1638"/>
                <a:gd name="T33" fmla="*/ 844 h 1309"/>
                <a:gd name="T34" fmla="*/ 1143 w 1638"/>
                <a:gd name="T35" fmla="*/ 927 h 1309"/>
                <a:gd name="T36" fmla="*/ 1227 w 1638"/>
                <a:gd name="T37" fmla="*/ 1049 h 1309"/>
                <a:gd name="T38" fmla="*/ 1302 w 1638"/>
                <a:gd name="T39" fmla="*/ 910 h 1309"/>
                <a:gd name="T40" fmla="*/ 1352 w 1638"/>
                <a:gd name="T41" fmla="*/ 1247 h 1309"/>
                <a:gd name="T42" fmla="*/ 782 w 1638"/>
                <a:gd name="T43" fmla="*/ 1261 h 1309"/>
                <a:gd name="T44" fmla="*/ 782 w 1638"/>
                <a:gd name="T45" fmla="*/ 1309 h 1309"/>
                <a:gd name="T46" fmla="*/ 1400 w 1638"/>
                <a:gd name="T47" fmla="*/ 1247 h 1309"/>
                <a:gd name="T48" fmla="*/ 1514 w 1638"/>
                <a:gd name="T49" fmla="*/ 640 h 1309"/>
                <a:gd name="T50" fmla="*/ 1638 w 1638"/>
                <a:gd name="T51" fmla="*/ 557 h 1309"/>
                <a:gd name="T52" fmla="*/ 224 w 1638"/>
                <a:gd name="T53" fmla="*/ 234 h 1309"/>
                <a:gd name="T54" fmla="*/ 48 w 1638"/>
                <a:gd name="T55" fmla="*/ 62 h 1309"/>
                <a:gd name="T56" fmla="*/ 224 w 1638"/>
                <a:gd name="T57" fmla="*/ 48 h 1309"/>
                <a:gd name="T58" fmla="*/ 715 w 1638"/>
                <a:gd name="T59" fmla="*/ 1035 h 1309"/>
                <a:gd name="T60" fmla="*/ 715 w 1638"/>
                <a:gd name="T61" fmla="*/ 951 h 1309"/>
                <a:gd name="T62" fmla="*/ 715 w 1638"/>
                <a:gd name="T63" fmla="*/ 1035 h 1309"/>
                <a:gd name="T64" fmla="*/ 929 w 1638"/>
                <a:gd name="T65" fmla="*/ 755 h 1309"/>
                <a:gd name="T66" fmla="*/ 1013 w 1638"/>
                <a:gd name="T67" fmla="*/ 755 h 1309"/>
                <a:gd name="T68" fmla="*/ 1227 w 1638"/>
                <a:gd name="T69" fmla="*/ 1001 h 1309"/>
                <a:gd name="T70" fmla="*/ 1227 w 1638"/>
                <a:gd name="T71" fmla="*/ 917 h 1309"/>
                <a:gd name="T72" fmla="*/ 1227 w 1638"/>
                <a:gd name="T73" fmla="*/ 1001 h 1309"/>
                <a:gd name="T74" fmla="*/ 272 w 1638"/>
                <a:gd name="T75" fmla="*/ 234 h 1309"/>
                <a:gd name="T76" fmla="*/ 1337 w 1638"/>
                <a:gd name="T77" fmla="*/ 48 h 1309"/>
                <a:gd name="T78" fmla="*/ 1352 w 1638"/>
                <a:gd name="T79" fmla="*/ 234 h 1309"/>
                <a:gd name="T80" fmla="*/ 1507 w 1638"/>
                <a:gd name="T81" fmla="*/ 557 h 1309"/>
                <a:gd name="T82" fmla="*/ 1590 w 1638"/>
                <a:gd name="T83" fmla="*/ 557 h 1309"/>
                <a:gd name="T84" fmla="*/ 1549 w 1638"/>
                <a:gd name="T85" fmla="*/ 598 h 1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638" h="1309">
                  <a:moveTo>
                    <a:pt x="1549" y="467"/>
                  </a:moveTo>
                  <a:cubicBezTo>
                    <a:pt x="1499" y="467"/>
                    <a:pt x="1459" y="507"/>
                    <a:pt x="1459" y="557"/>
                  </a:cubicBezTo>
                  <a:cubicBezTo>
                    <a:pt x="1459" y="577"/>
                    <a:pt x="1465" y="595"/>
                    <a:pt x="1476" y="610"/>
                  </a:cubicBezTo>
                  <a:cubicBezTo>
                    <a:pt x="1400" y="707"/>
                    <a:pt x="1400" y="707"/>
                    <a:pt x="1400" y="707"/>
                  </a:cubicBezTo>
                  <a:cubicBezTo>
                    <a:pt x="1400" y="58"/>
                    <a:pt x="1400" y="58"/>
                    <a:pt x="1400" y="58"/>
                  </a:cubicBezTo>
                  <a:cubicBezTo>
                    <a:pt x="1400" y="30"/>
                    <a:pt x="1379" y="0"/>
                    <a:pt x="1337" y="0"/>
                  </a:cubicBezTo>
                  <a:cubicBezTo>
                    <a:pt x="62" y="0"/>
                    <a:pt x="62" y="0"/>
                    <a:pt x="62" y="0"/>
                  </a:cubicBezTo>
                  <a:cubicBezTo>
                    <a:pt x="28" y="0"/>
                    <a:pt x="0" y="21"/>
                    <a:pt x="0" y="62"/>
                  </a:cubicBezTo>
                  <a:cubicBezTo>
                    <a:pt x="0" y="1247"/>
                    <a:pt x="0" y="1247"/>
                    <a:pt x="0" y="1247"/>
                  </a:cubicBezTo>
                  <a:cubicBezTo>
                    <a:pt x="0" y="1281"/>
                    <a:pt x="28" y="1309"/>
                    <a:pt x="62" y="1309"/>
                  </a:cubicBezTo>
                  <a:cubicBezTo>
                    <a:pt x="670" y="1309"/>
                    <a:pt x="670" y="1309"/>
                    <a:pt x="670" y="1309"/>
                  </a:cubicBezTo>
                  <a:cubicBezTo>
                    <a:pt x="684" y="1309"/>
                    <a:pt x="694" y="1298"/>
                    <a:pt x="694" y="1285"/>
                  </a:cubicBezTo>
                  <a:cubicBezTo>
                    <a:pt x="694" y="1272"/>
                    <a:pt x="684" y="1261"/>
                    <a:pt x="670" y="1261"/>
                  </a:cubicBezTo>
                  <a:cubicBezTo>
                    <a:pt x="62" y="1261"/>
                    <a:pt x="62" y="1261"/>
                    <a:pt x="62" y="1261"/>
                  </a:cubicBezTo>
                  <a:cubicBezTo>
                    <a:pt x="55" y="1261"/>
                    <a:pt x="48" y="1254"/>
                    <a:pt x="48" y="1247"/>
                  </a:cubicBezTo>
                  <a:cubicBezTo>
                    <a:pt x="48" y="282"/>
                    <a:pt x="48" y="282"/>
                    <a:pt x="48" y="282"/>
                  </a:cubicBezTo>
                  <a:cubicBezTo>
                    <a:pt x="1352" y="282"/>
                    <a:pt x="1352" y="282"/>
                    <a:pt x="1352" y="282"/>
                  </a:cubicBezTo>
                  <a:cubicBezTo>
                    <a:pt x="1352" y="768"/>
                    <a:pt x="1352" y="768"/>
                    <a:pt x="1352" y="768"/>
                  </a:cubicBezTo>
                  <a:cubicBezTo>
                    <a:pt x="1265" y="878"/>
                    <a:pt x="1265" y="878"/>
                    <a:pt x="1265" y="878"/>
                  </a:cubicBezTo>
                  <a:cubicBezTo>
                    <a:pt x="1254" y="872"/>
                    <a:pt x="1240" y="869"/>
                    <a:pt x="1227" y="869"/>
                  </a:cubicBezTo>
                  <a:cubicBezTo>
                    <a:pt x="1206" y="869"/>
                    <a:pt x="1187" y="876"/>
                    <a:pt x="1171" y="888"/>
                  </a:cubicBezTo>
                  <a:cubicBezTo>
                    <a:pt x="1052" y="794"/>
                    <a:pt x="1052" y="794"/>
                    <a:pt x="1052" y="794"/>
                  </a:cubicBezTo>
                  <a:cubicBezTo>
                    <a:pt x="1058" y="782"/>
                    <a:pt x="1061" y="769"/>
                    <a:pt x="1061" y="755"/>
                  </a:cubicBezTo>
                  <a:cubicBezTo>
                    <a:pt x="1061" y="705"/>
                    <a:pt x="1020" y="665"/>
                    <a:pt x="971" y="665"/>
                  </a:cubicBezTo>
                  <a:cubicBezTo>
                    <a:pt x="922" y="665"/>
                    <a:pt x="881" y="705"/>
                    <a:pt x="881" y="755"/>
                  </a:cubicBezTo>
                  <a:cubicBezTo>
                    <a:pt x="881" y="771"/>
                    <a:pt x="885" y="786"/>
                    <a:pt x="893" y="799"/>
                  </a:cubicBezTo>
                  <a:cubicBezTo>
                    <a:pt x="762" y="916"/>
                    <a:pt x="762" y="916"/>
                    <a:pt x="762" y="916"/>
                  </a:cubicBezTo>
                  <a:cubicBezTo>
                    <a:pt x="749" y="908"/>
                    <a:pt x="733" y="903"/>
                    <a:pt x="715" y="903"/>
                  </a:cubicBezTo>
                  <a:cubicBezTo>
                    <a:pt x="666" y="903"/>
                    <a:pt x="626" y="943"/>
                    <a:pt x="626" y="993"/>
                  </a:cubicBezTo>
                  <a:cubicBezTo>
                    <a:pt x="626" y="1042"/>
                    <a:pt x="666" y="1083"/>
                    <a:pt x="715" y="1083"/>
                  </a:cubicBezTo>
                  <a:cubicBezTo>
                    <a:pt x="765" y="1083"/>
                    <a:pt x="805" y="1042"/>
                    <a:pt x="805" y="993"/>
                  </a:cubicBezTo>
                  <a:cubicBezTo>
                    <a:pt x="805" y="978"/>
                    <a:pt x="801" y="964"/>
                    <a:pt x="795" y="951"/>
                  </a:cubicBezTo>
                  <a:cubicBezTo>
                    <a:pt x="927" y="833"/>
                    <a:pt x="927" y="833"/>
                    <a:pt x="927" y="833"/>
                  </a:cubicBezTo>
                  <a:cubicBezTo>
                    <a:pt x="940" y="840"/>
                    <a:pt x="955" y="844"/>
                    <a:pt x="971" y="844"/>
                  </a:cubicBezTo>
                  <a:cubicBezTo>
                    <a:pt x="989" y="844"/>
                    <a:pt x="1006" y="839"/>
                    <a:pt x="1020" y="830"/>
                  </a:cubicBezTo>
                  <a:cubicBezTo>
                    <a:pt x="1143" y="927"/>
                    <a:pt x="1143" y="927"/>
                    <a:pt x="1143" y="927"/>
                  </a:cubicBezTo>
                  <a:cubicBezTo>
                    <a:pt x="1139" y="937"/>
                    <a:pt x="1137" y="948"/>
                    <a:pt x="1137" y="959"/>
                  </a:cubicBezTo>
                  <a:cubicBezTo>
                    <a:pt x="1137" y="1009"/>
                    <a:pt x="1177" y="1049"/>
                    <a:pt x="1227" y="1049"/>
                  </a:cubicBezTo>
                  <a:cubicBezTo>
                    <a:pt x="1276" y="1049"/>
                    <a:pt x="1316" y="1009"/>
                    <a:pt x="1316" y="959"/>
                  </a:cubicBezTo>
                  <a:cubicBezTo>
                    <a:pt x="1316" y="941"/>
                    <a:pt x="1311" y="924"/>
                    <a:pt x="1302" y="910"/>
                  </a:cubicBezTo>
                  <a:cubicBezTo>
                    <a:pt x="1352" y="846"/>
                    <a:pt x="1352" y="846"/>
                    <a:pt x="1352" y="846"/>
                  </a:cubicBezTo>
                  <a:cubicBezTo>
                    <a:pt x="1352" y="1247"/>
                    <a:pt x="1352" y="1247"/>
                    <a:pt x="1352" y="1247"/>
                  </a:cubicBezTo>
                  <a:cubicBezTo>
                    <a:pt x="1352" y="1254"/>
                    <a:pt x="1345" y="1261"/>
                    <a:pt x="1337" y="1261"/>
                  </a:cubicBezTo>
                  <a:cubicBezTo>
                    <a:pt x="782" y="1261"/>
                    <a:pt x="782" y="1261"/>
                    <a:pt x="782" y="1261"/>
                  </a:cubicBezTo>
                  <a:cubicBezTo>
                    <a:pt x="769" y="1261"/>
                    <a:pt x="758" y="1272"/>
                    <a:pt x="758" y="1285"/>
                  </a:cubicBezTo>
                  <a:cubicBezTo>
                    <a:pt x="758" y="1298"/>
                    <a:pt x="769" y="1309"/>
                    <a:pt x="782" y="1309"/>
                  </a:cubicBezTo>
                  <a:cubicBezTo>
                    <a:pt x="1337" y="1309"/>
                    <a:pt x="1337" y="1309"/>
                    <a:pt x="1337" y="1309"/>
                  </a:cubicBezTo>
                  <a:cubicBezTo>
                    <a:pt x="1372" y="1309"/>
                    <a:pt x="1400" y="1281"/>
                    <a:pt x="1400" y="1247"/>
                  </a:cubicBezTo>
                  <a:cubicBezTo>
                    <a:pt x="1400" y="785"/>
                    <a:pt x="1400" y="785"/>
                    <a:pt x="1400" y="785"/>
                  </a:cubicBezTo>
                  <a:cubicBezTo>
                    <a:pt x="1514" y="640"/>
                    <a:pt x="1514" y="640"/>
                    <a:pt x="1514" y="640"/>
                  </a:cubicBezTo>
                  <a:cubicBezTo>
                    <a:pt x="1525" y="644"/>
                    <a:pt x="1536" y="646"/>
                    <a:pt x="1549" y="646"/>
                  </a:cubicBezTo>
                  <a:cubicBezTo>
                    <a:pt x="1598" y="646"/>
                    <a:pt x="1638" y="606"/>
                    <a:pt x="1638" y="557"/>
                  </a:cubicBezTo>
                  <a:cubicBezTo>
                    <a:pt x="1638" y="507"/>
                    <a:pt x="1598" y="467"/>
                    <a:pt x="1549" y="467"/>
                  </a:cubicBezTo>
                  <a:close/>
                  <a:moveTo>
                    <a:pt x="224" y="234"/>
                  </a:moveTo>
                  <a:cubicBezTo>
                    <a:pt x="48" y="234"/>
                    <a:pt x="48" y="234"/>
                    <a:pt x="48" y="234"/>
                  </a:cubicBezTo>
                  <a:cubicBezTo>
                    <a:pt x="48" y="62"/>
                    <a:pt x="48" y="62"/>
                    <a:pt x="48" y="62"/>
                  </a:cubicBezTo>
                  <a:cubicBezTo>
                    <a:pt x="48" y="55"/>
                    <a:pt x="55" y="48"/>
                    <a:pt x="62" y="48"/>
                  </a:cubicBezTo>
                  <a:cubicBezTo>
                    <a:pt x="224" y="48"/>
                    <a:pt x="224" y="48"/>
                    <a:pt x="224" y="48"/>
                  </a:cubicBezTo>
                  <a:lnTo>
                    <a:pt x="224" y="234"/>
                  </a:lnTo>
                  <a:close/>
                  <a:moveTo>
                    <a:pt x="715" y="1035"/>
                  </a:moveTo>
                  <a:cubicBezTo>
                    <a:pt x="692" y="1035"/>
                    <a:pt x="674" y="1016"/>
                    <a:pt x="674" y="993"/>
                  </a:cubicBezTo>
                  <a:cubicBezTo>
                    <a:pt x="674" y="970"/>
                    <a:pt x="692" y="951"/>
                    <a:pt x="715" y="951"/>
                  </a:cubicBezTo>
                  <a:cubicBezTo>
                    <a:pt x="738" y="951"/>
                    <a:pt x="757" y="970"/>
                    <a:pt x="757" y="993"/>
                  </a:cubicBezTo>
                  <a:cubicBezTo>
                    <a:pt x="757" y="1016"/>
                    <a:pt x="738" y="1035"/>
                    <a:pt x="715" y="1035"/>
                  </a:cubicBezTo>
                  <a:close/>
                  <a:moveTo>
                    <a:pt x="971" y="796"/>
                  </a:moveTo>
                  <a:cubicBezTo>
                    <a:pt x="948" y="796"/>
                    <a:pt x="929" y="778"/>
                    <a:pt x="929" y="755"/>
                  </a:cubicBezTo>
                  <a:cubicBezTo>
                    <a:pt x="929" y="732"/>
                    <a:pt x="948" y="713"/>
                    <a:pt x="971" y="713"/>
                  </a:cubicBezTo>
                  <a:cubicBezTo>
                    <a:pt x="994" y="713"/>
                    <a:pt x="1013" y="732"/>
                    <a:pt x="1013" y="755"/>
                  </a:cubicBezTo>
                  <a:cubicBezTo>
                    <a:pt x="1013" y="778"/>
                    <a:pt x="994" y="796"/>
                    <a:pt x="971" y="796"/>
                  </a:cubicBezTo>
                  <a:close/>
                  <a:moveTo>
                    <a:pt x="1227" y="1001"/>
                  </a:moveTo>
                  <a:cubicBezTo>
                    <a:pt x="1204" y="1001"/>
                    <a:pt x="1185" y="982"/>
                    <a:pt x="1185" y="959"/>
                  </a:cubicBezTo>
                  <a:cubicBezTo>
                    <a:pt x="1185" y="936"/>
                    <a:pt x="1204" y="917"/>
                    <a:pt x="1227" y="917"/>
                  </a:cubicBezTo>
                  <a:cubicBezTo>
                    <a:pt x="1250" y="917"/>
                    <a:pt x="1268" y="936"/>
                    <a:pt x="1268" y="959"/>
                  </a:cubicBezTo>
                  <a:cubicBezTo>
                    <a:pt x="1268" y="982"/>
                    <a:pt x="1250" y="1001"/>
                    <a:pt x="1227" y="1001"/>
                  </a:cubicBezTo>
                  <a:close/>
                  <a:moveTo>
                    <a:pt x="1352" y="234"/>
                  </a:moveTo>
                  <a:cubicBezTo>
                    <a:pt x="272" y="234"/>
                    <a:pt x="272" y="234"/>
                    <a:pt x="272" y="234"/>
                  </a:cubicBezTo>
                  <a:cubicBezTo>
                    <a:pt x="272" y="48"/>
                    <a:pt x="272" y="48"/>
                    <a:pt x="272" y="48"/>
                  </a:cubicBezTo>
                  <a:cubicBezTo>
                    <a:pt x="1337" y="48"/>
                    <a:pt x="1337" y="48"/>
                    <a:pt x="1337" y="48"/>
                  </a:cubicBezTo>
                  <a:cubicBezTo>
                    <a:pt x="1345" y="48"/>
                    <a:pt x="1352" y="55"/>
                    <a:pt x="1352" y="62"/>
                  </a:cubicBezTo>
                  <a:lnTo>
                    <a:pt x="1352" y="234"/>
                  </a:lnTo>
                  <a:close/>
                  <a:moveTo>
                    <a:pt x="1549" y="598"/>
                  </a:moveTo>
                  <a:cubicBezTo>
                    <a:pt x="1526" y="598"/>
                    <a:pt x="1507" y="580"/>
                    <a:pt x="1507" y="557"/>
                  </a:cubicBezTo>
                  <a:cubicBezTo>
                    <a:pt x="1507" y="534"/>
                    <a:pt x="1526" y="515"/>
                    <a:pt x="1549" y="515"/>
                  </a:cubicBezTo>
                  <a:cubicBezTo>
                    <a:pt x="1572" y="515"/>
                    <a:pt x="1590" y="534"/>
                    <a:pt x="1590" y="557"/>
                  </a:cubicBezTo>
                  <a:cubicBezTo>
                    <a:pt x="1590" y="580"/>
                    <a:pt x="1572" y="598"/>
                    <a:pt x="1549" y="598"/>
                  </a:cubicBezTo>
                  <a:close/>
                  <a:moveTo>
                    <a:pt x="1549" y="598"/>
                  </a:moveTo>
                  <a:cubicBezTo>
                    <a:pt x="1549" y="598"/>
                    <a:pt x="1549" y="598"/>
                    <a:pt x="1549" y="59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44" name="Freeform 27">
              <a:extLst>
                <a:ext uri="{FF2B5EF4-FFF2-40B4-BE49-F238E27FC236}">
                  <a16:creationId xmlns:a16="http://schemas.microsoft.com/office/drawing/2014/main" id="{2D181935-70C4-21DB-3DA3-F7E2FDF471B0}"/>
                </a:ext>
              </a:extLst>
            </p:cNvPr>
            <p:cNvSpPr>
              <a:spLocks noEditPoints="1"/>
            </p:cNvSpPr>
            <p:nvPr/>
          </p:nvSpPr>
          <p:spPr bwMode="auto">
            <a:xfrm>
              <a:off x="2129" y="1015"/>
              <a:ext cx="146" cy="19"/>
            </a:xfrm>
            <a:custGeom>
              <a:avLst/>
              <a:gdLst>
                <a:gd name="T0" fmla="*/ 363 w 387"/>
                <a:gd name="T1" fmla="*/ 0 h 48"/>
                <a:gd name="T2" fmla="*/ 24 w 387"/>
                <a:gd name="T3" fmla="*/ 0 h 48"/>
                <a:gd name="T4" fmla="*/ 0 w 387"/>
                <a:gd name="T5" fmla="*/ 24 h 48"/>
                <a:gd name="T6" fmla="*/ 24 w 387"/>
                <a:gd name="T7" fmla="*/ 48 h 48"/>
                <a:gd name="T8" fmla="*/ 363 w 387"/>
                <a:gd name="T9" fmla="*/ 48 h 48"/>
                <a:gd name="T10" fmla="*/ 387 w 387"/>
                <a:gd name="T11" fmla="*/ 24 h 48"/>
                <a:gd name="T12" fmla="*/ 363 w 387"/>
                <a:gd name="T13" fmla="*/ 0 h 48"/>
                <a:gd name="T14" fmla="*/ 363 w 387"/>
                <a:gd name="T15" fmla="*/ 0 h 48"/>
                <a:gd name="T16" fmla="*/ 363 w 387"/>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48">
                  <a:moveTo>
                    <a:pt x="363" y="0"/>
                  </a:moveTo>
                  <a:cubicBezTo>
                    <a:pt x="24" y="0"/>
                    <a:pt x="24" y="0"/>
                    <a:pt x="24" y="0"/>
                  </a:cubicBezTo>
                  <a:cubicBezTo>
                    <a:pt x="11" y="0"/>
                    <a:pt x="0" y="11"/>
                    <a:pt x="0" y="24"/>
                  </a:cubicBezTo>
                  <a:cubicBezTo>
                    <a:pt x="0" y="37"/>
                    <a:pt x="11" y="48"/>
                    <a:pt x="24" y="48"/>
                  </a:cubicBezTo>
                  <a:cubicBezTo>
                    <a:pt x="363" y="48"/>
                    <a:pt x="363" y="48"/>
                    <a:pt x="363" y="48"/>
                  </a:cubicBezTo>
                  <a:cubicBezTo>
                    <a:pt x="376" y="48"/>
                    <a:pt x="387" y="37"/>
                    <a:pt x="387" y="24"/>
                  </a:cubicBezTo>
                  <a:cubicBezTo>
                    <a:pt x="387" y="11"/>
                    <a:pt x="376" y="0"/>
                    <a:pt x="363" y="0"/>
                  </a:cubicBezTo>
                  <a:close/>
                  <a:moveTo>
                    <a:pt x="363" y="0"/>
                  </a:moveTo>
                  <a:cubicBezTo>
                    <a:pt x="363" y="0"/>
                    <a:pt x="363" y="0"/>
                    <a:pt x="36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45" name="Freeform 28">
              <a:extLst>
                <a:ext uri="{FF2B5EF4-FFF2-40B4-BE49-F238E27FC236}">
                  <a16:creationId xmlns:a16="http://schemas.microsoft.com/office/drawing/2014/main" id="{25375943-8206-C360-DB87-53AB0913855C}"/>
                </a:ext>
              </a:extLst>
            </p:cNvPr>
            <p:cNvSpPr>
              <a:spLocks noEditPoints="1"/>
            </p:cNvSpPr>
            <p:nvPr/>
          </p:nvSpPr>
          <p:spPr bwMode="auto">
            <a:xfrm>
              <a:off x="2129" y="1060"/>
              <a:ext cx="146" cy="18"/>
            </a:xfrm>
            <a:custGeom>
              <a:avLst/>
              <a:gdLst>
                <a:gd name="T0" fmla="*/ 363 w 387"/>
                <a:gd name="T1" fmla="*/ 0 h 48"/>
                <a:gd name="T2" fmla="*/ 24 w 387"/>
                <a:gd name="T3" fmla="*/ 0 h 48"/>
                <a:gd name="T4" fmla="*/ 0 w 387"/>
                <a:gd name="T5" fmla="*/ 24 h 48"/>
                <a:gd name="T6" fmla="*/ 24 w 387"/>
                <a:gd name="T7" fmla="*/ 48 h 48"/>
                <a:gd name="T8" fmla="*/ 363 w 387"/>
                <a:gd name="T9" fmla="*/ 48 h 48"/>
                <a:gd name="T10" fmla="*/ 387 w 387"/>
                <a:gd name="T11" fmla="*/ 24 h 48"/>
                <a:gd name="T12" fmla="*/ 363 w 387"/>
                <a:gd name="T13" fmla="*/ 0 h 48"/>
                <a:gd name="T14" fmla="*/ 363 w 387"/>
                <a:gd name="T15" fmla="*/ 0 h 48"/>
                <a:gd name="T16" fmla="*/ 363 w 387"/>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48">
                  <a:moveTo>
                    <a:pt x="363" y="0"/>
                  </a:moveTo>
                  <a:cubicBezTo>
                    <a:pt x="24" y="0"/>
                    <a:pt x="24" y="0"/>
                    <a:pt x="24" y="0"/>
                  </a:cubicBezTo>
                  <a:cubicBezTo>
                    <a:pt x="11" y="0"/>
                    <a:pt x="0" y="11"/>
                    <a:pt x="0" y="24"/>
                  </a:cubicBezTo>
                  <a:cubicBezTo>
                    <a:pt x="0" y="37"/>
                    <a:pt x="11" y="48"/>
                    <a:pt x="24" y="48"/>
                  </a:cubicBezTo>
                  <a:cubicBezTo>
                    <a:pt x="363" y="48"/>
                    <a:pt x="363" y="48"/>
                    <a:pt x="363" y="48"/>
                  </a:cubicBezTo>
                  <a:cubicBezTo>
                    <a:pt x="376" y="48"/>
                    <a:pt x="387" y="37"/>
                    <a:pt x="387" y="24"/>
                  </a:cubicBezTo>
                  <a:cubicBezTo>
                    <a:pt x="387" y="11"/>
                    <a:pt x="376" y="0"/>
                    <a:pt x="363" y="0"/>
                  </a:cubicBezTo>
                  <a:close/>
                  <a:moveTo>
                    <a:pt x="363" y="0"/>
                  </a:moveTo>
                  <a:cubicBezTo>
                    <a:pt x="363" y="0"/>
                    <a:pt x="363" y="0"/>
                    <a:pt x="36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46" name="Freeform 29">
              <a:extLst>
                <a:ext uri="{FF2B5EF4-FFF2-40B4-BE49-F238E27FC236}">
                  <a16:creationId xmlns:a16="http://schemas.microsoft.com/office/drawing/2014/main" id="{DC008EC9-D330-694D-16B6-7F63A7F45B0F}"/>
                </a:ext>
              </a:extLst>
            </p:cNvPr>
            <p:cNvSpPr>
              <a:spLocks noEditPoints="1"/>
            </p:cNvSpPr>
            <p:nvPr/>
          </p:nvSpPr>
          <p:spPr bwMode="auto">
            <a:xfrm>
              <a:off x="2129" y="1104"/>
              <a:ext cx="146" cy="18"/>
            </a:xfrm>
            <a:custGeom>
              <a:avLst/>
              <a:gdLst>
                <a:gd name="T0" fmla="*/ 363 w 387"/>
                <a:gd name="T1" fmla="*/ 0 h 48"/>
                <a:gd name="T2" fmla="*/ 24 w 387"/>
                <a:gd name="T3" fmla="*/ 0 h 48"/>
                <a:gd name="T4" fmla="*/ 0 w 387"/>
                <a:gd name="T5" fmla="*/ 24 h 48"/>
                <a:gd name="T6" fmla="*/ 24 w 387"/>
                <a:gd name="T7" fmla="*/ 48 h 48"/>
                <a:gd name="T8" fmla="*/ 363 w 387"/>
                <a:gd name="T9" fmla="*/ 48 h 48"/>
                <a:gd name="T10" fmla="*/ 387 w 387"/>
                <a:gd name="T11" fmla="*/ 24 h 48"/>
                <a:gd name="T12" fmla="*/ 363 w 387"/>
                <a:gd name="T13" fmla="*/ 0 h 48"/>
                <a:gd name="T14" fmla="*/ 363 w 387"/>
                <a:gd name="T15" fmla="*/ 0 h 48"/>
                <a:gd name="T16" fmla="*/ 363 w 387"/>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48">
                  <a:moveTo>
                    <a:pt x="363" y="0"/>
                  </a:moveTo>
                  <a:cubicBezTo>
                    <a:pt x="24" y="0"/>
                    <a:pt x="24" y="0"/>
                    <a:pt x="24" y="0"/>
                  </a:cubicBezTo>
                  <a:cubicBezTo>
                    <a:pt x="11" y="0"/>
                    <a:pt x="0" y="11"/>
                    <a:pt x="0" y="24"/>
                  </a:cubicBezTo>
                  <a:cubicBezTo>
                    <a:pt x="0" y="37"/>
                    <a:pt x="11" y="48"/>
                    <a:pt x="24" y="48"/>
                  </a:cubicBezTo>
                  <a:cubicBezTo>
                    <a:pt x="363" y="48"/>
                    <a:pt x="363" y="48"/>
                    <a:pt x="363" y="48"/>
                  </a:cubicBezTo>
                  <a:cubicBezTo>
                    <a:pt x="376" y="48"/>
                    <a:pt x="387" y="37"/>
                    <a:pt x="387" y="24"/>
                  </a:cubicBezTo>
                  <a:cubicBezTo>
                    <a:pt x="387" y="11"/>
                    <a:pt x="376" y="0"/>
                    <a:pt x="363" y="0"/>
                  </a:cubicBezTo>
                  <a:close/>
                  <a:moveTo>
                    <a:pt x="363" y="0"/>
                  </a:moveTo>
                  <a:cubicBezTo>
                    <a:pt x="363" y="0"/>
                    <a:pt x="363" y="0"/>
                    <a:pt x="36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47" name="Freeform 30">
              <a:extLst>
                <a:ext uri="{FF2B5EF4-FFF2-40B4-BE49-F238E27FC236}">
                  <a16:creationId xmlns:a16="http://schemas.microsoft.com/office/drawing/2014/main" id="{CF0FA1C8-4221-C0F6-ED72-25152CDE0D94}"/>
                </a:ext>
              </a:extLst>
            </p:cNvPr>
            <p:cNvSpPr>
              <a:spLocks noEditPoints="1"/>
            </p:cNvSpPr>
            <p:nvPr/>
          </p:nvSpPr>
          <p:spPr bwMode="auto">
            <a:xfrm>
              <a:off x="2129" y="1148"/>
              <a:ext cx="146" cy="18"/>
            </a:xfrm>
            <a:custGeom>
              <a:avLst/>
              <a:gdLst>
                <a:gd name="T0" fmla="*/ 363 w 387"/>
                <a:gd name="T1" fmla="*/ 0 h 48"/>
                <a:gd name="T2" fmla="*/ 24 w 387"/>
                <a:gd name="T3" fmla="*/ 0 h 48"/>
                <a:gd name="T4" fmla="*/ 0 w 387"/>
                <a:gd name="T5" fmla="*/ 24 h 48"/>
                <a:gd name="T6" fmla="*/ 24 w 387"/>
                <a:gd name="T7" fmla="*/ 48 h 48"/>
                <a:gd name="T8" fmla="*/ 363 w 387"/>
                <a:gd name="T9" fmla="*/ 48 h 48"/>
                <a:gd name="T10" fmla="*/ 387 w 387"/>
                <a:gd name="T11" fmla="*/ 24 h 48"/>
                <a:gd name="T12" fmla="*/ 363 w 387"/>
                <a:gd name="T13" fmla="*/ 0 h 48"/>
                <a:gd name="T14" fmla="*/ 363 w 387"/>
                <a:gd name="T15" fmla="*/ 0 h 48"/>
                <a:gd name="T16" fmla="*/ 363 w 387"/>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48">
                  <a:moveTo>
                    <a:pt x="363" y="0"/>
                  </a:moveTo>
                  <a:cubicBezTo>
                    <a:pt x="24" y="0"/>
                    <a:pt x="24" y="0"/>
                    <a:pt x="24" y="0"/>
                  </a:cubicBezTo>
                  <a:cubicBezTo>
                    <a:pt x="11" y="0"/>
                    <a:pt x="0" y="11"/>
                    <a:pt x="0" y="24"/>
                  </a:cubicBezTo>
                  <a:cubicBezTo>
                    <a:pt x="0" y="37"/>
                    <a:pt x="11" y="48"/>
                    <a:pt x="24" y="48"/>
                  </a:cubicBezTo>
                  <a:cubicBezTo>
                    <a:pt x="363" y="48"/>
                    <a:pt x="363" y="48"/>
                    <a:pt x="363" y="48"/>
                  </a:cubicBezTo>
                  <a:cubicBezTo>
                    <a:pt x="376" y="48"/>
                    <a:pt x="387" y="37"/>
                    <a:pt x="387" y="24"/>
                  </a:cubicBezTo>
                  <a:cubicBezTo>
                    <a:pt x="387" y="11"/>
                    <a:pt x="376" y="0"/>
                    <a:pt x="363" y="0"/>
                  </a:cubicBezTo>
                  <a:close/>
                  <a:moveTo>
                    <a:pt x="363" y="0"/>
                  </a:moveTo>
                  <a:cubicBezTo>
                    <a:pt x="363" y="0"/>
                    <a:pt x="363" y="0"/>
                    <a:pt x="36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48" name="Freeform 31">
              <a:extLst>
                <a:ext uri="{FF2B5EF4-FFF2-40B4-BE49-F238E27FC236}">
                  <a16:creationId xmlns:a16="http://schemas.microsoft.com/office/drawing/2014/main" id="{85C6FAAF-22D5-E5B3-413D-BEF1D7E40118}"/>
                </a:ext>
              </a:extLst>
            </p:cNvPr>
            <p:cNvSpPr>
              <a:spLocks noEditPoints="1"/>
            </p:cNvSpPr>
            <p:nvPr/>
          </p:nvSpPr>
          <p:spPr bwMode="auto">
            <a:xfrm>
              <a:off x="2129" y="1192"/>
              <a:ext cx="146" cy="18"/>
            </a:xfrm>
            <a:custGeom>
              <a:avLst/>
              <a:gdLst>
                <a:gd name="T0" fmla="*/ 363 w 387"/>
                <a:gd name="T1" fmla="*/ 0 h 48"/>
                <a:gd name="T2" fmla="*/ 24 w 387"/>
                <a:gd name="T3" fmla="*/ 0 h 48"/>
                <a:gd name="T4" fmla="*/ 0 w 387"/>
                <a:gd name="T5" fmla="*/ 24 h 48"/>
                <a:gd name="T6" fmla="*/ 24 w 387"/>
                <a:gd name="T7" fmla="*/ 48 h 48"/>
                <a:gd name="T8" fmla="*/ 363 w 387"/>
                <a:gd name="T9" fmla="*/ 48 h 48"/>
                <a:gd name="T10" fmla="*/ 387 w 387"/>
                <a:gd name="T11" fmla="*/ 24 h 48"/>
                <a:gd name="T12" fmla="*/ 363 w 387"/>
                <a:gd name="T13" fmla="*/ 0 h 48"/>
                <a:gd name="T14" fmla="*/ 363 w 387"/>
                <a:gd name="T15" fmla="*/ 0 h 48"/>
                <a:gd name="T16" fmla="*/ 363 w 387"/>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48">
                  <a:moveTo>
                    <a:pt x="363" y="0"/>
                  </a:moveTo>
                  <a:cubicBezTo>
                    <a:pt x="24" y="0"/>
                    <a:pt x="24" y="0"/>
                    <a:pt x="24" y="0"/>
                  </a:cubicBezTo>
                  <a:cubicBezTo>
                    <a:pt x="11" y="0"/>
                    <a:pt x="0" y="11"/>
                    <a:pt x="0" y="24"/>
                  </a:cubicBezTo>
                  <a:cubicBezTo>
                    <a:pt x="0" y="37"/>
                    <a:pt x="11" y="48"/>
                    <a:pt x="24" y="48"/>
                  </a:cubicBezTo>
                  <a:cubicBezTo>
                    <a:pt x="363" y="48"/>
                    <a:pt x="363" y="48"/>
                    <a:pt x="363" y="48"/>
                  </a:cubicBezTo>
                  <a:cubicBezTo>
                    <a:pt x="376" y="48"/>
                    <a:pt x="387" y="37"/>
                    <a:pt x="387" y="24"/>
                  </a:cubicBezTo>
                  <a:cubicBezTo>
                    <a:pt x="387" y="11"/>
                    <a:pt x="376" y="0"/>
                    <a:pt x="363" y="0"/>
                  </a:cubicBezTo>
                  <a:close/>
                  <a:moveTo>
                    <a:pt x="363" y="0"/>
                  </a:moveTo>
                  <a:cubicBezTo>
                    <a:pt x="363" y="0"/>
                    <a:pt x="363" y="0"/>
                    <a:pt x="36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49" name="Freeform 32">
              <a:extLst>
                <a:ext uri="{FF2B5EF4-FFF2-40B4-BE49-F238E27FC236}">
                  <a16:creationId xmlns:a16="http://schemas.microsoft.com/office/drawing/2014/main" id="{B78F14CC-E2AC-C450-CFFA-6823A4484769}"/>
                </a:ext>
              </a:extLst>
            </p:cNvPr>
            <p:cNvSpPr>
              <a:spLocks noEditPoints="1"/>
            </p:cNvSpPr>
            <p:nvPr/>
          </p:nvSpPr>
          <p:spPr bwMode="auto">
            <a:xfrm>
              <a:off x="2129" y="904"/>
              <a:ext cx="389" cy="85"/>
            </a:xfrm>
            <a:custGeom>
              <a:avLst/>
              <a:gdLst>
                <a:gd name="T0" fmla="*/ 967 w 1029"/>
                <a:gd name="T1" fmla="*/ 0 h 224"/>
                <a:gd name="T2" fmla="*/ 63 w 1029"/>
                <a:gd name="T3" fmla="*/ 0 h 224"/>
                <a:gd name="T4" fmla="*/ 0 w 1029"/>
                <a:gd name="T5" fmla="*/ 63 h 224"/>
                <a:gd name="T6" fmla="*/ 0 w 1029"/>
                <a:gd name="T7" fmla="*/ 161 h 224"/>
                <a:gd name="T8" fmla="*/ 63 w 1029"/>
                <a:gd name="T9" fmla="*/ 224 h 224"/>
                <a:gd name="T10" fmla="*/ 485 w 1029"/>
                <a:gd name="T11" fmla="*/ 224 h 224"/>
                <a:gd name="T12" fmla="*/ 509 w 1029"/>
                <a:gd name="T13" fmla="*/ 200 h 224"/>
                <a:gd name="T14" fmla="*/ 485 w 1029"/>
                <a:gd name="T15" fmla="*/ 176 h 224"/>
                <a:gd name="T16" fmla="*/ 63 w 1029"/>
                <a:gd name="T17" fmla="*/ 176 h 224"/>
                <a:gd name="T18" fmla="*/ 48 w 1029"/>
                <a:gd name="T19" fmla="*/ 161 h 224"/>
                <a:gd name="T20" fmla="*/ 48 w 1029"/>
                <a:gd name="T21" fmla="*/ 63 h 224"/>
                <a:gd name="T22" fmla="*/ 63 w 1029"/>
                <a:gd name="T23" fmla="*/ 48 h 224"/>
                <a:gd name="T24" fmla="*/ 967 w 1029"/>
                <a:gd name="T25" fmla="*/ 48 h 224"/>
                <a:gd name="T26" fmla="*/ 981 w 1029"/>
                <a:gd name="T27" fmla="*/ 63 h 224"/>
                <a:gd name="T28" fmla="*/ 981 w 1029"/>
                <a:gd name="T29" fmla="*/ 161 h 224"/>
                <a:gd name="T30" fmla="*/ 967 w 1029"/>
                <a:gd name="T31" fmla="*/ 176 h 224"/>
                <a:gd name="T32" fmla="*/ 597 w 1029"/>
                <a:gd name="T33" fmla="*/ 176 h 224"/>
                <a:gd name="T34" fmla="*/ 573 w 1029"/>
                <a:gd name="T35" fmla="*/ 200 h 224"/>
                <a:gd name="T36" fmla="*/ 597 w 1029"/>
                <a:gd name="T37" fmla="*/ 224 h 224"/>
                <a:gd name="T38" fmla="*/ 967 w 1029"/>
                <a:gd name="T39" fmla="*/ 224 h 224"/>
                <a:gd name="T40" fmla="*/ 1029 w 1029"/>
                <a:gd name="T41" fmla="*/ 161 h 224"/>
                <a:gd name="T42" fmla="*/ 1029 w 1029"/>
                <a:gd name="T43" fmla="*/ 63 h 224"/>
                <a:gd name="T44" fmla="*/ 967 w 1029"/>
                <a:gd name="T45" fmla="*/ 0 h 224"/>
                <a:gd name="T46" fmla="*/ 967 w 1029"/>
                <a:gd name="T47" fmla="*/ 0 h 224"/>
                <a:gd name="T48" fmla="*/ 967 w 1029"/>
                <a:gd name="T49" fmla="*/ 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29" h="224">
                  <a:moveTo>
                    <a:pt x="967" y="0"/>
                  </a:moveTo>
                  <a:cubicBezTo>
                    <a:pt x="63" y="0"/>
                    <a:pt x="63" y="0"/>
                    <a:pt x="63" y="0"/>
                  </a:cubicBezTo>
                  <a:cubicBezTo>
                    <a:pt x="28" y="0"/>
                    <a:pt x="0" y="28"/>
                    <a:pt x="0" y="63"/>
                  </a:cubicBezTo>
                  <a:cubicBezTo>
                    <a:pt x="0" y="161"/>
                    <a:pt x="0" y="161"/>
                    <a:pt x="0" y="161"/>
                  </a:cubicBezTo>
                  <a:cubicBezTo>
                    <a:pt x="0" y="196"/>
                    <a:pt x="28" y="224"/>
                    <a:pt x="63" y="224"/>
                  </a:cubicBezTo>
                  <a:cubicBezTo>
                    <a:pt x="485" y="224"/>
                    <a:pt x="485" y="224"/>
                    <a:pt x="485" y="224"/>
                  </a:cubicBezTo>
                  <a:cubicBezTo>
                    <a:pt x="499" y="224"/>
                    <a:pt x="509" y="213"/>
                    <a:pt x="509" y="200"/>
                  </a:cubicBezTo>
                  <a:cubicBezTo>
                    <a:pt x="509" y="186"/>
                    <a:pt x="499" y="176"/>
                    <a:pt x="485" y="176"/>
                  </a:cubicBezTo>
                  <a:cubicBezTo>
                    <a:pt x="63" y="176"/>
                    <a:pt x="63" y="176"/>
                    <a:pt x="63" y="176"/>
                  </a:cubicBezTo>
                  <a:cubicBezTo>
                    <a:pt x="55" y="176"/>
                    <a:pt x="48" y="169"/>
                    <a:pt x="48" y="161"/>
                  </a:cubicBezTo>
                  <a:cubicBezTo>
                    <a:pt x="48" y="63"/>
                    <a:pt x="48" y="63"/>
                    <a:pt x="48" y="63"/>
                  </a:cubicBezTo>
                  <a:cubicBezTo>
                    <a:pt x="48" y="55"/>
                    <a:pt x="55" y="48"/>
                    <a:pt x="63" y="48"/>
                  </a:cubicBezTo>
                  <a:cubicBezTo>
                    <a:pt x="967" y="48"/>
                    <a:pt x="967" y="48"/>
                    <a:pt x="967" y="48"/>
                  </a:cubicBezTo>
                  <a:cubicBezTo>
                    <a:pt x="975" y="48"/>
                    <a:pt x="981" y="55"/>
                    <a:pt x="981" y="63"/>
                  </a:cubicBezTo>
                  <a:cubicBezTo>
                    <a:pt x="981" y="161"/>
                    <a:pt x="981" y="161"/>
                    <a:pt x="981" y="161"/>
                  </a:cubicBezTo>
                  <a:cubicBezTo>
                    <a:pt x="981" y="169"/>
                    <a:pt x="975" y="176"/>
                    <a:pt x="967" y="176"/>
                  </a:cubicBezTo>
                  <a:cubicBezTo>
                    <a:pt x="597" y="176"/>
                    <a:pt x="597" y="176"/>
                    <a:pt x="597" y="176"/>
                  </a:cubicBezTo>
                  <a:cubicBezTo>
                    <a:pt x="584" y="176"/>
                    <a:pt x="573" y="186"/>
                    <a:pt x="573" y="200"/>
                  </a:cubicBezTo>
                  <a:cubicBezTo>
                    <a:pt x="573" y="213"/>
                    <a:pt x="584" y="224"/>
                    <a:pt x="597" y="224"/>
                  </a:cubicBezTo>
                  <a:cubicBezTo>
                    <a:pt x="967" y="224"/>
                    <a:pt x="967" y="224"/>
                    <a:pt x="967" y="224"/>
                  </a:cubicBezTo>
                  <a:cubicBezTo>
                    <a:pt x="1001" y="224"/>
                    <a:pt x="1029" y="196"/>
                    <a:pt x="1029" y="161"/>
                  </a:cubicBezTo>
                  <a:cubicBezTo>
                    <a:pt x="1029" y="63"/>
                    <a:pt x="1029" y="63"/>
                    <a:pt x="1029" y="63"/>
                  </a:cubicBezTo>
                  <a:cubicBezTo>
                    <a:pt x="1029" y="28"/>
                    <a:pt x="1001" y="0"/>
                    <a:pt x="967" y="0"/>
                  </a:cubicBezTo>
                  <a:close/>
                  <a:moveTo>
                    <a:pt x="967" y="0"/>
                  </a:moveTo>
                  <a:cubicBezTo>
                    <a:pt x="967" y="0"/>
                    <a:pt x="967" y="0"/>
                    <a:pt x="967"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grpSp>
      <p:grpSp>
        <p:nvGrpSpPr>
          <p:cNvPr id="50" name="Group 49">
            <a:extLst>
              <a:ext uri="{FF2B5EF4-FFF2-40B4-BE49-F238E27FC236}">
                <a16:creationId xmlns:a16="http://schemas.microsoft.com/office/drawing/2014/main" id="{7C8623B0-D682-80D0-0184-9E12B3EF7A1E}"/>
              </a:ext>
            </a:extLst>
          </p:cNvPr>
          <p:cNvGrpSpPr/>
          <p:nvPr/>
        </p:nvGrpSpPr>
        <p:grpSpPr>
          <a:xfrm>
            <a:off x="9664145" y="1625641"/>
            <a:ext cx="345182" cy="350276"/>
            <a:chOff x="5153025" y="3441701"/>
            <a:chExt cx="2166938" cy="2166938"/>
          </a:xfrm>
          <a:solidFill>
            <a:schemeClr val="tx1"/>
          </a:solidFill>
        </p:grpSpPr>
        <p:sp>
          <p:nvSpPr>
            <p:cNvPr id="51" name="Freeform 66">
              <a:extLst>
                <a:ext uri="{FF2B5EF4-FFF2-40B4-BE49-F238E27FC236}">
                  <a16:creationId xmlns:a16="http://schemas.microsoft.com/office/drawing/2014/main" id="{A1E67D36-36BC-6EE7-DE67-5747BED59599}"/>
                </a:ext>
              </a:extLst>
            </p:cNvPr>
            <p:cNvSpPr>
              <a:spLocks/>
            </p:cNvSpPr>
            <p:nvPr/>
          </p:nvSpPr>
          <p:spPr bwMode="auto">
            <a:xfrm>
              <a:off x="5153025" y="3441701"/>
              <a:ext cx="2166938" cy="2166938"/>
            </a:xfrm>
            <a:custGeom>
              <a:avLst/>
              <a:gdLst>
                <a:gd name="T0" fmla="*/ 1920 w 2048"/>
                <a:gd name="T1" fmla="*/ 1152 h 2048"/>
                <a:gd name="T2" fmla="*/ 1920 w 2048"/>
                <a:gd name="T3" fmla="*/ 1600 h 2048"/>
                <a:gd name="T4" fmla="*/ 1600 w 2048"/>
                <a:gd name="T5" fmla="*/ 1920 h 2048"/>
                <a:gd name="T6" fmla="*/ 448 w 2048"/>
                <a:gd name="T7" fmla="*/ 1920 h 2048"/>
                <a:gd name="T8" fmla="*/ 128 w 2048"/>
                <a:gd name="T9" fmla="*/ 1600 h 2048"/>
                <a:gd name="T10" fmla="*/ 128 w 2048"/>
                <a:gd name="T11" fmla="*/ 448 h 2048"/>
                <a:gd name="T12" fmla="*/ 448 w 2048"/>
                <a:gd name="T13" fmla="*/ 128 h 2048"/>
                <a:gd name="T14" fmla="*/ 832 w 2048"/>
                <a:gd name="T15" fmla="*/ 128 h 2048"/>
                <a:gd name="T16" fmla="*/ 832 w 2048"/>
                <a:gd name="T17" fmla="*/ 0 h 2048"/>
                <a:gd name="T18" fmla="*/ 448 w 2048"/>
                <a:gd name="T19" fmla="*/ 0 h 2048"/>
                <a:gd name="T20" fmla="*/ 0 w 2048"/>
                <a:gd name="T21" fmla="*/ 448 h 2048"/>
                <a:gd name="T22" fmla="*/ 0 w 2048"/>
                <a:gd name="T23" fmla="*/ 1600 h 2048"/>
                <a:gd name="T24" fmla="*/ 448 w 2048"/>
                <a:gd name="T25" fmla="*/ 2048 h 2048"/>
                <a:gd name="T26" fmla="*/ 1600 w 2048"/>
                <a:gd name="T27" fmla="*/ 2048 h 2048"/>
                <a:gd name="T28" fmla="*/ 2048 w 2048"/>
                <a:gd name="T29" fmla="*/ 1600 h 2048"/>
                <a:gd name="T30" fmla="*/ 2048 w 2048"/>
                <a:gd name="T31" fmla="*/ 1152 h 2048"/>
                <a:gd name="T32" fmla="*/ 1920 w 2048"/>
                <a:gd name="T33" fmla="*/ 1152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48" h="2048">
                  <a:moveTo>
                    <a:pt x="1920" y="1152"/>
                  </a:moveTo>
                  <a:cubicBezTo>
                    <a:pt x="1920" y="1600"/>
                    <a:pt x="1920" y="1600"/>
                    <a:pt x="1920" y="1600"/>
                  </a:cubicBezTo>
                  <a:cubicBezTo>
                    <a:pt x="1920" y="1777"/>
                    <a:pt x="1777" y="1920"/>
                    <a:pt x="1600" y="1920"/>
                  </a:cubicBezTo>
                  <a:cubicBezTo>
                    <a:pt x="448" y="1920"/>
                    <a:pt x="448" y="1920"/>
                    <a:pt x="448" y="1920"/>
                  </a:cubicBezTo>
                  <a:cubicBezTo>
                    <a:pt x="271" y="1920"/>
                    <a:pt x="128" y="1777"/>
                    <a:pt x="128" y="1600"/>
                  </a:cubicBezTo>
                  <a:cubicBezTo>
                    <a:pt x="128" y="448"/>
                    <a:pt x="128" y="448"/>
                    <a:pt x="128" y="448"/>
                  </a:cubicBezTo>
                  <a:cubicBezTo>
                    <a:pt x="128" y="271"/>
                    <a:pt x="271" y="128"/>
                    <a:pt x="448" y="128"/>
                  </a:cubicBezTo>
                  <a:cubicBezTo>
                    <a:pt x="832" y="128"/>
                    <a:pt x="832" y="128"/>
                    <a:pt x="832" y="128"/>
                  </a:cubicBezTo>
                  <a:cubicBezTo>
                    <a:pt x="832" y="0"/>
                    <a:pt x="832" y="0"/>
                    <a:pt x="832" y="0"/>
                  </a:cubicBezTo>
                  <a:cubicBezTo>
                    <a:pt x="448" y="0"/>
                    <a:pt x="448" y="0"/>
                    <a:pt x="448" y="0"/>
                  </a:cubicBezTo>
                  <a:cubicBezTo>
                    <a:pt x="201" y="0"/>
                    <a:pt x="0" y="201"/>
                    <a:pt x="0" y="448"/>
                  </a:cubicBezTo>
                  <a:cubicBezTo>
                    <a:pt x="0" y="1600"/>
                    <a:pt x="0" y="1600"/>
                    <a:pt x="0" y="1600"/>
                  </a:cubicBezTo>
                  <a:cubicBezTo>
                    <a:pt x="0" y="1847"/>
                    <a:pt x="201" y="2048"/>
                    <a:pt x="448" y="2048"/>
                  </a:cubicBezTo>
                  <a:cubicBezTo>
                    <a:pt x="1600" y="2048"/>
                    <a:pt x="1600" y="2048"/>
                    <a:pt x="1600" y="2048"/>
                  </a:cubicBezTo>
                  <a:cubicBezTo>
                    <a:pt x="1847" y="2048"/>
                    <a:pt x="2048" y="1847"/>
                    <a:pt x="2048" y="1600"/>
                  </a:cubicBezTo>
                  <a:cubicBezTo>
                    <a:pt x="2048" y="1152"/>
                    <a:pt x="2048" y="1152"/>
                    <a:pt x="2048" y="1152"/>
                  </a:cubicBezTo>
                  <a:lnTo>
                    <a:pt x="1920" y="11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cs typeface="Calibri" panose="020F0502020204030204" pitchFamily="34" charset="0"/>
              </a:endParaRPr>
            </a:p>
          </p:txBody>
        </p:sp>
        <p:sp>
          <p:nvSpPr>
            <p:cNvPr id="52" name="Freeform 67">
              <a:extLst>
                <a:ext uri="{FF2B5EF4-FFF2-40B4-BE49-F238E27FC236}">
                  <a16:creationId xmlns:a16="http://schemas.microsoft.com/office/drawing/2014/main" id="{96B5AC5D-10F0-B7FF-326C-4433D96E3546}"/>
                </a:ext>
              </a:extLst>
            </p:cNvPr>
            <p:cNvSpPr>
              <a:spLocks/>
            </p:cNvSpPr>
            <p:nvPr/>
          </p:nvSpPr>
          <p:spPr bwMode="auto">
            <a:xfrm>
              <a:off x="5897563" y="3529013"/>
              <a:ext cx="1293813" cy="1673225"/>
            </a:xfrm>
            <a:custGeom>
              <a:avLst/>
              <a:gdLst>
                <a:gd name="T0" fmla="*/ 0 w 1222"/>
                <a:gd name="T1" fmla="*/ 1581 h 1581"/>
                <a:gd name="T2" fmla="*/ 128 w 1222"/>
                <a:gd name="T3" fmla="*/ 1581 h 1581"/>
                <a:gd name="T4" fmla="*/ 128 w 1222"/>
                <a:gd name="T5" fmla="*/ 1069 h 1581"/>
                <a:gd name="T6" fmla="*/ 576 w 1222"/>
                <a:gd name="T7" fmla="*/ 557 h 1581"/>
                <a:gd name="T8" fmla="*/ 998 w 1222"/>
                <a:gd name="T9" fmla="*/ 557 h 1581"/>
                <a:gd name="T10" fmla="*/ 659 w 1222"/>
                <a:gd name="T11" fmla="*/ 896 h 1581"/>
                <a:gd name="T12" fmla="*/ 749 w 1222"/>
                <a:gd name="T13" fmla="*/ 986 h 1581"/>
                <a:gd name="T14" fmla="*/ 1197 w 1222"/>
                <a:gd name="T15" fmla="*/ 538 h 1581"/>
                <a:gd name="T16" fmla="*/ 1197 w 1222"/>
                <a:gd name="T17" fmla="*/ 448 h 1581"/>
                <a:gd name="T18" fmla="*/ 749 w 1222"/>
                <a:gd name="T19" fmla="*/ 0 h 1581"/>
                <a:gd name="T20" fmla="*/ 659 w 1222"/>
                <a:gd name="T21" fmla="*/ 90 h 1581"/>
                <a:gd name="T22" fmla="*/ 998 w 1222"/>
                <a:gd name="T23" fmla="*/ 429 h 1581"/>
                <a:gd name="T24" fmla="*/ 576 w 1222"/>
                <a:gd name="T25" fmla="*/ 429 h 1581"/>
                <a:gd name="T26" fmla="*/ 0 w 1222"/>
                <a:gd name="T27" fmla="*/ 1069 h 1581"/>
                <a:gd name="T28" fmla="*/ 0 w 1222"/>
                <a:gd name="T29" fmla="*/ 1581 h 1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2" h="1581">
                  <a:moveTo>
                    <a:pt x="0" y="1581"/>
                  </a:moveTo>
                  <a:cubicBezTo>
                    <a:pt x="128" y="1581"/>
                    <a:pt x="128" y="1581"/>
                    <a:pt x="128" y="1581"/>
                  </a:cubicBezTo>
                  <a:cubicBezTo>
                    <a:pt x="128" y="1069"/>
                    <a:pt x="128" y="1069"/>
                    <a:pt x="128" y="1069"/>
                  </a:cubicBezTo>
                  <a:cubicBezTo>
                    <a:pt x="128" y="566"/>
                    <a:pt x="558" y="557"/>
                    <a:pt x="576" y="557"/>
                  </a:cubicBezTo>
                  <a:cubicBezTo>
                    <a:pt x="998" y="557"/>
                    <a:pt x="998" y="557"/>
                    <a:pt x="998" y="557"/>
                  </a:cubicBezTo>
                  <a:cubicBezTo>
                    <a:pt x="659" y="896"/>
                    <a:pt x="659" y="896"/>
                    <a:pt x="659" y="896"/>
                  </a:cubicBezTo>
                  <a:cubicBezTo>
                    <a:pt x="749" y="986"/>
                    <a:pt x="749" y="986"/>
                    <a:pt x="749" y="986"/>
                  </a:cubicBezTo>
                  <a:cubicBezTo>
                    <a:pt x="1197" y="538"/>
                    <a:pt x="1197" y="538"/>
                    <a:pt x="1197" y="538"/>
                  </a:cubicBezTo>
                  <a:cubicBezTo>
                    <a:pt x="1222" y="513"/>
                    <a:pt x="1222" y="473"/>
                    <a:pt x="1197" y="448"/>
                  </a:cubicBezTo>
                  <a:cubicBezTo>
                    <a:pt x="749" y="0"/>
                    <a:pt x="749" y="0"/>
                    <a:pt x="749" y="0"/>
                  </a:cubicBezTo>
                  <a:cubicBezTo>
                    <a:pt x="659" y="90"/>
                    <a:pt x="659" y="90"/>
                    <a:pt x="659" y="90"/>
                  </a:cubicBezTo>
                  <a:cubicBezTo>
                    <a:pt x="998" y="429"/>
                    <a:pt x="998" y="429"/>
                    <a:pt x="998" y="429"/>
                  </a:cubicBezTo>
                  <a:cubicBezTo>
                    <a:pt x="576" y="429"/>
                    <a:pt x="576" y="429"/>
                    <a:pt x="576" y="429"/>
                  </a:cubicBezTo>
                  <a:cubicBezTo>
                    <a:pt x="570" y="429"/>
                    <a:pt x="0" y="436"/>
                    <a:pt x="0" y="1069"/>
                  </a:cubicBezTo>
                  <a:lnTo>
                    <a:pt x="0" y="15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cs typeface="Calibri" panose="020F0502020204030204" pitchFamily="34" charset="0"/>
              </a:endParaRPr>
            </a:p>
          </p:txBody>
        </p:sp>
      </p:grpSp>
      <p:cxnSp>
        <p:nvCxnSpPr>
          <p:cNvPr id="53" name="Straight Connector 52">
            <a:extLst>
              <a:ext uri="{FF2B5EF4-FFF2-40B4-BE49-F238E27FC236}">
                <a16:creationId xmlns:a16="http://schemas.microsoft.com/office/drawing/2014/main" id="{7C78F9CE-8B02-C8F1-2B01-38740E768C8E}"/>
              </a:ext>
            </a:extLst>
          </p:cNvPr>
          <p:cNvCxnSpPr>
            <a:cxnSpLocks/>
          </p:cNvCxnSpPr>
          <p:nvPr/>
        </p:nvCxnSpPr>
        <p:spPr>
          <a:xfrm flipH="1">
            <a:off x="457199" y="6303444"/>
            <a:ext cx="10298076" cy="0"/>
          </a:xfrm>
          <a:prstGeom prst="line">
            <a:avLst/>
          </a:prstGeom>
          <a:noFill/>
          <a:ln w="6350" cap="flat" cmpd="sng" algn="ctr">
            <a:solidFill>
              <a:srgbClr val="FFFFFF">
                <a:lumMod val="65000"/>
              </a:srgbClr>
            </a:solidFill>
            <a:prstDash val="solid"/>
            <a:miter lim="800000"/>
          </a:ln>
          <a:effectLst/>
        </p:spPr>
      </p:cxnSp>
      <p:sp>
        <p:nvSpPr>
          <p:cNvPr id="54" name="Arrow: Pentagon 199">
            <a:extLst>
              <a:ext uri="{FF2B5EF4-FFF2-40B4-BE49-F238E27FC236}">
                <a16:creationId xmlns:a16="http://schemas.microsoft.com/office/drawing/2014/main" id="{BF52F383-117B-1082-1FC7-B93929BFBF69}"/>
              </a:ext>
            </a:extLst>
          </p:cNvPr>
          <p:cNvSpPr/>
          <p:nvPr/>
        </p:nvSpPr>
        <p:spPr>
          <a:xfrm rot="5400000">
            <a:off x="11019783" y="1995264"/>
            <a:ext cx="663747" cy="815387"/>
          </a:xfrm>
          <a:prstGeom prst="homePlate">
            <a:avLst>
              <a:gd name="adj" fmla="val 50000"/>
            </a:avLst>
          </a:prstGeom>
          <a:solidFill>
            <a:schemeClr val="accent3"/>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1" i="0" u="none" strike="noStrike" kern="0" cap="none" spc="0" normalizeH="0" baseline="0" noProof="0">
              <a:ln>
                <a:noFill/>
              </a:ln>
              <a:solidFill>
                <a:srgbClr val="FFFFFF"/>
              </a:solidFill>
              <a:effectLst/>
              <a:uLnTx/>
              <a:uFillTx/>
              <a:ea typeface="+mn-ea"/>
              <a:cs typeface="Calibri" panose="020F0502020204030204" pitchFamily="34" charset="0"/>
            </a:endParaRPr>
          </a:p>
        </p:txBody>
      </p:sp>
      <p:sp>
        <p:nvSpPr>
          <p:cNvPr id="55" name="TextBox 54">
            <a:extLst>
              <a:ext uri="{FF2B5EF4-FFF2-40B4-BE49-F238E27FC236}">
                <a16:creationId xmlns:a16="http://schemas.microsoft.com/office/drawing/2014/main" id="{15F10F19-99C6-7FCB-A5D6-7BE16FBC2B43}"/>
              </a:ext>
            </a:extLst>
          </p:cNvPr>
          <p:cNvSpPr txBox="1"/>
          <p:nvPr/>
        </p:nvSpPr>
        <p:spPr>
          <a:xfrm>
            <a:off x="10957929" y="2182812"/>
            <a:ext cx="790836" cy="184666"/>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cs typeface="Calibri" panose="020F0502020204030204" pitchFamily="34" charset="0"/>
              </a:rPr>
              <a:t>Benefits</a:t>
            </a:r>
          </a:p>
        </p:txBody>
      </p:sp>
      <p:sp>
        <p:nvSpPr>
          <p:cNvPr id="56" name="Rectangle 55">
            <a:extLst>
              <a:ext uri="{FF2B5EF4-FFF2-40B4-BE49-F238E27FC236}">
                <a16:creationId xmlns:a16="http://schemas.microsoft.com/office/drawing/2014/main" id="{11739467-494B-9693-F0A6-F22264146D1E}"/>
              </a:ext>
            </a:extLst>
          </p:cNvPr>
          <p:cNvSpPr/>
          <p:nvPr/>
        </p:nvSpPr>
        <p:spPr>
          <a:xfrm>
            <a:off x="10688732" y="2758652"/>
            <a:ext cx="1323102" cy="3464798"/>
          </a:xfrm>
          <a:prstGeom prst="rect">
            <a:avLst/>
          </a:prstGeom>
          <a:solidFill>
            <a:schemeClr val="accent6"/>
          </a:solidFill>
          <a:ln w="12700" cap="flat" cmpd="sng" algn="ctr">
            <a:noFill/>
            <a:prstDash val="solid"/>
            <a:miter lim="800000"/>
          </a:ln>
          <a:effectLst/>
        </p:spPr>
        <p:txBody>
          <a:bodyPr lIns="91440" rIns="0" rtlCol="0" anchor="t"/>
          <a:lstStyle/>
          <a:p>
            <a:pPr marL="182880" marR="0" lvl="0" indent="-182880" defTabSz="685800" eaLnBrk="1" fontAlgn="auto" latinLnBrk="0" hangingPunct="1">
              <a:lnSpc>
                <a:spcPct val="100000"/>
              </a:lnSpc>
              <a:spcBef>
                <a:spcPts val="0"/>
              </a:spcBef>
              <a:spcAft>
                <a:spcPts val="600"/>
              </a:spcAft>
              <a:buClr>
                <a:srgbClr val="FB4E0B"/>
              </a:buClr>
              <a:buSzTx/>
              <a:buFont typeface="Calibri" panose="020F0502020204030204" pitchFamily="34" charset="0"/>
              <a:buChar char="•"/>
              <a:tabLst/>
              <a:defRPr/>
            </a:pPr>
            <a:r>
              <a:rPr kumimoji="0" lang="en-US" sz="1050" i="0" u="none" strike="noStrike" kern="0" cap="none" spc="0" normalizeH="0" baseline="0" noProof="0">
                <a:ln>
                  <a:noFill/>
                </a:ln>
                <a:effectLst/>
                <a:uLnTx/>
                <a:uFillTx/>
                <a:ea typeface="+mn-ea"/>
                <a:cs typeface="Calibri" panose="020F0502020204030204" pitchFamily="34" charset="0"/>
              </a:rPr>
              <a:t>Control points for quality check </a:t>
            </a:r>
          </a:p>
          <a:p>
            <a:pPr marL="182880" marR="0" lvl="0" indent="-182880" defTabSz="685800" eaLnBrk="1" fontAlgn="auto" latinLnBrk="0" hangingPunct="1">
              <a:lnSpc>
                <a:spcPct val="100000"/>
              </a:lnSpc>
              <a:spcBef>
                <a:spcPts val="0"/>
              </a:spcBef>
              <a:spcAft>
                <a:spcPts val="600"/>
              </a:spcAft>
              <a:buClr>
                <a:srgbClr val="FB4E0B"/>
              </a:buClr>
              <a:buSzTx/>
              <a:buFont typeface="Calibri" panose="020F0502020204030204" pitchFamily="34" charset="0"/>
              <a:buChar char="•"/>
              <a:tabLst/>
              <a:defRPr/>
            </a:pPr>
            <a:r>
              <a:rPr kumimoji="0" lang="en-US" sz="1050" i="0" u="none" strike="noStrike" kern="0" cap="none" spc="0" normalizeH="0" baseline="0" noProof="0">
                <a:ln>
                  <a:noFill/>
                </a:ln>
                <a:effectLst/>
                <a:uLnTx/>
                <a:uFillTx/>
                <a:ea typeface="+mn-ea"/>
                <a:cs typeface="Calibri" panose="020F0502020204030204" pitchFamily="34" charset="0"/>
              </a:rPr>
              <a:t>Increased efficiency by 20%</a:t>
            </a:r>
          </a:p>
          <a:p>
            <a:pPr marL="182880" marR="0" lvl="0" indent="-182880" defTabSz="685800" eaLnBrk="1" fontAlgn="auto" latinLnBrk="0" hangingPunct="1">
              <a:lnSpc>
                <a:spcPct val="100000"/>
              </a:lnSpc>
              <a:spcBef>
                <a:spcPts val="0"/>
              </a:spcBef>
              <a:spcAft>
                <a:spcPts val="600"/>
              </a:spcAft>
              <a:buClr>
                <a:srgbClr val="FB4E0B"/>
              </a:buClr>
              <a:buSzTx/>
              <a:buFont typeface="Calibri" panose="020F0502020204030204" pitchFamily="34" charset="0"/>
              <a:buChar char="•"/>
              <a:tabLst/>
              <a:defRPr/>
            </a:pPr>
            <a:r>
              <a:rPr kumimoji="0" lang="en-US" sz="1050" i="0" u="none" strike="noStrike" kern="0" cap="none" spc="0" normalizeH="0" baseline="0" noProof="0">
                <a:ln>
                  <a:noFill/>
                </a:ln>
                <a:effectLst/>
                <a:uLnTx/>
                <a:uFillTx/>
                <a:ea typeface="+mn-ea"/>
                <a:cs typeface="Calibri" panose="020F0502020204030204" pitchFamily="34" charset="0"/>
              </a:rPr>
              <a:t>Reduced TAT by ~ 25%</a:t>
            </a:r>
          </a:p>
          <a:p>
            <a:pPr marL="182880" marR="0" lvl="0" indent="-182880" defTabSz="685800" eaLnBrk="1" fontAlgn="auto" latinLnBrk="0" hangingPunct="1">
              <a:lnSpc>
                <a:spcPct val="100000"/>
              </a:lnSpc>
              <a:spcBef>
                <a:spcPts val="0"/>
              </a:spcBef>
              <a:spcAft>
                <a:spcPts val="600"/>
              </a:spcAft>
              <a:buClr>
                <a:srgbClr val="FB4E0B"/>
              </a:buClr>
              <a:buSzTx/>
              <a:buFont typeface="Calibri" panose="020F0502020204030204" pitchFamily="34" charset="0"/>
              <a:buChar char="•"/>
              <a:tabLst/>
              <a:defRPr/>
            </a:pPr>
            <a:r>
              <a:rPr kumimoji="0" lang="en-US" sz="1050" i="0" u="none" strike="noStrike" kern="0" cap="none" spc="0" normalizeH="0" baseline="0" noProof="0">
                <a:ln>
                  <a:noFill/>
                </a:ln>
                <a:effectLst/>
                <a:uLnTx/>
                <a:uFillTx/>
                <a:ea typeface="+mn-ea"/>
                <a:cs typeface="Calibri" panose="020F0502020204030204" pitchFamily="34" charset="0"/>
              </a:rPr>
              <a:t>Multiple GGY Axis runs offshored</a:t>
            </a:r>
          </a:p>
          <a:p>
            <a:pPr marL="182880" marR="0" lvl="0" indent="-182880" defTabSz="685800" eaLnBrk="1" fontAlgn="auto" latinLnBrk="0" hangingPunct="1">
              <a:lnSpc>
                <a:spcPct val="100000"/>
              </a:lnSpc>
              <a:spcBef>
                <a:spcPts val="0"/>
              </a:spcBef>
              <a:spcAft>
                <a:spcPts val="600"/>
              </a:spcAft>
              <a:buClr>
                <a:srgbClr val="FB4E0B"/>
              </a:buClr>
              <a:buSzTx/>
              <a:buFont typeface="Calibri" panose="020F0502020204030204" pitchFamily="34" charset="0"/>
              <a:buChar char="•"/>
              <a:tabLst/>
              <a:defRPr/>
            </a:pPr>
            <a:r>
              <a:rPr kumimoji="0" lang="en-US" sz="1050" i="0" u="none" strike="noStrike" kern="0" cap="none" spc="0" normalizeH="0" baseline="0" noProof="0">
                <a:ln>
                  <a:noFill/>
                </a:ln>
                <a:effectLst/>
                <a:uLnTx/>
                <a:uFillTx/>
                <a:ea typeface="+mn-ea"/>
                <a:cs typeface="Calibri" panose="020F0502020204030204" pitchFamily="34" charset="0"/>
              </a:rPr>
              <a:t>50% reduction in manual reports preparation</a:t>
            </a:r>
          </a:p>
          <a:p>
            <a:pPr marL="182880" marR="0" lvl="0" indent="-182880" defTabSz="685800" eaLnBrk="1" fontAlgn="auto" latinLnBrk="0" hangingPunct="1">
              <a:lnSpc>
                <a:spcPct val="100000"/>
              </a:lnSpc>
              <a:spcBef>
                <a:spcPts val="0"/>
              </a:spcBef>
              <a:spcAft>
                <a:spcPts val="600"/>
              </a:spcAft>
              <a:buClr>
                <a:srgbClr val="FB4E0B"/>
              </a:buClr>
              <a:buSzTx/>
              <a:buFont typeface="Calibri" panose="020F0502020204030204" pitchFamily="34" charset="0"/>
              <a:buChar char="•"/>
              <a:tabLst/>
              <a:defRPr/>
            </a:pPr>
            <a:r>
              <a:rPr kumimoji="0" lang="en-US" sz="1050" i="0" u="none" strike="noStrike" kern="0" cap="none" spc="0" normalizeH="0" baseline="0" noProof="0">
                <a:ln>
                  <a:noFill/>
                </a:ln>
                <a:effectLst/>
                <a:uLnTx/>
                <a:uFillTx/>
                <a:ea typeface="+mn-ea"/>
                <a:cs typeface="Calibri" panose="020F0502020204030204" pitchFamily="34" charset="0"/>
              </a:rPr>
              <a:t>Streamlining of processes</a:t>
            </a:r>
          </a:p>
        </p:txBody>
      </p:sp>
      <p:grpSp>
        <p:nvGrpSpPr>
          <p:cNvPr id="57" name="Group 56">
            <a:extLst>
              <a:ext uri="{FF2B5EF4-FFF2-40B4-BE49-F238E27FC236}">
                <a16:creationId xmlns:a16="http://schemas.microsoft.com/office/drawing/2014/main" id="{78B2E49D-F9D0-B238-02BA-321E389B23DE}"/>
              </a:ext>
            </a:extLst>
          </p:cNvPr>
          <p:cNvGrpSpPr/>
          <p:nvPr/>
        </p:nvGrpSpPr>
        <p:grpSpPr>
          <a:xfrm>
            <a:off x="1783962" y="2924676"/>
            <a:ext cx="7256518" cy="3298774"/>
            <a:chOff x="1783962" y="2601116"/>
            <a:chExt cx="7256518" cy="2949810"/>
          </a:xfrm>
        </p:grpSpPr>
        <p:cxnSp>
          <p:nvCxnSpPr>
            <p:cNvPr id="58" name="Straight Connector 57">
              <a:extLst>
                <a:ext uri="{FF2B5EF4-FFF2-40B4-BE49-F238E27FC236}">
                  <a16:creationId xmlns:a16="http://schemas.microsoft.com/office/drawing/2014/main" id="{D1631861-8F40-C5A1-61AC-DC632D1E3E35}"/>
                </a:ext>
              </a:extLst>
            </p:cNvPr>
            <p:cNvCxnSpPr/>
            <p:nvPr/>
          </p:nvCxnSpPr>
          <p:spPr>
            <a:xfrm>
              <a:off x="1783962" y="2601116"/>
              <a:ext cx="0" cy="2949810"/>
            </a:xfrm>
            <a:prstGeom prst="line">
              <a:avLst/>
            </a:prstGeom>
            <a:noFill/>
            <a:ln w="6350" cap="flat" cmpd="sng" algn="ctr">
              <a:solidFill>
                <a:srgbClr val="FFFFFF">
                  <a:lumMod val="65000"/>
                </a:srgbClr>
              </a:solidFill>
              <a:prstDash val="solid"/>
              <a:miter lim="800000"/>
            </a:ln>
            <a:effectLst/>
          </p:spPr>
        </p:cxnSp>
        <p:cxnSp>
          <p:nvCxnSpPr>
            <p:cNvPr id="59" name="Straight Connector 58">
              <a:extLst>
                <a:ext uri="{FF2B5EF4-FFF2-40B4-BE49-F238E27FC236}">
                  <a16:creationId xmlns:a16="http://schemas.microsoft.com/office/drawing/2014/main" id="{B0C0DE5F-0A07-6E1C-27C9-31FC7488BB5F}"/>
                </a:ext>
              </a:extLst>
            </p:cNvPr>
            <p:cNvCxnSpPr/>
            <p:nvPr/>
          </p:nvCxnSpPr>
          <p:spPr>
            <a:xfrm>
              <a:off x="3259299" y="2601116"/>
              <a:ext cx="0" cy="2949810"/>
            </a:xfrm>
            <a:prstGeom prst="line">
              <a:avLst/>
            </a:prstGeom>
            <a:noFill/>
            <a:ln w="6350" cap="flat" cmpd="sng" algn="ctr">
              <a:solidFill>
                <a:srgbClr val="FFFFFF">
                  <a:lumMod val="65000"/>
                </a:srgbClr>
              </a:solidFill>
              <a:prstDash val="solid"/>
              <a:miter lim="800000"/>
            </a:ln>
            <a:effectLst/>
          </p:spPr>
        </p:cxnSp>
        <p:cxnSp>
          <p:nvCxnSpPr>
            <p:cNvPr id="60" name="Straight Connector 59">
              <a:extLst>
                <a:ext uri="{FF2B5EF4-FFF2-40B4-BE49-F238E27FC236}">
                  <a16:creationId xmlns:a16="http://schemas.microsoft.com/office/drawing/2014/main" id="{DA5CFA71-1CD1-336A-0A58-1F9F896AFC62}"/>
                </a:ext>
              </a:extLst>
            </p:cNvPr>
            <p:cNvCxnSpPr/>
            <p:nvPr/>
          </p:nvCxnSpPr>
          <p:spPr>
            <a:xfrm>
              <a:off x="4707099" y="2601116"/>
              <a:ext cx="0" cy="2949810"/>
            </a:xfrm>
            <a:prstGeom prst="line">
              <a:avLst/>
            </a:prstGeom>
            <a:noFill/>
            <a:ln w="6350" cap="flat" cmpd="sng" algn="ctr">
              <a:solidFill>
                <a:srgbClr val="FFFFFF">
                  <a:lumMod val="65000"/>
                </a:srgbClr>
              </a:solidFill>
              <a:prstDash val="solid"/>
              <a:miter lim="800000"/>
            </a:ln>
            <a:effectLst/>
          </p:spPr>
        </p:cxnSp>
        <p:cxnSp>
          <p:nvCxnSpPr>
            <p:cNvPr id="61" name="Straight Connector 60">
              <a:extLst>
                <a:ext uri="{FF2B5EF4-FFF2-40B4-BE49-F238E27FC236}">
                  <a16:creationId xmlns:a16="http://schemas.microsoft.com/office/drawing/2014/main" id="{C1EDB3FB-6C51-6326-F46D-638872D2459D}"/>
                </a:ext>
              </a:extLst>
            </p:cNvPr>
            <p:cNvCxnSpPr/>
            <p:nvPr/>
          </p:nvCxnSpPr>
          <p:spPr>
            <a:xfrm>
              <a:off x="6158094" y="2601116"/>
              <a:ext cx="0" cy="2949810"/>
            </a:xfrm>
            <a:prstGeom prst="line">
              <a:avLst/>
            </a:prstGeom>
            <a:noFill/>
            <a:ln w="6350" cap="flat" cmpd="sng" algn="ctr">
              <a:solidFill>
                <a:srgbClr val="FFFFFF">
                  <a:lumMod val="65000"/>
                </a:srgbClr>
              </a:solidFill>
              <a:prstDash val="solid"/>
              <a:miter lim="800000"/>
            </a:ln>
            <a:effectLst/>
          </p:spPr>
        </p:cxnSp>
        <p:cxnSp>
          <p:nvCxnSpPr>
            <p:cNvPr id="62" name="Straight Connector 61">
              <a:extLst>
                <a:ext uri="{FF2B5EF4-FFF2-40B4-BE49-F238E27FC236}">
                  <a16:creationId xmlns:a16="http://schemas.microsoft.com/office/drawing/2014/main" id="{2347C1DF-3511-7FC3-72D7-AF16ABD02293}"/>
                </a:ext>
              </a:extLst>
            </p:cNvPr>
            <p:cNvCxnSpPr/>
            <p:nvPr/>
          </p:nvCxnSpPr>
          <p:spPr>
            <a:xfrm>
              <a:off x="7609089" y="2601116"/>
              <a:ext cx="0" cy="2949810"/>
            </a:xfrm>
            <a:prstGeom prst="line">
              <a:avLst/>
            </a:prstGeom>
            <a:noFill/>
            <a:ln w="6350" cap="flat" cmpd="sng" algn="ctr">
              <a:solidFill>
                <a:srgbClr val="FFFFFF">
                  <a:lumMod val="65000"/>
                </a:srgbClr>
              </a:solidFill>
              <a:prstDash val="solid"/>
              <a:miter lim="800000"/>
            </a:ln>
            <a:effectLst/>
          </p:spPr>
        </p:cxnSp>
        <p:cxnSp>
          <p:nvCxnSpPr>
            <p:cNvPr id="63" name="Straight Connector 62">
              <a:extLst>
                <a:ext uri="{FF2B5EF4-FFF2-40B4-BE49-F238E27FC236}">
                  <a16:creationId xmlns:a16="http://schemas.microsoft.com/office/drawing/2014/main" id="{00BBB453-9868-1D53-D2B0-76A2100F926F}"/>
                </a:ext>
              </a:extLst>
            </p:cNvPr>
            <p:cNvCxnSpPr/>
            <p:nvPr/>
          </p:nvCxnSpPr>
          <p:spPr>
            <a:xfrm>
              <a:off x="9040480" y="2601116"/>
              <a:ext cx="0" cy="2949810"/>
            </a:xfrm>
            <a:prstGeom prst="line">
              <a:avLst/>
            </a:prstGeom>
            <a:noFill/>
            <a:ln w="6350" cap="flat" cmpd="sng" algn="ctr">
              <a:solidFill>
                <a:srgbClr val="FFFFFF">
                  <a:lumMod val="65000"/>
                </a:srgbClr>
              </a:solidFill>
              <a:prstDash val="solid"/>
              <a:miter lim="800000"/>
            </a:ln>
            <a:effectLst/>
          </p:spPr>
        </p:cxnSp>
      </p:grpSp>
      <p:pic>
        <p:nvPicPr>
          <p:cNvPr id="64" name="Picture 291">
            <a:extLst>
              <a:ext uri="{FF2B5EF4-FFF2-40B4-BE49-F238E27FC236}">
                <a16:creationId xmlns:a16="http://schemas.microsoft.com/office/drawing/2014/main" id="{15781848-61D5-1561-C3C3-9B507AD8A4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825" y="5981109"/>
            <a:ext cx="306320" cy="242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 name="Picture 291">
            <a:extLst>
              <a:ext uri="{FF2B5EF4-FFF2-40B4-BE49-F238E27FC236}">
                <a16:creationId xmlns:a16="http://schemas.microsoft.com/office/drawing/2014/main" id="{EA93E02B-3E83-8E19-0F32-10B1780D4E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8640" y="5981109"/>
            <a:ext cx="306320" cy="242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 name="Picture 291">
            <a:extLst>
              <a:ext uri="{FF2B5EF4-FFF2-40B4-BE49-F238E27FC236}">
                <a16:creationId xmlns:a16="http://schemas.microsoft.com/office/drawing/2014/main" id="{6FBB6F9C-25B2-9E88-DA0A-F8E3A0D446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5077" y="5981109"/>
            <a:ext cx="306320" cy="242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 name="Picture 291">
            <a:extLst>
              <a:ext uri="{FF2B5EF4-FFF2-40B4-BE49-F238E27FC236}">
                <a16:creationId xmlns:a16="http://schemas.microsoft.com/office/drawing/2014/main" id="{0210791D-076E-F0EE-6A71-7D533C5CAA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1586" y="5981109"/>
            <a:ext cx="306320" cy="242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 name="Picture 291">
            <a:extLst>
              <a:ext uri="{FF2B5EF4-FFF2-40B4-BE49-F238E27FC236}">
                <a16:creationId xmlns:a16="http://schemas.microsoft.com/office/drawing/2014/main" id="{9271F966-233B-7D91-082D-6CA980B567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88095" y="5981109"/>
            <a:ext cx="306320" cy="242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9" name="Group 68">
            <a:extLst>
              <a:ext uri="{FF2B5EF4-FFF2-40B4-BE49-F238E27FC236}">
                <a16:creationId xmlns:a16="http://schemas.microsoft.com/office/drawing/2014/main" id="{EBD8BAB3-8FE7-1A46-D5A6-E32D70A6F317}"/>
              </a:ext>
            </a:extLst>
          </p:cNvPr>
          <p:cNvGrpSpPr/>
          <p:nvPr/>
        </p:nvGrpSpPr>
        <p:grpSpPr>
          <a:xfrm flipH="1">
            <a:off x="1958466" y="5983095"/>
            <a:ext cx="118349" cy="251858"/>
            <a:chOff x="5870575" y="4786313"/>
            <a:chExt cx="422275" cy="1102814"/>
          </a:xfrm>
          <a:solidFill>
            <a:srgbClr val="FF6503"/>
          </a:solidFill>
        </p:grpSpPr>
        <p:sp>
          <p:nvSpPr>
            <p:cNvPr id="70" name="Freeform 88">
              <a:extLst>
                <a:ext uri="{FF2B5EF4-FFF2-40B4-BE49-F238E27FC236}">
                  <a16:creationId xmlns:a16="http://schemas.microsoft.com/office/drawing/2014/main" id="{C784C802-013F-8076-08AA-2575C24B6553}"/>
                </a:ext>
              </a:extLst>
            </p:cNvPr>
            <p:cNvSpPr>
              <a:spLocks/>
            </p:cNvSpPr>
            <p:nvPr/>
          </p:nvSpPr>
          <p:spPr bwMode="auto">
            <a:xfrm>
              <a:off x="5946775" y="5427663"/>
              <a:ext cx="269875" cy="444500"/>
            </a:xfrm>
            <a:custGeom>
              <a:avLst/>
              <a:gdLst>
                <a:gd name="T0" fmla="*/ 170 w 170"/>
                <a:gd name="T1" fmla="*/ 280 h 280"/>
                <a:gd name="T2" fmla="*/ 0 w 170"/>
                <a:gd name="T3" fmla="*/ 280 h 280"/>
                <a:gd name="T4" fmla="*/ 0 w 170"/>
                <a:gd name="T5" fmla="*/ 0 h 280"/>
                <a:gd name="T6" fmla="*/ 18 w 170"/>
                <a:gd name="T7" fmla="*/ 0 h 280"/>
                <a:gd name="T8" fmla="*/ 18 w 170"/>
                <a:gd name="T9" fmla="*/ 262 h 280"/>
                <a:gd name="T10" fmla="*/ 152 w 170"/>
                <a:gd name="T11" fmla="*/ 262 h 280"/>
                <a:gd name="T12" fmla="*/ 152 w 170"/>
                <a:gd name="T13" fmla="*/ 0 h 280"/>
                <a:gd name="T14" fmla="*/ 170 w 170"/>
                <a:gd name="T15" fmla="*/ 0 h 280"/>
                <a:gd name="T16" fmla="*/ 170 w 170"/>
                <a:gd name="T17" fmla="*/ 28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0" h="280">
                  <a:moveTo>
                    <a:pt x="170" y="280"/>
                  </a:moveTo>
                  <a:lnTo>
                    <a:pt x="0" y="280"/>
                  </a:lnTo>
                  <a:lnTo>
                    <a:pt x="0" y="0"/>
                  </a:lnTo>
                  <a:lnTo>
                    <a:pt x="18" y="0"/>
                  </a:lnTo>
                  <a:lnTo>
                    <a:pt x="18" y="262"/>
                  </a:lnTo>
                  <a:lnTo>
                    <a:pt x="152" y="262"/>
                  </a:lnTo>
                  <a:lnTo>
                    <a:pt x="152" y="0"/>
                  </a:lnTo>
                  <a:lnTo>
                    <a:pt x="170" y="0"/>
                  </a:lnTo>
                  <a:lnTo>
                    <a:pt x="170" y="280"/>
                  </a:lnTo>
                  <a:close/>
                </a:path>
              </a:pathLst>
            </a:custGeom>
            <a:grpFill/>
            <a:ln w="9525">
              <a:no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1" name="Rectangle 89">
              <a:extLst>
                <a:ext uri="{FF2B5EF4-FFF2-40B4-BE49-F238E27FC236}">
                  <a16:creationId xmlns:a16="http://schemas.microsoft.com/office/drawing/2014/main" id="{46AAC3C8-3532-D5CF-DD79-B4E4CB4C2345}"/>
                </a:ext>
              </a:extLst>
            </p:cNvPr>
            <p:cNvSpPr>
              <a:spLocks noChangeArrowheads="1"/>
            </p:cNvSpPr>
            <p:nvPr/>
          </p:nvSpPr>
          <p:spPr bwMode="auto">
            <a:xfrm>
              <a:off x="6067428" y="5543051"/>
              <a:ext cx="28575" cy="346076"/>
            </a:xfrm>
            <a:prstGeom prst="rect">
              <a:avLst/>
            </a:prstGeom>
            <a:grpFill/>
            <a:ln w="9525">
              <a:noFill/>
              <a:miter lim="800000"/>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2" name="Freeform 90">
              <a:extLst>
                <a:ext uri="{FF2B5EF4-FFF2-40B4-BE49-F238E27FC236}">
                  <a16:creationId xmlns:a16="http://schemas.microsoft.com/office/drawing/2014/main" id="{0ED27AFB-0F98-FF75-16F5-2969CC14C268}"/>
                </a:ext>
              </a:extLst>
            </p:cNvPr>
            <p:cNvSpPr>
              <a:spLocks/>
            </p:cNvSpPr>
            <p:nvPr/>
          </p:nvSpPr>
          <p:spPr bwMode="auto">
            <a:xfrm>
              <a:off x="5870575" y="5043488"/>
              <a:ext cx="292100" cy="457200"/>
            </a:xfrm>
            <a:custGeom>
              <a:avLst/>
              <a:gdLst>
                <a:gd name="T0" fmla="*/ 62 w 184"/>
                <a:gd name="T1" fmla="*/ 288 h 288"/>
                <a:gd name="T2" fmla="*/ 0 w 184"/>
                <a:gd name="T3" fmla="*/ 288 h 288"/>
                <a:gd name="T4" fmla="*/ 0 w 184"/>
                <a:gd name="T5" fmla="*/ 68 h 288"/>
                <a:gd name="T6" fmla="*/ 0 w 184"/>
                <a:gd name="T7" fmla="*/ 68 h 288"/>
                <a:gd name="T8" fmla="*/ 2 w 184"/>
                <a:gd name="T9" fmla="*/ 54 h 288"/>
                <a:gd name="T10" fmla="*/ 6 w 184"/>
                <a:gd name="T11" fmla="*/ 42 h 288"/>
                <a:gd name="T12" fmla="*/ 12 w 184"/>
                <a:gd name="T13" fmla="*/ 30 h 288"/>
                <a:gd name="T14" fmla="*/ 20 w 184"/>
                <a:gd name="T15" fmla="*/ 20 h 288"/>
                <a:gd name="T16" fmla="*/ 30 w 184"/>
                <a:gd name="T17" fmla="*/ 12 h 288"/>
                <a:gd name="T18" fmla="*/ 42 w 184"/>
                <a:gd name="T19" fmla="*/ 6 h 288"/>
                <a:gd name="T20" fmla="*/ 54 w 184"/>
                <a:gd name="T21" fmla="*/ 2 h 288"/>
                <a:gd name="T22" fmla="*/ 68 w 184"/>
                <a:gd name="T23" fmla="*/ 0 h 288"/>
                <a:gd name="T24" fmla="*/ 184 w 184"/>
                <a:gd name="T25" fmla="*/ 0 h 288"/>
                <a:gd name="T26" fmla="*/ 184 w 184"/>
                <a:gd name="T27" fmla="*/ 18 h 288"/>
                <a:gd name="T28" fmla="*/ 68 w 184"/>
                <a:gd name="T29" fmla="*/ 18 h 288"/>
                <a:gd name="T30" fmla="*/ 68 w 184"/>
                <a:gd name="T31" fmla="*/ 18 h 288"/>
                <a:gd name="T32" fmla="*/ 58 w 184"/>
                <a:gd name="T33" fmla="*/ 20 h 288"/>
                <a:gd name="T34" fmla="*/ 48 w 184"/>
                <a:gd name="T35" fmla="*/ 22 h 288"/>
                <a:gd name="T36" fmla="*/ 40 w 184"/>
                <a:gd name="T37" fmla="*/ 28 h 288"/>
                <a:gd name="T38" fmla="*/ 32 w 184"/>
                <a:gd name="T39" fmla="*/ 34 h 288"/>
                <a:gd name="T40" fmla="*/ 26 w 184"/>
                <a:gd name="T41" fmla="*/ 40 h 288"/>
                <a:gd name="T42" fmla="*/ 22 w 184"/>
                <a:gd name="T43" fmla="*/ 48 h 288"/>
                <a:gd name="T44" fmla="*/ 20 w 184"/>
                <a:gd name="T45" fmla="*/ 58 h 288"/>
                <a:gd name="T46" fmla="*/ 18 w 184"/>
                <a:gd name="T47" fmla="*/ 68 h 288"/>
                <a:gd name="T48" fmla="*/ 18 w 184"/>
                <a:gd name="T49" fmla="*/ 270 h 288"/>
                <a:gd name="T50" fmla="*/ 62 w 184"/>
                <a:gd name="T51" fmla="*/ 270 h 288"/>
                <a:gd name="T52" fmla="*/ 62 w 184"/>
                <a:gd name="T53"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4" h="288">
                  <a:moveTo>
                    <a:pt x="62" y="288"/>
                  </a:moveTo>
                  <a:lnTo>
                    <a:pt x="0" y="288"/>
                  </a:lnTo>
                  <a:lnTo>
                    <a:pt x="0" y="68"/>
                  </a:lnTo>
                  <a:lnTo>
                    <a:pt x="0" y="68"/>
                  </a:lnTo>
                  <a:lnTo>
                    <a:pt x="2" y="54"/>
                  </a:lnTo>
                  <a:lnTo>
                    <a:pt x="6" y="42"/>
                  </a:lnTo>
                  <a:lnTo>
                    <a:pt x="12" y="30"/>
                  </a:lnTo>
                  <a:lnTo>
                    <a:pt x="20" y="20"/>
                  </a:lnTo>
                  <a:lnTo>
                    <a:pt x="30" y="12"/>
                  </a:lnTo>
                  <a:lnTo>
                    <a:pt x="42" y="6"/>
                  </a:lnTo>
                  <a:lnTo>
                    <a:pt x="54" y="2"/>
                  </a:lnTo>
                  <a:lnTo>
                    <a:pt x="68" y="0"/>
                  </a:lnTo>
                  <a:lnTo>
                    <a:pt x="184" y="0"/>
                  </a:lnTo>
                  <a:lnTo>
                    <a:pt x="184" y="18"/>
                  </a:lnTo>
                  <a:lnTo>
                    <a:pt x="68" y="18"/>
                  </a:lnTo>
                  <a:lnTo>
                    <a:pt x="68" y="18"/>
                  </a:lnTo>
                  <a:lnTo>
                    <a:pt x="58" y="20"/>
                  </a:lnTo>
                  <a:lnTo>
                    <a:pt x="48" y="22"/>
                  </a:lnTo>
                  <a:lnTo>
                    <a:pt x="40" y="28"/>
                  </a:lnTo>
                  <a:lnTo>
                    <a:pt x="32" y="34"/>
                  </a:lnTo>
                  <a:lnTo>
                    <a:pt x="26" y="40"/>
                  </a:lnTo>
                  <a:lnTo>
                    <a:pt x="22" y="48"/>
                  </a:lnTo>
                  <a:lnTo>
                    <a:pt x="20" y="58"/>
                  </a:lnTo>
                  <a:lnTo>
                    <a:pt x="18" y="68"/>
                  </a:lnTo>
                  <a:lnTo>
                    <a:pt x="18" y="270"/>
                  </a:lnTo>
                  <a:lnTo>
                    <a:pt x="62" y="270"/>
                  </a:lnTo>
                  <a:lnTo>
                    <a:pt x="62" y="288"/>
                  </a:lnTo>
                  <a:close/>
                </a:path>
              </a:pathLst>
            </a:custGeom>
            <a:grpFill/>
            <a:ln w="9525">
              <a:no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3" name="Freeform 91">
              <a:extLst>
                <a:ext uri="{FF2B5EF4-FFF2-40B4-BE49-F238E27FC236}">
                  <a16:creationId xmlns:a16="http://schemas.microsoft.com/office/drawing/2014/main" id="{D4DDF03D-987A-34F9-F1B0-39CC77030BFD}"/>
                </a:ext>
              </a:extLst>
            </p:cNvPr>
            <p:cNvSpPr>
              <a:spLocks/>
            </p:cNvSpPr>
            <p:nvPr/>
          </p:nvSpPr>
          <p:spPr bwMode="auto">
            <a:xfrm>
              <a:off x="5994400" y="5043488"/>
              <a:ext cx="298450" cy="457200"/>
            </a:xfrm>
            <a:custGeom>
              <a:avLst/>
              <a:gdLst>
                <a:gd name="T0" fmla="*/ 188 w 188"/>
                <a:gd name="T1" fmla="*/ 288 h 288"/>
                <a:gd name="T2" fmla="*/ 126 w 188"/>
                <a:gd name="T3" fmla="*/ 288 h 288"/>
                <a:gd name="T4" fmla="*/ 126 w 188"/>
                <a:gd name="T5" fmla="*/ 270 h 288"/>
                <a:gd name="T6" fmla="*/ 170 w 188"/>
                <a:gd name="T7" fmla="*/ 270 h 288"/>
                <a:gd name="T8" fmla="*/ 170 w 188"/>
                <a:gd name="T9" fmla="*/ 68 h 288"/>
                <a:gd name="T10" fmla="*/ 170 w 188"/>
                <a:gd name="T11" fmla="*/ 68 h 288"/>
                <a:gd name="T12" fmla="*/ 170 w 188"/>
                <a:gd name="T13" fmla="*/ 58 h 288"/>
                <a:gd name="T14" fmla="*/ 166 w 188"/>
                <a:gd name="T15" fmla="*/ 48 h 288"/>
                <a:gd name="T16" fmla="*/ 162 w 188"/>
                <a:gd name="T17" fmla="*/ 40 h 288"/>
                <a:gd name="T18" fmla="*/ 156 w 188"/>
                <a:gd name="T19" fmla="*/ 34 h 288"/>
                <a:gd name="T20" fmla="*/ 148 w 188"/>
                <a:gd name="T21" fmla="*/ 28 h 288"/>
                <a:gd name="T22" fmla="*/ 140 w 188"/>
                <a:gd name="T23" fmla="*/ 22 h 288"/>
                <a:gd name="T24" fmla="*/ 130 w 188"/>
                <a:gd name="T25" fmla="*/ 20 h 288"/>
                <a:gd name="T26" fmla="*/ 120 w 188"/>
                <a:gd name="T27" fmla="*/ 18 h 288"/>
                <a:gd name="T28" fmla="*/ 0 w 188"/>
                <a:gd name="T29" fmla="*/ 18 h 288"/>
                <a:gd name="T30" fmla="*/ 0 w 188"/>
                <a:gd name="T31" fmla="*/ 0 h 288"/>
                <a:gd name="T32" fmla="*/ 120 w 188"/>
                <a:gd name="T33" fmla="*/ 0 h 288"/>
                <a:gd name="T34" fmla="*/ 120 w 188"/>
                <a:gd name="T35" fmla="*/ 0 h 288"/>
                <a:gd name="T36" fmla="*/ 134 w 188"/>
                <a:gd name="T37" fmla="*/ 2 h 288"/>
                <a:gd name="T38" fmla="*/ 146 w 188"/>
                <a:gd name="T39" fmla="*/ 6 h 288"/>
                <a:gd name="T40" fmla="*/ 158 w 188"/>
                <a:gd name="T41" fmla="*/ 12 h 288"/>
                <a:gd name="T42" fmla="*/ 168 w 188"/>
                <a:gd name="T43" fmla="*/ 20 h 288"/>
                <a:gd name="T44" fmla="*/ 176 w 188"/>
                <a:gd name="T45" fmla="*/ 30 h 288"/>
                <a:gd name="T46" fmla="*/ 182 w 188"/>
                <a:gd name="T47" fmla="*/ 42 h 288"/>
                <a:gd name="T48" fmla="*/ 186 w 188"/>
                <a:gd name="T49" fmla="*/ 54 h 288"/>
                <a:gd name="T50" fmla="*/ 188 w 188"/>
                <a:gd name="T51" fmla="*/ 68 h 288"/>
                <a:gd name="T52" fmla="*/ 188 w 188"/>
                <a:gd name="T53"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8" h="288">
                  <a:moveTo>
                    <a:pt x="188" y="288"/>
                  </a:moveTo>
                  <a:lnTo>
                    <a:pt x="126" y="288"/>
                  </a:lnTo>
                  <a:lnTo>
                    <a:pt x="126" y="270"/>
                  </a:lnTo>
                  <a:lnTo>
                    <a:pt x="170" y="270"/>
                  </a:lnTo>
                  <a:lnTo>
                    <a:pt x="170" y="68"/>
                  </a:lnTo>
                  <a:lnTo>
                    <a:pt x="170" y="68"/>
                  </a:lnTo>
                  <a:lnTo>
                    <a:pt x="170" y="58"/>
                  </a:lnTo>
                  <a:lnTo>
                    <a:pt x="166" y="48"/>
                  </a:lnTo>
                  <a:lnTo>
                    <a:pt x="162" y="40"/>
                  </a:lnTo>
                  <a:lnTo>
                    <a:pt x="156" y="34"/>
                  </a:lnTo>
                  <a:lnTo>
                    <a:pt x="148" y="28"/>
                  </a:lnTo>
                  <a:lnTo>
                    <a:pt x="140" y="22"/>
                  </a:lnTo>
                  <a:lnTo>
                    <a:pt x="130" y="20"/>
                  </a:lnTo>
                  <a:lnTo>
                    <a:pt x="120" y="18"/>
                  </a:lnTo>
                  <a:lnTo>
                    <a:pt x="0" y="18"/>
                  </a:lnTo>
                  <a:lnTo>
                    <a:pt x="0" y="0"/>
                  </a:lnTo>
                  <a:lnTo>
                    <a:pt x="120" y="0"/>
                  </a:lnTo>
                  <a:lnTo>
                    <a:pt x="120" y="0"/>
                  </a:lnTo>
                  <a:lnTo>
                    <a:pt x="134" y="2"/>
                  </a:lnTo>
                  <a:lnTo>
                    <a:pt x="146" y="6"/>
                  </a:lnTo>
                  <a:lnTo>
                    <a:pt x="158" y="12"/>
                  </a:lnTo>
                  <a:lnTo>
                    <a:pt x="168" y="20"/>
                  </a:lnTo>
                  <a:lnTo>
                    <a:pt x="176" y="30"/>
                  </a:lnTo>
                  <a:lnTo>
                    <a:pt x="182" y="42"/>
                  </a:lnTo>
                  <a:lnTo>
                    <a:pt x="186" y="54"/>
                  </a:lnTo>
                  <a:lnTo>
                    <a:pt x="188" y="68"/>
                  </a:lnTo>
                  <a:lnTo>
                    <a:pt x="188" y="288"/>
                  </a:lnTo>
                  <a:close/>
                </a:path>
              </a:pathLst>
            </a:custGeom>
            <a:grpFill/>
            <a:ln w="9525">
              <a:no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4" name="Freeform 92">
              <a:extLst>
                <a:ext uri="{FF2B5EF4-FFF2-40B4-BE49-F238E27FC236}">
                  <a16:creationId xmlns:a16="http://schemas.microsoft.com/office/drawing/2014/main" id="{D631EC76-5655-ADFC-7C77-331590BD09FA}"/>
                </a:ext>
              </a:extLst>
            </p:cNvPr>
            <p:cNvSpPr>
              <a:spLocks noEditPoints="1"/>
            </p:cNvSpPr>
            <p:nvPr/>
          </p:nvSpPr>
          <p:spPr bwMode="auto">
            <a:xfrm>
              <a:off x="5969000" y="4786313"/>
              <a:ext cx="225425" cy="225425"/>
            </a:xfrm>
            <a:custGeom>
              <a:avLst/>
              <a:gdLst>
                <a:gd name="T0" fmla="*/ 72 w 142"/>
                <a:gd name="T1" fmla="*/ 142 h 142"/>
                <a:gd name="T2" fmla="*/ 44 w 142"/>
                <a:gd name="T3" fmla="*/ 138 h 142"/>
                <a:gd name="T4" fmla="*/ 20 w 142"/>
                <a:gd name="T5" fmla="*/ 122 h 142"/>
                <a:gd name="T6" fmla="*/ 6 w 142"/>
                <a:gd name="T7" fmla="*/ 100 h 142"/>
                <a:gd name="T8" fmla="*/ 0 w 142"/>
                <a:gd name="T9" fmla="*/ 72 h 142"/>
                <a:gd name="T10" fmla="*/ 2 w 142"/>
                <a:gd name="T11" fmla="*/ 58 h 142"/>
                <a:gd name="T12" fmla="*/ 12 w 142"/>
                <a:gd name="T13" fmla="*/ 32 h 142"/>
                <a:gd name="T14" fmla="*/ 32 w 142"/>
                <a:gd name="T15" fmla="*/ 12 h 142"/>
                <a:gd name="T16" fmla="*/ 56 w 142"/>
                <a:gd name="T17" fmla="*/ 2 h 142"/>
                <a:gd name="T18" fmla="*/ 72 w 142"/>
                <a:gd name="T19" fmla="*/ 0 h 142"/>
                <a:gd name="T20" fmla="*/ 98 w 142"/>
                <a:gd name="T21" fmla="*/ 6 h 142"/>
                <a:gd name="T22" fmla="*/ 122 w 142"/>
                <a:gd name="T23" fmla="*/ 22 h 142"/>
                <a:gd name="T24" fmla="*/ 136 w 142"/>
                <a:gd name="T25" fmla="*/ 44 h 142"/>
                <a:gd name="T26" fmla="*/ 142 w 142"/>
                <a:gd name="T27" fmla="*/ 72 h 142"/>
                <a:gd name="T28" fmla="*/ 140 w 142"/>
                <a:gd name="T29" fmla="*/ 86 h 142"/>
                <a:gd name="T30" fmla="*/ 130 w 142"/>
                <a:gd name="T31" fmla="*/ 112 h 142"/>
                <a:gd name="T32" fmla="*/ 110 w 142"/>
                <a:gd name="T33" fmla="*/ 130 h 142"/>
                <a:gd name="T34" fmla="*/ 86 w 142"/>
                <a:gd name="T35" fmla="*/ 142 h 142"/>
                <a:gd name="T36" fmla="*/ 72 w 142"/>
                <a:gd name="T37" fmla="*/ 142 h 142"/>
                <a:gd name="T38" fmla="*/ 72 w 142"/>
                <a:gd name="T39" fmla="*/ 18 h 142"/>
                <a:gd name="T40" fmla="*/ 50 w 142"/>
                <a:gd name="T41" fmla="*/ 22 h 142"/>
                <a:gd name="T42" fmla="*/ 34 w 142"/>
                <a:gd name="T43" fmla="*/ 34 h 142"/>
                <a:gd name="T44" fmla="*/ 22 w 142"/>
                <a:gd name="T45" fmla="*/ 52 h 142"/>
                <a:gd name="T46" fmla="*/ 18 w 142"/>
                <a:gd name="T47" fmla="*/ 72 h 142"/>
                <a:gd name="T48" fmla="*/ 20 w 142"/>
                <a:gd name="T49" fmla="*/ 82 h 142"/>
                <a:gd name="T50" fmla="*/ 28 w 142"/>
                <a:gd name="T51" fmla="*/ 102 h 142"/>
                <a:gd name="T52" fmla="*/ 42 w 142"/>
                <a:gd name="T53" fmla="*/ 116 h 142"/>
                <a:gd name="T54" fmla="*/ 60 w 142"/>
                <a:gd name="T55" fmla="*/ 124 h 142"/>
                <a:gd name="T56" fmla="*/ 72 w 142"/>
                <a:gd name="T57" fmla="*/ 124 h 142"/>
                <a:gd name="T58" fmla="*/ 92 w 142"/>
                <a:gd name="T59" fmla="*/ 120 h 142"/>
                <a:gd name="T60" fmla="*/ 108 w 142"/>
                <a:gd name="T61" fmla="*/ 110 h 142"/>
                <a:gd name="T62" fmla="*/ 120 w 142"/>
                <a:gd name="T63" fmla="*/ 92 h 142"/>
                <a:gd name="T64" fmla="*/ 124 w 142"/>
                <a:gd name="T65" fmla="*/ 72 h 142"/>
                <a:gd name="T66" fmla="*/ 124 w 142"/>
                <a:gd name="T67" fmla="*/ 62 h 142"/>
                <a:gd name="T68" fmla="*/ 116 w 142"/>
                <a:gd name="T69" fmla="*/ 42 h 142"/>
                <a:gd name="T70" fmla="*/ 100 w 142"/>
                <a:gd name="T71" fmla="*/ 28 h 142"/>
                <a:gd name="T72" fmla="*/ 82 w 142"/>
                <a:gd name="T73" fmla="*/ 20 h 142"/>
                <a:gd name="T74" fmla="*/ 72 w 142"/>
                <a:gd name="T75" fmla="*/ 18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2" h="142">
                  <a:moveTo>
                    <a:pt x="72" y="142"/>
                  </a:moveTo>
                  <a:lnTo>
                    <a:pt x="72" y="142"/>
                  </a:lnTo>
                  <a:lnTo>
                    <a:pt x="56" y="142"/>
                  </a:lnTo>
                  <a:lnTo>
                    <a:pt x="44" y="138"/>
                  </a:lnTo>
                  <a:lnTo>
                    <a:pt x="32" y="130"/>
                  </a:lnTo>
                  <a:lnTo>
                    <a:pt x="20" y="122"/>
                  </a:lnTo>
                  <a:lnTo>
                    <a:pt x="12" y="112"/>
                  </a:lnTo>
                  <a:lnTo>
                    <a:pt x="6" y="100"/>
                  </a:lnTo>
                  <a:lnTo>
                    <a:pt x="2" y="86"/>
                  </a:lnTo>
                  <a:lnTo>
                    <a:pt x="0" y="72"/>
                  </a:lnTo>
                  <a:lnTo>
                    <a:pt x="0" y="72"/>
                  </a:lnTo>
                  <a:lnTo>
                    <a:pt x="2" y="58"/>
                  </a:lnTo>
                  <a:lnTo>
                    <a:pt x="6" y="44"/>
                  </a:lnTo>
                  <a:lnTo>
                    <a:pt x="12" y="32"/>
                  </a:lnTo>
                  <a:lnTo>
                    <a:pt x="20" y="22"/>
                  </a:lnTo>
                  <a:lnTo>
                    <a:pt x="32" y="12"/>
                  </a:lnTo>
                  <a:lnTo>
                    <a:pt x="44" y="6"/>
                  </a:lnTo>
                  <a:lnTo>
                    <a:pt x="56" y="2"/>
                  </a:lnTo>
                  <a:lnTo>
                    <a:pt x="72" y="0"/>
                  </a:lnTo>
                  <a:lnTo>
                    <a:pt x="72" y="0"/>
                  </a:lnTo>
                  <a:lnTo>
                    <a:pt x="86" y="2"/>
                  </a:lnTo>
                  <a:lnTo>
                    <a:pt x="98" y="6"/>
                  </a:lnTo>
                  <a:lnTo>
                    <a:pt x="110" y="12"/>
                  </a:lnTo>
                  <a:lnTo>
                    <a:pt x="122" y="22"/>
                  </a:lnTo>
                  <a:lnTo>
                    <a:pt x="130" y="32"/>
                  </a:lnTo>
                  <a:lnTo>
                    <a:pt x="136" y="44"/>
                  </a:lnTo>
                  <a:lnTo>
                    <a:pt x="140" y="58"/>
                  </a:lnTo>
                  <a:lnTo>
                    <a:pt x="142" y="72"/>
                  </a:lnTo>
                  <a:lnTo>
                    <a:pt x="142" y="72"/>
                  </a:lnTo>
                  <a:lnTo>
                    <a:pt x="140" y="86"/>
                  </a:lnTo>
                  <a:lnTo>
                    <a:pt x="136" y="100"/>
                  </a:lnTo>
                  <a:lnTo>
                    <a:pt x="130" y="112"/>
                  </a:lnTo>
                  <a:lnTo>
                    <a:pt x="122" y="122"/>
                  </a:lnTo>
                  <a:lnTo>
                    <a:pt x="110" y="130"/>
                  </a:lnTo>
                  <a:lnTo>
                    <a:pt x="98" y="138"/>
                  </a:lnTo>
                  <a:lnTo>
                    <a:pt x="86" y="142"/>
                  </a:lnTo>
                  <a:lnTo>
                    <a:pt x="72" y="142"/>
                  </a:lnTo>
                  <a:lnTo>
                    <a:pt x="72" y="142"/>
                  </a:lnTo>
                  <a:close/>
                  <a:moveTo>
                    <a:pt x="72" y="18"/>
                  </a:moveTo>
                  <a:lnTo>
                    <a:pt x="72" y="18"/>
                  </a:lnTo>
                  <a:lnTo>
                    <a:pt x="60" y="20"/>
                  </a:lnTo>
                  <a:lnTo>
                    <a:pt x="50" y="22"/>
                  </a:lnTo>
                  <a:lnTo>
                    <a:pt x="42" y="28"/>
                  </a:lnTo>
                  <a:lnTo>
                    <a:pt x="34" y="34"/>
                  </a:lnTo>
                  <a:lnTo>
                    <a:pt x="28" y="42"/>
                  </a:lnTo>
                  <a:lnTo>
                    <a:pt x="22" y="52"/>
                  </a:lnTo>
                  <a:lnTo>
                    <a:pt x="20" y="62"/>
                  </a:lnTo>
                  <a:lnTo>
                    <a:pt x="18" y="72"/>
                  </a:lnTo>
                  <a:lnTo>
                    <a:pt x="18" y="72"/>
                  </a:lnTo>
                  <a:lnTo>
                    <a:pt x="20" y="82"/>
                  </a:lnTo>
                  <a:lnTo>
                    <a:pt x="22" y="92"/>
                  </a:lnTo>
                  <a:lnTo>
                    <a:pt x="28" y="102"/>
                  </a:lnTo>
                  <a:lnTo>
                    <a:pt x="34" y="110"/>
                  </a:lnTo>
                  <a:lnTo>
                    <a:pt x="42" y="116"/>
                  </a:lnTo>
                  <a:lnTo>
                    <a:pt x="50" y="120"/>
                  </a:lnTo>
                  <a:lnTo>
                    <a:pt x="60" y="124"/>
                  </a:lnTo>
                  <a:lnTo>
                    <a:pt x="72" y="124"/>
                  </a:lnTo>
                  <a:lnTo>
                    <a:pt x="72" y="124"/>
                  </a:lnTo>
                  <a:lnTo>
                    <a:pt x="82" y="124"/>
                  </a:lnTo>
                  <a:lnTo>
                    <a:pt x="92" y="120"/>
                  </a:lnTo>
                  <a:lnTo>
                    <a:pt x="100" y="116"/>
                  </a:lnTo>
                  <a:lnTo>
                    <a:pt x="108" y="110"/>
                  </a:lnTo>
                  <a:lnTo>
                    <a:pt x="116" y="102"/>
                  </a:lnTo>
                  <a:lnTo>
                    <a:pt x="120" y="92"/>
                  </a:lnTo>
                  <a:lnTo>
                    <a:pt x="124" y="82"/>
                  </a:lnTo>
                  <a:lnTo>
                    <a:pt x="124" y="72"/>
                  </a:lnTo>
                  <a:lnTo>
                    <a:pt x="124" y="72"/>
                  </a:lnTo>
                  <a:lnTo>
                    <a:pt x="124" y="62"/>
                  </a:lnTo>
                  <a:lnTo>
                    <a:pt x="120" y="52"/>
                  </a:lnTo>
                  <a:lnTo>
                    <a:pt x="116" y="42"/>
                  </a:lnTo>
                  <a:lnTo>
                    <a:pt x="108" y="34"/>
                  </a:lnTo>
                  <a:lnTo>
                    <a:pt x="100" y="28"/>
                  </a:lnTo>
                  <a:lnTo>
                    <a:pt x="92" y="22"/>
                  </a:lnTo>
                  <a:lnTo>
                    <a:pt x="82" y="20"/>
                  </a:lnTo>
                  <a:lnTo>
                    <a:pt x="72" y="18"/>
                  </a:lnTo>
                  <a:lnTo>
                    <a:pt x="72" y="18"/>
                  </a:lnTo>
                  <a:close/>
                </a:path>
              </a:pathLst>
            </a:custGeom>
            <a:grpFill/>
            <a:ln w="9525">
              <a:no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5" name="Rectangle 93">
              <a:extLst>
                <a:ext uri="{FF2B5EF4-FFF2-40B4-BE49-F238E27FC236}">
                  <a16:creationId xmlns:a16="http://schemas.microsoft.com/office/drawing/2014/main" id="{B51369C2-8C5B-3978-A191-2CFFCE2234E0}"/>
                </a:ext>
              </a:extLst>
            </p:cNvPr>
            <p:cNvSpPr>
              <a:spLocks noChangeArrowheads="1"/>
            </p:cNvSpPr>
            <p:nvPr/>
          </p:nvSpPr>
          <p:spPr bwMode="auto">
            <a:xfrm>
              <a:off x="6067425" y="5145088"/>
              <a:ext cx="28575" cy="31750"/>
            </a:xfrm>
            <a:prstGeom prst="rect">
              <a:avLst/>
            </a:prstGeom>
            <a:grpFill/>
            <a:ln w="9525">
              <a:noFill/>
              <a:miter lim="800000"/>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6" name="Rectangle 94">
              <a:extLst>
                <a:ext uri="{FF2B5EF4-FFF2-40B4-BE49-F238E27FC236}">
                  <a16:creationId xmlns:a16="http://schemas.microsoft.com/office/drawing/2014/main" id="{EE7AE87F-661B-568A-D6FE-171CC97215AB}"/>
                </a:ext>
              </a:extLst>
            </p:cNvPr>
            <p:cNvSpPr>
              <a:spLocks noChangeArrowheads="1"/>
            </p:cNvSpPr>
            <p:nvPr/>
          </p:nvSpPr>
          <p:spPr bwMode="auto">
            <a:xfrm>
              <a:off x="6067425" y="5208588"/>
              <a:ext cx="28575" cy="34925"/>
            </a:xfrm>
            <a:prstGeom prst="rect">
              <a:avLst/>
            </a:prstGeom>
            <a:grpFill/>
            <a:ln w="9525">
              <a:noFill/>
              <a:miter lim="800000"/>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7" name="Rectangle 95">
              <a:extLst>
                <a:ext uri="{FF2B5EF4-FFF2-40B4-BE49-F238E27FC236}">
                  <a16:creationId xmlns:a16="http://schemas.microsoft.com/office/drawing/2014/main" id="{F33E0111-C9FB-7CD6-DF5A-FC9B14AC8837}"/>
                </a:ext>
              </a:extLst>
            </p:cNvPr>
            <p:cNvSpPr>
              <a:spLocks noChangeArrowheads="1"/>
            </p:cNvSpPr>
            <p:nvPr/>
          </p:nvSpPr>
          <p:spPr bwMode="auto">
            <a:xfrm>
              <a:off x="6067425" y="5275263"/>
              <a:ext cx="28575" cy="31750"/>
            </a:xfrm>
            <a:prstGeom prst="rect">
              <a:avLst/>
            </a:prstGeom>
            <a:grpFill/>
            <a:ln w="9525">
              <a:noFill/>
              <a:miter lim="800000"/>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grpSp>
      <p:grpSp>
        <p:nvGrpSpPr>
          <p:cNvPr id="78" name="Group 77">
            <a:extLst>
              <a:ext uri="{FF2B5EF4-FFF2-40B4-BE49-F238E27FC236}">
                <a16:creationId xmlns:a16="http://schemas.microsoft.com/office/drawing/2014/main" id="{6B6BD3AA-BD9F-F12E-A03C-417A59683ACC}"/>
              </a:ext>
            </a:extLst>
          </p:cNvPr>
          <p:cNvGrpSpPr/>
          <p:nvPr/>
        </p:nvGrpSpPr>
        <p:grpSpPr>
          <a:xfrm flipH="1">
            <a:off x="3426489" y="5983095"/>
            <a:ext cx="118349" cy="251858"/>
            <a:chOff x="5870575" y="4786313"/>
            <a:chExt cx="422275" cy="1102814"/>
          </a:xfrm>
          <a:solidFill>
            <a:srgbClr val="FF6503"/>
          </a:solidFill>
        </p:grpSpPr>
        <p:sp>
          <p:nvSpPr>
            <p:cNvPr id="79" name="Freeform 88">
              <a:extLst>
                <a:ext uri="{FF2B5EF4-FFF2-40B4-BE49-F238E27FC236}">
                  <a16:creationId xmlns:a16="http://schemas.microsoft.com/office/drawing/2014/main" id="{31F639B8-AA73-7840-AEF2-79A041202C62}"/>
                </a:ext>
              </a:extLst>
            </p:cNvPr>
            <p:cNvSpPr>
              <a:spLocks/>
            </p:cNvSpPr>
            <p:nvPr/>
          </p:nvSpPr>
          <p:spPr bwMode="auto">
            <a:xfrm>
              <a:off x="5946775" y="5427663"/>
              <a:ext cx="269875" cy="444500"/>
            </a:xfrm>
            <a:custGeom>
              <a:avLst/>
              <a:gdLst>
                <a:gd name="T0" fmla="*/ 170 w 170"/>
                <a:gd name="T1" fmla="*/ 280 h 280"/>
                <a:gd name="T2" fmla="*/ 0 w 170"/>
                <a:gd name="T3" fmla="*/ 280 h 280"/>
                <a:gd name="T4" fmla="*/ 0 w 170"/>
                <a:gd name="T5" fmla="*/ 0 h 280"/>
                <a:gd name="T6" fmla="*/ 18 w 170"/>
                <a:gd name="T7" fmla="*/ 0 h 280"/>
                <a:gd name="T8" fmla="*/ 18 w 170"/>
                <a:gd name="T9" fmla="*/ 262 h 280"/>
                <a:gd name="T10" fmla="*/ 152 w 170"/>
                <a:gd name="T11" fmla="*/ 262 h 280"/>
                <a:gd name="T12" fmla="*/ 152 w 170"/>
                <a:gd name="T13" fmla="*/ 0 h 280"/>
                <a:gd name="T14" fmla="*/ 170 w 170"/>
                <a:gd name="T15" fmla="*/ 0 h 280"/>
                <a:gd name="T16" fmla="*/ 170 w 170"/>
                <a:gd name="T17" fmla="*/ 28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0" h="280">
                  <a:moveTo>
                    <a:pt x="170" y="280"/>
                  </a:moveTo>
                  <a:lnTo>
                    <a:pt x="0" y="280"/>
                  </a:lnTo>
                  <a:lnTo>
                    <a:pt x="0" y="0"/>
                  </a:lnTo>
                  <a:lnTo>
                    <a:pt x="18" y="0"/>
                  </a:lnTo>
                  <a:lnTo>
                    <a:pt x="18" y="262"/>
                  </a:lnTo>
                  <a:lnTo>
                    <a:pt x="152" y="262"/>
                  </a:lnTo>
                  <a:lnTo>
                    <a:pt x="152" y="0"/>
                  </a:lnTo>
                  <a:lnTo>
                    <a:pt x="170" y="0"/>
                  </a:lnTo>
                  <a:lnTo>
                    <a:pt x="170" y="280"/>
                  </a:lnTo>
                  <a:close/>
                </a:path>
              </a:pathLst>
            </a:custGeom>
            <a:grpFill/>
            <a:ln w="9525">
              <a:no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80" name="Rectangle 89">
              <a:extLst>
                <a:ext uri="{FF2B5EF4-FFF2-40B4-BE49-F238E27FC236}">
                  <a16:creationId xmlns:a16="http://schemas.microsoft.com/office/drawing/2014/main" id="{AD5BB99B-4831-0B5F-0B85-3647FEECC73D}"/>
                </a:ext>
              </a:extLst>
            </p:cNvPr>
            <p:cNvSpPr>
              <a:spLocks noChangeArrowheads="1"/>
            </p:cNvSpPr>
            <p:nvPr/>
          </p:nvSpPr>
          <p:spPr bwMode="auto">
            <a:xfrm>
              <a:off x="6067428" y="5543051"/>
              <a:ext cx="28575" cy="346076"/>
            </a:xfrm>
            <a:prstGeom prst="rect">
              <a:avLst/>
            </a:prstGeom>
            <a:grpFill/>
            <a:ln w="9525">
              <a:noFill/>
              <a:miter lim="800000"/>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81" name="Freeform 90">
              <a:extLst>
                <a:ext uri="{FF2B5EF4-FFF2-40B4-BE49-F238E27FC236}">
                  <a16:creationId xmlns:a16="http://schemas.microsoft.com/office/drawing/2014/main" id="{3D1F9F82-1383-2083-C969-FFF2C5F1D6AA}"/>
                </a:ext>
              </a:extLst>
            </p:cNvPr>
            <p:cNvSpPr>
              <a:spLocks/>
            </p:cNvSpPr>
            <p:nvPr/>
          </p:nvSpPr>
          <p:spPr bwMode="auto">
            <a:xfrm>
              <a:off x="5870575" y="5043488"/>
              <a:ext cx="292100" cy="457200"/>
            </a:xfrm>
            <a:custGeom>
              <a:avLst/>
              <a:gdLst>
                <a:gd name="T0" fmla="*/ 62 w 184"/>
                <a:gd name="T1" fmla="*/ 288 h 288"/>
                <a:gd name="T2" fmla="*/ 0 w 184"/>
                <a:gd name="T3" fmla="*/ 288 h 288"/>
                <a:gd name="T4" fmla="*/ 0 w 184"/>
                <a:gd name="T5" fmla="*/ 68 h 288"/>
                <a:gd name="T6" fmla="*/ 0 w 184"/>
                <a:gd name="T7" fmla="*/ 68 h 288"/>
                <a:gd name="T8" fmla="*/ 2 w 184"/>
                <a:gd name="T9" fmla="*/ 54 h 288"/>
                <a:gd name="T10" fmla="*/ 6 w 184"/>
                <a:gd name="T11" fmla="*/ 42 h 288"/>
                <a:gd name="T12" fmla="*/ 12 w 184"/>
                <a:gd name="T13" fmla="*/ 30 h 288"/>
                <a:gd name="T14" fmla="*/ 20 w 184"/>
                <a:gd name="T15" fmla="*/ 20 h 288"/>
                <a:gd name="T16" fmla="*/ 30 w 184"/>
                <a:gd name="T17" fmla="*/ 12 h 288"/>
                <a:gd name="T18" fmla="*/ 42 w 184"/>
                <a:gd name="T19" fmla="*/ 6 h 288"/>
                <a:gd name="T20" fmla="*/ 54 w 184"/>
                <a:gd name="T21" fmla="*/ 2 h 288"/>
                <a:gd name="T22" fmla="*/ 68 w 184"/>
                <a:gd name="T23" fmla="*/ 0 h 288"/>
                <a:gd name="T24" fmla="*/ 184 w 184"/>
                <a:gd name="T25" fmla="*/ 0 h 288"/>
                <a:gd name="T26" fmla="*/ 184 w 184"/>
                <a:gd name="T27" fmla="*/ 18 h 288"/>
                <a:gd name="T28" fmla="*/ 68 w 184"/>
                <a:gd name="T29" fmla="*/ 18 h 288"/>
                <a:gd name="T30" fmla="*/ 68 w 184"/>
                <a:gd name="T31" fmla="*/ 18 h 288"/>
                <a:gd name="T32" fmla="*/ 58 w 184"/>
                <a:gd name="T33" fmla="*/ 20 h 288"/>
                <a:gd name="T34" fmla="*/ 48 w 184"/>
                <a:gd name="T35" fmla="*/ 22 h 288"/>
                <a:gd name="T36" fmla="*/ 40 w 184"/>
                <a:gd name="T37" fmla="*/ 28 h 288"/>
                <a:gd name="T38" fmla="*/ 32 w 184"/>
                <a:gd name="T39" fmla="*/ 34 h 288"/>
                <a:gd name="T40" fmla="*/ 26 w 184"/>
                <a:gd name="T41" fmla="*/ 40 h 288"/>
                <a:gd name="T42" fmla="*/ 22 w 184"/>
                <a:gd name="T43" fmla="*/ 48 h 288"/>
                <a:gd name="T44" fmla="*/ 20 w 184"/>
                <a:gd name="T45" fmla="*/ 58 h 288"/>
                <a:gd name="T46" fmla="*/ 18 w 184"/>
                <a:gd name="T47" fmla="*/ 68 h 288"/>
                <a:gd name="T48" fmla="*/ 18 w 184"/>
                <a:gd name="T49" fmla="*/ 270 h 288"/>
                <a:gd name="T50" fmla="*/ 62 w 184"/>
                <a:gd name="T51" fmla="*/ 270 h 288"/>
                <a:gd name="T52" fmla="*/ 62 w 184"/>
                <a:gd name="T53"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4" h="288">
                  <a:moveTo>
                    <a:pt x="62" y="288"/>
                  </a:moveTo>
                  <a:lnTo>
                    <a:pt x="0" y="288"/>
                  </a:lnTo>
                  <a:lnTo>
                    <a:pt x="0" y="68"/>
                  </a:lnTo>
                  <a:lnTo>
                    <a:pt x="0" y="68"/>
                  </a:lnTo>
                  <a:lnTo>
                    <a:pt x="2" y="54"/>
                  </a:lnTo>
                  <a:lnTo>
                    <a:pt x="6" y="42"/>
                  </a:lnTo>
                  <a:lnTo>
                    <a:pt x="12" y="30"/>
                  </a:lnTo>
                  <a:lnTo>
                    <a:pt x="20" y="20"/>
                  </a:lnTo>
                  <a:lnTo>
                    <a:pt x="30" y="12"/>
                  </a:lnTo>
                  <a:lnTo>
                    <a:pt x="42" y="6"/>
                  </a:lnTo>
                  <a:lnTo>
                    <a:pt x="54" y="2"/>
                  </a:lnTo>
                  <a:lnTo>
                    <a:pt x="68" y="0"/>
                  </a:lnTo>
                  <a:lnTo>
                    <a:pt x="184" y="0"/>
                  </a:lnTo>
                  <a:lnTo>
                    <a:pt x="184" y="18"/>
                  </a:lnTo>
                  <a:lnTo>
                    <a:pt x="68" y="18"/>
                  </a:lnTo>
                  <a:lnTo>
                    <a:pt x="68" y="18"/>
                  </a:lnTo>
                  <a:lnTo>
                    <a:pt x="58" y="20"/>
                  </a:lnTo>
                  <a:lnTo>
                    <a:pt x="48" y="22"/>
                  </a:lnTo>
                  <a:lnTo>
                    <a:pt x="40" y="28"/>
                  </a:lnTo>
                  <a:lnTo>
                    <a:pt x="32" y="34"/>
                  </a:lnTo>
                  <a:lnTo>
                    <a:pt x="26" y="40"/>
                  </a:lnTo>
                  <a:lnTo>
                    <a:pt x="22" y="48"/>
                  </a:lnTo>
                  <a:lnTo>
                    <a:pt x="20" y="58"/>
                  </a:lnTo>
                  <a:lnTo>
                    <a:pt x="18" y="68"/>
                  </a:lnTo>
                  <a:lnTo>
                    <a:pt x="18" y="270"/>
                  </a:lnTo>
                  <a:lnTo>
                    <a:pt x="62" y="270"/>
                  </a:lnTo>
                  <a:lnTo>
                    <a:pt x="62" y="288"/>
                  </a:lnTo>
                  <a:close/>
                </a:path>
              </a:pathLst>
            </a:custGeom>
            <a:grpFill/>
            <a:ln w="9525">
              <a:no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82" name="Freeform 91">
              <a:extLst>
                <a:ext uri="{FF2B5EF4-FFF2-40B4-BE49-F238E27FC236}">
                  <a16:creationId xmlns:a16="http://schemas.microsoft.com/office/drawing/2014/main" id="{F8FD258C-352D-499B-9074-3CE69AD4EB39}"/>
                </a:ext>
              </a:extLst>
            </p:cNvPr>
            <p:cNvSpPr>
              <a:spLocks/>
            </p:cNvSpPr>
            <p:nvPr/>
          </p:nvSpPr>
          <p:spPr bwMode="auto">
            <a:xfrm>
              <a:off x="5994400" y="5043488"/>
              <a:ext cx="298450" cy="457200"/>
            </a:xfrm>
            <a:custGeom>
              <a:avLst/>
              <a:gdLst>
                <a:gd name="T0" fmla="*/ 188 w 188"/>
                <a:gd name="T1" fmla="*/ 288 h 288"/>
                <a:gd name="T2" fmla="*/ 126 w 188"/>
                <a:gd name="T3" fmla="*/ 288 h 288"/>
                <a:gd name="T4" fmla="*/ 126 w 188"/>
                <a:gd name="T5" fmla="*/ 270 h 288"/>
                <a:gd name="T6" fmla="*/ 170 w 188"/>
                <a:gd name="T7" fmla="*/ 270 h 288"/>
                <a:gd name="T8" fmla="*/ 170 w 188"/>
                <a:gd name="T9" fmla="*/ 68 h 288"/>
                <a:gd name="T10" fmla="*/ 170 w 188"/>
                <a:gd name="T11" fmla="*/ 68 h 288"/>
                <a:gd name="T12" fmla="*/ 170 w 188"/>
                <a:gd name="T13" fmla="*/ 58 h 288"/>
                <a:gd name="T14" fmla="*/ 166 w 188"/>
                <a:gd name="T15" fmla="*/ 48 h 288"/>
                <a:gd name="T16" fmla="*/ 162 w 188"/>
                <a:gd name="T17" fmla="*/ 40 h 288"/>
                <a:gd name="T18" fmla="*/ 156 w 188"/>
                <a:gd name="T19" fmla="*/ 34 h 288"/>
                <a:gd name="T20" fmla="*/ 148 w 188"/>
                <a:gd name="T21" fmla="*/ 28 h 288"/>
                <a:gd name="T22" fmla="*/ 140 w 188"/>
                <a:gd name="T23" fmla="*/ 22 h 288"/>
                <a:gd name="T24" fmla="*/ 130 w 188"/>
                <a:gd name="T25" fmla="*/ 20 h 288"/>
                <a:gd name="T26" fmla="*/ 120 w 188"/>
                <a:gd name="T27" fmla="*/ 18 h 288"/>
                <a:gd name="T28" fmla="*/ 0 w 188"/>
                <a:gd name="T29" fmla="*/ 18 h 288"/>
                <a:gd name="T30" fmla="*/ 0 w 188"/>
                <a:gd name="T31" fmla="*/ 0 h 288"/>
                <a:gd name="T32" fmla="*/ 120 w 188"/>
                <a:gd name="T33" fmla="*/ 0 h 288"/>
                <a:gd name="T34" fmla="*/ 120 w 188"/>
                <a:gd name="T35" fmla="*/ 0 h 288"/>
                <a:gd name="T36" fmla="*/ 134 w 188"/>
                <a:gd name="T37" fmla="*/ 2 h 288"/>
                <a:gd name="T38" fmla="*/ 146 w 188"/>
                <a:gd name="T39" fmla="*/ 6 h 288"/>
                <a:gd name="T40" fmla="*/ 158 w 188"/>
                <a:gd name="T41" fmla="*/ 12 h 288"/>
                <a:gd name="T42" fmla="*/ 168 w 188"/>
                <a:gd name="T43" fmla="*/ 20 h 288"/>
                <a:gd name="T44" fmla="*/ 176 w 188"/>
                <a:gd name="T45" fmla="*/ 30 h 288"/>
                <a:gd name="T46" fmla="*/ 182 w 188"/>
                <a:gd name="T47" fmla="*/ 42 h 288"/>
                <a:gd name="T48" fmla="*/ 186 w 188"/>
                <a:gd name="T49" fmla="*/ 54 h 288"/>
                <a:gd name="T50" fmla="*/ 188 w 188"/>
                <a:gd name="T51" fmla="*/ 68 h 288"/>
                <a:gd name="T52" fmla="*/ 188 w 188"/>
                <a:gd name="T53"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8" h="288">
                  <a:moveTo>
                    <a:pt x="188" y="288"/>
                  </a:moveTo>
                  <a:lnTo>
                    <a:pt x="126" y="288"/>
                  </a:lnTo>
                  <a:lnTo>
                    <a:pt x="126" y="270"/>
                  </a:lnTo>
                  <a:lnTo>
                    <a:pt x="170" y="270"/>
                  </a:lnTo>
                  <a:lnTo>
                    <a:pt x="170" y="68"/>
                  </a:lnTo>
                  <a:lnTo>
                    <a:pt x="170" y="68"/>
                  </a:lnTo>
                  <a:lnTo>
                    <a:pt x="170" y="58"/>
                  </a:lnTo>
                  <a:lnTo>
                    <a:pt x="166" y="48"/>
                  </a:lnTo>
                  <a:lnTo>
                    <a:pt x="162" y="40"/>
                  </a:lnTo>
                  <a:lnTo>
                    <a:pt x="156" y="34"/>
                  </a:lnTo>
                  <a:lnTo>
                    <a:pt x="148" y="28"/>
                  </a:lnTo>
                  <a:lnTo>
                    <a:pt x="140" y="22"/>
                  </a:lnTo>
                  <a:lnTo>
                    <a:pt x="130" y="20"/>
                  </a:lnTo>
                  <a:lnTo>
                    <a:pt x="120" y="18"/>
                  </a:lnTo>
                  <a:lnTo>
                    <a:pt x="0" y="18"/>
                  </a:lnTo>
                  <a:lnTo>
                    <a:pt x="0" y="0"/>
                  </a:lnTo>
                  <a:lnTo>
                    <a:pt x="120" y="0"/>
                  </a:lnTo>
                  <a:lnTo>
                    <a:pt x="120" y="0"/>
                  </a:lnTo>
                  <a:lnTo>
                    <a:pt x="134" y="2"/>
                  </a:lnTo>
                  <a:lnTo>
                    <a:pt x="146" y="6"/>
                  </a:lnTo>
                  <a:lnTo>
                    <a:pt x="158" y="12"/>
                  </a:lnTo>
                  <a:lnTo>
                    <a:pt x="168" y="20"/>
                  </a:lnTo>
                  <a:lnTo>
                    <a:pt x="176" y="30"/>
                  </a:lnTo>
                  <a:lnTo>
                    <a:pt x="182" y="42"/>
                  </a:lnTo>
                  <a:lnTo>
                    <a:pt x="186" y="54"/>
                  </a:lnTo>
                  <a:lnTo>
                    <a:pt x="188" y="68"/>
                  </a:lnTo>
                  <a:lnTo>
                    <a:pt x="188" y="288"/>
                  </a:lnTo>
                  <a:close/>
                </a:path>
              </a:pathLst>
            </a:custGeom>
            <a:grpFill/>
            <a:ln w="9525">
              <a:no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83" name="Freeform 92">
              <a:extLst>
                <a:ext uri="{FF2B5EF4-FFF2-40B4-BE49-F238E27FC236}">
                  <a16:creationId xmlns:a16="http://schemas.microsoft.com/office/drawing/2014/main" id="{F271C8E6-EC0F-C644-C83B-96EE53663D47}"/>
                </a:ext>
              </a:extLst>
            </p:cNvPr>
            <p:cNvSpPr>
              <a:spLocks noEditPoints="1"/>
            </p:cNvSpPr>
            <p:nvPr/>
          </p:nvSpPr>
          <p:spPr bwMode="auto">
            <a:xfrm>
              <a:off x="5969000" y="4786313"/>
              <a:ext cx="225425" cy="225425"/>
            </a:xfrm>
            <a:custGeom>
              <a:avLst/>
              <a:gdLst>
                <a:gd name="T0" fmla="*/ 72 w 142"/>
                <a:gd name="T1" fmla="*/ 142 h 142"/>
                <a:gd name="T2" fmla="*/ 44 w 142"/>
                <a:gd name="T3" fmla="*/ 138 h 142"/>
                <a:gd name="T4" fmla="*/ 20 w 142"/>
                <a:gd name="T5" fmla="*/ 122 h 142"/>
                <a:gd name="T6" fmla="*/ 6 w 142"/>
                <a:gd name="T7" fmla="*/ 100 h 142"/>
                <a:gd name="T8" fmla="*/ 0 w 142"/>
                <a:gd name="T9" fmla="*/ 72 h 142"/>
                <a:gd name="T10" fmla="*/ 2 w 142"/>
                <a:gd name="T11" fmla="*/ 58 h 142"/>
                <a:gd name="T12" fmla="*/ 12 w 142"/>
                <a:gd name="T13" fmla="*/ 32 h 142"/>
                <a:gd name="T14" fmla="*/ 32 w 142"/>
                <a:gd name="T15" fmla="*/ 12 h 142"/>
                <a:gd name="T16" fmla="*/ 56 w 142"/>
                <a:gd name="T17" fmla="*/ 2 h 142"/>
                <a:gd name="T18" fmla="*/ 72 w 142"/>
                <a:gd name="T19" fmla="*/ 0 h 142"/>
                <a:gd name="T20" fmla="*/ 98 w 142"/>
                <a:gd name="T21" fmla="*/ 6 h 142"/>
                <a:gd name="T22" fmla="*/ 122 w 142"/>
                <a:gd name="T23" fmla="*/ 22 h 142"/>
                <a:gd name="T24" fmla="*/ 136 w 142"/>
                <a:gd name="T25" fmla="*/ 44 h 142"/>
                <a:gd name="T26" fmla="*/ 142 w 142"/>
                <a:gd name="T27" fmla="*/ 72 h 142"/>
                <a:gd name="T28" fmla="*/ 140 w 142"/>
                <a:gd name="T29" fmla="*/ 86 h 142"/>
                <a:gd name="T30" fmla="*/ 130 w 142"/>
                <a:gd name="T31" fmla="*/ 112 h 142"/>
                <a:gd name="T32" fmla="*/ 110 w 142"/>
                <a:gd name="T33" fmla="*/ 130 h 142"/>
                <a:gd name="T34" fmla="*/ 86 w 142"/>
                <a:gd name="T35" fmla="*/ 142 h 142"/>
                <a:gd name="T36" fmla="*/ 72 w 142"/>
                <a:gd name="T37" fmla="*/ 142 h 142"/>
                <a:gd name="T38" fmla="*/ 72 w 142"/>
                <a:gd name="T39" fmla="*/ 18 h 142"/>
                <a:gd name="T40" fmla="*/ 50 w 142"/>
                <a:gd name="T41" fmla="*/ 22 h 142"/>
                <a:gd name="T42" fmla="*/ 34 w 142"/>
                <a:gd name="T43" fmla="*/ 34 h 142"/>
                <a:gd name="T44" fmla="*/ 22 w 142"/>
                <a:gd name="T45" fmla="*/ 52 h 142"/>
                <a:gd name="T46" fmla="*/ 18 w 142"/>
                <a:gd name="T47" fmla="*/ 72 h 142"/>
                <a:gd name="T48" fmla="*/ 20 w 142"/>
                <a:gd name="T49" fmla="*/ 82 h 142"/>
                <a:gd name="T50" fmla="*/ 28 w 142"/>
                <a:gd name="T51" fmla="*/ 102 h 142"/>
                <a:gd name="T52" fmla="*/ 42 w 142"/>
                <a:gd name="T53" fmla="*/ 116 h 142"/>
                <a:gd name="T54" fmla="*/ 60 w 142"/>
                <a:gd name="T55" fmla="*/ 124 h 142"/>
                <a:gd name="T56" fmla="*/ 72 w 142"/>
                <a:gd name="T57" fmla="*/ 124 h 142"/>
                <a:gd name="T58" fmla="*/ 92 w 142"/>
                <a:gd name="T59" fmla="*/ 120 h 142"/>
                <a:gd name="T60" fmla="*/ 108 w 142"/>
                <a:gd name="T61" fmla="*/ 110 h 142"/>
                <a:gd name="T62" fmla="*/ 120 w 142"/>
                <a:gd name="T63" fmla="*/ 92 h 142"/>
                <a:gd name="T64" fmla="*/ 124 w 142"/>
                <a:gd name="T65" fmla="*/ 72 h 142"/>
                <a:gd name="T66" fmla="*/ 124 w 142"/>
                <a:gd name="T67" fmla="*/ 62 h 142"/>
                <a:gd name="T68" fmla="*/ 116 w 142"/>
                <a:gd name="T69" fmla="*/ 42 h 142"/>
                <a:gd name="T70" fmla="*/ 100 w 142"/>
                <a:gd name="T71" fmla="*/ 28 h 142"/>
                <a:gd name="T72" fmla="*/ 82 w 142"/>
                <a:gd name="T73" fmla="*/ 20 h 142"/>
                <a:gd name="T74" fmla="*/ 72 w 142"/>
                <a:gd name="T75" fmla="*/ 18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2" h="142">
                  <a:moveTo>
                    <a:pt x="72" y="142"/>
                  </a:moveTo>
                  <a:lnTo>
                    <a:pt x="72" y="142"/>
                  </a:lnTo>
                  <a:lnTo>
                    <a:pt x="56" y="142"/>
                  </a:lnTo>
                  <a:lnTo>
                    <a:pt x="44" y="138"/>
                  </a:lnTo>
                  <a:lnTo>
                    <a:pt x="32" y="130"/>
                  </a:lnTo>
                  <a:lnTo>
                    <a:pt x="20" y="122"/>
                  </a:lnTo>
                  <a:lnTo>
                    <a:pt x="12" y="112"/>
                  </a:lnTo>
                  <a:lnTo>
                    <a:pt x="6" y="100"/>
                  </a:lnTo>
                  <a:lnTo>
                    <a:pt x="2" y="86"/>
                  </a:lnTo>
                  <a:lnTo>
                    <a:pt x="0" y="72"/>
                  </a:lnTo>
                  <a:lnTo>
                    <a:pt x="0" y="72"/>
                  </a:lnTo>
                  <a:lnTo>
                    <a:pt x="2" y="58"/>
                  </a:lnTo>
                  <a:lnTo>
                    <a:pt x="6" y="44"/>
                  </a:lnTo>
                  <a:lnTo>
                    <a:pt x="12" y="32"/>
                  </a:lnTo>
                  <a:lnTo>
                    <a:pt x="20" y="22"/>
                  </a:lnTo>
                  <a:lnTo>
                    <a:pt x="32" y="12"/>
                  </a:lnTo>
                  <a:lnTo>
                    <a:pt x="44" y="6"/>
                  </a:lnTo>
                  <a:lnTo>
                    <a:pt x="56" y="2"/>
                  </a:lnTo>
                  <a:lnTo>
                    <a:pt x="72" y="0"/>
                  </a:lnTo>
                  <a:lnTo>
                    <a:pt x="72" y="0"/>
                  </a:lnTo>
                  <a:lnTo>
                    <a:pt x="86" y="2"/>
                  </a:lnTo>
                  <a:lnTo>
                    <a:pt x="98" y="6"/>
                  </a:lnTo>
                  <a:lnTo>
                    <a:pt x="110" y="12"/>
                  </a:lnTo>
                  <a:lnTo>
                    <a:pt x="122" y="22"/>
                  </a:lnTo>
                  <a:lnTo>
                    <a:pt x="130" y="32"/>
                  </a:lnTo>
                  <a:lnTo>
                    <a:pt x="136" y="44"/>
                  </a:lnTo>
                  <a:lnTo>
                    <a:pt x="140" y="58"/>
                  </a:lnTo>
                  <a:lnTo>
                    <a:pt x="142" y="72"/>
                  </a:lnTo>
                  <a:lnTo>
                    <a:pt x="142" y="72"/>
                  </a:lnTo>
                  <a:lnTo>
                    <a:pt x="140" y="86"/>
                  </a:lnTo>
                  <a:lnTo>
                    <a:pt x="136" y="100"/>
                  </a:lnTo>
                  <a:lnTo>
                    <a:pt x="130" y="112"/>
                  </a:lnTo>
                  <a:lnTo>
                    <a:pt x="122" y="122"/>
                  </a:lnTo>
                  <a:lnTo>
                    <a:pt x="110" y="130"/>
                  </a:lnTo>
                  <a:lnTo>
                    <a:pt x="98" y="138"/>
                  </a:lnTo>
                  <a:lnTo>
                    <a:pt x="86" y="142"/>
                  </a:lnTo>
                  <a:lnTo>
                    <a:pt x="72" y="142"/>
                  </a:lnTo>
                  <a:lnTo>
                    <a:pt x="72" y="142"/>
                  </a:lnTo>
                  <a:close/>
                  <a:moveTo>
                    <a:pt x="72" y="18"/>
                  </a:moveTo>
                  <a:lnTo>
                    <a:pt x="72" y="18"/>
                  </a:lnTo>
                  <a:lnTo>
                    <a:pt x="60" y="20"/>
                  </a:lnTo>
                  <a:lnTo>
                    <a:pt x="50" y="22"/>
                  </a:lnTo>
                  <a:lnTo>
                    <a:pt x="42" y="28"/>
                  </a:lnTo>
                  <a:lnTo>
                    <a:pt x="34" y="34"/>
                  </a:lnTo>
                  <a:lnTo>
                    <a:pt x="28" y="42"/>
                  </a:lnTo>
                  <a:lnTo>
                    <a:pt x="22" y="52"/>
                  </a:lnTo>
                  <a:lnTo>
                    <a:pt x="20" y="62"/>
                  </a:lnTo>
                  <a:lnTo>
                    <a:pt x="18" y="72"/>
                  </a:lnTo>
                  <a:lnTo>
                    <a:pt x="18" y="72"/>
                  </a:lnTo>
                  <a:lnTo>
                    <a:pt x="20" y="82"/>
                  </a:lnTo>
                  <a:lnTo>
                    <a:pt x="22" y="92"/>
                  </a:lnTo>
                  <a:lnTo>
                    <a:pt x="28" y="102"/>
                  </a:lnTo>
                  <a:lnTo>
                    <a:pt x="34" y="110"/>
                  </a:lnTo>
                  <a:lnTo>
                    <a:pt x="42" y="116"/>
                  </a:lnTo>
                  <a:lnTo>
                    <a:pt x="50" y="120"/>
                  </a:lnTo>
                  <a:lnTo>
                    <a:pt x="60" y="124"/>
                  </a:lnTo>
                  <a:lnTo>
                    <a:pt x="72" y="124"/>
                  </a:lnTo>
                  <a:lnTo>
                    <a:pt x="72" y="124"/>
                  </a:lnTo>
                  <a:lnTo>
                    <a:pt x="82" y="124"/>
                  </a:lnTo>
                  <a:lnTo>
                    <a:pt x="92" y="120"/>
                  </a:lnTo>
                  <a:lnTo>
                    <a:pt x="100" y="116"/>
                  </a:lnTo>
                  <a:lnTo>
                    <a:pt x="108" y="110"/>
                  </a:lnTo>
                  <a:lnTo>
                    <a:pt x="116" y="102"/>
                  </a:lnTo>
                  <a:lnTo>
                    <a:pt x="120" y="92"/>
                  </a:lnTo>
                  <a:lnTo>
                    <a:pt x="124" y="82"/>
                  </a:lnTo>
                  <a:lnTo>
                    <a:pt x="124" y="72"/>
                  </a:lnTo>
                  <a:lnTo>
                    <a:pt x="124" y="72"/>
                  </a:lnTo>
                  <a:lnTo>
                    <a:pt x="124" y="62"/>
                  </a:lnTo>
                  <a:lnTo>
                    <a:pt x="120" y="52"/>
                  </a:lnTo>
                  <a:lnTo>
                    <a:pt x="116" y="42"/>
                  </a:lnTo>
                  <a:lnTo>
                    <a:pt x="108" y="34"/>
                  </a:lnTo>
                  <a:lnTo>
                    <a:pt x="100" y="28"/>
                  </a:lnTo>
                  <a:lnTo>
                    <a:pt x="92" y="22"/>
                  </a:lnTo>
                  <a:lnTo>
                    <a:pt x="82" y="20"/>
                  </a:lnTo>
                  <a:lnTo>
                    <a:pt x="72" y="18"/>
                  </a:lnTo>
                  <a:lnTo>
                    <a:pt x="72" y="18"/>
                  </a:lnTo>
                  <a:close/>
                </a:path>
              </a:pathLst>
            </a:custGeom>
            <a:grpFill/>
            <a:ln w="9525">
              <a:no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84" name="Rectangle 93">
              <a:extLst>
                <a:ext uri="{FF2B5EF4-FFF2-40B4-BE49-F238E27FC236}">
                  <a16:creationId xmlns:a16="http://schemas.microsoft.com/office/drawing/2014/main" id="{34708031-DA38-65BB-BE85-390FB99A105F}"/>
                </a:ext>
              </a:extLst>
            </p:cNvPr>
            <p:cNvSpPr>
              <a:spLocks noChangeArrowheads="1"/>
            </p:cNvSpPr>
            <p:nvPr/>
          </p:nvSpPr>
          <p:spPr bwMode="auto">
            <a:xfrm>
              <a:off x="6067425" y="5145088"/>
              <a:ext cx="28575" cy="31750"/>
            </a:xfrm>
            <a:prstGeom prst="rect">
              <a:avLst/>
            </a:prstGeom>
            <a:grpFill/>
            <a:ln w="9525">
              <a:noFill/>
              <a:miter lim="800000"/>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85" name="Rectangle 94">
              <a:extLst>
                <a:ext uri="{FF2B5EF4-FFF2-40B4-BE49-F238E27FC236}">
                  <a16:creationId xmlns:a16="http://schemas.microsoft.com/office/drawing/2014/main" id="{30B4EBAC-37D8-D805-CACA-2F79E188E60C}"/>
                </a:ext>
              </a:extLst>
            </p:cNvPr>
            <p:cNvSpPr>
              <a:spLocks noChangeArrowheads="1"/>
            </p:cNvSpPr>
            <p:nvPr/>
          </p:nvSpPr>
          <p:spPr bwMode="auto">
            <a:xfrm>
              <a:off x="6067425" y="5208588"/>
              <a:ext cx="28575" cy="34925"/>
            </a:xfrm>
            <a:prstGeom prst="rect">
              <a:avLst/>
            </a:prstGeom>
            <a:grpFill/>
            <a:ln w="9525">
              <a:noFill/>
              <a:miter lim="800000"/>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86" name="Rectangle 95">
              <a:extLst>
                <a:ext uri="{FF2B5EF4-FFF2-40B4-BE49-F238E27FC236}">
                  <a16:creationId xmlns:a16="http://schemas.microsoft.com/office/drawing/2014/main" id="{F015F14F-D748-8298-BE45-449EF4BDCAA7}"/>
                </a:ext>
              </a:extLst>
            </p:cNvPr>
            <p:cNvSpPr>
              <a:spLocks noChangeArrowheads="1"/>
            </p:cNvSpPr>
            <p:nvPr/>
          </p:nvSpPr>
          <p:spPr bwMode="auto">
            <a:xfrm>
              <a:off x="6067425" y="5275263"/>
              <a:ext cx="28575" cy="31750"/>
            </a:xfrm>
            <a:prstGeom prst="rect">
              <a:avLst/>
            </a:prstGeom>
            <a:grpFill/>
            <a:ln w="9525">
              <a:noFill/>
              <a:miter lim="800000"/>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grpSp>
      <p:pic>
        <p:nvPicPr>
          <p:cNvPr id="87" name="Picture 291">
            <a:extLst>
              <a:ext uri="{FF2B5EF4-FFF2-40B4-BE49-F238E27FC236}">
                <a16:creationId xmlns:a16="http://schemas.microsoft.com/office/drawing/2014/main" id="{B1BD7617-ADF5-89FD-1DB0-23038DA616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775" y="6469134"/>
            <a:ext cx="306320" cy="242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 name="TextBox 87">
            <a:extLst>
              <a:ext uri="{FF2B5EF4-FFF2-40B4-BE49-F238E27FC236}">
                <a16:creationId xmlns:a16="http://schemas.microsoft.com/office/drawing/2014/main" id="{9C7A47DE-86EA-71BA-7045-1DA28476B3B0}"/>
              </a:ext>
            </a:extLst>
          </p:cNvPr>
          <p:cNvSpPr txBox="1"/>
          <p:nvPr/>
        </p:nvSpPr>
        <p:spPr>
          <a:xfrm>
            <a:off x="610394" y="6501654"/>
            <a:ext cx="1250062" cy="246221"/>
          </a:xfrm>
          <a:prstGeom prst="rect">
            <a:avLst/>
          </a:prstGeom>
          <a:noFill/>
        </p:spPr>
        <p:txBody>
          <a:bodyPr wrap="square" rtlCol="0">
            <a:spAutoFit/>
          </a:bodyPr>
          <a:lstStyle/>
          <a:p>
            <a:r>
              <a:rPr lang="en-US" sz="1000"/>
              <a:t>Actuary</a:t>
            </a:r>
          </a:p>
        </p:txBody>
      </p:sp>
      <p:grpSp>
        <p:nvGrpSpPr>
          <p:cNvPr id="89" name="Group 88">
            <a:extLst>
              <a:ext uri="{FF2B5EF4-FFF2-40B4-BE49-F238E27FC236}">
                <a16:creationId xmlns:a16="http://schemas.microsoft.com/office/drawing/2014/main" id="{EC992980-A214-4E8A-3C20-EF212AD26B12}"/>
              </a:ext>
            </a:extLst>
          </p:cNvPr>
          <p:cNvGrpSpPr/>
          <p:nvPr/>
        </p:nvGrpSpPr>
        <p:grpSpPr>
          <a:xfrm flipH="1">
            <a:off x="1471023" y="6503502"/>
            <a:ext cx="118349" cy="251858"/>
            <a:chOff x="5870575" y="4786313"/>
            <a:chExt cx="422275" cy="1102814"/>
          </a:xfrm>
          <a:solidFill>
            <a:srgbClr val="FF6503"/>
          </a:solidFill>
        </p:grpSpPr>
        <p:sp>
          <p:nvSpPr>
            <p:cNvPr id="90" name="Freeform 88">
              <a:extLst>
                <a:ext uri="{FF2B5EF4-FFF2-40B4-BE49-F238E27FC236}">
                  <a16:creationId xmlns:a16="http://schemas.microsoft.com/office/drawing/2014/main" id="{6FAAA759-9520-7366-CC43-6244F59EBD1C}"/>
                </a:ext>
              </a:extLst>
            </p:cNvPr>
            <p:cNvSpPr>
              <a:spLocks/>
            </p:cNvSpPr>
            <p:nvPr/>
          </p:nvSpPr>
          <p:spPr bwMode="auto">
            <a:xfrm>
              <a:off x="5946775" y="5427663"/>
              <a:ext cx="269875" cy="444500"/>
            </a:xfrm>
            <a:custGeom>
              <a:avLst/>
              <a:gdLst>
                <a:gd name="T0" fmla="*/ 170 w 170"/>
                <a:gd name="T1" fmla="*/ 280 h 280"/>
                <a:gd name="T2" fmla="*/ 0 w 170"/>
                <a:gd name="T3" fmla="*/ 280 h 280"/>
                <a:gd name="T4" fmla="*/ 0 w 170"/>
                <a:gd name="T5" fmla="*/ 0 h 280"/>
                <a:gd name="T6" fmla="*/ 18 w 170"/>
                <a:gd name="T7" fmla="*/ 0 h 280"/>
                <a:gd name="T8" fmla="*/ 18 w 170"/>
                <a:gd name="T9" fmla="*/ 262 h 280"/>
                <a:gd name="T10" fmla="*/ 152 w 170"/>
                <a:gd name="T11" fmla="*/ 262 h 280"/>
                <a:gd name="T12" fmla="*/ 152 w 170"/>
                <a:gd name="T13" fmla="*/ 0 h 280"/>
                <a:gd name="T14" fmla="*/ 170 w 170"/>
                <a:gd name="T15" fmla="*/ 0 h 280"/>
                <a:gd name="T16" fmla="*/ 170 w 170"/>
                <a:gd name="T17" fmla="*/ 28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0" h="280">
                  <a:moveTo>
                    <a:pt x="170" y="280"/>
                  </a:moveTo>
                  <a:lnTo>
                    <a:pt x="0" y="280"/>
                  </a:lnTo>
                  <a:lnTo>
                    <a:pt x="0" y="0"/>
                  </a:lnTo>
                  <a:lnTo>
                    <a:pt x="18" y="0"/>
                  </a:lnTo>
                  <a:lnTo>
                    <a:pt x="18" y="262"/>
                  </a:lnTo>
                  <a:lnTo>
                    <a:pt x="152" y="262"/>
                  </a:lnTo>
                  <a:lnTo>
                    <a:pt x="152" y="0"/>
                  </a:lnTo>
                  <a:lnTo>
                    <a:pt x="170" y="0"/>
                  </a:lnTo>
                  <a:lnTo>
                    <a:pt x="170" y="280"/>
                  </a:lnTo>
                  <a:close/>
                </a:path>
              </a:pathLst>
            </a:custGeom>
            <a:grpFill/>
            <a:ln w="9525">
              <a:no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91" name="Rectangle 89">
              <a:extLst>
                <a:ext uri="{FF2B5EF4-FFF2-40B4-BE49-F238E27FC236}">
                  <a16:creationId xmlns:a16="http://schemas.microsoft.com/office/drawing/2014/main" id="{2162E4FF-DB16-C43A-61D4-F8D678B91979}"/>
                </a:ext>
              </a:extLst>
            </p:cNvPr>
            <p:cNvSpPr>
              <a:spLocks noChangeArrowheads="1"/>
            </p:cNvSpPr>
            <p:nvPr/>
          </p:nvSpPr>
          <p:spPr bwMode="auto">
            <a:xfrm>
              <a:off x="6067428" y="5543051"/>
              <a:ext cx="28575" cy="346076"/>
            </a:xfrm>
            <a:prstGeom prst="rect">
              <a:avLst/>
            </a:prstGeom>
            <a:grpFill/>
            <a:ln w="9525">
              <a:noFill/>
              <a:miter lim="800000"/>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92" name="Freeform 90">
              <a:extLst>
                <a:ext uri="{FF2B5EF4-FFF2-40B4-BE49-F238E27FC236}">
                  <a16:creationId xmlns:a16="http://schemas.microsoft.com/office/drawing/2014/main" id="{4635B877-B8FC-B51F-585A-83F13CA8CD8C}"/>
                </a:ext>
              </a:extLst>
            </p:cNvPr>
            <p:cNvSpPr>
              <a:spLocks/>
            </p:cNvSpPr>
            <p:nvPr/>
          </p:nvSpPr>
          <p:spPr bwMode="auto">
            <a:xfrm>
              <a:off x="5870575" y="5043488"/>
              <a:ext cx="292100" cy="457200"/>
            </a:xfrm>
            <a:custGeom>
              <a:avLst/>
              <a:gdLst>
                <a:gd name="T0" fmla="*/ 62 w 184"/>
                <a:gd name="T1" fmla="*/ 288 h 288"/>
                <a:gd name="T2" fmla="*/ 0 w 184"/>
                <a:gd name="T3" fmla="*/ 288 h 288"/>
                <a:gd name="T4" fmla="*/ 0 w 184"/>
                <a:gd name="T5" fmla="*/ 68 h 288"/>
                <a:gd name="T6" fmla="*/ 0 w 184"/>
                <a:gd name="T7" fmla="*/ 68 h 288"/>
                <a:gd name="T8" fmla="*/ 2 w 184"/>
                <a:gd name="T9" fmla="*/ 54 h 288"/>
                <a:gd name="T10" fmla="*/ 6 w 184"/>
                <a:gd name="T11" fmla="*/ 42 h 288"/>
                <a:gd name="T12" fmla="*/ 12 w 184"/>
                <a:gd name="T13" fmla="*/ 30 h 288"/>
                <a:gd name="T14" fmla="*/ 20 w 184"/>
                <a:gd name="T15" fmla="*/ 20 h 288"/>
                <a:gd name="T16" fmla="*/ 30 w 184"/>
                <a:gd name="T17" fmla="*/ 12 h 288"/>
                <a:gd name="T18" fmla="*/ 42 w 184"/>
                <a:gd name="T19" fmla="*/ 6 h 288"/>
                <a:gd name="T20" fmla="*/ 54 w 184"/>
                <a:gd name="T21" fmla="*/ 2 h 288"/>
                <a:gd name="T22" fmla="*/ 68 w 184"/>
                <a:gd name="T23" fmla="*/ 0 h 288"/>
                <a:gd name="T24" fmla="*/ 184 w 184"/>
                <a:gd name="T25" fmla="*/ 0 h 288"/>
                <a:gd name="T26" fmla="*/ 184 w 184"/>
                <a:gd name="T27" fmla="*/ 18 h 288"/>
                <a:gd name="T28" fmla="*/ 68 w 184"/>
                <a:gd name="T29" fmla="*/ 18 h 288"/>
                <a:gd name="T30" fmla="*/ 68 w 184"/>
                <a:gd name="T31" fmla="*/ 18 h 288"/>
                <a:gd name="T32" fmla="*/ 58 w 184"/>
                <a:gd name="T33" fmla="*/ 20 h 288"/>
                <a:gd name="T34" fmla="*/ 48 w 184"/>
                <a:gd name="T35" fmla="*/ 22 h 288"/>
                <a:gd name="T36" fmla="*/ 40 w 184"/>
                <a:gd name="T37" fmla="*/ 28 h 288"/>
                <a:gd name="T38" fmla="*/ 32 w 184"/>
                <a:gd name="T39" fmla="*/ 34 h 288"/>
                <a:gd name="T40" fmla="*/ 26 w 184"/>
                <a:gd name="T41" fmla="*/ 40 h 288"/>
                <a:gd name="T42" fmla="*/ 22 w 184"/>
                <a:gd name="T43" fmla="*/ 48 h 288"/>
                <a:gd name="T44" fmla="*/ 20 w 184"/>
                <a:gd name="T45" fmla="*/ 58 h 288"/>
                <a:gd name="T46" fmla="*/ 18 w 184"/>
                <a:gd name="T47" fmla="*/ 68 h 288"/>
                <a:gd name="T48" fmla="*/ 18 w 184"/>
                <a:gd name="T49" fmla="*/ 270 h 288"/>
                <a:gd name="T50" fmla="*/ 62 w 184"/>
                <a:gd name="T51" fmla="*/ 270 h 288"/>
                <a:gd name="T52" fmla="*/ 62 w 184"/>
                <a:gd name="T53"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4" h="288">
                  <a:moveTo>
                    <a:pt x="62" y="288"/>
                  </a:moveTo>
                  <a:lnTo>
                    <a:pt x="0" y="288"/>
                  </a:lnTo>
                  <a:lnTo>
                    <a:pt x="0" y="68"/>
                  </a:lnTo>
                  <a:lnTo>
                    <a:pt x="0" y="68"/>
                  </a:lnTo>
                  <a:lnTo>
                    <a:pt x="2" y="54"/>
                  </a:lnTo>
                  <a:lnTo>
                    <a:pt x="6" y="42"/>
                  </a:lnTo>
                  <a:lnTo>
                    <a:pt x="12" y="30"/>
                  </a:lnTo>
                  <a:lnTo>
                    <a:pt x="20" y="20"/>
                  </a:lnTo>
                  <a:lnTo>
                    <a:pt x="30" y="12"/>
                  </a:lnTo>
                  <a:lnTo>
                    <a:pt x="42" y="6"/>
                  </a:lnTo>
                  <a:lnTo>
                    <a:pt x="54" y="2"/>
                  </a:lnTo>
                  <a:lnTo>
                    <a:pt x="68" y="0"/>
                  </a:lnTo>
                  <a:lnTo>
                    <a:pt x="184" y="0"/>
                  </a:lnTo>
                  <a:lnTo>
                    <a:pt x="184" y="18"/>
                  </a:lnTo>
                  <a:lnTo>
                    <a:pt x="68" y="18"/>
                  </a:lnTo>
                  <a:lnTo>
                    <a:pt x="68" y="18"/>
                  </a:lnTo>
                  <a:lnTo>
                    <a:pt x="58" y="20"/>
                  </a:lnTo>
                  <a:lnTo>
                    <a:pt x="48" y="22"/>
                  </a:lnTo>
                  <a:lnTo>
                    <a:pt x="40" y="28"/>
                  </a:lnTo>
                  <a:lnTo>
                    <a:pt x="32" y="34"/>
                  </a:lnTo>
                  <a:lnTo>
                    <a:pt x="26" y="40"/>
                  </a:lnTo>
                  <a:lnTo>
                    <a:pt x="22" y="48"/>
                  </a:lnTo>
                  <a:lnTo>
                    <a:pt x="20" y="58"/>
                  </a:lnTo>
                  <a:lnTo>
                    <a:pt x="18" y="68"/>
                  </a:lnTo>
                  <a:lnTo>
                    <a:pt x="18" y="270"/>
                  </a:lnTo>
                  <a:lnTo>
                    <a:pt x="62" y="270"/>
                  </a:lnTo>
                  <a:lnTo>
                    <a:pt x="62" y="288"/>
                  </a:lnTo>
                  <a:close/>
                </a:path>
              </a:pathLst>
            </a:custGeom>
            <a:grpFill/>
            <a:ln w="9525">
              <a:no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93" name="Freeform 91">
              <a:extLst>
                <a:ext uri="{FF2B5EF4-FFF2-40B4-BE49-F238E27FC236}">
                  <a16:creationId xmlns:a16="http://schemas.microsoft.com/office/drawing/2014/main" id="{7C309204-4E74-ED12-F3A5-73C883A68A8F}"/>
                </a:ext>
              </a:extLst>
            </p:cNvPr>
            <p:cNvSpPr>
              <a:spLocks/>
            </p:cNvSpPr>
            <p:nvPr/>
          </p:nvSpPr>
          <p:spPr bwMode="auto">
            <a:xfrm>
              <a:off x="5994400" y="5043488"/>
              <a:ext cx="298450" cy="457200"/>
            </a:xfrm>
            <a:custGeom>
              <a:avLst/>
              <a:gdLst>
                <a:gd name="T0" fmla="*/ 188 w 188"/>
                <a:gd name="T1" fmla="*/ 288 h 288"/>
                <a:gd name="T2" fmla="*/ 126 w 188"/>
                <a:gd name="T3" fmla="*/ 288 h 288"/>
                <a:gd name="T4" fmla="*/ 126 w 188"/>
                <a:gd name="T5" fmla="*/ 270 h 288"/>
                <a:gd name="T6" fmla="*/ 170 w 188"/>
                <a:gd name="T7" fmla="*/ 270 h 288"/>
                <a:gd name="T8" fmla="*/ 170 w 188"/>
                <a:gd name="T9" fmla="*/ 68 h 288"/>
                <a:gd name="T10" fmla="*/ 170 w 188"/>
                <a:gd name="T11" fmla="*/ 68 h 288"/>
                <a:gd name="T12" fmla="*/ 170 w 188"/>
                <a:gd name="T13" fmla="*/ 58 h 288"/>
                <a:gd name="T14" fmla="*/ 166 w 188"/>
                <a:gd name="T15" fmla="*/ 48 h 288"/>
                <a:gd name="T16" fmla="*/ 162 w 188"/>
                <a:gd name="T17" fmla="*/ 40 h 288"/>
                <a:gd name="T18" fmla="*/ 156 w 188"/>
                <a:gd name="T19" fmla="*/ 34 h 288"/>
                <a:gd name="T20" fmla="*/ 148 w 188"/>
                <a:gd name="T21" fmla="*/ 28 h 288"/>
                <a:gd name="T22" fmla="*/ 140 w 188"/>
                <a:gd name="T23" fmla="*/ 22 h 288"/>
                <a:gd name="T24" fmla="*/ 130 w 188"/>
                <a:gd name="T25" fmla="*/ 20 h 288"/>
                <a:gd name="T26" fmla="*/ 120 w 188"/>
                <a:gd name="T27" fmla="*/ 18 h 288"/>
                <a:gd name="T28" fmla="*/ 0 w 188"/>
                <a:gd name="T29" fmla="*/ 18 h 288"/>
                <a:gd name="T30" fmla="*/ 0 w 188"/>
                <a:gd name="T31" fmla="*/ 0 h 288"/>
                <a:gd name="T32" fmla="*/ 120 w 188"/>
                <a:gd name="T33" fmla="*/ 0 h 288"/>
                <a:gd name="T34" fmla="*/ 120 w 188"/>
                <a:gd name="T35" fmla="*/ 0 h 288"/>
                <a:gd name="T36" fmla="*/ 134 w 188"/>
                <a:gd name="T37" fmla="*/ 2 h 288"/>
                <a:gd name="T38" fmla="*/ 146 w 188"/>
                <a:gd name="T39" fmla="*/ 6 h 288"/>
                <a:gd name="T40" fmla="*/ 158 w 188"/>
                <a:gd name="T41" fmla="*/ 12 h 288"/>
                <a:gd name="T42" fmla="*/ 168 w 188"/>
                <a:gd name="T43" fmla="*/ 20 h 288"/>
                <a:gd name="T44" fmla="*/ 176 w 188"/>
                <a:gd name="T45" fmla="*/ 30 h 288"/>
                <a:gd name="T46" fmla="*/ 182 w 188"/>
                <a:gd name="T47" fmla="*/ 42 h 288"/>
                <a:gd name="T48" fmla="*/ 186 w 188"/>
                <a:gd name="T49" fmla="*/ 54 h 288"/>
                <a:gd name="T50" fmla="*/ 188 w 188"/>
                <a:gd name="T51" fmla="*/ 68 h 288"/>
                <a:gd name="T52" fmla="*/ 188 w 188"/>
                <a:gd name="T53"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8" h="288">
                  <a:moveTo>
                    <a:pt x="188" y="288"/>
                  </a:moveTo>
                  <a:lnTo>
                    <a:pt x="126" y="288"/>
                  </a:lnTo>
                  <a:lnTo>
                    <a:pt x="126" y="270"/>
                  </a:lnTo>
                  <a:lnTo>
                    <a:pt x="170" y="270"/>
                  </a:lnTo>
                  <a:lnTo>
                    <a:pt x="170" y="68"/>
                  </a:lnTo>
                  <a:lnTo>
                    <a:pt x="170" y="68"/>
                  </a:lnTo>
                  <a:lnTo>
                    <a:pt x="170" y="58"/>
                  </a:lnTo>
                  <a:lnTo>
                    <a:pt x="166" y="48"/>
                  </a:lnTo>
                  <a:lnTo>
                    <a:pt x="162" y="40"/>
                  </a:lnTo>
                  <a:lnTo>
                    <a:pt x="156" y="34"/>
                  </a:lnTo>
                  <a:lnTo>
                    <a:pt x="148" y="28"/>
                  </a:lnTo>
                  <a:lnTo>
                    <a:pt x="140" y="22"/>
                  </a:lnTo>
                  <a:lnTo>
                    <a:pt x="130" y="20"/>
                  </a:lnTo>
                  <a:lnTo>
                    <a:pt x="120" y="18"/>
                  </a:lnTo>
                  <a:lnTo>
                    <a:pt x="0" y="18"/>
                  </a:lnTo>
                  <a:lnTo>
                    <a:pt x="0" y="0"/>
                  </a:lnTo>
                  <a:lnTo>
                    <a:pt x="120" y="0"/>
                  </a:lnTo>
                  <a:lnTo>
                    <a:pt x="120" y="0"/>
                  </a:lnTo>
                  <a:lnTo>
                    <a:pt x="134" y="2"/>
                  </a:lnTo>
                  <a:lnTo>
                    <a:pt x="146" y="6"/>
                  </a:lnTo>
                  <a:lnTo>
                    <a:pt x="158" y="12"/>
                  </a:lnTo>
                  <a:lnTo>
                    <a:pt x="168" y="20"/>
                  </a:lnTo>
                  <a:lnTo>
                    <a:pt x="176" y="30"/>
                  </a:lnTo>
                  <a:lnTo>
                    <a:pt x="182" y="42"/>
                  </a:lnTo>
                  <a:lnTo>
                    <a:pt x="186" y="54"/>
                  </a:lnTo>
                  <a:lnTo>
                    <a:pt x="188" y="68"/>
                  </a:lnTo>
                  <a:lnTo>
                    <a:pt x="188" y="288"/>
                  </a:lnTo>
                  <a:close/>
                </a:path>
              </a:pathLst>
            </a:custGeom>
            <a:grpFill/>
            <a:ln w="9525">
              <a:no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94" name="Freeform 92">
              <a:extLst>
                <a:ext uri="{FF2B5EF4-FFF2-40B4-BE49-F238E27FC236}">
                  <a16:creationId xmlns:a16="http://schemas.microsoft.com/office/drawing/2014/main" id="{D9ED156F-23BF-3470-B8AF-6149CCAD102E}"/>
                </a:ext>
              </a:extLst>
            </p:cNvPr>
            <p:cNvSpPr>
              <a:spLocks noEditPoints="1"/>
            </p:cNvSpPr>
            <p:nvPr/>
          </p:nvSpPr>
          <p:spPr bwMode="auto">
            <a:xfrm>
              <a:off x="5969000" y="4786313"/>
              <a:ext cx="225425" cy="225425"/>
            </a:xfrm>
            <a:custGeom>
              <a:avLst/>
              <a:gdLst>
                <a:gd name="T0" fmla="*/ 72 w 142"/>
                <a:gd name="T1" fmla="*/ 142 h 142"/>
                <a:gd name="T2" fmla="*/ 44 w 142"/>
                <a:gd name="T3" fmla="*/ 138 h 142"/>
                <a:gd name="T4" fmla="*/ 20 w 142"/>
                <a:gd name="T5" fmla="*/ 122 h 142"/>
                <a:gd name="T6" fmla="*/ 6 w 142"/>
                <a:gd name="T7" fmla="*/ 100 h 142"/>
                <a:gd name="T8" fmla="*/ 0 w 142"/>
                <a:gd name="T9" fmla="*/ 72 h 142"/>
                <a:gd name="T10" fmla="*/ 2 w 142"/>
                <a:gd name="T11" fmla="*/ 58 h 142"/>
                <a:gd name="T12" fmla="*/ 12 w 142"/>
                <a:gd name="T13" fmla="*/ 32 h 142"/>
                <a:gd name="T14" fmla="*/ 32 w 142"/>
                <a:gd name="T15" fmla="*/ 12 h 142"/>
                <a:gd name="T16" fmla="*/ 56 w 142"/>
                <a:gd name="T17" fmla="*/ 2 h 142"/>
                <a:gd name="T18" fmla="*/ 72 w 142"/>
                <a:gd name="T19" fmla="*/ 0 h 142"/>
                <a:gd name="T20" fmla="*/ 98 w 142"/>
                <a:gd name="T21" fmla="*/ 6 h 142"/>
                <a:gd name="T22" fmla="*/ 122 w 142"/>
                <a:gd name="T23" fmla="*/ 22 h 142"/>
                <a:gd name="T24" fmla="*/ 136 w 142"/>
                <a:gd name="T25" fmla="*/ 44 h 142"/>
                <a:gd name="T26" fmla="*/ 142 w 142"/>
                <a:gd name="T27" fmla="*/ 72 h 142"/>
                <a:gd name="T28" fmla="*/ 140 w 142"/>
                <a:gd name="T29" fmla="*/ 86 h 142"/>
                <a:gd name="T30" fmla="*/ 130 w 142"/>
                <a:gd name="T31" fmla="*/ 112 h 142"/>
                <a:gd name="T32" fmla="*/ 110 w 142"/>
                <a:gd name="T33" fmla="*/ 130 h 142"/>
                <a:gd name="T34" fmla="*/ 86 w 142"/>
                <a:gd name="T35" fmla="*/ 142 h 142"/>
                <a:gd name="T36" fmla="*/ 72 w 142"/>
                <a:gd name="T37" fmla="*/ 142 h 142"/>
                <a:gd name="T38" fmla="*/ 72 w 142"/>
                <a:gd name="T39" fmla="*/ 18 h 142"/>
                <a:gd name="T40" fmla="*/ 50 w 142"/>
                <a:gd name="T41" fmla="*/ 22 h 142"/>
                <a:gd name="T42" fmla="*/ 34 w 142"/>
                <a:gd name="T43" fmla="*/ 34 h 142"/>
                <a:gd name="T44" fmla="*/ 22 w 142"/>
                <a:gd name="T45" fmla="*/ 52 h 142"/>
                <a:gd name="T46" fmla="*/ 18 w 142"/>
                <a:gd name="T47" fmla="*/ 72 h 142"/>
                <a:gd name="T48" fmla="*/ 20 w 142"/>
                <a:gd name="T49" fmla="*/ 82 h 142"/>
                <a:gd name="T50" fmla="*/ 28 w 142"/>
                <a:gd name="T51" fmla="*/ 102 h 142"/>
                <a:gd name="T52" fmla="*/ 42 w 142"/>
                <a:gd name="T53" fmla="*/ 116 h 142"/>
                <a:gd name="T54" fmla="*/ 60 w 142"/>
                <a:gd name="T55" fmla="*/ 124 h 142"/>
                <a:gd name="T56" fmla="*/ 72 w 142"/>
                <a:gd name="T57" fmla="*/ 124 h 142"/>
                <a:gd name="T58" fmla="*/ 92 w 142"/>
                <a:gd name="T59" fmla="*/ 120 h 142"/>
                <a:gd name="T60" fmla="*/ 108 w 142"/>
                <a:gd name="T61" fmla="*/ 110 h 142"/>
                <a:gd name="T62" fmla="*/ 120 w 142"/>
                <a:gd name="T63" fmla="*/ 92 h 142"/>
                <a:gd name="T64" fmla="*/ 124 w 142"/>
                <a:gd name="T65" fmla="*/ 72 h 142"/>
                <a:gd name="T66" fmla="*/ 124 w 142"/>
                <a:gd name="T67" fmla="*/ 62 h 142"/>
                <a:gd name="T68" fmla="*/ 116 w 142"/>
                <a:gd name="T69" fmla="*/ 42 h 142"/>
                <a:gd name="T70" fmla="*/ 100 w 142"/>
                <a:gd name="T71" fmla="*/ 28 h 142"/>
                <a:gd name="T72" fmla="*/ 82 w 142"/>
                <a:gd name="T73" fmla="*/ 20 h 142"/>
                <a:gd name="T74" fmla="*/ 72 w 142"/>
                <a:gd name="T75" fmla="*/ 18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2" h="142">
                  <a:moveTo>
                    <a:pt x="72" y="142"/>
                  </a:moveTo>
                  <a:lnTo>
                    <a:pt x="72" y="142"/>
                  </a:lnTo>
                  <a:lnTo>
                    <a:pt x="56" y="142"/>
                  </a:lnTo>
                  <a:lnTo>
                    <a:pt x="44" y="138"/>
                  </a:lnTo>
                  <a:lnTo>
                    <a:pt x="32" y="130"/>
                  </a:lnTo>
                  <a:lnTo>
                    <a:pt x="20" y="122"/>
                  </a:lnTo>
                  <a:lnTo>
                    <a:pt x="12" y="112"/>
                  </a:lnTo>
                  <a:lnTo>
                    <a:pt x="6" y="100"/>
                  </a:lnTo>
                  <a:lnTo>
                    <a:pt x="2" y="86"/>
                  </a:lnTo>
                  <a:lnTo>
                    <a:pt x="0" y="72"/>
                  </a:lnTo>
                  <a:lnTo>
                    <a:pt x="0" y="72"/>
                  </a:lnTo>
                  <a:lnTo>
                    <a:pt x="2" y="58"/>
                  </a:lnTo>
                  <a:lnTo>
                    <a:pt x="6" y="44"/>
                  </a:lnTo>
                  <a:lnTo>
                    <a:pt x="12" y="32"/>
                  </a:lnTo>
                  <a:lnTo>
                    <a:pt x="20" y="22"/>
                  </a:lnTo>
                  <a:lnTo>
                    <a:pt x="32" y="12"/>
                  </a:lnTo>
                  <a:lnTo>
                    <a:pt x="44" y="6"/>
                  </a:lnTo>
                  <a:lnTo>
                    <a:pt x="56" y="2"/>
                  </a:lnTo>
                  <a:lnTo>
                    <a:pt x="72" y="0"/>
                  </a:lnTo>
                  <a:lnTo>
                    <a:pt x="72" y="0"/>
                  </a:lnTo>
                  <a:lnTo>
                    <a:pt x="86" y="2"/>
                  </a:lnTo>
                  <a:lnTo>
                    <a:pt x="98" y="6"/>
                  </a:lnTo>
                  <a:lnTo>
                    <a:pt x="110" y="12"/>
                  </a:lnTo>
                  <a:lnTo>
                    <a:pt x="122" y="22"/>
                  </a:lnTo>
                  <a:lnTo>
                    <a:pt x="130" y="32"/>
                  </a:lnTo>
                  <a:lnTo>
                    <a:pt x="136" y="44"/>
                  </a:lnTo>
                  <a:lnTo>
                    <a:pt x="140" y="58"/>
                  </a:lnTo>
                  <a:lnTo>
                    <a:pt x="142" y="72"/>
                  </a:lnTo>
                  <a:lnTo>
                    <a:pt x="142" y="72"/>
                  </a:lnTo>
                  <a:lnTo>
                    <a:pt x="140" y="86"/>
                  </a:lnTo>
                  <a:lnTo>
                    <a:pt x="136" y="100"/>
                  </a:lnTo>
                  <a:lnTo>
                    <a:pt x="130" y="112"/>
                  </a:lnTo>
                  <a:lnTo>
                    <a:pt x="122" y="122"/>
                  </a:lnTo>
                  <a:lnTo>
                    <a:pt x="110" y="130"/>
                  </a:lnTo>
                  <a:lnTo>
                    <a:pt x="98" y="138"/>
                  </a:lnTo>
                  <a:lnTo>
                    <a:pt x="86" y="142"/>
                  </a:lnTo>
                  <a:lnTo>
                    <a:pt x="72" y="142"/>
                  </a:lnTo>
                  <a:lnTo>
                    <a:pt x="72" y="142"/>
                  </a:lnTo>
                  <a:close/>
                  <a:moveTo>
                    <a:pt x="72" y="18"/>
                  </a:moveTo>
                  <a:lnTo>
                    <a:pt x="72" y="18"/>
                  </a:lnTo>
                  <a:lnTo>
                    <a:pt x="60" y="20"/>
                  </a:lnTo>
                  <a:lnTo>
                    <a:pt x="50" y="22"/>
                  </a:lnTo>
                  <a:lnTo>
                    <a:pt x="42" y="28"/>
                  </a:lnTo>
                  <a:lnTo>
                    <a:pt x="34" y="34"/>
                  </a:lnTo>
                  <a:lnTo>
                    <a:pt x="28" y="42"/>
                  </a:lnTo>
                  <a:lnTo>
                    <a:pt x="22" y="52"/>
                  </a:lnTo>
                  <a:lnTo>
                    <a:pt x="20" y="62"/>
                  </a:lnTo>
                  <a:lnTo>
                    <a:pt x="18" y="72"/>
                  </a:lnTo>
                  <a:lnTo>
                    <a:pt x="18" y="72"/>
                  </a:lnTo>
                  <a:lnTo>
                    <a:pt x="20" y="82"/>
                  </a:lnTo>
                  <a:lnTo>
                    <a:pt x="22" y="92"/>
                  </a:lnTo>
                  <a:lnTo>
                    <a:pt x="28" y="102"/>
                  </a:lnTo>
                  <a:lnTo>
                    <a:pt x="34" y="110"/>
                  </a:lnTo>
                  <a:lnTo>
                    <a:pt x="42" y="116"/>
                  </a:lnTo>
                  <a:lnTo>
                    <a:pt x="50" y="120"/>
                  </a:lnTo>
                  <a:lnTo>
                    <a:pt x="60" y="124"/>
                  </a:lnTo>
                  <a:lnTo>
                    <a:pt x="72" y="124"/>
                  </a:lnTo>
                  <a:lnTo>
                    <a:pt x="72" y="124"/>
                  </a:lnTo>
                  <a:lnTo>
                    <a:pt x="82" y="124"/>
                  </a:lnTo>
                  <a:lnTo>
                    <a:pt x="92" y="120"/>
                  </a:lnTo>
                  <a:lnTo>
                    <a:pt x="100" y="116"/>
                  </a:lnTo>
                  <a:lnTo>
                    <a:pt x="108" y="110"/>
                  </a:lnTo>
                  <a:lnTo>
                    <a:pt x="116" y="102"/>
                  </a:lnTo>
                  <a:lnTo>
                    <a:pt x="120" y="92"/>
                  </a:lnTo>
                  <a:lnTo>
                    <a:pt x="124" y="82"/>
                  </a:lnTo>
                  <a:lnTo>
                    <a:pt x="124" y="72"/>
                  </a:lnTo>
                  <a:lnTo>
                    <a:pt x="124" y="72"/>
                  </a:lnTo>
                  <a:lnTo>
                    <a:pt x="124" y="62"/>
                  </a:lnTo>
                  <a:lnTo>
                    <a:pt x="120" y="52"/>
                  </a:lnTo>
                  <a:lnTo>
                    <a:pt x="116" y="42"/>
                  </a:lnTo>
                  <a:lnTo>
                    <a:pt x="108" y="34"/>
                  </a:lnTo>
                  <a:lnTo>
                    <a:pt x="100" y="28"/>
                  </a:lnTo>
                  <a:lnTo>
                    <a:pt x="92" y="22"/>
                  </a:lnTo>
                  <a:lnTo>
                    <a:pt x="82" y="20"/>
                  </a:lnTo>
                  <a:lnTo>
                    <a:pt x="72" y="18"/>
                  </a:lnTo>
                  <a:lnTo>
                    <a:pt x="72" y="18"/>
                  </a:lnTo>
                  <a:close/>
                </a:path>
              </a:pathLst>
            </a:custGeom>
            <a:grpFill/>
            <a:ln w="9525">
              <a:no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95" name="Rectangle 93">
              <a:extLst>
                <a:ext uri="{FF2B5EF4-FFF2-40B4-BE49-F238E27FC236}">
                  <a16:creationId xmlns:a16="http://schemas.microsoft.com/office/drawing/2014/main" id="{07F2B76C-7923-61F0-C50A-59E4262F1D75}"/>
                </a:ext>
              </a:extLst>
            </p:cNvPr>
            <p:cNvSpPr>
              <a:spLocks noChangeArrowheads="1"/>
            </p:cNvSpPr>
            <p:nvPr/>
          </p:nvSpPr>
          <p:spPr bwMode="auto">
            <a:xfrm>
              <a:off x="6067425" y="5145088"/>
              <a:ext cx="28575" cy="31750"/>
            </a:xfrm>
            <a:prstGeom prst="rect">
              <a:avLst/>
            </a:prstGeom>
            <a:grpFill/>
            <a:ln w="9525">
              <a:noFill/>
              <a:miter lim="800000"/>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96" name="Rectangle 94">
              <a:extLst>
                <a:ext uri="{FF2B5EF4-FFF2-40B4-BE49-F238E27FC236}">
                  <a16:creationId xmlns:a16="http://schemas.microsoft.com/office/drawing/2014/main" id="{B96C581E-B084-1560-2654-661839E63E2E}"/>
                </a:ext>
              </a:extLst>
            </p:cNvPr>
            <p:cNvSpPr>
              <a:spLocks noChangeArrowheads="1"/>
            </p:cNvSpPr>
            <p:nvPr/>
          </p:nvSpPr>
          <p:spPr bwMode="auto">
            <a:xfrm>
              <a:off x="6067425" y="5208588"/>
              <a:ext cx="28575" cy="34925"/>
            </a:xfrm>
            <a:prstGeom prst="rect">
              <a:avLst/>
            </a:prstGeom>
            <a:grpFill/>
            <a:ln w="9525">
              <a:noFill/>
              <a:miter lim="800000"/>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97" name="Rectangle 95">
              <a:extLst>
                <a:ext uri="{FF2B5EF4-FFF2-40B4-BE49-F238E27FC236}">
                  <a16:creationId xmlns:a16="http://schemas.microsoft.com/office/drawing/2014/main" id="{9932512C-D960-D34D-E242-6DB901FA8553}"/>
                </a:ext>
              </a:extLst>
            </p:cNvPr>
            <p:cNvSpPr>
              <a:spLocks noChangeArrowheads="1"/>
            </p:cNvSpPr>
            <p:nvPr/>
          </p:nvSpPr>
          <p:spPr bwMode="auto">
            <a:xfrm>
              <a:off x="6067425" y="5275263"/>
              <a:ext cx="28575" cy="31750"/>
            </a:xfrm>
            <a:prstGeom prst="rect">
              <a:avLst/>
            </a:prstGeom>
            <a:grpFill/>
            <a:ln w="9525">
              <a:noFill/>
              <a:miter lim="800000"/>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grpSp>
      <p:sp>
        <p:nvSpPr>
          <p:cNvPr id="98" name="TextBox 97">
            <a:extLst>
              <a:ext uri="{FF2B5EF4-FFF2-40B4-BE49-F238E27FC236}">
                <a16:creationId xmlns:a16="http://schemas.microsoft.com/office/drawing/2014/main" id="{E68CB395-A187-2BFC-3B5A-7E89364B36EB}"/>
              </a:ext>
            </a:extLst>
          </p:cNvPr>
          <p:cNvSpPr txBox="1"/>
          <p:nvPr/>
        </p:nvSpPr>
        <p:spPr>
          <a:xfrm>
            <a:off x="1591722" y="6449917"/>
            <a:ext cx="1441762" cy="400110"/>
          </a:xfrm>
          <a:prstGeom prst="rect">
            <a:avLst/>
          </a:prstGeom>
          <a:noFill/>
        </p:spPr>
        <p:txBody>
          <a:bodyPr wrap="square" rtlCol="0">
            <a:spAutoFit/>
          </a:bodyPr>
          <a:lstStyle/>
          <a:p>
            <a:r>
              <a:rPr lang="en-US" sz="1000"/>
              <a:t>Business Analyst/Data Steward</a:t>
            </a:r>
          </a:p>
        </p:txBody>
      </p:sp>
      <p:sp>
        <p:nvSpPr>
          <p:cNvPr id="99" name="Rectangle 98">
            <a:extLst>
              <a:ext uri="{FF2B5EF4-FFF2-40B4-BE49-F238E27FC236}">
                <a16:creationId xmlns:a16="http://schemas.microsoft.com/office/drawing/2014/main" id="{7595583A-B4C4-0C55-4EDA-2A3A5B165696}"/>
              </a:ext>
            </a:extLst>
          </p:cNvPr>
          <p:cNvSpPr/>
          <p:nvPr/>
        </p:nvSpPr>
        <p:spPr>
          <a:xfrm>
            <a:off x="10508566" y="91606"/>
            <a:ext cx="1683434" cy="26607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accent1"/>
                </a:solidFill>
              </a:rPr>
              <a:t>Reserving</a:t>
            </a:r>
            <a:endParaRPr lang="en-US"/>
          </a:p>
        </p:txBody>
      </p:sp>
      <p:pic>
        <p:nvPicPr>
          <p:cNvPr id="4" name="Picture 291">
            <a:extLst>
              <a:ext uri="{FF2B5EF4-FFF2-40B4-BE49-F238E27FC236}">
                <a16:creationId xmlns:a16="http://schemas.microsoft.com/office/drawing/2014/main" id="{15A5D26B-BF70-F3E0-DAE5-429A2BCF3B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0617" y="5981109"/>
            <a:ext cx="306320" cy="242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91">
            <a:extLst>
              <a:ext uri="{FF2B5EF4-FFF2-40B4-BE49-F238E27FC236}">
                <a16:creationId xmlns:a16="http://schemas.microsoft.com/office/drawing/2014/main" id="{F0457A74-57DA-380F-04B8-1186F726C6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5241" y="6000901"/>
            <a:ext cx="306320" cy="242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81763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0ACD60-172F-4643-AD1A-60CA169F30A6}"/>
              </a:ext>
            </a:extLst>
          </p:cNvPr>
          <p:cNvSpPr>
            <a:spLocks noGrp="1"/>
          </p:cNvSpPr>
          <p:nvPr>
            <p:ph type="body" sz="quarter" idx="10"/>
          </p:nvPr>
        </p:nvSpPr>
        <p:spPr/>
        <p:txBody>
          <a:bodyPr/>
          <a:lstStyle/>
          <a:p>
            <a:r>
              <a:rPr lang="en-IN" sz="2400"/>
              <a:t>Case Example 2 - Annuities - FIA Valuation Transformation</a:t>
            </a:r>
          </a:p>
        </p:txBody>
      </p:sp>
      <p:sp>
        <p:nvSpPr>
          <p:cNvPr id="11" name="Text Placeholder 10">
            <a:extLst>
              <a:ext uri="{FF2B5EF4-FFF2-40B4-BE49-F238E27FC236}">
                <a16:creationId xmlns:a16="http://schemas.microsoft.com/office/drawing/2014/main" id="{D14B3E73-78D9-4E9E-8795-BA1108BE7FF8}"/>
              </a:ext>
            </a:extLst>
          </p:cNvPr>
          <p:cNvSpPr>
            <a:spLocks noGrp="1"/>
          </p:cNvSpPr>
          <p:nvPr>
            <p:ph type="body" sz="quarter" idx="12"/>
          </p:nvPr>
        </p:nvSpPr>
        <p:spPr/>
        <p:txBody>
          <a:bodyPr/>
          <a:lstStyle/>
          <a:p>
            <a:r>
              <a:rPr lang="en-US"/>
              <a:t>Built “One-Click” automated data extraction and processing tool in Python, while maintaining a user-friendly Excel based interface for output review</a:t>
            </a:r>
          </a:p>
        </p:txBody>
      </p:sp>
      <p:sp>
        <p:nvSpPr>
          <p:cNvPr id="4" name="Text Placeholder 3">
            <a:extLst>
              <a:ext uri="{FF2B5EF4-FFF2-40B4-BE49-F238E27FC236}">
                <a16:creationId xmlns:a16="http://schemas.microsoft.com/office/drawing/2014/main" id="{0D36DB02-18FD-401D-A5E3-40F6B2E7B49D}"/>
              </a:ext>
            </a:extLst>
          </p:cNvPr>
          <p:cNvSpPr>
            <a:spLocks noGrp="1"/>
          </p:cNvSpPr>
          <p:nvPr>
            <p:ph type="body" sz="quarter" idx="13"/>
          </p:nvPr>
        </p:nvSpPr>
        <p:spPr/>
        <p:txBody>
          <a:bodyPr/>
          <a:lstStyle/>
          <a:p>
            <a:r>
              <a:rPr lang="en-IN"/>
              <a:t>Background</a:t>
            </a:r>
          </a:p>
        </p:txBody>
      </p:sp>
      <p:sp>
        <p:nvSpPr>
          <p:cNvPr id="5" name="Text Placeholder 4">
            <a:extLst>
              <a:ext uri="{FF2B5EF4-FFF2-40B4-BE49-F238E27FC236}">
                <a16:creationId xmlns:a16="http://schemas.microsoft.com/office/drawing/2014/main" id="{4DC22E0E-8803-4C8F-95B8-EFD21F9CD093}"/>
              </a:ext>
            </a:extLst>
          </p:cNvPr>
          <p:cNvSpPr>
            <a:spLocks noGrp="1"/>
          </p:cNvSpPr>
          <p:nvPr>
            <p:ph type="body" sz="quarter" idx="14"/>
          </p:nvPr>
        </p:nvSpPr>
        <p:spPr/>
        <p:txBody>
          <a:bodyPr/>
          <a:lstStyle/>
          <a:p>
            <a:pPr marL="182880" indent="-182880">
              <a:spcBef>
                <a:spcPts val="200"/>
              </a:spcBef>
              <a:spcAft>
                <a:spcPts val="200"/>
              </a:spcAft>
              <a:buFont typeface="Arial" panose="020B0604020202020204" pitchFamily="34" charset="0"/>
              <a:buChar char="•"/>
            </a:pPr>
            <a:r>
              <a:rPr lang="en-US" sz="1200" b="1">
                <a:latin typeface="+mn-lt"/>
              </a:rPr>
              <a:t>Streamline the end-to-end FIA Valuation process </a:t>
            </a:r>
            <a:r>
              <a:rPr lang="en-US" sz="1200">
                <a:latin typeface="+mn-lt"/>
              </a:rPr>
              <a:t>by eliminating manual interventions in input data extraction, processing and validation</a:t>
            </a:r>
          </a:p>
          <a:p>
            <a:pPr marL="182880" indent="-182880">
              <a:spcBef>
                <a:spcPts val="200"/>
              </a:spcBef>
              <a:spcAft>
                <a:spcPts val="200"/>
              </a:spcAft>
              <a:buFont typeface="Arial" panose="020B0604020202020204" pitchFamily="34" charset="0"/>
              <a:buChar char="•"/>
            </a:pPr>
            <a:r>
              <a:rPr lang="en-US" sz="1200" b="1">
                <a:latin typeface="+mn-lt"/>
              </a:rPr>
              <a:t>Eliminating multiple data sources interaction, </a:t>
            </a:r>
            <a:r>
              <a:rPr lang="en-US" sz="1200">
                <a:latin typeface="+mn-lt"/>
              </a:rPr>
              <a:t>including Oracle BI, SQL, flat files (csv, excel) and reducing process run-time, currently 24 hours</a:t>
            </a:r>
          </a:p>
        </p:txBody>
      </p:sp>
      <p:sp>
        <p:nvSpPr>
          <p:cNvPr id="80" name="Text Placeholder 3">
            <a:extLst>
              <a:ext uri="{FF2B5EF4-FFF2-40B4-BE49-F238E27FC236}">
                <a16:creationId xmlns:a16="http://schemas.microsoft.com/office/drawing/2014/main" id="{C727E186-61E4-42FC-A80A-E04C28EC5B85}"/>
              </a:ext>
            </a:extLst>
          </p:cNvPr>
          <p:cNvSpPr txBox="1">
            <a:spLocks/>
          </p:cNvSpPr>
          <p:nvPr/>
        </p:nvSpPr>
        <p:spPr>
          <a:xfrm>
            <a:off x="457201" y="4211984"/>
            <a:ext cx="2201157" cy="282410"/>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Clr>
                <a:schemeClr val="tx2"/>
              </a:buClr>
              <a:buFontTx/>
              <a:buNone/>
              <a:defRPr sz="1600" b="1" kern="1200">
                <a:solidFill>
                  <a:schemeClr val="accent3"/>
                </a:solidFill>
                <a:latin typeface="+mn-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a:t>Challenges Faced</a:t>
            </a:r>
          </a:p>
        </p:txBody>
      </p:sp>
      <p:sp>
        <p:nvSpPr>
          <p:cNvPr id="88" name="Text Placeholder 4">
            <a:extLst>
              <a:ext uri="{FF2B5EF4-FFF2-40B4-BE49-F238E27FC236}">
                <a16:creationId xmlns:a16="http://schemas.microsoft.com/office/drawing/2014/main" id="{B70BBECE-0590-42CD-80F6-99B6961A2EFB}"/>
              </a:ext>
            </a:extLst>
          </p:cNvPr>
          <p:cNvSpPr txBox="1">
            <a:spLocks/>
          </p:cNvSpPr>
          <p:nvPr/>
        </p:nvSpPr>
        <p:spPr>
          <a:xfrm>
            <a:off x="461387" y="4566605"/>
            <a:ext cx="2710438" cy="1795787"/>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Clr>
                <a:schemeClr val="tx2"/>
              </a:buClr>
              <a:buFontTx/>
              <a:buNone/>
              <a:defRPr lang="en-US" sz="1800" kern="1200" dirty="0" smtClean="0">
                <a:solidFill>
                  <a:srgbClr val="000000"/>
                </a:solidFill>
                <a:latin typeface="+mj-lt"/>
                <a:ea typeface="+mn-ea"/>
                <a:cs typeface="+mn-cs"/>
              </a:defRPr>
            </a:lvl1pPr>
            <a:lvl2pPr marL="290513" indent="0" algn="l" defTabSz="914400" rtl="0" eaLnBrk="1" latinLnBrk="0" hangingPunct="1">
              <a:lnSpc>
                <a:spcPct val="90000"/>
              </a:lnSpc>
              <a:spcBef>
                <a:spcPts val="500"/>
              </a:spcBef>
              <a:buFontTx/>
              <a:buNone/>
              <a:tabLst/>
              <a:defRPr lang="en-US" sz="1800" kern="1200" dirty="0" smtClean="0">
                <a:solidFill>
                  <a:srgbClr val="000000"/>
                </a:solidFill>
                <a:latin typeface="+mj-lt"/>
                <a:ea typeface="+mn-ea"/>
                <a:cs typeface="+mn-cs"/>
              </a:defRPr>
            </a:lvl2pPr>
            <a:lvl3pPr marL="582613" indent="0" algn="l" defTabSz="914400" rtl="0" eaLnBrk="1" latinLnBrk="0" hangingPunct="1">
              <a:lnSpc>
                <a:spcPct val="90000"/>
              </a:lnSpc>
              <a:spcBef>
                <a:spcPts val="500"/>
              </a:spcBef>
              <a:buFontTx/>
              <a:buNone/>
              <a:tabLst/>
              <a:defRPr lang="en-US" sz="1800" kern="1200" dirty="0" smtClean="0">
                <a:solidFill>
                  <a:srgbClr val="000000"/>
                </a:solidFill>
                <a:latin typeface="+mj-lt"/>
                <a:ea typeface="+mn-ea"/>
                <a:cs typeface="+mn-cs"/>
              </a:defRPr>
            </a:lvl3pPr>
            <a:lvl4pPr marL="855663" indent="0" algn="l" defTabSz="914400" rtl="0" eaLnBrk="1" latinLnBrk="0" hangingPunct="1">
              <a:lnSpc>
                <a:spcPct val="90000"/>
              </a:lnSpc>
              <a:spcBef>
                <a:spcPts val="500"/>
              </a:spcBef>
              <a:buFontTx/>
              <a:buNone/>
              <a:tabLst/>
              <a:defRPr lang="en-US" sz="1800" kern="1200" dirty="0" smtClean="0">
                <a:solidFill>
                  <a:srgbClr val="000000"/>
                </a:solidFill>
                <a:latin typeface="+mj-lt"/>
                <a:ea typeface="+mn-ea"/>
                <a:cs typeface="+mn-cs"/>
              </a:defRPr>
            </a:lvl4pPr>
            <a:lvl5pPr marL="1100138" indent="0" algn="l" defTabSz="914400" rtl="0" eaLnBrk="1" latinLnBrk="0" hangingPunct="1">
              <a:lnSpc>
                <a:spcPct val="90000"/>
              </a:lnSpc>
              <a:spcBef>
                <a:spcPts val="500"/>
              </a:spcBef>
              <a:buFontTx/>
              <a:buNone/>
              <a:tabLst/>
              <a:defRPr lang="en-US" sz="1800" kern="1200" dirty="0">
                <a:solidFill>
                  <a:srgbClr val="000000"/>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0" indent="-182880">
              <a:spcBef>
                <a:spcPts val="200"/>
              </a:spcBef>
              <a:spcAft>
                <a:spcPts val="200"/>
              </a:spcAft>
              <a:buFont typeface="Arial" panose="020B0604020202020204" pitchFamily="34" charset="0"/>
              <a:buChar char="•"/>
            </a:pPr>
            <a:r>
              <a:rPr lang="en-US" sz="1200" b="1">
                <a:latin typeface="+mn-lt"/>
              </a:rPr>
              <a:t>Error-prone process </a:t>
            </a:r>
            <a:r>
              <a:rPr lang="en-US" sz="1200">
                <a:latin typeface="+mn-lt"/>
              </a:rPr>
              <a:t>due to high degree of output files interdependencies</a:t>
            </a:r>
          </a:p>
          <a:p>
            <a:pPr marL="182880" indent="-182880">
              <a:spcBef>
                <a:spcPts val="200"/>
              </a:spcBef>
              <a:spcAft>
                <a:spcPts val="200"/>
              </a:spcAft>
              <a:buFont typeface="Arial" panose="020B0604020202020204" pitchFamily="34" charset="0"/>
              <a:buChar char="•"/>
            </a:pPr>
            <a:r>
              <a:rPr lang="en-US" sz="1200" b="1">
                <a:latin typeface="+mn-lt"/>
              </a:rPr>
              <a:t>Significant time consumption </a:t>
            </a:r>
            <a:r>
              <a:rPr lang="en-US" sz="1200">
                <a:latin typeface="+mn-lt"/>
              </a:rPr>
              <a:t>for gathering inputs from multiple sources to prepare inputs for processing</a:t>
            </a:r>
          </a:p>
          <a:p>
            <a:pPr marL="182880" indent="-182880">
              <a:spcBef>
                <a:spcPts val="200"/>
              </a:spcBef>
              <a:spcAft>
                <a:spcPts val="200"/>
              </a:spcAft>
              <a:buFont typeface="Arial" panose="020B0604020202020204" pitchFamily="34" charset="0"/>
              <a:buChar char="•"/>
            </a:pPr>
            <a:r>
              <a:rPr lang="en-US" sz="1200" b="1">
                <a:latin typeface="+mn-lt"/>
              </a:rPr>
              <a:t>Data reconciliation </a:t>
            </a:r>
            <a:r>
              <a:rPr lang="en-US" sz="1200">
                <a:latin typeface="+mn-lt"/>
              </a:rPr>
              <a:t>across different input sources was a </a:t>
            </a:r>
            <a:r>
              <a:rPr lang="en-US" sz="1200" b="1">
                <a:latin typeface="+mn-lt"/>
              </a:rPr>
              <a:t>manual and time-consuming process</a:t>
            </a:r>
          </a:p>
          <a:p>
            <a:pPr marL="182880" indent="-182880">
              <a:spcBef>
                <a:spcPts val="200"/>
              </a:spcBef>
              <a:spcAft>
                <a:spcPts val="200"/>
              </a:spcAft>
              <a:buFont typeface="Arial" panose="020B0604020202020204" pitchFamily="34" charset="0"/>
              <a:buChar char="•"/>
            </a:pPr>
            <a:r>
              <a:rPr lang="en-US" sz="1200" b="1">
                <a:latin typeface="+mn-lt"/>
              </a:rPr>
              <a:t>Incorporating non-standardized </a:t>
            </a:r>
            <a:r>
              <a:rPr lang="en-US" sz="1200">
                <a:latin typeface="+mn-lt"/>
              </a:rPr>
              <a:t>checks across different files for data validation</a:t>
            </a:r>
          </a:p>
        </p:txBody>
      </p:sp>
      <p:sp>
        <p:nvSpPr>
          <p:cNvPr id="89" name="Text Placeholder 3">
            <a:extLst>
              <a:ext uri="{FF2B5EF4-FFF2-40B4-BE49-F238E27FC236}">
                <a16:creationId xmlns:a16="http://schemas.microsoft.com/office/drawing/2014/main" id="{2700B7B4-B022-4E38-8495-431756DF0EB0}"/>
              </a:ext>
            </a:extLst>
          </p:cNvPr>
          <p:cNvSpPr txBox="1">
            <a:spLocks/>
          </p:cNvSpPr>
          <p:nvPr/>
        </p:nvSpPr>
        <p:spPr>
          <a:xfrm>
            <a:off x="3609976" y="1819276"/>
            <a:ext cx="2201157" cy="282410"/>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Clr>
                <a:schemeClr val="tx2"/>
              </a:buClr>
              <a:buFontTx/>
              <a:buNone/>
              <a:defRPr sz="1600" b="1" kern="1200">
                <a:solidFill>
                  <a:schemeClr val="accent3"/>
                </a:solidFill>
                <a:latin typeface="+mn-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a:t>Solution</a:t>
            </a:r>
          </a:p>
        </p:txBody>
      </p:sp>
      <p:sp>
        <p:nvSpPr>
          <p:cNvPr id="6" name="Arrow: Chevron 5">
            <a:extLst>
              <a:ext uri="{FF2B5EF4-FFF2-40B4-BE49-F238E27FC236}">
                <a16:creationId xmlns:a16="http://schemas.microsoft.com/office/drawing/2014/main" id="{B4E9D37B-3A1F-4A36-BE78-012E685A39B3}"/>
              </a:ext>
            </a:extLst>
          </p:cNvPr>
          <p:cNvSpPr/>
          <p:nvPr/>
        </p:nvSpPr>
        <p:spPr>
          <a:xfrm>
            <a:off x="3609976" y="2151145"/>
            <a:ext cx="2854386" cy="377604"/>
          </a:xfrm>
          <a:prstGeom prst="chevron">
            <a:avLst>
              <a:gd name="adj" fmla="val 25336"/>
            </a:avLst>
          </a:prstGeom>
          <a:solidFill>
            <a:schemeClr val="accent3"/>
          </a:solidFill>
          <a:ln w="12700" cap="flat" cmpd="sng" algn="ctr">
            <a:solidFill>
              <a:srgbClr val="FFFFFF">
                <a:hueOff val="0"/>
                <a:satOff val="0"/>
                <a:lumOff val="0"/>
                <a:alphaOff val="0"/>
              </a:srgbClr>
            </a:solidFill>
            <a:prstDash val="solid"/>
            <a:miter lim="800000"/>
          </a:ln>
          <a:effectLst/>
        </p:spPr>
        <p:style>
          <a:lnRef idx="2">
            <a:scrgbClr r="0" g="0" b="0"/>
          </a:lnRef>
          <a:fillRef idx="1">
            <a:scrgbClr r="0" g="0" b="0"/>
          </a:fillRef>
          <a:effectRef idx="0">
            <a:scrgbClr r="0" g="0" b="0"/>
          </a:effectRef>
          <a:fontRef idx="minor">
            <a:schemeClr val="lt1"/>
          </a:fontRef>
        </p:style>
        <p:txBody>
          <a:bodyPr spcFirstLastPara="0" vert="horz" wrap="square" lIns="244809" tIns="18669" rIns="207471" bIns="18669" numCol="1" spcCol="1270" anchor="ctr" anchorCtr="0">
            <a:noAutofit/>
          </a:bodyPr>
          <a:lstStyle/>
          <a:p>
            <a:pPr marL="0" lvl="0" indent="0" algn="ctr" defTabSz="622300">
              <a:lnSpc>
                <a:spcPct val="90000"/>
              </a:lnSpc>
              <a:spcBef>
                <a:spcPct val="0"/>
              </a:spcBef>
              <a:spcAft>
                <a:spcPct val="35000"/>
              </a:spcAft>
              <a:buNone/>
            </a:pPr>
            <a:r>
              <a:rPr lang="en-US" sz="1400" b="1" kern="1200">
                <a:solidFill>
                  <a:srgbClr val="FFFFFF"/>
                </a:solidFill>
                <a:latin typeface="Calibri" panose="020F0502020204030204" pitchFamily="34" charset="0"/>
                <a:ea typeface="+mn-ea"/>
                <a:cs typeface="Calibri" panose="020F0502020204030204" pitchFamily="34" charset="0"/>
              </a:rPr>
              <a:t>Input Data Extraction</a:t>
            </a:r>
          </a:p>
        </p:txBody>
      </p:sp>
      <p:sp>
        <p:nvSpPr>
          <p:cNvPr id="7" name="Arrow: Chevron 6">
            <a:extLst>
              <a:ext uri="{FF2B5EF4-FFF2-40B4-BE49-F238E27FC236}">
                <a16:creationId xmlns:a16="http://schemas.microsoft.com/office/drawing/2014/main" id="{E1F003D8-25D1-43B9-A8C8-B985BD293A83}"/>
              </a:ext>
            </a:extLst>
          </p:cNvPr>
          <p:cNvSpPr/>
          <p:nvPr/>
        </p:nvSpPr>
        <p:spPr>
          <a:xfrm>
            <a:off x="6181266" y="2151145"/>
            <a:ext cx="2854386" cy="377604"/>
          </a:xfrm>
          <a:prstGeom prst="chevron">
            <a:avLst>
              <a:gd name="adj" fmla="val 30941"/>
            </a:avLst>
          </a:prstGeom>
          <a:solidFill>
            <a:schemeClr val="accent3"/>
          </a:solidFill>
          <a:ln w="12700" cap="flat" cmpd="sng" algn="ctr">
            <a:solidFill>
              <a:srgbClr val="FFFFFF">
                <a:hueOff val="0"/>
                <a:satOff val="0"/>
                <a:lumOff val="0"/>
                <a:alphaOff val="0"/>
              </a:srgbClr>
            </a:solidFill>
            <a:prstDash val="solid"/>
            <a:miter lim="800000"/>
          </a:ln>
          <a:effectLst/>
        </p:spPr>
        <p:style>
          <a:lnRef idx="2">
            <a:scrgbClr r="0" g="0" b="0"/>
          </a:lnRef>
          <a:fillRef idx="1">
            <a:scrgbClr r="0" g="0" b="0"/>
          </a:fillRef>
          <a:effectRef idx="0">
            <a:scrgbClr r="0" g="0" b="0"/>
          </a:effectRef>
          <a:fontRef idx="minor">
            <a:schemeClr val="lt1"/>
          </a:fontRef>
        </p:style>
        <p:txBody>
          <a:bodyPr spcFirstLastPara="0" vert="horz" wrap="square" lIns="244809" tIns="18669" rIns="207471" bIns="18669" numCol="1" spcCol="1270" anchor="ctr" anchorCtr="0">
            <a:noAutofit/>
          </a:bodyPr>
          <a:lstStyle/>
          <a:p>
            <a:pPr marL="0" lvl="0" indent="0" algn="ctr" defTabSz="622300">
              <a:lnSpc>
                <a:spcPct val="90000"/>
              </a:lnSpc>
              <a:spcBef>
                <a:spcPct val="0"/>
              </a:spcBef>
              <a:spcAft>
                <a:spcPct val="35000"/>
              </a:spcAft>
              <a:buNone/>
            </a:pPr>
            <a:r>
              <a:rPr lang="en-US" sz="1400" b="1" kern="1200">
                <a:solidFill>
                  <a:srgbClr val="FFFFFF"/>
                </a:solidFill>
                <a:latin typeface="Calibri" panose="020F0502020204030204" pitchFamily="34" charset="0"/>
                <a:ea typeface="+mn-ea"/>
                <a:cs typeface="Calibri" panose="020F0502020204030204" pitchFamily="34" charset="0"/>
              </a:rPr>
              <a:t>Data Processing</a:t>
            </a:r>
          </a:p>
        </p:txBody>
      </p:sp>
      <p:sp>
        <p:nvSpPr>
          <p:cNvPr id="8" name="Arrow: Chevron 7">
            <a:extLst>
              <a:ext uri="{FF2B5EF4-FFF2-40B4-BE49-F238E27FC236}">
                <a16:creationId xmlns:a16="http://schemas.microsoft.com/office/drawing/2014/main" id="{A9FD38FD-82B4-4B14-B8DD-46DD7FAA3D02}"/>
              </a:ext>
            </a:extLst>
          </p:cNvPr>
          <p:cNvSpPr/>
          <p:nvPr/>
        </p:nvSpPr>
        <p:spPr>
          <a:xfrm>
            <a:off x="8750213" y="2151145"/>
            <a:ext cx="2854386" cy="377604"/>
          </a:xfrm>
          <a:prstGeom prst="chevron">
            <a:avLst>
              <a:gd name="adj" fmla="val 27578"/>
            </a:avLst>
          </a:prstGeom>
          <a:solidFill>
            <a:schemeClr val="accent3"/>
          </a:solidFill>
          <a:ln w="12700" cap="flat" cmpd="sng" algn="ctr">
            <a:solidFill>
              <a:srgbClr val="FFFFFF">
                <a:hueOff val="0"/>
                <a:satOff val="0"/>
                <a:lumOff val="0"/>
                <a:alphaOff val="0"/>
              </a:srgbClr>
            </a:solidFill>
            <a:prstDash val="solid"/>
            <a:miter lim="800000"/>
          </a:ln>
          <a:effectLst/>
        </p:spPr>
        <p:style>
          <a:lnRef idx="2">
            <a:scrgbClr r="0" g="0" b="0"/>
          </a:lnRef>
          <a:fillRef idx="1">
            <a:scrgbClr r="0" g="0" b="0"/>
          </a:fillRef>
          <a:effectRef idx="0">
            <a:scrgbClr r="0" g="0" b="0"/>
          </a:effectRef>
          <a:fontRef idx="minor">
            <a:schemeClr val="lt1"/>
          </a:fontRef>
        </p:style>
        <p:txBody>
          <a:bodyPr spcFirstLastPara="0" vert="horz" wrap="square" lIns="244809" tIns="18669" rIns="207471" bIns="18669" numCol="1" spcCol="1270" anchor="ctr" anchorCtr="0">
            <a:noAutofit/>
          </a:bodyPr>
          <a:lstStyle/>
          <a:p>
            <a:pPr marL="0" lvl="0" indent="0" algn="ctr" defTabSz="622300">
              <a:lnSpc>
                <a:spcPct val="90000"/>
              </a:lnSpc>
              <a:spcBef>
                <a:spcPct val="0"/>
              </a:spcBef>
              <a:spcAft>
                <a:spcPct val="35000"/>
              </a:spcAft>
              <a:buNone/>
            </a:pPr>
            <a:r>
              <a:rPr lang="en-US" sz="1400" b="1" kern="1200">
                <a:solidFill>
                  <a:srgbClr val="FFFFFF"/>
                </a:solidFill>
                <a:latin typeface="Calibri" panose="020F0502020204030204" pitchFamily="34" charset="0"/>
                <a:ea typeface="+mn-ea"/>
                <a:cs typeface="Calibri" panose="020F0502020204030204" pitchFamily="34" charset="0"/>
              </a:rPr>
              <a:t>Output Generation</a:t>
            </a:r>
          </a:p>
        </p:txBody>
      </p:sp>
      <p:sp>
        <p:nvSpPr>
          <p:cNvPr id="94" name="Title 4">
            <a:extLst>
              <a:ext uri="{FF2B5EF4-FFF2-40B4-BE49-F238E27FC236}">
                <a16:creationId xmlns:a16="http://schemas.microsoft.com/office/drawing/2014/main" id="{7F4B69B0-3398-4643-B37B-D1DA8C0BCDEC}"/>
              </a:ext>
            </a:extLst>
          </p:cNvPr>
          <p:cNvSpPr txBox="1">
            <a:spLocks/>
          </p:cNvSpPr>
          <p:nvPr/>
        </p:nvSpPr>
        <p:spPr>
          <a:xfrm>
            <a:off x="3689563" y="2602901"/>
            <a:ext cx="2491703" cy="2228182"/>
          </a:xfrm>
          <a:prstGeom prst="rect">
            <a:avLst/>
          </a:prstGeom>
          <a:ln>
            <a:solidFill>
              <a:schemeClr val="accent1"/>
            </a:solidFill>
            <a:prstDash val="solid"/>
          </a:ln>
        </p:spPr>
        <p:txBody>
          <a:bodyPr vert="horz" lIns="91440" tIns="45720" rIns="91440" bIns="45720" rtlCol="0" anchor="t">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marL="137160" marR="0" lvl="1" indent="-137160" defTabSz="914400" eaLnBrk="1" fontAlgn="base" latinLnBrk="0" hangingPunct="1">
              <a:spcBef>
                <a:spcPts val="200"/>
              </a:spcBef>
              <a:spcAft>
                <a:spcPts val="200"/>
              </a:spcAft>
              <a:buClr>
                <a:srgbClr val="FB4E0B"/>
              </a:buClr>
              <a:buSzPct val="100000"/>
              <a:buFont typeface="Calibri" panose="020F0502020204030204" pitchFamily="34" charset="0"/>
              <a:buChar char="•"/>
              <a:tabLst>
                <a:tab pos="6000750" algn="ctr"/>
              </a:tabLst>
              <a:defRPr/>
            </a:pPr>
            <a:r>
              <a:rPr kumimoji="0" lang="en-US" sz="1200" b="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Creating Staging Zone,</a:t>
            </a:r>
            <a:r>
              <a:rPr kumimoji="0" lang="en-US" sz="1200" b="1" u="sng"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a:t>
            </a:r>
            <a:r>
              <a:rPr kumimoji="0" lang="en-US" sz="1200" b="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consolidating input files from varying sources</a:t>
            </a:r>
          </a:p>
          <a:p>
            <a:pPr marL="137160" marR="0" lvl="1" indent="-137160" defTabSz="914400" eaLnBrk="1" fontAlgn="base" latinLnBrk="0" hangingPunct="1">
              <a:spcBef>
                <a:spcPts val="200"/>
              </a:spcBef>
              <a:spcAft>
                <a:spcPts val="200"/>
              </a:spcAft>
              <a:buClr>
                <a:srgbClr val="FB4E0B"/>
              </a:buClr>
              <a:buSzPct val="100000"/>
              <a:buFont typeface="Calibri" panose="020F0502020204030204" pitchFamily="34" charset="0"/>
              <a:buChar char="•"/>
              <a:tabLst>
                <a:tab pos="6000750" algn="ctr"/>
              </a:tabLst>
              <a:defRPr/>
            </a:pPr>
            <a:r>
              <a:rPr kumimoji="0" lang="en-US" sz="1200" b="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Eliminating user’s interaction</a:t>
            </a:r>
            <a:r>
              <a:rPr kumimoji="0" lang="en-US" sz="1200" b="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with Oracle BI, SQL for input data extraction, via automated data fetch</a:t>
            </a:r>
          </a:p>
          <a:p>
            <a:pPr marL="137160" marR="0" lvl="1" indent="-137160" defTabSz="914400" eaLnBrk="1" fontAlgn="base" latinLnBrk="0" hangingPunct="1">
              <a:spcBef>
                <a:spcPts val="200"/>
              </a:spcBef>
              <a:spcAft>
                <a:spcPts val="200"/>
              </a:spcAft>
              <a:buClr>
                <a:srgbClr val="FB4E0B"/>
              </a:buClr>
              <a:buSzPct val="100000"/>
              <a:buFont typeface="Calibri" panose="020F0502020204030204" pitchFamily="34" charset="0"/>
              <a:buChar char="•"/>
              <a:tabLst>
                <a:tab pos="6000750" algn="ctr"/>
              </a:tabLst>
              <a:defRPr/>
            </a:pPr>
            <a:r>
              <a:rPr kumimoji="0" lang="en-US" sz="1200" b="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Building utility</a:t>
            </a:r>
            <a:r>
              <a:rPr kumimoji="0" lang="en-US" sz="1200" b="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incorporating re-runs (in case of model changes)</a:t>
            </a:r>
          </a:p>
        </p:txBody>
      </p:sp>
      <p:sp>
        <p:nvSpPr>
          <p:cNvPr id="95" name="Title 4">
            <a:extLst>
              <a:ext uri="{FF2B5EF4-FFF2-40B4-BE49-F238E27FC236}">
                <a16:creationId xmlns:a16="http://schemas.microsoft.com/office/drawing/2014/main" id="{D36D8745-BDD6-4809-86C1-3D9671D6B8BB}"/>
              </a:ext>
            </a:extLst>
          </p:cNvPr>
          <p:cNvSpPr txBox="1">
            <a:spLocks/>
          </p:cNvSpPr>
          <p:nvPr/>
        </p:nvSpPr>
        <p:spPr>
          <a:xfrm>
            <a:off x="6312742" y="2602901"/>
            <a:ext cx="2406437" cy="2228182"/>
          </a:xfrm>
          <a:prstGeom prst="rect">
            <a:avLst/>
          </a:prstGeom>
          <a:ln>
            <a:solidFill>
              <a:schemeClr val="accent1"/>
            </a:solidFill>
            <a:prstDash val="solid"/>
          </a:ln>
        </p:spPr>
        <p:txBody>
          <a:bodyPr vert="horz" lIns="91440" tIns="45720" rIns="91440" bIns="45720" rtlCol="0" anchor="t">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marL="137160" marR="0" lvl="1" indent="-137160" defTabSz="914400" eaLnBrk="1" fontAlgn="base" latinLnBrk="0" hangingPunct="1">
              <a:spcBef>
                <a:spcPts val="200"/>
              </a:spcBef>
              <a:spcAft>
                <a:spcPts val="200"/>
              </a:spcAft>
              <a:buClr>
                <a:srgbClr val="FB4E0B"/>
              </a:buClr>
              <a:buSzPct val="100000"/>
              <a:buFont typeface="Calibri" panose="020F0502020204030204" pitchFamily="34" charset="0"/>
              <a:buChar char="•"/>
              <a:tabLst>
                <a:tab pos="6000750" algn="ctr"/>
              </a:tabLst>
              <a:defRPr/>
            </a:pPr>
            <a:r>
              <a:rPr kumimoji="0" lang="en-US" sz="1200" b="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Data reconciliation and processing is triggered</a:t>
            </a:r>
            <a:r>
              <a:rPr kumimoji="0" lang="en-US" sz="1200" b="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post consolidation of input files in the Staging Zone</a:t>
            </a:r>
          </a:p>
          <a:p>
            <a:pPr marL="137160" marR="0" lvl="1" indent="-137160" defTabSz="914400" eaLnBrk="1" fontAlgn="base" latinLnBrk="0" hangingPunct="1">
              <a:spcBef>
                <a:spcPts val="200"/>
              </a:spcBef>
              <a:spcAft>
                <a:spcPts val="200"/>
              </a:spcAft>
              <a:buClr>
                <a:srgbClr val="FB4E0B"/>
              </a:buClr>
              <a:buSzPct val="100000"/>
              <a:buFont typeface="Calibri" panose="020F0502020204030204" pitchFamily="34" charset="0"/>
              <a:buChar char="•"/>
              <a:tabLst>
                <a:tab pos="6000750" algn="ctr"/>
              </a:tabLst>
              <a:defRPr/>
            </a:pPr>
            <a:r>
              <a:rPr kumimoji="0" lang="en-US" sz="1200" b="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Reporting files are </a:t>
            </a:r>
            <a:r>
              <a:rPr kumimoji="0" lang="en-US" sz="1200" b="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processed in parallel</a:t>
            </a:r>
            <a:r>
              <a:rPr kumimoji="0" lang="en-US" sz="1200" b="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eliminating sequential processing (current state)</a:t>
            </a:r>
          </a:p>
        </p:txBody>
      </p:sp>
      <p:sp>
        <p:nvSpPr>
          <p:cNvPr id="96" name="Title 4">
            <a:extLst>
              <a:ext uri="{FF2B5EF4-FFF2-40B4-BE49-F238E27FC236}">
                <a16:creationId xmlns:a16="http://schemas.microsoft.com/office/drawing/2014/main" id="{132CF0B3-1AF0-47E2-A070-EEA7A96CDEC3}"/>
              </a:ext>
            </a:extLst>
          </p:cNvPr>
          <p:cNvSpPr txBox="1">
            <a:spLocks/>
          </p:cNvSpPr>
          <p:nvPr/>
        </p:nvSpPr>
        <p:spPr>
          <a:xfrm>
            <a:off x="8850654" y="2602901"/>
            <a:ext cx="2728544" cy="2228182"/>
          </a:xfrm>
          <a:prstGeom prst="rect">
            <a:avLst/>
          </a:prstGeom>
          <a:ln>
            <a:solidFill>
              <a:schemeClr val="accent1"/>
            </a:solidFill>
            <a:prstDash val="solid"/>
          </a:ln>
        </p:spPr>
        <p:txBody>
          <a:bodyPr vert="horz" lIns="91440" tIns="45720" rIns="91440" bIns="45720" rtlCol="0" anchor="t">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marL="137160" marR="0" lvl="1" indent="-137160" defTabSz="914400" eaLnBrk="1" fontAlgn="base" latinLnBrk="0" hangingPunct="1">
              <a:spcBef>
                <a:spcPts val="200"/>
              </a:spcBef>
              <a:spcAft>
                <a:spcPts val="200"/>
              </a:spcAft>
              <a:buClr>
                <a:srgbClr val="FB4E0B"/>
              </a:buClr>
              <a:buSzPct val="100000"/>
              <a:buFont typeface="Calibri" panose="020F0502020204030204" pitchFamily="34" charset="0"/>
              <a:buChar char="•"/>
              <a:tabLst>
                <a:tab pos="6000750" algn="ctr"/>
              </a:tabLst>
              <a:defRPr/>
            </a:pPr>
            <a:r>
              <a:rPr kumimoji="0" lang="en-US" sz="1200" b="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Exporting results</a:t>
            </a:r>
            <a:r>
              <a:rPr kumimoji="0" lang="en-US" sz="1200" b="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to Excel (Business Unit defined template), presenting output overview</a:t>
            </a:r>
          </a:p>
          <a:p>
            <a:pPr marL="137160" marR="0" lvl="1" indent="-137160" defTabSz="914400" eaLnBrk="1" fontAlgn="base" latinLnBrk="0" hangingPunct="1">
              <a:spcBef>
                <a:spcPts val="200"/>
              </a:spcBef>
              <a:spcAft>
                <a:spcPts val="200"/>
              </a:spcAft>
              <a:buClr>
                <a:srgbClr val="FB4E0B"/>
              </a:buClr>
              <a:buSzPct val="100000"/>
              <a:buFont typeface="Calibri" panose="020F0502020204030204" pitchFamily="34" charset="0"/>
              <a:buChar char="•"/>
              <a:tabLst>
                <a:tab pos="6000750" algn="ctr"/>
              </a:tabLst>
              <a:defRPr/>
            </a:pPr>
            <a:r>
              <a:rPr kumimoji="0" lang="en-US" sz="1200" b="1"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Generating Audit Log</a:t>
            </a:r>
            <a:r>
              <a:rPr kumimoji="0" lang="en-US" sz="1200" b="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provides ‘one-stop’ review of all varying checks built across output files, reducing results review time</a:t>
            </a:r>
          </a:p>
        </p:txBody>
      </p:sp>
      <p:pic>
        <p:nvPicPr>
          <p:cNvPr id="97" name="Picture 96">
            <a:extLst>
              <a:ext uri="{FF2B5EF4-FFF2-40B4-BE49-F238E27FC236}">
                <a16:creationId xmlns:a16="http://schemas.microsoft.com/office/drawing/2014/main" id="{B00EC57E-3B55-4396-AB27-9DEA3ADBB979}"/>
              </a:ext>
            </a:extLst>
          </p:cNvPr>
          <p:cNvPicPr>
            <a:picLocks noChangeAspect="1"/>
          </p:cNvPicPr>
          <p:nvPr/>
        </p:nvPicPr>
        <p:blipFill rotWithShape="1">
          <a:blip r:embed="rId3"/>
          <a:srcRect l="7785" t="19060" r="10030" b="22249"/>
          <a:stretch/>
        </p:blipFill>
        <p:spPr>
          <a:xfrm>
            <a:off x="4225134" y="4499228"/>
            <a:ext cx="1014072" cy="314123"/>
          </a:xfrm>
          <a:prstGeom prst="rect">
            <a:avLst/>
          </a:prstGeom>
        </p:spPr>
      </p:pic>
      <p:pic>
        <p:nvPicPr>
          <p:cNvPr id="98" name="Picture 97">
            <a:extLst>
              <a:ext uri="{FF2B5EF4-FFF2-40B4-BE49-F238E27FC236}">
                <a16:creationId xmlns:a16="http://schemas.microsoft.com/office/drawing/2014/main" id="{ED3C50C7-FBBB-4778-9368-C0628DE0A53F}"/>
              </a:ext>
            </a:extLst>
          </p:cNvPr>
          <p:cNvPicPr>
            <a:picLocks noChangeAspect="1"/>
          </p:cNvPicPr>
          <p:nvPr/>
        </p:nvPicPr>
        <p:blipFill rotWithShape="1">
          <a:blip r:embed="rId3"/>
          <a:srcRect l="7785" t="19060" r="10030" b="22249"/>
          <a:stretch/>
        </p:blipFill>
        <p:spPr>
          <a:xfrm>
            <a:off x="6978991" y="4342166"/>
            <a:ext cx="1014072" cy="314123"/>
          </a:xfrm>
          <a:prstGeom prst="rect">
            <a:avLst/>
          </a:prstGeom>
        </p:spPr>
      </p:pic>
      <p:pic>
        <p:nvPicPr>
          <p:cNvPr id="99" name="Picture 98">
            <a:extLst>
              <a:ext uri="{FF2B5EF4-FFF2-40B4-BE49-F238E27FC236}">
                <a16:creationId xmlns:a16="http://schemas.microsoft.com/office/drawing/2014/main" id="{89B1273D-D2D2-4EE6-AFFD-9D9F5F1D1685}"/>
              </a:ext>
            </a:extLst>
          </p:cNvPr>
          <p:cNvPicPr>
            <a:picLocks noChangeAspect="1"/>
          </p:cNvPicPr>
          <p:nvPr/>
        </p:nvPicPr>
        <p:blipFill>
          <a:blip r:embed="rId4"/>
          <a:stretch>
            <a:fillRect/>
          </a:stretch>
        </p:blipFill>
        <p:spPr>
          <a:xfrm>
            <a:off x="9993540" y="4162715"/>
            <a:ext cx="493574" cy="493574"/>
          </a:xfrm>
          <a:prstGeom prst="rect">
            <a:avLst/>
          </a:prstGeom>
        </p:spPr>
      </p:pic>
      <p:sp>
        <p:nvSpPr>
          <p:cNvPr id="100" name="Text Placeholder 3">
            <a:extLst>
              <a:ext uri="{FF2B5EF4-FFF2-40B4-BE49-F238E27FC236}">
                <a16:creationId xmlns:a16="http://schemas.microsoft.com/office/drawing/2014/main" id="{2060F39A-FFA4-46CF-A819-85DD53CB22FC}"/>
              </a:ext>
            </a:extLst>
          </p:cNvPr>
          <p:cNvSpPr txBox="1">
            <a:spLocks/>
          </p:cNvSpPr>
          <p:nvPr/>
        </p:nvSpPr>
        <p:spPr>
          <a:xfrm>
            <a:off x="3609976" y="4968571"/>
            <a:ext cx="2201157" cy="282410"/>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Clr>
                <a:schemeClr val="tx2"/>
              </a:buClr>
              <a:buFontTx/>
              <a:buNone/>
              <a:defRPr sz="1600" b="1" kern="1200">
                <a:solidFill>
                  <a:schemeClr val="accent3"/>
                </a:solidFill>
                <a:latin typeface="+mn-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a:t>Development Time</a:t>
            </a:r>
          </a:p>
        </p:txBody>
      </p:sp>
      <p:sp>
        <p:nvSpPr>
          <p:cNvPr id="101" name="Rectangle 45">
            <a:extLst>
              <a:ext uri="{FF2B5EF4-FFF2-40B4-BE49-F238E27FC236}">
                <a16:creationId xmlns:a16="http://schemas.microsoft.com/office/drawing/2014/main" id="{AAF52EC0-EFF6-4345-A78F-B226E812CF16}"/>
              </a:ext>
            </a:extLst>
          </p:cNvPr>
          <p:cNvSpPr>
            <a:spLocks noChangeArrowheads="1"/>
          </p:cNvSpPr>
          <p:nvPr/>
        </p:nvSpPr>
        <p:spPr bwMode="auto">
          <a:xfrm>
            <a:off x="3627470" y="5388469"/>
            <a:ext cx="1220839" cy="561023"/>
          </a:xfrm>
          <a:prstGeom prst="roundRect">
            <a:avLst/>
          </a:prstGeom>
          <a:solidFill>
            <a:schemeClr val="accent6"/>
          </a:solidFill>
          <a:ln w="9525">
            <a:noFill/>
            <a:miter lim="800000"/>
            <a:headEnd/>
            <a:tailEnd/>
          </a:ln>
          <a:effectLst/>
        </p:spPr>
        <p:txBody>
          <a:bodyPr lIns="0" rIns="82058" bIns="41029" anchor="ctr"/>
          <a:lstStyle/>
          <a:p>
            <a:pPr marL="0" marR="0" lvl="0" indent="0" algn="ctr" defTabSz="933450" eaLnBrk="1" fontAlgn="auto" latinLnBrk="0" hangingPunct="1">
              <a:lnSpc>
                <a:spcPct val="100000"/>
              </a:lnSpc>
              <a:spcBef>
                <a:spcPct val="50000"/>
              </a:spcBef>
              <a:spcAft>
                <a:spcPts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1 Month</a:t>
            </a:r>
          </a:p>
          <a:p>
            <a:pPr marL="0" marR="0" lvl="0" indent="0" algn="ctr" defTabSz="933450" eaLnBrk="1" fontAlgn="auto" latinLnBrk="0" hangingPunct="1">
              <a:lnSpc>
                <a:spcPct val="100000"/>
              </a:lnSpc>
              <a:spcBef>
                <a:spcPct val="50000"/>
              </a:spcBef>
              <a:spcAft>
                <a:spcPts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Development</a:t>
            </a:r>
          </a:p>
        </p:txBody>
      </p:sp>
      <p:sp>
        <p:nvSpPr>
          <p:cNvPr id="102" name="Plus 72">
            <a:extLst>
              <a:ext uri="{FF2B5EF4-FFF2-40B4-BE49-F238E27FC236}">
                <a16:creationId xmlns:a16="http://schemas.microsoft.com/office/drawing/2014/main" id="{8D0965A8-66AA-45DE-A65D-FFF6B4740A71}"/>
              </a:ext>
            </a:extLst>
          </p:cNvPr>
          <p:cNvSpPr/>
          <p:nvPr/>
        </p:nvSpPr>
        <p:spPr>
          <a:xfrm>
            <a:off x="4944814" y="5433033"/>
            <a:ext cx="406377" cy="480877"/>
          </a:xfrm>
          <a:prstGeom prst="mathPlus">
            <a:avLst/>
          </a:prstGeom>
          <a:solidFill>
            <a:srgbClr val="FF6503"/>
          </a:solidFill>
          <a:ln w="12700" cap="flat" cmpd="sng" algn="ctr">
            <a:solidFill>
              <a:srgbClr val="FF6503"/>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103" name="Rectangle 45">
            <a:extLst>
              <a:ext uri="{FF2B5EF4-FFF2-40B4-BE49-F238E27FC236}">
                <a16:creationId xmlns:a16="http://schemas.microsoft.com/office/drawing/2014/main" id="{34F2F044-B48E-4018-A126-6D272B52D2E4}"/>
              </a:ext>
            </a:extLst>
          </p:cNvPr>
          <p:cNvSpPr>
            <a:spLocks noChangeArrowheads="1"/>
          </p:cNvSpPr>
          <p:nvPr/>
        </p:nvSpPr>
        <p:spPr bwMode="auto">
          <a:xfrm>
            <a:off x="5434977" y="5388469"/>
            <a:ext cx="1220839" cy="561023"/>
          </a:xfrm>
          <a:prstGeom prst="roundRect">
            <a:avLst/>
          </a:prstGeom>
          <a:solidFill>
            <a:schemeClr val="accent6"/>
          </a:solidFill>
          <a:ln w="9525">
            <a:noFill/>
            <a:miter lim="800000"/>
            <a:headEnd/>
            <a:tailEnd/>
          </a:ln>
          <a:effectLst/>
        </p:spPr>
        <p:txBody>
          <a:bodyPr lIns="0" rIns="82058" bIns="41029" anchor="ctr"/>
          <a:lstStyle/>
          <a:p>
            <a:pPr marL="0" marR="0" lvl="0" indent="0" algn="ctr" defTabSz="933450" eaLnBrk="1" fontAlgn="auto" latinLnBrk="0" hangingPunct="1">
              <a:lnSpc>
                <a:spcPct val="100000"/>
              </a:lnSpc>
              <a:spcBef>
                <a:spcPct val="50000"/>
              </a:spcBef>
              <a:spcAft>
                <a:spcPts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1 Week</a:t>
            </a:r>
          </a:p>
          <a:p>
            <a:pPr marL="0" marR="0" lvl="0" indent="0" algn="ctr" defTabSz="933450" eaLnBrk="1" fontAlgn="auto" latinLnBrk="0" hangingPunct="1">
              <a:lnSpc>
                <a:spcPct val="100000"/>
              </a:lnSpc>
              <a:spcBef>
                <a:spcPct val="50000"/>
              </a:spcBef>
              <a:spcAft>
                <a:spcPts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Testing</a:t>
            </a:r>
          </a:p>
        </p:txBody>
      </p:sp>
      <p:sp>
        <p:nvSpPr>
          <p:cNvPr id="104" name="Text Placeholder 3">
            <a:extLst>
              <a:ext uri="{FF2B5EF4-FFF2-40B4-BE49-F238E27FC236}">
                <a16:creationId xmlns:a16="http://schemas.microsoft.com/office/drawing/2014/main" id="{D899940C-896B-4E69-A1CB-85BC31B51209}"/>
              </a:ext>
            </a:extLst>
          </p:cNvPr>
          <p:cNvSpPr txBox="1">
            <a:spLocks/>
          </p:cNvSpPr>
          <p:nvPr/>
        </p:nvSpPr>
        <p:spPr>
          <a:xfrm>
            <a:off x="6978991" y="4968571"/>
            <a:ext cx="2201157" cy="282410"/>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Clr>
                <a:schemeClr val="tx2"/>
              </a:buClr>
              <a:buFontTx/>
              <a:buNone/>
              <a:defRPr sz="1600" b="1" kern="1200">
                <a:solidFill>
                  <a:schemeClr val="accent3"/>
                </a:solidFill>
                <a:latin typeface="+mn-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a:solidFill>
                  <a:schemeClr val="tx2"/>
                </a:solidFill>
              </a:rPr>
              <a:t>Business Impact</a:t>
            </a:r>
          </a:p>
        </p:txBody>
      </p:sp>
      <p:sp>
        <p:nvSpPr>
          <p:cNvPr id="106" name="Rectangle 105">
            <a:extLst>
              <a:ext uri="{FF2B5EF4-FFF2-40B4-BE49-F238E27FC236}">
                <a16:creationId xmlns:a16="http://schemas.microsoft.com/office/drawing/2014/main" id="{FD7A9213-FE08-4848-9E37-1215086B2C45}"/>
              </a:ext>
            </a:extLst>
          </p:cNvPr>
          <p:cNvSpPr/>
          <p:nvPr/>
        </p:nvSpPr>
        <p:spPr>
          <a:xfrm>
            <a:off x="7219457" y="5744289"/>
            <a:ext cx="970334" cy="246221"/>
          </a:xfrm>
          <a:prstGeom prst="rect">
            <a:avLst/>
          </a:prstGeom>
          <a:solidFill>
            <a:schemeClr val="accent6"/>
          </a:solidFill>
        </p:spPr>
        <p:txBody>
          <a:bodyPr wrap="square" lIns="0" tIns="0" rIns="0" bIns="0">
            <a:spAutoFit/>
          </a:bodyPr>
          <a:lstStyle/>
          <a:p>
            <a:pPr marL="0" marR="0" lvl="0" indent="0" algn="ctr" defTabSz="914400" eaLnBrk="1" fontAlgn="auto" latinLnBrk="0" hangingPunct="1">
              <a:lnSpc>
                <a:spcPct val="100000"/>
              </a:lnSpc>
              <a:spcBef>
                <a:spcPts val="0"/>
              </a:spcBef>
              <a:spcAft>
                <a:spcPts val="0"/>
              </a:spcAft>
              <a:buClr>
                <a:srgbClr val="FF6503"/>
              </a:buClr>
              <a:buSzTx/>
              <a:buFontTx/>
              <a:buNone/>
              <a:tabLst/>
              <a:defRPr/>
            </a:pPr>
            <a:r>
              <a:rPr lang="en-US" sz="800" b="1" kern="0">
                <a:solidFill>
                  <a:srgbClr val="000000"/>
                </a:solidFill>
                <a:latin typeface="Calibri" panose="020F0502020204030204" pitchFamily="34" charset="0"/>
              </a:rPr>
              <a:t>80</a:t>
            </a:r>
            <a:r>
              <a:rPr kumimoji="0" lang="en-US" sz="800" b="1" i="0" u="none" strike="noStrike" kern="0" cap="none" spc="0" normalizeH="0" baseline="0" noProof="0">
                <a:ln>
                  <a:noFill/>
                </a:ln>
                <a:solidFill>
                  <a:srgbClr val="000000"/>
                </a:solidFill>
                <a:effectLst/>
                <a:uLnTx/>
                <a:uFillTx/>
                <a:latin typeface="Calibri" panose="020F0502020204030204" pitchFamily="34" charset="0"/>
              </a:rPr>
              <a:t>% Reduction in Processing Time</a:t>
            </a:r>
          </a:p>
        </p:txBody>
      </p:sp>
      <p:pic>
        <p:nvPicPr>
          <p:cNvPr id="107" name="Picture 106">
            <a:extLst>
              <a:ext uri="{FF2B5EF4-FFF2-40B4-BE49-F238E27FC236}">
                <a16:creationId xmlns:a16="http://schemas.microsoft.com/office/drawing/2014/main" id="{83AB2E9B-29E7-47E4-94C4-EF464944B67C}"/>
              </a:ext>
            </a:extLst>
          </p:cNvPr>
          <p:cNvPicPr>
            <a:picLocks noChangeAspect="1"/>
          </p:cNvPicPr>
          <p:nvPr/>
        </p:nvPicPr>
        <p:blipFill rotWithShape="1">
          <a:blip r:embed="rId5" cstate="print">
            <a:biLevel thresh="75000"/>
            <a:extLst>
              <a:ext uri="{28A0092B-C50C-407E-A947-70E740481C1C}">
                <a14:useLocalDpi xmlns:a14="http://schemas.microsoft.com/office/drawing/2010/main" val="0"/>
              </a:ext>
            </a:extLst>
          </a:blip>
          <a:srcRect l="32212" t="3799" r="1401" b="35506"/>
          <a:stretch/>
        </p:blipFill>
        <p:spPr>
          <a:xfrm>
            <a:off x="9415309" y="5221929"/>
            <a:ext cx="572032" cy="242570"/>
          </a:xfrm>
          <a:prstGeom prst="rect">
            <a:avLst/>
          </a:prstGeom>
        </p:spPr>
      </p:pic>
      <p:sp>
        <p:nvSpPr>
          <p:cNvPr id="108" name="Rectangle 107">
            <a:extLst>
              <a:ext uri="{FF2B5EF4-FFF2-40B4-BE49-F238E27FC236}">
                <a16:creationId xmlns:a16="http://schemas.microsoft.com/office/drawing/2014/main" id="{7A7D6E4D-A23C-4BC6-8E7C-D421ABB80780}"/>
              </a:ext>
            </a:extLst>
          </p:cNvPr>
          <p:cNvSpPr/>
          <p:nvPr/>
        </p:nvSpPr>
        <p:spPr>
          <a:xfrm>
            <a:off x="9013976" y="5518008"/>
            <a:ext cx="1478371" cy="145154"/>
          </a:xfrm>
          <a:prstGeom prst="rect">
            <a:avLst/>
          </a:prstGeom>
          <a:solidFill>
            <a:schemeClr val="accent6"/>
          </a:solidFill>
        </p:spPr>
        <p:txBody>
          <a:bodyPr wrap="square" lIns="0" tIns="0" rIns="0" bIns="0" anchor="ctr">
            <a:noAutofit/>
          </a:bodyPr>
          <a:lstStyle/>
          <a:p>
            <a:pPr marL="0" marR="0" lvl="0" indent="0" algn="ctr" defTabSz="914400" eaLnBrk="1" fontAlgn="auto" latinLnBrk="0" hangingPunct="1">
              <a:lnSpc>
                <a:spcPct val="100000"/>
              </a:lnSpc>
              <a:spcBef>
                <a:spcPts val="0"/>
              </a:spcBef>
              <a:spcAft>
                <a:spcPts val="0"/>
              </a:spcAft>
              <a:buClr>
                <a:srgbClr val="FF6503"/>
              </a:buClr>
              <a:buSzTx/>
              <a:buFontTx/>
              <a:buNone/>
              <a:tabLst/>
              <a:defRPr/>
            </a:pPr>
            <a:r>
              <a:rPr kumimoji="0" lang="en-US" sz="800" b="1" i="0" u="none" strike="noStrike" kern="0" cap="none" spc="0" normalizeH="0" baseline="0" noProof="0">
                <a:ln>
                  <a:noFill/>
                </a:ln>
                <a:solidFill>
                  <a:srgbClr val="000000"/>
                </a:solidFill>
                <a:effectLst/>
                <a:uLnTx/>
                <a:uFillTx/>
                <a:latin typeface="Calibri" panose="020F0502020204030204" pitchFamily="34" charset="0"/>
              </a:rPr>
              <a:t>100% Automated Data Extraction</a:t>
            </a:r>
          </a:p>
        </p:txBody>
      </p:sp>
      <p:sp>
        <p:nvSpPr>
          <p:cNvPr id="109" name="Rectangle 108">
            <a:extLst>
              <a:ext uri="{FF2B5EF4-FFF2-40B4-BE49-F238E27FC236}">
                <a16:creationId xmlns:a16="http://schemas.microsoft.com/office/drawing/2014/main" id="{4832D925-4744-4E25-A107-2750EA977A96}"/>
              </a:ext>
            </a:extLst>
          </p:cNvPr>
          <p:cNvSpPr/>
          <p:nvPr/>
        </p:nvSpPr>
        <p:spPr>
          <a:xfrm>
            <a:off x="9643745" y="6159975"/>
            <a:ext cx="1353450" cy="246221"/>
          </a:xfrm>
          <a:prstGeom prst="rect">
            <a:avLst/>
          </a:prstGeom>
          <a:solidFill>
            <a:schemeClr val="accent6"/>
          </a:solidFill>
        </p:spPr>
        <p:txBody>
          <a:bodyPr wrap="square" lIns="0" tIns="0" rIns="0" bIns="0">
            <a:spAutoFit/>
          </a:bodyPr>
          <a:lstStyle/>
          <a:p>
            <a:pPr marL="0" marR="0" lvl="0" indent="0" algn="ctr" defTabSz="914400" eaLnBrk="1" fontAlgn="auto" latinLnBrk="0" hangingPunct="1">
              <a:lnSpc>
                <a:spcPct val="100000"/>
              </a:lnSpc>
              <a:spcBef>
                <a:spcPts val="0"/>
              </a:spcBef>
              <a:spcAft>
                <a:spcPts val="0"/>
              </a:spcAft>
              <a:buClr>
                <a:srgbClr val="FF6503"/>
              </a:buClr>
              <a:buSzTx/>
              <a:buFontTx/>
              <a:buNone/>
              <a:tabLst/>
              <a:defRPr/>
            </a:pPr>
            <a:r>
              <a:rPr kumimoji="0" lang="en-US" sz="800" b="1" i="0" u="none" strike="noStrike" kern="0" cap="none" spc="0" normalizeH="0" baseline="0" noProof="0">
                <a:ln>
                  <a:noFill/>
                </a:ln>
                <a:solidFill>
                  <a:srgbClr val="000000"/>
                </a:solidFill>
                <a:effectLst/>
                <a:uLnTx/>
                <a:uFillTx/>
                <a:latin typeface="Calibri" panose="020F0502020204030204" pitchFamily="34" charset="0"/>
              </a:rPr>
              <a:t>Automated Data Reconciliation and Validation</a:t>
            </a:r>
          </a:p>
        </p:txBody>
      </p:sp>
      <p:sp>
        <p:nvSpPr>
          <p:cNvPr id="110" name="Rectangle 109">
            <a:extLst>
              <a:ext uri="{FF2B5EF4-FFF2-40B4-BE49-F238E27FC236}">
                <a16:creationId xmlns:a16="http://schemas.microsoft.com/office/drawing/2014/main" id="{55CB6459-22ED-4D89-BAAD-D419A979CA99}"/>
              </a:ext>
            </a:extLst>
          </p:cNvPr>
          <p:cNvSpPr/>
          <p:nvPr/>
        </p:nvSpPr>
        <p:spPr>
          <a:xfrm>
            <a:off x="7680233" y="6226904"/>
            <a:ext cx="1671200" cy="171778"/>
          </a:xfrm>
          <a:prstGeom prst="rect">
            <a:avLst/>
          </a:prstGeom>
          <a:solidFill>
            <a:schemeClr val="accent6"/>
          </a:solidFill>
        </p:spPr>
        <p:txBody>
          <a:bodyPr wrap="square" lIns="0" tIns="0" rIns="0" bIns="0" anchor="ctr">
            <a:noAutofit/>
          </a:bodyPr>
          <a:lstStyle/>
          <a:p>
            <a:pPr marL="0" marR="0" lvl="0" indent="0" algn="ctr" defTabSz="914400" eaLnBrk="1" fontAlgn="auto" latinLnBrk="0" hangingPunct="1">
              <a:lnSpc>
                <a:spcPct val="100000"/>
              </a:lnSpc>
              <a:spcBef>
                <a:spcPts val="0"/>
              </a:spcBef>
              <a:spcAft>
                <a:spcPts val="0"/>
              </a:spcAft>
              <a:buClr>
                <a:srgbClr val="FF6503"/>
              </a:buClr>
              <a:buSzTx/>
              <a:buFontTx/>
              <a:buNone/>
              <a:tabLst/>
              <a:defRPr/>
            </a:pPr>
            <a:r>
              <a:rPr kumimoji="0" lang="en-US" sz="800" b="1" i="0" u="none" strike="noStrike" kern="0" cap="none" spc="0" normalizeH="0" baseline="0" noProof="0">
                <a:ln>
                  <a:noFill/>
                </a:ln>
                <a:solidFill>
                  <a:srgbClr val="000000"/>
                </a:solidFill>
                <a:effectLst/>
                <a:uLnTx/>
                <a:uFillTx/>
                <a:latin typeface="Calibri" panose="020F0502020204030204" pitchFamily="34" charset="0"/>
              </a:rPr>
              <a:t>Elimination of multiple data sources</a:t>
            </a:r>
          </a:p>
        </p:txBody>
      </p:sp>
      <p:pic>
        <p:nvPicPr>
          <p:cNvPr id="111" name="Picture 110">
            <a:extLst>
              <a:ext uri="{FF2B5EF4-FFF2-40B4-BE49-F238E27FC236}">
                <a16:creationId xmlns:a16="http://schemas.microsoft.com/office/drawing/2014/main" id="{69F59A3C-75FA-4E4D-8EEB-1C7F86ECD8DE}"/>
              </a:ext>
            </a:extLst>
          </p:cNvPr>
          <p:cNvPicPr>
            <a:picLocks noChangeAspect="1"/>
          </p:cNvPicPr>
          <p:nvPr/>
        </p:nvPicPr>
        <p:blipFill rotWithShape="1">
          <a:blip r:embed="rId6" cstate="print">
            <a:biLevel thresh="75000"/>
            <a:extLst>
              <a:ext uri="{28A0092B-C50C-407E-A947-70E740481C1C}">
                <a14:useLocalDpi xmlns:a14="http://schemas.microsoft.com/office/drawing/2010/main" val="0"/>
              </a:ext>
            </a:extLst>
          </a:blip>
          <a:srcRect b="7428"/>
          <a:stretch/>
        </p:blipFill>
        <p:spPr>
          <a:xfrm>
            <a:off x="10197371" y="5780771"/>
            <a:ext cx="294977" cy="294910"/>
          </a:xfrm>
          <a:prstGeom prst="rect">
            <a:avLst/>
          </a:prstGeom>
        </p:spPr>
      </p:pic>
      <p:sp>
        <p:nvSpPr>
          <p:cNvPr id="112" name="Freeform: Shape 111">
            <a:extLst>
              <a:ext uri="{FF2B5EF4-FFF2-40B4-BE49-F238E27FC236}">
                <a16:creationId xmlns:a16="http://schemas.microsoft.com/office/drawing/2014/main" id="{DCA528E5-AF77-4251-83DF-82BC94BB65D4}"/>
              </a:ext>
            </a:extLst>
          </p:cNvPr>
          <p:cNvSpPr/>
          <p:nvPr/>
        </p:nvSpPr>
        <p:spPr>
          <a:xfrm>
            <a:off x="8325305" y="5774629"/>
            <a:ext cx="338667" cy="376297"/>
          </a:xfrm>
          <a:custGeom>
            <a:avLst/>
            <a:gdLst>
              <a:gd name="connsiteX0" fmla="*/ 548640 w 548639"/>
              <a:gd name="connsiteY0" fmla="*/ 413385 h 609600"/>
              <a:gd name="connsiteX1" fmla="*/ 521970 w 548639"/>
              <a:gd name="connsiteY1" fmla="*/ 386715 h 609600"/>
              <a:gd name="connsiteX2" fmla="*/ 447675 w 548639"/>
              <a:gd name="connsiteY2" fmla="*/ 386715 h 609600"/>
              <a:gd name="connsiteX3" fmla="*/ 447675 w 548639"/>
              <a:gd name="connsiteY3" fmla="*/ 362903 h 609600"/>
              <a:gd name="connsiteX4" fmla="*/ 421958 w 548639"/>
              <a:gd name="connsiteY4" fmla="*/ 337185 h 609600"/>
              <a:gd name="connsiteX5" fmla="*/ 283845 w 548639"/>
              <a:gd name="connsiteY5" fmla="*/ 337185 h 609600"/>
              <a:gd name="connsiteX6" fmla="*/ 283845 w 548639"/>
              <a:gd name="connsiteY6" fmla="*/ 305753 h 609600"/>
              <a:gd name="connsiteX7" fmla="*/ 396240 w 548639"/>
              <a:gd name="connsiteY7" fmla="*/ 305753 h 609600"/>
              <a:gd name="connsiteX8" fmla="*/ 499110 w 548639"/>
              <a:gd name="connsiteY8" fmla="*/ 202883 h 609600"/>
              <a:gd name="connsiteX9" fmla="*/ 396240 w 548639"/>
              <a:gd name="connsiteY9" fmla="*/ 100013 h 609600"/>
              <a:gd name="connsiteX10" fmla="*/ 371475 w 548639"/>
              <a:gd name="connsiteY10" fmla="*/ 102870 h 609600"/>
              <a:gd name="connsiteX11" fmla="*/ 259080 w 548639"/>
              <a:gd name="connsiteY11" fmla="*/ 0 h 609600"/>
              <a:gd name="connsiteX12" fmla="*/ 145733 w 548639"/>
              <a:gd name="connsiteY12" fmla="*/ 113348 h 609600"/>
              <a:gd name="connsiteX13" fmla="*/ 146685 w 548639"/>
              <a:gd name="connsiteY13" fmla="*/ 129540 h 609600"/>
              <a:gd name="connsiteX14" fmla="*/ 138113 w 548639"/>
              <a:gd name="connsiteY14" fmla="*/ 129540 h 609600"/>
              <a:gd name="connsiteX15" fmla="*/ 50483 w 548639"/>
              <a:gd name="connsiteY15" fmla="*/ 217170 h 609600"/>
              <a:gd name="connsiteX16" fmla="*/ 138113 w 548639"/>
              <a:gd name="connsiteY16" fmla="*/ 304800 h 609600"/>
              <a:gd name="connsiteX17" fmla="*/ 264795 w 548639"/>
              <a:gd name="connsiteY17" fmla="*/ 304800 h 609600"/>
              <a:gd name="connsiteX18" fmla="*/ 264795 w 548639"/>
              <a:gd name="connsiteY18" fmla="*/ 336233 h 609600"/>
              <a:gd name="connsiteX19" fmla="*/ 127635 w 548639"/>
              <a:gd name="connsiteY19" fmla="*/ 336233 h 609600"/>
              <a:gd name="connsiteX20" fmla="*/ 101918 w 548639"/>
              <a:gd name="connsiteY20" fmla="*/ 361950 h 609600"/>
              <a:gd name="connsiteX21" fmla="*/ 101918 w 548639"/>
              <a:gd name="connsiteY21" fmla="*/ 385763 h 609600"/>
              <a:gd name="connsiteX22" fmla="*/ 26670 w 548639"/>
              <a:gd name="connsiteY22" fmla="*/ 385763 h 609600"/>
              <a:gd name="connsiteX23" fmla="*/ 0 w 548639"/>
              <a:gd name="connsiteY23" fmla="*/ 412433 h 609600"/>
              <a:gd name="connsiteX24" fmla="*/ 0 w 548639"/>
              <a:gd name="connsiteY24" fmla="*/ 446723 h 609600"/>
              <a:gd name="connsiteX25" fmla="*/ 6668 w 548639"/>
              <a:gd name="connsiteY25" fmla="*/ 463868 h 609600"/>
              <a:gd name="connsiteX26" fmla="*/ 0 w 548639"/>
              <a:gd name="connsiteY26" fmla="*/ 481013 h 609600"/>
              <a:gd name="connsiteX27" fmla="*/ 0 w 548639"/>
              <a:gd name="connsiteY27" fmla="*/ 515303 h 609600"/>
              <a:gd name="connsiteX28" fmla="*/ 6668 w 548639"/>
              <a:gd name="connsiteY28" fmla="*/ 532448 h 609600"/>
              <a:gd name="connsiteX29" fmla="*/ 0 w 548639"/>
              <a:gd name="connsiteY29" fmla="*/ 549593 h 609600"/>
              <a:gd name="connsiteX30" fmla="*/ 0 w 548639"/>
              <a:gd name="connsiteY30" fmla="*/ 583883 h 609600"/>
              <a:gd name="connsiteX31" fmla="*/ 26670 w 548639"/>
              <a:gd name="connsiteY31" fmla="*/ 609600 h 609600"/>
              <a:gd name="connsiteX32" fmla="*/ 195263 w 548639"/>
              <a:gd name="connsiteY32" fmla="*/ 609600 h 609600"/>
              <a:gd name="connsiteX33" fmla="*/ 221933 w 548639"/>
              <a:gd name="connsiteY33" fmla="*/ 582930 h 609600"/>
              <a:gd name="connsiteX34" fmla="*/ 221933 w 548639"/>
              <a:gd name="connsiteY34" fmla="*/ 548640 h 609600"/>
              <a:gd name="connsiteX35" fmla="*/ 215265 w 548639"/>
              <a:gd name="connsiteY35" fmla="*/ 531495 h 609600"/>
              <a:gd name="connsiteX36" fmla="*/ 221933 w 548639"/>
              <a:gd name="connsiteY36" fmla="*/ 514350 h 609600"/>
              <a:gd name="connsiteX37" fmla="*/ 221933 w 548639"/>
              <a:gd name="connsiteY37" fmla="*/ 480060 h 609600"/>
              <a:gd name="connsiteX38" fmla="*/ 215265 w 548639"/>
              <a:gd name="connsiteY38" fmla="*/ 462915 h 609600"/>
              <a:gd name="connsiteX39" fmla="*/ 221933 w 548639"/>
              <a:gd name="connsiteY39" fmla="*/ 445770 h 609600"/>
              <a:gd name="connsiteX40" fmla="*/ 221933 w 548639"/>
              <a:gd name="connsiteY40" fmla="*/ 411480 h 609600"/>
              <a:gd name="connsiteX41" fmla="*/ 195263 w 548639"/>
              <a:gd name="connsiteY41" fmla="*/ 384810 h 609600"/>
              <a:gd name="connsiteX42" fmla="*/ 120968 w 548639"/>
              <a:gd name="connsiteY42" fmla="*/ 384810 h 609600"/>
              <a:gd name="connsiteX43" fmla="*/ 120968 w 548639"/>
              <a:gd name="connsiteY43" fmla="*/ 360998 h 609600"/>
              <a:gd name="connsiteX44" fmla="*/ 127635 w 548639"/>
              <a:gd name="connsiteY44" fmla="*/ 354330 h 609600"/>
              <a:gd name="connsiteX45" fmla="*/ 274320 w 548639"/>
              <a:gd name="connsiteY45" fmla="*/ 354330 h 609600"/>
              <a:gd name="connsiteX46" fmla="*/ 421005 w 548639"/>
              <a:gd name="connsiteY46" fmla="*/ 354330 h 609600"/>
              <a:gd name="connsiteX47" fmla="*/ 427673 w 548639"/>
              <a:gd name="connsiteY47" fmla="*/ 360998 h 609600"/>
              <a:gd name="connsiteX48" fmla="*/ 427673 w 548639"/>
              <a:gd name="connsiteY48" fmla="*/ 384810 h 609600"/>
              <a:gd name="connsiteX49" fmla="*/ 353378 w 548639"/>
              <a:gd name="connsiteY49" fmla="*/ 384810 h 609600"/>
              <a:gd name="connsiteX50" fmla="*/ 326708 w 548639"/>
              <a:gd name="connsiteY50" fmla="*/ 411480 h 609600"/>
              <a:gd name="connsiteX51" fmla="*/ 326708 w 548639"/>
              <a:gd name="connsiteY51" fmla="*/ 445770 h 609600"/>
              <a:gd name="connsiteX52" fmla="*/ 333375 w 548639"/>
              <a:gd name="connsiteY52" fmla="*/ 462915 h 609600"/>
              <a:gd name="connsiteX53" fmla="*/ 326708 w 548639"/>
              <a:gd name="connsiteY53" fmla="*/ 480060 h 609600"/>
              <a:gd name="connsiteX54" fmla="*/ 326708 w 548639"/>
              <a:gd name="connsiteY54" fmla="*/ 514350 h 609600"/>
              <a:gd name="connsiteX55" fmla="*/ 333375 w 548639"/>
              <a:gd name="connsiteY55" fmla="*/ 531495 h 609600"/>
              <a:gd name="connsiteX56" fmla="*/ 326708 w 548639"/>
              <a:gd name="connsiteY56" fmla="*/ 548640 h 609600"/>
              <a:gd name="connsiteX57" fmla="*/ 326708 w 548639"/>
              <a:gd name="connsiteY57" fmla="*/ 582930 h 609600"/>
              <a:gd name="connsiteX58" fmla="*/ 353378 w 548639"/>
              <a:gd name="connsiteY58" fmla="*/ 609600 h 609600"/>
              <a:gd name="connsiteX59" fmla="*/ 521970 w 548639"/>
              <a:gd name="connsiteY59" fmla="*/ 609600 h 609600"/>
              <a:gd name="connsiteX60" fmla="*/ 548640 w 548639"/>
              <a:gd name="connsiteY60" fmla="*/ 582930 h 609600"/>
              <a:gd name="connsiteX61" fmla="*/ 548640 w 548639"/>
              <a:gd name="connsiteY61" fmla="*/ 548640 h 609600"/>
              <a:gd name="connsiteX62" fmla="*/ 541973 w 548639"/>
              <a:gd name="connsiteY62" fmla="*/ 531495 h 609600"/>
              <a:gd name="connsiteX63" fmla="*/ 548640 w 548639"/>
              <a:gd name="connsiteY63" fmla="*/ 514350 h 609600"/>
              <a:gd name="connsiteX64" fmla="*/ 548640 w 548639"/>
              <a:gd name="connsiteY64" fmla="*/ 480060 h 609600"/>
              <a:gd name="connsiteX65" fmla="*/ 541973 w 548639"/>
              <a:gd name="connsiteY65" fmla="*/ 462915 h 609600"/>
              <a:gd name="connsiteX66" fmla="*/ 548640 w 548639"/>
              <a:gd name="connsiteY66" fmla="*/ 445770 h 609600"/>
              <a:gd name="connsiteX67" fmla="*/ 548640 w 548639"/>
              <a:gd name="connsiteY67" fmla="*/ 413385 h 609600"/>
              <a:gd name="connsiteX68" fmla="*/ 202883 w 548639"/>
              <a:gd name="connsiteY68" fmla="*/ 582930 h 609600"/>
              <a:gd name="connsiteX69" fmla="*/ 195263 w 548639"/>
              <a:gd name="connsiteY69" fmla="*/ 590550 h 609600"/>
              <a:gd name="connsiteX70" fmla="*/ 26670 w 548639"/>
              <a:gd name="connsiteY70" fmla="*/ 590550 h 609600"/>
              <a:gd name="connsiteX71" fmla="*/ 19050 w 548639"/>
              <a:gd name="connsiteY71" fmla="*/ 582930 h 609600"/>
              <a:gd name="connsiteX72" fmla="*/ 19050 w 548639"/>
              <a:gd name="connsiteY72" fmla="*/ 548640 h 609600"/>
              <a:gd name="connsiteX73" fmla="*/ 26670 w 548639"/>
              <a:gd name="connsiteY73" fmla="*/ 541020 h 609600"/>
              <a:gd name="connsiteX74" fmla="*/ 195263 w 548639"/>
              <a:gd name="connsiteY74" fmla="*/ 541020 h 609600"/>
              <a:gd name="connsiteX75" fmla="*/ 202883 w 548639"/>
              <a:gd name="connsiteY75" fmla="*/ 548640 h 609600"/>
              <a:gd name="connsiteX76" fmla="*/ 202883 w 548639"/>
              <a:gd name="connsiteY76" fmla="*/ 582930 h 609600"/>
              <a:gd name="connsiteX77" fmla="*/ 202883 w 548639"/>
              <a:gd name="connsiteY77" fmla="*/ 515303 h 609600"/>
              <a:gd name="connsiteX78" fmla="*/ 195263 w 548639"/>
              <a:gd name="connsiteY78" fmla="*/ 522923 h 609600"/>
              <a:gd name="connsiteX79" fmla="*/ 26670 w 548639"/>
              <a:gd name="connsiteY79" fmla="*/ 522923 h 609600"/>
              <a:gd name="connsiteX80" fmla="*/ 19050 w 548639"/>
              <a:gd name="connsiteY80" fmla="*/ 515303 h 609600"/>
              <a:gd name="connsiteX81" fmla="*/ 19050 w 548639"/>
              <a:gd name="connsiteY81" fmla="*/ 481013 h 609600"/>
              <a:gd name="connsiteX82" fmla="*/ 26670 w 548639"/>
              <a:gd name="connsiteY82" fmla="*/ 473393 h 609600"/>
              <a:gd name="connsiteX83" fmla="*/ 195263 w 548639"/>
              <a:gd name="connsiteY83" fmla="*/ 473393 h 609600"/>
              <a:gd name="connsiteX84" fmla="*/ 202883 w 548639"/>
              <a:gd name="connsiteY84" fmla="*/ 481013 h 609600"/>
              <a:gd name="connsiteX85" fmla="*/ 202883 w 548639"/>
              <a:gd name="connsiteY85" fmla="*/ 515303 h 609600"/>
              <a:gd name="connsiteX86" fmla="*/ 195263 w 548639"/>
              <a:gd name="connsiteY86" fmla="*/ 405765 h 609600"/>
              <a:gd name="connsiteX87" fmla="*/ 202883 w 548639"/>
              <a:gd name="connsiteY87" fmla="*/ 413385 h 609600"/>
              <a:gd name="connsiteX88" fmla="*/ 202883 w 548639"/>
              <a:gd name="connsiteY88" fmla="*/ 447675 h 609600"/>
              <a:gd name="connsiteX89" fmla="*/ 195263 w 548639"/>
              <a:gd name="connsiteY89" fmla="*/ 455295 h 609600"/>
              <a:gd name="connsiteX90" fmla="*/ 26670 w 548639"/>
              <a:gd name="connsiteY90" fmla="*/ 455295 h 609600"/>
              <a:gd name="connsiteX91" fmla="*/ 19050 w 548639"/>
              <a:gd name="connsiteY91" fmla="*/ 447675 h 609600"/>
              <a:gd name="connsiteX92" fmla="*/ 19050 w 548639"/>
              <a:gd name="connsiteY92" fmla="*/ 413385 h 609600"/>
              <a:gd name="connsiteX93" fmla="*/ 26670 w 548639"/>
              <a:gd name="connsiteY93" fmla="*/ 405765 h 609600"/>
              <a:gd name="connsiteX94" fmla="*/ 195263 w 548639"/>
              <a:gd name="connsiteY94" fmla="*/ 405765 h 609600"/>
              <a:gd name="connsiteX95" fmla="*/ 137160 w 548639"/>
              <a:gd name="connsiteY95" fmla="*/ 286703 h 609600"/>
              <a:gd name="connsiteX96" fmla="*/ 68580 w 548639"/>
              <a:gd name="connsiteY96" fmla="*/ 218123 h 609600"/>
              <a:gd name="connsiteX97" fmla="*/ 137160 w 548639"/>
              <a:gd name="connsiteY97" fmla="*/ 149543 h 609600"/>
              <a:gd name="connsiteX98" fmla="*/ 156210 w 548639"/>
              <a:gd name="connsiteY98" fmla="*/ 152400 h 609600"/>
              <a:gd name="connsiteX99" fmla="*/ 156210 w 548639"/>
              <a:gd name="connsiteY99" fmla="*/ 152400 h 609600"/>
              <a:gd name="connsiteX100" fmla="*/ 183833 w 548639"/>
              <a:gd name="connsiteY100" fmla="*/ 168593 h 609600"/>
              <a:gd name="connsiteX101" fmla="*/ 190500 w 548639"/>
              <a:gd name="connsiteY101" fmla="*/ 171450 h 609600"/>
              <a:gd name="connsiteX102" fmla="*/ 197168 w 548639"/>
              <a:gd name="connsiteY102" fmla="*/ 168593 h 609600"/>
              <a:gd name="connsiteX103" fmla="*/ 196215 w 548639"/>
              <a:gd name="connsiteY103" fmla="*/ 155258 h 609600"/>
              <a:gd name="connsiteX104" fmla="*/ 165735 w 548639"/>
              <a:gd name="connsiteY104" fmla="*/ 137160 h 609600"/>
              <a:gd name="connsiteX105" fmla="*/ 162878 w 548639"/>
              <a:gd name="connsiteY105" fmla="*/ 116205 h 609600"/>
              <a:gd name="connsiteX106" fmla="*/ 257175 w 548639"/>
              <a:gd name="connsiteY106" fmla="*/ 21908 h 609600"/>
              <a:gd name="connsiteX107" fmla="*/ 351473 w 548639"/>
              <a:gd name="connsiteY107" fmla="*/ 112395 h 609600"/>
              <a:gd name="connsiteX108" fmla="*/ 319088 w 548639"/>
              <a:gd name="connsiteY108" fmla="*/ 135255 h 609600"/>
              <a:gd name="connsiteX109" fmla="*/ 319088 w 548639"/>
              <a:gd name="connsiteY109" fmla="*/ 148590 h 609600"/>
              <a:gd name="connsiteX110" fmla="*/ 325755 w 548639"/>
              <a:gd name="connsiteY110" fmla="*/ 151448 h 609600"/>
              <a:gd name="connsiteX111" fmla="*/ 332423 w 548639"/>
              <a:gd name="connsiteY111" fmla="*/ 148590 h 609600"/>
              <a:gd name="connsiteX112" fmla="*/ 362903 w 548639"/>
              <a:gd name="connsiteY112" fmla="*/ 127635 h 609600"/>
              <a:gd name="connsiteX113" fmla="*/ 362903 w 548639"/>
              <a:gd name="connsiteY113" fmla="*/ 127635 h 609600"/>
              <a:gd name="connsiteX114" fmla="*/ 393383 w 548639"/>
              <a:gd name="connsiteY114" fmla="*/ 121920 h 609600"/>
              <a:gd name="connsiteX115" fmla="*/ 477203 w 548639"/>
              <a:gd name="connsiteY115" fmla="*/ 205740 h 609600"/>
              <a:gd name="connsiteX116" fmla="*/ 393383 w 548639"/>
              <a:gd name="connsiteY116" fmla="*/ 289560 h 609600"/>
              <a:gd name="connsiteX117" fmla="*/ 137160 w 548639"/>
              <a:gd name="connsiteY117" fmla="*/ 289560 h 609600"/>
              <a:gd name="connsiteX118" fmla="*/ 529590 w 548639"/>
              <a:gd name="connsiteY118" fmla="*/ 582930 h 609600"/>
              <a:gd name="connsiteX119" fmla="*/ 521970 w 548639"/>
              <a:gd name="connsiteY119" fmla="*/ 590550 h 609600"/>
              <a:gd name="connsiteX120" fmla="*/ 353378 w 548639"/>
              <a:gd name="connsiteY120" fmla="*/ 590550 h 609600"/>
              <a:gd name="connsiteX121" fmla="*/ 345758 w 548639"/>
              <a:gd name="connsiteY121" fmla="*/ 582930 h 609600"/>
              <a:gd name="connsiteX122" fmla="*/ 345758 w 548639"/>
              <a:gd name="connsiteY122" fmla="*/ 548640 h 609600"/>
              <a:gd name="connsiteX123" fmla="*/ 353378 w 548639"/>
              <a:gd name="connsiteY123" fmla="*/ 541020 h 609600"/>
              <a:gd name="connsiteX124" fmla="*/ 521970 w 548639"/>
              <a:gd name="connsiteY124" fmla="*/ 541020 h 609600"/>
              <a:gd name="connsiteX125" fmla="*/ 529590 w 548639"/>
              <a:gd name="connsiteY125" fmla="*/ 548640 h 609600"/>
              <a:gd name="connsiteX126" fmla="*/ 529590 w 548639"/>
              <a:gd name="connsiteY126" fmla="*/ 582930 h 609600"/>
              <a:gd name="connsiteX127" fmla="*/ 529590 w 548639"/>
              <a:gd name="connsiteY127" fmla="*/ 515303 h 609600"/>
              <a:gd name="connsiteX128" fmla="*/ 521970 w 548639"/>
              <a:gd name="connsiteY128" fmla="*/ 522923 h 609600"/>
              <a:gd name="connsiteX129" fmla="*/ 353378 w 548639"/>
              <a:gd name="connsiteY129" fmla="*/ 522923 h 609600"/>
              <a:gd name="connsiteX130" fmla="*/ 345758 w 548639"/>
              <a:gd name="connsiteY130" fmla="*/ 515303 h 609600"/>
              <a:gd name="connsiteX131" fmla="*/ 345758 w 548639"/>
              <a:gd name="connsiteY131" fmla="*/ 481013 h 609600"/>
              <a:gd name="connsiteX132" fmla="*/ 353378 w 548639"/>
              <a:gd name="connsiteY132" fmla="*/ 473393 h 609600"/>
              <a:gd name="connsiteX133" fmla="*/ 521970 w 548639"/>
              <a:gd name="connsiteY133" fmla="*/ 473393 h 609600"/>
              <a:gd name="connsiteX134" fmla="*/ 529590 w 548639"/>
              <a:gd name="connsiteY134" fmla="*/ 481013 h 609600"/>
              <a:gd name="connsiteX135" fmla="*/ 529590 w 548639"/>
              <a:gd name="connsiteY135" fmla="*/ 515303 h 609600"/>
              <a:gd name="connsiteX136" fmla="*/ 529590 w 548639"/>
              <a:gd name="connsiteY136" fmla="*/ 446723 h 609600"/>
              <a:gd name="connsiteX137" fmla="*/ 521970 w 548639"/>
              <a:gd name="connsiteY137" fmla="*/ 454343 h 609600"/>
              <a:gd name="connsiteX138" fmla="*/ 353378 w 548639"/>
              <a:gd name="connsiteY138" fmla="*/ 454343 h 609600"/>
              <a:gd name="connsiteX139" fmla="*/ 345758 w 548639"/>
              <a:gd name="connsiteY139" fmla="*/ 446723 h 609600"/>
              <a:gd name="connsiteX140" fmla="*/ 345758 w 548639"/>
              <a:gd name="connsiteY140" fmla="*/ 412433 h 609600"/>
              <a:gd name="connsiteX141" fmla="*/ 353378 w 548639"/>
              <a:gd name="connsiteY141" fmla="*/ 404813 h 609600"/>
              <a:gd name="connsiteX142" fmla="*/ 521970 w 548639"/>
              <a:gd name="connsiteY142" fmla="*/ 404813 h 609600"/>
              <a:gd name="connsiteX143" fmla="*/ 529590 w 548639"/>
              <a:gd name="connsiteY143" fmla="*/ 412433 h 609600"/>
              <a:gd name="connsiteX144" fmla="*/ 529590 w 548639"/>
              <a:gd name="connsiteY144" fmla="*/ 446723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548639" h="609600">
                <a:moveTo>
                  <a:pt x="548640" y="413385"/>
                </a:moveTo>
                <a:cubicBezTo>
                  <a:pt x="548640" y="399098"/>
                  <a:pt x="536258" y="386715"/>
                  <a:pt x="521970" y="386715"/>
                </a:cubicBezTo>
                <a:lnTo>
                  <a:pt x="447675" y="386715"/>
                </a:lnTo>
                <a:lnTo>
                  <a:pt x="447675" y="362903"/>
                </a:lnTo>
                <a:cubicBezTo>
                  <a:pt x="447675" y="348615"/>
                  <a:pt x="436245" y="337185"/>
                  <a:pt x="421958" y="337185"/>
                </a:cubicBezTo>
                <a:lnTo>
                  <a:pt x="283845" y="337185"/>
                </a:lnTo>
                <a:lnTo>
                  <a:pt x="283845" y="305753"/>
                </a:lnTo>
                <a:lnTo>
                  <a:pt x="396240" y="305753"/>
                </a:lnTo>
                <a:cubicBezTo>
                  <a:pt x="453390" y="305753"/>
                  <a:pt x="499110" y="260033"/>
                  <a:pt x="499110" y="202883"/>
                </a:cubicBezTo>
                <a:cubicBezTo>
                  <a:pt x="499110" y="145733"/>
                  <a:pt x="453390" y="100013"/>
                  <a:pt x="396240" y="100013"/>
                </a:cubicBezTo>
                <a:cubicBezTo>
                  <a:pt x="387668" y="100013"/>
                  <a:pt x="380048" y="100965"/>
                  <a:pt x="371475" y="102870"/>
                </a:cubicBezTo>
                <a:cubicBezTo>
                  <a:pt x="366713" y="44768"/>
                  <a:pt x="318135" y="0"/>
                  <a:pt x="259080" y="0"/>
                </a:cubicBezTo>
                <a:cubicBezTo>
                  <a:pt x="196215" y="0"/>
                  <a:pt x="145733" y="51435"/>
                  <a:pt x="145733" y="113348"/>
                </a:cubicBezTo>
                <a:cubicBezTo>
                  <a:pt x="145733" y="119063"/>
                  <a:pt x="145733" y="123825"/>
                  <a:pt x="146685" y="129540"/>
                </a:cubicBezTo>
                <a:cubicBezTo>
                  <a:pt x="143828" y="129540"/>
                  <a:pt x="140970" y="129540"/>
                  <a:pt x="138113" y="129540"/>
                </a:cubicBezTo>
                <a:cubicBezTo>
                  <a:pt x="89535" y="129540"/>
                  <a:pt x="50483" y="168593"/>
                  <a:pt x="50483" y="217170"/>
                </a:cubicBezTo>
                <a:cubicBezTo>
                  <a:pt x="50483" y="265748"/>
                  <a:pt x="89535" y="304800"/>
                  <a:pt x="138113" y="304800"/>
                </a:cubicBezTo>
                <a:lnTo>
                  <a:pt x="264795" y="304800"/>
                </a:lnTo>
                <a:lnTo>
                  <a:pt x="264795" y="336233"/>
                </a:lnTo>
                <a:lnTo>
                  <a:pt x="127635" y="336233"/>
                </a:lnTo>
                <a:cubicBezTo>
                  <a:pt x="113348" y="336233"/>
                  <a:pt x="101918" y="347663"/>
                  <a:pt x="101918" y="361950"/>
                </a:cubicBezTo>
                <a:lnTo>
                  <a:pt x="101918" y="385763"/>
                </a:lnTo>
                <a:lnTo>
                  <a:pt x="26670" y="385763"/>
                </a:lnTo>
                <a:cubicBezTo>
                  <a:pt x="12383" y="385763"/>
                  <a:pt x="0" y="398145"/>
                  <a:pt x="0" y="412433"/>
                </a:cubicBezTo>
                <a:lnTo>
                  <a:pt x="0" y="446723"/>
                </a:lnTo>
                <a:cubicBezTo>
                  <a:pt x="0" y="453390"/>
                  <a:pt x="2858" y="459105"/>
                  <a:pt x="6668" y="463868"/>
                </a:cubicBezTo>
                <a:cubicBezTo>
                  <a:pt x="2858" y="468630"/>
                  <a:pt x="0" y="474345"/>
                  <a:pt x="0" y="481013"/>
                </a:cubicBezTo>
                <a:lnTo>
                  <a:pt x="0" y="515303"/>
                </a:lnTo>
                <a:cubicBezTo>
                  <a:pt x="0" y="521970"/>
                  <a:pt x="2858" y="527685"/>
                  <a:pt x="6668" y="532448"/>
                </a:cubicBezTo>
                <a:cubicBezTo>
                  <a:pt x="2858" y="537210"/>
                  <a:pt x="0" y="542925"/>
                  <a:pt x="0" y="549593"/>
                </a:cubicBezTo>
                <a:lnTo>
                  <a:pt x="0" y="583883"/>
                </a:lnTo>
                <a:cubicBezTo>
                  <a:pt x="0" y="597218"/>
                  <a:pt x="12383" y="609600"/>
                  <a:pt x="26670" y="609600"/>
                </a:cubicBezTo>
                <a:lnTo>
                  <a:pt x="195263" y="609600"/>
                </a:lnTo>
                <a:cubicBezTo>
                  <a:pt x="209550" y="609600"/>
                  <a:pt x="221933" y="597218"/>
                  <a:pt x="221933" y="582930"/>
                </a:cubicBezTo>
                <a:lnTo>
                  <a:pt x="221933" y="548640"/>
                </a:lnTo>
                <a:cubicBezTo>
                  <a:pt x="221933" y="541973"/>
                  <a:pt x="219075" y="536258"/>
                  <a:pt x="215265" y="531495"/>
                </a:cubicBezTo>
                <a:cubicBezTo>
                  <a:pt x="219075" y="526733"/>
                  <a:pt x="221933" y="521018"/>
                  <a:pt x="221933" y="514350"/>
                </a:cubicBezTo>
                <a:lnTo>
                  <a:pt x="221933" y="480060"/>
                </a:lnTo>
                <a:cubicBezTo>
                  <a:pt x="221933" y="473393"/>
                  <a:pt x="219075" y="467678"/>
                  <a:pt x="215265" y="462915"/>
                </a:cubicBezTo>
                <a:cubicBezTo>
                  <a:pt x="219075" y="458153"/>
                  <a:pt x="221933" y="452438"/>
                  <a:pt x="221933" y="445770"/>
                </a:cubicBezTo>
                <a:lnTo>
                  <a:pt x="221933" y="411480"/>
                </a:lnTo>
                <a:cubicBezTo>
                  <a:pt x="221933" y="397193"/>
                  <a:pt x="209550" y="384810"/>
                  <a:pt x="195263" y="384810"/>
                </a:cubicBezTo>
                <a:lnTo>
                  <a:pt x="120968" y="384810"/>
                </a:lnTo>
                <a:lnTo>
                  <a:pt x="120968" y="360998"/>
                </a:lnTo>
                <a:cubicBezTo>
                  <a:pt x="120968" y="357188"/>
                  <a:pt x="123825" y="354330"/>
                  <a:pt x="127635" y="354330"/>
                </a:cubicBezTo>
                <a:lnTo>
                  <a:pt x="274320" y="354330"/>
                </a:lnTo>
                <a:lnTo>
                  <a:pt x="421005" y="354330"/>
                </a:lnTo>
                <a:cubicBezTo>
                  <a:pt x="424815" y="354330"/>
                  <a:pt x="427673" y="357188"/>
                  <a:pt x="427673" y="360998"/>
                </a:cubicBezTo>
                <a:lnTo>
                  <a:pt x="427673" y="384810"/>
                </a:lnTo>
                <a:lnTo>
                  <a:pt x="353378" y="384810"/>
                </a:lnTo>
                <a:cubicBezTo>
                  <a:pt x="339090" y="384810"/>
                  <a:pt x="326708" y="397193"/>
                  <a:pt x="326708" y="411480"/>
                </a:cubicBezTo>
                <a:lnTo>
                  <a:pt x="326708" y="445770"/>
                </a:lnTo>
                <a:cubicBezTo>
                  <a:pt x="326708" y="452438"/>
                  <a:pt x="329565" y="458153"/>
                  <a:pt x="333375" y="462915"/>
                </a:cubicBezTo>
                <a:cubicBezTo>
                  <a:pt x="329565" y="467678"/>
                  <a:pt x="326708" y="473393"/>
                  <a:pt x="326708" y="480060"/>
                </a:cubicBezTo>
                <a:lnTo>
                  <a:pt x="326708" y="514350"/>
                </a:lnTo>
                <a:cubicBezTo>
                  <a:pt x="326708" y="521018"/>
                  <a:pt x="329565" y="526733"/>
                  <a:pt x="333375" y="531495"/>
                </a:cubicBezTo>
                <a:cubicBezTo>
                  <a:pt x="329565" y="536258"/>
                  <a:pt x="326708" y="541973"/>
                  <a:pt x="326708" y="548640"/>
                </a:cubicBezTo>
                <a:lnTo>
                  <a:pt x="326708" y="582930"/>
                </a:lnTo>
                <a:cubicBezTo>
                  <a:pt x="326708" y="597218"/>
                  <a:pt x="339090" y="609600"/>
                  <a:pt x="353378" y="609600"/>
                </a:cubicBezTo>
                <a:lnTo>
                  <a:pt x="521970" y="609600"/>
                </a:lnTo>
                <a:cubicBezTo>
                  <a:pt x="536258" y="609600"/>
                  <a:pt x="548640" y="597218"/>
                  <a:pt x="548640" y="582930"/>
                </a:cubicBezTo>
                <a:lnTo>
                  <a:pt x="548640" y="548640"/>
                </a:lnTo>
                <a:cubicBezTo>
                  <a:pt x="548640" y="541973"/>
                  <a:pt x="545783" y="536258"/>
                  <a:pt x="541973" y="531495"/>
                </a:cubicBezTo>
                <a:cubicBezTo>
                  <a:pt x="545783" y="526733"/>
                  <a:pt x="548640" y="521018"/>
                  <a:pt x="548640" y="514350"/>
                </a:cubicBezTo>
                <a:lnTo>
                  <a:pt x="548640" y="480060"/>
                </a:lnTo>
                <a:cubicBezTo>
                  <a:pt x="548640" y="473393"/>
                  <a:pt x="545783" y="467678"/>
                  <a:pt x="541973" y="462915"/>
                </a:cubicBezTo>
                <a:cubicBezTo>
                  <a:pt x="545783" y="458153"/>
                  <a:pt x="548640" y="452438"/>
                  <a:pt x="548640" y="445770"/>
                </a:cubicBezTo>
                <a:lnTo>
                  <a:pt x="548640" y="413385"/>
                </a:lnTo>
                <a:close/>
                <a:moveTo>
                  <a:pt x="202883" y="582930"/>
                </a:moveTo>
                <a:cubicBezTo>
                  <a:pt x="202883" y="586740"/>
                  <a:pt x="199073" y="590550"/>
                  <a:pt x="195263" y="590550"/>
                </a:cubicBezTo>
                <a:lnTo>
                  <a:pt x="26670" y="590550"/>
                </a:lnTo>
                <a:cubicBezTo>
                  <a:pt x="22860" y="590550"/>
                  <a:pt x="19050" y="586740"/>
                  <a:pt x="19050" y="582930"/>
                </a:cubicBezTo>
                <a:lnTo>
                  <a:pt x="19050" y="548640"/>
                </a:lnTo>
                <a:cubicBezTo>
                  <a:pt x="19050" y="544830"/>
                  <a:pt x="22860" y="541020"/>
                  <a:pt x="26670" y="541020"/>
                </a:cubicBezTo>
                <a:lnTo>
                  <a:pt x="195263" y="541020"/>
                </a:lnTo>
                <a:cubicBezTo>
                  <a:pt x="199073" y="541020"/>
                  <a:pt x="202883" y="544830"/>
                  <a:pt x="202883" y="548640"/>
                </a:cubicBezTo>
                <a:lnTo>
                  <a:pt x="202883" y="582930"/>
                </a:lnTo>
                <a:close/>
                <a:moveTo>
                  <a:pt x="202883" y="515303"/>
                </a:moveTo>
                <a:cubicBezTo>
                  <a:pt x="202883" y="519113"/>
                  <a:pt x="199073" y="522923"/>
                  <a:pt x="195263" y="522923"/>
                </a:cubicBezTo>
                <a:lnTo>
                  <a:pt x="26670" y="522923"/>
                </a:lnTo>
                <a:cubicBezTo>
                  <a:pt x="22860" y="522923"/>
                  <a:pt x="19050" y="519113"/>
                  <a:pt x="19050" y="515303"/>
                </a:cubicBezTo>
                <a:lnTo>
                  <a:pt x="19050" y="481013"/>
                </a:lnTo>
                <a:cubicBezTo>
                  <a:pt x="19050" y="477203"/>
                  <a:pt x="22860" y="473393"/>
                  <a:pt x="26670" y="473393"/>
                </a:cubicBezTo>
                <a:lnTo>
                  <a:pt x="195263" y="473393"/>
                </a:lnTo>
                <a:cubicBezTo>
                  <a:pt x="199073" y="473393"/>
                  <a:pt x="202883" y="477203"/>
                  <a:pt x="202883" y="481013"/>
                </a:cubicBezTo>
                <a:lnTo>
                  <a:pt x="202883" y="515303"/>
                </a:lnTo>
                <a:close/>
                <a:moveTo>
                  <a:pt x="195263" y="405765"/>
                </a:moveTo>
                <a:cubicBezTo>
                  <a:pt x="199073" y="405765"/>
                  <a:pt x="202883" y="409575"/>
                  <a:pt x="202883" y="413385"/>
                </a:cubicBezTo>
                <a:lnTo>
                  <a:pt x="202883" y="447675"/>
                </a:lnTo>
                <a:cubicBezTo>
                  <a:pt x="202883" y="451485"/>
                  <a:pt x="199073" y="455295"/>
                  <a:pt x="195263" y="455295"/>
                </a:cubicBezTo>
                <a:lnTo>
                  <a:pt x="26670" y="455295"/>
                </a:lnTo>
                <a:cubicBezTo>
                  <a:pt x="22860" y="455295"/>
                  <a:pt x="19050" y="451485"/>
                  <a:pt x="19050" y="447675"/>
                </a:cubicBezTo>
                <a:lnTo>
                  <a:pt x="19050" y="413385"/>
                </a:lnTo>
                <a:cubicBezTo>
                  <a:pt x="19050" y="409575"/>
                  <a:pt x="22860" y="405765"/>
                  <a:pt x="26670" y="405765"/>
                </a:cubicBezTo>
                <a:lnTo>
                  <a:pt x="195263" y="405765"/>
                </a:lnTo>
                <a:close/>
                <a:moveTo>
                  <a:pt x="137160" y="286703"/>
                </a:moveTo>
                <a:cubicBezTo>
                  <a:pt x="99060" y="286703"/>
                  <a:pt x="68580" y="255270"/>
                  <a:pt x="68580" y="218123"/>
                </a:cubicBezTo>
                <a:cubicBezTo>
                  <a:pt x="68580" y="180975"/>
                  <a:pt x="100013" y="149543"/>
                  <a:pt x="137160" y="149543"/>
                </a:cubicBezTo>
                <a:cubicBezTo>
                  <a:pt x="143828" y="149543"/>
                  <a:pt x="149543" y="150495"/>
                  <a:pt x="156210" y="152400"/>
                </a:cubicBezTo>
                <a:cubicBezTo>
                  <a:pt x="156210" y="152400"/>
                  <a:pt x="156210" y="152400"/>
                  <a:pt x="156210" y="152400"/>
                </a:cubicBezTo>
                <a:cubicBezTo>
                  <a:pt x="166688" y="155258"/>
                  <a:pt x="176213" y="160973"/>
                  <a:pt x="183833" y="168593"/>
                </a:cubicBezTo>
                <a:cubicBezTo>
                  <a:pt x="185738" y="170498"/>
                  <a:pt x="187643" y="171450"/>
                  <a:pt x="190500" y="171450"/>
                </a:cubicBezTo>
                <a:cubicBezTo>
                  <a:pt x="193358" y="171450"/>
                  <a:pt x="195263" y="170498"/>
                  <a:pt x="197168" y="168593"/>
                </a:cubicBezTo>
                <a:cubicBezTo>
                  <a:pt x="200978" y="164783"/>
                  <a:pt x="200978" y="159068"/>
                  <a:pt x="196215" y="155258"/>
                </a:cubicBezTo>
                <a:cubicBezTo>
                  <a:pt x="187643" y="146685"/>
                  <a:pt x="177165" y="140970"/>
                  <a:pt x="165735" y="137160"/>
                </a:cubicBezTo>
                <a:cubicBezTo>
                  <a:pt x="163830" y="130493"/>
                  <a:pt x="162878" y="123825"/>
                  <a:pt x="162878" y="116205"/>
                </a:cubicBezTo>
                <a:cubicBezTo>
                  <a:pt x="162878" y="63818"/>
                  <a:pt x="205740" y="21908"/>
                  <a:pt x="257175" y="21908"/>
                </a:cubicBezTo>
                <a:cubicBezTo>
                  <a:pt x="307658" y="21908"/>
                  <a:pt x="348615" y="61913"/>
                  <a:pt x="351473" y="112395"/>
                </a:cubicBezTo>
                <a:cubicBezTo>
                  <a:pt x="339090" y="118110"/>
                  <a:pt x="328613" y="125730"/>
                  <a:pt x="319088" y="135255"/>
                </a:cubicBezTo>
                <a:cubicBezTo>
                  <a:pt x="315278" y="139065"/>
                  <a:pt x="315278" y="144780"/>
                  <a:pt x="319088" y="148590"/>
                </a:cubicBezTo>
                <a:cubicBezTo>
                  <a:pt x="320993" y="150495"/>
                  <a:pt x="322898" y="151448"/>
                  <a:pt x="325755" y="151448"/>
                </a:cubicBezTo>
                <a:cubicBezTo>
                  <a:pt x="328613" y="151448"/>
                  <a:pt x="330518" y="150495"/>
                  <a:pt x="332423" y="148590"/>
                </a:cubicBezTo>
                <a:cubicBezTo>
                  <a:pt x="340995" y="139065"/>
                  <a:pt x="351473" y="132398"/>
                  <a:pt x="362903" y="127635"/>
                </a:cubicBezTo>
                <a:cubicBezTo>
                  <a:pt x="362903" y="127635"/>
                  <a:pt x="362903" y="127635"/>
                  <a:pt x="362903" y="127635"/>
                </a:cubicBezTo>
                <a:cubicBezTo>
                  <a:pt x="372428" y="123825"/>
                  <a:pt x="382905" y="121920"/>
                  <a:pt x="393383" y="121920"/>
                </a:cubicBezTo>
                <a:cubicBezTo>
                  <a:pt x="440055" y="121920"/>
                  <a:pt x="477203" y="160020"/>
                  <a:pt x="477203" y="205740"/>
                </a:cubicBezTo>
                <a:cubicBezTo>
                  <a:pt x="477203" y="252413"/>
                  <a:pt x="440055" y="289560"/>
                  <a:pt x="393383" y="289560"/>
                </a:cubicBezTo>
                <a:lnTo>
                  <a:pt x="137160" y="289560"/>
                </a:lnTo>
                <a:close/>
                <a:moveTo>
                  <a:pt x="529590" y="582930"/>
                </a:moveTo>
                <a:cubicBezTo>
                  <a:pt x="529590" y="586740"/>
                  <a:pt x="525780" y="590550"/>
                  <a:pt x="521970" y="590550"/>
                </a:cubicBezTo>
                <a:lnTo>
                  <a:pt x="353378" y="590550"/>
                </a:lnTo>
                <a:cubicBezTo>
                  <a:pt x="349568" y="590550"/>
                  <a:pt x="345758" y="586740"/>
                  <a:pt x="345758" y="582930"/>
                </a:cubicBezTo>
                <a:lnTo>
                  <a:pt x="345758" y="548640"/>
                </a:lnTo>
                <a:cubicBezTo>
                  <a:pt x="345758" y="544830"/>
                  <a:pt x="349568" y="541020"/>
                  <a:pt x="353378" y="541020"/>
                </a:cubicBezTo>
                <a:lnTo>
                  <a:pt x="521970" y="541020"/>
                </a:lnTo>
                <a:cubicBezTo>
                  <a:pt x="525780" y="541020"/>
                  <a:pt x="529590" y="544830"/>
                  <a:pt x="529590" y="548640"/>
                </a:cubicBezTo>
                <a:lnTo>
                  <a:pt x="529590" y="582930"/>
                </a:lnTo>
                <a:close/>
                <a:moveTo>
                  <a:pt x="529590" y="515303"/>
                </a:moveTo>
                <a:cubicBezTo>
                  <a:pt x="529590" y="519113"/>
                  <a:pt x="525780" y="522923"/>
                  <a:pt x="521970" y="522923"/>
                </a:cubicBezTo>
                <a:lnTo>
                  <a:pt x="353378" y="522923"/>
                </a:lnTo>
                <a:cubicBezTo>
                  <a:pt x="349568" y="522923"/>
                  <a:pt x="345758" y="519113"/>
                  <a:pt x="345758" y="515303"/>
                </a:cubicBezTo>
                <a:lnTo>
                  <a:pt x="345758" y="481013"/>
                </a:lnTo>
                <a:cubicBezTo>
                  <a:pt x="345758" y="477203"/>
                  <a:pt x="349568" y="473393"/>
                  <a:pt x="353378" y="473393"/>
                </a:cubicBezTo>
                <a:lnTo>
                  <a:pt x="521970" y="473393"/>
                </a:lnTo>
                <a:cubicBezTo>
                  <a:pt x="525780" y="473393"/>
                  <a:pt x="529590" y="477203"/>
                  <a:pt x="529590" y="481013"/>
                </a:cubicBezTo>
                <a:lnTo>
                  <a:pt x="529590" y="515303"/>
                </a:lnTo>
                <a:close/>
                <a:moveTo>
                  <a:pt x="529590" y="446723"/>
                </a:moveTo>
                <a:cubicBezTo>
                  <a:pt x="529590" y="450533"/>
                  <a:pt x="525780" y="454343"/>
                  <a:pt x="521970" y="454343"/>
                </a:cubicBezTo>
                <a:lnTo>
                  <a:pt x="353378" y="454343"/>
                </a:lnTo>
                <a:cubicBezTo>
                  <a:pt x="349568" y="454343"/>
                  <a:pt x="345758" y="450533"/>
                  <a:pt x="345758" y="446723"/>
                </a:cubicBezTo>
                <a:lnTo>
                  <a:pt x="345758" y="412433"/>
                </a:lnTo>
                <a:cubicBezTo>
                  <a:pt x="345758" y="408623"/>
                  <a:pt x="349568" y="404813"/>
                  <a:pt x="353378" y="404813"/>
                </a:cubicBezTo>
                <a:lnTo>
                  <a:pt x="521970" y="404813"/>
                </a:lnTo>
                <a:cubicBezTo>
                  <a:pt x="525780" y="404813"/>
                  <a:pt x="529590" y="408623"/>
                  <a:pt x="529590" y="412433"/>
                </a:cubicBezTo>
                <a:lnTo>
                  <a:pt x="529590" y="446723"/>
                </a:lnTo>
                <a:close/>
              </a:path>
            </a:pathLst>
          </a:custGeom>
          <a:solidFill>
            <a:srgbClr val="000000"/>
          </a:solidFill>
          <a:ln w="9525" cap="flat">
            <a:noFill/>
            <a:prstDash val="solid"/>
            <a:miter/>
          </a:ln>
        </p:spPr>
        <p:txBody>
          <a:bodyPr rtlCol="0" anchor="ctr"/>
          <a:lstStyle/>
          <a:p>
            <a:endParaRPr lang="en-US"/>
          </a:p>
        </p:txBody>
      </p:sp>
      <p:pic>
        <p:nvPicPr>
          <p:cNvPr id="113" name="Picture 2" descr="Work process ">
            <a:extLst>
              <a:ext uri="{FF2B5EF4-FFF2-40B4-BE49-F238E27FC236}">
                <a16:creationId xmlns:a16="http://schemas.microsoft.com/office/drawing/2014/main" id="{34902C71-7841-4DFA-8A7D-D6F51978F2C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44324" y="5285820"/>
            <a:ext cx="388475" cy="388475"/>
          </a:xfrm>
          <a:prstGeom prst="rect">
            <a:avLst/>
          </a:prstGeom>
          <a:noFill/>
          <a:extLst>
            <a:ext uri="{909E8E84-426E-40DD-AFC4-6F175D3DCCD1}">
              <a14:hiddenFill xmlns:a14="http://schemas.microsoft.com/office/drawing/2010/main">
                <a:solidFill>
                  <a:srgbClr val="FFFFFF"/>
                </a:solidFill>
              </a14:hiddenFill>
            </a:ext>
          </a:extLst>
        </p:spPr>
      </p:pic>
      <p:cxnSp>
        <p:nvCxnSpPr>
          <p:cNvPr id="114" name="Straight Connector 113">
            <a:extLst>
              <a:ext uri="{FF2B5EF4-FFF2-40B4-BE49-F238E27FC236}">
                <a16:creationId xmlns:a16="http://schemas.microsoft.com/office/drawing/2014/main" id="{A954408A-2953-4EAE-BE64-A3E93301E65A}"/>
              </a:ext>
            </a:extLst>
          </p:cNvPr>
          <p:cNvCxnSpPr>
            <a:cxnSpLocks/>
          </p:cNvCxnSpPr>
          <p:nvPr/>
        </p:nvCxnSpPr>
        <p:spPr>
          <a:xfrm>
            <a:off x="3384162" y="1914525"/>
            <a:ext cx="0" cy="3952875"/>
          </a:xfrm>
          <a:prstGeom prst="line">
            <a:avLst/>
          </a:prstGeom>
          <a:noFill/>
          <a:ln w="6350" cap="flat" cmpd="sng" algn="ctr">
            <a:solidFill>
              <a:srgbClr val="FFFFFF">
                <a:lumMod val="65000"/>
              </a:srgbClr>
            </a:solidFill>
            <a:prstDash val="solid"/>
            <a:miter lim="800000"/>
          </a:ln>
          <a:effectLst/>
        </p:spPr>
      </p:cxnSp>
      <p:sp>
        <p:nvSpPr>
          <p:cNvPr id="115" name="Rectangle 114">
            <a:extLst>
              <a:ext uri="{FF2B5EF4-FFF2-40B4-BE49-F238E27FC236}">
                <a16:creationId xmlns:a16="http://schemas.microsoft.com/office/drawing/2014/main" id="{8A536C12-E236-4ADC-AC71-BEE49DABA74A}"/>
              </a:ext>
            </a:extLst>
          </p:cNvPr>
          <p:cNvSpPr/>
          <p:nvPr/>
        </p:nvSpPr>
        <p:spPr>
          <a:xfrm>
            <a:off x="10508566" y="91606"/>
            <a:ext cx="1683434" cy="26607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accent1"/>
                </a:solidFill>
              </a:rPr>
              <a:t>Continuous Improvement</a:t>
            </a:r>
          </a:p>
        </p:txBody>
      </p:sp>
    </p:spTree>
    <p:extLst>
      <p:ext uri="{BB962C8B-B14F-4D97-AF65-F5344CB8AC3E}">
        <p14:creationId xmlns:p14="http://schemas.microsoft.com/office/powerpoint/2010/main" val="39606948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2F80AEB-5565-E073-5FF0-77053DC19B7D}"/>
              </a:ext>
            </a:extLst>
          </p:cNvPr>
          <p:cNvSpPr>
            <a:spLocks noGrp="1"/>
          </p:cNvSpPr>
          <p:nvPr>
            <p:ph type="body" sz="quarter" idx="10"/>
          </p:nvPr>
        </p:nvSpPr>
        <p:spPr/>
        <p:txBody>
          <a:bodyPr/>
          <a:lstStyle/>
          <a:p>
            <a:r>
              <a:rPr kumimoji="0" lang="en-US" sz="2400" b="0" i="0" u="none" strike="noStrike" kern="1200" cap="none" spc="0" normalizeH="0" baseline="0" noProof="0">
                <a:ln>
                  <a:noFill/>
                </a:ln>
                <a:solidFill>
                  <a:srgbClr val="FB4D0A"/>
                </a:solidFill>
                <a:effectLst/>
                <a:uLnTx/>
                <a:uFillTx/>
                <a:latin typeface="Calibri Light" panose="020F0302020204030204"/>
                <a:ea typeface="+mj-ea"/>
                <a:cs typeface="+mj-cs"/>
              </a:rPr>
              <a:t>Case Example 3: ALM projections and regulatory actuarial modeling of Retirement Product in MG Alfa</a:t>
            </a:r>
            <a:endParaRPr lang="en-US"/>
          </a:p>
        </p:txBody>
      </p:sp>
      <p:sp>
        <p:nvSpPr>
          <p:cNvPr id="6" name="TextBox 5">
            <a:extLst>
              <a:ext uri="{FF2B5EF4-FFF2-40B4-BE49-F238E27FC236}">
                <a16:creationId xmlns:a16="http://schemas.microsoft.com/office/drawing/2014/main" id="{4788C3EB-D280-1512-5050-C0DE693F7750}"/>
              </a:ext>
            </a:extLst>
          </p:cNvPr>
          <p:cNvSpPr txBox="1"/>
          <p:nvPr/>
        </p:nvSpPr>
        <p:spPr>
          <a:xfrm>
            <a:off x="6286386" y="1644677"/>
            <a:ext cx="5457940" cy="1117053"/>
          </a:xfrm>
          <a:prstGeom prst="rect">
            <a:avLst/>
          </a:prstGeom>
          <a:noFill/>
          <a:ln w="3175">
            <a:noFill/>
          </a:ln>
        </p:spPr>
        <p:style>
          <a:lnRef idx="3">
            <a:schemeClr val="lt1"/>
          </a:lnRef>
          <a:fillRef idx="1">
            <a:schemeClr val="accent6"/>
          </a:fillRef>
          <a:effectRef idx="1">
            <a:schemeClr val="accent6"/>
          </a:effectRef>
          <a:fontRef idx="minor">
            <a:schemeClr val="lt1"/>
          </a:fontRef>
        </p:style>
        <p:txBody>
          <a:bodyPr wrap="square" lIns="0" tIns="0" rIns="91440" bIns="0" rtlCol="0" anchor="ctr">
            <a:noAutofit/>
          </a:bodyPr>
          <a:lstStyle/>
          <a:p>
            <a:pPr marL="0" marR="0" lvl="0" indent="0" algn="l" defTabSz="914377" rtl="0" eaLnBrk="1" fontAlgn="auto" latinLnBrk="0" hangingPunct="1">
              <a:lnSpc>
                <a:spcPct val="100000"/>
              </a:lnSpc>
              <a:spcBef>
                <a:spcPts val="200"/>
              </a:spcBef>
              <a:spcAft>
                <a:spcPts val="0"/>
              </a:spcAft>
              <a:buClr>
                <a:srgbClr val="ED7D31"/>
              </a:buClr>
              <a:buSzPct val="70000"/>
              <a:buFontTx/>
              <a:buNone/>
              <a:tabLst/>
              <a:defRPr/>
            </a:pPr>
            <a:r>
              <a:rPr kumimoji="0" lang="en-US" sz="1400" b="1" i="0" u="none" strike="noStrike" kern="1200" cap="none" spc="0" normalizeH="0" baseline="0" noProof="0">
                <a:ln>
                  <a:noFill/>
                </a:ln>
                <a:solidFill>
                  <a:schemeClr val="accent3"/>
                </a:solidFill>
                <a:effectLst/>
                <a:uLnTx/>
                <a:uFillTx/>
                <a:latin typeface="Calibri" panose="020F0502020204030204" pitchFamily="34" charset="0"/>
                <a:ea typeface="+mn-ea"/>
                <a:cs typeface="+mn-cs"/>
              </a:rPr>
              <a:t>Our Solutions</a:t>
            </a:r>
          </a:p>
          <a:p>
            <a:pPr marL="228600" marR="0" lvl="0" indent="-228600" algn="l" defTabSz="914377" rtl="0" eaLnBrk="1" fontAlgn="auto" latinLnBrk="0" hangingPunct="1">
              <a:lnSpc>
                <a:spcPct val="100000"/>
              </a:lnSpc>
              <a:spcBef>
                <a:spcPts val="200"/>
              </a:spcBef>
              <a:spcAft>
                <a:spcPts val="0"/>
              </a:spcAft>
              <a:buClr>
                <a:srgbClr val="FB4E0B"/>
              </a:buClr>
              <a:buSzPct val="100000"/>
              <a:buFont typeface="Calibri" panose="020F0502020204030204" pitchFamily="34" charset="0"/>
              <a:buChar char="•"/>
              <a:tabLst/>
              <a:defRPr/>
            </a:pPr>
            <a:r>
              <a:rPr kumimoji="0" lang="en-US" sz="1100" b="0" i="0" u="none" strike="noStrike" kern="1200" cap="none" spc="0" normalizeH="0" baseline="0" noProof="0">
                <a:ln>
                  <a:noFill/>
                </a:ln>
                <a:solidFill>
                  <a:srgbClr val="020202"/>
                </a:solidFill>
                <a:effectLst/>
                <a:uLnTx/>
                <a:uFillTx/>
                <a:latin typeface="Calibri" panose="020F0502020204030204" pitchFamily="34" charset="0"/>
                <a:ea typeface="+mn-ea"/>
                <a:cs typeface="Calibri" panose="020F0502020204030204" pitchFamily="34" charset="0"/>
              </a:rPr>
              <a:t>Modelling Asset and Liability of a Life Insurance company as per regulatory changes.</a:t>
            </a:r>
          </a:p>
          <a:p>
            <a:pPr marL="228600" marR="0" lvl="0" indent="-228600" algn="l" defTabSz="914377" rtl="0" eaLnBrk="1" fontAlgn="auto" latinLnBrk="0" hangingPunct="1">
              <a:lnSpc>
                <a:spcPct val="100000"/>
              </a:lnSpc>
              <a:spcBef>
                <a:spcPts val="200"/>
              </a:spcBef>
              <a:spcAft>
                <a:spcPts val="0"/>
              </a:spcAft>
              <a:buClr>
                <a:srgbClr val="FB4E0B"/>
              </a:buClr>
              <a:buSzPct val="100000"/>
              <a:buFont typeface="Calibri" panose="020F0502020204030204" pitchFamily="34" charset="0"/>
              <a:buChar char="•"/>
              <a:tabLst/>
              <a:defRPr/>
            </a:pPr>
            <a:r>
              <a:rPr kumimoji="0" lang="en-US" sz="1100" b="0" i="0" u="none" strike="noStrike" kern="1200" cap="none" spc="0" normalizeH="0" baseline="0" noProof="0">
                <a:ln>
                  <a:noFill/>
                </a:ln>
                <a:solidFill>
                  <a:srgbClr val="020202"/>
                </a:solidFill>
                <a:effectLst/>
                <a:uLnTx/>
                <a:uFillTx/>
                <a:latin typeface="Calibri" panose="020F0502020204030204" pitchFamily="34" charset="0"/>
                <a:ea typeface="+mn-ea"/>
                <a:cs typeface="Calibri" panose="020F0502020204030204" pitchFamily="34" charset="0"/>
              </a:rPr>
              <a:t>Demonstrating the impact of  regulatory changes on Asset and Liability cashflows.</a:t>
            </a:r>
          </a:p>
          <a:p>
            <a:pPr marL="228600" marR="0" lvl="0" indent="-228600" algn="l" defTabSz="914377" rtl="0" eaLnBrk="1" fontAlgn="auto" latinLnBrk="0" hangingPunct="1">
              <a:lnSpc>
                <a:spcPct val="100000"/>
              </a:lnSpc>
              <a:spcBef>
                <a:spcPts val="200"/>
              </a:spcBef>
              <a:spcAft>
                <a:spcPts val="0"/>
              </a:spcAft>
              <a:buClr>
                <a:srgbClr val="FB4E0B"/>
              </a:buClr>
              <a:buSzPct val="100000"/>
              <a:buFont typeface="Calibri" panose="020F0502020204030204" pitchFamily="34" charset="0"/>
              <a:buChar char="•"/>
              <a:tabLst/>
              <a:defRPr/>
            </a:pPr>
            <a:r>
              <a:rPr kumimoji="0" lang="en-US" sz="1100" b="0" i="0" u="none" strike="noStrike" kern="1200" cap="none" spc="0" normalizeH="0" baseline="0" noProof="0">
                <a:ln>
                  <a:noFill/>
                </a:ln>
                <a:solidFill>
                  <a:srgbClr val="020202"/>
                </a:solidFill>
                <a:effectLst/>
                <a:uLnTx/>
                <a:uFillTx/>
                <a:latin typeface="Calibri" panose="020F0502020204030204" pitchFamily="34" charset="0"/>
                <a:ea typeface="+mn-ea"/>
                <a:cs typeface="Calibri" panose="020F0502020204030204" pitchFamily="34" charset="0"/>
              </a:rPr>
              <a:t>Suggesting possible asset portfolio mix that can help the insurance company meet its regulatory requirement.</a:t>
            </a:r>
          </a:p>
        </p:txBody>
      </p:sp>
      <p:sp>
        <p:nvSpPr>
          <p:cNvPr id="7" name="TextBox 6">
            <a:extLst>
              <a:ext uri="{FF2B5EF4-FFF2-40B4-BE49-F238E27FC236}">
                <a16:creationId xmlns:a16="http://schemas.microsoft.com/office/drawing/2014/main" id="{4B5A61D4-AAC2-D5E5-CD18-E9FC62403964}"/>
              </a:ext>
            </a:extLst>
          </p:cNvPr>
          <p:cNvSpPr txBox="1"/>
          <p:nvPr/>
        </p:nvSpPr>
        <p:spPr>
          <a:xfrm>
            <a:off x="466725" y="1644677"/>
            <a:ext cx="5656376" cy="1117053"/>
          </a:xfrm>
          <a:prstGeom prst="rect">
            <a:avLst/>
          </a:prstGeom>
          <a:noFill/>
          <a:ln/>
        </p:spPr>
        <p:style>
          <a:lnRef idx="3">
            <a:schemeClr val="lt1"/>
          </a:lnRef>
          <a:fillRef idx="1">
            <a:schemeClr val="accent6"/>
          </a:fillRef>
          <a:effectRef idx="1">
            <a:schemeClr val="accent6"/>
          </a:effectRef>
          <a:fontRef idx="minor">
            <a:schemeClr val="lt1"/>
          </a:fontRef>
        </p:style>
        <p:txBody>
          <a:bodyPr wrap="square" lIns="0" tIns="0" rIns="91440" bIns="0" rtlCol="0" anchor="ctr">
            <a:noAutofit/>
          </a:bodyPr>
          <a:lstStyle/>
          <a:p>
            <a:pPr marL="0" marR="0" lvl="0" indent="0" algn="l" defTabSz="914377" rtl="0" eaLnBrk="1" fontAlgn="auto" latinLnBrk="0" hangingPunct="1">
              <a:lnSpc>
                <a:spcPct val="100000"/>
              </a:lnSpc>
              <a:spcBef>
                <a:spcPts val="200"/>
              </a:spcBef>
              <a:spcAft>
                <a:spcPts val="0"/>
              </a:spcAft>
              <a:buClr>
                <a:srgbClr val="ED7D31"/>
              </a:buClr>
              <a:buSzPct val="70000"/>
              <a:buFontTx/>
              <a:buNone/>
              <a:tabLst/>
              <a:defRPr/>
            </a:pPr>
            <a:r>
              <a:rPr kumimoji="0" lang="en-US" sz="1400" b="1" i="0" u="none" strike="noStrike" kern="1200" cap="none" spc="0" normalizeH="0" baseline="0" noProof="0">
                <a:ln>
                  <a:noFill/>
                </a:ln>
                <a:solidFill>
                  <a:schemeClr val="accent3"/>
                </a:solidFill>
                <a:effectLst/>
                <a:uLnTx/>
                <a:uFillTx/>
                <a:latin typeface="Calibri" panose="020F0502020204030204" pitchFamily="34" charset="0"/>
                <a:ea typeface="+mn-ea"/>
                <a:cs typeface="+mn-cs"/>
              </a:rPr>
              <a:t>Key Challenges</a:t>
            </a:r>
          </a:p>
          <a:p>
            <a:pPr marL="228600" marR="0" lvl="0" indent="-228600" algn="l" defTabSz="914377" rtl="0" eaLnBrk="1" fontAlgn="auto" latinLnBrk="0" hangingPunct="1">
              <a:lnSpc>
                <a:spcPct val="100000"/>
              </a:lnSpc>
              <a:spcBef>
                <a:spcPts val="200"/>
              </a:spcBef>
              <a:spcAft>
                <a:spcPts val="0"/>
              </a:spcAft>
              <a:buClr>
                <a:srgbClr val="FB4E0B"/>
              </a:buClr>
              <a:buSzPct val="100000"/>
              <a:buFont typeface="Calibri" panose="020F0502020204030204" pitchFamily="34" charset="0"/>
              <a:buChar char="•"/>
              <a:tabLst/>
              <a:defRPr/>
            </a:pPr>
            <a:r>
              <a:rPr kumimoji="0" lang="en-US" sz="1100" b="0" i="0" u="none" strike="noStrike" kern="1200" cap="none" spc="0" normalizeH="0" baseline="0" noProof="0">
                <a:ln>
                  <a:noFill/>
                </a:ln>
                <a:solidFill>
                  <a:srgbClr val="020202"/>
                </a:solidFill>
                <a:effectLst/>
                <a:uLnTx/>
                <a:uFillTx/>
                <a:latin typeface="Calibri" panose="020F0502020204030204" pitchFamily="34" charset="0"/>
                <a:ea typeface="+mn-ea"/>
                <a:cs typeface="Calibri" panose="020F0502020204030204" pitchFamily="34" charset="0"/>
              </a:rPr>
              <a:t>Understanding the impact of regulatory changes on the company’s assets and liabilities.</a:t>
            </a:r>
          </a:p>
          <a:p>
            <a:pPr marL="228600" marR="0" lvl="0" indent="-228600" algn="l" defTabSz="914377" rtl="0" eaLnBrk="1" fontAlgn="auto" latinLnBrk="0" hangingPunct="1">
              <a:lnSpc>
                <a:spcPct val="100000"/>
              </a:lnSpc>
              <a:spcBef>
                <a:spcPts val="200"/>
              </a:spcBef>
              <a:spcAft>
                <a:spcPts val="0"/>
              </a:spcAft>
              <a:buClr>
                <a:srgbClr val="FB4E0B"/>
              </a:buClr>
              <a:buSzPct val="100000"/>
              <a:buFont typeface="Calibri" panose="020F0502020204030204" pitchFamily="34" charset="0"/>
              <a:buChar char="•"/>
              <a:tabLst/>
              <a:defRPr/>
            </a:pPr>
            <a:r>
              <a:rPr kumimoji="0" lang="en-US" sz="1100" b="0" i="0" u="none" strike="noStrike" kern="1200" cap="none" spc="0" normalizeH="0" baseline="0" noProof="0">
                <a:ln>
                  <a:noFill/>
                </a:ln>
                <a:solidFill>
                  <a:srgbClr val="020202"/>
                </a:solidFill>
                <a:effectLst/>
                <a:uLnTx/>
                <a:uFillTx/>
                <a:latin typeface="Calibri" panose="020F0502020204030204" pitchFamily="34" charset="0"/>
                <a:ea typeface="+mn-ea"/>
                <a:cs typeface="Calibri" panose="020F0502020204030204" pitchFamily="34" charset="0"/>
              </a:rPr>
              <a:t>Understanding the impact of regulatory changes on rebalancing of Asset portfolios.</a:t>
            </a:r>
          </a:p>
          <a:p>
            <a:pPr marL="228600" marR="0" lvl="0" indent="-228600" algn="l" defTabSz="914377" rtl="0" eaLnBrk="1" fontAlgn="auto" latinLnBrk="0" hangingPunct="1">
              <a:lnSpc>
                <a:spcPct val="100000"/>
              </a:lnSpc>
              <a:spcBef>
                <a:spcPts val="200"/>
              </a:spcBef>
              <a:spcAft>
                <a:spcPts val="0"/>
              </a:spcAft>
              <a:buClr>
                <a:srgbClr val="FB4E0B"/>
              </a:buClr>
              <a:buSzPct val="100000"/>
              <a:buFont typeface="Calibri" panose="020F0502020204030204" pitchFamily="34" charset="0"/>
              <a:buChar char="•"/>
              <a:tabLst/>
              <a:defRPr/>
            </a:pPr>
            <a:r>
              <a:rPr kumimoji="0" lang="en-US" sz="1100" b="0" i="0" u="none" strike="noStrike" kern="1200" cap="none" spc="0" normalizeH="0" baseline="0" noProof="0">
                <a:ln>
                  <a:noFill/>
                </a:ln>
                <a:solidFill>
                  <a:srgbClr val="020202"/>
                </a:solidFill>
                <a:effectLst/>
                <a:uLnTx/>
                <a:uFillTx/>
                <a:latin typeface="Calibri" panose="020F0502020204030204" pitchFamily="34" charset="0"/>
                <a:ea typeface="+mn-ea"/>
                <a:cs typeface="Calibri" panose="020F0502020204030204" pitchFamily="34" charset="0"/>
              </a:rPr>
              <a:t>Decide what investment strategy should the insurance company adopt to ensure it meets regulatory changes</a:t>
            </a:r>
          </a:p>
        </p:txBody>
      </p:sp>
      <p:cxnSp>
        <p:nvCxnSpPr>
          <p:cNvPr id="8" name="Straight Connector 7">
            <a:extLst>
              <a:ext uri="{FF2B5EF4-FFF2-40B4-BE49-F238E27FC236}">
                <a16:creationId xmlns:a16="http://schemas.microsoft.com/office/drawing/2014/main" id="{E916748A-23D9-032A-8B6B-8AA69432495A}"/>
              </a:ext>
            </a:extLst>
          </p:cNvPr>
          <p:cNvCxnSpPr/>
          <p:nvPr/>
        </p:nvCxnSpPr>
        <p:spPr>
          <a:xfrm>
            <a:off x="5972175" y="1754801"/>
            <a:ext cx="0" cy="933450"/>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2788F36B-59E1-5248-BD1B-8A612D6973C1}"/>
              </a:ext>
            </a:extLst>
          </p:cNvPr>
          <p:cNvSpPr/>
          <p:nvPr/>
        </p:nvSpPr>
        <p:spPr>
          <a:xfrm>
            <a:off x="1" y="2798376"/>
            <a:ext cx="12192000" cy="20070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Calibri" panose="020F0502020204030204" pitchFamily="34" charset="0"/>
                <a:ea typeface="+mn-ea"/>
                <a:cs typeface="+mn-cs"/>
              </a:rPr>
              <a:t>ALM Modeling Process</a:t>
            </a:r>
          </a:p>
        </p:txBody>
      </p:sp>
      <p:sp>
        <p:nvSpPr>
          <p:cNvPr id="10" name="Rectangle 9">
            <a:extLst>
              <a:ext uri="{FF2B5EF4-FFF2-40B4-BE49-F238E27FC236}">
                <a16:creationId xmlns:a16="http://schemas.microsoft.com/office/drawing/2014/main" id="{579A2532-8437-3792-5D8F-CB4D45BC313D}"/>
              </a:ext>
            </a:extLst>
          </p:cNvPr>
          <p:cNvSpPr/>
          <p:nvPr/>
        </p:nvSpPr>
        <p:spPr>
          <a:xfrm>
            <a:off x="2300123" y="3495256"/>
            <a:ext cx="1645920" cy="1160449"/>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u="none" strike="noStrike" kern="1200" cap="none" spc="0" normalizeH="0" baseline="0" noProof="0">
                <a:ln>
                  <a:noFill/>
                </a:ln>
                <a:solidFill>
                  <a:schemeClr val="tx2"/>
                </a:solidFill>
                <a:effectLst/>
                <a:uLnTx/>
                <a:uFillTx/>
                <a:latin typeface="Calibri" panose="020F0502020204030204" pitchFamily="34" charset="0"/>
                <a:ea typeface="+mn-ea"/>
                <a:cs typeface="Calibri" panose="020F0502020204030204" pitchFamily="34" charset="0"/>
              </a:rPr>
              <a:t>1.1 Regulatory Guidance</a:t>
            </a:r>
          </a:p>
          <a:p>
            <a:pPr marL="182880" indent="-182880">
              <a:spcAft>
                <a:spcPts val="600"/>
              </a:spcAft>
              <a:buClr>
                <a:srgbClr val="FB4E0B"/>
              </a:buClr>
              <a:buFont typeface="Calibri" panose="020F0502020204030204" pitchFamily="34" charset="0"/>
              <a:buChar char="•"/>
              <a:defRPr/>
            </a:pPr>
            <a:r>
              <a:rPr lang="en-US" sz="800">
                <a:solidFill>
                  <a:srgbClr val="000000"/>
                </a:solidFill>
                <a:latin typeface="Calibri" panose="020F0502020204030204" pitchFamily="34" charset="0"/>
                <a:cs typeface="Calibri" panose="020F0502020204030204" pitchFamily="34" charset="0"/>
              </a:rPr>
              <a:t>Understanding regulatory changes (such as change in Tax rate on Investment income , change in commission rate on new business. etc.)</a:t>
            </a:r>
          </a:p>
        </p:txBody>
      </p:sp>
      <p:sp>
        <p:nvSpPr>
          <p:cNvPr id="11" name="Rectangle 10">
            <a:extLst>
              <a:ext uri="{FF2B5EF4-FFF2-40B4-BE49-F238E27FC236}">
                <a16:creationId xmlns:a16="http://schemas.microsoft.com/office/drawing/2014/main" id="{CD1AB163-97B8-36CA-EFD1-A9CB6EFCDE30}"/>
              </a:ext>
            </a:extLst>
          </p:cNvPr>
          <p:cNvSpPr/>
          <p:nvPr/>
        </p:nvSpPr>
        <p:spPr>
          <a:xfrm>
            <a:off x="4324534" y="3479362"/>
            <a:ext cx="1645920" cy="1047119"/>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chemeClr val="tx2"/>
                </a:solidFill>
                <a:effectLst/>
                <a:uLnTx/>
                <a:uFillTx/>
                <a:latin typeface="Calibri" panose="020F0502020204030204" pitchFamily="34" charset="0"/>
                <a:ea typeface="+mn-ea"/>
                <a:cs typeface="Calibri" panose="020F0502020204030204" pitchFamily="34" charset="0"/>
              </a:rPr>
              <a:t>2.1 Identifying Model Changes</a:t>
            </a:r>
          </a:p>
          <a:p>
            <a:pPr marL="182880" indent="-182880">
              <a:buClr>
                <a:srgbClr val="FB4E0B"/>
              </a:buClr>
              <a:buFont typeface="Calibri" panose="020F0502020204030204" pitchFamily="34" charset="0"/>
              <a:buChar char="•"/>
              <a:defRPr/>
            </a:pPr>
            <a:r>
              <a:rPr lang="en-US" sz="800">
                <a:solidFill>
                  <a:srgbClr val="000000"/>
                </a:solidFill>
                <a:latin typeface="Calibri" panose="020F0502020204030204" pitchFamily="34" charset="0"/>
                <a:cs typeface="Calibri" panose="020F0502020204030204" pitchFamily="34" charset="0"/>
              </a:rPr>
              <a:t>Identifying variables that affect the asset &amp; liability</a:t>
            </a:r>
          </a:p>
          <a:p>
            <a:pPr marL="182880" indent="-182880">
              <a:buClr>
                <a:srgbClr val="FB4E0B"/>
              </a:buClr>
              <a:buFont typeface="Calibri" panose="020F0502020204030204" pitchFamily="34" charset="0"/>
              <a:buChar char="•"/>
              <a:defRPr/>
            </a:pPr>
            <a:r>
              <a:rPr lang="en-US" sz="800">
                <a:solidFill>
                  <a:srgbClr val="000000"/>
                </a:solidFill>
                <a:latin typeface="Calibri" panose="020F0502020204030204" pitchFamily="34" charset="0"/>
                <a:cs typeface="Calibri" panose="020F0502020204030204" pitchFamily="34" charset="0"/>
              </a:rPr>
              <a:t>Select variables require coding changes. (e.g. Tax rate, investment return, commissions etc.)</a:t>
            </a:r>
          </a:p>
        </p:txBody>
      </p:sp>
      <p:sp>
        <p:nvSpPr>
          <p:cNvPr id="12" name="Rectangle 11">
            <a:extLst>
              <a:ext uri="{FF2B5EF4-FFF2-40B4-BE49-F238E27FC236}">
                <a16:creationId xmlns:a16="http://schemas.microsoft.com/office/drawing/2014/main" id="{0207A9C9-AB62-818B-CE04-EBC3C613AC3A}"/>
              </a:ext>
            </a:extLst>
          </p:cNvPr>
          <p:cNvSpPr/>
          <p:nvPr/>
        </p:nvSpPr>
        <p:spPr>
          <a:xfrm>
            <a:off x="6327532" y="3484046"/>
            <a:ext cx="1645920" cy="61517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chemeClr val="tx2"/>
                </a:solidFill>
                <a:effectLst/>
                <a:uLnTx/>
                <a:uFillTx/>
                <a:latin typeface="Calibri" panose="020F0502020204030204" pitchFamily="34" charset="0"/>
                <a:ea typeface="+mn-ea"/>
                <a:cs typeface="Calibri" panose="020F0502020204030204" pitchFamily="34" charset="0"/>
              </a:rPr>
              <a:t>3.1 Singe policy run</a:t>
            </a:r>
          </a:p>
          <a:p>
            <a:pPr marL="171450" marR="0" lvl="0" indent="-171450" algn="l" defTabSz="914400" rtl="0" eaLnBrk="1" fontAlgn="auto" latinLnBrk="0" hangingPunct="1">
              <a:lnSpc>
                <a:spcPct val="100000"/>
              </a:lnSpc>
              <a:spcBef>
                <a:spcPts val="0"/>
              </a:spcBef>
              <a:spcAft>
                <a:spcPts val="0"/>
              </a:spcAft>
              <a:buClr>
                <a:schemeClr val="tx2"/>
              </a:buClr>
              <a:buSzTx/>
              <a:buFont typeface="Calibri" panose="020F0502020204030204" pitchFamily="34" charset="0"/>
              <a:buChar char="•"/>
              <a:tabLst/>
              <a:defRPr/>
            </a:pPr>
            <a:r>
              <a:rPr kumimoji="0" lang="en-US" sz="1000" b="0" u="none" strike="noStrike" kern="1200" cap="none" spc="0" normalizeH="0" baseline="0" noProof="0">
                <a:ln>
                  <a:noFill/>
                </a:ln>
                <a:solidFill>
                  <a:srgbClr val="000000"/>
                </a:solidFill>
                <a:effectLst/>
                <a:uLnTx/>
                <a:uFillTx/>
                <a:latin typeface="Calibri" panose="020F0502020204030204" pitchFamily="34" charset="0"/>
                <a:ea typeface="+mn-ea"/>
                <a:cs typeface="+mn-cs"/>
              </a:rPr>
              <a:t>Running a single Policy to validate coding changes</a:t>
            </a:r>
            <a:endParaRPr kumimoji="0" lang="en-US" sz="1000" b="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3" name="Rectangle 12">
            <a:extLst>
              <a:ext uri="{FF2B5EF4-FFF2-40B4-BE49-F238E27FC236}">
                <a16:creationId xmlns:a16="http://schemas.microsoft.com/office/drawing/2014/main" id="{C8BB97B9-BAF4-C14C-CAD2-32BC3C3B9019}"/>
              </a:ext>
            </a:extLst>
          </p:cNvPr>
          <p:cNvSpPr/>
          <p:nvPr/>
        </p:nvSpPr>
        <p:spPr>
          <a:xfrm>
            <a:off x="6339075" y="4297132"/>
            <a:ext cx="1645920" cy="873866"/>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chemeClr val="tx2"/>
                </a:solidFill>
                <a:effectLst/>
                <a:uLnTx/>
                <a:uFillTx/>
                <a:latin typeface="Calibri" panose="020F0502020204030204" pitchFamily="34" charset="0"/>
                <a:ea typeface="+mn-ea"/>
                <a:cs typeface="Calibri" panose="020F0502020204030204" pitchFamily="34" charset="0"/>
              </a:rPr>
              <a:t>3.2 Error identification</a:t>
            </a:r>
            <a:endParaRPr kumimoji="0" lang="en-US" sz="1000" b="0" u="none" strike="noStrike" kern="1200" cap="none" spc="0" normalizeH="0" baseline="0" noProof="0">
              <a:ln>
                <a:noFill/>
              </a:ln>
              <a:solidFill>
                <a:schemeClr val="tx2"/>
              </a:solidFill>
              <a:effectLst/>
              <a:uLnTx/>
              <a:uFillTx/>
              <a:latin typeface="Calibri" panose="020F0502020204030204" pitchFamily="34" charset="0"/>
              <a:ea typeface="+mn-ea"/>
              <a:cs typeface="Calibri" panose="020F0502020204030204" pitchFamily="34" charset="0"/>
            </a:endParaRPr>
          </a:p>
          <a:p>
            <a:pPr marL="171450" indent="-171450">
              <a:buClr>
                <a:schemeClr val="tx2"/>
              </a:buClr>
              <a:buFont typeface="Calibri" panose="020F0502020204030204" pitchFamily="34" charset="0"/>
              <a:buChar char="•"/>
              <a:defRPr/>
            </a:pPr>
            <a:r>
              <a:rPr lang="en-US" sz="1000">
                <a:solidFill>
                  <a:srgbClr val="000000"/>
                </a:solidFill>
                <a:latin typeface="Calibri" panose="020F0502020204030204" pitchFamily="34" charset="0"/>
              </a:rPr>
              <a:t>Identifying model run errors such as invalid syntax, unknown identifiers.</a:t>
            </a:r>
          </a:p>
        </p:txBody>
      </p:sp>
      <p:sp>
        <p:nvSpPr>
          <p:cNvPr id="14" name="Rectangle 13">
            <a:extLst>
              <a:ext uri="{FF2B5EF4-FFF2-40B4-BE49-F238E27FC236}">
                <a16:creationId xmlns:a16="http://schemas.microsoft.com/office/drawing/2014/main" id="{B96A1425-7C95-2E60-41E6-2FB63195BF78}"/>
              </a:ext>
            </a:extLst>
          </p:cNvPr>
          <p:cNvSpPr/>
          <p:nvPr/>
        </p:nvSpPr>
        <p:spPr>
          <a:xfrm>
            <a:off x="6358761" y="5337273"/>
            <a:ext cx="1645920" cy="814654"/>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chemeClr val="tx2"/>
                </a:solidFill>
                <a:effectLst/>
                <a:uLnTx/>
                <a:uFillTx/>
                <a:latin typeface="Calibri" panose="020F0502020204030204" pitchFamily="34" charset="0"/>
                <a:ea typeface="+mn-ea"/>
                <a:cs typeface="Calibri" panose="020F0502020204030204" pitchFamily="34" charset="0"/>
              </a:rPr>
              <a:t>3.3 Fix errors &amp; rerun</a:t>
            </a:r>
            <a:endParaRPr kumimoji="0" lang="en-US" sz="1000" b="0" u="none" strike="noStrike" kern="1200" cap="none" spc="0" normalizeH="0" baseline="0" noProof="0">
              <a:ln>
                <a:noFill/>
              </a:ln>
              <a:solidFill>
                <a:schemeClr val="tx2"/>
              </a:solidFill>
              <a:effectLst/>
              <a:uLnTx/>
              <a:uFillTx/>
              <a:latin typeface="Calibri" panose="020F0502020204030204" pitchFamily="34" charset="0"/>
              <a:ea typeface="+mn-ea"/>
              <a:cs typeface="Calibri" panose="020F0502020204030204" pitchFamily="34" charset="0"/>
            </a:endParaRPr>
          </a:p>
          <a:p>
            <a:pPr marL="171450" indent="-171450">
              <a:buClr>
                <a:schemeClr val="tx2"/>
              </a:buClr>
              <a:buFont typeface="Calibri" panose="020F0502020204030204" pitchFamily="34" charset="0"/>
              <a:buChar char="•"/>
              <a:defRPr/>
            </a:pPr>
            <a:r>
              <a:rPr lang="en-US" sz="1000">
                <a:solidFill>
                  <a:srgbClr val="000000"/>
                </a:solidFill>
                <a:latin typeface="Calibri" panose="020F0502020204030204" pitchFamily="34" charset="0"/>
              </a:rPr>
              <a:t>Correcting model errors and rerun. Repeat process till no errors.</a:t>
            </a:r>
          </a:p>
        </p:txBody>
      </p:sp>
      <p:sp>
        <p:nvSpPr>
          <p:cNvPr id="15" name="Rectangle 14">
            <a:extLst>
              <a:ext uri="{FF2B5EF4-FFF2-40B4-BE49-F238E27FC236}">
                <a16:creationId xmlns:a16="http://schemas.microsoft.com/office/drawing/2014/main" id="{15184B0A-FF7D-FCA8-89B1-4EF5585CBE81}"/>
              </a:ext>
            </a:extLst>
          </p:cNvPr>
          <p:cNvSpPr/>
          <p:nvPr/>
        </p:nvSpPr>
        <p:spPr>
          <a:xfrm>
            <a:off x="8342495" y="3486092"/>
            <a:ext cx="1526343" cy="2023041"/>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u="none" strike="noStrike" kern="1200" cap="none" spc="0" normalizeH="0" baseline="0" noProof="0">
                <a:ln>
                  <a:noFill/>
                </a:ln>
                <a:solidFill>
                  <a:schemeClr val="tx2"/>
                </a:solidFill>
                <a:effectLst/>
                <a:uLnTx/>
                <a:uFillTx/>
                <a:latin typeface="Calibri" panose="020F0502020204030204" pitchFamily="34" charset="0"/>
                <a:ea typeface="+mn-ea"/>
                <a:cs typeface="Calibri" panose="020F0502020204030204" pitchFamily="34" charset="0"/>
              </a:rPr>
              <a:t>4.1 Prepare cash flow projections for single Policy</a:t>
            </a:r>
          </a:p>
          <a:p>
            <a:pPr marL="171450" indent="-171450">
              <a:spcAft>
                <a:spcPts val="600"/>
              </a:spcAft>
              <a:buClr>
                <a:schemeClr val="tx2"/>
              </a:buClr>
              <a:buFont typeface="Calibri" panose="020F0502020204030204" pitchFamily="34" charset="0"/>
              <a:buChar char="•"/>
              <a:defRPr/>
            </a:pPr>
            <a:r>
              <a:rPr lang="en-US" sz="1000">
                <a:solidFill>
                  <a:srgbClr val="000000"/>
                </a:solidFill>
                <a:latin typeface="Calibri" panose="020F0502020204030204" pitchFamily="34" charset="0"/>
              </a:rPr>
              <a:t>Run single policy</a:t>
            </a:r>
          </a:p>
          <a:p>
            <a:pPr marL="171450" indent="-171450">
              <a:spcAft>
                <a:spcPts val="600"/>
              </a:spcAft>
              <a:buClr>
                <a:schemeClr val="tx2"/>
              </a:buClr>
              <a:buFont typeface="Calibri" panose="020F0502020204030204" pitchFamily="34" charset="0"/>
              <a:buChar char="•"/>
              <a:defRPr/>
            </a:pPr>
            <a:r>
              <a:rPr lang="en-US" sz="1000">
                <a:solidFill>
                  <a:srgbClr val="000000"/>
                </a:solidFill>
                <a:latin typeface="Calibri" panose="020F0502020204030204" pitchFamily="34" charset="0"/>
              </a:rPr>
              <a:t>Validate impact on Assets and liabilities</a:t>
            </a:r>
          </a:p>
          <a:p>
            <a:pPr marL="171450" indent="-171450">
              <a:spcAft>
                <a:spcPts val="600"/>
              </a:spcAft>
              <a:buClr>
                <a:schemeClr val="tx2"/>
              </a:buClr>
              <a:buFont typeface="Calibri" panose="020F0502020204030204" pitchFamily="34" charset="0"/>
              <a:buChar char="•"/>
              <a:defRPr/>
            </a:pPr>
            <a:r>
              <a:rPr lang="en-US" sz="1000">
                <a:solidFill>
                  <a:srgbClr val="000000"/>
                </a:solidFill>
                <a:latin typeface="Calibri" panose="020F0502020204030204" pitchFamily="34" charset="0"/>
              </a:rPr>
              <a:t>Validate projections of asset &amp; liabilities such as Claim amounts, market value of assets etc.</a:t>
            </a:r>
          </a:p>
        </p:txBody>
      </p:sp>
      <p:sp>
        <p:nvSpPr>
          <p:cNvPr id="16" name="Rectangle 15">
            <a:extLst>
              <a:ext uri="{FF2B5EF4-FFF2-40B4-BE49-F238E27FC236}">
                <a16:creationId xmlns:a16="http://schemas.microsoft.com/office/drawing/2014/main" id="{1EF2A598-2074-ED3F-6AF0-6515EC6BA4E0}"/>
              </a:ext>
            </a:extLst>
          </p:cNvPr>
          <p:cNvSpPr/>
          <p:nvPr/>
        </p:nvSpPr>
        <p:spPr>
          <a:xfrm>
            <a:off x="10144187" y="3496142"/>
            <a:ext cx="1590613" cy="742559"/>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chemeClr val="tx2"/>
                </a:solidFill>
                <a:effectLst/>
                <a:uLnTx/>
                <a:uFillTx/>
                <a:latin typeface="Calibri" panose="020F0502020204030204" pitchFamily="34" charset="0"/>
                <a:ea typeface="+mn-ea"/>
                <a:cs typeface="Calibri" panose="020F0502020204030204" pitchFamily="34" charset="0"/>
              </a:rPr>
              <a:t>5.1 Full Model Run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u="none" strike="noStrike" kern="1200" cap="none" spc="0" normalizeH="0" baseline="0" noProof="0">
                <a:ln>
                  <a:noFill/>
                </a:ln>
                <a:solidFill>
                  <a:srgbClr val="000000"/>
                </a:solidFill>
                <a:effectLst/>
                <a:uLnTx/>
                <a:uFillTx/>
                <a:latin typeface="Calibri" panose="020F0502020204030204" pitchFamily="34" charset="0"/>
                <a:ea typeface="+mn-ea"/>
                <a:cs typeface="+mn-cs"/>
              </a:rPr>
              <a:t>Running the </a:t>
            </a:r>
            <a:r>
              <a:rPr kumimoji="0" lang="en-US" sz="1000" b="0" u="none" strike="noStrike" kern="1200" cap="none" spc="0" normalizeH="0" baseline="0" noProof="0" err="1">
                <a:ln>
                  <a:noFill/>
                </a:ln>
                <a:solidFill>
                  <a:srgbClr val="000000"/>
                </a:solidFill>
                <a:effectLst/>
                <a:uLnTx/>
                <a:uFillTx/>
                <a:latin typeface="Calibri" panose="020F0502020204030204" pitchFamily="34" charset="0"/>
                <a:ea typeface="+mn-ea"/>
                <a:cs typeface="+mn-cs"/>
              </a:rPr>
              <a:t>inforce</a:t>
            </a:r>
            <a:r>
              <a:rPr kumimoji="0" lang="en-US" sz="1000" b="0" u="none" strike="noStrike" kern="1200" cap="none" spc="0" normalizeH="0" baseline="0" noProof="0">
                <a:ln>
                  <a:noFill/>
                </a:ln>
                <a:solidFill>
                  <a:srgbClr val="000000"/>
                </a:solidFill>
                <a:effectLst/>
                <a:uLnTx/>
                <a:uFillTx/>
                <a:latin typeface="Calibri" panose="020F0502020204030204" pitchFamily="34" charset="0"/>
                <a:ea typeface="+mn-ea"/>
                <a:cs typeface="+mn-cs"/>
              </a:rPr>
              <a:t> file containing all the policies of select product group.</a:t>
            </a:r>
            <a:endParaRPr kumimoji="0" lang="en-US" sz="1000" b="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Rectangle 16">
            <a:extLst>
              <a:ext uri="{FF2B5EF4-FFF2-40B4-BE49-F238E27FC236}">
                <a16:creationId xmlns:a16="http://schemas.microsoft.com/office/drawing/2014/main" id="{989B8027-DBE0-8E00-7491-4359611D1C4E}"/>
              </a:ext>
            </a:extLst>
          </p:cNvPr>
          <p:cNvSpPr/>
          <p:nvPr/>
        </p:nvSpPr>
        <p:spPr>
          <a:xfrm>
            <a:off x="10144186" y="4457570"/>
            <a:ext cx="1590611" cy="105156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chemeClr val="tx2"/>
                </a:solidFill>
                <a:effectLst/>
                <a:uLnTx/>
                <a:uFillTx/>
                <a:latin typeface="Calibri" panose="020F0502020204030204" pitchFamily="34" charset="0"/>
                <a:ea typeface="+mn-ea"/>
                <a:cs typeface="+mn-cs"/>
              </a:rPr>
              <a:t>5.2 Results analysis</a:t>
            </a:r>
          </a:p>
          <a:p>
            <a:pPr marL="171450" marR="0" lvl="0" indent="-171450" fontAlgn="auto">
              <a:lnSpc>
                <a:spcPct val="100000"/>
              </a:lnSpc>
              <a:spcBef>
                <a:spcPts val="0"/>
              </a:spcBef>
              <a:spcAft>
                <a:spcPts val="0"/>
              </a:spcAft>
              <a:buClr>
                <a:schemeClr val="tx2"/>
              </a:buClr>
              <a:buSzTx/>
              <a:buFont typeface="Calibri" panose="020F0502020204030204" pitchFamily="34" charset="0"/>
              <a:buChar char="•"/>
              <a:tabLst/>
              <a:defRPr/>
            </a:pPr>
            <a:r>
              <a:rPr lang="en-US" sz="1000">
                <a:solidFill>
                  <a:srgbClr val="000000"/>
                </a:solidFill>
                <a:latin typeface="Calibri" panose="020F0502020204030204" pitchFamily="34" charset="0"/>
              </a:rPr>
              <a:t>Comparing future claim amounts with future market values of different assets classes such as bonds, equities.</a:t>
            </a:r>
          </a:p>
        </p:txBody>
      </p:sp>
      <p:sp>
        <p:nvSpPr>
          <p:cNvPr id="18" name="Rectangle 17">
            <a:extLst>
              <a:ext uri="{FF2B5EF4-FFF2-40B4-BE49-F238E27FC236}">
                <a16:creationId xmlns:a16="http://schemas.microsoft.com/office/drawing/2014/main" id="{5FC3458E-43D1-6D40-BF92-DE275C9CC1CC}"/>
              </a:ext>
            </a:extLst>
          </p:cNvPr>
          <p:cNvSpPr/>
          <p:nvPr/>
        </p:nvSpPr>
        <p:spPr>
          <a:xfrm>
            <a:off x="10144186" y="5676019"/>
            <a:ext cx="1590614" cy="1123448"/>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chemeClr val="tx2"/>
                </a:solidFill>
                <a:effectLst/>
                <a:uLnTx/>
                <a:uFillTx/>
                <a:latin typeface="Calibri" panose="020F0502020204030204" pitchFamily="34" charset="0"/>
                <a:ea typeface="+mn-ea"/>
                <a:cs typeface="+mn-cs"/>
              </a:rPr>
              <a:t>5.3 Asset classes Identification </a:t>
            </a:r>
          </a:p>
          <a:p>
            <a:pPr marL="228600" marR="0" lvl="0" indent="-228600" algn="l" defTabSz="914400" rtl="0" eaLnBrk="1" fontAlgn="auto" latinLnBrk="0" hangingPunct="1">
              <a:lnSpc>
                <a:spcPct val="100000"/>
              </a:lnSpc>
              <a:spcBef>
                <a:spcPts val="0"/>
              </a:spcBef>
              <a:spcAft>
                <a:spcPts val="0"/>
              </a:spcAft>
              <a:buClr>
                <a:srgbClr val="FB4E0B"/>
              </a:buClr>
              <a:buSzTx/>
              <a:buFont typeface="Calibri" panose="020F0502020204030204" pitchFamily="34" charset="0"/>
              <a:buChar char="•"/>
              <a:tabLst/>
              <a:defRPr/>
            </a:pPr>
            <a:r>
              <a:rPr kumimoji="0" lang="en-US" sz="800" b="0" u="none" strike="noStrike" kern="1200" cap="none" spc="0" normalizeH="0" baseline="0" noProof="0">
                <a:ln>
                  <a:noFill/>
                </a:ln>
                <a:solidFill>
                  <a:srgbClr val="000000"/>
                </a:solidFill>
                <a:effectLst/>
                <a:uLnTx/>
                <a:uFillTx/>
                <a:latin typeface="Calibri" panose="020F0502020204030204" pitchFamily="34" charset="0"/>
                <a:ea typeface="+mn-ea"/>
                <a:cs typeface="+mn-cs"/>
              </a:rPr>
              <a:t>Identify assets that can match future liability values</a:t>
            </a:r>
          </a:p>
          <a:p>
            <a:pPr marL="228600" marR="0" lvl="0" indent="-228600" algn="l" defTabSz="914400" rtl="0" eaLnBrk="1" fontAlgn="auto" latinLnBrk="0" hangingPunct="1">
              <a:lnSpc>
                <a:spcPct val="100000"/>
              </a:lnSpc>
              <a:spcBef>
                <a:spcPts val="0"/>
              </a:spcBef>
              <a:spcAft>
                <a:spcPts val="0"/>
              </a:spcAft>
              <a:buClr>
                <a:srgbClr val="FB4E0B"/>
              </a:buClr>
              <a:buSzTx/>
              <a:buFont typeface="Calibri" panose="020F0502020204030204" pitchFamily="34" charset="0"/>
              <a:buChar char="•"/>
              <a:tabLst/>
              <a:defRPr/>
            </a:pPr>
            <a:r>
              <a:rPr kumimoji="0" lang="en-US" sz="800" b="0" u="none" strike="noStrike" kern="1200" cap="none" spc="0" normalizeH="0" baseline="0" noProof="0">
                <a:ln>
                  <a:noFill/>
                </a:ln>
                <a:solidFill>
                  <a:srgbClr val="000000"/>
                </a:solidFill>
                <a:effectLst/>
                <a:uLnTx/>
                <a:uFillTx/>
                <a:latin typeface="Calibri" panose="020F0502020204030204" pitchFamily="34" charset="0"/>
                <a:ea typeface="+mn-ea"/>
                <a:cs typeface="+mn-cs"/>
              </a:rPr>
              <a:t>Suggest possible asset portfolio mix.</a:t>
            </a:r>
          </a:p>
          <a:p>
            <a:pPr marL="228600" marR="0" lvl="0" indent="-228600" algn="l" defTabSz="914400" rtl="0" eaLnBrk="1" fontAlgn="auto" latinLnBrk="0" hangingPunct="1">
              <a:lnSpc>
                <a:spcPct val="100000"/>
              </a:lnSpc>
              <a:spcBef>
                <a:spcPts val="0"/>
              </a:spcBef>
              <a:spcAft>
                <a:spcPts val="0"/>
              </a:spcAft>
              <a:buClr>
                <a:srgbClr val="FB4E0B"/>
              </a:buClr>
              <a:buSzTx/>
              <a:buFont typeface="Calibri" panose="020F0502020204030204" pitchFamily="34" charset="0"/>
              <a:buChar char="•"/>
              <a:tabLst/>
              <a:defRPr/>
            </a:pPr>
            <a:r>
              <a:rPr kumimoji="0" lang="en-US" sz="800" b="0" u="none" strike="noStrike" kern="1200" cap="none" spc="0" normalizeH="0" baseline="0" noProof="0">
                <a:ln>
                  <a:noFill/>
                </a:ln>
                <a:solidFill>
                  <a:srgbClr val="000000"/>
                </a:solidFill>
                <a:effectLst/>
                <a:uLnTx/>
                <a:uFillTx/>
                <a:latin typeface="Calibri" panose="020F0502020204030204" pitchFamily="34" charset="0"/>
                <a:ea typeface="+mn-ea"/>
                <a:cs typeface="+mn-cs"/>
              </a:rPr>
              <a:t>Identifying assets classes above benchmark level.</a:t>
            </a:r>
          </a:p>
        </p:txBody>
      </p:sp>
      <p:sp>
        <p:nvSpPr>
          <p:cNvPr id="19" name="TextBox 38">
            <a:extLst>
              <a:ext uri="{FF2B5EF4-FFF2-40B4-BE49-F238E27FC236}">
                <a16:creationId xmlns:a16="http://schemas.microsoft.com/office/drawing/2014/main" id="{EDDC6757-1FF8-A637-A98A-1DB3C522DD6B}"/>
              </a:ext>
            </a:extLst>
          </p:cNvPr>
          <p:cNvSpPr txBox="1"/>
          <p:nvPr/>
        </p:nvSpPr>
        <p:spPr>
          <a:xfrm>
            <a:off x="2332246" y="3035020"/>
            <a:ext cx="1645920" cy="365760"/>
          </a:xfrm>
          <a:prstGeom prst="rect">
            <a:avLst/>
          </a:prstGeom>
          <a:solidFill>
            <a:schemeClr val="accent1"/>
          </a:solidFill>
          <a:ln>
            <a:solidFill>
              <a:schemeClr val="bg2"/>
            </a:solidFill>
          </a:ln>
        </p:spPr>
        <p:txBody>
          <a:bodyPr wrap="square" lIns="182880" tIns="91440" rIns="182880" bIns="9144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1.0 Plan &amp; Requirement Gathering</a:t>
            </a:r>
          </a:p>
        </p:txBody>
      </p:sp>
      <p:sp>
        <p:nvSpPr>
          <p:cNvPr id="20" name="TextBox 38">
            <a:extLst>
              <a:ext uri="{FF2B5EF4-FFF2-40B4-BE49-F238E27FC236}">
                <a16:creationId xmlns:a16="http://schemas.microsoft.com/office/drawing/2014/main" id="{CFB30DC5-D80A-D3BB-B38F-98B50267F30F}"/>
              </a:ext>
            </a:extLst>
          </p:cNvPr>
          <p:cNvSpPr txBox="1"/>
          <p:nvPr/>
        </p:nvSpPr>
        <p:spPr>
          <a:xfrm>
            <a:off x="4335244" y="3035019"/>
            <a:ext cx="1645920" cy="365760"/>
          </a:xfrm>
          <a:prstGeom prst="rect">
            <a:avLst/>
          </a:prstGeom>
          <a:solidFill>
            <a:schemeClr val="accent1"/>
          </a:solidFill>
          <a:ln>
            <a:solidFill>
              <a:schemeClr val="bg2"/>
            </a:solidFill>
          </a:ln>
        </p:spPr>
        <p:txBody>
          <a:bodyPr wrap="square" lIns="182880" tIns="91440" rIns="182880" bIns="9144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2.0 Model Changes</a:t>
            </a:r>
          </a:p>
        </p:txBody>
      </p:sp>
      <p:sp>
        <p:nvSpPr>
          <p:cNvPr id="21" name="TextBox 38">
            <a:extLst>
              <a:ext uri="{FF2B5EF4-FFF2-40B4-BE49-F238E27FC236}">
                <a16:creationId xmlns:a16="http://schemas.microsoft.com/office/drawing/2014/main" id="{A03B7B25-80F8-DD16-AA61-1B1C5D8DBEE5}"/>
              </a:ext>
            </a:extLst>
          </p:cNvPr>
          <p:cNvSpPr txBox="1"/>
          <p:nvPr/>
        </p:nvSpPr>
        <p:spPr>
          <a:xfrm>
            <a:off x="8341240" y="3037209"/>
            <a:ext cx="1527598" cy="365760"/>
          </a:xfrm>
          <a:prstGeom prst="rect">
            <a:avLst/>
          </a:prstGeom>
          <a:solidFill>
            <a:schemeClr val="accent1"/>
          </a:solidFill>
          <a:ln>
            <a:solidFill>
              <a:schemeClr val="bg2"/>
            </a:solidFill>
          </a:ln>
        </p:spPr>
        <p:txBody>
          <a:bodyPr wrap="square" lIns="182880" tIns="91440" rIns="182880" bIns="9144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4.0 Projections</a:t>
            </a:r>
          </a:p>
        </p:txBody>
      </p:sp>
      <p:sp>
        <p:nvSpPr>
          <p:cNvPr id="22" name="TextBox 38">
            <a:extLst>
              <a:ext uri="{FF2B5EF4-FFF2-40B4-BE49-F238E27FC236}">
                <a16:creationId xmlns:a16="http://schemas.microsoft.com/office/drawing/2014/main" id="{E45DBB4E-043F-C8EB-6C43-E1CEC7CD9606}"/>
              </a:ext>
            </a:extLst>
          </p:cNvPr>
          <p:cNvSpPr txBox="1"/>
          <p:nvPr/>
        </p:nvSpPr>
        <p:spPr>
          <a:xfrm>
            <a:off x="10134690" y="3046148"/>
            <a:ext cx="1600109" cy="365760"/>
          </a:xfrm>
          <a:prstGeom prst="rect">
            <a:avLst/>
          </a:prstGeom>
          <a:solidFill>
            <a:schemeClr val="accent1"/>
          </a:solidFill>
          <a:ln>
            <a:solidFill>
              <a:schemeClr val="bg2"/>
            </a:solidFill>
          </a:ln>
        </p:spPr>
        <p:txBody>
          <a:bodyPr wrap="square" lIns="182880" tIns="91440" rIns="182880" bIns="9144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5.0  Results</a:t>
            </a:r>
          </a:p>
        </p:txBody>
      </p:sp>
      <p:sp>
        <p:nvSpPr>
          <p:cNvPr id="23" name="TextBox 38">
            <a:extLst>
              <a:ext uri="{FF2B5EF4-FFF2-40B4-BE49-F238E27FC236}">
                <a16:creationId xmlns:a16="http://schemas.microsoft.com/office/drawing/2014/main" id="{6222635B-0604-794C-F800-F7E303DA1D12}"/>
              </a:ext>
            </a:extLst>
          </p:cNvPr>
          <p:cNvSpPr txBox="1"/>
          <p:nvPr/>
        </p:nvSpPr>
        <p:spPr>
          <a:xfrm>
            <a:off x="6338242" y="3037209"/>
            <a:ext cx="1645920" cy="365760"/>
          </a:xfrm>
          <a:prstGeom prst="rect">
            <a:avLst/>
          </a:prstGeom>
          <a:solidFill>
            <a:schemeClr val="accent1"/>
          </a:solidFill>
          <a:ln>
            <a:solidFill>
              <a:schemeClr val="bg2"/>
            </a:solidFill>
          </a:ln>
        </p:spPr>
        <p:txBody>
          <a:bodyPr wrap="square" lIns="182880" tIns="91440" rIns="182880" bIns="9144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3.0  Test Runs</a:t>
            </a:r>
          </a:p>
        </p:txBody>
      </p:sp>
      <p:sp>
        <p:nvSpPr>
          <p:cNvPr id="24" name="Isosceles Triangle 23">
            <a:extLst>
              <a:ext uri="{FF2B5EF4-FFF2-40B4-BE49-F238E27FC236}">
                <a16:creationId xmlns:a16="http://schemas.microsoft.com/office/drawing/2014/main" id="{6D606812-613A-3522-7025-8C3DE5FB1588}"/>
              </a:ext>
            </a:extLst>
          </p:cNvPr>
          <p:cNvSpPr/>
          <p:nvPr/>
        </p:nvSpPr>
        <p:spPr>
          <a:xfrm rot="5400000">
            <a:off x="1020224" y="4458171"/>
            <a:ext cx="2223344" cy="168165"/>
          </a:xfrm>
          <a:prstGeom prst="triangle">
            <a:avLst>
              <a:gd name="adj" fmla="val 51179"/>
            </a:avLst>
          </a:prstGeom>
          <a:solidFill>
            <a:schemeClr val="accent3"/>
          </a:solidFill>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25" name="Rectangle 24">
            <a:extLst>
              <a:ext uri="{FF2B5EF4-FFF2-40B4-BE49-F238E27FC236}">
                <a16:creationId xmlns:a16="http://schemas.microsoft.com/office/drawing/2014/main" id="{23F6C433-75A9-FC32-4C59-EF9AD8973A2F}"/>
              </a:ext>
            </a:extLst>
          </p:cNvPr>
          <p:cNvSpPr/>
          <p:nvPr/>
        </p:nvSpPr>
        <p:spPr>
          <a:xfrm>
            <a:off x="4295824" y="4701884"/>
            <a:ext cx="1645920" cy="936439"/>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u="none" strike="noStrike" kern="1200" cap="none" spc="0" normalizeH="0" baseline="0" noProof="0">
                <a:ln>
                  <a:noFill/>
                </a:ln>
                <a:solidFill>
                  <a:schemeClr val="tx2"/>
                </a:solidFill>
                <a:effectLst/>
                <a:uLnTx/>
                <a:uFillTx/>
                <a:latin typeface="Calibri" panose="020F0502020204030204" pitchFamily="34" charset="0"/>
                <a:ea typeface="+mn-ea"/>
                <a:cs typeface="Calibri" panose="020F0502020204030204" pitchFamily="34" charset="0"/>
              </a:rPr>
              <a:t>2.2 Code Model Changes</a:t>
            </a:r>
          </a:p>
          <a:p>
            <a:pPr marL="182880" indent="-182880">
              <a:spcAft>
                <a:spcPts val="600"/>
              </a:spcAft>
              <a:buClr>
                <a:srgbClr val="FB4E0B"/>
              </a:buClr>
              <a:buFont typeface="Calibri" panose="020F0502020204030204" pitchFamily="34" charset="0"/>
              <a:buChar char="•"/>
              <a:defRPr/>
            </a:pPr>
            <a:r>
              <a:rPr lang="en-US" sz="800">
                <a:solidFill>
                  <a:srgbClr val="000000"/>
                </a:solidFill>
                <a:latin typeface="Calibri" panose="020F0502020204030204" pitchFamily="34" charset="0"/>
                <a:cs typeface="Calibri" panose="020F0502020204030204" pitchFamily="34" charset="0"/>
              </a:rPr>
              <a:t>Change Tax rate on investment</a:t>
            </a:r>
          </a:p>
          <a:p>
            <a:pPr marL="182880" indent="-182880">
              <a:spcAft>
                <a:spcPts val="600"/>
              </a:spcAft>
              <a:buClr>
                <a:srgbClr val="FB4E0B"/>
              </a:buClr>
              <a:buFont typeface="Calibri" panose="020F0502020204030204" pitchFamily="34" charset="0"/>
              <a:buChar char="•"/>
              <a:defRPr/>
            </a:pPr>
            <a:r>
              <a:rPr lang="en-US" sz="800">
                <a:solidFill>
                  <a:srgbClr val="000000"/>
                </a:solidFill>
                <a:latin typeface="Calibri" panose="020F0502020204030204" pitchFamily="34" charset="0"/>
                <a:cs typeface="Calibri" panose="020F0502020204030204" pitchFamily="34" charset="0"/>
              </a:rPr>
              <a:t>Change commission on NB</a:t>
            </a:r>
            <a:r>
              <a:rPr kumimoji="0" lang="en-US" sz="1000" b="0" u="none" strike="noStrike" kern="1200" cap="none" spc="0" normalizeH="0" baseline="0" noProof="0">
                <a:ln>
                  <a:noFill/>
                </a:ln>
                <a:solidFill>
                  <a:srgbClr val="000000"/>
                </a:solidFill>
                <a:effectLst/>
                <a:uLnTx/>
                <a:uFillTx/>
                <a:latin typeface="Calibri" panose="020F0502020204030204" pitchFamily="34" charset="0"/>
                <a:ea typeface="+mn-ea"/>
                <a:cs typeface="+mn-cs"/>
              </a:rPr>
              <a:t>. </a:t>
            </a:r>
          </a:p>
        </p:txBody>
      </p:sp>
      <p:cxnSp>
        <p:nvCxnSpPr>
          <p:cNvPr id="26" name="Connector: Elbow 252">
            <a:extLst>
              <a:ext uri="{FF2B5EF4-FFF2-40B4-BE49-F238E27FC236}">
                <a16:creationId xmlns:a16="http://schemas.microsoft.com/office/drawing/2014/main" id="{B59C9C51-FC3B-F7D6-9FAA-4DAD41529546}"/>
              </a:ext>
            </a:extLst>
          </p:cNvPr>
          <p:cNvCxnSpPr>
            <a:cxnSpLocks/>
            <a:stCxn id="25" idx="3"/>
            <a:endCxn id="12" idx="1"/>
          </p:cNvCxnSpPr>
          <p:nvPr/>
        </p:nvCxnSpPr>
        <p:spPr>
          <a:xfrm flipV="1">
            <a:off x="5941744" y="3791635"/>
            <a:ext cx="385788" cy="1378469"/>
          </a:xfrm>
          <a:prstGeom prst="bentConnector3">
            <a:avLst>
              <a:gd name="adj1" fmla="val 50000"/>
            </a:avLst>
          </a:prstGeom>
          <a:ln>
            <a:solidFill>
              <a:schemeClr val="accent1"/>
            </a:solidFill>
            <a:tailEnd type="triangle"/>
          </a:ln>
        </p:spPr>
        <p:style>
          <a:lnRef idx="2">
            <a:schemeClr val="accent3"/>
          </a:lnRef>
          <a:fillRef idx="1">
            <a:schemeClr val="lt1"/>
          </a:fillRef>
          <a:effectRef idx="0">
            <a:schemeClr val="accent3"/>
          </a:effectRef>
          <a:fontRef idx="minor">
            <a:schemeClr val="dk1"/>
          </a:fontRef>
        </p:style>
      </p:cxnSp>
      <p:cxnSp>
        <p:nvCxnSpPr>
          <p:cNvPr id="27" name="Straight Arrow Connector 26">
            <a:extLst>
              <a:ext uri="{FF2B5EF4-FFF2-40B4-BE49-F238E27FC236}">
                <a16:creationId xmlns:a16="http://schemas.microsoft.com/office/drawing/2014/main" id="{72798219-B8BD-BA49-5CC9-C64374E1CDB4}"/>
              </a:ext>
            </a:extLst>
          </p:cNvPr>
          <p:cNvCxnSpPr/>
          <p:nvPr/>
        </p:nvCxnSpPr>
        <p:spPr>
          <a:xfrm flipH="1">
            <a:off x="7078341" y="5182894"/>
            <a:ext cx="4752" cy="15638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8" name="Straight Arrow Connector 27">
            <a:extLst>
              <a:ext uri="{FF2B5EF4-FFF2-40B4-BE49-F238E27FC236}">
                <a16:creationId xmlns:a16="http://schemas.microsoft.com/office/drawing/2014/main" id="{92E003A9-C06A-32D3-5B51-72DB68CBB51B}"/>
              </a:ext>
            </a:extLst>
          </p:cNvPr>
          <p:cNvCxnSpPr/>
          <p:nvPr/>
        </p:nvCxnSpPr>
        <p:spPr>
          <a:xfrm flipH="1">
            <a:off x="7094489" y="4124230"/>
            <a:ext cx="4752" cy="15638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9" name="Straight Arrow Connector 28">
            <a:extLst>
              <a:ext uri="{FF2B5EF4-FFF2-40B4-BE49-F238E27FC236}">
                <a16:creationId xmlns:a16="http://schemas.microsoft.com/office/drawing/2014/main" id="{D9A783E4-9D0F-6F28-654F-CB5BEAFFB803}"/>
              </a:ext>
            </a:extLst>
          </p:cNvPr>
          <p:cNvCxnSpPr/>
          <p:nvPr/>
        </p:nvCxnSpPr>
        <p:spPr>
          <a:xfrm>
            <a:off x="9929281" y="3954435"/>
            <a:ext cx="175977"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grpSp>
        <p:nvGrpSpPr>
          <p:cNvPr id="30" name="Group 29">
            <a:extLst>
              <a:ext uri="{FF2B5EF4-FFF2-40B4-BE49-F238E27FC236}">
                <a16:creationId xmlns:a16="http://schemas.microsoft.com/office/drawing/2014/main" id="{E77551C0-A5A9-0455-03E4-FC8ACA0B73E2}"/>
              </a:ext>
            </a:extLst>
          </p:cNvPr>
          <p:cNvGrpSpPr/>
          <p:nvPr/>
        </p:nvGrpSpPr>
        <p:grpSpPr>
          <a:xfrm>
            <a:off x="457201" y="3039251"/>
            <a:ext cx="1539841" cy="2575828"/>
            <a:chOff x="457200" y="2420272"/>
            <a:chExt cx="1655579" cy="2575828"/>
          </a:xfrm>
        </p:grpSpPr>
        <p:sp>
          <p:nvSpPr>
            <p:cNvPr id="31" name="TextBox 38">
              <a:extLst>
                <a:ext uri="{FF2B5EF4-FFF2-40B4-BE49-F238E27FC236}">
                  <a16:creationId xmlns:a16="http://schemas.microsoft.com/office/drawing/2014/main" id="{E8774329-052E-9441-DEBE-DB8D45C39B12}"/>
                </a:ext>
              </a:extLst>
            </p:cNvPr>
            <p:cNvSpPr txBox="1"/>
            <p:nvPr/>
          </p:nvSpPr>
          <p:spPr>
            <a:xfrm>
              <a:off x="462598" y="2420272"/>
              <a:ext cx="1645920" cy="365760"/>
            </a:xfrm>
            <a:prstGeom prst="rect">
              <a:avLst/>
            </a:prstGeom>
            <a:solidFill>
              <a:schemeClr val="accent1"/>
            </a:solidFill>
            <a:ln>
              <a:solidFill>
                <a:schemeClr val="bg2"/>
              </a:solidFill>
            </a:ln>
          </p:spPr>
          <p:txBody>
            <a:bodyPr wrap="square" lIns="182880" tIns="91440" rIns="182880" bIns="9144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Data Processing</a:t>
              </a:r>
            </a:p>
          </p:txBody>
        </p:sp>
        <p:sp>
          <p:nvSpPr>
            <p:cNvPr id="32" name="Rectangle 31">
              <a:extLst>
                <a:ext uri="{FF2B5EF4-FFF2-40B4-BE49-F238E27FC236}">
                  <a16:creationId xmlns:a16="http://schemas.microsoft.com/office/drawing/2014/main" id="{41397254-22D0-5F8B-CA29-EEC401F2E324}"/>
                </a:ext>
              </a:extLst>
            </p:cNvPr>
            <p:cNvSpPr/>
            <p:nvPr/>
          </p:nvSpPr>
          <p:spPr>
            <a:xfrm>
              <a:off x="457200" y="2860385"/>
              <a:ext cx="1645920" cy="680145"/>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chemeClr val="tx2"/>
                  </a:solidFill>
                  <a:effectLst/>
                  <a:uLnTx/>
                  <a:uFillTx/>
                  <a:latin typeface="Calibri" panose="020F0502020204030204" pitchFamily="34" charset="0"/>
                  <a:ea typeface="+mn-ea"/>
                  <a:cs typeface="Calibri" panose="020F0502020204030204" pitchFamily="34" charset="0"/>
                </a:rPr>
                <a:t>Data collection</a:t>
              </a:r>
            </a:p>
            <a:p>
              <a:pPr marL="228600" marR="0" lvl="0" indent="-228600" algn="l" defTabSz="914400" rtl="0" eaLnBrk="1" fontAlgn="auto" latinLnBrk="0" hangingPunct="1">
                <a:lnSpc>
                  <a:spcPct val="100000"/>
                </a:lnSpc>
                <a:spcBef>
                  <a:spcPts val="0"/>
                </a:spcBef>
                <a:spcAft>
                  <a:spcPts val="0"/>
                </a:spcAft>
                <a:buClr>
                  <a:srgbClr val="FB4E0B"/>
                </a:buClr>
                <a:buSzTx/>
                <a:buFont typeface="Calibri" panose="020F0502020204030204" pitchFamily="34" charset="0"/>
                <a:buChar char="•"/>
                <a:tabLst/>
                <a:defRPr/>
              </a:pPr>
              <a:r>
                <a:rPr kumimoji="0" lang="en-US" sz="800" b="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Policy Admin System.</a:t>
              </a:r>
            </a:p>
            <a:p>
              <a:pPr marL="228600" marR="0" lvl="0" indent="-228600" algn="l" defTabSz="914400" rtl="0" eaLnBrk="1" fontAlgn="auto" latinLnBrk="0" hangingPunct="1">
                <a:lnSpc>
                  <a:spcPct val="100000"/>
                </a:lnSpc>
                <a:spcBef>
                  <a:spcPts val="0"/>
                </a:spcBef>
                <a:spcAft>
                  <a:spcPts val="0"/>
                </a:spcAft>
                <a:buClr>
                  <a:srgbClr val="FB4E0B"/>
                </a:buClr>
                <a:buSzTx/>
                <a:buFont typeface="Calibri" panose="020F0502020204030204" pitchFamily="34" charset="0"/>
                <a:buChar char="•"/>
                <a:tabLst/>
                <a:defRPr/>
              </a:pPr>
              <a:r>
                <a:rPr kumimoji="0" lang="en-US" sz="800" b="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Asset Data/Market Data</a:t>
              </a:r>
            </a:p>
            <a:p>
              <a:pPr marL="228600" marR="0" lvl="0" indent="-228600" algn="l" defTabSz="914400" rtl="0" eaLnBrk="1" fontAlgn="auto" latinLnBrk="0" hangingPunct="1">
                <a:lnSpc>
                  <a:spcPct val="100000"/>
                </a:lnSpc>
                <a:spcBef>
                  <a:spcPts val="0"/>
                </a:spcBef>
                <a:spcAft>
                  <a:spcPts val="0"/>
                </a:spcAft>
                <a:buClr>
                  <a:srgbClr val="FB4E0B"/>
                </a:buClr>
                <a:buSzTx/>
                <a:buFont typeface="Calibri" panose="020F0502020204030204" pitchFamily="34" charset="0"/>
                <a:buChar char="•"/>
                <a:tabLst/>
                <a:defRPr/>
              </a:pPr>
              <a:r>
                <a:rPr kumimoji="0" lang="en-US" sz="800" b="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Asset Management Charges/other expenses</a:t>
              </a:r>
              <a:endParaRPr kumimoji="0" lang="en-US" sz="800" b="0" u="none" strike="noStrike" kern="1200" cap="none" spc="0" normalizeH="0" baseline="0" noProof="0">
                <a:ln>
                  <a:noFill/>
                </a:ln>
                <a:solidFill>
                  <a:srgbClr val="102C5E"/>
                </a:solidFill>
                <a:effectLst/>
                <a:uLnTx/>
                <a:uFillTx/>
                <a:latin typeface="Calibri" panose="020F0502020204030204" pitchFamily="34" charset="0"/>
                <a:ea typeface="+mn-ea"/>
                <a:cs typeface="Calibri" panose="020F0502020204030204" pitchFamily="34" charset="0"/>
              </a:endParaRPr>
            </a:p>
          </p:txBody>
        </p:sp>
        <p:sp>
          <p:nvSpPr>
            <p:cNvPr id="33" name="Rectangle 32">
              <a:extLst>
                <a:ext uri="{FF2B5EF4-FFF2-40B4-BE49-F238E27FC236}">
                  <a16:creationId xmlns:a16="http://schemas.microsoft.com/office/drawing/2014/main" id="{3FE45E7A-5A67-A159-A86B-E085BB423F2A}"/>
                </a:ext>
              </a:extLst>
            </p:cNvPr>
            <p:cNvSpPr/>
            <p:nvPr/>
          </p:nvSpPr>
          <p:spPr>
            <a:xfrm>
              <a:off x="463431" y="3577251"/>
              <a:ext cx="1645920" cy="680145"/>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chemeClr val="tx2"/>
                  </a:solidFill>
                  <a:effectLst/>
                  <a:uLnTx/>
                  <a:uFillTx/>
                  <a:latin typeface="Calibri" panose="020F0502020204030204" pitchFamily="34" charset="0"/>
                  <a:ea typeface="+mn-ea"/>
                  <a:cs typeface="Calibri" panose="020F0502020204030204" pitchFamily="34" charset="0"/>
                </a:rPr>
                <a:t>Data Validation</a:t>
              </a:r>
            </a:p>
            <a:p>
              <a:pPr marL="182880" indent="-182880">
                <a:buClr>
                  <a:srgbClr val="FB4E0B"/>
                </a:buClr>
                <a:buFont typeface="Calibri" panose="020F0502020204030204" pitchFamily="34" charset="0"/>
                <a:buChar char="•"/>
                <a:defRPr/>
              </a:pPr>
              <a:r>
                <a:rPr lang="en-US" sz="800">
                  <a:solidFill>
                    <a:srgbClr val="000000"/>
                  </a:solidFill>
                  <a:latin typeface="Calibri" panose="020F0502020204030204" pitchFamily="34" charset="0"/>
                  <a:cs typeface="Calibri" panose="020F0502020204030204" pitchFamily="34" charset="0"/>
                </a:rPr>
                <a:t>Identify data errors</a:t>
              </a:r>
            </a:p>
            <a:p>
              <a:pPr marL="182880" indent="-182880">
                <a:buClr>
                  <a:srgbClr val="FB4E0B"/>
                </a:buClr>
                <a:buFont typeface="Calibri" panose="020F0502020204030204" pitchFamily="34" charset="0"/>
                <a:buChar char="•"/>
                <a:defRPr/>
              </a:pPr>
              <a:r>
                <a:rPr lang="en-US" sz="800">
                  <a:solidFill>
                    <a:srgbClr val="000000"/>
                  </a:solidFill>
                  <a:latin typeface="Calibri" panose="020F0502020204030204" pitchFamily="34" charset="0"/>
                  <a:cs typeface="Calibri" panose="020F0502020204030204" pitchFamily="34" charset="0"/>
                </a:rPr>
                <a:t>Missing/unexpected values</a:t>
              </a:r>
            </a:p>
          </p:txBody>
        </p:sp>
        <p:sp>
          <p:nvSpPr>
            <p:cNvPr id="34" name="Rectangle 33">
              <a:extLst>
                <a:ext uri="{FF2B5EF4-FFF2-40B4-BE49-F238E27FC236}">
                  <a16:creationId xmlns:a16="http://schemas.microsoft.com/office/drawing/2014/main" id="{58915618-4596-7382-954E-5EE166B51BD5}"/>
                </a:ext>
              </a:extLst>
            </p:cNvPr>
            <p:cNvSpPr/>
            <p:nvPr/>
          </p:nvSpPr>
          <p:spPr>
            <a:xfrm>
              <a:off x="466859" y="4319444"/>
              <a:ext cx="1645920" cy="676656"/>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chemeClr val="tx2"/>
                  </a:solidFill>
                  <a:effectLst/>
                  <a:uLnTx/>
                  <a:uFillTx/>
                  <a:latin typeface="Calibri" panose="020F0502020204030204" pitchFamily="34" charset="0"/>
                  <a:ea typeface="+mn-ea"/>
                  <a:cs typeface="Calibri" panose="020F0502020204030204" pitchFamily="34" charset="0"/>
                </a:rPr>
                <a:t>Prepare In-force file</a:t>
              </a:r>
            </a:p>
            <a:p>
              <a:pPr marL="182880" indent="-182880">
                <a:buClr>
                  <a:srgbClr val="FB4E0B"/>
                </a:buClr>
                <a:buFont typeface="Calibri" panose="020F0502020204030204" pitchFamily="34" charset="0"/>
                <a:buChar char="•"/>
                <a:defRPr/>
              </a:pPr>
              <a:r>
                <a:rPr lang="en-US" sz="800">
                  <a:solidFill>
                    <a:srgbClr val="000000"/>
                  </a:solidFill>
                  <a:latin typeface="Calibri" panose="020F0502020204030204" pitchFamily="34" charset="0"/>
                  <a:cs typeface="Calibri" panose="020F0502020204030204" pitchFamily="34" charset="0"/>
                </a:rPr>
                <a:t>Converting validated data into the required </a:t>
              </a:r>
              <a:r>
                <a:rPr lang="en-US" sz="800" err="1">
                  <a:solidFill>
                    <a:srgbClr val="000000"/>
                  </a:solidFill>
                  <a:latin typeface="Calibri" panose="020F0502020204030204" pitchFamily="34" charset="0"/>
                  <a:cs typeface="Calibri" panose="020F0502020204030204" pitchFamily="34" charset="0"/>
                </a:rPr>
                <a:t>inforce</a:t>
              </a:r>
              <a:r>
                <a:rPr lang="en-US" sz="800">
                  <a:solidFill>
                    <a:srgbClr val="000000"/>
                  </a:solidFill>
                  <a:latin typeface="Calibri" panose="020F0502020204030204" pitchFamily="34" charset="0"/>
                  <a:cs typeface="Calibri" panose="020F0502020204030204" pitchFamily="34" charset="0"/>
                </a:rPr>
                <a:t> files format using SQL</a:t>
              </a:r>
            </a:p>
          </p:txBody>
        </p:sp>
      </p:grpSp>
      <p:sp>
        <p:nvSpPr>
          <p:cNvPr id="35" name="Rectangle 34">
            <a:extLst>
              <a:ext uri="{FF2B5EF4-FFF2-40B4-BE49-F238E27FC236}">
                <a16:creationId xmlns:a16="http://schemas.microsoft.com/office/drawing/2014/main" id="{94D80ED5-E47A-F80F-951D-34D1F2133BF2}"/>
              </a:ext>
            </a:extLst>
          </p:cNvPr>
          <p:cNvSpPr/>
          <p:nvPr/>
        </p:nvSpPr>
        <p:spPr>
          <a:xfrm>
            <a:off x="2287587" y="4761469"/>
            <a:ext cx="1645920" cy="1634303"/>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800" b="1" u="none" strike="noStrike" kern="1200" cap="none" spc="0" normalizeH="0" baseline="0" noProof="0">
                <a:ln>
                  <a:noFill/>
                </a:ln>
                <a:solidFill>
                  <a:schemeClr val="tx2"/>
                </a:solidFill>
                <a:effectLst/>
                <a:uLnTx/>
                <a:uFillTx/>
                <a:latin typeface="Calibri" panose="020F0502020204030204" pitchFamily="34" charset="0"/>
                <a:ea typeface="+mn-ea"/>
                <a:cs typeface="Calibri" panose="020F0502020204030204" pitchFamily="34" charset="0"/>
              </a:rPr>
              <a:t>1.2 Plan and Prioritize changes</a:t>
            </a:r>
          </a:p>
          <a:p>
            <a:pPr marL="182880" indent="-182880">
              <a:spcAft>
                <a:spcPts val="600"/>
              </a:spcAft>
              <a:buClr>
                <a:srgbClr val="FB4E0B"/>
              </a:buClr>
              <a:buFont typeface="Calibri" panose="020F0502020204030204" pitchFamily="34" charset="0"/>
              <a:buChar char="•"/>
              <a:defRPr/>
            </a:pPr>
            <a:r>
              <a:rPr lang="en-US" sz="800">
                <a:solidFill>
                  <a:srgbClr val="000000"/>
                </a:solidFill>
                <a:latin typeface="Calibri" panose="020F0502020204030204" pitchFamily="34" charset="0"/>
                <a:cs typeface="Calibri" panose="020F0502020204030204" pitchFamily="34" charset="0"/>
              </a:rPr>
              <a:t>Plan what changes need to be made and the order they need to be incorporated in model</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800" b="1" u="none" strike="noStrike" kern="1200" cap="none" spc="0" normalizeH="0" baseline="0" noProof="0">
                <a:ln>
                  <a:noFill/>
                </a:ln>
                <a:solidFill>
                  <a:schemeClr val="tx2"/>
                </a:solidFill>
                <a:effectLst/>
                <a:uLnTx/>
                <a:uFillTx/>
                <a:latin typeface="Calibri" panose="020F0502020204030204" pitchFamily="34" charset="0"/>
                <a:ea typeface="+mn-ea"/>
                <a:cs typeface="Calibri" panose="020F0502020204030204" pitchFamily="34" charset="0"/>
              </a:rPr>
              <a:t>Investment Performance Analysis</a:t>
            </a:r>
          </a:p>
          <a:p>
            <a:pPr marL="182880" indent="-182880">
              <a:spcAft>
                <a:spcPts val="600"/>
              </a:spcAft>
              <a:buClr>
                <a:srgbClr val="FB4E0B"/>
              </a:buClr>
              <a:buFont typeface="Calibri" panose="020F0502020204030204" pitchFamily="34" charset="0"/>
              <a:buChar char="•"/>
              <a:defRPr/>
            </a:pPr>
            <a:r>
              <a:rPr lang="en-US" sz="800">
                <a:solidFill>
                  <a:srgbClr val="000000"/>
                </a:solidFill>
                <a:latin typeface="Calibri" panose="020F0502020204030204" pitchFamily="34" charset="0"/>
                <a:cs typeface="Calibri" panose="020F0502020204030204" pitchFamily="34" charset="0"/>
              </a:rPr>
              <a:t>Comparing the company’s asset performance with benchmark assets and identifying main reason for difference.</a:t>
            </a:r>
          </a:p>
        </p:txBody>
      </p:sp>
      <p:cxnSp>
        <p:nvCxnSpPr>
          <p:cNvPr id="36" name="Elbow Connector 34">
            <a:extLst>
              <a:ext uri="{FF2B5EF4-FFF2-40B4-BE49-F238E27FC236}">
                <a16:creationId xmlns:a16="http://schemas.microsoft.com/office/drawing/2014/main" id="{AD3C225C-5BB6-B45D-8C0F-FF04FEAA82F5}"/>
              </a:ext>
            </a:extLst>
          </p:cNvPr>
          <p:cNvCxnSpPr>
            <a:stCxn id="35" idx="3"/>
            <a:endCxn id="11" idx="1"/>
          </p:cNvCxnSpPr>
          <p:nvPr/>
        </p:nvCxnSpPr>
        <p:spPr>
          <a:xfrm flipV="1">
            <a:off x="3933507" y="4002922"/>
            <a:ext cx="391027" cy="1575699"/>
          </a:xfrm>
          <a:prstGeom prst="bentConnector3">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748691E-8E94-FA35-66B3-86E580638E3E}"/>
              </a:ext>
            </a:extLst>
          </p:cNvPr>
          <p:cNvCxnSpPr/>
          <p:nvPr/>
        </p:nvCxnSpPr>
        <p:spPr>
          <a:xfrm>
            <a:off x="3106946" y="4638540"/>
            <a:ext cx="0" cy="17540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8" name="Elbow Connector 36">
            <a:extLst>
              <a:ext uri="{FF2B5EF4-FFF2-40B4-BE49-F238E27FC236}">
                <a16:creationId xmlns:a16="http://schemas.microsoft.com/office/drawing/2014/main" id="{50B73C95-226F-D8A5-E6A4-88CDBFA32351}"/>
              </a:ext>
            </a:extLst>
          </p:cNvPr>
          <p:cNvCxnSpPr>
            <a:cxnSpLocks/>
            <a:stCxn id="14" idx="3"/>
            <a:endCxn id="15" idx="1"/>
          </p:cNvCxnSpPr>
          <p:nvPr/>
        </p:nvCxnSpPr>
        <p:spPr>
          <a:xfrm flipV="1">
            <a:off x="8004681" y="4497613"/>
            <a:ext cx="337814" cy="1246987"/>
          </a:xfrm>
          <a:prstGeom prst="bentConnector3">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CDFAD232-6C88-8666-28C5-364682E1E8D9}"/>
              </a:ext>
            </a:extLst>
          </p:cNvPr>
          <p:cNvCxnSpPr/>
          <p:nvPr/>
        </p:nvCxnSpPr>
        <p:spPr>
          <a:xfrm>
            <a:off x="5086436" y="4526481"/>
            <a:ext cx="0" cy="17540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5" name="Straight Arrow Connector 44">
            <a:extLst>
              <a:ext uri="{FF2B5EF4-FFF2-40B4-BE49-F238E27FC236}">
                <a16:creationId xmlns:a16="http://schemas.microsoft.com/office/drawing/2014/main" id="{F65279E7-A6A1-A35F-6CD6-36DDD8144841}"/>
              </a:ext>
            </a:extLst>
          </p:cNvPr>
          <p:cNvCxnSpPr/>
          <p:nvPr/>
        </p:nvCxnSpPr>
        <p:spPr>
          <a:xfrm>
            <a:off x="10941025" y="4260849"/>
            <a:ext cx="0" cy="17540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6" name="Straight Arrow Connector 45">
            <a:extLst>
              <a:ext uri="{FF2B5EF4-FFF2-40B4-BE49-F238E27FC236}">
                <a16:creationId xmlns:a16="http://schemas.microsoft.com/office/drawing/2014/main" id="{A054ED79-9CF4-B989-B396-140781F34E50}"/>
              </a:ext>
            </a:extLst>
          </p:cNvPr>
          <p:cNvCxnSpPr/>
          <p:nvPr/>
        </p:nvCxnSpPr>
        <p:spPr>
          <a:xfrm>
            <a:off x="10941025" y="5509137"/>
            <a:ext cx="0" cy="17540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7" name="Rectangle 46">
            <a:extLst>
              <a:ext uri="{FF2B5EF4-FFF2-40B4-BE49-F238E27FC236}">
                <a16:creationId xmlns:a16="http://schemas.microsoft.com/office/drawing/2014/main" id="{2D6183A0-A955-4705-2CF5-38F8D273DF26}"/>
              </a:ext>
            </a:extLst>
          </p:cNvPr>
          <p:cNvSpPr/>
          <p:nvPr/>
        </p:nvSpPr>
        <p:spPr>
          <a:xfrm>
            <a:off x="10508566" y="91606"/>
            <a:ext cx="1683434" cy="26607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accent1"/>
                </a:solidFill>
              </a:rPr>
              <a:t>Modeling</a:t>
            </a:r>
          </a:p>
        </p:txBody>
      </p:sp>
    </p:spTree>
    <p:extLst>
      <p:ext uri="{BB962C8B-B14F-4D97-AF65-F5344CB8AC3E}">
        <p14:creationId xmlns:p14="http://schemas.microsoft.com/office/powerpoint/2010/main" val="2585939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0ACD60-172F-4643-AD1A-60CA169F30A6}"/>
              </a:ext>
            </a:extLst>
          </p:cNvPr>
          <p:cNvSpPr>
            <a:spLocks noGrp="1"/>
          </p:cNvSpPr>
          <p:nvPr>
            <p:ph type="body" sz="quarter" idx="10"/>
          </p:nvPr>
        </p:nvSpPr>
        <p:spPr/>
        <p:txBody>
          <a:bodyPr/>
          <a:lstStyle/>
          <a:p>
            <a:r>
              <a:rPr lang="en-IN" sz="2400"/>
              <a:t>Case Example 4 - </a:t>
            </a:r>
            <a:r>
              <a:rPr lang="en-US" sz="2400"/>
              <a:t>Transforming US insurer’s longevity risk models for Retirement products using python</a:t>
            </a:r>
            <a:endParaRPr lang="en-IN" sz="2400"/>
          </a:p>
        </p:txBody>
      </p:sp>
      <p:sp>
        <p:nvSpPr>
          <p:cNvPr id="3" name="Text Placeholder 2">
            <a:extLst>
              <a:ext uri="{FF2B5EF4-FFF2-40B4-BE49-F238E27FC236}">
                <a16:creationId xmlns:a16="http://schemas.microsoft.com/office/drawing/2014/main" id="{89BBB75D-D9DF-41AA-A95F-BAF7CC7C7006}"/>
              </a:ext>
            </a:extLst>
          </p:cNvPr>
          <p:cNvSpPr>
            <a:spLocks noGrp="1"/>
          </p:cNvSpPr>
          <p:nvPr>
            <p:ph type="body" sz="quarter" idx="12"/>
          </p:nvPr>
        </p:nvSpPr>
        <p:spPr>
          <a:xfrm>
            <a:off x="457200" y="1100138"/>
            <a:ext cx="8308975" cy="499237"/>
          </a:xfrm>
        </p:spPr>
        <p:txBody>
          <a:bodyPr/>
          <a:lstStyle/>
          <a:p>
            <a:r>
              <a:rPr lang="en-US" sz="1400"/>
              <a:t>Retirement Team is working  to migrate US insurers excel based longevity models to web application without compromising the calculation transparency that excel offers.</a:t>
            </a:r>
          </a:p>
        </p:txBody>
      </p:sp>
      <p:sp>
        <p:nvSpPr>
          <p:cNvPr id="4" name="Text Placeholder 3">
            <a:extLst>
              <a:ext uri="{FF2B5EF4-FFF2-40B4-BE49-F238E27FC236}">
                <a16:creationId xmlns:a16="http://schemas.microsoft.com/office/drawing/2014/main" id="{0D36DB02-18FD-401D-A5E3-40F6B2E7B49D}"/>
              </a:ext>
            </a:extLst>
          </p:cNvPr>
          <p:cNvSpPr>
            <a:spLocks noGrp="1"/>
          </p:cNvSpPr>
          <p:nvPr>
            <p:ph type="body" sz="quarter" idx="13"/>
          </p:nvPr>
        </p:nvSpPr>
        <p:spPr>
          <a:xfrm>
            <a:off x="457201" y="1866901"/>
            <a:ext cx="1214119" cy="282410"/>
          </a:xfrm>
        </p:spPr>
        <p:txBody>
          <a:bodyPr/>
          <a:lstStyle/>
          <a:p>
            <a:r>
              <a:rPr lang="en-IN"/>
              <a:t>Background</a:t>
            </a:r>
          </a:p>
        </p:txBody>
      </p:sp>
      <p:sp>
        <p:nvSpPr>
          <p:cNvPr id="5" name="Text Placeholder 4">
            <a:extLst>
              <a:ext uri="{FF2B5EF4-FFF2-40B4-BE49-F238E27FC236}">
                <a16:creationId xmlns:a16="http://schemas.microsoft.com/office/drawing/2014/main" id="{4DC22E0E-8803-4C8F-95B8-EFD21F9CD093}"/>
              </a:ext>
            </a:extLst>
          </p:cNvPr>
          <p:cNvSpPr>
            <a:spLocks noGrp="1"/>
          </p:cNvSpPr>
          <p:nvPr>
            <p:ph type="body" sz="quarter" idx="14"/>
          </p:nvPr>
        </p:nvSpPr>
        <p:spPr>
          <a:xfrm>
            <a:off x="461387" y="2221523"/>
            <a:ext cx="2119887" cy="852870"/>
          </a:xfrm>
        </p:spPr>
        <p:txBody>
          <a:bodyPr/>
          <a:lstStyle/>
          <a:p>
            <a:pPr marL="182880" indent="-182880">
              <a:spcBef>
                <a:spcPts val="200"/>
              </a:spcBef>
              <a:spcAft>
                <a:spcPts val="200"/>
              </a:spcAft>
              <a:buFont typeface="Arial" panose="020B0604020202020204" pitchFamily="34" charset="0"/>
              <a:buChar char="•"/>
            </a:pPr>
            <a:r>
              <a:rPr lang="en-US" sz="1200">
                <a:latin typeface="+mn-lt"/>
              </a:rPr>
              <a:t>In the existing model workflow, a user  must interact with the excel and different data sources to generate a retirement model. </a:t>
            </a:r>
          </a:p>
        </p:txBody>
      </p:sp>
      <p:sp>
        <p:nvSpPr>
          <p:cNvPr id="32" name="Text Placeholder 3">
            <a:extLst>
              <a:ext uri="{FF2B5EF4-FFF2-40B4-BE49-F238E27FC236}">
                <a16:creationId xmlns:a16="http://schemas.microsoft.com/office/drawing/2014/main" id="{B78AD6CB-C62E-4745-8212-4248EF61A6F2}"/>
              </a:ext>
            </a:extLst>
          </p:cNvPr>
          <p:cNvSpPr txBox="1">
            <a:spLocks/>
          </p:cNvSpPr>
          <p:nvPr/>
        </p:nvSpPr>
        <p:spPr>
          <a:xfrm>
            <a:off x="457201" y="3146605"/>
            <a:ext cx="1333499" cy="282410"/>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Clr>
                <a:schemeClr val="tx2"/>
              </a:buClr>
              <a:buFontTx/>
              <a:buNone/>
              <a:defRPr sz="1600" b="1" kern="1200">
                <a:solidFill>
                  <a:schemeClr val="accent3"/>
                </a:solidFill>
                <a:latin typeface="+mn-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a:t>Key Objectives</a:t>
            </a:r>
          </a:p>
        </p:txBody>
      </p:sp>
      <p:sp>
        <p:nvSpPr>
          <p:cNvPr id="33" name="Text Placeholder 4">
            <a:extLst>
              <a:ext uri="{FF2B5EF4-FFF2-40B4-BE49-F238E27FC236}">
                <a16:creationId xmlns:a16="http://schemas.microsoft.com/office/drawing/2014/main" id="{B516A396-8851-4742-AA6B-0DBD27446870}"/>
              </a:ext>
            </a:extLst>
          </p:cNvPr>
          <p:cNvSpPr txBox="1">
            <a:spLocks/>
          </p:cNvSpPr>
          <p:nvPr/>
        </p:nvSpPr>
        <p:spPr>
          <a:xfrm>
            <a:off x="461388" y="3501226"/>
            <a:ext cx="2119886" cy="1737524"/>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Clr>
                <a:schemeClr val="tx2"/>
              </a:buClr>
              <a:buFontTx/>
              <a:buNone/>
              <a:defRPr lang="en-US" sz="1800" kern="1200" dirty="0" smtClean="0">
                <a:solidFill>
                  <a:srgbClr val="000000"/>
                </a:solidFill>
                <a:latin typeface="+mj-lt"/>
                <a:ea typeface="+mn-ea"/>
                <a:cs typeface="+mn-cs"/>
              </a:defRPr>
            </a:lvl1pPr>
            <a:lvl2pPr marL="290513" indent="0" algn="l" defTabSz="914400" rtl="0" eaLnBrk="1" latinLnBrk="0" hangingPunct="1">
              <a:lnSpc>
                <a:spcPct val="90000"/>
              </a:lnSpc>
              <a:spcBef>
                <a:spcPts val="500"/>
              </a:spcBef>
              <a:buFontTx/>
              <a:buNone/>
              <a:tabLst/>
              <a:defRPr lang="en-US" sz="1800" kern="1200" dirty="0" smtClean="0">
                <a:solidFill>
                  <a:srgbClr val="000000"/>
                </a:solidFill>
                <a:latin typeface="+mj-lt"/>
                <a:ea typeface="+mn-ea"/>
                <a:cs typeface="+mn-cs"/>
              </a:defRPr>
            </a:lvl2pPr>
            <a:lvl3pPr marL="582613" indent="0" algn="l" defTabSz="914400" rtl="0" eaLnBrk="1" latinLnBrk="0" hangingPunct="1">
              <a:lnSpc>
                <a:spcPct val="90000"/>
              </a:lnSpc>
              <a:spcBef>
                <a:spcPts val="500"/>
              </a:spcBef>
              <a:buFontTx/>
              <a:buNone/>
              <a:tabLst/>
              <a:defRPr lang="en-US" sz="1800" kern="1200" dirty="0" smtClean="0">
                <a:solidFill>
                  <a:srgbClr val="000000"/>
                </a:solidFill>
                <a:latin typeface="+mj-lt"/>
                <a:ea typeface="+mn-ea"/>
                <a:cs typeface="+mn-cs"/>
              </a:defRPr>
            </a:lvl3pPr>
            <a:lvl4pPr marL="855663" indent="0" algn="l" defTabSz="914400" rtl="0" eaLnBrk="1" latinLnBrk="0" hangingPunct="1">
              <a:lnSpc>
                <a:spcPct val="90000"/>
              </a:lnSpc>
              <a:spcBef>
                <a:spcPts val="500"/>
              </a:spcBef>
              <a:buFontTx/>
              <a:buNone/>
              <a:tabLst/>
              <a:defRPr lang="en-US" sz="1800" kern="1200" dirty="0" smtClean="0">
                <a:solidFill>
                  <a:srgbClr val="000000"/>
                </a:solidFill>
                <a:latin typeface="+mj-lt"/>
                <a:ea typeface="+mn-ea"/>
                <a:cs typeface="+mn-cs"/>
              </a:defRPr>
            </a:lvl4pPr>
            <a:lvl5pPr marL="1100138" indent="0" algn="l" defTabSz="914400" rtl="0" eaLnBrk="1" latinLnBrk="0" hangingPunct="1">
              <a:lnSpc>
                <a:spcPct val="90000"/>
              </a:lnSpc>
              <a:spcBef>
                <a:spcPts val="500"/>
              </a:spcBef>
              <a:buFontTx/>
              <a:buNone/>
              <a:tabLst/>
              <a:defRPr lang="en-US" sz="1800" kern="1200" dirty="0">
                <a:solidFill>
                  <a:srgbClr val="000000"/>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0" indent="-182880">
              <a:spcBef>
                <a:spcPts val="200"/>
              </a:spcBef>
              <a:spcAft>
                <a:spcPts val="200"/>
              </a:spcAft>
              <a:buFont typeface="Arial" panose="020B0604020202020204" pitchFamily="34" charset="0"/>
              <a:buChar char="•"/>
            </a:pPr>
            <a:r>
              <a:rPr lang="en-US" sz="1200">
                <a:latin typeface="+mn-lt"/>
              </a:rPr>
              <a:t>Retirement modelling process modernization for future preparedness by developing a framework for bringing models to a web app without sacrificing user experience while maintaining calculation transparency.</a:t>
            </a:r>
          </a:p>
          <a:p>
            <a:pPr marL="182880" indent="-182880">
              <a:spcBef>
                <a:spcPts val="200"/>
              </a:spcBef>
              <a:spcAft>
                <a:spcPts val="200"/>
              </a:spcAft>
              <a:buFont typeface="Arial" panose="020B0604020202020204" pitchFamily="34" charset="0"/>
              <a:buChar char="•"/>
            </a:pPr>
            <a:r>
              <a:rPr lang="en-US" sz="1200">
                <a:latin typeface="+mn-lt"/>
              </a:rPr>
              <a:t>Add retirement models to the web app using ceres.</a:t>
            </a:r>
          </a:p>
        </p:txBody>
      </p:sp>
      <p:sp>
        <p:nvSpPr>
          <p:cNvPr id="34" name="Text Placeholder 3">
            <a:extLst>
              <a:ext uri="{FF2B5EF4-FFF2-40B4-BE49-F238E27FC236}">
                <a16:creationId xmlns:a16="http://schemas.microsoft.com/office/drawing/2014/main" id="{CB4DA96A-D1DF-4BC8-96CB-CC2C2E8DA783}"/>
              </a:ext>
            </a:extLst>
          </p:cNvPr>
          <p:cNvSpPr txBox="1">
            <a:spLocks/>
          </p:cNvSpPr>
          <p:nvPr/>
        </p:nvSpPr>
        <p:spPr>
          <a:xfrm>
            <a:off x="457201" y="5383173"/>
            <a:ext cx="1333499" cy="282410"/>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Clr>
                <a:schemeClr val="tx2"/>
              </a:buClr>
              <a:buFontTx/>
              <a:buNone/>
              <a:defRPr sz="1600" b="1" kern="1200">
                <a:solidFill>
                  <a:schemeClr val="accent3"/>
                </a:solidFill>
                <a:latin typeface="+mn-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a:t>Challenges</a:t>
            </a:r>
          </a:p>
        </p:txBody>
      </p:sp>
      <p:sp>
        <p:nvSpPr>
          <p:cNvPr id="35" name="Text Placeholder 4">
            <a:extLst>
              <a:ext uri="{FF2B5EF4-FFF2-40B4-BE49-F238E27FC236}">
                <a16:creationId xmlns:a16="http://schemas.microsoft.com/office/drawing/2014/main" id="{4A9A48C5-322F-4A8C-A9AF-568E4B7463BD}"/>
              </a:ext>
            </a:extLst>
          </p:cNvPr>
          <p:cNvSpPr txBox="1">
            <a:spLocks/>
          </p:cNvSpPr>
          <p:nvPr/>
        </p:nvSpPr>
        <p:spPr>
          <a:xfrm>
            <a:off x="461388" y="5737794"/>
            <a:ext cx="2119886" cy="815406"/>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Clr>
                <a:schemeClr val="tx2"/>
              </a:buClr>
              <a:buFontTx/>
              <a:buNone/>
              <a:defRPr lang="en-US" sz="1800" kern="1200" dirty="0" smtClean="0">
                <a:solidFill>
                  <a:srgbClr val="000000"/>
                </a:solidFill>
                <a:latin typeface="+mj-lt"/>
                <a:ea typeface="+mn-ea"/>
                <a:cs typeface="+mn-cs"/>
              </a:defRPr>
            </a:lvl1pPr>
            <a:lvl2pPr marL="290513" indent="0" algn="l" defTabSz="914400" rtl="0" eaLnBrk="1" latinLnBrk="0" hangingPunct="1">
              <a:lnSpc>
                <a:spcPct val="90000"/>
              </a:lnSpc>
              <a:spcBef>
                <a:spcPts val="500"/>
              </a:spcBef>
              <a:buFontTx/>
              <a:buNone/>
              <a:tabLst/>
              <a:defRPr lang="en-US" sz="1800" kern="1200" dirty="0" smtClean="0">
                <a:solidFill>
                  <a:srgbClr val="000000"/>
                </a:solidFill>
                <a:latin typeface="+mj-lt"/>
                <a:ea typeface="+mn-ea"/>
                <a:cs typeface="+mn-cs"/>
              </a:defRPr>
            </a:lvl2pPr>
            <a:lvl3pPr marL="582613" indent="0" algn="l" defTabSz="914400" rtl="0" eaLnBrk="1" latinLnBrk="0" hangingPunct="1">
              <a:lnSpc>
                <a:spcPct val="90000"/>
              </a:lnSpc>
              <a:spcBef>
                <a:spcPts val="500"/>
              </a:spcBef>
              <a:buFontTx/>
              <a:buNone/>
              <a:tabLst/>
              <a:defRPr lang="en-US" sz="1800" kern="1200" dirty="0" smtClean="0">
                <a:solidFill>
                  <a:srgbClr val="000000"/>
                </a:solidFill>
                <a:latin typeface="+mj-lt"/>
                <a:ea typeface="+mn-ea"/>
                <a:cs typeface="+mn-cs"/>
              </a:defRPr>
            </a:lvl3pPr>
            <a:lvl4pPr marL="855663" indent="0" algn="l" defTabSz="914400" rtl="0" eaLnBrk="1" latinLnBrk="0" hangingPunct="1">
              <a:lnSpc>
                <a:spcPct val="90000"/>
              </a:lnSpc>
              <a:spcBef>
                <a:spcPts val="500"/>
              </a:spcBef>
              <a:buFontTx/>
              <a:buNone/>
              <a:tabLst/>
              <a:defRPr lang="en-US" sz="1800" kern="1200" dirty="0" smtClean="0">
                <a:solidFill>
                  <a:srgbClr val="000000"/>
                </a:solidFill>
                <a:latin typeface="+mj-lt"/>
                <a:ea typeface="+mn-ea"/>
                <a:cs typeface="+mn-cs"/>
              </a:defRPr>
            </a:lvl4pPr>
            <a:lvl5pPr marL="1100138" indent="0" algn="l" defTabSz="914400" rtl="0" eaLnBrk="1" latinLnBrk="0" hangingPunct="1">
              <a:lnSpc>
                <a:spcPct val="90000"/>
              </a:lnSpc>
              <a:spcBef>
                <a:spcPts val="500"/>
              </a:spcBef>
              <a:buFontTx/>
              <a:buNone/>
              <a:tabLst/>
              <a:defRPr lang="en-US" sz="1800" kern="1200" dirty="0">
                <a:solidFill>
                  <a:srgbClr val="000000"/>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0" indent="-182880">
              <a:spcBef>
                <a:spcPts val="200"/>
              </a:spcBef>
              <a:spcAft>
                <a:spcPts val="200"/>
              </a:spcAft>
              <a:buFont typeface="Arial" panose="020B0604020202020204" pitchFamily="34" charset="0"/>
              <a:buChar char="•"/>
            </a:pPr>
            <a:r>
              <a:rPr lang="en-US" sz="1200">
                <a:latin typeface="+mn-lt"/>
              </a:rPr>
              <a:t>Centralization not possible</a:t>
            </a:r>
          </a:p>
          <a:p>
            <a:pPr marL="182880" indent="-182880">
              <a:spcBef>
                <a:spcPts val="200"/>
              </a:spcBef>
              <a:spcAft>
                <a:spcPts val="200"/>
              </a:spcAft>
              <a:buFont typeface="Arial" panose="020B0604020202020204" pitchFamily="34" charset="0"/>
              <a:buChar char="•"/>
            </a:pPr>
            <a:r>
              <a:rPr lang="en-US" sz="1200">
                <a:latin typeface="+mn-lt"/>
              </a:rPr>
              <a:t>Higher Runtime</a:t>
            </a:r>
          </a:p>
          <a:p>
            <a:pPr marL="182880" indent="-182880">
              <a:spcBef>
                <a:spcPts val="200"/>
              </a:spcBef>
              <a:spcAft>
                <a:spcPts val="200"/>
              </a:spcAft>
              <a:buFont typeface="Arial" panose="020B0604020202020204" pitchFamily="34" charset="0"/>
              <a:buChar char="•"/>
            </a:pPr>
            <a:r>
              <a:rPr lang="en-US" sz="1200">
                <a:latin typeface="+mn-lt"/>
              </a:rPr>
              <a:t>Susceptible to human error</a:t>
            </a:r>
          </a:p>
          <a:p>
            <a:pPr marL="182880" indent="-182880">
              <a:spcBef>
                <a:spcPts val="200"/>
              </a:spcBef>
              <a:spcAft>
                <a:spcPts val="200"/>
              </a:spcAft>
              <a:buFont typeface="Arial" panose="020B0604020202020204" pitchFamily="34" charset="0"/>
              <a:buChar char="•"/>
            </a:pPr>
            <a:r>
              <a:rPr lang="en-US" sz="1200">
                <a:latin typeface="+mn-lt"/>
              </a:rPr>
              <a:t>Scalability</a:t>
            </a:r>
          </a:p>
          <a:p>
            <a:pPr>
              <a:spcBef>
                <a:spcPts val="200"/>
              </a:spcBef>
              <a:spcAft>
                <a:spcPts val="200"/>
              </a:spcAft>
            </a:pPr>
            <a:endParaRPr lang="en-US" sz="1200">
              <a:latin typeface="+mn-lt"/>
            </a:endParaRPr>
          </a:p>
          <a:p>
            <a:pPr marL="182880" indent="-182880">
              <a:spcBef>
                <a:spcPts val="200"/>
              </a:spcBef>
              <a:spcAft>
                <a:spcPts val="200"/>
              </a:spcAft>
              <a:buFont typeface="Arial" panose="020B0604020202020204" pitchFamily="34" charset="0"/>
              <a:buChar char="•"/>
            </a:pPr>
            <a:endParaRPr lang="en-US" sz="1200">
              <a:latin typeface="+mn-lt"/>
            </a:endParaRPr>
          </a:p>
        </p:txBody>
      </p:sp>
      <p:sp>
        <p:nvSpPr>
          <p:cNvPr id="36" name="Text Placeholder 3">
            <a:extLst>
              <a:ext uri="{FF2B5EF4-FFF2-40B4-BE49-F238E27FC236}">
                <a16:creationId xmlns:a16="http://schemas.microsoft.com/office/drawing/2014/main" id="{A75A2A0C-49B4-47F2-82F9-CD1A8ECB130C}"/>
              </a:ext>
            </a:extLst>
          </p:cNvPr>
          <p:cNvSpPr txBox="1">
            <a:spLocks/>
          </p:cNvSpPr>
          <p:nvPr/>
        </p:nvSpPr>
        <p:spPr>
          <a:xfrm>
            <a:off x="2943226" y="1866901"/>
            <a:ext cx="2311399" cy="282410"/>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Clr>
                <a:schemeClr val="tx2"/>
              </a:buClr>
              <a:buFontTx/>
              <a:buNone/>
              <a:defRPr sz="1600" b="1" kern="1200">
                <a:solidFill>
                  <a:schemeClr val="accent3"/>
                </a:solidFill>
                <a:latin typeface="+mn-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a:t>Reconciliation flow</a:t>
            </a:r>
          </a:p>
        </p:txBody>
      </p:sp>
      <p:cxnSp>
        <p:nvCxnSpPr>
          <p:cNvPr id="37" name="Straight Connector 36">
            <a:extLst>
              <a:ext uri="{FF2B5EF4-FFF2-40B4-BE49-F238E27FC236}">
                <a16:creationId xmlns:a16="http://schemas.microsoft.com/office/drawing/2014/main" id="{E3D8CBE7-ABB8-4899-BED5-CDA0F46EB11B}"/>
              </a:ext>
            </a:extLst>
          </p:cNvPr>
          <p:cNvCxnSpPr/>
          <p:nvPr/>
        </p:nvCxnSpPr>
        <p:spPr>
          <a:xfrm>
            <a:off x="2770333" y="1931848"/>
            <a:ext cx="0" cy="434692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8" name="Rectangle: Top Corners Rounded 5">
            <a:extLst>
              <a:ext uri="{FF2B5EF4-FFF2-40B4-BE49-F238E27FC236}">
                <a16:creationId xmlns:a16="http://schemas.microsoft.com/office/drawing/2014/main" id="{8F812D99-E847-4C48-827C-87DA0DA415A5}"/>
              </a:ext>
            </a:extLst>
          </p:cNvPr>
          <p:cNvSpPr/>
          <p:nvPr/>
        </p:nvSpPr>
        <p:spPr>
          <a:xfrm>
            <a:off x="3104031" y="2301651"/>
            <a:ext cx="1951630" cy="59759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39" name="TextBox 38">
            <a:extLst>
              <a:ext uri="{FF2B5EF4-FFF2-40B4-BE49-F238E27FC236}">
                <a16:creationId xmlns:a16="http://schemas.microsoft.com/office/drawing/2014/main" id="{ACC42E87-01E1-4B89-8034-AE83009ADC14}"/>
              </a:ext>
            </a:extLst>
          </p:cNvPr>
          <p:cNvSpPr txBox="1"/>
          <p:nvPr/>
        </p:nvSpPr>
        <p:spPr>
          <a:xfrm>
            <a:off x="3605869" y="2348450"/>
            <a:ext cx="1042273" cy="523220"/>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anose="020F0502020204030204" pitchFamily="34" charset="0"/>
                <a:ea typeface="+mn-ea"/>
                <a:cs typeface="+mn-cs"/>
              </a:rPr>
              <a:t>LRM Model</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anose="020F0502020204030204" pitchFamily="34" charset="0"/>
                <a:ea typeface="+mn-ea"/>
                <a:cs typeface="+mn-cs"/>
              </a:rPr>
              <a:t>Viewer</a:t>
            </a:r>
          </a:p>
        </p:txBody>
      </p:sp>
      <p:sp>
        <p:nvSpPr>
          <p:cNvPr id="40" name="Rectangle: Top Corners Rounded 26">
            <a:extLst>
              <a:ext uri="{FF2B5EF4-FFF2-40B4-BE49-F238E27FC236}">
                <a16:creationId xmlns:a16="http://schemas.microsoft.com/office/drawing/2014/main" id="{0BF2ACDB-40A0-45A9-9A80-B5AAA67FB119}"/>
              </a:ext>
            </a:extLst>
          </p:cNvPr>
          <p:cNvSpPr/>
          <p:nvPr/>
        </p:nvSpPr>
        <p:spPr>
          <a:xfrm>
            <a:off x="3106303" y="3409394"/>
            <a:ext cx="1951630" cy="59759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41" name="TextBox 40">
            <a:extLst>
              <a:ext uri="{FF2B5EF4-FFF2-40B4-BE49-F238E27FC236}">
                <a16:creationId xmlns:a16="http://schemas.microsoft.com/office/drawing/2014/main" id="{5A49FB52-A345-4DA2-A0C0-FC369D5E84E6}"/>
              </a:ext>
            </a:extLst>
          </p:cNvPr>
          <p:cNvSpPr txBox="1"/>
          <p:nvPr/>
        </p:nvSpPr>
        <p:spPr>
          <a:xfrm>
            <a:off x="3608142" y="3456193"/>
            <a:ext cx="1042273" cy="523220"/>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anose="020F0502020204030204" pitchFamily="34" charset="0"/>
                <a:ea typeface="+mn-ea"/>
                <a:cs typeface="+mn-cs"/>
              </a:rPr>
              <a:t>LRM Model</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anose="020F0502020204030204" pitchFamily="34" charset="0"/>
                <a:ea typeface="+mn-ea"/>
                <a:cs typeface="+mn-cs"/>
              </a:rPr>
              <a:t>Web App</a:t>
            </a:r>
          </a:p>
        </p:txBody>
      </p:sp>
      <p:sp>
        <p:nvSpPr>
          <p:cNvPr id="42" name="TextBox 41">
            <a:extLst>
              <a:ext uri="{FF2B5EF4-FFF2-40B4-BE49-F238E27FC236}">
                <a16:creationId xmlns:a16="http://schemas.microsoft.com/office/drawing/2014/main" id="{8810542B-A0C8-41D1-846B-95B3AE15981E}"/>
              </a:ext>
            </a:extLst>
          </p:cNvPr>
          <p:cNvSpPr txBox="1"/>
          <p:nvPr/>
        </p:nvSpPr>
        <p:spPr>
          <a:xfrm>
            <a:off x="4071078" y="4317082"/>
            <a:ext cx="782352"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Create new LRM run</a:t>
            </a:r>
          </a:p>
        </p:txBody>
      </p:sp>
      <p:sp>
        <p:nvSpPr>
          <p:cNvPr id="43" name="Rectangle: Top Corners Rounded 44">
            <a:extLst>
              <a:ext uri="{FF2B5EF4-FFF2-40B4-BE49-F238E27FC236}">
                <a16:creationId xmlns:a16="http://schemas.microsoft.com/office/drawing/2014/main" id="{5F4F1731-06FF-4C43-BCFF-416A228AE52F}"/>
              </a:ext>
            </a:extLst>
          </p:cNvPr>
          <p:cNvSpPr/>
          <p:nvPr/>
        </p:nvSpPr>
        <p:spPr>
          <a:xfrm>
            <a:off x="3108579" y="5104000"/>
            <a:ext cx="1951630" cy="59759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44" name="TextBox 43">
            <a:extLst>
              <a:ext uri="{FF2B5EF4-FFF2-40B4-BE49-F238E27FC236}">
                <a16:creationId xmlns:a16="http://schemas.microsoft.com/office/drawing/2014/main" id="{1F6C8C0E-2FB5-4712-9C63-3677A156175B}"/>
              </a:ext>
            </a:extLst>
          </p:cNvPr>
          <p:cNvSpPr txBox="1"/>
          <p:nvPr/>
        </p:nvSpPr>
        <p:spPr>
          <a:xfrm>
            <a:off x="3610418" y="5150799"/>
            <a:ext cx="1042273" cy="523220"/>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anose="020F0502020204030204" pitchFamily="34" charset="0"/>
                <a:ea typeface="+mn-ea"/>
                <a:cs typeface="+mn-cs"/>
              </a:rPr>
              <a:t>LRM Model</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anose="020F0502020204030204" pitchFamily="34" charset="0"/>
                <a:ea typeface="+mn-ea"/>
                <a:cs typeface="+mn-cs"/>
              </a:rPr>
              <a:t>Controller</a:t>
            </a:r>
          </a:p>
        </p:txBody>
      </p:sp>
      <p:sp>
        <p:nvSpPr>
          <p:cNvPr id="45" name="TextBox 44">
            <a:extLst>
              <a:ext uri="{FF2B5EF4-FFF2-40B4-BE49-F238E27FC236}">
                <a16:creationId xmlns:a16="http://schemas.microsoft.com/office/drawing/2014/main" id="{284A630B-6D1C-46C8-BD70-DC22998B1902}"/>
              </a:ext>
            </a:extLst>
          </p:cNvPr>
          <p:cNvSpPr txBox="1"/>
          <p:nvPr/>
        </p:nvSpPr>
        <p:spPr>
          <a:xfrm>
            <a:off x="2999390" y="5729192"/>
            <a:ext cx="2326278" cy="553998"/>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User interacts with web page to input</a:t>
            </a:r>
            <a:br>
              <a:rPr kumimoji="0" lang="en-US" sz="10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br>
            <a:r>
              <a:rPr kumimoji="0" lang="en-US" sz="10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model parameters (capital, markets date,</a:t>
            </a:r>
            <a:br>
              <a:rPr kumimoji="0" lang="en-US" sz="10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br>
            <a:r>
              <a:rPr kumimoji="0" lang="en-US" sz="10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KAL version, SQL, CFS, ETC)</a:t>
            </a:r>
          </a:p>
        </p:txBody>
      </p:sp>
      <p:sp>
        <p:nvSpPr>
          <p:cNvPr id="46" name="Rectangle: Top Corners Rounded 47">
            <a:extLst>
              <a:ext uri="{FF2B5EF4-FFF2-40B4-BE49-F238E27FC236}">
                <a16:creationId xmlns:a16="http://schemas.microsoft.com/office/drawing/2014/main" id="{0BE81F80-0A9C-4032-8786-978CAC436351}"/>
              </a:ext>
            </a:extLst>
          </p:cNvPr>
          <p:cNvSpPr/>
          <p:nvPr/>
        </p:nvSpPr>
        <p:spPr>
          <a:xfrm>
            <a:off x="6475049" y="2376300"/>
            <a:ext cx="1825909" cy="839015"/>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47" name="TextBox 46">
            <a:extLst>
              <a:ext uri="{FF2B5EF4-FFF2-40B4-BE49-F238E27FC236}">
                <a16:creationId xmlns:a16="http://schemas.microsoft.com/office/drawing/2014/main" id="{DE68FCB4-16F7-442F-9048-151A87CC3B6D}"/>
              </a:ext>
            </a:extLst>
          </p:cNvPr>
          <p:cNvSpPr txBox="1"/>
          <p:nvPr/>
        </p:nvSpPr>
        <p:spPr>
          <a:xfrm>
            <a:off x="6569542" y="2426475"/>
            <a:ext cx="1636923" cy="738664"/>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anose="020F0502020204030204" pitchFamily="34" charset="0"/>
                <a:ea typeface="+mn-ea"/>
                <a:cs typeface="+mn-cs"/>
              </a:rPr>
              <a:t>Pickled  run</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anose="020F0502020204030204" pitchFamily="34" charset="0"/>
                <a:ea typeface="+mn-ea"/>
                <a:cs typeface="+mn-cs"/>
              </a:rPr>
              <a:t>stored in Cassandra</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anose="020F0502020204030204" pitchFamily="34" charset="0"/>
                <a:ea typeface="+mn-ea"/>
                <a:cs typeface="+mn-cs"/>
              </a:rPr>
              <a:t>database</a:t>
            </a:r>
          </a:p>
        </p:txBody>
      </p:sp>
      <p:sp>
        <p:nvSpPr>
          <p:cNvPr id="48" name="Rectangle: Top Corners Rounded 50">
            <a:extLst>
              <a:ext uri="{FF2B5EF4-FFF2-40B4-BE49-F238E27FC236}">
                <a16:creationId xmlns:a16="http://schemas.microsoft.com/office/drawing/2014/main" id="{A7542D22-E9BE-451F-8591-4589D8F3C585}"/>
              </a:ext>
            </a:extLst>
          </p:cNvPr>
          <p:cNvSpPr/>
          <p:nvPr/>
        </p:nvSpPr>
        <p:spPr>
          <a:xfrm>
            <a:off x="6475049" y="3589315"/>
            <a:ext cx="1825909" cy="666021"/>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49" name="TextBox 48">
            <a:extLst>
              <a:ext uri="{FF2B5EF4-FFF2-40B4-BE49-F238E27FC236}">
                <a16:creationId xmlns:a16="http://schemas.microsoft.com/office/drawing/2014/main" id="{EECFD96C-F72B-481C-8F92-AE04FCC51F4E}"/>
              </a:ext>
            </a:extLst>
          </p:cNvPr>
          <p:cNvSpPr txBox="1"/>
          <p:nvPr/>
        </p:nvSpPr>
        <p:spPr>
          <a:xfrm>
            <a:off x="6683048" y="3651690"/>
            <a:ext cx="1498166" cy="523220"/>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B4D0A"/>
                </a:solidFill>
                <a:effectLst/>
                <a:uLnTx/>
                <a:uFillTx/>
                <a:latin typeface="Calibri" panose="020F0502020204030204" pitchFamily="34" charset="0"/>
                <a:ea typeface="+mn-ea"/>
                <a:cs typeface="+mn-cs"/>
              </a:rPr>
              <a:t>Python LRM Runs</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B4D0A"/>
                </a:solidFill>
                <a:effectLst/>
                <a:uLnTx/>
                <a:uFillTx/>
                <a:latin typeface="Calibri" panose="020F0502020204030204" pitchFamily="34" charset="0"/>
                <a:ea typeface="+mn-ea"/>
                <a:cs typeface="+mn-cs"/>
              </a:rPr>
              <a:t>Model Calcs</a:t>
            </a:r>
          </a:p>
        </p:txBody>
      </p:sp>
      <p:sp>
        <p:nvSpPr>
          <p:cNvPr id="50" name="Rectangle: Top Corners Rounded 53">
            <a:extLst>
              <a:ext uri="{FF2B5EF4-FFF2-40B4-BE49-F238E27FC236}">
                <a16:creationId xmlns:a16="http://schemas.microsoft.com/office/drawing/2014/main" id="{8026E6EC-01FD-4C7E-B671-A925B1655EC3}"/>
              </a:ext>
            </a:extLst>
          </p:cNvPr>
          <p:cNvSpPr/>
          <p:nvPr/>
        </p:nvSpPr>
        <p:spPr>
          <a:xfrm>
            <a:off x="6475049" y="4901665"/>
            <a:ext cx="1825909" cy="801039"/>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51" name="TextBox 50">
            <a:extLst>
              <a:ext uri="{FF2B5EF4-FFF2-40B4-BE49-F238E27FC236}">
                <a16:creationId xmlns:a16="http://schemas.microsoft.com/office/drawing/2014/main" id="{6D91104A-A041-487F-8EDD-17D88A1B54B2}"/>
              </a:ext>
            </a:extLst>
          </p:cNvPr>
          <p:cNvSpPr txBox="1"/>
          <p:nvPr/>
        </p:nvSpPr>
        <p:spPr>
          <a:xfrm>
            <a:off x="6577390" y="4944790"/>
            <a:ext cx="1651734" cy="738664"/>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anose="020F0502020204030204" pitchFamily="34" charset="0"/>
                <a:ea typeface="+mn-ea"/>
                <a:cs typeface="+mn-cs"/>
              </a:rPr>
              <a:t>Inputs JSON</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anose="020F0502020204030204" pitchFamily="34" charset="0"/>
                <a:ea typeface="+mn-ea"/>
                <a:cs typeface="+mn-cs"/>
              </a:rPr>
              <a:t>Stored in Cassandra</a:t>
            </a:r>
            <a:br>
              <a:rPr kumimoji="0" lang="en-US" sz="1400" b="1" i="0" u="none" strike="noStrike" kern="1200" cap="none" spc="0" normalizeH="0" baseline="0" noProof="0">
                <a:ln>
                  <a:noFill/>
                </a:ln>
                <a:solidFill>
                  <a:srgbClr val="FFFFFF"/>
                </a:solidFill>
                <a:effectLst/>
                <a:uLnTx/>
                <a:uFillTx/>
                <a:latin typeface="Calibri" panose="020F0502020204030204" pitchFamily="34" charset="0"/>
                <a:ea typeface="+mn-ea"/>
                <a:cs typeface="+mn-cs"/>
              </a:rPr>
            </a:br>
            <a:r>
              <a:rPr kumimoji="0" lang="en-US" sz="1400" b="1" i="0" u="none" strike="noStrike" kern="1200" cap="none" spc="0" normalizeH="0" baseline="0" noProof="0">
                <a:ln>
                  <a:noFill/>
                </a:ln>
                <a:solidFill>
                  <a:srgbClr val="FFFFFF"/>
                </a:solidFill>
                <a:effectLst/>
                <a:uLnTx/>
                <a:uFillTx/>
                <a:latin typeface="Calibri" panose="020F0502020204030204" pitchFamily="34" charset="0"/>
                <a:ea typeface="+mn-ea"/>
                <a:cs typeface="+mn-cs"/>
              </a:rPr>
              <a:t>database</a:t>
            </a:r>
          </a:p>
        </p:txBody>
      </p:sp>
      <p:sp>
        <p:nvSpPr>
          <p:cNvPr id="52" name="TextBox 51">
            <a:extLst>
              <a:ext uri="{FF2B5EF4-FFF2-40B4-BE49-F238E27FC236}">
                <a16:creationId xmlns:a16="http://schemas.microsoft.com/office/drawing/2014/main" id="{97F61920-ECD2-468F-8379-EB8131907334}"/>
              </a:ext>
            </a:extLst>
          </p:cNvPr>
          <p:cNvSpPr txBox="1"/>
          <p:nvPr/>
        </p:nvSpPr>
        <p:spPr>
          <a:xfrm>
            <a:off x="5197563" y="4184926"/>
            <a:ext cx="198099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Calibri" panose="020F0502020204030204" pitchFamily="34" charset="0"/>
                <a:ea typeface="+mn-ea"/>
                <a:cs typeface="+mn-cs"/>
              </a:rPr>
              <a:t>User submits inputs</a:t>
            </a:r>
            <a:br>
              <a:rPr kumimoji="0" lang="en-US" sz="1000" b="1" i="0" u="none" strike="noStrike" kern="1200" cap="none" spc="0" normalizeH="0" baseline="0" noProof="0">
                <a:ln>
                  <a:noFill/>
                </a:ln>
                <a:solidFill>
                  <a:srgbClr val="000000"/>
                </a:solidFill>
                <a:effectLst/>
                <a:uLnTx/>
                <a:uFillTx/>
                <a:latin typeface="Calibri" panose="020F0502020204030204" pitchFamily="34" charset="0"/>
                <a:ea typeface="+mn-ea"/>
                <a:cs typeface="+mn-cs"/>
              </a:rPr>
            </a:br>
            <a:r>
              <a:rPr kumimoji="0" lang="en-US" sz="1000" b="1" i="0" u="none" strike="noStrike" kern="1200" cap="none" spc="0" normalizeH="0" baseline="0" noProof="0">
                <a:ln>
                  <a:noFill/>
                </a:ln>
                <a:solidFill>
                  <a:srgbClr val="000000"/>
                </a:solidFill>
                <a:effectLst/>
                <a:uLnTx/>
                <a:uFillTx/>
                <a:latin typeface="Calibri" panose="020F0502020204030204" pitchFamily="34" charset="0"/>
                <a:ea typeface="+mn-ea"/>
                <a:cs typeface="+mn-cs"/>
              </a:rPr>
              <a:t>in the web page, which creates a</a:t>
            </a:r>
            <a:br>
              <a:rPr kumimoji="0" lang="en-US" sz="1000" b="1" i="0" u="none" strike="noStrike" kern="1200" cap="none" spc="0" normalizeH="0" baseline="0" noProof="0">
                <a:ln>
                  <a:noFill/>
                </a:ln>
                <a:solidFill>
                  <a:srgbClr val="000000"/>
                </a:solidFill>
                <a:effectLst/>
                <a:uLnTx/>
                <a:uFillTx/>
                <a:latin typeface="Calibri" panose="020F0502020204030204" pitchFamily="34" charset="0"/>
                <a:ea typeface="+mn-ea"/>
                <a:cs typeface="+mn-cs"/>
              </a:rPr>
            </a:br>
            <a:r>
              <a:rPr kumimoji="0" lang="en-US" sz="1000" b="1" i="0" u="none" strike="noStrike" kern="1200" cap="none" spc="0" normalizeH="0" baseline="0" noProof="0">
                <a:ln>
                  <a:noFill/>
                </a:ln>
                <a:solidFill>
                  <a:srgbClr val="000000"/>
                </a:solidFill>
                <a:effectLst/>
                <a:uLnTx/>
                <a:uFillTx/>
                <a:latin typeface="Calibri" panose="020F0502020204030204" pitchFamily="34" charset="0"/>
                <a:ea typeface="+mn-ea"/>
                <a:cs typeface="+mn-cs"/>
              </a:rPr>
              <a:t>new entry in Cassandra,</a:t>
            </a:r>
            <a:br>
              <a:rPr kumimoji="0" lang="en-US" sz="1000" b="1" i="0" u="none" strike="noStrike" kern="1200" cap="none" spc="0" normalizeH="0" baseline="0" noProof="0">
                <a:ln>
                  <a:noFill/>
                </a:ln>
                <a:solidFill>
                  <a:srgbClr val="000000"/>
                </a:solidFill>
                <a:effectLst/>
                <a:uLnTx/>
                <a:uFillTx/>
                <a:latin typeface="Calibri" panose="020F0502020204030204" pitchFamily="34" charset="0"/>
                <a:ea typeface="+mn-ea"/>
                <a:cs typeface="+mn-cs"/>
              </a:rPr>
            </a:br>
            <a:r>
              <a:rPr kumimoji="0" lang="en-US" sz="1000" b="1" i="0" u="none" strike="noStrike" kern="1200" cap="none" spc="0" normalizeH="0" baseline="0" noProof="0">
                <a:ln>
                  <a:noFill/>
                </a:ln>
                <a:solidFill>
                  <a:srgbClr val="000000"/>
                </a:solidFill>
                <a:effectLst/>
                <a:uLnTx/>
                <a:uFillTx/>
                <a:latin typeface="Calibri" panose="020F0502020204030204" pitchFamily="34" charset="0"/>
                <a:ea typeface="+mn-ea"/>
                <a:cs typeface="+mn-cs"/>
              </a:rPr>
              <a:t>and kicks off a Python run</a:t>
            </a:r>
          </a:p>
        </p:txBody>
      </p:sp>
      <p:sp>
        <p:nvSpPr>
          <p:cNvPr id="53" name="TextBox 52">
            <a:extLst>
              <a:ext uri="{FF2B5EF4-FFF2-40B4-BE49-F238E27FC236}">
                <a16:creationId xmlns:a16="http://schemas.microsoft.com/office/drawing/2014/main" id="{3A66C543-A124-482B-85EC-8C120EB6AA77}"/>
              </a:ext>
            </a:extLst>
          </p:cNvPr>
          <p:cNvSpPr txBox="1"/>
          <p:nvPr/>
        </p:nvSpPr>
        <p:spPr>
          <a:xfrm>
            <a:off x="8727591" y="5675498"/>
            <a:ext cx="1140066" cy="738664"/>
          </a:xfrm>
          <a:prstGeom prst="rect">
            <a:avLst/>
          </a:prstGeom>
          <a:noFill/>
        </p:spPr>
        <p:txBody>
          <a:bodyPr wrap="square" rtlCol="0">
            <a:spAutoFit/>
          </a:bodyPr>
          <a:lstStyle>
            <a:defPPr>
              <a:defRPr lang="en-US"/>
            </a:defPPr>
            <a:lvl1pPr algn="ctr">
              <a:defRPr sz="1400" b="1">
                <a:solidFill>
                  <a:srgbClr val="FD956D"/>
                </a:solidFill>
                <a:latin typeface="+mj-lt"/>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tx1"/>
                </a:solidFill>
                <a:effectLst/>
                <a:uLnTx/>
                <a:uFillTx/>
                <a:latin typeface="Calibri" panose="020F0502020204030204" pitchFamily="34" charset="0"/>
                <a:ea typeface="+mn-ea"/>
                <a:cs typeface="+mn-cs"/>
              </a:rPr>
              <a:t>Assumptions</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tx1"/>
                </a:solidFill>
                <a:effectLst/>
                <a:uLnTx/>
                <a:uFillTx/>
                <a:latin typeface="Calibri" panose="020F0502020204030204" pitchFamily="34" charset="0"/>
                <a:ea typeface="+mn-ea"/>
                <a:cs typeface="+mn-cs"/>
              </a:rPr>
              <a:t>Cassandra</a:t>
            </a:r>
            <a:br>
              <a:rPr kumimoji="0" lang="en-US" sz="1400" b="1" i="0" u="none" strike="noStrike" kern="1200" cap="none" spc="0" normalizeH="0" baseline="0" noProof="0">
                <a:ln>
                  <a:noFill/>
                </a:ln>
                <a:solidFill>
                  <a:schemeClr val="tx1"/>
                </a:solidFill>
                <a:effectLst/>
                <a:uLnTx/>
                <a:uFillTx/>
                <a:latin typeface="Calibri" panose="020F0502020204030204" pitchFamily="34" charset="0"/>
                <a:ea typeface="+mn-ea"/>
                <a:cs typeface="+mn-cs"/>
              </a:rPr>
            </a:br>
            <a:r>
              <a:rPr kumimoji="0" lang="en-US" sz="1400" b="1" i="0" u="none" strike="noStrike" kern="1200" cap="none" spc="0" normalizeH="0" baseline="0" noProof="0">
                <a:ln>
                  <a:noFill/>
                </a:ln>
                <a:solidFill>
                  <a:schemeClr val="tx1"/>
                </a:solidFill>
                <a:effectLst/>
                <a:uLnTx/>
                <a:uFillTx/>
                <a:latin typeface="Calibri" panose="020F0502020204030204" pitchFamily="34" charset="0"/>
                <a:ea typeface="+mn-ea"/>
                <a:cs typeface="+mn-cs"/>
              </a:rPr>
              <a:t>Database</a:t>
            </a:r>
          </a:p>
        </p:txBody>
      </p:sp>
      <p:cxnSp>
        <p:nvCxnSpPr>
          <p:cNvPr id="54" name="Straight Arrow Connector 53">
            <a:extLst>
              <a:ext uri="{FF2B5EF4-FFF2-40B4-BE49-F238E27FC236}">
                <a16:creationId xmlns:a16="http://schemas.microsoft.com/office/drawing/2014/main" id="{5F1B1813-5ECC-4604-84DB-26267F14D5F7}"/>
              </a:ext>
            </a:extLst>
          </p:cNvPr>
          <p:cNvCxnSpPr>
            <a:cxnSpLocks/>
          </p:cNvCxnSpPr>
          <p:nvPr/>
        </p:nvCxnSpPr>
        <p:spPr>
          <a:xfrm flipH="1">
            <a:off x="5129221" y="2677395"/>
            <a:ext cx="11758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3D0A0F8D-B2B5-466C-858F-28E65C5ADA11}"/>
              </a:ext>
            </a:extLst>
          </p:cNvPr>
          <p:cNvCxnSpPr>
            <a:cxnSpLocks/>
            <a:stCxn id="48" idx="0"/>
            <a:endCxn id="46" idx="2"/>
          </p:cNvCxnSpPr>
          <p:nvPr/>
        </p:nvCxnSpPr>
        <p:spPr>
          <a:xfrm flipV="1">
            <a:off x="7388004" y="3215315"/>
            <a:ext cx="0" cy="374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7ABAC9B1-452F-4A96-9284-9A1281DCC505}"/>
              </a:ext>
            </a:extLst>
          </p:cNvPr>
          <p:cNvCxnSpPr>
            <a:cxnSpLocks/>
            <a:stCxn id="50" idx="0"/>
            <a:endCxn id="48" idx="2"/>
          </p:cNvCxnSpPr>
          <p:nvPr/>
        </p:nvCxnSpPr>
        <p:spPr>
          <a:xfrm flipV="1">
            <a:off x="7388004" y="4255336"/>
            <a:ext cx="0" cy="6463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192B10F8-B5B9-4905-970D-5A8B3A343065}"/>
              </a:ext>
            </a:extLst>
          </p:cNvPr>
          <p:cNvCxnSpPr/>
          <p:nvPr/>
        </p:nvCxnSpPr>
        <p:spPr>
          <a:xfrm>
            <a:off x="7388003" y="4735262"/>
            <a:ext cx="1892151" cy="0"/>
          </a:xfrm>
          <a:prstGeom prst="line">
            <a:avLst/>
          </a:prstGeom>
          <a:ln>
            <a:head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312761D8-7F85-406D-B27D-56E5C73DFBE4}"/>
              </a:ext>
            </a:extLst>
          </p:cNvPr>
          <p:cNvCxnSpPr>
            <a:cxnSpLocks/>
          </p:cNvCxnSpPr>
          <p:nvPr/>
        </p:nvCxnSpPr>
        <p:spPr>
          <a:xfrm>
            <a:off x="5157489" y="3967820"/>
            <a:ext cx="122202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7BBE70EC-9E83-41C7-B269-00CF4A5A031E}"/>
              </a:ext>
            </a:extLst>
          </p:cNvPr>
          <p:cNvCxnSpPr>
            <a:cxnSpLocks/>
          </p:cNvCxnSpPr>
          <p:nvPr/>
        </p:nvCxnSpPr>
        <p:spPr>
          <a:xfrm>
            <a:off x="4887442" y="5363135"/>
            <a:ext cx="1499586" cy="2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E6F7A20-3BB0-48EA-A50E-1F426F14D3BE}"/>
              </a:ext>
            </a:extLst>
          </p:cNvPr>
          <p:cNvCxnSpPr>
            <a:cxnSpLocks/>
          </p:cNvCxnSpPr>
          <p:nvPr/>
        </p:nvCxnSpPr>
        <p:spPr>
          <a:xfrm>
            <a:off x="5149975" y="3967820"/>
            <a:ext cx="7514" cy="141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370C750D-85C1-4B40-9922-611D06288273}"/>
              </a:ext>
            </a:extLst>
          </p:cNvPr>
          <p:cNvCxnSpPr>
            <a:cxnSpLocks/>
            <a:stCxn id="40" idx="2"/>
            <a:endCxn id="43" idx="0"/>
          </p:cNvCxnSpPr>
          <p:nvPr/>
        </p:nvCxnSpPr>
        <p:spPr>
          <a:xfrm>
            <a:off x="4082118" y="4006988"/>
            <a:ext cx="2276" cy="10970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2AE85CDF-DD89-48EE-8A13-F2D992CA53DA}"/>
              </a:ext>
            </a:extLst>
          </p:cNvPr>
          <p:cNvCxnSpPr>
            <a:cxnSpLocks/>
            <a:stCxn id="40" idx="0"/>
            <a:endCxn id="38" idx="2"/>
          </p:cNvCxnSpPr>
          <p:nvPr/>
        </p:nvCxnSpPr>
        <p:spPr>
          <a:xfrm flipH="1" flipV="1">
            <a:off x="4079846" y="2899245"/>
            <a:ext cx="2272" cy="5101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0B1EBE25-5AF5-4E4B-9195-FB118B444E86}"/>
              </a:ext>
            </a:extLst>
          </p:cNvPr>
          <p:cNvSpPr/>
          <p:nvPr/>
        </p:nvSpPr>
        <p:spPr>
          <a:xfrm>
            <a:off x="2867617" y="3651690"/>
            <a:ext cx="640968" cy="24367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64" name="TextBox 63">
            <a:extLst>
              <a:ext uri="{FF2B5EF4-FFF2-40B4-BE49-F238E27FC236}">
                <a16:creationId xmlns:a16="http://schemas.microsoft.com/office/drawing/2014/main" id="{DAFF5E7A-213F-453D-925F-0BEF11268199}"/>
              </a:ext>
            </a:extLst>
          </p:cNvPr>
          <p:cNvSpPr txBox="1"/>
          <p:nvPr/>
        </p:nvSpPr>
        <p:spPr>
          <a:xfrm>
            <a:off x="2960792" y="3629421"/>
            <a:ext cx="482568"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mn-cs"/>
              </a:rPr>
              <a:t>Start</a:t>
            </a:r>
          </a:p>
        </p:txBody>
      </p:sp>
      <p:sp>
        <p:nvSpPr>
          <p:cNvPr id="65" name="TextBox 64">
            <a:extLst>
              <a:ext uri="{FF2B5EF4-FFF2-40B4-BE49-F238E27FC236}">
                <a16:creationId xmlns:a16="http://schemas.microsoft.com/office/drawing/2014/main" id="{070A18FB-04BE-422D-82A6-5E4D44707A4F}"/>
              </a:ext>
            </a:extLst>
          </p:cNvPr>
          <p:cNvSpPr txBox="1"/>
          <p:nvPr/>
        </p:nvSpPr>
        <p:spPr>
          <a:xfrm>
            <a:off x="4043254" y="2974061"/>
            <a:ext cx="838000"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View prior run results</a:t>
            </a:r>
          </a:p>
        </p:txBody>
      </p:sp>
      <p:grpSp>
        <p:nvGrpSpPr>
          <p:cNvPr id="70" name="Group 69">
            <a:extLst>
              <a:ext uri="{FF2B5EF4-FFF2-40B4-BE49-F238E27FC236}">
                <a16:creationId xmlns:a16="http://schemas.microsoft.com/office/drawing/2014/main" id="{BF656A82-08D4-497F-B9E4-EB962A6A96E5}"/>
              </a:ext>
            </a:extLst>
          </p:cNvPr>
          <p:cNvGrpSpPr/>
          <p:nvPr/>
        </p:nvGrpSpPr>
        <p:grpSpPr>
          <a:xfrm>
            <a:off x="9004725" y="3747929"/>
            <a:ext cx="550858" cy="535760"/>
            <a:chOff x="6502507" y="5872937"/>
            <a:chExt cx="703506" cy="780277"/>
          </a:xfrm>
          <a:solidFill>
            <a:schemeClr val="bg1"/>
          </a:solidFill>
        </p:grpSpPr>
        <p:sp>
          <p:nvSpPr>
            <p:cNvPr id="71" name="Flowchart: Magnetic Disk 70">
              <a:extLst>
                <a:ext uri="{FF2B5EF4-FFF2-40B4-BE49-F238E27FC236}">
                  <a16:creationId xmlns:a16="http://schemas.microsoft.com/office/drawing/2014/main" id="{E9AA5054-07C9-42D3-BAD7-0729620015DC}"/>
                </a:ext>
              </a:extLst>
            </p:cNvPr>
            <p:cNvSpPr/>
            <p:nvPr/>
          </p:nvSpPr>
          <p:spPr>
            <a:xfrm>
              <a:off x="6502507" y="6328315"/>
              <a:ext cx="703506" cy="324899"/>
            </a:xfrm>
            <a:prstGeom prst="flowChartMagneticDisk">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72" name="Flowchart: Magnetic Disk 71">
              <a:extLst>
                <a:ext uri="{FF2B5EF4-FFF2-40B4-BE49-F238E27FC236}">
                  <a16:creationId xmlns:a16="http://schemas.microsoft.com/office/drawing/2014/main" id="{C9F470CA-2111-4A8A-A17C-05CC4DB43174}"/>
                </a:ext>
              </a:extLst>
            </p:cNvPr>
            <p:cNvSpPr/>
            <p:nvPr/>
          </p:nvSpPr>
          <p:spPr>
            <a:xfrm>
              <a:off x="6502507" y="6101817"/>
              <a:ext cx="703506" cy="324899"/>
            </a:xfrm>
            <a:prstGeom prst="flowChartMagneticDisk">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73" name="Flowchart: Magnetic Disk 72">
              <a:extLst>
                <a:ext uri="{FF2B5EF4-FFF2-40B4-BE49-F238E27FC236}">
                  <a16:creationId xmlns:a16="http://schemas.microsoft.com/office/drawing/2014/main" id="{229526FD-8EB2-4BBA-931E-564013FE14E8}"/>
                </a:ext>
              </a:extLst>
            </p:cNvPr>
            <p:cNvSpPr/>
            <p:nvPr/>
          </p:nvSpPr>
          <p:spPr>
            <a:xfrm>
              <a:off x="6502507" y="5872937"/>
              <a:ext cx="703506" cy="324899"/>
            </a:xfrm>
            <a:prstGeom prst="flowChartMagneticDisk">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grpSp>
      <p:cxnSp>
        <p:nvCxnSpPr>
          <p:cNvPr id="74" name="Straight Connector 73">
            <a:extLst>
              <a:ext uri="{FF2B5EF4-FFF2-40B4-BE49-F238E27FC236}">
                <a16:creationId xmlns:a16="http://schemas.microsoft.com/office/drawing/2014/main" id="{5BAF0644-72E9-4987-9095-4E7E606937B4}"/>
              </a:ext>
            </a:extLst>
          </p:cNvPr>
          <p:cNvCxnSpPr>
            <a:cxnSpLocks/>
          </p:cNvCxnSpPr>
          <p:nvPr/>
        </p:nvCxnSpPr>
        <p:spPr>
          <a:xfrm flipH="1">
            <a:off x="9272534" y="4357920"/>
            <a:ext cx="7620" cy="608098"/>
          </a:xfrm>
          <a:prstGeom prst="line">
            <a:avLst/>
          </a:prstGeom>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551C73E1-21D2-4519-835B-7B35763A64F5}"/>
              </a:ext>
            </a:extLst>
          </p:cNvPr>
          <p:cNvSpPr txBox="1"/>
          <p:nvPr/>
        </p:nvSpPr>
        <p:spPr>
          <a:xfrm>
            <a:off x="8686804" y="3128470"/>
            <a:ext cx="1123120" cy="523220"/>
          </a:xfrm>
          <a:prstGeom prst="rect">
            <a:avLst/>
          </a:prstGeom>
          <a:noFill/>
        </p:spPr>
        <p:txBody>
          <a:bodyPr wrap="square" rtlCol="0">
            <a:spAutoFit/>
          </a:bodyPr>
          <a:lstStyle>
            <a:defPPr>
              <a:defRPr lang="en-US"/>
            </a:defPPr>
            <a:lvl1pPr algn="ctr">
              <a:defRPr sz="1000">
                <a:solidFill>
                  <a:schemeClr val="tx2"/>
                </a:solidFill>
                <a:latin typeface="+mj-lt"/>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B4D0A"/>
                </a:solidFill>
                <a:effectLst/>
                <a:uLnTx/>
                <a:uFillTx/>
                <a:latin typeface="Calibri" panose="020F0502020204030204" pitchFamily="34" charset="0"/>
                <a:ea typeface="+mn-ea"/>
                <a:cs typeface="+mn-cs"/>
              </a:rPr>
              <a:t>Liability Cash Flows</a:t>
            </a:r>
          </a:p>
        </p:txBody>
      </p:sp>
      <p:grpSp>
        <p:nvGrpSpPr>
          <p:cNvPr id="76" name="Group 75">
            <a:extLst>
              <a:ext uri="{FF2B5EF4-FFF2-40B4-BE49-F238E27FC236}">
                <a16:creationId xmlns:a16="http://schemas.microsoft.com/office/drawing/2014/main" id="{A204CAE5-76F9-4425-8DF8-754EE07DBAE0}"/>
              </a:ext>
            </a:extLst>
          </p:cNvPr>
          <p:cNvGrpSpPr/>
          <p:nvPr/>
        </p:nvGrpSpPr>
        <p:grpSpPr>
          <a:xfrm>
            <a:off x="9004725" y="5052878"/>
            <a:ext cx="550858" cy="535760"/>
            <a:chOff x="6502507" y="5872937"/>
            <a:chExt cx="703506" cy="780277"/>
          </a:xfrm>
          <a:solidFill>
            <a:schemeClr val="bg1"/>
          </a:solidFill>
        </p:grpSpPr>
        <p:sp>
          <p:nvSpPr>
            <p:cNvPr id="77" name="Flowchart: Magnetic Disk 76">
              <a:extLst>
                <a:ext uri="{FF2B5EF4-FFF2-40B4-BE49-F238E27FC236}">
                  <a16:creationId xmlns:a16="http://schemas.microsoft.com/office/drawing/2014/main" id="{78A2E69C-5699-4256-8DC5-4699CB38DDEA}"/>
                </a:ext>
              </a:extLst>
            </p:cNvPr>
            <p:cNvSpPr/>
            <p:nvPr/>
          </p:nvSpPr>
          <p:spPr>
            <a:xfrm>
              <a:off x="6502507" y="6328315"/>
              <a:ext cx="703506" cy="324899"/>
            </a:xfrm>
            <a:prstGeom prst="flowChartMagneticDisk">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78" name="Flowchart: Magnetic Disk 77">
              <a:extLst>
                <a:ext uri="{FF2B5EF4-FFF2-40B4-BE49-F238E27FC236}">
                  <a16:creationId xmlns:a16="http://schemas.microsoft.com/office/drawing/2014/main" id="{BAE8161E-9E51-4009-91E5-E781C3ED7FBE}"/>
                </a:ext>
              </a:extLst>
            </p:cNvPr>
            <p:cNvSpPr/>
            <p:nvPr/>
          </p:nvSpPr>
          <p:spPr>
            <a:xfrm>
              <a:off x="6502507" y="6101817"/>
              <a:ext cx="703506" cy="324899"/>
            </a:xfrm>
            <a:prstGeom prst="flowChartMagneticDisk">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79" name="Flowchart: Magnetic Disk 78">
              <a:extLst>
                <a:ext uri="{FF2B5EF4-FFF2-40B4-BE49-F238E27FC236}">
                  <a16:creationId xmlns:a16="http://schemas.microsoft.com/office/drawing/2014/main" id="{A01B2CBA-D1F1-4037-BD36-B7E8CC76ACBA}"/>
                </a:ext>
              </a:extLst>
            </p:cNvPr>
            <p:cNvSpPr/>
            <p:nvPr/>
          </p:nvSpPr>
          <p:spPr>
            <a:xfrm>
              <a:off x="6502507" y="5872937"/>
              <a:ext cx="703506" cy="324899"/>
            </a:xfrm>
            <a:prstGeom prst="flowChartMagneticDisk">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grpSp>
      <p:sp>
        <p:nvSpPr>
          <p:cNvPr id="81" name="Text Placeholder 3">
            <a:extLst>
              <a:ext uri="{FF2B5EF4-FFF2-40B4-BE49-F238E27FC236}">
                <a16:creationId xmlns:a16="http://schemas.microsoft.com/office/drawing/2014/main" id="{050901C7-1504-4BE1-8EDE-8ED6DC741AB2}"/>
              </a:ext>
            </a:extLst>
          </p:cNvPr>
          <p:cNvSpPr txBox="1">
            <a:spLocks/>
          </p:cNvSpPr>
          <p:nvPr/>
        </p:nvSpPr>
        <p:spPr>
          <a:xfrm>
            <a:off x="10097559" y="1866901"/>
            <a:ext cx="1637241" cy="282410"/>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Clr>
                <a:schemeClr val="tx2"/>
              </a:buClr>
              <a:buFontTx/>
              <a:buNone/>
              <a:defRPr sz="1600" b="1" kern="1200">
                <a:solidFill>
                  <a:schemeClr val="accent3"/>
                </a:solidFill>
                <a:latin typeface="+mn-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a:t>Technology</a:t>
            </a:r>
          </a:p>
        </p:txBody>
      </p:sp>
      <p:cxnSp>
        <p:nvCxnSpPr>
          <p:cNvPr id="82" name="Straight Connector 81">
            <a:extLst>
              <a:ext uri="{FF2B5EF4-FFF2-40B4-BE49-F238E27FC236}">
                <a16:creationId xmlns:a16="http://schemas.microsoft.com/office/drawing/2014/main" id="{72893CA1-56A9-4C97-ADA2-124D301211F0}"/>
              </a:ext>
            </a:extLst>
          </p:cNvPr>
          <p:cNvCxnSpPr/>
          <p:nvPr/>
        </p:nvCxnSpPr>
        <p:spPr>
          <a:xfrm>
            <a:off x="9924666" y="1931848"/>
            <a:ext cx="0" cy="434692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83" name="Group 82">
            <a:extLst>
              <a:ext uri="{FF2B5EF4-FFF2-40B4-BE49-F238E27FC236}">
                <a16:creationId xmlns:a16="http://schemas.microsoft.com/office/drawing/2014/main" id="{87AB2557-A52F-45A1-9F29-1B13B9B9EEFA}"/>
              </a:ext>
            </a:extLst>
          </p:cNvPr>
          <p:cNvGrpSpPr/>
          <p:nvPr/>
        </p:nvGrpSpPr>
        <p:grpSpPr>
          <a:xfrm>
            <a:off x="10061246" y="2178753"/>
            <a:ext cx="1434241" cy="371505"/>
            <a:chOff x="10367037" y="1769228"/>
            <a:chExt cx="1434241" cy="371505"/>
          </a:xfrm>
        </p:grpSpPr>
        <p:pic>
          <p:nvPicPr>
            <p:cNvPr id="84" name="Picture 83">
              <a:extLst>
                <a:ext uri="{FF2B5EF4-FFF2-40B4-BE49-F238E27FC236}">
                  <a16:creationId xmlns:a16="http://schemas.microsoft.com/office/drawing/2014/main" id="{46B100C1-B174-4F3E-97FA-58A9288F6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67037" y="1808486"/>
              <a:ext cx="957155" cy="292989"/>
            </a:xfrm>
            <a:prstGeom prst="rect">
              <a:avLst/>
            </a:prstGeom>
          </p:spPr>
        </p:pic>
        <p:pic>
          <p:nvPicPr>
            <p:cNvPr id="85" name="Picture 84">
              <a:extLst>
                <a:ext uri="{FF2B5EF4-FFF2-40B4-BE49-F238E27FC236}">
                  <a16:creationId xmlns:a16="http://schemas.microsoft.com/office/drawing/2014/main" id="{745A549A-3582-4EFB-9FA6-2709F34078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13666" y="1769228"/>
              <a:ext cx="287612" cy="371505"/>
            </a:xfrm>
            <a:prstGeom prst="rect">
              <a:avLst/>
            </a:prstGeom>
          </p:spPr>
        </p:pic>
      </p:grpSp>
      <p:pic>
        <p:nvPicPr>
          <p:cNvPr id="87" name="Picture 86">
            <a:extLst>
              <a:ext uri="{FF2B5EF4-FFF2-40B4-BE49-F238E27FC236}">
                <a16:creationId xmlns:a16="http://schemas.microsoft.com/office/drawing/2014/main" id="{19C0BDC0-9E8F-499B-9C70-1AA3FAFBC76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11179" y="2563958"/>
            <a:ext cx="718030" cy="651357"/>
          </a:xfrm>
          <a:prstGeom prst="rect">
            <a:avLst/>
          </a:prstGeom>
        </p:spPr>
      </p:pic>
      <p:pic>
        <p:nvPicPr>
          <p:cNvPr id="90" name="Picture 89">
            <a:extLst>
              <a:ext uri="{FF2B5EF4-FFF2-40B4-BE49-F238E27FC236}">
                <a16:creationId xmlns:a16="http://schemas.microsoft.com/office/drawing/2014/main" id="{E5B03A1D-3821-4F61-A6A7-2348A7D0CDB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061246" y="2672754"/>
            <a:ext cx="577046" cy="435810"/>
          </a:xfrm>
          <a:prstGeom prst="rect">
            <a:avLst/>
          </a:prstGeom>
        </p:spPr>
      </p:pic>
      <p:grpSp>
        <p:nvGrpSpPr>
          <p:cNvPr id="91" name="Group 90">
            <a:extLst>
              <a:ext uri="{FF2B5EF4-FFF2-40B4-BE49-F238E27FC236}">
                <a16:creationId xmlns:a16="http://schemas.microsoft.com/office/drawing/2014/main" id="{AE9149B2-D339-495C-9550-E424E019C6FF}"/>
              </a:ext>
            </a:extLst>
          </p:cNvPr>
          <p:cNvGrpSpPr/>
          <p:nvPr/>
        </p:nvGrpSpPr>
        <p:grpSpPr>
          <a:xfrm>
            <a:off x="10061246" y="3236358"/>
            <a:ext cx="1556945" cy="585216"/>
            <a:chOff x="10367037" y="2991748"/>
            <a:chExt cx="1556945" cy="585216"/>
          </a:xfrm>
        </p:grpSpPr>
        <p:pic>
          <p:nvPicPr>
            <p:cNvPr id="92" name="Picture 91">
              <a:extLst>
                <a:ext uri="{FF2B5EF4-FFF2-40B4-BE49-F238E27FC236}">
                  <a16:creationId xmlns:a16="http://schemas.microsoft.com/office/drawing/2014/main" id="{A8983467-F150-4A6C-A3E0-82FE54D63B0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67037" y="3069804"/>
              <a:ext cx="429105" cy="429105"/>
            </a:xfrm>
            <a:prstGeom prst="rect">
              <a:avLst/>
            </a:prstGeom>
          </p:spPr>
        </p:pic>
        <p:pic>
          <p:nvPicPr>
            <p:cNvPr id="93" name="Picture 92">
              <a:extLst>
                <a:ext uri="{FF2B5EF4-FFF2-40B4-BE49-F238E27FC236}">
                  <a16:creationId xmlns:a16="http://schemas.microsoft.com/office/drawing/2014/main" id="{78E27F14-832B-416C-A0D5-15F9ED354940}"/>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369259" y="2994094"/>
              <a:ext cx="554723" cy="580524"/>
            </a:xfrm>
            <a:prstGeom prst="rect">
              <a:avLst/>
            </a:prstGeom>
          </p:spPr>
        </p:pic>
        <p:pic>
          <p:nvPicPr>
            <p:cNvPr id="105" name="Picture 104">
              <a:extLst>
                <a:ext uri="{FF2B5EF4-FFF2-40B4-BE49-F238E27FC236}">
                  <a16:creationId xmlns:a16="http://schemas.microsoft.com/office/drawing/2014/main" id="{E7AD6B67-C94E-41E0-83A6-D1A3E907FF58}"/>
                </a:ext>
              </a:extLst>
            </p:cNvPr>
            <p:cNvPicPr>
              <a:picLocks/>
            </p:cNvPicPr>
            <p:nvPr/>
          </p:nvPicPr>
          <p:blipFill>
            <a:blip r:embed="rId9" cstate="print">
              <a:extLst>
                <a:ext uri="{28A0092B-C50C-407E-A947-70E740481C1C}">
                  <a14:useLocalDpi xmlns:a14="http://schemas.microsoft.com/office/drawing/2010/main" val="0"/>
                </a:ext>
              </a:extLst>
            </a:blip>
            <a:stretch>
              <a:fillRect/>
            </a:stretch>
          </p:blipFill>
          <p:spPr>
            <a:xfrm>
              <a:off x="10803809" y="2991748"/>
              <a:ext cx="557784" cy="585216"/>
            </a:xfrm>
            <a:prstGeom prst="rect">
              <a:avLst/>
            </a:prstGeom>
          </p:spPr>
        </p:pic>
      </p:grpSp>
      <p:graphicFrame>
        <p:nvGraphicFramePr>
          <p:cNvPr id="115" name="Table 114">
            <a:extLst>
              <a:ext uri="{FF2B5EF4-FFF2-40B4-BE49-F238E27FC236}">
                <a16:creationId xmlns:a16="http://schemas.microsoft.com/office/drawing/2014/main" id="{849F973B-8A7C-409A-AC18-A605D4169A21}"/>
              </a:ext>
            </a:extLst>
          </p:cNvPr>
          <p:cNvGraphicFramePr>
            <a:graphicFrameLocks noGrp="1"/>
          </p:cNvGraphicFramePr>
          <p:nvPr>
            <p:extLst>
              <p:ext uri="{D42A27DB-BD31-4B8C-83A1-F6EECF244321}">
                <p14:modId xmlns:p14="http://schemas.microsoft.com/office/powerpoint/2010/main" val="4231731419"/>
              </p:ext>
            </p:extLst>
          </p:nvPr>
        </p:nvGraphicFramePr>
        <p:xfrm>
          <a:off x="9956240" y="3912849"/>
          <a:ext cx="1554429" cy="370840"/>
        </p:xfrm>
        <a:graphic>
          <a:graphicData uri="http://schemas.openxmlformats.org/drawingml/2006/table">
            <a:tbl>
              <a:tblPr firstRow="1" bandRow="1">
                <a:tableStyleId>{2D5ABB26-0587-4C30-8999-92F81FD0307C}</a:tableStyleId>
              </a:tblPr>
              <a:tblGrid>
                <a:gridCol w="1554429">
                  <a:extLst>
                    <a:ext uri="{9D8B030D-6E8A-4147-A177-3AD203B41FA5}">
                      <a16:colId xmlns:a16="http://schemas.microsoft.com/office/drawing/2014/main" val="20000"/>
                    </a:ext>
                  </a:extLst>
                </a:gridCol>
              </a:tblGrid>
              <a:tr h="370840">
                <a:tc>
                  <a:txBody>
                    <a:bodyPr/>
                    <a:lstStyle/>
                    <a:p>
                      <a:pPr algn="l"/>
                      <a:r>
                        <a:rPr lang="en-US" sz="1400" b="1">
                          <a:solidFill>
                            <a:schemeClr val="tx2"/>
                          </a:solidFill>
                          <a:latin typeface="Calibri" panose="020F0502020204030204" pitchFamily="34" charset="0"/>
                        </a:rPr>
                        <a:t>Value Proposition</a:t>
                      </a:r>
                    </a:p>
                  </a:txBody>
                  <a:tcPr anchor="ctr"/>
                </a:tc>
                <a:extLst>
                  <a:ext uri="{0D108BD9-81ED-4DB2-BD59-A6C34878D82A}">
                    <a16:rowId xmlns:a16="http://schemas.microsoft.com/office/drawing/2014/main" val="10000"/>
                  </a:ext>
                </a:extLst>
              </a:tr>
            </a:tbl>
          </a:graphicData>
        </a:graphic>
      </p:graphicFrame>
      <p:sp>
        <p:nvSpPr>
          <p:cNvPr id="116" name="TextBox 115">
            <a:extLst>
              <a:ext uri="{FF2B5EF4-FFF2-40B4-BE49-F238E27FC236}">
                <a16:creationId xmlns:a16="http://schemas.microsoft.com/office/drawing/2014/main" id="{63255E1C-9300-4EA3-9032-6E7197E9C661}"/>
              </a:ext>
            </a:extLst>
          </p:cNvPr>
          <p:cNvSpPr txBox="1"/>
          <p:nvPr/>
        </p:nvSpPr>
        <p:spPr>
          <a:xfrm>
            <a:off x="9965778" y="4292247"/>
            <a:ext cx="1786408" cy="2031325"/>
          </a:xfrm>
          <a:prstGeom prst="rect">
            <a:avLst/>
          </a:prstGeom>
          <a:noFill/>
          <a:ln>
            <a:noFill/>
          </a:ln>
        </p:spPr>
        <p:txBody>
          <a:bodyPr wrap="square" rtlCol="0">
            <a:spAutoFit/>
          </a:bodyPr>
          <a:lstStyle/>
          <a:p>
            <a:pPr marL="228600" marR="0" lvl="1" indent="-228600" algn="l" defTabSz="914400" rtl="0" eaLnBrk="1" fontAlgn="base" latinLnBrk="0" hangingPunct="1">
              <a:lnSpc>
                <a:spcPct val="100000"/>
              </a:lnSpc>
              <a:spcBef>
                <a:spcPts val="0"/>
              </a:spcBef>
              <a:spcAft>
                <a:spcPts val="100"/>
              </a:spcAft>
              <a:buClr>
                <a:srgbClr val="FB4E0B"/>
              </a:buClr>
              <a:buSzPts val="900"/>
              <a:buFont typeface="Calibri" panose="020F0502020204030204" pitchFamily="34" charset="0"/>
              <a:buChar char="•"/>
              <a:tabLst/>
              <a:defRPr/>
            </a:pPr>
            <a:r>
              <a:rPr kumimoji="0" 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~50-60% reduction in runtime with higher accuracy</a:t>
            </a:r>
          </a:p>
          <a:p>
            <a:pPr marL="228600" marR="0" lvl="1" indent="-228600" algn="l" defTabSz="914400" rtl="0" eaLnBrk="1" fontAlgn="base" latinLnBrk="0" hangingPunct="1">
              <a:lnSpc>
                <a:spcPct val="100000"/>
              </a:lnSpc>
              <a:spcBef>
                <a:spcPts val="0"/>
              </a:spcBef>
              <a:spcAft>
                <a:spcPts val="100"/>
              </a:spcAft>
              <a:buClr>
                <a:srgbClr val="FB4E0B"/>
              </a:buClr>
              <a:buSzPts val="900"/>
              <a:buFont typeface="Calibri" panose="020F0502020204030204" pitchFamily="34" charset="0"/>
              <a:buChar char="•"/>
              <a:tabLst/>
              <a:defRPr/>
            </a:pPr>
            <a:r>
              <a:rPr kumimoji="0" 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Develop easy to use API</a:t>
            </a:r>
          </a:p>
          <a:p>
            <a:pPr marL="228600" marR="0" lvl="1" indent="-228600" algn="l" defTabSz="914400" rtl="0" eaLnBrk="1" fontAlgn="base" latinLnBrk="0" hangingPunct="1">
              <a:lnSpc>
                <a:spcPct val="100000"/>
              </a:lnSpc>
              <a:spcBef>
                <a:spcPts val="0"/>
              </a:spcBef>
              <a:spcAft>
                <a:spcPts val="100"/>
              </a:spcAft>
              <a:buClr>
                <a:srgbClr val="FB4E0B"/>
              </a:buClr>
              <a:buSzPts val="900"/>
              <a:buFont typeface="Calibri" panose="020F0502020204030204" pitchFamily="34" charset="0"/>
              <a:buChar char="•"/>
              <a:tabLst/>
              <a:defRPr/>
            </a:pPr>
            <a:r>
              <a:rPr kumimoji="0" 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Easy integration of model workflow</a:t>
            </a:r>
          </a:p>
          <a:p>
            <a:pPr marL="228600" marR="0" lvl="1" indent="-228600" algn="l" defTabSz="914400" rtl="0" eaLnBrk="1" fontAlgn="base" latinLnBrk="0" hangingPunct="1">
              <a:lnSpc>
                <a:spcPct val="100000"/>
              </a:lnSpc>
              <a:spcBef>
                <a:spcPts val="0"/>
              </a:spcBef>
              <a:spcAft>
                <a:spcPts val="100"/>
              </a:spcAft>
              <a:buClr>
                <a:srgbClr val="FB4E0B"/>
              </a:buClr>
              <a:buSzPts val="900"/>
              <a:buFont typeface="Calibri" panose="020F0502020204030204" pitchFamily="34" charset="0"/>
              <a:buChar char="•"/>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Scalable framework</a:t>
            </a:r>
          </a:p>
          <a:p>
            <a:pPr marL="228600" marR="0" lvl="1" indent="-228600" algn="l" defTabSz="914400" rtl="0" eaLnBrk="1" fontAlgn="base" latinLnBrk="0" hangingPunct="1">
              <a:lnSpc>
                <a:spcPct val="100000"/>
              </a:lnSpc>
              <a:spcBef>
                <a:spcPts val="0"/>
              </a:spcBef>
              <a:spcAft>
                <a:spcPts val="100"/>
              </a:spcAft>
              <a:buClr>
                <a:srgbClr val="FB4E0B"/>
              </a:buClr>
              <a:buSzPts val="900"/>
              <a:buFont typeface="Calibri" panose="020F0502020204030204" pitchFamily="34" charset="0"/>
              <a:buChar char="•"/>
              <a:tabLst/>
              <a:defRPr/>
            </a:pPr>
            <a:r>
              <a:rPr kumimoji="0" 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Optimized &amp; leaner code</a:t>
            </a:r>
          </a:p>
          <a:p>
            <a:pPr marL="228600" marR="0" lvl="1" indent="-228600" algn="l" defTabSz="914400" rtl="0" eaLnBrk="1" fontAlgn="base" latinLnBrk="0" hangingPunct="1">
              <a:lnSpc>
                <a:spcPct val="100000"/>
              </a:lnSpc>
              <a:spcBef>
                <a:spcPts val="0"/>
              </a:spcBef>
              <a:spcAft>
                <a:spcPts val="100"/>
              </a:spcAft>
              <a:buClr>
                <a:srgbClr val="FB4E0B"/>
              </a:buClr>
              <a:buSzPts val="900"/>
              <a:buFont typeface="Calibri" panose="020F0502020204030204" pitchFamily="34" charset="0"/>
              <a:buChar char="•"/>
              <a:tabLst/>
              <a:defRPr/>
            </a:pPr>
            <a:r>
              <a:rPr kumimoji="0" 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High reusability</a:t>
            </a:r>
          </a:p>
          <a:p>
            <a:pPr marL="228600" marR="0" lvl="1" indent="-228600" algn="l" defTabSz="914400" rtl="0" eaLnBrk="1" fontAlgn="base" latinLnBrk="0" hangingPunct="1">
              <a:lnSpc>
                <a:spcPct val="100000"/>
              </a:lnSpc>
              <a:spcBef>
                <a:spcPts val="0"/>
              </a:spcBef>
              <a:spcAft>
                <a:spcPts val="100"/>
              </a:spcAft>
              <a:buClr>
                <a:srgbClr val="FB4E0B"/>
              </a:buClr>
              <a:buSzPts val="900"/>
              <a:buFont typeface="Calibri" panose="020F0502020204030204" pitchFamily="34" charset="0"/>
              <a:buChar char="•"/>
              <a:tabLst/>
              <a:defRPr/>
            </a:pPr>
            <a:r>
              <a:rPr kumimoji="0" 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Feasible maintenance</a:t>
            </a:r>
            <a:endPar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
        <p:nvSpPr>
          <p:cNvPr id="117" name="Rectangle 116">
            <a:extLst>
              <a:ext uri="{FF2B5EF4-FFF2-40B4-BE49-F238E27FC236}">
                <a16:creationId xmlns:a16="http://schemas.microsoft.com/office/drawing/2014/main" id="{495111F9-2806-48B3-B7CF-F36E5161B4D0}"/>
              </a:ext>
            </a:extLst>
          </p:cNvPr>
          <p:cNvSpPr/>
          <p:nvPr/>
        </p:nvSpPr>
        <p:spPr>
          <a:xfrm>
            <a:off x="10508566" y="91606"/>
            <a:ext cx="1683434" cy="26607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accent1"/>
                </a:solidFill>
              </a:rPr>
              <a:t>Process Improvement</a:t>
            </a:r>
          </a:p>
        </p:txBody>
      </p:sp>
    </p:spTree>
    <p:extLst>
      <p:ext uri="{BB962C8B-B14F-4D97-AF65-F5344CB8AC3E}">
        <p14:creationId xmlns:p14="http://schemas.microsoft.com/office/powerpoint/2010/main" val="2885623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Right Arrow 24">
            <a:extLst>
              <a:ext uri="{FF2B5EF4-FFF2-40B4-BE49-F238E27FC236}">
                <a16:creationId xmlns:a16="http://schemas.microsoft.com/office/drawing/2014/main" id="{27DC1E2C-534D-2B46-7467-721C76A2E3CC}"/>
              </a:ext>
            </a:extLst>
          </p:cNvPr>
          <p:cNvSpPr/>
          <p:nvPr/>
        </p:nvSpPr>
        <p:spPr>
          <a:xfrm>
            <a:off x="9342656" y="1509588"/>
            <a:ext cx="1294061" cy="739354"/>
          </a:xfrm>
          <a:prstGeom prst="rightArrow">
            <a:avLst>
              <a:gd name="adj1" fmla="val 67668"/>
              <a:gd name="adj2" fmla="val 50000"/>
            </a:avLst>
          </a:prstGeom>
          <a:solidFill>
            <a:srgbClr val="BABABA">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ea typeface="+mn-ea"/>
                <a:cs typeface="Calibri" panose="020F0502020204030204" pitchFamily="34" charset="0"/>
              </a:rPr>
              <a:t>Output</a:t>
            </a:r>
          </a:p>
        </p:txBody>
      </p:sp>
      <p:sp>
        <p:nvSpPr>
          <p:cNvPr id="127" name="Right Arrow 23">
            <a:extLst>
              <a:ext uri="{FF2B5EF4-FFF2-40B4-BE49-F238E27FC236}">
                <a16:creationId xmlns:a16="http://schemas.microsoft.com/office/drawing/2014/main" id="{7BC109D2-DDCB-EE58-8260-1CA92A9B2ACC}"/>
              </a:ext>
            </a:extLst>
          </p:cNvPr>
          <p:cNvSpPr/>
          <p:nvPr/>
        </p:nvSpPr>
        <p:spPr>
          <a:xfrm>
            <a:off x="8050688" y="1496273"/>
            <a:ext cx="1446107" cy="739354"/>
          </a:xfrm>
          <a:prstGeom prst="rightArrow">
            <a:avLst>
              <a:gd name="adj1" fmla="val 67668"/>
              <a:gd name="adj2" fmla="val 50000"/>
            </a:avLst>
          </a:prstGeom>
          <a:solidFill>
            <a:schemeClr val="accent3">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ea typeface="+mn-ea"/>
                <a:cs typeface="Calibri" panose="020F0502020204030204" pitchFamily="34" charset="0"/>
              </a:rPr>
              <a:t>Report &amp; </a:t>
            </a:r>
            <a:br>
              <a:rPr kumimoji="0" lang="en-US" sz="1200" b="1" i="0" u="none" strike="noStrike" kern="0" cap="none" spc="0" normalizeH="0" baseline="0" noProof="0">
                <a:ln>
                  <a:noFill/>
                </a:ln>
                <a:solidFill>
                  <a:srgbClr val="FFFFFF"/>
                </a:solidFill>
                <a:effectLst/>
                <a:uLnTx/>
                <a:uFillTx/>
                <a:ea typeface="+mn-ea"/>
                <a:cs typeface="Calibri" panose="020F0502020204030204" pitchFamily="34" charset="0"/>
              </a:rPr>
            </a:br>
            <a:r>
              <a:rPr kumimoji="0" lang="en-US" sz="1200" b="1" i="0" u="none" strike="noStrike" kern="0" cap="none" spc="0" normalizeH="0" baseline="0" noProof="0">
                <a:ln>
                  <a:noFill/>
                </a:ln>
                <a:solidFill>
                  <a:srgbClr val="FFFFFF"/>
                </a:solidFill>
                <a:effectLst/>
                <a:uLnTx/>
                <a:uFillTx/>
                <a:ea typeface="+mn-ea"/>
                <a:cs typeface="Calibri" panose="020F0502020204030204" pitchFamily="34" charset="0"/>
              </a:rPr>
              <a:t>Insights</a:t>
            </a:r>
          </a:p>
        </p:txBody>
      </p:sp>
      <p:sp>
        <p:nvSpPr>
          <p:cNvPr id="128" name="Right Arrow 22">
            <a:extLst>
              <a:ext uri="{FF2B5EF4-FFF2-40B4-BE49-F238E27FC236}">
                <a16:creationId xmlns:a16="http://schemas.microsoft.com/office/drawing/2014/main" id="{4FD6C23D-7AF8-23C6-09E0-673AE79E4FED}"/>
              </a:ext>
            </a:extLst>
          </p:cNvPr>
          <p:cNvSpPr/>
          <p:nvPr/>
        </p:nvSpPr>
        <p:spPr>
          <a:xfrm>
            <a:off x="6709216" y="1495265"/>
            <a:ext cx="1474018" cy="739354"/>
          </a:xfrm>
          <a:prstGeom prst="rightArrow">
            <a:avLst>
              <a:gd name="adj1" fmla="val 67668"/>
              <a:gd name="adj2" fmla="val 50000"/>
            </a:avLst>
          </a:prstGeom>
          <a:solidFill>
            <a:schemeClr val="bg1">
              <a:lumMod val="5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bg2"/>
                </a:solidFill>
                <a:effectLst/>
                <a:uLnTx/>
                <a:uFillTx/>
                <a:ea typeface="+mn-ea"/>
                <a:cs typeface="Calibri" panose="020F0502020204030204" pitchFamily="34" charset="0"/>
              </a:rPr>
              <a:t>Impact</a:t>
            </a:r>
          </a:p>
          <a:p>
            <a:pPr marL="0" marR="0" lvl="0" indent="0" algn="ctr" defTabSz="914400" eaLnBrk="1" fontAlgn="auto" latinLnBrk="0" hangingPunct="1">
              <a:lnSpc>
                <a:spcPct val="100000"/>
              </a:lnSpc>
              <a:spcBef>
                <a:spcPts val="0"/>
              </a:spcBef>
              <a:spcAft>
                <a:spcPts val="0"/>
              </a:spcAft>
              <a:buClrTx/>
              <a:buSzTx/>
              <a:buFontTx/>
              <a:buNone/>
              <a:tabLst/>
              <a:defRPr/>
            </a:pPr>
            <a:r>
              <a:rPr lang="en-US" sz="1200" b="1" kern="0">
                <a:solidFill>
                  <a:schemeClr val="bg2"/>
                </a:solidFill>
                <a:cs typeface="Calibri" panose="020F0502020204030204" pitchFamily="34" charset="0"/>
              </a:rPr>
              <a:t>Analysis</a:t>
            </a:r>
            <a:endParaRPr kumimoji="0" lang="en-US" sz="1200" b="1" i="0" u="none" strike="noStrike" kern="0" cap="none" spc="0" normalizeH="0" baseline="0" noProof="0">
              <a:ln>
                <a:noFill/>
              </a:ln>
              <a:solidFill>
                <a:schemeClr val="bg2"/>
              </a:solidFill>
              <a:effectLst/>
              <a:uLnTx/>
              <a:uFillTx/>
              <a:ea typeface="+mn-ea"/>
              <a:cs typeface="Calibri" panose="020F0502020204030204" pitchFamily="34" charset="0"/>
            </a:endParaRPr>
          </a:p>
        </p:txBody>
      </p:sp>
      <p:sp>
        <p:nvSpPr>
          <p:cNvPr id="129" name="Right Arrow 21">
            <a:extLst>
              <a:ext uri="{FF2B5EF4-FFF2-40B4-BE49-F238E27FC236}">
                <a16:creationId xmlns:a16="http://schemas.microsoft.com/office/drawing/2014/main" id="{2A7676F2-DC9A-C9FB-6265-0BEA1F61F908}"/>
              </a:ext>
            </a:extLst>
          </p:cNvPr>
          <p:cNvSpPr/>
          <p:nvPr/>
        </p:nvSpPr>
        <p:spPr>
          <a:xfrm>
            <a:off x="5455846" y="1496913"/>
            <a:ext cx="1400465" cy="739354"/>
          </a:xfrm>
          <a:prstGeom prst="rightArrow">
            <a:avLst>
              <a:gd name="adj1" fmla="val 67668"/>
              <a:gd name="adj2" fmla="val 50000"/>
            </a:avLst>
          </a:prstGeom>
          <a:solidFill>
            <a:schemeClr val="accent4"/>
          </a:solidFill>
          <a:ln w="12700" cap="flat" cmpd="sng" algn="ctr">
            <a:noFill/>
            <a:prstDash val="solid"/>
            <a:miter lim="800000"/>
          </a:ln>
          <a:effectLst/>
        </p:spPr>
        <p:txBody>
          <a:bodyPr lIns="36576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ea typeface="+mn-ea"/>
                <a:cs typeface="Calibri" panose="020F0502020204030204" pitchFamily="34" charset="0"/>
              </a:rPr>
              <a:t>Unit Testing</a:t>
            </a:r>
          </a:p>
        </p:txBody>
      </p:sp>
      <p:sp>
        <p:nvSpPr>
          <p:cNvPr id="130" name="Right Arrow 20">
            <a:extLst>
              <a:ext uri="{FF2B5EF4-FFF2-40B4-BE49-F238E27FC236}">
                <a16:creationId xmlns:a16="http://schemas.microsoft.com/office/drawing/2014/main" id="{2775A866-A204-B80B-4EC3-601AE834FCC7}"/>
              </a:ext>
            </a:extLst>
          </p:cNvPr>
          <p:cNvSpPr/>
          <p:nvPr/>
        </p:nvSpPr>
        <p:spPr>
          <a:xfrm>
            <a:off x="4200095" y="1462868"/>
            <a:ext cx="1416875" cy="782800"/>
          </a:xfrm>
          <a:prstGeom prst="rightArrow">
            <a:avLst>
              <a:gd name="adj1" fmla="val 67668"/>
              <a:gd name="adj2" fmla="val 50000"/>
            </a:avLst>
          </a:prstGeom>
          <a:solidFill>
            <a:schemeClr val="tx2"/>
          </a:solidFill>
          <a:ln w="12700" cap="flat" cmpd="sng" algn="ctr">
            <a:noFill/>
            <a:prstDash val="solid"/>
            <a:miter lim="800000"/>
          </a:ln>
          <a:effectLst/>
        </p:spPr>
        <p:txBody>
          <a:bodyPr lIns="36576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ea typeface="+mn-ea"/>
                <a:cs typeface="Calibri" panose="020F0502020204030204" pitchFamily="34" charset="0"/>
              </a:rPr>
              <a:t>‘GGY AXIS’  Run </a:t>
            </a:r>
          </a:p>
        </p:txBody>
      </p:sp>
      <p:sp>
        <p:nvSpPr>
          <p:cNvPr id="4" name="Right Arrow 20">
            <a:extLst>
              <a:ext uri="{FF2B5EF4-FFF2-40B4-BE49-F238E27FC236}">
                <a16:creationId xmlns:a16="http://schemas.microsoft.com/office/drawing/2014/main" id="{ED5A9A56-DF9B-4887-9AD1-633166A79BD2}"/>
              </a:ext>
            </a:extLst>
          </p:cNvPr>
          <p:cNvSpPr/>
          <p:nvPr/>
        </p:nvSpPr>
        <p:spPr>
          <a:xfrm>
            <a:off x="2833041" y="1513171"/>
            <a:ext cx="1509985" cy="739354"/>
          </a:xfrm>
          <a:prstGeom prst="rightArrow">
            <a:avLst>
              <a:gd name="adj1" fmla="val 67668"/>
              <a:gd name="adj2" fmla="val 50000"/>
            </a:avLst>
          </a:prstGeom>
          <a:solidFill>
            <a:schemeClr val="accent2">
              <a:lumMod val="75000"/>
            </a:schemeClr>
          </a:solidFill>
          <a:ln w="12700" cap="flat" cmpd="sng" algn="ctr">
            <a:noFill/>
            <a:prstDash val="solid"/>
            <a:miter lim="800000"/>
          </a:ln>
          <a:effectLst/>
        </p:spPr>
        <p:txBody>
          <a:bodyPr lIns="36576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ea typeface="+mn-ea"/>
                <a:cs typeface="Calibri" panose="020F0502020204030204" pitchFamily="34" charset="0"/>
              </a:rPr>
              <a:t>AXIS Model Updates</a:t>
            </a:r>
          </a:p>
        </p:txBody>
      </p:sp>
      <p:sp>
        <p:nvSpPr>
          <p:cNvPr id="6" name="TextBox 5">
            <a:extLst>
              <a:ext uri="{FF2B5EF4-FFF2-40B4-BE49-F238E27FC236}">
                <a16:creationId xmlns:a16="http://schemas.microsoft.com/office/drawing/2014/main" id="{AD2E659E-7B9E-184E-EF0F-71081744849C}"/>
              </a:ext>
            </a:extLst>
          </p:cNvPr>
          <p:cNvSpPr txBox="1"/>
          <p:nvPr/>
        </p:nvSpPr>
        <p:spPr>
          <a:xfrm>
            <a:off x="8430852" y="4093946"/>
            <a:ext cx="3383230" cy="2232426"/>
          </a:xfrm>
          <a:prstGeom prst="rect">
            <a:avLst/>
          </a:prstGeom>
          <a:ln/>
        </p:spPr>
        <p:style>
          <a:lnRef idx="3">
            <a:schemeClr val="lt1"/>
          </a:lnRef>
          <a:fillRef idx="1">
            <a:schemeClr val="accent6"/>
          </a:fillRef>
          <a:effectRef idx="1">
            <a:schemeClr val="accent6"/>
          </a:effectRef>
          <a:fontRef idx="minor">
            <a:schemeClr val="lt1"/>
          </a:fontRef>
        </p:style>
        <p:txBody>
          <a:bodyPr wrap="square" lIns="274320" tIns="0" rIns="91440" bIns="0" rtlCol="0" anchor="ctr">
            <a:noAutofit/>
          </a:bodyPr>
          <a:lstStyle/>
          <a:p>
            <a:pPr defTabSz="914400" eaLnBrk="0" fontAlgn="base" hangingPunct="0">
              <a:spcBef>
                <a:spcPct val="0"/>
              </a:spcBef>
              <a:spcAft>
                <a:spcPct val="0"/>
              </a:spcAft>
            </a:pPr>
            <a:r>
              <a:rPr lang="en-US" sz="1600" b="1">
                <a:solidFill>
                  <a:srgbClr val="FF6503"/>
                </a:solidFill>
                <a:latin typeface="Arial"/>
                <a:cs typeface="Arial"/>
              </a:rPr>
              <a:t>Solutions Delivered</a:t>
            </a:r>
            <a:endParaRPr lang="en-US">
              <a:solidFill>
                <a:srgbClr val="000000"/>
              </a:solidFill>
              <a:latin typeface="Arial"/>
              <a:cs typeface="Arial"/>
            </a:endParaRPr>
          </a:p>
          <a:p>
            <a:pPr defTabSz="914400">
              <a:spcBef>
                <a:spcPct val="0"/>
              </a:spcBef>
              <a:spcAft>
                <a:spcPct val="0"/>
              </a:spcAft>
              <a:buFont typeface="Arial"/>
              <a:buChar char="•"/>
            </a:pPr>
            <a:r>
              <a:rPr lang="en-US" altLang="en-US" sz="1100" b="1">
                <a:solidFill>
                  <a:schemeClr val="tx1"/>
                </a:solidFill>
                <a:cs typeface="Arial"/>
              </a:rPr>
              <a:t>Reduced</a:t>
            </a:r>
            <a:r>
              <a:rPr kumimoji="0" lang="en-US" altLang="en-US" sz="1100" b="1" i="0" u="none" strike="noStrike" cap="none" normalizeH="0" baseline="0">
                <a:ln>
                  <a:noFill/>
                </a:ln>
                <a:solidFill>
                  <a:schemeClr val="tx1"/>
                </a:solidFill>
                <a:effectLst/>
                <a:cs typeface="Arial"/>
              </a:rPr>
              <a:t> runtime </a:t>
            </a:r>
            <a:r>
              <a:rPr kumimoji="0" lang="en-US" altLang="en-US" sz="1100" b="0" i="0" u="none" strike="noStrike" cap="none" normalizeH="0" baseline="0">
                <a:ln>
                  <a:noFill/>
                </a:ln>
                <a:solidFill>
                  <a:schemeClr val="tx1"/>
                </a:solidFill>
                <a:effectLst/>
                <a:cs typeface="Arial"/>
              </a:rPr>
              <a:t>and manual intervention through automation and restructuring.</a:t>
            </a:r>
            <a:endParaRPr lang="en-US">
              <a:solidFill>
                <a:schemeClr val="tx1"/>
              </a:solidFill>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i="0" u="none" strike="noStrike" cap="none" normalizeH="0" baseline="0">
                <a:ln>
                  <a:noFill/>
                </a:ln>
                <a:solidFill>
                  <a:schemeClr val="tx1"/>
                </a:solidFill>
                <a:effectLst/>
              </a:rPr>
              <a:t>Increased</a:t>
            </a:r>
            <a:r>
              <a:rPr kumimoji="0" lang="en-US" altLang="en-US" sz="1100" b="1" i="0" u="none" strike="noStrike" cap="none" normalizeH="0" baseline="0">
                <a:ln>
                  <a:noFill/>
                </a:ln>
                <a:solidFill>
                  <a:schemeClr val="tx1"/>
                </a:solidFill>
                <a:effectLst/>
              </a:rPr>
              <a:t> accuracy and transparency </a:t>
            </a:r>
            <a:r>
              <a:rPr kumimoji="0" lang="en-US" altLang="en-US" sz="1100" b="0" i="0" u="none" strike="noStrike" cap="none" normalizeH="0" baseline="0">
                <a:ln>
                  <a:noFill/>
                </a:ln>
                <a:solidFill>
                  <a:schemeClr val="tx1"/>
                </a:solidFill>
                <a:effectLst/>
              </a:rPr>
              <a:t>of the validator via clean documentation and formula standardization.</a:t>
            </a:r>
            <a:endParaRPr lang="en-US" altLang="en-US" sz="1100" b="0" i="0" u="none" strike="noStrike" cap="none" normalizeH="0" baseline="0">
              <a:ln>
                <a:noFill/>
              </a:ln>
              <a:solidFill>
                <a:schemeClr val="tx1"/>
              </a:solidFill>
              <a:effectLst/>
              <a:cs typeface="Arial"/>
            </a:endParaRPr>
          </a:p>
          <a:p>
            <a:pPr defTabSz="914400" eaLnBrk="0" fontAlgn="base" hangingPunct="0">
              <a:spcBef>
                <a:spcPct val="0"/>
              </a:spcBef>
              <a:spcAft>
                <a:spcPct val="0"/>
              </a:spcAft>
              <a:buFontTx/>
              <a:buChar char="•"/>
            </a:pPr>
            <a:r>
              <a:rPr kumimoji="0" lang="en-US" altLang="en-US" sz="1100" b="0" i="0" u="none" strike="noStrike" cap="none" normalizeH="0" baseline="0">
                <a:ln>
                  <a:noFill/>
                </a:ln>
                <a:solidFill>
                  <a:schemeClr val="tx1"/>
                </a:solidFill>
                <a:effectLst/>
                <a:cs typeface="Arial"/>
              </a:rPr>
              <a:t>Enhanced </a:t>
            </a:r>
            <a:r>
              <a:rPr kumimoji="0" lang="en-US" altLang="en-US" sz="1100" b="1" i="0" u="none" strike="noStrike" cap="none" normalizeH="0" baseline="0">
                <a:ln>
                  <a:noFill/>
                </a:ln>
                <a:solidFill>
                  <a:schemeClr val="tx1"/>
                </a:solidFill>
                <a:effectLst/>
                <a:cs typeface="Arial"/>
              </a:rPr>
              <a:t>audit readiness </a:t>
            </a:r>
            <a:r>
              <a:rPr kumimoji="0" lang="en-US" altLang="en-US" sz="1100" b="0" i="0" u="none" strike="noStrike" cap="none" normalizeH="0" baseline="0">
                <a:ln>
                  <a:noFill/>
                </a:ln>
                <a:solidFill>
                  <a:schemeClr val="tx1"/>
                </a:solidFill>
                <a:effectLst/>
                <a:cs typeface="Arial"/>
              </a:rPr>
              <a:t>with clear traceability of assumptions changes</a:t>
            </a:r>
            <a:r>
              <a:rPr lang="en-US" altLang="en-US" sz="1100">
                <a:solidFill>
                  <a:schemeClr val="tx1"/>
                </a:solidFill>
                <a:cs typeface="Arial"/>
              </a:rPr>
              <a:t> and model improvements</a:t>
            </a:r>
            <a:r>
              <a:rPr kumimoji="0" lang="en-US" altLang="en-US" sz="1100" b="0" i="0" u="none" strike="noStrike" cap="none" normalizeH="0" baseline="0">
                <a:ln>
                  <a:noFill/>
                </a:ln>
                <a:solidFill>
                  <a:schemeClr val="tx1"/>
                </a:solidFill>
                <a:effectLst/>
                <a:cs typeface="Arial"/>
              </a:rPr>
              <a:t>.</a:t>
            </a:r>
            <a:endParaRPr lang="en-US" altLang="en-US" sz="1100" b="0" i="0" u="none" strike="noStrike" cap="none" normalizeH="0" baseline="0">
              <a:ln>
                <a:noFill/>
              </a:ln>
              <a:solidFill>
                <a:schemeClr val="tx1"/>
              </a:solidFill>
              <a:effectLst/>
              <a:cs typeface="Arial"/>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GB" sz="1100" b="1">
                <a:solidFill>
                  <a:schemeClr val="tx1"/>
                </a:solidFill>
              </a:rPr>
              <a:t>Automated complex model </a:t>
            </a:r>
            <a:r>
              <a:rPr lang="en-GB" sz="1100">
                <a:solidFill>
                  <a:schemeClr val="tx1"/>
                </a:solidFill>
              </a:rPr>
              <a:t>runs using batch scripts, significantly improving testing and reporting efficiency</a:t>
            </a:r>
          </a:p>
          <a:p>
            <a:pPr marL="0" marR="0" lvl="0" indent="0" algn="l" defTabSz="914400" rtl="0" eaLnBrk="0" fontAlgn="base" latinLnBrk="0" hangingPunct="0">
              <a:lnSpc>
                <a:spcPct val="100000"/>
              </a:lnSpc>
              <a:spcBef>
                <a:spcPct val="0"/>
              </a:spcBef>
              <a:spcAft>
                <a:spcPct val="0"/>
              </a:spcAft>
              <a:buClrTx/>
              <a:buSzTx/>
              <a:buFontTx/>
              <a:buChar char="•"/>
              <a:tabLst/>
            </a:pPr>
            <a:endParaRPr lang="en-GB" sz="1100">
              <a:solidFill>
                <a:schemeClr val="tx1"/>
              </a:solidFill>
            </a:endParaRPr>
          </a:p>
        </p:txBody>
      </p:sp>
      <p:sp>
        <p:nvSpPr>
          <p:cNvPr id="2" name="Rectangle 1">
            <a:extLst>
              <a:ext uri="{FF2B5EF4-FFF2-40B4-BE49-F238E27FC236}">
                <a16:creationId xmlns:a16="http://schemas.microsoft.com/office/drawing/2014/main" id="{EFE35257-C1C3-468E-4CBD-8349661A514E}"/>
              </a:ext>
            </a:extLst>
          </p:cNvPr>
          <p:cNvSpPr/>
          <p:nvPr/>
        </p:nvSpPr>
        <p:spPr>
          <a:xfrm>
            <a:off x="370110" y="434796"/>
            <a:ext cx="11277315" cy="6224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914354">
              <a:defRPr/>
            </a:pPr>
            <a:r>
              <a:rPr lang="en-US" sz="1500">
                <a:solidFill>
                  <a:sysClr val="windowText" lastClr="000000"/>
                </a:solidFill>
              </a:rPr>
              <a:t>A specialized team delivering scalable and high‑quality actuarial model solutions on the Moody’s AXIS platform for VA, RILA, FA, and FIA under Statutory &amp; GAAP frameworks.</a:t>
            </a:r>
            <a:endParaRPr lang="en-US" sz="1500" b="1">
              <a:solidFill>
                <a:sysClr val="windowText" lastClr="000000"/>
              </a:solidFill>
              <a:latin typeface="Calibri Light" panose="020F0302020204030204"/>
            </a:endParaRPr>
          </a:p>
        </p:txBody>
      </p:sp>
      <p:sp>
        <p:nvSpPr>
          <p:cNvPr id="24" name="Title 2">
            <a:extLst>
              <a:ext uri="{FF2B5EF4-FFF2-40B4-BE49-F238E27FC236}">
                <a16:creationId xmlns:a16="http://schemas.microsoft.com/office/drawing/2014/main" id="{F9C42282-DEB8-4357-B544-879649C423D9}"/>
              </a:ext>
            </a:extLst>
          </p:cNvPr>
          <p:cNvSpPr>
            <a:spLocks noGrp="1"/>
          </p:cNvSpPr>
          <p:nvPr>
            <p:ph type="ctrTitle"/>
          </p:nvPr>
        </p:nvSpPr>
        <p:spPr>
          <a:xfrm>
            <a:off x="457198" y="122896"/>
            <a:ext cx="11277600" cy="557784"/>
          </a:xfrm>
          <a:noFill/>
          <a:ln>
            <a:noFill/>
          </a:ln>
        </p:spPr>
        <p:txBody>
          <a:bodyPr spcFirstLastPara="1" vert="horz" wrap="square" lIns="0" tIns="0" rIns="0" bIns="0" rtlCol="0" anchor="t" anchorCtr="0">
            <a:noAutofit/>
          </a:bodyPr>
          <a:lstStyle/>
          <a:p>
            <a:r>
              <a:rPr lang="en-US" sz="2800">
                <a:solidFill>
                  <a:schemeClr val="tx2"/>
                </a:solidFill>
              </a:rPr>
              <a:t>AXIS Center of Excellence</a:t>
            </a:r>
          </a:p>
        </p:txBody>
      </p:sp>
      <p:sp>
        <p:nvSpPr>
          <p:cNvPr id="34" name="TextBox 33">
            <a:extLst>
              <a:ext uri="{FF2B5EF4-FFF2-40B4-BE49-F238E27FC236}">
                <a16:creationId xmlns:a16="http://schemas.microsoft.com/office/drawing/2014/main" id="{0BE88DD0-41F8-415A-B25E-65C5AD972E12}"/>
              </a:ext>
            </a:extLst>
          </p:cNvPr>
          <p:cNvSpPr txBox="1"/>
          <p:nvPr/>
        </p:nvSpPr>
        <p:spPr>
          <a:xfrm>
            <a:off x="307860" y="6529534"/>
            <a:ext cx="7728686" cy="246221"/>
          </a:xfrm>
          <a:prstGeom prst="rect">
            <a:avLst/>
          </a:prstGeom>
          <a:noFill/>
        </p:spPr>
        <p:txBody>
          <a:bodyPr wrap="square" rtlCol="0">
            <a:spAutoFit/>
          </a:bodyPr>
          <a:lstStyle/>
          <a:p>
            <a:pPr marL="171450" indent="-171450">
              <a:buFont typeface="Arial" panose="020B0604020202020204" pitchFamily="34" charset="0"/>
              <a:buChar char="•"/>
            </a:pPr>
            <a:r>
              <a:rPr lang="en-US" sz="1000" i="1"/>
              <a:t>VA : Variable Annuity  RILA : Registered Index Linked Annuity  FA : Fixed Annuity  FIA: Fixed Indexed Annuity  VCP :  Version Control Projects</a:t>
            </a:r>
          </a:p>
        </p:txBody>
      </p:sp>
      <p:sp>
        <p:nvSpPr>
          <p:cNvPr id="119" name="Rectangle 118">
            <a:extLst>
              <a:ext uri="{FF2B5EF4-FFF2-40B4-BE49-F238E27FC236}">
                <a16:creationId xmlns:a16="http://schemas.microsoft.com/office/drawing/2014/main" id="{2E80BBEF-9BBD-D7F4-D43F-AAEEFC8F25BD}"/>
              </a:ext>
            </a:extLst>
          </p:cNvPr>
          <p:cNvSpPr/>
          <p:nvPr/>
        </p:nvSpPr>
        <p:spPr>
          <a:xfrm>
            <a:off x="443792" y="2270780"/>
            <a:ext cx="1132432" cy="2381783"/>
          </a:xfrm>
          <a:prstGeom prst="rect">
            <a:avLst/>
          </a:prstGeom>
          <a:noFill/>
          <a:ln w="6350" cap="flat" cmpd="sng" algn="ctr">
            <a:noFill/>
            <a:prstDash val="solid"/>
            <a:miter lim="800000"/>
          </a:ln>
          <a:effectLst/>
        </p:spPr>
        <p:txBody>
          <a:bodyPr lIns="0" tIns="0" rIns="0" bIns="0" rtlCol="0" anchor="t"/>
          <a:lstStyle/>
          <a:p>
            <a:pPr marL="0" marR="0" lvl="0" indent="0" defTabSz="914400" eaLnBrk="1" fontAlgn="auto" latinLnBrk="0" hangingPunct="1">
              <a:lnSpc>
                <a:spcPct val="100000"/>
              </a:lnSpc>
              <a:spcBef>
                <a:spcPts val="0"/>
              </a:spcBef>
              <a:spcAft>
                <a:spcPts val="0"/>
              </a:spcAft>
              <a:buClrTx/>
              <a:buSzTx/>
              <a:buFontTx/>
              <a:buNone/>
              <a:tabLst/>
              <a:defRPr/>
            </a:pPr>
            <a:r>
              <a:rPr lang="en-US" sz="1200" b="1"/>
              <a:t>Collaborate</a:t>
            </a:r>
            <a:r>
              <a:rPr lang="en-US" sz="1200"/>
              <a:t> with on-shore stakeholders to scope the assumption change impact to support client’s  timelines</a:t>
            </a:r>
            <a:endPar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endParaRPr>
          </a:p>
        </p:txBody>
      </p:sp>
      <p:sp>
        <p:nvSpPr>
          <p:cNvPr id="120" name="Rectangle 119">
            <a:extLst>
              <a:ext uri="{FF2B5EF4-FFF2-40B4-BE49-F238E27FC236}">
                <a16:creationId xmlns:a16="http://schemas.microsoft.com/office/drawing/2014/main" id="{4B901357-D80C-0C3A-655D-33D1FFF1B988}"/>
              </a:ext>
            </a:extLst>
          </p:cNvPr>
          <p:cNvSpPr/>
          <p:nvPr/>
        </p:nvSpPr>
        <p:spPr>
          <a:xfrm>
            <a:off x="1590403" y="2231505"/>
            <a:ext cx="1261859" cy="2421058"/>
          </a:xfrm>
          <a:prstGeom prst="rect">
            <a:avLst/>
          </a:prstGeom>
          <a:noFill/>
          <a:ln w="6350" cap="flat" cmpd="sng" algn="ctr">
            <a:noFill/>
            <a:prstDash val="solid"/>
            <a:miter lim="800000"/>
          </a:ln>
          <a:effectLst/>
        </p:spPr>
        <p:txBody>
          <a:bodyPr lIns="0" tIns="0" rIns="0" bIns="0" rtlCol="0" anchor="t"/>
          <a:lstStyle/>
          <a:p>
            <a:pPr marL="0" marR="0" lvl="0" indent="0" defTabSz="914400" eaLnBrk="1" fontAlgn="auto" latinLnBrk="0" hangingPunct="1">
              <a:lnSpc>
                <a:spcPct val="100000"/>
              </a:lnSpc>
              <a:spcBef>
                <a:spcPts val="0"/>
              </a:spcBef>
              <a:spcAft>
                <a:spcPts val="0"/>
              </a:spcAft>
              <a:buClrTx/>
              <a:buSzTx/>
              <a:buFontTx/>
              <a:buNone/>
              <a:tabLst/>
              <a:defRPr/>
            </a:pPr>
            <a:r>
              <a:rPr lang="en-US" sz="1200" b="1"/>
              <a:t>Translate</a:t>
            </a:r>
            <a:r>
              <a:rPr lang="en-US" sz="1200"/>
              <a:t> data into AXIS compliant formats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Perform Quality checks </a:t>
            </a:r>
            <a:r>
              <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 to ensure consistency with prior periods and business expectations</a:t>
            </a:r>
          </a:p>
        </p:txBody>
      </p:sp>
      <p:sp>
        <p:nvSpPr>
          <p:cNvPr id="121" name="Rectangle 120">
            <a:extLst>
              <a:ext uri="{FF2B5EF4-FFF2-40B4-BE49-F238E27FC236}">
                <a16:creationId xmlns:a16="http://schemas.microsoft.com/office/drawing/2014/main" id="{AFC00248-3113-2769-FD04-2A32BC26BDE4}"/>
              </a:ext>
            </a:extLst>
          </p:cNvPr>
          <p:cNvSpPr/>
          <p:nvPr/>
        </p:nvSpPr>
        <p:spPr>
          <a:xfrm>
            <a:off x="4176534" y="2254878"/>
            <a:ext cx="1286485" cy="2313782"/>
          </a:xfrm>
          <a:prstGeom prst="rect">
            <a:avLst/>
          </a:prstGeom>
          <a:noFill/>
          <a:ln w="6350" cap="flat" cmpd="sng" algn="ctr">
            <a:noFill/>
            <a:prstDash val="solid"/>
            <a:miter lim="800000"/>
          </a:ln>
          <a:effectLst/>
        </p:spPr>
        <p:txBody>
          <a:bodyPr lIns="0" tIns="0" rIns="0" bIns="0"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Check-in </a:t>
            </a:r>
            <a:r>
              <a:rPr kumimoji="0" lang="en-US" sz="120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required quarterly </a:t>
            </a:r>
            <a:r>
              <a:rPr kumimoji="0" lang="en-US" sz="1200" i="0" u="none" strike="noStrike" kern="0" cap="none" spc="0" normalizeH="0" baseline="0" noProof="0" err="1">
                <a:ln>
                  <a:noFill/>
                </a:ln>
                <a:solidFill>
                  <a:srgbClr val="000000">
                    <a:lumMod val="85000"/>
                    <a:lumOff val="15000"/>
                  </a:srgbClr>
                </a:solidFill>
                <a:effectLst/>
                <a:uLnTx/>
                <a:uFillTx/>
                <a:ea typeface="+mn-ea"/>
                <a:cs typeface="Calibri" panose="020F0502020204030204" pitchFamily="34" charset="0"/>
              </a:rPr>
              <a:t>assumpti</a:t>
            </a:r>
            <a:r>
              <a:rPr kumimoji="0" lang="en-US" sz="120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a:t>
            </a:r>
          </a:p>
          <a:p>
            <a:pPr marL="0" marR="0" lvl="0" indent="0" defTabSz="914400" eaLnBrk="1" fontAlgn="auto" latinLnBrk="0" hangingPunct="1">
              <a:lnSpc>
                <a:spcPct val="100000"/>
              </a:lnSpc>
              <a:spcBef>
                <a:spcPts val="0"/>
              </a:spcBef>
              <a:spcAft>
                <a:spcPts val="0"/>
              </a:spcAft>
              <a:buClrTx/>
              <a:buSzTx/>
              <a:buFontTx/>
              <a:buNone/>
              <a:tabLst/>
              <a:defRPr/>
            </a:pPr>
            <a:r>
              <a:rPr lang="en-US" sz="1200" kern="0">
                <a:solidFill>
                  <a:srgbClr val="000000">
                    <a:lumMod val="85000"/>
                    <a:lumOff val="15000"/>
                  </a:srgbClr>
                </a:solidFill>
                <a:cs typeface="Calibri" panose="020F0502020204030204" pitchFamily="34" charset="0"/>
              </a:rPr>
              <a:t>o</a:t>
            </a:r>
            <a:r>
              <a:rPr kumimoji="0" lang="en-US" sz="120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n changes in the VCP model.</a:t>
            </a:r>
            <a:endParaRPr kumimoji="0" lang="en-US" sz="1200" b="1"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Valuation runs</a:t>
            </a:r>
            <a:r>
              <a:rPr lang="en-US" sz="1200" kern="0">
                <a:solidFill>
                  <a:srgbClr val="000000">
                    <a:lumMod val="85000"/>
                    <a:lumOff val="15000"/>
                  </a:srgbClr>
                </a:solidFill>
                <a:cs typeface="Calibri" panose="020F0502020204030204" pitchFamily="34" charset="0"/>
              </a:rPr>
              <a:t> are</a:t>
            </a:r>
            <a:r>
              <a:rPr kumimoji="0" lang="en-US" sz="1200" b="1"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 </a:t>
            </a:r>
            <a:r>
              <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performed for different products on different assumptions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endParaRPr>
          </a:p>
        </p:txBody>
      </p:sp>
      <p:sp>
        <p:nvSpPr>
          <p:cNvPr id="122" name="Rectangle 121">
            <a:extLst>
              <a:ext uri="{FF2B5EF4-FFF2-40B4-BE49-F238E27FC236}">
                <a16:creationId xmlns:a16="http://schemas.microsoft.com/office/drawing/2014/main" id="{27CF1019-1831-1DD2-7C4E-688ECE593949}"/>
              </a:ext>
            </a:extLst>
          </p:cNvPr>
          <p:cNvSpPr/>
          <p:nvPr/>
        </p:nvSpPr>
        <p:spPr>
          <a:xfrm>
            <a:off x="5467769" y="2285597"/>
            <a:ext cx="1203464" cy="1853857"/>
          </a:xfrm>
          <a:prstGeom prst="rect">
            <a:avLst/>
          </a:prstGeom>
          <a:noFill/>
          <a:ln w="6350" cap="flat" cmpd="sng" algn="ctr">
            <a:noFill/>
            <a:prstDash val="solid"/>
            <a:miter lim="800000"/>
          </a:ln>
          <a:effectLst/>
        </p:spPr>
        <p:txBody>
          <a:bodyPr lIns="0" tIns="0" rIns="0" bIns="0"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Built excel models </a:t>
            </a:r>
            <a:r>
              <a:rPr kumimoji="0" lang="en-US" sz="120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outside AXIS to </a:t>
            </a:r>
            <a:r>
              <a:rPr lang="en-US" sz="1200" kern="0">
                <a:solidFill>
                  <a:srgbClr val="000000">
                    <a:lumMod val="85000"/>
                    <a:lumOff val="15000"/>
                  </a:srgbClr>
                </a:solidFill>
                <a:cs typeface="Calibri" panose="020F0502020204030204" pitchFamily="34" charset="0"/>
              </a:rPr>
              <a:t>r</a:t>
            </a:r>
            <a:r>
              <a:rPr kumimoji="0" lang="en-US" sz="1200" i="0" u="none" strike="noStrike" kern="0" cap="none" spc="0" normalizeH="0" baseline="0" noProof="0" err="1">
                <a:ln>
                  <a:noFill/>
                </a:ln>
                <a:solidFill>
                  <a:srgbClr val="000000">
                    <a:lumMod val="85000"/>
                    <a:lumOff val="15000"/>
                  </a:srgbClr>
                </a:solidFill>
                <a:effectLst/>
                <a:uLnTx/>
                <a:uFillTx/>
                <a:ea typeface="+mn-ea"/>
                <a:cs typeface="Calibri" panose="020F0502020204030204" pitchFamily="34" charset="0"/>
              </a:rPr>
              <a:t>econcile</a:t>
            </a:r>
            <a:r>
              <a:rPr kumimoji="0" lang="en-US" sz="120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 cashflow</a:t>
            </a:r>
            <a:r>
              <a:rPr lang="en-US" sz="1200" kern="0">
                <a:solidFill>
                  <a:srgbClr val="000000">
                    <a:lumMod val="85000"/>
                    <a:lumOff val="15000"/>
                  </a:srgbClr>
                </a:solidFill>
                <a:cs typeface="Calibri" panose="020F0502020204030204" pitchFamily="34" charset="0"/>
              </a:rPr>
              <a:t> projections and reserve numbers.</a:t>
            </a:r>
            <a:endPar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Check</a:t>
            </a:r>
            <a:r>
              <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 impact of assumption chan</a:t>
            </a:r>
            <a:r>
              <a:rPr kumimoji="0" lang="en-US" sz="120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ges </a:t>
            </a:r>
            <a:r>
              <a:rPr lang="en-US" sz="1200" kern="0">
                <a:solidFill>
                  <a:srgbClr val="000000">
                    <a:lumMod val="85000"/>
                    <a:lumOff val="15000"/>
                  </a:srgbClr>
                </a:solidFill>
                <a:cs typeface="Calibri" panose="020F0502020204030204" pitchFamily="34" charset="0"/>
              </a:rPr>
              <a:t>on policy level.</a:t>
            </a:r>
            <a:endParaRPr kumimoji="0" lang="en-US" sz="120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endParaRPr>
          </a:p>
        </p:txBody>
      </p:sp>
      <p:sp>
        <p:nvSpPr>
          <p:cNvPr id="123" name="Rectangle 122">
            <a:extLst>
              <a:ext uri="{FF2B5EF4-FFF2-40B4-BE49-F238E27FC236}">
                <a16:creationId xmlns:a16="http://schemas.microsoft.com/office/drawing/2014/main" id="{8F3D8927-19C8-04EB-92DD-0337C8525985}"/>
              </a:ext>
            </a:extLst>
          </p:cNvPr>
          <p:cNvSpPr/>
          <p:nvPr/>
        </p:nvSpPr>
        <p:spPr>
          <a:xfrm>
            <a:off x="6717866" y="2268024"/>
            <a:ext cx="1302664" cy="2949809"/>
          </a:xfrm>
          <a:prstGeom prst="rect">
            <a:avLst/>
          </a:prstGeom>
          <a:noFill/>
          <a:ln w="6350" cap="flat" cmpd="sng" algn="ctr">
            <a:noFill/>
            <a:prstDash val="solid"/>
            <a:miter lim="800000"/>
          </a:ln>
          <a:effectLst/>
        </p:spPr>
        <p:txBody>
          <a:bodyPr lIns="0" tIns="0" rIns="0" bIns="0" rtlCol="0" anchor="t"/>
          <a:lstStyle/>
          <a:p>
            <a:pPr marL="0" marR="0" lvl="0" indent="0" defTabSz="914400" eaLnBrk="1" fontAlgn="auto" latinLnBrk="0" hangingPunct="1">
              <a:lnSpc>
                <a:spcPct val="100000"/>
              </a:lnSpc>
              <a:spcBef>
                <a:spcPts val="0"/>
              </a:spcBef>
              <a:spcAft>
                <a:spcPts val="0"/>
              </a:spcAft>
              <a:buClrTx/>
              <a:buSzTx/>
              <a:buFontTx/>
              <a:buNone/>
              <a:tabLst/>
              <a:defRPr/>
            </a:pPr>
            <a:r>
              <a:rPr lang="en-US" sz="1200"/>
              <a:t>Isolate </a:t>
            </a:r>
            <a:r>
              <a:rPr lang="en-US" sz="1200" b="1"/>
              <a:t>drivers of change </a:t>
            </a:r>
            <a:r>
              <a:rPr lang="en-US" sz="1200"/>
              <a:t>in reserves, cash due to assumption unlocks, product changes, or modeling enhancements.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Perform sensitivity </a:t>
            </a:r>
            <a:r>
              <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testing.</a:t>
            </a:r>
            <a:endParaRPr kumimoji="0" lang="en-US" sz="11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endParaRPr>
          </a:p>
        </p:txBody>
      </p:sp>
      <p:sp>
        <p:nvSpPr>
          <p:cNvPr id="124" name="Rectangle 123">
            <a:extLst>
              <a:ext uri="{FF2B5EF4-FFF2-40B4-BE49-F238E27FC236}">
                <a16:creationId xmlns:a16="http://schemas.microsoft.com/office/drawing/2014/main" id="{6612AA99-61F8-3A18-5CC2-0ABF299EF947}"/>
              </a:ext>
            </a:extLst>
          </p:cNvPr>
          <p:cNvSpPr/>
          <p:nvPr/>
        </p:nvSpPr>
        <p:spPr>
          <a:xfrm>
            <a:off x="8061139" y="2260073"/>
            <a:ext cx="1246676" cy="2774858"/>
          </a:xfrm>
          <a:prstGeom prst="rect">
            <a:avLst/>
          </a:prstGeom>
          <a:noFill/>
          <a:ln w="6350" cap="flat" cmpd="sng" algn="ctr">
            <a:noFill/>
            <a:prstDash val="solid"/>
            <a:miter lim="800000"/>
          </a:ln>
          <a:effectLst/>
        </p:spPr>
        <p:txBody>
          <a:bodyPr lIns="0" tIns="0" rIns="0" bIns="0"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Generate reports </a:t>
            </a:r>
            <a:r>
              <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rPr>
              <a:t>on required bases of monthly / quarterly/ annually.</a:t>
            </a:r>
          </a:p>
          <a:p>
            <a:pPr marL="0" marR="0" lvl="0" indent="0" defTabSz="914400" eaLnBrk="1" fontAlgn="auto" latinLnBrk="0" hangingPunct="1">
              <a:lnSpc>
                <a:spcPct val="100000"/>
              </a:lnSpc>
              <a:spcBef>
                <a:spcPts val="0"/>
              </a:spcBef>
              <a:spcAft>
                <a:spcPts val="0"/>
              </a:spcAft>
              <a:buClrTx/>
              <a:buSzTx/>
              <a:buFontTx/>
              <a:buNone/>
              <a:tabLst/>
              <a:defRPr/>
            </a:pPr>
            <a:r>
              <a:rPr lang="en-US" sz="1200" b="1"/>
              <a:t>Document</a:t>
            </a:r>
            <a:r>
              <a:rPr lang="en-US" sz="1200"/>
              <a:t> modeling decisions, limitations, and outcomes for audit review.</a:t>
            </a:r>
            <a:endParaRPr kumimoji="0" lang="en-US" sz="12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endParaRPr>
          </a:p>
        </p:txBody>
      </p:sp>
      <p:sp>
        <p:nvSpPr>
          <p:cNvPr id="125" name="Rectangle 124">
            <a:extLst>
              <a:ext uri="{FF2B5EF4-FFF2-40B4-BE49-F238E27FC236}">
                <a16:creationId xmlns:a16="http://schemas.microsoft.com/office/drawing/2014/main" id="{A4E47AAE-156C-ACAE-0D42-0C00B4FE95B8}"/>
              </a:ext>
            </a:extLst>
          </p:cNvPr>
          <p:cNvSpPr/>
          <p:nvPr/>
        </p:nvSpPr>
        <p:spPr>
          <a:xfrm>
            <a:off x="9365436" y="2261580"/>
            <a:ext cx="1323103" cy="1799427"/>
          </a:xfrm>
          <a:prstGeom prst="rect">
            <a:avLst/>
          </a:prstGeom>
          <a:noFill/>
          <a:ln w="6350" cap="flat" cmpd="sng" algn="ctr">
            <a:noFill/>
            <a:prstDash val="solid"/>
            <a:miter lim="800000"/>
          </a:ln>
          <a:effectLst/>
        </p:spPr>
        <p:txBody>
          <a:bodyPr lIns="0" tIns="0" rIns="0" bIns="0" rtlCol="0" anchor="t"/>
          <a:lstStyle/>
          <a:p>
            <a:pPr marL="0" marR="0" lvl="0" indent="0" defTabSz="914400" eaLnBrk="1" fontAlgn="auto" latinLnBrk="0" hangingPunct="1">
              <a:lnSpc>
                <a:spcPct val="100000"/>
              </a:lnSpc>
              <a:spcBef>
                <a:spcPts val="0"/>
              </a:spcBef>
              <a:spcAft>
                <a:spcPts val="0"/>
              </a:spcAft>
              <a:buClrTx/>
              <a:buSzTx/>
              <a:buFontTx/>
              <a:buNone/>
              <a:tabLst/>
              <a:defRPr/>
            </a:pPr>
            <a:r>
              <a:rPr lang="en-US" sz="1200"/>
              <a:t>Provide results in </a:t>
            </a:r>
            <a:r>
              <a:rPr lang="en-US" sz="1200" b="1"/>
              <a:t>client-preferred formats </a:t>
            </a:r>
            <a:r>
              <a:rPr lang="en-US" sz="1200"/>
              <a:t>(Excel, SQL, Dataiku, Tableau).</a:t>
            </a:r>
          </a:p>
          <a:p>
            <a:pPr marL="0" marR="0" lvl="0" indent="0" defTabSz="914400" eaLnBrk="1" fontAlgn="auto" latinLnBrk="0" hangingPunct="1">
              <a:lnSpc>
                <a:spcPct val="100000"/>
              </a:lnSpc>
              <a:spcBef>
                <a:spcPts val="0"/>
              </a:spcBef>
              <a:spcAft>
                <a:spcPts val="0"/>
              </a:spcAft>
              <a:buClrTx/>
              <a:buSzTx/>
              <a:buFontTx/>
              <a:buNone/>
              <a:tabLst/>
              <a:defRPr/>
            </a:pPr>
            <a:r>
              <a:rPr lang="en-US" sz="1200" b="1"/>
              <a:t>Deliver models</a:t>
            </a:r>
            <a:r>
              <a:rPr lang="en-US" sz="1200"/>
              <a:t> with appropriate documentation, run instructions, and audit trails.</a:t>
            </a:r>
          </a:p>
          <a:p>
            <a:pPr marL="0" marR="0" lvl="0" indent="0" defTabSz="914400" eaLnBrk="1" fontAlgn="auto" latinLnBrk="0" hangingPunct="1">
              <a:lnSpc>
                <a:spcPct val="100000"/>
              </a:lnSpc>
              <a:spcBef>
                <a:spcPts val="0"/>
              </a:spcBef>
              <a:spcAft>
                <a:spcPts val="0"/>
              </a:spcAft>
              <a:buClrTx/>
              <a:buSzTx/>
              <a:buFontTx/>
              <a:buNone/>
              <a:tabLst/>
              <a:defRPr/>
            </a:pPr>
            <a:endParaRPr lang="en-US" sz="1200"/>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endParaRPr>
          </a:p>
        </p:txBody>
      </p:sp>
      <p:sp>
        <p:nvSpPr>
          <p:cNvPr id="131" name="Right Arrow 19">
            <a:extLst>
              <a:ext uri="{FF2B5EF4-FFF2-40B4-BE49-F238E27FC236}">
                <a16:creationId xmlns:a16="http://schemas.microsoft.com/office/drawing/2014/main" id="{77A52A0D-0010-DAD0-9AF9-59B0A8613A10}"/>
              </a:ext>
            </a:extLst>
          </p:cNvPr>
          <p:cNvSpPr/>
          <p:nvPr/>
        </p:nvSpPr>
        <p:spPr>
          <a:xfrm>
            <a:off x="1660181" y="1517539"/>
            <a:ext cx="1427094" cy="739354"/>
          </a:xfrm>
          <a:prstGeom prst="rightArrow">
            <a:avLst>
              <a:gd name="adj1" fmla="val 67668"/>
              <a:gd name="adj2" fmla="val 50000"/>
            </a:avLst>
          </a:prstGeom>
          <a:solidFill>
            <a:schemeClr val="accent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ea typeface="+mn-ea"/>
                <a:cs typeface="Calibri" panose="020F0502020204030204" pitchFamily="34" charset="0"/>
              </a:rPr>
              <a:t>Data </a:t>
            </a:r>
            <a:br>
              <a:rPr kumimoji="0" lang="en-US" sz="1200" b="1" i="0" u="none" strike="noStrike" kern="0" cap="none" spc="0" normalizeH="0" baseline="0" noProof="0">
                <a:ln>
                  <a:noFill/>
                </a:ln>
                <a:solidFill>
                  <a:srgbClr val="FFFFFF"/>
                </a:solidFill>
                <a:effectLst/>
                <a:uLnTx/>
                <a:uFillTx/>
                <a:ea typeface="+mn-ea"/>
                <a:cs typeface="Calibri" panose="020F0502020204030204" pitchFamily="34" charset="0"/>
              </a:rPr>
            </a:br>
            <a:r>
              <a:rPr kumimoji="0" lang="en-US" sz="1200" b="1" i="0" u="none" strike="noStrike" kern="0" cap="none" spc="0" normalizeH="0" baseline="0" noProof="0">
                <a:ln>
                  <a:noFill/>
                </a:ln>
                <a:solidFill>
                  <a:srgbClr val="FFFFFF"/>
                </a:solidFill>
                <a:effectLst/>
                <a:uLnTx/>
                <a:uFillTx/>
                <a:ea typeface="+mn-ea"/>
                <a:cs typeface="Calibri" panose="020F0502020204030204" pitchFamily="34" charset="0"/>
              </a:rPr>
              <a:t>Preparation </a:t>
            </a:r>
          </a:p>
        </p:txBody>
      </p:sp>
      <p:sp>
        <p:nvSpPr>
          <p:cNvPr id="132" name="Right Arrow 16">
            <a:extLst>
              <a:ext uri="{FF2B5EF4-FFF2-40B4-BE49-F238E27FC236}">
                <a16:creationId xmlns:a16="http://schemas.microsoft.com/office/drawing/2014/main" id="{BEAFDFA1-1AF2-11C7-CA2C-DE74DE395FD6}"/>
              </a:ext>
            </a:extLst>
          </p:cNvPr>
          <p:cNvSpPr/>
          <p:nvPr/>
        </p:nvSpPr>
        <p:spPr>
          <a:xfrm>
            <a:off x="424542" y="1517539"/>
            <a:ext cx="1391188" cy="739354"/>
          </a:xfrm>
          <a:prstGeom prst="rightArrow">
            <a:avLst>
              <a:gd name="adj1" fmla="val 67668"/>
              <a:gd name="adj2" fmla="val 50000"/>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ea typeface="+mn-ea"/>
                <a:cs typeface="Calibri" panose="020F0502020204030204" pitchFamily="34" charset="0"/>
              </a:rPr>
              <a:t>Planning &amp; Assumption</a:t>
            </a:r>
          </a:p>
        </p:txBody>
      </p:sp>
      <p:grpSp>
        <p:nvGrpSpPr>
          <p:cNvPr id="133" name="Group 4">
            <a:extLst>
              <a:ext uri="{FF2B5EF4-FFF2-40B4-BE49-F238E27FC236}">
                <a16:creationId xmlns:a16="http://schemas.microsoft.com/office/drawing/2014/main" id="{77BD28A3-435F-C5F4-854F-6B33BF68A30E}"/>
              </a:ext>
            </a:extLst>
          </p:cNvPr>
          <p:cNvGrpSpPr>
            <a:grpSpLocks noChangeAspect="1"/>
          </p:cNvGrpSpPr>
          <p:nvPr/>
        </p:nvGrpSpPr>
        <p:grpSpPr bwMode="auto">
          <a:xfrm>
            <a:off x="806786" y="1111666"/>
            <a:ext cx="374256" cy="410624"/>
            <a:chOff x="303" y="2399"/>
            <a:chExt cx="591" cy="639"/>
          </a:xfrm>
          <a:solidFill>
            <a:schemeClr val="tx1"/>
          </a:solidFill>
        </p:grpSpPr>
        <p:sp>
          <p:nvSpPr>
            <p:cNvPr id="134" name="Freeform 5">
              <a:extLst>
                <a:ext uri="{FF2B5EF4-FFF2-40B4-BE49-F238E27FC236}">
                  <a16:creationId xmlns:a16="http://schemas.microsoft.com/office/drawing/2014/main" id="{A7AD25F9-A08A-6760-AB59-111515C4140E}"/>
                </a:ext>
              </a:extLst>
            </p:cNvPr>
            <p:cNvSpPr>
              <a:spLocks/>
            </p:cNvSpPr>
            <p:nvPr/>
          </p:nvSpPr>
          <p:spPr bwMode="auto">
            <a:xfrm>
              <a:off x="303" y="2399"/>
              <a:ext cx="591" cy="639"/>
            </a:xfrm>
            <a:custGeom>
              <a:avLst/>
              <a:gdLst>
                <a:gd name="T0" fmla="*/ 1639 w 1892"/>
                <a:gd name="T1" fmla="*/ 253 h 2048"/>
                <a:gd name="T2" fmla="*/ 1028 w 1892"/>
                <a:gd name="T3" fmla="*/ 0 h 2048"/>
                <a:gd name="T4" fmla="*/ 417 w 1892"/>
                <a:gd name="T5" fmla="*/ 253 h 2048"/>
                <a:gd name="T6" fmla="*/ 165 w 1892"/>
                <a:gd name="T7" fmla="*/ 857 h 2048"/>
                <a:gd name="T8" fmla="*/ 7 w 1892"/>
                <a:gd name="T9" fmla="*/ 1171 h 2048"/>
                <a:gd name="T10" fmla="*/ 19 w 1892"/>
                <a:gd name="T11" fmla="*/ 1210 h 2048"/>
                <a:gd name="T12" fmla="*/ 164 w 1892"/>
                <a:gd name="T13" fmla="*/ 1298 h 2048"/>
                <a:gd name="T14" fmla="*/ 164 w 1892"/>
                <a:gd name="T15" fmla="*/ 1761 h 2048"/>
                <a:gd name="T16" fmla="*/ 195 w 1892"/>
                <a:gd name="T17" fmla="*/ 1791 h 2048"/>
                <a:gd name="T18" fmla="*/ 485 w 1892"/>
                <a:gd name="T19" fmla="*/ 1791 h 2048"/>
                <a:gd name="T20" fmla="*/ 485 w 1892"/>
                <a:gd name="T21" fmla="*/ 2018 h 2048"/>
                <a:gd name="T22" fmla="*/ 515 w 1892"/>
                <a:gd name="T23" fmla="*/ 2048 h 2048"/>
                <a:gd name="T24" fmla="*/ 545 w 1892"/>
                <a:gd name="T25" fmla="*/ 2018 h 2048"/>
                <a:gd name="T26" fmla="*/ 545 w 1892"/>
                <a:gd name="T27" fmla="*/ 1761 h 2048"/>
                <a:gd name="T28" fmla="*/ 515 w 1892"/>
                <a:gd name="T29" fmla="*/ 1731 h 2048"/>
                <a:gd name="T30" fmla="*/ 225 w 1892"/>
                <a:gd name="T31" fmla="*/ 1731 h 2048"/>
                <a:gd name="T32" fmla="*/ 225 w 1892"/>
                <a:gd name="T33" fmla="*/ 1281 h 2048"/>
                <a:gd name="T34" fmla="*/ 210 w 1892"/>
                <a:gd name="T35" fmla="*/ 1255 h 2048"/>
                <a:gd name="T36" fmla="*/ 74 w 1892"/>
                <a:gd name="T37" fmla="*/ 1173 h 2048"/>
                <a:gd name="T38" fmla="*/ 221 w 1892"/>
                <a:gd name="T39" fmla="*/ 877 h 2048"/>
                <a:gd name="T40" fmla="*/ 225 w 1892"/>
                <a:gd name="T41" fmla="*/ 864 h 2048"/>
                <a:gd name="T42" fmla="*/ 1028 w 1892"/>
                <a:gd name="T43" fmla="*/ 60 h 2048"/>
                <a:gd name="T44" fmla="*/ 1832 w 1892"/>
                <a:gd name="T45" fmla="*/ 864 h 2048"/>
                <a:gd name="T46" fmla="*/ 1523 w 1892"/>
                <a:gd name="T47" fmla="*/ 1497 h 2048"/>
                <a:gd name="T48" fmla="*/ 1511 w 1892"/>
                <a:gd name="T49" fmla="*/ 1521 h 2048"/>
                <a:gd name="T50" fmla="*/ 1511 w 1892"/>
                <a:gd name="T51" fmla="*/ 2018 h 2048"/>
                <a:gd name="T52" fmla="*/ 1541 w 1892"/>
                <a:gd name="T53" fmla="*/ 2048 h 2048"/>
                <a:gd name="T54" fmla="*/ 1571 w 1892"/>
                <a:gd name="T55" fmla="*/ 2018 h 2048"/>
                <a:gd name="T56" fmla="*/ 1571 w 1892"/>
                <a:gd name="T57" fmla="*/ 1535 h 2048"/>
                <a:gd name="T58" fmla="*/ 1892 w 1892"/>
                <a:gd name="T59" fmla="*/ 864 h 2048"/>
                <a:gd name="T60" fmla="*/ 1639 w 1892"/>
                <a:gd name="T61" fmla="*/ 253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92" h="2048">
                  <a:moveTo>
                    <a:pt x="1639" y="253"/>
                  </a:moveTo>
                  <a:cubicBezTo>
                    <a:pt x="1476" y="90"/>
                    <a:pt x="1259" y="0"/>
                    <a:pt x="1028" y="0"/>
                  </a:cubicBezTo>
                  <a:cubicBezTo>
                    <a:pt x="797" y="0"/>
                    <a:pt x="581" y="90"/>
                    <a:pt x="417" y="253"/>
                  </a:cubicBezTo>
                  <a:cubicBezTo>
                    <a:pt x="256" y="414"/>
                    <a:pt x="166" y="629"/>
                    <a:pt x="165" y="857"/>
                  </a:cubicBezTo>
                  <a:cubicBezTo>
                    <a:pt x="7" y="1171"/>
                    <a:pt x="7" y="1171"/>
                    <a:pt x="7" y="1171"/>
                  </a:cubicBezTo>
                  <a:cubicBezTo>
                    <a:pt x="0" y="1185"/>
                    <a:pt x="5" y="1202"/>
                    <a:pt x="19" y="1210"/>
                  </a:cubicBezTo>
                  <a:cubicBezTo>
                    <a:pt x="164" y="1298"/>
                    <a:pt x="164" y="1298"/>
                    <a:pt x="164" y="1298"/>
                  </a:cubicBezTo>
                  <a:cubicBezTo>
                    <a:pt x="164" y="1761"/>
                    <a:pt x="164" y="1761"/>
                    <a:pt x="164" y="1761"/>
                  </a:cubicBezTo>
                  <a:cubicBezTo>
                    <a:pt x="164" y="1778"/>
                    <a:pt x="178" y="1791"/>
                    <a:pt x="195" y="1791"/>
                  </a:cubicBezTo>
                  <a:cubicBezTo>
                    <a:pt x="485" y="1791"/>
                    <a:pt x="485" y="1791"/>
                    <a:pt x="485" y="1791"/>
                  </a:cubicBezTo>
                  <a:cubicBezTo>
                    <a:pt x="485" y="2018"/>
                    <a:pt x="485" y="2018"/>
                    <a:pt x="485" y="2018"/>
                  </a:cubicBezTo>
                  <a:cubicBezTo>
                    <a:pt x="485" y="2035"/>
                    <a:pt x="499" y="2048"/>
                    <a:pt x="515" y="2048"/>
                  </a:cubicBezTo>
                  <a:cubicBezTo>
                    <a:pt x="532" y="2048"/>
                    <a:pt x="545" y="2035"/>
                    <a:pt x="545" y="2018"/>
                  </a:cubicBezTo>
                  <a:cubicBezTo>
                    <a:pt x="545" y="1761"/>
                    <a:pt x="545" y="1761"/>
                    <a:pt x="545" y="1761"/>
                  </a:cubicBezTo>
                  <a:cubicBezTo>
                    <a:pt x="545" y="1745"/>
                    <a:pt x="532" y="1731"/>
                    <a:pt x="515" y="1731"/>
                  </a:cubicBezTo>
                  <a:cubicBezTo>
                    <a:pt x="225" y="1731"/>
                    <a:pt x="225" y="1731"/>
                    <a:pt x="225" y="1731"/>
                  </a:cubicBezTo>
                  <a:cubicBezTo>
                    <a:pt x="225" y="1281"/>
                    <a:pt x="225" y="1281"/>
                    <a:pt x="225" y="1281"/>
                  </a:cubicBezTo>
                  <a:cubicBezTo>
                    <a:pt x="225" y="1270"/>
                    <a:pt x="219" y="1260"/>
                    <a:pt x="210" y="1255"/>
                  </a:cubicBezTo>
                  <a:cubicBezTo>
                    <a:pt x="74" y="1173"/>
                    <a:pt x="74" y="1173"/>
                    <a:pt x="74" y="1173"/>
                  </a:cubicBezTo>
                  <a:cubicBezTo>
                    <a:pt x="221" y="877"/>
                    <a:pt x="221" y="877"/>
                    <a:pt x="221" y="877"/>
                  </a:cubicBezTo>
                  <a:cubicBezTo>
                    <a:pt x="224" y="873"/>
                    <a:pt x="225" y="868"/>
                    <a:pt x="225" y="864"/>
                  </a:cubicBezTo>
                  <a:cubicBezTo>
                    <a:pt x="225" y="421"/>
                    <a:pt x="585" y="60"/>
                    <a:pt x="1028" y="60"/>
                  </a:cubicBezTo>
                  <a:cubicBezTo>
                    <a:pt x="1471" y="60"/>
                    <a:pt x="1832" y="421"/>
                    <a:pt x="1832" y="864"/>
                  </a:cubicBezTo>
                  <a:cubicBezTo>
                    <a:pt x="1832" y="1113"/>
                    <a:pt x="1719" y="1344"/>
                    <a:pt x="1523" y="1497"/>
                  </a:cubicBezTo>
                  <a:cubicBezTo>
                    <a:pt x="1515" y="1503"/>
                    <a:pt x="1511" y="1512"/>
                    <a:pt x="1511" y="1521"/>
                  </a:cubicBezTo>
                  <a:cubicBezTo>
                    <a:pt x="1511" y="2018"/>
                    <a:pt x="1511" y="2018"/>
                    <a:pt x="1511" y="2018"/>
                  </a:cubicBezTo>
                  <a:cubicBezTo>
                    <a:pt x="1511" y="2035"/>
                    <a:pt x="1525" y="2048"/>
                    <a:pt x="1541" y="2048"/>
                  </a:cubicBezTo>
                  <a:cubicBezTo>
                    <a:pt x="1558" y="2048"/>
                    <a:pt x="1571" y="2035"/>
                    <a:pt x="1571" y="2018"/>
                  </a:cubicBezTo>
                  <a:cubicBezTo>
                    <a:pt x="1571" y="1535"/>
                    <a:pt x="1571" y="1535"/>
                    <a:pt x="1571" y="1535"/>
                  </a:cubicBezTo>
                  <a:cubicBezTo>
                    <a:pt x="1775" y="1370"/>
                    <a:pt x="1892" y="1126"/>
                    <a:pt x="1892" y="864"/>
                  </a:cubicBezTo>
                  <a:cubicBezTo>
                    <a:pt x="1892" y="633"/>
                    <a:pt x="1802" y="416"/>
                    <a:pt x="1639" y="2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135" name="Freeform 6">
              <a:extLst>
                <a:ext uri="{FF2B5EF4-FFF2-40B4-BE49-F238E27FC236}">
                  <a16:creationId xmlns:a16="http://schemas.microsoft.com/office/drawing/2014/main" id="{ED0B3ADB-E616-B299-A318-3A08E5F1D774}"/>
                </a:ext>
              </a:extLst>
            </p:cNvPr>
            <p:cNvSpPr>
              <a:spLocks noEditPoints="1"/>
            </p:cNvSpPr>
            <p:nvPr/>
          </p:nvSpPr>
          <p:spPr bwMode="auto">
            <a:xfrm>
              <a:off x="495" y="2509"/>
              <a:ext cx="259" cy="399"/>
            </a:xfrm>
            <a:custGeom>
              <a:avLst/>
              <a:gdLst>
                <a:gd name="T0" fmla="*/ 752 w 830"/>
                <a:gd name="T1" fmla="*/ 656 h 1278"/>
                <a:gd name="T2" fmla="*/ 745 w 830"/>
                <a:gd name="T3" fmla="*/ 615 h 1278"/>
                <a:gd name="T4" fmla="*/ 703 w 830"/>
                <a:gd name="T5" fmla="*/ 621 h 1278"/>
                <a:gd name="T6" fmla="*/ 533 w 830"/>
                <a:gd name="T7" fmla="*/ 749 h 1278"/>
                <a:gd name="T8" fmla="*/ 513 w 830"/>
                <a:gd name="T9" fmla="*/ 777 h 1278"/>
                <a:gd name="T10" fmla="*/ 513 w 830"/>
                <a:gd name="T11" fmla="*/ 865 h 1278"/>
                <a:gd name="T12" fmla="*/ 317 w 830"/>
                <a:gd name="T13" fmla="*/ 865 h 1278"/>
                <a:gd name="T14" fmla="*/ 317 w 830"/>
                <a:gd name="T15" fmla="*/ 777 h 1278"/>
                <a:gd name="T16" fmla="*/ 297 w 830"/>
                <a:gd name="T17" fmla="*/ 749 h 1278"/>
                <a:gd name="T18" fmla="*/ 60 w 830"/>
                <a:gd name="T19" fmla="*/ 415 h 1278"/>
                <a:gd name="T20" fmla="*/ 415 w 830"/>
                <a:gd name="T21" fmla="*/ 60 h 1278"/>
                <a:gd name="T22" fmla="*/ 770 w 830"/>
                <a:gd name="T23" fmla="*/ 415 h 1278"/>
                <a:gd name="T24" fmla="*/ 759 w 830"/>
                <a:gd name="T25" fmla="*/ 503 h 1278"/>
                <a:gd name="T26" fmla="*/ 780 w 830"/>
                <a:gd name="T27" fmla="*/ 540 h 1278"/>
                <a:gd name="T28" fmla="*/ 817 w 830"/>
                <a:gd name="T29" fmla="*/ 518 h 1278"/>
                <a:gd name="T30" fmla="*/ 830 w 830"/>
                <a:gd name="T31" fmla="*/ 415 h 1278"/>
                <a:gd name="T32" fmla="*/ 415 w 830"/>
                <a:gd name="T33" fmla="*/ 0 h 1278"/>
                <a:gd name="T34" fmla="*/ 0 w 830"/>
                <a:gd name="T35" fmla="*/ 415 h 1278"/>
                <a:gd name="T36" fmla="*/ 257 w 830"/>
                <a:gd name="T37" fmla="*/ 798 h 1278"/>
                <a:gd name="T38" fmla="*/ 257 w 830"/>
                <a:gd name="T39" fmla="*/ 865 h 1278"/>
                <a:gd name="T40" fmla="*/ 223 w 830"/>
                <a:gd name="T41" fmla="*/ 865 h 1278"/>
                <a:gd name="T42" fmla="*/ 193 w 830"/>
                <a:gd name="T43" fmla="*/ 895 h 1278"/>
                <a:gd name="T44" fmla="*/ 193 w 830"/>
                <a:gd name="T45" fmla="*/ 1120 h 1278"/>
                <a:gd name="T46" fmla="*/ 351 w 830"/>
                <a:gd name="T47" fmla="*/ 1278 h 1278"/>
                <a:gd name="T48" fmla="*/ 479 w 830"/>
                <a:gd name="T49" fmla="*/ 1278 h 1278"/>
                <a:gd name="T50" fmla="*/ 638 w 830"/>
                <a:gd name="T51" fmla="*/ 1120 h 1278"/>
                <a:gd name="T52" fmla="*/ 638 w 830"/>
                <a:gd name="T53" fmla="*/ 895 h 1278"/>
                <a:gd name="T54" fmla="*/ 608 w 830"/>
                <a:gd name="T55" fmla="*/ 865 h 1278"/>
                <a:gd name="T56" fmla="*/ 573 w 830"/>
                <a:gd name="T57" fmla="*/ 865 h 1278"/>
                <a:gd name="T58" fmla="*/ 573 w 830"/>
                <a:gd name="T59" fmla="*/ 798 h 1278"/>
                <a:gd name="T60" fmla="*/ 752 w 830"/>
                <a:gd name="T61" fmla="*/ 656 h 1278"/>
                <a:gd name="T62" fmla="*/ 577 w 830"/>
                <a:gd name="T63" fmla="*/ 1058 h 1278"/>
                <a:gd name="T64" fmla="*/ 255 w 830"/>
                <a:gd name="T65" fmla="*/ 1058 h 1278"/>
                <a:gd name="T66" fmla="*/ 253 w 830"/>
                <a:gd name="T67" fmla="*/ 1058 h 1278"/>
                <a:gd name="T68" fmla="*/ 253 w 830"/>
                <a:gd name="T69" fmla="*/ 1022 h 1278"/>
                <a:gd name="T70" fmla="*/ 577 w 830"/>
                <a:gd name="T71" fmla="*/ 1022 h 1278"/>
                <a:gd name="T72" fmla="*/ 577 w 830"/>
                <a:gd name="T73" fmla="*/ 1058 h 1278"/>
                <a:gd name="T74" fmla="*/ 479 w 830"/>
                <a:gd name="T75" fmla="*/ 1218 h 1278"/>
                <a:gd name="T76" fmla="*/ 351 w 830"/>
                <a:gd name="T77" fmla="*/ 1218 h 1278"/>
                <a:gd name="T78" fmla="*/ 253 w 830"/>
                <a:gd name="T79" fmla="*/ 1120 h 1278"/>
                <a:gd name="T80" fmla="*/ 253 w 830"/>
                <a:gd name="T81" fmla="*/ 1118 h 1278"/>
                <a:gd name="T82" fmla="*/ 255 w 830"/>
                <a:gd name="T83" fmla="*/ 1118 h 1278"/>
                <a:gd name="T84" fmla="*/ 577 w 830"/>
                <a:gd name="T85" fmla="*/ 1118 h 1278"/>
                <a:gd name="T86" fmla="*/ 577 w 830"/>
                <a:gd name="T87" fmla="*/ 1120 h 1278"/>
                <a:gd name="T88" fmla="*/ 479 w 830"/>
                <a:gd name="T89" fmla="*/ 1218 h 1278"/>
                <a:gd name="T90" fmla="*/ 577 w 830"/>
                <a:gd name="T91" fmla="*/ 962 h 1278"/>
                <a:gd name="T92" fmla="*/ 253 w 830"/>
                <a:gd name="T93" fmla="*/ 962 h 1278"/>
                <a:gd name="T94" fmla="*/ 253 w 830"/>
                <a:gd name="T95" fmla="*/ 925 h 1278"/>
                <a:gd name="T96" fmla="*/ 287 w 830"/>
                <a:gd name="T97" fmla="*/ 925 h 1278"/>
                <a:gd name="T98" fmla="*/ 543 w 830"/>
                <a:gd name="T99" fmla="*/ 925 h 1278"/>
                <a:gd name="T100" fmla="*/ 577 w 830"/>
                <a:gd name="T101" fmla="*/ 925 h 1278"/>
                <a:gd name="T102" fmla="*/ 577 w 830"/>
                <a:gd name="T103" fmla="*/ 962 h 1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30" h="1278">
                  <a:moveTo>
                    <a:pt x="752" y="656"/>
                  </a:moveTo>
                  <a:cubicBezTo>
                    <a:pt x="762" y="643"/>
                    <a:pt x="759" y="624"/>
                    <a:pt x="745" y="615"/>
                  </a:cubicBezTo>
                  <a:cubicBezTo>
                    <a:pt x="732" y="605"/>
                    <a:pt x="713" y="608"/>
                    <a:pt x="703" y="621"/>
                  </a:cubicBezTo>
                  <a:cubicBezTo>
                    <a:pt x="661" y="681"/>
                    <a:pt x="602" y="725"/>
                    <a:pt x="533" y="749"/>
                  </a:cubicBezTo>
                  <a:cubicBezTo>
                    <a:pt x="521" y="753"/>
                    <a:pt x="513" y="765"/>
                    <a:pt x="513" y="777"/>
                  </a:cubicBezTo>
                  <a:cubicBezTo>
                    <a:pt x="513" y="865"/>
                    <a:pt x="513" y="865"/>
                    <a:pt x="513" y="865"/>
                  </a:cubicBezTo>
                  <a:cubicBezTo>
                    <a:pt x="317" y="865"/>
                    <a:pt x="317" y="865"/>
                    <a:pt x="317" y="865"/>
                  </a:cubicBezTo>
                  <a:cubicBezTo>
                    <a:pt x="317" y="777"/>
                    <a:pt x="317" y="777"/>
                    <a:pt x="317" y="777"/>
                  </a:cubicBezTo>
                  <a:cubicBezTo>
                    <a:pt x="317" y="765"/>
                    <a:pt x="309" y="753"/>
                    <a:pt x="297" y="749"/>
                  </a:cubicBezTo>
                  <a:cubicBezTo>
                    <a:pt x="155" y="699"/>
                    <a:pt x="60" y="565"/>
                    <a:pt x="60" y="415"/>
                  </a:cubicBezTo>
                  <a:cubicBezTo>
                    <a:pt x="60" y="219"/>
                    <a:pt x="220" y="60"/>
                    <a:pt x="415" y="60"/>
                  </a:cubicBezTo>
                  <a:cubicBezTo>
                    <a:pt x="611" y="60"/>
                    <a:pt x="770" y="219"/>
                    <a:pt x="770" y="415"/>
                  </a:cubicBezTo>
                  <a:cubicBezTo>
                    <a:pt x="770" y="445"/>
                    <a:pt x="766" y="474"/>
                    <a:pt x="759" y="503"/>
                  </a:cubicBezTo>
                  <a:cubicBezTo>
                    <a:pt x="755" y="519"/>
                    <a:pt x="764" y="536"/>
                    <a:pt x="780" y="540"/>
                  </a:cubicBezTo>
                  <a:cubicBezTo>
                    <a:pt x="796" y="544"/>
                    <a:pt x="813" y="534"/>
                    <a:pt x="817" y="518"/>
                  </a:cubicBezTo>
                  <a:cubicBezTo>
                    <a:pt x="826" y="484"/>
                    <a:pt x="830" y="450"/>
                    <a:pt x="830" y="415"/>
                  </a:cubicBezTo>
                  <a:cubicBezTo>
                    <a:pt x="830" y="186"/>
                    <a:pt x="644" y="0"/>
                    <a:pt x="415" y="0"/>
                  </a:cubicBezTo>
                  <a:cubicBezTo>
                    <a:pt x="186" y="0"/>
                    <a:pt x="0" y="186"/>
                    <a:pt x="0" y="415"/>
                  </a:cubicBezTo>
                  <a:cubicBezTo>
                    <a:pt x="0" y="583"/>
                    <a:pt x="103" y="734"/>
                    <a:pt x="257" y="798"/>
                  </a:cubicBezTo>
                  <a:cubicBezTo>
                    <a:pt x="257" y="865"/>
                    <a:pt x="257" y="865"/>
                    <a:pt x="257" y="865"/>
                  </a:cubicBezTo>
                  <a:cubicBezTo>
                    <a:pt x="223" y="865"/>
                    <a:pt x="223" y="865"/>
                    <a:pt x="223" y="865"/>
                  </a:cubicBezTo>
                  <a:cubicBezTo>
                    <a:pt x="206" y="865"/>
                    <a:pt x="193" y="879"/>
                    <a:pt x="193" y="895"/>
                  </a:cubicBezTo>
                  <a:cubicBezTo>
                    <a:pt x="193" y="1120"/>
                    <a:pt x="193" y="1120"/>
                    <a:pt x="193" y="1120"/>
                  </a:cubicBezTo>
                  <a:cubicBezTo>
                    <a:pt x="193" y="1207"/>
                    <a:pt x="264" y="1278"/>
                    <a:pt x="351" y="1278"/>
                  </a:cubicBezTo>
                  <a:cubicBezTo>
                    <a:pt x="479" y="1278"/>
                    <a:pt x="479" y="1278"/>
                    <a:pt x="479" y="1278"/>
                  </a:cubicBezTo>
                  <a:cubicBezTo>
                    <a:pt x="567" y="1278"/>
                    <a:pt x="638" y="1207"/>
                    <a:pt x="638" y="1120"/>
                  </a:cubicBezTo>
                  <a:cubicBezTo>
                    <a:pt x="638" y="895"/>
                    <a:pt x="638" y="895"/>
                    <a:pt x="638" y="895"/>
                  </a:cubicBezTo>
                  <a:cubicBezTo>
                    <a:pt x="638" y="879"/>
                    <a:pt x="624" y="865"/>
                    <a:pt x="608" y="865"/>
                  </a:cubicBezTo>
                  <a:cubicBezTo>
                    <a:pt x="573" y="865"/>
                    <a:pt x="573" y="865"/>
                    <a:pt x="573" y="865"/>
                  </a:cubicBezTo>
                  <a:cubicBezTo>
                    <a:pt x="573" y="798"/>
                    <a:pt x="573" y="798"/>
                    <a:pt x="573" y="798"/>
                  </a:cubicBezTo>
                  <a:cubicBezTo>
                    <a:pt x="645" y="769"/>
                    <a:pt x="706" y="720"/>
                    <a:pt x="752" y="656"/>
                  </a:cubicBezTo>
                  <a:close/>
                  <a:moveTo>
                    <a:pt x="577" y="1058"/>
                  </a:moveTo>
                  <a:cubicBezTo>
                    <a:pt x="255" y="1058"/>
                    <a:pt x="255" y="1058"/>
                    <a:pt x="255" y="1058"/>
                  </a:cubicBezTo>
                  <a:cubicBezTo>
                    <a:pt x="254" y="1058"/>
                    <a:pt x="254" y="1058"/>
                    <a:pt x="253" y="1058"/>
                  </a:cubicBezTo>
                  <a:cubicBezTo>
                    <a:pt x="253" y="1022"/>
                    <a:pt x="253" y="1022"/>
                    <a:pt x="253" y="1022"/>
                  </a:cubicBezTo>
                  <a:cubicBezTo>
                    <a:pt x="577" y="1022"/>
                    <a:pt x="577" y="1022"/>
                    <a:pt x="577" y="1022"/>
                  </a:cubicBezTo>
                  <a:lnTo>
                    <a:pt x="577" y="1058"/>
                  </a:lnTo>
                  <a:close/>
                  <a:moveTo>
                    <a:pt x="479" y="1218"/>
                  </a:moveTo>
                  <a:cubicBezTo>
                    <a:pt x="351" y="1218"/>
                    <a:pt x="351" y="1218"/>
                    <a:pt x="351" y="1218"/>
                  </a:cubicBezTo>
                  <a:cubicBezTo>
                    <a:pt x="297" y="1218"/>
                    <a:pt x="253" y="1174"/>
                    <a:pt x="253" y="1120"/>
                  </a:cubicBezTo>
                  <a:cubicBezTo>
                    <a:pt x="253" y="1118"/>
                    <a:pt x="253" y="1118"/>
                    <a:pt x="253" y="1118"/>
                  </a:cubicBezTo>
                  <a:cubicBezTo>
                    <a:pt x="254" y="1118"/>
                    <a:pt x="254" y="1118"/>
                    <a:pt x="255" y="1118"/>
                  </a:cubicBezTo>
                  <a:cubicBezTo>
                    <a:pt x="577" y="1118"/>
                    <a:pt x="577" y="1118"/>
                    <a:pt x="577" y="1118"/>
                  </a:cubicBezTo>
                  <a:cubicBezTo>
                    <a:pt x="577" y="1120"/>
                    <a:pt x="577" y="1120"/>
                    <a:pt x="577" y="1120"/>
                  </a:cubicBezTo>
                  <a:cubicBezTo>
                    <a:pt x="577" y="1174"/>
                    <a:pt x="533" y="1218"/>
                    <a:pt x="479" y="1218"/>
                  </a:cubicBezTo>
                  <a:close/>
                  <a:moveTo>
                    <a:pt x="577" y="962"/>
                  </a:moveTo>
                  <a:cubicBezTo>
                    <a:pt x="253" y="962"/>
                    <a:pt x="253" y="962"/>
                    <a:pt x="253" y="962"/>
                  </a:cubicBezTo>
                  <a:cubicBezTo>
                    <a:pt x="253" y="925"/>
                    <a:pt x="253" y="925"/>
                    <a:pt x="253" y="925"/>
                  </a:cubicBezTo>
                  <a:cubicBezTo>
                    <a:pt x="287" y="925"/>
                    <a:pt x="287" y="925"/>
                    <a:pt x="287" y="925"/>
                  </a:cubicBezTo>
                  <a:cubicBezTo>
                    <a:pt x="543" y="925"/>
                    <a:pt x="543" y="925"/>
                    <a:pt x="543" y="925"/>
                  </a:cubicBezTo>
                  <a:cubicBezTo>
                    <a:pt x="577" y="925"/>
                    <a:pt x="577" y="925"/>
                    <a:pt x="577" y="925"/>
                  </a:cubicBezTo>
                  <a:lnTo>
                    <a:pt x="577" y="9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136" name="Freeform 7">
              <a:extLst>
                <a:ext uri="{FF2B5EF4-FFF2-40B4-BE49-F238E27FC236}">
                  <a16:creationId xmlns:a16="http://schemas.microsoft.com/office/drawing/2014/main" id="{ADB88C31-8E63-6B63-454D-7C191D96681C}"/>
                </a:ext>
              </a:extLst>
            </p:cNvPr>
            <p:cNvSpPr>
              <a:spLocks noEditPoints="1"/>
            </p:cNvSpPr>
            <p:nvPr/>
          </p:nvSpPr>
          <p:spPr bwMode="auto">
            <a:xfrm>
              <a:off x="552" y="2556"/>
              <a:ext cx="145" cy="163"/>
            </a:xfrm>
            <a:custGeom>
              <a:avLst/>
              <a:gdLst>
                <a:gd name="T0" fmla="*/ 190 w 464"/>
                <a:gd name="T1" fmla="*/ 517 h 521"/>
                <a:gd name="T2" fmla="*/ 223 w 464"/>
                <a:gd name="T3" fmla="*/ 509 h 521"/>
                <a:gd name="T4" fmla="*/ 447 w 464"/>
                <a:gd name="T5" fmla="*/ 252 h 521"/>
                <a:gd name="T6" fmla="*/ 425 w 464"/>
                <a:gd name="T7" fmla="*/ 202 h 521"/>
                <a:gd name="T8" fmla="*/ 294 w 464"/>
                <a:gd name="T9" fmla="*/ 202 h 521"/>
                <a:gd name="T10" fmla="*/ 294 w 464"/>
                <a:gd name="T11" fmla="*/ 40 h 521"/>
                <a:gd name="T12" fmla="*/ 242 w 464"/>
                <a:gd name="T13" fmla="*/ 20 h 521"/>
                <a:gd name="T14" fmla="*/ 17 w 464"/>
                <a:gd name="T15" fmla="*/ 277 h 521"/>
                <a:gd name="T16" fmla="*/ 40 w 464"/>
                <a:gd name="T17" fmla="*/ 327 h 521"/>
                <a:gd name="T18" fmla="*/ 170 w 464"/>
                <a:gd name="T19" fmla="*/ 327 h 521"/>
                <a:gd name="T20" fmla="*/ 170 w 464"/>
                <a:gd name="T21" fmla="*/ 489 h 521"/>
                <a:gd name="T22" fmla="*/ 190 w 464"/>
                <a:gd name="T23" fmla="*/ 517 h 521"/>
                <a:gd name="T24" fmla="*/ 106 w 464"/>
                <a:gd name="T25" fmla="*/ 267 h 521"/>
                <a:gd name="T26" fmla="*/ 234 w 464"/>
                <a:gd name="T27" fmla="*/ 120 h 521"/>
                <a:gd name="T28" fmla="*/ 234 w 464"/>
                <a:gd name="T29" fmla="*/ 232 h 521"/>
                <a:gd name="T30" fmla="*/ 264 w 464"/>
                <a:gd name="T31" fmla="*/ 262 h 521"/>
                <a:gd name="T32" fmla="*/ 358 w 464"/>
                <a:gd name="T33" fmla="*/ 262 h 521"/>
                <a:gd name="T34" fmla="*/ 230 w 464"/>
                <a:gd name="T35" fmla="*/ 409 h 521"/>
                <a:gd name="T36" fmla="*/ 230 w 464"/>
                <a:gd name="T37" fmla="*/ 297 h 521"/>
                <a:gd name="T38" fmla="*/ 200 w 464"/>
                <a:gd name="T39" fmla="*/ 267 h 521"/>
                <a:gd name="T40" fmla="*/ 106 w 464"/>
                <a:gd name="T41" fmla="*/ 267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64" h="521">
                  <a:moveTo>
                    <a:pt x="190" y="517"/>
                  </a:moveTo>
                  <a:cubicBezTo>
                    <a:pt x="201" y="521"/>
                    <a:pt x="215" y="518"/>
                    <a:pt x="223" y="509"/>
                  </a:cubicBezTo>
                  <a:cubicBezTo>
                    <a:pt x="447" y="252"/>
                    <a:pt x="447" y="252"/>
                    <a:pt x="447" y="252"/>
                  </a:cubicBezTo>
                  <a:cubicBezTo>
                    <a:pt x="464" y="233"/>
                    <a:pt x="450" y="202"/>
                    <a:pt x="425" y="202"/>
                  </a:cubicBezTo>
                  <a:cubicBezTo>
                    <a:pt x="294" y="202"/>
                    <a:pt x="294" y="202"/>
                    <a:pt x="294" y="202"/>
                  </a:cubicBezTo>
                  <a:cubicBezTo>
                    <a:pt x="294" y="40"/>
                    <a:pt x="294" y="40"/>
                    <a:pt x="294" y="40"/>
                  </a:cubicBezTo>
                  <a:cubicBezTo>
                    <a:pt x="294" y="13"/>
                    <a:pt x="260" y="0"/>
                    <a:pt x="242" y="20"/>
                  </a:cubicBezTo>
                  <a:cubicBezTo>
                    <a:pt x="17" y="277"/>
                    <a:pt x="17" y="277"/>
                    <a:pt x="17" y="277"/>
                  </a:cubicBezTo>
                  <a:cubicBezTo>
                    <a:pt x="0" y="296"/>
                    <a:pt x="15" y="327"/>
                    <a:pt x="40" y="327"/>
                  </a:cubicBezTo>
                  <a:cubicBezTo>
                    <a:pt x="170" y="327"/>
                    <a:pt x="170" y="327"/>
                    <a:pt x="170" y="327"/>
                  </a:cubicBezTo>
                  <a:cubicBezTo>
                    <a:pt x="170" y="489"/>
                    <a:pt x="170" y="489"/>
                    <a:pt x="170" y="489"/>
                  </a:cubicBezTo>
                  <a:cubicBezTo>
                    <a:pt x="170" y="501"/>
                    <a:pt x="178" y="513"/>
                    <a:pt x="190" y="517"/>
                  </a:cubicBezTo>
                  <a:close/>
                  <a:moveTo>
                    <a:pt x="106" y="267"/>
                  </a:moveTo>
                  <a:cubicBezTo>
                    <a:pt x="234" y="120"/>
                    <a:pt x="234" y="120"/>
                    <a:pt x="234" y="120"/>
                  </a:cubicBezTo>
                  <a:cubicBezTo>
                    <a:pt x="234" y="232"/>
                    <a:pt x="234" y="232"/>
                    <a:pt x="234" y="232"/>
                  </a:cubicBezTo>
                  <a:cubicBezTo>
                    <a:pt x="234" y="249"/>
                    <a:pt x="248" y="262"/>
                    <a:pt x="264" y="262"/>
                  </a:cubicBezTo>
                  <a:cubicBezTo>
                    <a:pt x="358" y="262"/>
                    <a:pt x="358" y="262"/>
                    <a:pt x="358" y="262"/>
                  </a:cubicBezTo>
                  <a:cubicBezTo>
                    <a:pt x="230" y="409"/>
                    <a:pt x="230" y="409"/>
                    <a:pt x="230" y="409"/>
                  </a:cubicBezTo>
                  <a:cubicBezTo>
                    <a:pt x="230" y="297"/>
                    <a:pt x="230" y="297"/>
                    <a:pt x="230" y="297"/>
                  </a:cubicBezTo>
                  <a:cubicBezTo>
                    <a:pt x="230" y="280"/>
                    <a:pt x="217" y="267"/>
                    <a:pt x="200" y="267"/>
                  </a:cubicBezTo>
                  <a:lnTo>
                    <a:pt x="106" y="2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137" name="Freeform 8">
              <a:extLst>
                <a:ext uri="{FF2B5EF4-FFF2-40B4-BE49-F238E27FC236}">
                  <a16:creationId xmlns:a16="http://schemas.microsoft.com/office/drawing/2014/main" id="{6DFE1A58-9CC6-B41A-966D-6AB5CE5843F3}"/>
                </a:ext>
              </a:extLst>
            </p:cNvPr>
            <p:cNvSpPr>
              <a:spLocks/>
            </p:cNvSpPr>
            <p:nvPr/>
          </p:nvSpPr>
          <p:spPr bwMode="auto">
            <a:xfrm>
              <a:off x="615" y="2459"/>
              <a:ext cx="19" cy="39"/>
            </a:xfrm>
            <a:custGeom>
              <a:avLst/>
              <a:gdLst>
                <a:gd name="T0" fmla="*/ 60 w 60"/>
                <a:gd name="T1" fmla="*/ 95 h 125"/>
                <a:gd name="T2" fmla="*/ 60 w 60"/>
                <a:gd name="T3" fmla="*/ 30 h 125"/>
                <a:gd name="T4" fmla="*/ 30 w 60"/>
                <a:gd name="T5" fmla="*/ 0 h 125"/>
                <a:gd name="T6" fmla="*/ 0 w 60"/>
                <a:gd name="T7" fmla="*/ 30 h 125"/>
                <a:gd name="T8" fmla="*/ 0 w 60"/>
                <a:gd name="T9" fmla="*/ 95 h 125"/>
                <a:gd name="T10" fmla="*/ 30 w 60"/>
                <a:gd name="T11" fmla="*/ 125 h 125"/>
                <a:gd name="T12" fmla="*/ 60 w 60"/>
                <a:gd name="T13" fmla="*/ 95 h 125"/>
              </a:gdLst>
              <a:ahLst/>
              <a:cxnLst>
                <a:cxn ang="0">
                  <a:pos x="T0" y="T1"/>
                </a:cxn>
                <a:cxn ang="0">
                  <a:pos x="T2" y="T3"/>
                </a:cxn>
                <a:cxn ang="0">
                  <a:pos x="T4" y="T5"/>
                </a:cxn>
                <a:cxn ang="0">
                  <a:pos x="T6" y="T7"/>
                </a:cxn>
                <a:cxn ang="0">
                  <a:pos x="T8" y="T9"/>
                </a:cxn>
                <a:cxn ang="0">
                  <a:pos x="T10" y="T11"/>
                </a:cxn>
                <a:cxn ang="0">
                  <a:pos x="T12" y="T13"/>
                </a:cxn>
              </a:cxnLst>
              <a:rect l="0" t="0" r="r" b="b"/>
              <a:pathLst>
                <a:path w="60" h="125">
                  <a:moveTo>
                    <a:pt x="60" y="95"/>
                  </a:moveTo>
                  <a:cubicBezTo>
                    <a:pt x="60" y="30"/>
                    <a:pt x="60" y="30"/>
                    <a:pt x="60" y="30"/>
                  </a:cubicBezTo>
                  <a:cubicBezTo>
                    <a:pt x="60" y="14"/>
                    <a:pt x="47" y="0"/>
                    <a:pt x="30" y="0"/>
                  </a:cubicBezTo>
                  <a:cubicBezTo>
                    <a:pt x="14" y="0"/>
                    <a:pt x="0" y="14"/>
                    <a:pt x="0" y="30"/>
                  </a:cubicBezTo>
                  <a:cubicBezTo>
                    <a:pt x="0" y="95"/>
                    <a:pt x="0" y="95"/>
                    <a:pt x="0" y="95"/>
                  </a:cubicBezTo>
                  <a:cubicBezTo>
                    <a:pt x="0" y="111"/>
                    <a:pt x="14" y="125"/>
                    <a:pt x="30" y="125"/>
                  </a:cubicBezTo>
                  <a:cubicBezTo>
                    <a:pt x="47" y="125"/>
                    <a:pt x="60" y="111"/>
                    <a:pt x="60" y="9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138" name="Freeform 9">
              <a:extLst>
                <a:ext uri="{FF2B5EF4-FFF2-40B4-BE49-F238E27FC236}">
                  <a16:creationId xmlns:a16="http://schemas.microsoft.com/office/drawing/2014/main" id="{6C81CCE3-D424-48E8-A82E-90031E9CAB42}"/>
                </a:ext>
              </a:extLst>
            </p:cNvPr>
            <p:cNvSpPr>
              <a:spLocks/>
            </p:cNvSpPr>
            <p:nvPr/>
          </p:nvSpPr>
          <p:spPr bwMode="auto">
            <a:xfrm>
              <a:off x="494" y="2508"/>
              <a:ext cx="34" cy="35"/>
            </a:xfrm>
            <a:custGeom>
              <a:avLst/>
              <a:gdLst>
                <a:gd name="T0" fmla="*/ 57 w 111"/>
                <a:gd name="T1" fmla="*/ 100 h 112"/>
                <a:gd name="T2" fmla="*/ 101 w 111"/>
                <a:gd name="T3" fmla="*/ 98 h 112"/>
                <a:gd name="T4" fmla="*/ 99 w 111"/>
                <a:gd name="T5" fmla="*/ 57 h 112"/>
                <a:gd name="T6" fmla="*/ 54 w 111"/>
                <a:gd name="T7" fmla="*/ 12 h 112"/>
                <a:gd name="T8" fmla="*/ 11 w 111"/>
                <a:gd name="T9" fmla="*/ 12 h 112"/>
                <a:gd name="T10" fmla="*/ 11 w 111"/>
                <a:gd name="T11" fmla="*/ 54 h 112"/>
                <a:gd name="T12" fmla="*/ 57 w 111"/>
                <a:gd name="T13" fmla="*/ 100 h 112"/>
              </a:gdLst>
              <a:ahLst/>
              <a:cxnLst>
                <a:cxn ang="0">
                  <a:pos x="T0" y="T1"/>
                </a:cxn>
                <a:cxn ang="0">
                  <a:pos x="T2" y="T3"/>
                </a:cxn>
                <a:cxn ang="0">
                  <a:pos x="T4" y="T5"/>
                </a:cxn>
                <a:cxn ang="0">
                  <a:pos x="T6" y="T7"/>
                </a:cxn>
                <a:cxn ang="0">
                  <a:pos x="T8" y="T9"/>
                </a:cxn>
                <a:cxn ang="0">
                  <a:pos x="T10" y="T11"/>
                </a:cxn>
                <a:cxn ang="0">
                  <a:pos x="T12" y="T13"/>
                </a:cxn>
              </a:cxnLst>
              <a:rect l="0" t="0" r="r" b="b"/>
              <a:pathLst>
                <a:path w="111" h="112">
                  <a:moveTo>
                    <a:pt x="57" y="100"/>
                  </a:moveTo>
                  <a:cubicBezTo>
                    <a:pt x="69" y="112"/>
                    <a:pt x="90" y="111"/>
                    <a:pt x="101" y="98"/>
                  </a:cubicBezTo>
                  <a:cubicBezTo>
                    <a:pt x="111" y="86"/>
                    <a:pt x="110" y="68"/>
                    <a:pt x="99" y="57"/>
                  </a:cubicBezTo>
                  <a:cubicBezTo>
                    <a:pt x="54" y="12"/>
                    <a:pt x="54" y="12"/>
                    <a:pt x="54" y="12"/>
                  </a:cubicBezTo>
                  <a:cubicBezTo>
                    <a:pt x="42" y="0"/>
                    <a:pt x="23" y="0"/>
                    <a:pt x="11" y="12"/>
                  </a:cubicBezTo>
                  <a:cubicBezTo>
                    <a:pt x="0" y="24"/>
                    <a:pt x="0" y="43"/>
                    <a:pt x="11" y="54"/>
                  </a:cubicBezTo>
                  <a:lnTo>
                    <a:pt x="57" y="1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139" name="Freeform 10">
              <a:extLst>
                <a:ext uri="{FF2B5EF4-FFF2-40B4-BE49-F238E27FC236}">
                  <a16:creationId xmlns:a16="http://schemas.microsoft.com/office/drawing/2014/main" id="{FB0B6FFF-5CA3-29CF-634C-BE51A49B2E11}"/>
                </a:ext>
              </a:extLst>
            </p:cNvPr>
            <p:cNvSpPr>
              <a:spLocks/>
            </p:cNvSpPr>
            <p:nvPr/>
          </p:nvSpPr>
          <p:spPr bwMode="auto">
            <a:xfrm>
              <a:off x="445" y="2629"/>
              <a:ext cx="39" cy="19"/>
            </a:xfrm>
            <a:custGeom>
              <a:avLst/>
              <a:gdLst>
                <a:gd name="T0" fmla="*/ 94 w 124"/>
                <a:gd name="T1" fmla="*/ 0 h 61"/>
                <a:gd name="T2" fmla="*/ 30 w 124"/>
                <a:gd name="T3" fmla="*/ 0 h 61"/>
                <a:gd name="T4" fmla="*/ 0 w 124"/>
                <a:gd name="T5" fmla="*/ 30 h 61"/>
                <a:gd name="T6" fmla="*/ 30 w 124"/>
                <a:gd name="T7" fmla="*/ 61 h 61"/>
                <a:gd name="T8" fmla="*/ 94 w 124"/>
                <a:gd name="T9" fmla="*/ 61 h 61"/>
                <a:gd name="T10" fmla="*/ 124 w 124"/>
                <a:gd name="T11" fmla="*/ 30 h 61"/>
                <a:gd name="T12" fmla="*/ 94 w 124"/>
                <a:gd name="T13" fmla="*/ 0 h 61"/>
              </a:gdLst>
              <a:ahLst/>
              <a:cxnLst>
                <a:cxn ang="0">
                  <a:pos x="T0" y="T1"/>
                </a:cxn>
                <a:cxn ang="0">
                  <a:pos x="T2" y="T3"/>
                </a:cxn>
                <a:cxn ang="0">
                  <a:pos x="T4" y="T5"/>
                </a:cxn>
                <a:cxn ang="0">
                  <a:pos x="T6" y="T7"/>
                </a:cxn>
                <a:cxn ang="0">
                  <a:pos x="T8" y="T9"/>
                </a:cxn>
                <a:cxn ang="0">
                  <a:pos x="T10" y="T11"/>
                </a:cxn>
                <a:cxn ang="0">
                  <a:pos x="T12" y="T13"/>
                </a:cxn>
              </a:cxnLst>
              <a:rect l="0" t="0" r="r" b="b"/>
              <a:pathLst>
                <a:path w="124" h="61">
                  <a:moveTo>
                    <a:pt x="94" y="0"/>
                  </a:moveTo>
                  <a:cubicBezTo>
                    <a:pt x="30" y="0"/>
                    <a:pt x="30" y="0"/>
                    <a:pt x="30" y="0"/>
                  </a:cubicBezTo>
                  <a:cubicBezTo>
                    <a:pt x="13" y="0"/>
                    <a:pt x="0" y="14"/>
                    <a:pt x="0" y="30"/>
                  </a:cubicBezTo>
                  <a:cubicBezTo>
                    <a:pt x="0" y="47"/>
                    <a:pt x="13" y="61"/>
                    <a:pt x="30" y="61"/>
                  </a:cubicBezTo>
                  <a:cubicBezTo>
                    <a:pt x="94" y="61"/>
                    <a:pt x="94" y="61"/>
                    <a:pt x="94" y="61"/>
                  </a:cubicBezTo>
                  <a:cubicBezTo>
                    <a:pt x="111" y="61"/>
                    <a:pt x="124" y="47"/>
                    <a:pt x="124" y="30"/>
                  </a:cubicBezTo>
                  <a:cubicBezTo>
                    <a:pt x="124" y="14"/>
                    <a:pt x="111" y="0"/>
                    <a:pt x="9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140" name="Freeform 11">
              <a:extLst>
                <a:ext uri="{FF2B5EF4-FFF2-40B4-BE49-F238E27FC236}">
                  <a16:creationId xmlns:a16="http://schemas.microsoft.com/office/drawing/2014/main" id="{8C375683-4E3F-2DFE-0994-D95C1855065B}"/>
                </a:ext>
              </a:extLst>
            </p:cNvPr>
            <p:cNvSpPr>
              <a:spLocks/>
            </p:cNvSpPr>
            <p:nvPr/>
          </p:nvSpPr>
          <p:spPr bwMode="auto">
            <a:xfrm>
              <a:off x="494" y="2735"/>
              <a:ext cx="34" cy="34"/>
            </a:xfrm>
            <a:custGeom>
              <a:avLst/>
              <a:gdLst>
                <a:gd name="T0" fmla="*/ 57 w 111"/>
                <a:gd name="T1" fmla="*/ 11 h 111"/>
                <a:gd name="T2" fmla="*/ 11 w 111"/>
                <a:gd name="T3" fmla="*/ 57 h 111"/>
                <a:gd name="T4" fmla="*/ 10 w 111"/>
                <a:gd name="T5" fmla="*/ 97 h 111"/>
                <a:gd name="T6" fmla="*/ 54 w 111"/>
                <a:gd name="T7" fmla="*/ 99 h 111"/>
                <a:gd name="T8" fmla="*/ 99 w 111"/>
                <a:gd name="T9" fmla="*/ 54 h 111"/>
                <a:gd name="T10" fmla="*/ 99 w 111"/>
                <a:gd name="T11" fmla="*/ 11 h 111"/>
                <a:gd name="T12" fmla="*/ 57 w 111"/>
                <a:gd name="T13" fmla="*/ 11 h 111"/>
              </a:gdLst>
              <a:ahLst/>
              <a:cxnLst>
                <a:cxn ang="0">
                  <a:pos x="T0" y="T1"/>
                </a:cxn>
                <a:cxn ang="0">
                  <a:pos x="T2" y="T3"/>
                </a:cxn>
                <a:cxn ang="0">
                  <a:pos x="T4" y="T5"/>
                </a:cxn>
                <a:cxn ang="0">
                  <a:pos x="T6" y="T7"/>
                </a:cxn>
                <a:cxn ang="0">
                  <a:pos x="T8" y="T9"/>
                </a:cxn>
                <a:cxn ang="0">
                  <a:pos x="T10" y="T11"/>
                </a:cxn>
                <a:cxn ang="0">
                  <a:pos x="T12" y="T13"/>
                </a:cxn>
              </a:cxnLst>
              <a:rect l="0" t="0" r="r" b="b"/>
              <a:pathLst>
                <a:path w="111" h="111">
                  <a:moveTo>
                    <a:pt x="57" y="11"/>
                  </a:moveTo>
                  <a:cubicBezTo>
                    <a:pt x="11" y="57"/>
                    <a:pt x="11" y="57"/>
                    <a:pt x="11" y="57"/>
                  </a:cubicBezTo>
                  <a:cubicBezTo>
                    <a:pt x="1" y="68"/>
                    <a:pt x="0" y="86"/>
                    <a:pt x="10" y="97"/>
                  </a:cubicBezTo>
                  <a:cubicBezTo>
                    <a:pt x="21" y="111"/>
                    <a:pt x="42" y="111"/>
                    <a:pt x="54" y="99"/>
                  </a:cubicBezTo>
                  <a:cubicBezTo>
                    <a:pt x="99" y="54"/>
                    <a:pt x="99" y="54"/>
                    <a:pt x="99" y="54"/>
                  </a:cubicBezTo>
                  <a:cubicBezTo>
                    <a:pt x="111" y="42"/>
                    <a:pt x="111" y="23"/>
                    <a:pt x="99" y="11"/>
                  </a:cubicBezTo>
                  <a:cubicBezTo>
                    <a:pt x="88" y="0"/>
                    <a:pt x="69" y="0"/>
                    <a:pt x="5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141" name="Freeform 12">
              <a:extLst>
                <a:ext uri="{FF2B5EF4-FFF2-40B4-BE49-F238E27FC236}">
                  <a16:creationId xmlns:a16="http://schemas.microsoft.com/office/drawing/2014/main" id="{48F47942-FC78-4982-5312-89D9426980C6}"/>
                </a:ext>
              </a:extLst>
            </p:cNvPr>
            <p:cNvSpPr>
              <a:spLocks/>
            </p:cNvSpPr>
            <p:nvPr/>
          </p:nvSpPr>
          <p:spPr bwMode="auto">
            <a:xfrm>
              <a:off x="720" y="2735"/>
              <a:ext cx="35" cy="34"/>
            </a:xfrm>
            <a:custGeom>
              <a:avLst/>
              <a:gdLst>
                <a:gd name="T0" fmla="*/ 54 w 111"/>
                <a:gd name="T1" fmla="*/ 11 h 112"/>
                <a:gd name="T2" fmla="*/ 12 w 111"/>
                <a:gd name="T3" fmla="*/ 11 h 112"/>
                <a:gd name="T4" fmla="*/ 12 w 111"/>
                <a:gd name="T5" fmla="*/ 54 h 112"/>
                <a:gd name="T6" fmla="*/ 57 w 111"/>
                <a:gd name="T7" fmla="*/ 99 h 112"/>
                <a:gd name="T8" fmla="*/ 102 w 111"/>
                <a:gd name="T9" fmla="*/ 96 h 112"/>
                <a:gd name="T10" fmla="*/ 100 w 111"/>
                <a:gd name="T11" fmla="*/ 57 h 112"/>
                <a:gd name="T12" fmla="*/ 54 w 111"/>
                <a:gd name="T13" fmla="*/ 11 h 112"/>
              </a:gdLst>
              <a:ahLst/>
              <a:cxnLst>
                <a:cxn ang="0">
                  <a:pos x="T0" y="T1"/>
                </a:cxn>
                <a:cxn ang="0">
                  <a:pos x="T2" y="T3"/>
                </a:cxn>
                <a:cxn ang="0">
                  <a:pos x="T4" y="T5"/>
                </a:cxn>
                <a:cxn ang="0">
                  <a:pos x="T6" y="T7"/>
                </a:cxn>
                <a:cxn ang="0">
                  <a:pos x="T8" y="T9"/>
                </a:cxn>
                <a:cxn ang="0">
                  <a:pos x="T10" y="T11"/>
                </a:cxn>
                <a:cxn ang="0">
                  <a:pos x="T12" y="T13"/>
                </a:cxn>
              </a:cxnLst>
              <a:rect l="0" t="0" r="r" b="b"/>
              <a:pathLst>
                <a:path w="111" h="112">
                  <a:moveTo>
                    <a:pt x="54" y="11"/>
                  </a:moveTo>
                  <a:cubicBezTo>
                    <a:pt x="43" y="0"/>
                    <a:pt x="24" y="0"/>
                    <a:pt x="12" y="11"/>
                  </a:cubicBezTo>
                  <a:cubicBezTo>
                    <a:pt x="0" y="23"/>
                    <a:pt x="0" y="42"/>
                    <a:pt x="12" y="54"/>
                  </a:cubicBezTo>
                  <a:cubicBezTo>
                    <a:pt x="57" y="99"/>
                    <a:pt x="57" y="99"/>
                    <a:pt x="57" y="99"/>
                  </a:cubicBezTo>
                  <a:cubicBezTo>
                    <a:pt x="70" y="112"/>
                    <a:pt x="91" y="110"/>
                    <a:pt x="102" y="96"/>
                  </a:cubicBezTo>
                  <a:cubicBezTo>
                    <a:pt x="111" y="85"/>
                    <a:pt x="111" y="67"/>
                    <a:pt x="100" y="57"/>
                  </a:cubicBezTo>
                  <a:lnTo>
                    <a:pt x="54"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142" name="Freeform 13">
              <a:extLst>
                <a:ext uri="{FF2B5EF4-FFF2-40B4-BE49-F238E27FC236}">
                  <a16:creationId xmlns:a16="http://schemas.microsoft.com/office/drawing/2014/main" id="{FB870711-A07D-370F-1DA0-1BA392516B8F}"/>
                </a:ext>
              </a:extLst>
            </p:cNvPr>
            <p:cNvSpPr>
              <a:spLocks/>
            </p:cNvSpPr>
            <p:nvPr/>
          </p:nvSpPr>
          <p:spPr bwMode="auto">
            <a:xfrm>
              <a:off x="765" y="2629"/>
              <a:ext cx="39" cy="19"/>
            </a:xfrm>
            <a:custGeom>
              <a:avLst/>
              <a:gdLst>
                <a:gd name="T0" fmla="*/ 124 w 124"/>
                <a:gd name="T1" fmla="*/ 30 h 61"/>
                <a:gd name="T2" fmla="*/ 94 w 124"/>
                <a:gd name="T3" fmla="*/ 0 h 61"/>
                <a:gd name="T4" fmla="*/ 30 w 124"/>
                <a:gd name="T5" fmla="*/ 0 h 61"/>
                <a:gd name="T6" fmla="*/ 0 w 124"/>
                <a:gd name="T7" fmla="*/ 30 h 61"/>
                <a:gd name="T8" fmla="*/ 30 w 124"/>
                <a:gd name="T9" fmla="*/ 61 h 61"/>
                <a:gd name="T10" fmla="*/ 94 w 124"/>
                <a:gd name="T11" fmla="*/ 61 h 61"/>
                <a:gd name="T12" fmla="*/ 124 w 124"/>
                <a:gd name="T13" fmla="*/ 30 h 61"/>
              </a:gdLst>
              <a:ahLst/>
              <a:cxnLst>
                <a:cxn ang="0">
                  <a:pos x="T0" y="T1"/>
                </a:cxn>
                <a:cxn ang="0">
                  <a:pos x="T2" y="T3"/>
                </a:cxn>
                <a:cxn ang="0">
                  <a:pos x="T4" y="T5"/>
                </a:cxn>
                <a:cxn ang="0">
                  <a:pos x="T6" y="T7"/>
                </a:cxn>
                <a:cxn ang="0">
                  <a:pos x="T8" y="T9"/>
                </a:cxn>
                <a:cxn ang="0">
                  <a:pos x="T10" y="T11"/>
                </a:cxn>
                <a:cxn ang="0">
                  <a:pos x="T12" y="T13"/>
                </a:cxn>
              </a:cxnLst>
              <a:rect l="0" t="0" r="r" b="b"/>
              <a:pathLst>
                <a:path w="124" h="61">
                  <a:moveTo>
                    <a:pt x="124" y="30"/>
                  </a:moveTo>
                  <a:cubicBezTo>
                    <a:pt x="124" y="14"/>
                    <a:pt x="111" y="0"/>
                    <a:pt x="94" y="0"/>
                  </a:cubicBezTo>
                  <a:cubicBezTo>
                    <a:pt x="30" y="0"/>
                    <a:pt x="30" y="0"/>
                    <a:pt x="30" y="0"/>
                  </a:cubicBezTo>
                  <a:cubicBezTo>
                    <a:pt x="13" y="0"/>
                    <a:pt x="0" y="14"/>
                    <a:pt x="0" y="30"/>
                  </a:cubicBezTo>
                  <a:cubicBezTo>
                    <a:pt x="0" y="47"/>
                    <a:pt x="13" y="61"/>
                    <a:pt x="30" y="61"/>
                  </a:cubicBezTo>
                  <a:cubicBezTo>
                    <a:pt x="94" y="61"/>
                    <a:pt x="94" y="61"/>
                    <a:pt x="94" y="61"/>
                  </a:cubicBezTo>
                  <a:cubicBezTo>
                    <a:pt x="111" y="61"/>
                    <a:pt x="124" y="47"/>
                    <a:pt x="124"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143" name="Freeform 14">
              <a:extLst>
                <a:ext uri="{FF2B5EF4-FFF2-40B4-BE49-F238E27FC236}">
                  <a16:creationId xmlns:a16="http://schemas.microsoft.com/office/drawing/2014/main" id="{66F38D49-37F3-1A33-F46C-E3AAC2EA64B3}"/>
                </a:ext>
              </a:extLst>
            </p:cNvPr>
            <p:cNvSpPr>
              <a:spLocks/>
            </p:cNvSpPr>
            <p:nvPr/>
          </p:nvSpPr>
          <p:spPr bwMode="auto">
            <a:xfrm>
              <a:off x="720" y="2508"/>
              <a:ext cx="35" cy="35"/>
            </a:xfrm>
            <a:custGeom>
              <a:avLst/>
              <a:gdLst>
                <a:gd name="T0" fmla="*/ 56 w 111"/>
                <a:gd name="T1" fmla="*/ 12 h 112"/>
                <a:gd name="T2" fmla="*/ 11 w 111"/>
                <a:gd name="T3" fmla="*/ 57 h 112"/>
                <a:gd name="T4" fmla="*/ 9 w 111"/>
                <a:gd name="T5" fmla="*/ 97 h 112"/>
                <a:gd name="T6" fmla="*/ 53 w 111"/>
                <a:gd name="T7" fmla="*/ 100 h 112"/>
                <a:gd name="T8" fmla="*/ 99 w 111"/>
                <a:gd name="T9" fmla="*/ 54 h 112"/>
                <a:gd name="T10" fmla="*/ 99 w 111"/>
                <a:gd name="T11" fmla="*/ 12 h 112"/>
                <a:gd name="T12" fmla="*/ 56 w 111"/>
                <a:gd name="T13" fmla="*/ 12 h 112"/>
              </a:gdLst>
              <a:ahLst/>
              <a:cxnLst>
                <a:cxn ang="0">
                  <a:pos x="T0" y="T1"/>
                </a:cxn>
                <a:cxn ang="0">
                  <a:pos x="T2" y="T3"/>
                </a:cxn>
                <a:cxn ang="0">
                  <a:pos x="T4" y="T5"/>
                </a:cxn>
                <a:cxn ang="0">
                  <a:pos x="T6" y="T7"/>
                </a:cxn>
                <a:cxn ang="0">
                  <a:pos x="T8" y="T9"/>
                </a:cxn>
                <a:cxn ang="0">
                  <a:pos x="T10" y="T11"/>
                </a:cxn>
                <a:cxn ang="0">
                  <a:pos x="T12" y="T13"/>
                </a:cxn>
              </a:cxnLst>
              <a:rect l="0" t="0" r="r" b="b"/>
              <a:pathLst>
                <a:path w="111" h="112">
                  <a:moveTo>
                    <a:pt x="56" y="12"/>
                  </a:moveTo>
                  <a:cubicBezTo>
                    <a:pt x="11" y="57"/>
                    <a:pt x="11" y="57"/>
                    <a:pt x="11" y="57"/>
                  </a:cubicBezTo>
                  <a:cubicBezTo>
                    <a:pt x="0" y="68"/>
                    <a:pt x="0" y="85"/>
                    <a:pt x="9" y="97"/>
                  </a:cubicBezTo>
                  <a:cubicBezTo>
                    <a:pt x="20" y="111"/>
                    <a:pt x="41" y="112"/>
                    <a:pt x="53" y="100"/>
                  </a:cubicBezTo>
                  <a:cubicBezTo>
                    <a:pt x="99" y="54"/>
                    <a:pt x="99" y="54"/>
                    <a:pt x="99" y="54"/>
                  </a:cubicBezTo>
                  <a:cubicBezTo>
                    <a:pt x="111" y="43"/>
                    <a:pt x="111" y="24"/>
                    <a:pt x="99" y="12"/>
                  </a:cubicBezTo>
                  <a:cubicBezTo>
                    <a:pt x="87" y="0"/>
                    <a:pt x="68" y="0"/>
                    <a:pt x="5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grpSp>
      <p:grpSp>
        <p:nvGrpSpPr>
          <p:cNvPr id="144" name="Group 4">
            <a:extLst>
              <a:ext uri="{FF2B5EF4-FFF2-40B4-BE49-F238E27FC236}">
                <a16:creationId xmlns:a16="http://schemas.microsoft.com/office/drawing/2014/main" id="{9423169C-819A-520E-B34E-DBA6538C3B32}"/>
              </a:ext>
            </a:extLst>
          </p:cNvPr>
          <p:cNvGrpSpPr>
            <a:grpSpLocks noChangeAspect="1"/>
          </p:cNvGrpSpPr>
          <p:nvPr/>
        </p:nvGrpSpPr>
        <p:grpSpPr bwMode="auto">
          <a:xfrm>
            <a:off x="2062799" y="1093639"/>
            <a:ext cx="425792" cy="446679"/>
            <a:chOff x="3709" y="1629"/>
            <a:chExt cx="503" cy="520"/>
          </a:xfrm>
          <a:solidFill>
            <a:schemeClr val="tx1"/>
          </a:solidFill>
        </p:grpSpPr>
        <p:sp>
          <p:nvSpPr>
            <p:cNvPr id="145" name="Freeform 5">
              <a:extLst>
                <a:ext uri="{FF2B5EF4-FFF2-40B4-BE49-F238E27FC236}">
                  <a16:creationId xmlns:a16="http://schemas.microsoft.com/office/drawing/2014/main" id="{EF858FB1-A261-7862-FB34-4F50D7D92A62}"/>
                </a:ext>
              </a:extLst>
            </p:cNvPr>
            <p:cNvSpPr>
              <a:spLocks noEditPoints="1"/>
            </p:cNvSpPr>
            <p:nvPr/>
          </p:nvSpPr>
          <p:spPr bwMode="auto">
            <a:xfrm>
              <a:off x="3975" y="1912"/>
              <a:ext cx="237" cy="237"/>
            </a:xfrm>
            <a:custGeom>
              <a:avLst/>
              <a:gdLst>
                <a:gd name="T0" fmla="*/ 76 w 83"/>
                <a:gd name="T1" fmla="*/ 34 h 83"/>
                <a:gd name="T2" fmla="*/ 72 w 83"/>
                <a:gd name="T3" fmla="*/ 24 h 83"/>
                <a:gd name="T4" fmla="*/ 74 w 83"/>
                <a:gd name="T5" fmla="*/ 16 h 83"/>
                <a:gd name="T6" fmla="*/ 64 w 83"/>
                <a:gd name="T7" fmla="*/ 9 h 83"/>
                <a:gd name="T8" fmla="*/ 54 w 83"/>
                <a:gd name="T9" fmla="*/ 13 h 83"/>
                <a:gd name="T10" fmla="*/ 50 w 83"/>
                <a:gd name="T11" fmla="*/ 3 h 83"/>
                <a:gd name="T12" fmla="*/ 38 w 83"/>
                <a:gd name="T13" fmla="*/ 0 h 83"/>
                <a:gd name="T14" fmla="*/ 33 w 83"/>
                <a:gd name="T15" fmla="*/ 9 h 83"/>
                <a:gd name="T16" fmla="*/ 24 w 83"/>
                <a:gd name="T17" fmla="*/ 13 h 83"/>
                <a:gd name="T18" fmla="*/ 15 w 83"/>
                <a:gd name="T19" fmla="*/ 10 h 83"/>
                <a:gd name="T20" fmla="*/ 8 w 83"/>
                <a:gd name="T21" fmla="*/ 20 h 83"/>
                <a:gd name="T22" fmla="*/ 12 w 83"/>
                <a:gd name="T23" fmla="*/ 30 h 83"/>
                <a:gd name="T24" fmla="*/ 2 w 83"/>
                <a:gd name="T25" fmla="*/ 35 h 83"/>
                <a:gd name="T26" fmla="*/ 0 w 83"/>
                <a:gd name="T27" fmla="*/ 47 h 83"/>
                <a:gd name="T28" fmla="*/ 7 w 83"/>
                <a:gd name="T29" fmla="*/ 51 h 83"/>
                <a:gd name="T30" fmla="*/ 12 w 83"/>
                <a:gd name="T31" fmla="*/ 61 h 83"/>
                <a:gd name="T32" fmla="*/ 9 w 83"/>
                <a:gd name="T33" fmla="*/ 69 h 83"/>
                <a:gd name="T34" fmla="*/ 20 w 83"/>
                <a:gd name="T35" fmla="*/ 75 h 83"/>
                <a:gd name="T36" fmla="*/ 30 w 83"/>
                <a:gd name="T37" fmla="*/ 71 h 83"/>
                <a:gd name="T38" fmla="*/ 35 w 83"/>
                <a:gd name="T39" fmla="*/ 81 h 83"/>
                <a:gd name="T40" fmla="*/ 47 w 83"/>
                <a:gd name="T41" fmla="*/ 83 h 83"/>
                <a:gd name="T42" fmla="*/ 50 w 83"/>
                <a:gd name="T43" fmla="*/ 77 h 83"/>
                <a:gd name="T44" fmla="*/ 60 w 83"/>
                <a:gd name="T45" fmla="*/ 73 h 83"/>
                <a:gd name="T46" fmla="*/ 67 w 83"/>
                <a:gd name="T47" fmla="*/ 75 h 83"/>
                <a:gd name="T48" fmla="*/ 74 w 83"/>
                <a:gd name="T49" fmla="*/ 65 h 83"/>
                <a:gd name="T50" fmla="*/ 71 w 83"/>
                <a:gd name="T51" fmla="*/ 55 h 83"/>
                <a:gd name="T52" fmla="*/ 80 w 83"/>
                <a:gd name="T53" fmla="*/ 50 h 83"/>
                <a:gd name="T54" fmla="*/ 83 w 83"/>
                <a:gd name="T55" fmla="*/ 38 h 83"/>
                <a:gd name="T56" fmla="*/ 77 w 83"/>
                <a:gd name="T57" fmla="*/ 44 h 83"/>
                <a:gd name="T58" fmla="*/ 65 w 83"/>
                <a:gd name="T59" fmla="*/ 52 h 83"/>
                <a:gd name="T60" fmla="*/ 67 w 83"/>
                <a:gd name="T61" fmla="*/ 66 h 83"/>
                <a:gd name="T62" fmla="*/ 64 w 83"/>
                <a:gd name="T63" fmla="*/ 68 h 83"/>
                <a:gd name="T64" fmla="*/ 44 w 83"/>
                <a:gd name="T65" fmla="*/ 76 h 83"/>
                <a:gd name="T66" fmla="*/ 40 w 83"/>
                <a:gd name="T67" fmla="*/ 77 h 83"/>
                <a:gd name="T68" fmla="*/ 32 w 83"/>
                <a:gd name="T69" fmla="*/ 66 h 83"/>
                <a:gd name="T70" fmla="*/ 18 w 83"/>
                <a:gd name="T71" fmla="*/ 68 h 83"/>
                <a:gd name="T72" fmla="*/ 17 w 83"/>
                <a:gd name="T73" fmla="*/ 64 h 83"/>
                <a:gd name="T74" fmla="*/ 8 w 83"/>
                <a:gd name="T75" fmla="*/ 45 h 83"/>
                <a:gd name="T76" fmla="*/ 6 w 83"/>
                <a:gd name="T77" fmla="*/ 41 h 83"/>
                <a:gd name="T78" fmla="*/ 18 w 83"/>
                <a:gd name="T79" fmla="*/ 32 h 83"/>
                <a:gd name="T80" fmla="*/ 15 w 83"/>
                <a:gd name="T81" fmla="*/ 19 h 83"/>
                <a:gd name="T82" fmla="*/ 20 w 83"/>
                <a:gd name="T83" fmla="*/ 18 h 83"/>
                <a:gd name="T84" fmla="*/ 40 w 83"/>
                <a:gd name="T85" fmla="*/ 10 h 83"/>
                <a:gd name="T86" fmla="*/ 44 w 83"/>
                <a:gd name="T87" fmla="*/ 7 h 83"/>
                <a:gd name="T88" fmla="*/ 52 w 83"/>
                <a:gd name="T89" fmla="*/ 18 h 83"/>
                <a:gd name="T90" fmla="*/ 66 w 83"/>
                <a:gd name="T91" fmla="*/ 16 h 83"/>
                <a:gd name="T92" fmla="*/ 67 w 83"/>
                <a:gd name="T93" fmla="*/ 20 h 83"/>
                <a:gd name="T94" fmla="*/ 75 w 83"/>
                <a:gd name="T95" fmla="*/ 40 h 83"/>
                <a:gd name="T96" fmla="*/ 77 w 83"/>
                <a:gd name="T97" fmla="*/ 44 h 83"/>
                <a:gd name="T98" fmla="*/ 77 w 83"/>
                <a:gd name="T99" fmla="*/ 44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3" h="83">
                  <a:moveTo>
                    <a:pt x="80" y="35"/>
                  </a:moveTo>
                  <a:cubicBezTo>
                    <a:pt x="76" y="34"/>
                    <a:pt x="76" y="34"/>
                    <a:pt x="76" y="34"/>
                  </a:cubicBezTo>
                  <a:cubicBezTo>
                    <a:pt x="74" y="34"/>
                    <a:pt x="72" y="32"/>
                    <a:pt x="71" y="30"/>
                  </a:cubicBezTo>
                  <a:cubicBezTo>
                    <a:pt x="70" y="28"/>
                    <a:pt x="71" y="26"/>
                    <a:pt x="72" y="24"/>
                  </a:cubicBezTo>
                  <a:cubicBezTo>
                    <a:pt x="75" y="20"/>
                    <a:pt x="75" y="20"/>
                    <a:pt x="75" y="20"/>
                  </a:cubicBezTo>
                  <a:cubicBezTo>
                    <a:pt x="76" y="19"/>
                    <a:pt x="76" y="17"/>
                    <a:pt x="74" y="16"/>
                  </a:cubicBezTo>
                  <a:cubicBezTo>
                    <a:pt x="68" y="10"/>
                    <a:pt x="68" y="10"/>
                    <a:pt x="68" y="10"/>
                  </a:cubicBezTo>
                  <a:cubicBezTo>
                    <a:pt x="67" y="9"/>
                    <a:pt x="65" y="8"/>
                    <a:pt x="64" y="9"/>
                  </a:cubicBezTo>
                  <a:cubicBezTo>
                    <a:pt x="60" y="12"/>
                    <a:pt x="60" y="12"/>
                    <a:pt x="60" y="12"/>
                  </a:cubicBezTo>
                  <a:cubicBezTo>
                    <a:pt x="58" y="13"/>
                    <a:pt x="56" y="13"/>
                    <a:pt x="54" y="13"/>
                  </a:cubicBezTo>
                  <a:cubicBezTo>
                    <a:pt x="52" y="12"/>
                    <a:pt x="51" y="10"/>
                    <a:pt x="50" y="8"/>
                  </a:cubicBezTo>
                  <a:cubicBezTo>
                    <a:pt x="50" y="3"/>
                    <a:pt x="50" y="3"/>
                    <a:pt x="50" y="3"/>
                  </a:cubicBezTo>
                  <a:cubicBezTo>
                    <a:pt x="49" y="1"/>
                    <a:pt x="48" y="0"/>
                    <a:pt x="47" y="0"/>
                  </a:cubicBezTo>
                  <a:cubicBezTo>
                    <a:pt x="38" y="0"/>
                    <a:pt x="38" y="0"/>
                    <a:pt x="38" y="0"/>
                  </a:cubicBezTo>
                  <a:cubicBezTo>
                    <a:pt x="36" y="0"/>
                    <a:pt x="35" y="1"/>
                    <a:pt x="35" y="3"/>
                  </a:cubicBezTo>
                  <a:cubicBezTo>
                    <a:pt x="33" y="9"/>
                    <a:pt x="33" y="9"/>
                    <a:pt x="33" y="9"/>
                  </a:cubicBezTo>
                  <a:cubicBezTo>
                    <a:pt x="33" y="11"/>
                    <a:pt x="32" y="13"/>
                    <a:pt x="30" y="13"/>
                  </a:cubicBezTo>
                  <a:cubicBezTo>
                    <a:pt x="28" y="14"/>
                    <a:pt x="25" y="14"/>
                    <a:pt x="24" y="13"/>
                  </a:cubicBezTo>
                  <a:cubicBezTo>
                    <a:pt x="19" y="9"/>
                    <a:pt x="19" y="9"/>
                    <a:pt x="19" y="9"/>
                  </a:cubicBezTo>
                  <a:cubicBezTo>
                    <a:pt x="17" y="8"/>
                    <a:pt x="16" y="9"/>
                    <a:pt x="15" y="10"/>
                  </a:cubicBezTo>
                  <a:cubicBezTo>
                    <a:pt x="8" y="16"/>
                    <a:pt x="8" y="16"/>
                    <a:pt x="8" y="16"/>
                  </a:cubicBezTo>
                  <a:cubicBezTo>
                    <a:pt x="7" y="17"/>
                    <a:pt x="7" y="19"/>
                    <a:pt x="8" y="20"/>
                  </a:cubicBezTo>
                  <a:cubicBezTo>
                    <a:pt x="11" y="24"/>
                    <a:pt x="11" y="24"/>
                    <a:pt x="11" y="24"/>
                  </a:cubicBezTo>
                  <a:cubicBezTo>
                    <a:pt x="12" y="26"/>
                    <a:pt x="13" y="28"/>
                    <a:pt x="12" y="30"/>
                  </a:cubicBezTo>
                  <a:cubicBezTo>
                    <a:pt x="11" y="32"/>
                    <a:pt x="9" y="34"/>
                    <a:pt x="7" y="34"/>
                  </a:cubicBezTo>
                  <a:cubicBezTo>
                    <a:pt x="2" y="35"/>
                    <a:pt x="2" y="35"/>
                    <a:pt x="2" y="35"/>
                  </a:cubicBezTo>
                  <a:cubicBezTo>
                    <a:pt x="1" y="35"/>
                    <a:pt x="0" y="37"/>
                    <a:pt x="0" y="38"/>
                  </a:cubicBezTo>
                  <a:cubicBezTo>
                    <a:pt x="0" y="47"/>
                    <a:pt x="0" y="47"/>
                    <a:pt x="0" y="47"/>
                  </a:cubicBezTo>
                  <a:cubicBezTo>
                    <a:pt x="0" y="49"/>
                    <a:pt x="1" y="50"/>
                    <a:pt x="3" y="50"/>
                  </a:cubicBezTo>
                  <a:cubicBezTo>
                    <a:pt x="7" y="51"/>
                    <a:pt x="7" y="51"/>
                    <a:pt x="7" y="51"/>
                  </a:cubicBezTo>
                  <a:cubicBezTo>
                    <a:pt x="10" y="51"/>
                    <a:pt x="11" y="53"/>
                    <a:pt x="12" y="55"/>
                  </a:cubicBezTo>
                  <a:cubicBezTo>
                    <a:pt x="13" y="57"/>
                    <a:pt x="13" y="59"/>
                    <a:pt x="12" y="61"/>
                  </a:cubicBezTo>
                  <a:cubicBezTo>
                    <a:pt x="9" y="65"/>
                    <a:pt x="9" y="65"/>
                    <a:pt x="9" y="65"/>
                  </a:cubicBezTo>
                  <a:cubicBezTo>
                    <a:pt x="8" y="66"/>
                    <a:pt x="8" y="67"/>
                    <a:pt x="9" y="69"/>
                  </a:cubicBezTo>
                  <a:cubicBezTo>
                    <a:pt x="16" y="75"/>
                    <a:pt x="16" y="75"/>
                    <a:pt x="16" y="75"/>
                  </a:cubicBezTo>
                  <a:cubicBezTo>
                    <a:pt x="17" y="76"/>
                    <a:pt x="19" y="76"/>
                    <a:pt x="20" y="75"/>
                  </a:cubicBezTo>
                  <a:cubicBezTo>
                    <a:pt x="24" y="72"/>
                    <a:pt x="24" y="72"/>
                    <a:pt x="24" y="72"/>
                  </a:cubicBezTo>
                  <a:cubicBezTo>
                    <a:pt x="26" y="71"/>
                    <a:pt x="28" y="71"/>
                    <a:pt x="30" y="71"/>
                  </a:cubicBezTo>
                  <a:cubicBezTo>
                    <a:pt x="32" y="72"/>
                    <a:pt x="33" y="74"/>
                    <a:pt x="34" y="76"/>
                  </a:cubicBezTo>
                  <a:cubicBezTo>
                    <a:pt x="35" y="81"/>
                    <a:pt x="35" y="81"/>
                    <a:pt x="35" y="81"/>
                  </a:cubicBezTo>
                  <a:cubicBezTo>
                    <a:pt x="35" y="82"/>
                    <a:pt x="36" y="83"/>
                    <a:pt x="38" y="83"/>
                  </a:cubicBezTo>
                  <a:cubicBezTo>
                    <a:pt x="47" y="83"/>
                    <a:pt x="47" y="83"/>
                    <a:pt x="47" y="83"/>
                  </a:cubicBezTo>
                  <a:cubicBezTo>
                    <a:pt x="48" y="83"/>
                    <a:pt x="50" y="82"/>
                    <a:pt x="50" y="81"/>
                  </a:cubicBezTo>
                  <a:cubicBezTo>
                    <a:pt x="50" y="77"/>
                    <a:pt x="50" y="77"/>
                    <a:pt x="50" y="77"/>
                  </a:cubicBezTo>
                  <a:cubicBezTo>
                    <a:pt x="51" y="75"/>
                    <a:pt x="52" y="73"/>
                    <a:pt x="54" y="72"/>
                  </a:cubicBezTo>
                  <a:cubicBezTo>
                    <a:pt x="56" y="72"/>
                    <a:pt x="58" y="72"/>
                    <a:pt x="60" y="73"/>
                  </a:cubicBezTo>
                  <a:cubicBezTo>
                    <a:pt x="63" y="75"/>
                    <a:pt x="63" y="75"/>
                    <a:pt x="63" y="75"/>
                  </a:cubicBezTo>
                  <a:cubicBezTo>
                    <a:pt x="64" y="76"/>
                    <a:pt x="66" y="76"/>
                    <a:pt x="67" y="75"/>
                  </a:cubicBezTo>
                  <a:cubicBezTo>
                    <a:pt x="73" y="69"/>
                    <a:pt x="73" y="69"/>
                    <a:pt x="73" y="69"/>
                  </a:cubicBezTo>
                  <a:cubicBezTo>
                    <a:pt x="75" y="67"/>
                    <a:pt x="75" y="66"/>
                    <a:pt x="74" y="65"/>
                  </a:cubicBezTo>
                  <a:cubicBezTo>
                    <a:pt x="71" y="61"/>
                    <a:pt x="71" y="61"/>
                    <a:pt x="71" y="61"/>
                  </a:cubicBezTo>
                  <a:cubicBezTo>
                    <a:pt x="70" y="59"/>
                    <a:pt x="70" y="57"/>
                    <a:pt x="71" y="55"/>
                  </a:cubicBezTo>
                  <a:cubicBezTo>
                    <a:pt x="71" y="53"/>
                    <a:pt x="73" y="51"/>
                    <a:pt x="75" y="51"/>
                  </a:cubicBezTo>
                  <a:cubicBezTo>
                    <a:pt x="80" y="50"/>
                    <a:pt x="80" y="50"/>
                    <a:pt x="80" y="50"/>
                  </a:cubicBezTo>
                  <a:cubicBezTo>
                    <a:pt x="82" y="50"/>
                    <a:pt x="83" y="49"/>
                    <a:pt x="83" y="47"/>
                  </a:cubicBezTo>
                  <a:cubicBezTo>
                    <a:pt x="83" y="38"/>
                    <a:pt x="83" y="38"/>
                    <a:pt x="83" y="38"/>
                  </a:cubicBezTo>
                  <a:cubicBezTo>
                    <a:pt x="83" y="37"/>
                    <a:pt x="82" y="35"/>
                    <a:pt x="80" y="35"/>
                  </a:cubicBezTo>
                  <a:close/>
                  <a:moveTo>
                    <a:pt x="77" y="44"/>
                  </a:moveTo>
                  <a:cubicBezTo>
                    <a:pt x="74" y="45"/>
                    <a:pt x="74" y="45"/>
                    <a:pt x="74" y="45"/>
                  </a:cubicBezTo>
                  <a:cubicBezTo>
                    <a:pt x="70" y="45"/>
                    <a:pt x="67" y="48"/>
                    <a:pt x="65" y="52"/>
                  </a:cubicBezTo>
                  <a:cubicBezTo>
                    <a:pt x="63" y="56"/>
                    <a:pt x="63" y="61"/>
                    <a:pt x="66" y="64"/>
                  </a:cubicBezTo>
                  <a:cubicBezTo>
                    <a:pt x="67" y="66"/>
                    <a:pt x="67" y="66"/>
                    <a:pt x="67" y="66"/>
                  </a:cubicBezTo>
                  <a:cubicBezTo>
                    <a:pt x="65" y="68"/>
                    <a:pt x="65" y="68"/>
                    <a:pt x="65" y="68"/>
                  </a:cubicBezTo>
                  <a:cubicBezTo>
                    <a:pt x="64" y="68"/>
                    <a:pt x="64" y="68"/>
                    <a:pt x="64" y="68"/>
                  </a:cubicBezTo>
                  <a:cubicBezTo>
                    <a:pt x="60" y="65"/>
                    <a:pt x="56" y="65"/>
                    <a:pt x="52" y="66"/>
                  </a:cubicBezTo>
                  <a:cubicBezTo>
                    <a:pt x="47" y="68"/>
                    <a:pt x="45" y="72"/>
                    <a:pt x="44" y="76"/>
                  </a:cubicBezTo>
                  <a:cubicBezTo>
                    <a:pt x="44" y="77"/>
                    <a:pt x="44" y="77"/>
                    <a:pt x="44" y="77"/>
                  </a:cubicBezTo>
                  <a:cubicBezTo>
                    <a:pt x="40" y="77"/>
                    <a:pt x="40" y="77"/>
                    <a:pt x="40" y="77"/>
                  </a:cubicBezTo>
                  <a:cubicBezTo>
                    <a:pt x="40" y="75"/>
                    <a:pt x="40" y="75"/>
                    <a:pt x="40" y="75"/>
                  </a:cubicBezTo>
                  <a:cubicBezTo>
                    <a:pt x="39" y="71"/>
                    <a:pt x="36" y="67"/>
                    <a:pt x="32" y="66"/>
                  </a:cubicBezTo>
                  <a:cubicBezTo>
                    <a:pt x="28" y="64"/>
                    <a:pt x="23" y="65"/>
                    <a:pt x="20" y="67"/>
                  </a:cubicBezTo>
                  <a:cubicBezTo>
                    <a:pt x="18" y="68"/>
                    <a:pt x="18" y="68"/>
                    <a:pt x="18" y="68"/>
                  </a:cubicBezTo>
                  <a:cubicBezTo>
                    <a:pt x="16" y="66"/>
                    <a:pt x="16" y="66"/>
                    <a:pt x="16" y="66"/>
                  </a:cubicBezTo>
                  <a:cubicBezTo>
                    <a:pt x="17" y="64"/>
                    <a:pt x="17" y="64"/>
                    <a:pt x="17" y="64"/>
                  </a:cubicBezTo>
                  <a:cubicBezTo>
                    <a:pt x="19" y="61"/>
                    <a:pt x="20" y="56"/>
                    <a:pt x="18" y="52"/>
                  </a:cubicBezTo>
                  <a:cubicBezTo>
                    <a:pt x="16" y="48"/>
                    <a:pt x="13" y="45"/>
                    <a:pt x="8" y="45"/>
                  </a:cubicBezTo>
                  <a:cubicBezTo>
                    <a:pt x="6" y="44"/>
                    <a:pt x="6" y="44"/>
                    <a:pt x="6" y="44"/>
                  </a:cubicBezTo>
                  <a:cubicBezTo>
                    <a:pt x="6" y="41"/>
                    <a:pt x="6" y="41"/>
                    <a:pt x="6" y="41"/>
                  </a:cubicBezTo>
                  <a:cubicBezTo>
                    <a:pt x="8" y="40"/>
                    <a:pt x="8" y="40"/>
                    <a:pt x="8" y="40"/>
                  </a:cubicBezTo>
                  <a:cubicBezTo>
                    <a:pt x="13" y="39"/>
                    <a:pt x="16" y="37"/>
                    <a:pt x="18" y="32"/>
                  </a:cubicBezTo>
                  <a:cubicBezTo>
                    <a:pt x="19" y="28"/>
                    <a:pt x="19" y="24"/>
                    <a:pt x="16" y="20"/>
                  </a:cubicBezTo>
                  <a:cubicBezTo>
                    <a:pt x="15" y="19"/>
                    <a:pt x="15" y="19"/>
                    <a:pt x="15" y="19"/>
                  </a:cubicBezTo>
                  <a:cubicBezTo>
                    <a:pt x="17" y="16"/>
                    <a:pt x="17" y="16"/>
                    <a:pt x="17" y="16"/>
                  </a:cubicBezTo>
                  <a:cubicBezTo>
                    <a:pt x="20" y="18"/>
                    <a:pt x="20" y="18"/>
                    <a:pt x="20" y="18"/>
                  </a:cubicBezTo>
                  <a:cubicBezTo>
                    <a:pt x="24" y="20"/>
                    <a:pt x="28" y="21"/>
                    <a:pt x="32" y="19"/>
                  </a:cubicBezTo>
                  <a:cubicBezTo>
                    <a:pt x="36" y="18"/>
                    <a:pt x="39" y="14"/>
                    <a:pt x="40" y="10"/>
                  </a:cubicBezTo>
                  <a:cubicBezTo>
                    <a:pt x="40" y="7"/>
                    <a:pt x="40" y="7"/>
                    <a:pt x="40" y="7"/>
                  </a:cubicBezTo>
                  <a:cubicBezTo>
                    <a:pt x="44" y="7"/>
                    <a:pt x="44" y="7"/>
                    <a:pt x="44" y="7"/>
                  </a:cubicBezTo>
                  <a:cubicBezTo>
                    <a:pt x="44" y="9"/>
                    <a:pt x="44" y="9"/>
                    <a:pt x="44" y="9"/>
                  </a:cubicBezTo>
                  <a:cubicBezTo>
                    <a:pt x="45" y="13"/>
                    <a:pt x="48" y="17"/>
                    <a:pt x="52" y="18"/>
                  </a:cubicBezTo>
                  <a:cubicBezTo>
                    <a:pt x="56" y="20"/>
                    <a:pt x="60" y="20"/>
                    <a:pt x="64" y="17"/>
                  </a:cubicBezTo>
                  <a:cubicBezTo>
                    <a:pt x="66" y="16"/>
                    <a:pt x="66" y="16"/>
                    <a:pt x="66" y="16"/>
                  </a:cubicBezTo>
                  <a:cubicBezTo>
                    <a:pt x="68" y="19"/>
                    <a:pt x="68" y="19"/>
                    <a:pt x="68" y="19"/>
                  </a:cubicBezTo>
                  <a:cubicBezTo>
                    <a:pt x="67" y="20"/>
                    <a:pt x="67" y="20"/>
                    <a:pt x="67" y="20"/>
                  </a:cubicBezTo>
                  <a:cubicBezTo>
                    <a:pt x="64" y="24"/>
                    <a:pt x="64" y="28"/>
                    <a:pt x="65" y="32"/>
                  </a:cubicBezTo>
                  <a:cubicBezTo>
                    <a:pt x="67" y="37"/>
                    <a:pt x="70" y="39"/>
                    <a:pt x="75" y="40"/>
                  </a:cubicBezTo>
                  <a:cubicBezTo>
                    <a:pt x="77" y="41"/>
                    <a:pt x="77" y="41"/>
                    <a:pt x="77" y="41"/>
                  </a:cubicBezTo>
                  <a:lnTo>
                    <a:pt x="77" y="44"/>
                  </a:lnTo>
                  <a:close/>
                  <a:moveTo>
                    <a:pt x="77" y="44"/>
                  </a:moveTo>
                  <a:cubicBezTo>
                    <a:pt x="77" y="44"/>
                    <a:pt x="77" y="44"/>
                    <a:pt x="77" y="4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146" name="Freeform 6">
              <a:extLst>
                <a:ext uri="{FF2B5EF4-FFF2-40B4-BE49-F238E27FC236}">
                  <a16:creationId xmlns:a16="http://schemas.microsoft.com/office/drawing/2014/main" id="{BEFBE561-2989-FF7A-BD35-2AAC6176D98C}"/>
                </a:ext>
              </a:extLst>
            </p:cNvPr>
            <p:cNvSpPr>
              <a:spLocks noEditPoints="1"/>
            </p:cNvSpPr>
            <p:nvPr/>
          </p:nvSpPr>
          <p:spPr bwMode="auto">
            <a:xfrm>
              <a:off x="4046" y="1986"/>
              <a:ext cx="92" cy="91"/>
            </a:xfrm>
            <a:custGeom>
              <a:avLst/>
              <a:gdLst>
                <a:gd name="T0" fmla="*/ 16 w 32"/>
                <a:gd name="T1" fmla="*/ 0 h 32"/>
                <a:gd name="T2" fmla="*/ 0 w 32"/>
                <a:gd name="T3" fmla="*/ 16 h 32"/>
                <a:gd name="T4" fmla="*/ 16 w 32"/>
                <a:gd name="T5" fmla="*/ 32 h 32"/>
                <a:gd name="T6" fmla="*/ 32 w 32"/>
                <a:gd name="T7" fmla="*/ 16 h 32"/>
                <a:gd name="T8" fmla="*/ 16 w 32"/>
                <a:gd name="T9" fmla="*/ 0 h 32"/>
                <a:gd name="T10" fmla="*/ 16 w 32"/>
                <a:gd name="T11" fmla="*/ 25 h 32"/>
                <a:gd name="T12" fmla="*/ 7 w 32"/>
                <a:gd name="T13" fmla="*/ 16 h 32"/>
                <a:gd name="T14" fmla="*/ 16 w 32"/>
                <a:gd name="T15" fmla="*/ 6 h 32"/>
                <a:gd name="T16" fmla="*/ 26 w 32"/>
                <a:gd name="T17" fmla="*/ 16 h 32"/>
                <a:gd name="T18" fmla="*/ 16 w 32"/>
                <a:gd name="T19" fmla="*/ 25 h 32"/>
                <a:gd name="T20" fmla="*/ 16 w 32"/>
                <a:gd name="T21" fmla="*/ 25 h 32"/>
                <a:gd name="T22" fmla="*/ 16 w 32"/>
                <a:gd name="T23" fmla="*/ 2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32">
                  <a:moveTo>
                    <a:pt x="16" y="0"/>
                  </a:moveTo>
                  <a:cubicBezTo>
                    <a:pt x="8" y="0"/>
                    <a:pt x="0" y="7"/>
                    <a:pt x="0" y="16"/>
                  </a:cubicBezTo>
                  <a:cubicBezTo>
                    <a:pt x="0" y="25"/>
                    <a:pt x="8" y="32"/>
                    <a:pt x="16" y="32"/>
                  </a:cubicBezTo>
                  <a:cubicBezTo>
                    <a:pt x="25" y="32"/>
                    <a:pt x="32" y="25"/>
                    <a:pt x="32" y="16"/>
                  </a:cubicBezTo>
                  <a:cubicBezTo>
                    <a:pt x="32" y="7"/>
                    <a:pt x="25" y="0"/>
                    <a:pt x="16" y="0"/>
                  </a:cubicBezTo>
                  <a:close/>
                  <a:moveTo>
                    <a:pt x="16" y="25"/>
                  </a:moveTo>
                  <a:cubicBezTo>
                    <a:pt x="11" y="25"/>
                    <a:pt x="7" y="21"/>
                    <a:pt x="7" y="16"/>
                  </a:cubicBezTo>
                  <a:cubicBezTo>
                    <a:pt x="7" y="10"/>
                    <a:pt x="11" y="6"/>
                    <a:pt x="16" y="6"/>
                  </a:cubicBezTo>
                  <a:cubicBezTo>
                    <a:pt x="22" y="6"/>
                    <a:pt x="26" y="10"/>
                    <a:pt x="26" y="16"/>
                  </a:cubicBezTo>
                  <a:cubicBezTo>
                    <a:pt x="26" y="21"/>
                    <a:pt x="22" y="25"/>
                    <a:pt x="16" y="25"/>
                  </a:cubicBezTo>
                  <a:close/>
                  <a:moveTo>
                    <a:pt x="16" y="25"/>
                  </a:moveTo>
                  <a:cubicBezTo>
                    <a:pt x="16" y="25"/>
                    <a:pt x="16" y="25"/>
                    <a:pt x="16" y="2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147" name="Freeform 7">
              <a:extLst>
                <a:ext uri="{FF2B5EF4-FFF2-40B4-BE49-F238E27FC236}">
                  <a16:creationId xmlns:a16="http://schemas.microsoft.com/office/drawing/2014/main" id="{2E724335-A824-FF19-0025-38F2D670E8E5}"/>
                </a:ext>
              </a:extLst>
            </p:cNvPr>
            <p:cNvSpPr>
              <a:spLocks noEditPoints="1"/>
            </p:cNvSpPr>
            <p:nvPr/>
          </p:nvSpPr>
          <p:spPr bwMode="auto">
            <a:xfrm>
              <a:off x="3709" y="1629"/>
              <a:ext cx="457" cy="500"/>
            </a:xfrm>
            <a:custGeom>
              <a:avLst/>
              <a:gdLst>
                <a:gd name="T0" fmla="*/ 68 w 160"/>
                <a:gd name="T1" fmla="*/ 131 h 175"/>
                <a:gd name="T2" fmla="*/ 58 w 160"/>
                <a:gd name="T3" fmla="*/ 130 h 175"/>
                <a:gd name="T4" fmla="*/ 24 w 160"/>
                <a:gd name="T5" fmla="*/ 122 h 175"/>
                <a:gd name="T6" fmla="*/ 19 w 160"/>
                <a:gd name="T7" fmla="*/ 120 h 175"/>
                <a:gd name="T8" fmla="*/ 13 w 160"/>
                <a:gd name="T9" fmla="*/ 117 h 175"/>
                <a:gd name="T10" fmla="*/ 10 w 160"/>
                <a:gd name="T11" fmla="*/ 114 h 175"/>
                <a:gd name="T12" fmla="*/ 7 w 160"/>
                <a:gd name="T13" fmla="*/ 111 h 175"/>
                <a:gd name="T14" fmla="*/ 6 w 160"/>
                <a:gd name="T15" fmla="*/ 107 h 175"/>
                <a:gd name="T16" fmla="*/ 9 w 160"/>
                <a:gd name="T17" fmla="*/ 83 h 175"/>
                <a:gd name="T18" fmla="*/ 154 w 160"/>
                <a:gd name="T19" fmla="*/ 81 h 175"/>
                <a:gd name="T20" fmla="*/ 160 w 160"/>
                <a:gd name="T21" fmla="*/ 93 h 175"/>
                <a:gd name="T22" fmla="*/ 80 w 160"/>
                <a:gd name="T23" fmla="*/ 0 h 175"/>
                <a:gd name="T24" fmla="*/ 0 w 160"/>
                <a:gd name="T25" fmla="*/ 147 h 175"/>
                <a:gd name="T26" fmla="*/ 64 w 160"/>
                <a:gd name="T27" fmla="*/ 175 h 175"/>
                <a:gd name="T28" fmla="*/ 7 w 160"/>
                <a:gd name="T29" fmla="*/ 147 h 175"/>
                <a:gd name="T30" fmla="*/ 7 w 160"/>
                <a:gd name="T31" fmla="*/ 120 h 175"/>
                <a:gd name="T32" fmla="*/ 83 w 160"/>
                <a:gd name="T33" fmla="*/ 134 h 175"/>
                <a:gd name="T34" fmla="*/ 11 w 160"/>
                <a:gd name="T35" fmla="*/ 46 h 175"/>
                <a:gd name="T36" fmla="*/ 16 w 160"/>
                <a:gd name="T37" fmla="*/ 49 h 175"/>
                <a:gd name="T38" fmla="*/ 25 w 160"/>
                <a:gd name="T39" fmla="*/ 53 h 175"/>
                <a:gd name="T40" fmla="*/ 32 w 160"/>
                <a:gd name="T41" fmla="*/ 55 h 175"/>
                <a:gd name="T42" fmla="*/ 45 w 160"/>
                <a:gd name="T43" fmla="*/ 58 h 175"/>
                <a:gd name="T44" fmla="*/ 54 w 160"/>
                <a:gd name="T45" fmla="*/ 59 h 175"/>
                <a:gd name="T46" fmla="*/ 69 w 160"/>
                <a:gd name="T47" fmla="*/ 61 h 175"/>
                <a:gd name="T48" fmla="*/ 88 w 160"/>
                <a:gd name="T49" fmla="*/ 61 h 175"/>
                <a:gd name="T50" fmla="*/ 99 w 160"/>
                <a:gd name="T51" fmla="*/ 60 h 175"/>
                <a:gd name="T52" fmla="*/ 113 w 160"/>
                <a:gd name="T53" fmla="*/ 58 h 175"/>
                <a:gd name="T54" fmla="*/ 122 w 160"/>
                <a:gd name="T55" fmla="*/ 57 h 175"/>
                <a:gd name="T56" fmla="*/ 133 w 160"/>
                <a:gd name="T57" fmla="*/ 53 h 175"/>
                <a:gd name="T58" fmla="*/ 140 w 160"/>
                <a:gd name="T59" fmla="*/ 51 h 175"/>
                <a:gd name="T60" fmla="*/ 148 w 160"/>
                <a:gd name="T61" fmla="*/ 47 h 175"/>
                <a:gd name="T62" fmla="*/ 152 w 160"/>
                <a:gd name="T63" fmla="*/ 44 h 175"/>
                <a:gd name="T64" fmla="*/ 153 w 160"/>
                <a:gd name="T65" fmla="*/ 70 h 175"/>
                <a:gd name="T66" fmla="*/ 152 w 160"/>
                <a:gd name="T67" fmla="*/ 74 h 175"/>
                <a:gd name="T68" fmla="*/ 149 w 160"/>
                <a:gd name="T69" fmla="*/ 76 h 175"/>
                <a:gd name="T70" fmla="*/ 144 w 160"/>
                <a:gd name="T71" fmla="*/ 80 h 175"/>
                <a:gd name="T72" fmla="*/ 140 w 160"/>
                <a:gd name="T73" fmla="*/ 82 h 175"/>
                <a:gd name="T74" fmla="*/ 109 w 160"/>
                <a:gd name="T75" fmla="*/ 91 h 175"/>
                <a:gd name="T76" fmla="*/ 101 w 160"/>
                <a:gd name="T77" fmla="*/ 92 h 175"/>
                <a:gd name="T78" fmla="*/ 88 w 160"/>
                <a:gd name="T79" fmla="*/ 93 h 175"/>
                <a:gd name="T80" fmla="*/ 68 w 160"/>
                <a:gd name="T81" fmla="*/ 92 h 175"/>
                <a:gd name="T82" fmla="*/ 58 w 160"/>
                <a:gd name="T83" fmla="*/ 92 h 175"/>
                <a:gd name="T84" fmla="*/ 24 w 160"/>
                <a:gd name="T85" fmla="*/ 84 h 175"/>
                <a:gd name="T86" fmla="*/ 19 w 160"/>
                <a:gd name="T87" fmla="*/ 82 h 175"/>
                <a:gd name="T88" fmla="*/ 13 w 160"/>
                <a:gd name="T89" fmla="*/ 78 h 175"/>
                <a:gd name="T90" fmla="*/ 10 w 160"/>
                <a:gd name="T91" fmla="*/ 76 h 175"/>
                <a:gd name="T92" fmla="*/ 7 w 160"/>
                <a:gd name="T93" fmla="*/ 72 h 175"/>
                <a:gd name="T94" fmla="*/ 6 w 160"/>
                <a:gd name="T95" fmla="*/ 69 h 175"/>
                <a:gd name="T96" fmla="*/ 8 w 160"/>
                <a:gd name="T97" fmla="*/ 44 h 175"/>
                <a:gd name="T98" fmla="*/ 80 w 160"/>
                <a:gd name="T99" fmla="*/ 54 h 175"/>
                <a:gd name="T100" fmla="*/ 80 w 160"/>
                <a:gd name="T101" fmla="*/ 6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60" h="175">
                  <a:moveTo>
                    <a:pt x="80" y="131"/>
                  </a:moveTo>
                  <a:cubicBezTo>
                    <a:pt x="77" y="131"/>
                    <a:pt x="75" y="131"/>
                    <a:pt x="72" y="131"/>
                  </a:cubicBezTo>
                  <a:cubicBezTo>
                    <a:pt x="71" y="131"/>
                    <a:pt x="69" y="131"/>
                    <a:pt x="68" y="131"/>
                  </a:cubicBezTo>
                  <a:cubicBezTo>
                    <a:pt x="67" y="131"/>
                    <a:pt x="66" y="131"/>
                    <a:pt x="65" y="131"/>
                  </a:cubicBezTo>
                  <a:cubicBezTo>
                    <a:pt x="63" y="130"/>
                    <a:pt x="61" y="130"/>
                    <a:pt x="59" y="130"/>
                  </a:cubicBezTo>
                  <a:cubicBezTo>
                    <a:pt x="59" y="130"/>
                    <a:pt x="58" y="130"/>
                    <a:pt x="58" y="130"/>
                  </a:cubicBezTo>
                  <a:cubicBezTo>
                    <a:pt x="56" y="130"/>
                    <a:pt x="53" y="129"/>
                    <a:pt x="51" y="129"/>
                  </a:cubicBezTo>
                  <a:cubicBezTo>
                    <a:pt x="51" y="129"/>
                    <a:pt x="51" y="129"/>
                    <a:pt x="51" y="129"/>
                  </a:cubicBezTo>
                  <a:cubicBezTo>
                    <a:pt x="40" y="128"/>
                    <a:pt x="31" y="125"/>
                    <a:pt x="24" y="122"/>
                  </a:cubicBezTo>
                  <a:cubicBezTo>
                    <a:pt x="24" y="122"/>
                    <a:pt x="24" y="122"/>
                    <a:pt x="24" y="122"/>
                  </a:cubicBezTo>
                  <a:cubicBezTo>
                    <a:pt x="22" y="122"/>
                    <a:pt x="21" y="121"/>
                    <a:pt x="20" y="120"/>
                  </a:cubicBezTo>
                  <a:cubicBezTo>
                    <a:pt x="20" y="120"/>
                    <a:pt x="20" y="120"/>
                    <a:pt x="19" y="120"/>
                  </a:cubicBezTo>
                  <a:cubicBezTo>
                    <a:pt x="18" y="120"/>
                    <a:pt x="17" y="119"/>
                    <a:pt x="16" y="119"/>
                  </a:cubicBezTo>
                  <a:cubicBezTo>
                    <a:pt x="16" y="119"/>
                    <a:pt x="16" y="118"/>
                    <a:pt x="16" y="118"/>
                  </a:cubicBezTo>
                  <a:cubicBezTo>
                    <a:pt x="15" y="118"/>
                    <a:pt x="14" y="117"/>
                    <a:pt x="13" y="117"/>
                  </a:cubicBezTo>
                  <a:cubicBezTo>
                    <a:pt x="13" y="117"/>
                    <a:pt x="13" y="116"/>
                    <a:pt x="13" y="116"/>
                  </a:cubicBezTo>
                  <a:cubicBezTo>
                    <a:pt x="12" y="116"/>
                    <a:pt x="11" y="115"/>
                    <a:pt x="11" y="115"/>
                  </a:cubicBezTo>
                  <a:cubicBezTo>
                    <a:pt x="11" y="115"/>
                    <a:pt x="10" y="114"/>
                    <a:pt x="10" y="114"/>
                  </a:cubicBezTo>
                  <a:cubicBezTo>
                    <a:pt x="10" y="114"/>
                    <a:pt x="9" y="113"/>
                    <a:pt x="9" y="113"/>
                  </a:cubicBezTo>
                  <a:cubicBezTo>
                    <a:pt x="9" y="113"/>
                    <a:pt x="8" y="112"/>
                    <a:pt x="8" y="112"/>
                  </a:cubicBezTo>
                  <a:cubicBezTo>
                    <a:pt x="8" y="112"/>
                    <a:pt x="8" y="111"/>
                    <a:pt x="7" y="111"/>
                  </a:cubicBezTo>
                  <a:cubicBezTo>
                    <a:pt x="7" y="110"/>
                    <a:pt x="7" y="110"/>
                    <a:pt x="7" y="110"/>
                  </a:cubicBezTo>
                  <a:cubicBezTo>
                    <a:pt x="7" y="109"/>
                    <a:pt x="7" y="109"/>
                    <a:pt x="7" y="109"/>
                  </a:cubicBezTo>
                  <a:cubicBezTo>
                    <a:pt x="7" y="108"/>
                    <a:pt x="6" y="108"/>
                    <a:pt x="6" y="107"/>
                  </a:cubicBezTo>
                  <a:cubicBezTo>
                    <a:pt x="6" y="81"/>
                    <a:pt x="6" y="81"/>
                    <a:pt x="6" y="81"/>
                  </a:cubicBezTo>
                  <a:cubicBezTo>
                    <a:pt x="6" y="81"/>
                    <a:pt x="7" y="81"/>
                    <a:pt x="7" y="81"/>
                  </a:cubicBezTo>
                  <a:cubicBezTo>
                    <a:pt x="7" y="82"/>
                    <a:pt x="8" y="82"/>
                    <a:pt x="9" y="83"/>
                  </a:cubicBezTo>
                  <a:cubicBezTo>
                    <a:pt x="21" y="92"/>
                    <a:pt x="45" y="99"/>
                    <a:pt x="80" y="99"/>
                  </a:cubicBezTo>
                  <a:cubicBezTo>
                    <a:pt x="115" y="99"/>
                    <a:pt x="139" y="92"/>
                    <a:pt x="151" y="83"/>
                  </a:cubicBezTo>
                  <a:cubicBezTo>
                    <a:pt x="152" y="82"/>
                    <a:pt x="153" y="82"/>
                    <a:pt x="154" y="81"/>
                  </a:cubicBezTo>
                  <a:cubicBezTo>
                    <a:pt x="154" y="93"/>
                    <a:pt x="154" y="93"/>
                    <a:pt x="154" y="93"/>
                  </a:cubicBezTo>
                  <a:cubicBezTo>
                    <a:pt x="154" y="95"/>
                    <a:pt x="155" y="96"/>
                    <a:pt x="157" y="96"/>
                  </a:cubicBezTo>
                  <a:cubicBezTo>
                    <a:pt x="159" y="96"/>
                    <a:pt x="160" y="95"/>
                    <a:pt x="160" y="93"/>
                  </a:cubicBezTo>
                  <a:cubicBezTo>
                    <a:pt x="160" y="29"/>
                    <a:pt x="160" y="29"/>
                    <a:pt x="160" y="29"/>
                  </a:cubicBezTo>
                  <a:cubicBezTo>
                    <a:pt x="160" y="28"/>
                    <a:pt x="160" y="28"/>
                    <a:pt x="160" y="27"/>
                  </a:cubicBezTo>
                  <a:cubicBezTo>
                    <a:pt x="156" y="13"/>
                    <a:pt x="128" y="0"/>
                    <a:pt x="80" y="0"/>
                  </a:cubicBezTo>
                  <a:cubicBezTo>
                    <a:pt x="32" y="0"/>
                    <a:pt x="4" y="13"/>
                    <a:pt x="0" y="27"/>
                  </a:cubicBezTo>
                  <a:cubicBezTo>
                    <a:pt x="0" y="28"/>
                    <a:pt x="0" y="28"/>
                    <a:pt x="0" y="29"/>
                  </a:cubicBezTo>
                  <a:cubicBezTo>
                    <a:pt x="0" y="147"/>
                    <a:pt x="0" y="147"/>
                    <a:pt x="0" y="147"/>
                  </a:cubicBezTo>
                  <a:cubicBezTo>
                    <a:pt x="0" y="148"/>
                    <a:pt x="0" y="148"/>
                    <a:pt x="0" y="149"/>
                  </a:cubicBezTo>
                  <a:cubicBezTo>
                    <a:pt x="4" y="164"/>
                    <a:pt x="35" y="173"/>
                    <a:pt x="64" y="175"/>
                  </a:cubicBezTo>
                  <a:cubicBezTo>
                    <a:pt x="64" y="175"/>
                    <a:pt x="64" y="175"/>
                    <a:pt x="64" y="175"/>
                  </a:cubicBezTo>
                  <a:cubicBezTo>
                    <a:pt x="66" y="175"/>
                    <a:pt x="67" y="174"/>
                    <a:pt x="67" y="172"/>
                  </a:cubicBezTo>
                  <a:cubicBezTo>
                    <a:pt x="67" y="171"/>
                    <a:pt x="66" y="169"/>
                    <a:pt x="64" y="169"/>
                  </a:cubicBezTo>
                  <a:cubicBezTo>
                    <a:pt x="29" y="166"/>
                    <a:pt x="8" y="155"/>
                    <a:pt x="7" y="147"/>
                  </a:cubicBezTo>
                  <a:cubicBezTo>
                    <a:pt x="6" y="146"/>
                    <a:pt x="6" y="146"/>
                    <a:pt x="6" y="146"/>
                  </a:cubicBezTo>
                  <a:cubicBezTo>
                    <a:pt x="6" y="119"/>
                    <a:pt x="6" y="119"/>
                    <a:pt x="6" y="119"/>
                  </a:cubicBezTo>
                  <a:cubicBezTo>
                    <a:pt x="6" y="119"/>
                    <a:pt x="7" y="119"/>
                    <a:pt x="7" y="120"/>
                  </a:cubicBezTo>
                  <a:cubicBezTo>
                    <a:pt x="7" y="120"/>
                    <a:pt x="8" y="121"/>
                    <a:pt x="9" y="121"/>
                  </a:cubicBezTo>
                  <a:cubicBezTo>
                    <a:pt x="21" y="130"/>
                    <a:pt x="45" y="138"/>
                    <a:pt x="80" y="138"/>
                  </a:cubicBezTo>
                  <a:cubicBezTo>
                    <a:pt x="82" y="138"/>
                    <a:pt x="83" y="136"/>
                    <a:pt x="83" y="134"/>
                  </a:cubicBezTo>
                  <a:cubicBezTo>
                    <a:pt x="83" y="133"/>
                    <a:pt x="82" y="131"/>
                    <a:pt x="80" y="131"/>
                  </a:cubicBezTo>
                  <a:close/>
                  <a:moveTo>
                    <a:pt x="8" y="44"/>
                  </a:moveTo>
                  <a:cubicBezTo>
                    <a:pt x="9" y="45"/>
                    <a:pt x="10" y="46"/>
                    <a:pt x="11" y="46"/>
                  </a:cubicBezTo>
                  <a:cubicBezTo>
                    <a:pt x="12" y="46"/>
                    <a:pt x="12" y="47"/>
                    <a:pt x="12" y="47"/>
                  </a:cubicBezTo>
                  <a:cubicBezTo>
                    <a:pt x="13" y="47"/>
                    <a:pt x="14" y="48"/>
                    <a:pt x="15" y="49"/>
                  </a:cubicBezTo>
                  <a:cubicBezTo>
                    <a:pt x="16" y="49"/>
                    <a:pt x="16" y="49"/>
                    <a:pt x="16" y="49"/>
                  </a:cubicBezTo>
                  <a:cubicBezTo>
                    <a:pt x="18" y="50"/>
                    <a:pt x="19" y="50"/>
                    <a:pt x="20" y="51"/>
                  </a:cubicBezTo>
                  <a:cubicBezTo>
                    <a:pt x="20" y="51"/>
                    <a:pt x="20" y="51"/>
                    <a:pt x="21" y="51"/>
                  </a:cubicBezTo>
                  <a:cubicBezTo>
                    <a:pt x="22" y="52"/>
                    <a:pt x="24" y="52"/>
                    <a:pt x="25" y="53"/>
                  </a:cubicBezTo>
                  <a:cubicBezTo>
                    <a:pt x="26" y="53"/>
                    <a:pt x="26" y="53"/>
                    <a:pt x="27" y="53"/>
                  </a:cubicBezTo>
                  <a:cubicBezTo>
                    <a:pt x="28" y="54"/>
                    <a:pt x="29" y="54"/>
                    <a:pt x="31" y="55"/>
                  </a:cubicBezTo>
                  <a:cubicBezTo>
                    <a:pt x="31" y="55"/>
                    <a:pt x="32" y="55"/>
                    <a:pt x="32" y="55"/>
                  </a:cubicBezTo>
                  <a:cubicBezTo>
                    <a:pt x="34" y="56"/>
                    <a:pt x="36" y="56"/>
                    <a:pt x="38" y="57"/>
                  </a:cubicBezTo>
                  <a:cubicBezTo>
                    <a:pt x="39" y="57"/>
                    <a:pt x="39" y="57"/>
                    <a:pt x="39" y="57"/>
                  </a:cubicBezTo>
                  <a:cubicBezTo>
                    <a:pt x="41" y="57"/>
                    <a:pt x="43" y="58"/>
                    <a:pt x="45" y="58"/>
                  </a:cubicBezTo>
                  <a:cubicBezTo>
                    <a:pt x="45" y="58"/>
                    <a:pt x="46" y="58"/>
                    <a:pt x="47" y="58"/>
                  </a:cubicBezTo>
                  <a:cubicBezTo>
                    <a:pt x="48" y="59"/>
                    <a:pt x="50" y="59"/>
                    <a:pt x="52" y="59"/>
                  </a:cubicBezTo>
                  <a:cubicBezTo>
                    <a:pt x="53" y="59"/>
                    <a:pt x="53" y="59"/>
                    <a:pt x="54" y="59"/>
                  </a:cubicBezTo>
                  <a:cubicBezTo>
                    <a:pt x="56" y="60"/>
                    <a:pt x="59" y="60"/>
                    <a:pt x="61" y="60"/>
                  </a:cubicBezTo>
                  <a:cubicBezTo>
                    <a:pt x="62" y="60"/>
                    <a:pt x="62" y="60"/>
                    <a:pt x="63" y="60"/>
                  </a:cubicBezTo>
                  <a:cubicBezTo>
                    <a:pt x="65" y="60"/>
                    <a:pt x="67" y="60"/>
                    <a:pt x="69" y="61"/>
                  </a:cubicBezTo>
                  <a:cubicBezTo>
                    <a:pt x="70" y="61"/>
                    <a:pt x="71" y="61"/>
                    <a:pt x="72" y="61"/>
                  </a:cubicBezTo>
                  <a:cubicBezTo>
                    <a:pt x="74" y="61"/>
                    <a:pt x="77" y="61"/>
                    <a:pt x="80" y="61"/>
                  </a:cubicBezTo>
                  <a:cubicBezTo>
                    <a:pt x="83" y="61"/>
                    <a:pt x="86" y="61"/>
                    <a:pt x="88" y="61"/>
                  </a:cubicBezTo>
                  <a:cubicBezTo>
                    <a:pt x="89" y="61"/>
                    <a:pt x="90" y="61"/>
                    <a:pt x="91" y="61"/>
                  </a:cubicBezTo>
                  <a:cubicBezTo>
                    <a:pt x="93" y="60"/>
                    <a:pt x="95" y="60"/>
                    <a:pt x="97" y="60"/>
                  </a:cubicBezTo>
                  <a:cubicBezTo>
                    <a:pt x="98" y="60"/>
                    <a:pt x="98" y="60"/>
                    <a:pt x="99" y="60"/>
                  </a:cubicBezTo>
                  <a:cubicBezTo>
                    <a:pt x="101" y="60"/>
                    <a:pt x="104" y="60"/>
                    <a:pt x="106" y="59"/>
                  </a:cubicBezTo>
                  <a:cubicBezTo>
                    <a:pt x="107" y="59"/>
                    <a:pt x="107" y="59"/>
                    <a:pt x="108" y="59"/>
                  </a:cubicBezTo>
                  <a:cubicBezTo>
                    <a:pt x="110" y="59"/>
                    <a:pt x="112" y="59"/>
                    <a:pt x="113" y="58"/>
                  </a:cubicBezTo>
                  <a:cubicBezTo>
                    <a:pt x="114" y="58"/>
                    <a:pt x="115" y="58"/>
                    <a:pt x="115" y="58"/>
                  </a:cubicBezTo>
                  <a:cubicBezTo>
                    <a:pt x="117" y="58"/>
                    <a:pt x="119" y="57"/>
                    <a:pt x="121" y="57"/>
                  </a:cubicBezTo>
                  <a:cubicBezTo>
                    <a:pt x="121" y="57"/>
                    <a:pt x="121" y="57"/>
                    <a:pt x="122" y="57"/>
                  </a:cubicBezTo>
                  <a:cubicBezTo>
                    <a:pt x="124" y="56"/>
                    <a:pt x="126" y="56"/>
                    <a:pt x="128" y="55"/>
                  </a:cubicBezTo>
                  <a:cubicBezTo>
                    <a:pt x="128" y="55"/>
                    <a:pt x="129" y="55"/>
                    <a:pt x="129" y="55"/>
                  </a:cubicBezTo>
                  <a:cubicBezTo>
                    <a:pt x="131" y="54"/>
                    <a:pt x="132" y="54"/>
                    <a:pt x="133" y="53"/>
                  </a:cubicBezTo>
                  <a:cubicBezTo>
                    <a:pt x="134" y="53"/>
                    <a:pt x="134" y="53"/>
                    <a:pt x="135" y="53"/>
                  </a:cubicBezTo>
                  <a:cubicBezTo>
                    <a:pt x="136" y="52"/>
                    <a:pt x="138" y="52"/>
                    <a:pt x="139" y="51"/>
                  </a:cubicBezTo>
                  <a:cubicBezTo>
                    <a:pt x="140" y="51"/>
                    <a:pt x="140" y="51"/>
                    <a:pt x="140" y="51"/>
                  </a:cubicBezTo>
                  <a:cubicBezTo>
                    <a:pt x="141" y="50"/>
                    <a:pt x="142" y="50"/>
                    <a:pt x="144" y="49"/>
                  </a:cubicBezTo>
                  <a:cubicBezTo>
                    <a:pt x="144" y="49"/>
                    <a:pt x="144" y="49"/>
                    <a:pt x="145" y="49"/>
                  </a:cubicBezTo>
                  <a:cubicBezTo>
                    <a:pt x="146" y="48"/>
                    <a:pt x="147" y="47"/>
                    <a:pt x="148" y="47"/>
                  </a:cubicBezTo>
                  <a:cubicBezTo>
                    <a:pt x="148" y="47"/>
                    <a:pt x="148" y="46"/>
                    <a:pt x="149" y="46"/>
                  </a:cubicBezTo>
                  <a:cubicBezTo>
                    <a:pt x="150" y="46"/>
                    <a:pt x="151" y="45"/>
                    <a:pt x="152" y="44"/>
                  </a:cubicBezTo>
                  <a:cubicBezTo>
                    <a:pt x="152" y="44"/>
                    <a:pt x="152" y="44"/>
                    <a:pt x="152" y="44"/>
                  </a:cubicBezTo>
                  <a:cubicBezTo>
                    <a:pt x="153" y="43"/>
                    <a:pt x="153" y="43"/>
                    <a:pt x="154" y="42"/>
                  </a:cubicBezTo>
                  <a:cubicBezTo>
                    <a:pt x="154" y="69"/>
                    <a:pt x="154" y="69"/>
                    <a:pt x="154" y="69"/>
                  </a:cubicBezTo>
                  <a:cubicBezTo>
                    <a:pt x="154" y="69"/>
                    <a:pt x="153" y="70"/>
                    <a:pt x="153" y="70"/>
                  </a:cubicBezTo>
                  <a:cubicBezTo>
                    <a:pt x="153" y="71"/>
                    <a:pt x="153" y="71"/>
                    <a:pt x="153" y="71"/>
                  </a:cubicBezTo>
                  <a:cubicBezTo>
                    <a:pt x="153" y="72"/>
                    <a:pt x="153" y="72"/>
                    <a:pt x="153" y="72"/>
                  </a:cubicBezTo>
                  <a:cubicBezTo>
                    <a:pt x="152" y="73"/>
                    <a:pt x="152" y="73"/>
                    <a:pt x="152" y="74"/>
                  </a:cubicBezTo>
                  <a:cubicBezTo>
                    <a:pt x="152" y="74"/>
                    <a:pt x="151" y="74"/>
                    <a:pt x="151" y="74"/>
                  </a:cubicBezTo>
                  <a:cubicBezTo>
                    <a:pt x="151" y="75"/>
                    <a:pt x="150" y="75"/>
                    <a:pt x="150" y="76"/>
                  </a:cubicBezTo>
                  <a:cubicBezTo>
                    <a:pt x="150" y="76"/>
                    <a:pt x="149" y="76"/>
                    <a:pt x="149" y="76"/>
                  </a:cubicBezTo>
                  <a:cubicBezTo>
                    <a:pt x="149" y="77"/>
                    <a:pt x="148" y="77"/>
                    <a:pt x="147" y="78"/>
                  </a:cubicBezTo>
                  <a:cubicBezTo>
                    <a:pt x="147" y="78"/>
                    <a:pt x="147" y="78"/>
                    <a:pt x="147" y="78"/>
                  </a:cubicBezTo>
                  <a:cubicBezTo>
                    <a:pt x="146" y="79"/>
                    <a:pt x="145" y="79"/>
                    <a:pt x="144" y="80"/>
                  </a:cubicBezTo>
                  <a:cubicBezTo>
                    <a:pt x="144" y="80"/>
                    <a:pt x="144" y="80"/>
                    <a:pt x="144" y="80"/>
                  </a:cubicBezTo>
                  <a:cubicBezTo>
                    <a:pt x="143" y="81"/>
                    <a:pt x="142" y="81"/>
                    <a:pt x="141" y="82"/>
                  </a:cubicBezTo>
                  <a:cubicBezTo>
                    <a:pt x="140" y="82"/>
                    <a:pt x="140" y="82"/>
                    <a:pt x="140" y="82"/>
                  </a:cubicBezTo>
                  <a:cubicBezTo>
                    <a:pt x="139" y="83"/>
                    <a:pt x="138" y="83"/>
                    <a:pt x="136" y="84"/>
                  </a:cubicBezTo>
                  <a:cubicBezTo>
                    <a:pt x="136" y="84"/>
                    <a:pt x="136" y="84"/>
                    <a:pt x="136" y="84"/>
                  </a:cubicBezTo>
                  <a:cubicBezTo>
                    <a:pt x="129" y="87"/>
                    <a:pt x="120" y="89"/>
                    <a:pt x="109" y="91"/>
                  </a:cubicBezTo>
                  <a:cubicBezTo>
                    <a:pt x="109" y="91"/>
                    <a:pt x="109" y="91"/>
                    <a:pt x="109" y="91"/>
                  </a:cubicBezTo>
                  <a:cubicBezTo>
                    <a:pt x="107" y="91"/>
                    <a:pt x="104" y="91"/>
                    <a:pt x="102" y="92"/>
                  </a:cubicBezTo>
                  <a:cubicBezTo>
                    <a:pt x="102" y="92"/>
                    <a:pt x="101" y="92"/>
                    <a:pt x="101" y="92"/>
                  </a:cubicBezTo>
                  <a:cubicBezTo>
                    <a:pt x="99" y="92"/>
                    <a:pt x="97" y="92"/>
                    <a:pt x="95" y="92"/>
                  </a:cubicBezTo>
                  <a:cubicBezTo>
                    <a:pt x="94" y="92"/>
                    <a:pt x="93" y="92"/>
                    <a:pt x="92" y="92"/>
                  </a:cubicBezTo>
                  <a:cubicBezTo>
                    <a:pt x="91" y="92"/>
                    <a:pt x="89" y="93"/>
                    <a:pt x="88" y="93"/>
                  </a:cubicBezTo>
                  <a:cubicBezTo>
                    <a:pt x="85" y="93"/>
                    <a:pt x="83" y="93"/>
                    <a:pt x="80" y="93"/>
                  </a:cubicBezTo>
                  <a:cubicBezTo>
                    <a:pt x="77" y="93"/>
                    <a:pt x="75" y="93"/>
                    <a:pt x="72" y="93"/>
                  </a:cubicBezTo>
                  <a:cubicBezTo>
                    <a:pt x="71" y="93"/>
                    <a:pt x="69" y="92"/>
                    <a:pt x="68" y="92"/>
                  </a:cubicBezTo>
                  <a:cubicBezTo>
                    <a:pt x="67" y="92"/>
                    <a:pt x="66" y="92"/>
                    <a:pt x="65" y="92"/>
                  </a:cubicBezTo>
                  <a:cubicBezTo>
                    <a:pt x="63" y="92"/>
                    <a:pt x="61" y="92"/>
                    <a:pt x="59" y="92"/>
                  </a:cubicBezTo>
                  <a:cubicBezTo>
                    <a:pt x="59" y="92"/>
                    <a:pt x="58" y="92"/>
                    <a:pt x="58" y="92"/>
                  </a:cubicBezTo>
                  <a:cubicBezTo>
                    <a:pt x="56" y="91"/>
                    <a:pt x="53" y="91"/>
                    <a:pt x="51" y="91"/>
                  </a:cubicBezTo>
                  <a:cubicBezTo>
                    <a:pt x="51" y="91"/>
                    <a:pt x="51" y="91"/>
                    <a:pt x="51" y="91"/>
                  </a:cubicBezTo>
                  <a:cubicBezTo>
                    <a:pt x="40" y="89"/>
                    <a:pt x="31" y="87"/>
                    <a:pt x="24" y="84"/>
                  </a:cubicBezTo>
                  <a:cubicBezTo>
                    <a:pt x="24" y="84"/>
                    <a:pt x="24" y="84"/>
                    <a:pt x="24" y="84"/>
                  </a:cubicBezTo>
                  <a:cubicBezTo>
                    <a:pt x="22" y="83"/>
                    <a:pt x="21" y="83"/>
                    <a:pt x="20" y="82"/>
                  </a:cubicBezTo>
                  <a:cubicBezTo>
                    <a:pt x="20" y="82"/>
                    <a:pt x="20" y="82"/>
                    <a:pt x="19" y="82"/>
                  </a:cubicBezTo>
                  <a:cubicBezTo>
                    <a:pt x="18" y="81"/>
                    <a:pt x="17" y="81"/>
                    <a:pt x="16" y="80"/>
                  </a:cubicBezTo>
                  <a:cubicBezTo>
                    <a:pt x="16" y="80"/>
                    <a:pt x="16" y="80"/>
                    <a:pt x="16" y="80"/>
                  </a:cubicBezTo>
                  <a:cubicBezTo>
                    <a:pt x="15" y="79"/>
                    <a:pt x="14" y="79"/>
                    <a:pt x="13" y="78"/>
                  </a:cubicBezTo>
                  <a:cubicBezTo>
                    <a:pt x="13" y="78"/>
                    <a:pt x="13" y="78"/>
                    <a:pt x="13" y="78"/>
                  </a:cubicBezTo>
                  <a:cubicBezTo>
                    <a:pt x="12" y="77"/>
                    <a:pt x="11" y="77"/>
                    <a:pt x="11" y="76"/>
                  </a:cubicBezTo>
                  <a:cubicBezTo>
                    <a:pt x="11" y="76"/>
                    <a:pt x="10" y="76"/>
                    <a:pt x="10" y="76"/>
                  </a:cubicBezTo>
                  <a:cubicBezTo>
                    <a:pt x="10" y="75"/>
                    <a:pt x="9" y="75"/>
                    <a:pt x="9" y="74"/>
                  </a:cubicBezTo>
                  <a:cubicBezTo>
                    <a:pt x="9" y="74"/>
                    <a:pt x="8" y="74"/>
                    <a:pt x="8" y="74"/>
                  </a:cubicBezTo>
                  <a:cubicBezTo>
                    <a:pt x="8" y="73"/>
                    <a:pt x="8" y="73"/>
                    <a:pt x="7" y="72"/>
                  </a:cubicBezTo>
                  <a:cubicBezTo>
                    <a:pt x="7" y="72"/>
                    <a:pt x="7" y="72"/>
                    <a:pt x="7" y="71"/>
                  </a:cubicBezTo>
                  <a:cubicBezTo>
                    <a:pt x="7" y="71"/>
                    <a:pt x="7" y="71"/>
                    <a:pt x="7" y="70"/>
                  </a:cubicBezTo>
                  <a:cubicBezTo>
                    <a:pt x="7" y="70"/>
                    <a:pt x="6" y="69"/>
                    <a:pt x="6" y="69"/>
                  </a:cubicBezTo>
                  <a:cubicBezTo>
                    <a:pt x="6" y="42"/>
                    <a:pt x="6" y="42"/>
                    <a:pt x="6" y="42"/>
                  </a:cubicBezTo>
                  <a:cubicBezTo>
                    <a:pt x="7" y="43"/>
                    <a:pt x="7" y="43"/>
                    <a:pt x="8" y="44"/>
                  </a:cubicBezTo>
                  <a:cubicBezTo>
                    <a:pt x="8" y="44"/>
                    <a:pt x="8" y="44"/>
                    <a:pt x="8" y="44"/>
                  </a:cubicBezTo>
                  <a:close/>
                  <a:moveTo>
                    <a:pt x="80" y="6"/>
                  </a:moveTo>
                  <a:cubicBezTo>
                    <a:pt x="123" y="6"/>
                    <a:pt x="154" y="19"/>
                    <a:pt x="154" y="30"/>
                  </a:cubicBezTo>
                  <a:cubicBezTo>
                    <a:pt x="154" y="42"/>
                    <a:pt x="123" y="54"/>
                    <a:pt x="80" y="54"/>
                  </a:cubicBezTo>
                  <a:cubicBezTo>
                    <a:pt x="37" y="54"/>
                    <a:pt x="6" y="42"/>
                    <a:pt x="6" y="30"/>
                  </a:cubicBezTo>
                  <a:cubicBezTo>
                    <a:pt x="6" y="19"/>
                    <a:pt x="37" y="6"/>
                    <a:pt x="80" y="6"/>
                  </a:cubicBezTo>
                  <a:close/>
                  <a:moveTo>
                    <a:pt x="80" y="6"/>
                  </a:moveTo>
                  <a:cubicBezTo>
                    <a:pt x="80" y="6"/>
                    <a:pt x="80" y="6"/>
                    <a:pt x="80" y="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grpSp>
      <p:sp>
        <p:nvSpPr>
          <p:cNvPr id="148" name="Freeform 11">
            <a:extLst>
              <a:ext uri="{FF2B5EF4-FFF2-40B4-BE49-F238E27FC236}">
                <a16:creationId xmlns:a16="http://schemas.microsoft.com/office/drawing/2014/main" id="{DA268FF4-6D26-DEFE-9B5C-5917D954ED1F}"/>
              </a:ext>
            </a:extLst>
          </p:cNvPr>
          <p:cNvSpPr>
            <a:spLocks noEditPoints="1"/>
          </p:cNvSpPr>
          <p:nvPr/>
        </p:nvSpPr>
        <p:spPr bwMode="auto">
          <a:xfrm>
            <a:off x="4631727" y="1130733"/>
            <a:ext cx="377918" cy="372490"/>
          </a:xfrm>
          <a:custGeom>
            <a:avLst/>
            <a:gdLst>
              <a:gd name="T0" fmla="*/ 1404 w 1689"/>
              <a:gd name="T1" fmla="*/ 1044 h 1640"/>
              <a:gd name="T2" fmla="*/ 1001 w 1689"/>
              <a:gd name="T3" fmla="*/ 780 h 1640"/>
              <a:gd name="T4" fmla="*/ 1474 w 1689"/>
              <a:gd name="T5" fmla="*/ 397 h 1640"/>
              <a:gd name="T6" fmla="*/ 1630 w 1689"/>
              <a:gd name="T7" fmla="*/ 164 h 1640"/>
              <a:gd name="T8" fmla="*/ 1513 w 1689"/>
              <a:gd name="T9" fmla="*/ 13 h 1640"/>
              <a:gd name="T10" fmla="*/ 1256 w 1689"/>
              <a:gd name="T11" fmla="*/ 138 h 1640"/>
              <a:gd name="T12" fmla="*/ 1238 w 1689"/>
              <a:gd name="T13" fmla="*/ 254 h 1640"/>
              <a:gd name="T14" fmla="*/ 595 w 1689"/>
              <a:gd name="T15" fmla="*/ 373 h 1640"/>
              <a:gd name="T16" fmla="*/ 144 w 1689"/>
              <a:gd name="T17" fmla="*/ 80 h 1640"/>
              <a:gd name="T18" fmla="*/ 146 w 1689"/>
              <a:gd name="T19" fmla="*/ 134 h 1640"/>
              <a:gd name="T20" fmla="*/ 304 w 1689"/>
              <a:gd name="T21" fmla="*/ 334 h 1640"/>
              <a:gd name="T22" fmla="*/ 61 w 1689"/>
              <a:gd name="T23" fmla="*/ 313 h 1640"/>
              <a:gd name="T24" fmla="*/ 14 w 1689"/>
              <a:gd name="T25" fmla="*/ 343 h 1640"/>
              <a:gd name="T26" fmla="*/ 421 w 1689"/>
              <a:gd name="T27" fmla="*/ 594 h 1640"/>
              <a:gd name="T28" fmla="*/ 556 w 1689"/>
              <a:gd name="T29" fmla="*/ 935 h 1640"/>
              <a:gd name="T30" fmla="*/ 441 w 1689"/>
              <a:gd name="T31" fmla="*/ 912 h 1640"/>
              <a:gd name="T32" fmla="*/ 405 w 1689"/>
              <a:gd name="T33" fmla="*/ 1032 h 1640"/>
              <a:gd name="T34" fmla="*/ 27 w 1689"/>
              <a:gd name="T35" fmla="*/ 1410 h 1640"/>
              <a:gd name="T36" fmla="*/ 27 w 1689"/>
              <a:gd name="T37" fmla="*/ 1502 h 1640"/>
              <a:gd name="T38" fmla="*/ 225 w 1689"/>
              <a:gd name="T39" fmla="*/ 1613 h 1640"/>
              <a:gd name="T40" fmla="*/ 606 w 1689"/>
              <a:gd name="T41" fmla="*/ 1232 h 1640"/>
              <a:gd name="T42" fmla="*/ 694 w 1689"/>
              <a:gd name="T43" fmla="*/ 1228 h 1640"/>
              <a:gd name="T44" fmla="*/ 728 w 1689"/>
              <a:gd name="T45" fmla="*/ 1106 h 1640"/>
              <a:gd name="T46" fmla="*/ 703 w 1689"/>
              <a:gd name="T47" fmla="*/ 1081 h 1640"/>
              <a:gd name="T48" fmla="*/ 1116 w 1689"/>
              <a:gd name="T49" fmla="*/ 1286 h 1640"/>
              <a:gd name="T50" fmla="*/ 1613 w 1689"/>
              <a:gd name="T51" fmla="*/ 1540 h 1640"/>
              <a:gd name="T52" fmla="*/ 1599 w 1689"/>
              <a:gd name="T53" fmla="*/ 1488 h 1640"/>
              <a:gd name="T54" fmla="*/ 1381 w 1689"/>
              <a:gd name="T55" fmla="*/ 1403 h 1640"/>
              <a:gd name="T56" fmla="*/ 1470 w 1689"/>
              <a:gd name="T57" fmla="*/ 1251 h 1640"/>
              <a:gd name="T58" fmla="*/ 1657 w 1689"/>
              <a:gd name="T59" fmla="*/ 1299 h 1640"/>
              <a:gd name="T60" fmla="*/ 1685 w 1689"/>
              <a:gd name="T61" fmla="*/ 1252 h 1640"/>
              <a:gd name="T62" fmla="*/ 1292 w 1689"/>
              <a:gd name="T63" fmla="*/ 290 h 1640"/>
              <a:gd name="T64" fmla="*/ 1303 w 1689"/>
              <a:gd name="T65" fmla="*/ 183 h 1640"/>
              <a:gd name="T66" fmla="*/ 1562 w 1689"/>
              <a:gd name="T67" fmla="*/ 152 h 1640"/>
              <a:gd name="T68" fmla="*/ 1369 w 1689"/>
              <a:gd name="T69" fmla="*/ 336 h 1640"/>
              <a:gd name="T70" fmla="*/ 957 w 1689"/>
              <a:gd name="T71" fmla="*/ 735 h 1640"/>
              <a:gd name="T72" fmla="*/ 1292 w 1689"/>
              <a:gd name="T73" fmla="*/ 290 h 1640"/>
              <a:gd name="T74" fmla="*/ 182 w 1689"/>
              <a:gd name="T75" fmla="*/ 1565 h 1640"/>
              <a:gd name="T76" fmla="*/ 452 w 1689"/>
              <a:gd name="T77" fmla="*/ 1076 h 1640"/>
              <a:gd name="T78" fmla="*/ 560 w 1689"/>
              <a:gd name="T79" fmla="*/ 1186 h 1640"/>
              <a:gd name="T80" fmla="*/ 650 w 1689"/>
              <a:gd name="T81" fmla="*/ 1181 h 1640"/>
              <a:gd name="T82" fmla="*/ 608 w 1689"/>
              <a:gd name="T83" fmla="*/ 1139 h 1640"/>
              <a:gd name="T84" fmla="*/ 591 w 1689"/>
              <a:gd name="T85" fmla="*/ 1122 h 1640"/>
              <a:gd name="T86" fmla="*/ 489 w 1689"/>
              <a:gd name="T87" fmla="*/ 955 h 1640"/>
              <a:gd name="T88" fmla="*/ 650 w 1689"/>
              <a:gd name="T89" fmla="*/ 1181 h 1640"/>
              <a:gd name="T90" fmla="*/ 601 w 1689"/>
              <a:gd name="T91" fmla="*/ 980 h 1640"/>
              <a:gd name="T92" fmla="*/ 759 w 1689"/>
              <a:gd name="T93" fmla="*/ 932 h 1640"/>
              <a:gd name="T94" fmla="*/ 1485 w 1689"/>
              <a:gd name="T95" fmla="*/ 1189 h 1640"/>
              <a:gd name="T96" fmla="*/ 1315 w 1689"/>
              <a:gd name="T97" fmla="*/ 1311 h 1640"/>
              <a:gd name="T98" fmla="*/ 1402 w 1689"/>
              <a:gd name="T99" fmla="*/ 1501 h 1640"/>
              <a:gd name="T100" fmla="*/ 1207 w 1689"/>
              <a:gd name="T101" fmla="*/ 1454 h 1640"/>
              <a:gd name="T102" fmla="*/ 1172 w 1689"/>
              <a:gd name="T103" fmla="*/ 1254 h 1640"/>
              <a:gd name="T104" fmla="*/ 413 w 1689"/>
              <a:gd name="T105" fmla="*/ 528 h 1640"/>
              <a:gd name="T106" fmla="*/ 91 w 1689"/>
              <a:gd name="T107" fmla="*/ 404 h 1640"/>
              <a:gd name="T108" fmla="*/ 220 w 1689"/>
              <a:gd name="T109" fmla="*/ 459 h 1640"/>
              <a:gd name="T110" fmla="*/ 321 w 1689"/>
              <a:gd name="T111" fmla="*/ 162 h 1640"/>
              <a:gd name="T112" fmla="*/ 521 w 1689"/>
              <a:gd name="T113" fmla="*/ 248 h 1640"/>
              <a:gd name="T114" fmla="*/ 537 w 1689"/>
              <a:gd name="T115" fmla="*/ 406 h 1640"/>
              <a:gd name="T116" fmla="*/ 1297 w 1689"/>
              <a:gd name="T117" fmla="*/ 1134 h 1640"/>
              <a:gd name="T118" fmla="*/ 1601 w 1689"/>
              <a:gd name="T119" fmla="*/ 1220 h 1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89" h="1640">
                <a:moveTo>
                  <a:pt x="1612" y="1130"/>
                </a:moveTo>
                <a:cubicBezTo>
                  <a:pt x="1557" y="1075"/>
                  <a:pt x="1482" y="1044"/>
                  <a:pt x="1404" y="1044"/>
                </a:cubicBezTo>
                <a:cubicBezTo>
                  <a:pt x="1365" y="1044"/>
                  <a:pt x="1325" y="1052"/>
                  <a:pt x="1289" y="1068"/>
                </a:cubicBezTo>
                <a:cubicBezTo>
                  <a:pt x="1001" y="780"/>
                  <a:pt x="1001" y="780"/>
                  <a:pt x="1001" y="780"/>
                </a:cubicBezTo>
                <a:cubicBezTo>
                  <a:pt x="1383" y="400"/>
                  <a:pt x="1383" y="400"/>
                  <a:pt x="1383" y="400"/>
                </a:cubicBezTo>
                <a:cubicBezTo>
                  <a:pt x="1474" y="397"/>
                  <a:pt x="1474" y="397"/>
                  <a:pt x="1474" y="397"/>
                </a:cubicBezTo>
                <a:cubicBezTo>
                  <a:pt x="1485" y="397"/>
                  <a:pt x="1495" y="391"/>
                  <a:pt x="1500" y="382"/>
                </a:cubicBezTo>
                <a:cubicBezTo>
                  <a:pt x="1630" y="164"/>
                  <a:pt x="1630" y="164"/>
                  <a:pt x="1630" y="164"/>
                </a:cubicBezTo>
                <a:cubicBezTo>
                  <a:pt x="1638" y="151"/>
                  <a:pt x="1636" y="135"/>
                  <a:pt x="1625" y="125"/>
                </a:cubicBezTo>
                <a:cubicBezTo>
                  <a:pt x="1513" y="13"/>
                  <a:pt x="1513" y="13"/>
                  <a:pt x="1513" y="13"/>
                </a:cubicBezTo>
                <a:cubicBezTo>
                  <a:pt x="1503" y="2"/>
                  <a:pt x="1487" y="0"/>
                  <a:pt x="1474" y="8"/>
                </a:cubicBezTo>
                <a:cubicBezTo>
                  <a:pt x="1256" y="138"/>
                  <a:pt x="1256" y="138"/>
                  <a:pt x="1256" y="138"/>
                </a:cubicBezTo>
                <a:cubicBezTo>
                  <a:pt x="1247" y="143"/>
                  <a:pt x="1241" y="153"/>
                  <a:pt x="1241" y="164"/>
                </a:cubicBezTo>
                <a:cubicBezTo>
                  <a:pt x="1238" y="254"/>
                  <a:pt x="1238" y="254"/>
                  <a:pt x="1238" y="254"/>
                </a:cubicBezTo>
                <a:cubicBezTo>
                  <a:pt x="857" y="635"/>
                  <a:pt x="857" y="635"/>
                  <a:pt x="857" y="635"/>
                </a:cubicBezTo>
                <a:cubicBezTo>
                  <a:pt x="595" y="373"/>
                  <a:pt x="595" y="373"/>
                  <a:pt x="595" y="373"/>
                </a:cubicBezTo>
                <a:cubicBezTo>
                  <a:pt x="622" y="214"/>
                  <a:pt x="515" y="63"/>
                  <a:pt x="356" y="35"/>
                </a:cubicBezTo>
                <a:cubicBezTo>
                  <a:pt x="282" y="22"/>
                  <a:pt x="206" y="38"/>
                  <a:pt x="144" y="80"/>
                </a:cubicBezTo>
                <a:cubicBezTo>
                  <a:pt x="129" y="90"/>
                  <a:pt x="126" y="110"/>
                  <a:pt x="135" y="124"/>
                </a:cubicBezTo>
                <a:cubicBezTo>
                  <a:pt x="138" y="129"/>
                  <a:pt x="142" y="132"/>
                  <a:pt x="146" y="134"/>
                </a:cubicBezTo>
                <a:cubicBezTo>
                  <a:pt x="292" y="215"/>
                  <a:pt x="292" y="215"/>
                  <a:pt x="292" y="215"/>
                </a:cubicBezTo>
                <a:cubicBezTo>
                  <a:pt x="324" y="234"/>
                  <a:pt x="330" y="288"/>
                  <a:pt x="304" y="334"/>
                </a:cubicBezTo>
                <a:cubicBezTo>
                  <a:pt x="278" y="380"/>
                  <a:pt x="228" y="404"/>
                  <a:pt x="196" y="386"/>
                </a:cubicBezTo>
                <a:cubicBezTo>
                  <a:pt x="61" y="313"/>
                  <a:pt x="61" y="313"/>
                  <a:pt x="61" y="313"/>
                </a:cubicBezTo>
                <a:cubicBezTo>
                  <a:pt x="46" y="304"/>
                  <a:pt x="26" y="310"/>
                  <a:pt x="18" y="326"/>
                </a:cubicBezTo>
                <a:cubicBezTo>
                  <a:pt x="15" y="331"/>
                  <a:pt x="14" y="337"/>
                  <a:pt x="14" y="343"/>
                </a:cubicBezTo>
                <a:cubicBezTo>
                  <a:pt x="24" y="504"/>
                  <a:pt x="163" y="627"/>
                  <a:pt x="325" y="617"/>
                </a:cubicBezTo>
                <a:cubicBezTo>
                  <a:pt x="358" y="615"/>
                  <a:pt x="391" y="607"/>
                  <a:pt x="421" y="594"/>
                </a:cubicBezTo>
                <a:cubicBezTo>
                  <a:pt x="660" y="832"/>
                  <a:pt x="660" y="832"/>
                  <a:pt x="660" y="832"/>
                </a:cubicBezTo>
                <a:cubicBezTo>
                  <a:pt x="556" y="935"/>
                  <a:pt x="556" y="935"/>
                  <a:pt x="556" y="935"/>
                </a:cubicBezTo>
                <a:cubicBezTo>
                  <a:pt x="533" y="912"/>
                  <a:pt x="533" y="912"/>
                  <a:pt x="533" y="912"/>
                </a:cubicBezTo>
                <a:cubicBezTo>
                  <a:pt x="507" y="887"/>
                  <a:pt x="467" y="887"/>
                  <a:pt x="441" y="912"/>
                </a:cubicBezTo>
                <a:cubicBezTo>
                  <a:pt x="409" y="944"/>
                  <a:pt x="409" y="944"/>
                  <a:pt x="409" y="944"/>
                </a:cubicBezTo>
                <a:cubicBezTo>
                  <a:pt x="384" y="968"/>
                  <a:pt x="383" y="1006"/>
                  <a:pt x="405" y="1032"/>
                </a:cubicBezTo>
                <a:cubicBezTo>
                  <a:pt x="405" y="1032"/>
                  <a:pt x="405" y="1032"/>
                  <a:pt x="405" y="1032"/>
                </a:cubicBezTo>
                <a:cubicBezTo>
                  <a:pt x="27" y="1410"/>
                  <a:pt x="27" y="1410"/>
                  <a:pt x="27" y="1410"/>
                </a:cubicBezTo>
                <a:cubicBezTo>
                  <a:pt x="1" y="1434"/>
                  <a:pt x="0" y="1475"/>
                  <a:pt x="25" y="1500"/>
                </a:cubicBezTo>
                <a:cubicBezTo>
                  <a:pt x="25" y="1501"/>
                  <a:pt x="26" y="1502"/>
                  <a:pt x="27" y="1502"/>
                </a:cubicBezTo>
                <a:cubicBezTo>
                  <a:pt x="135" y="1611"/>
                  <a:pt x="135" y="1611"/>
                  <a:pt x="135" y="1611"/>
                </a:cubicBezTo>
                <a:cubicBezTo>
                  <a:pt x="159" y="1636"/>
                  <a:pt x="200" y="1637"/>
                  <a:pt x="225" y="1613"/>
                </a:cubicBezTo>
                <a:cubicBezTo>
                  <a:pt x="226" y="1612"/>
                  <a:pt x="227" y="1611"/>
                  <a:pt x="227" y="1611"/>
                </a:cubicBezTo>
                <a:cubicBezTo>
                  <a:pt x="606" y="1232"/>
                  <a:pt x="606" y="1232"/>
                  <a:pt x="606" y="1232"/>
                </a:cubicBezTo>
                <a:cubicBezTo>
                  <a:pt x="606" y="1232"/>
                  <a:pt x="606" y="1232"/>
                  <a:pt x="606" y="1232"/>
                </a:cubicBezTo>
                <a:cubicBezTo>
                  <a:pt x="632" y="1254"/>
                  <a:pt x="670" y="1253"/>
                  <a:pt x="694" y="1228"/>
                </a:cubicBezTo>
                <a:cubicBezTo>
                  <a:pt x="726" y="1196"/>
                  <a:pt x="726" y="1196"/>
                  <a:pt x="726" y="1196"/>
                </a:cubicBezTo>
                <a:cubicBezTo>
                  <a:pt x="752" y="1172"/>
                  <a:pt x="753" y="1132"/>
                  <a:pt x="728" y="1106"/>
                </a:cubicBezTo>
                <a:cubicBezTo>
                  <a:pt x="727" y="1105"/>
                  <a:pt x="727" y="1105"/>
                  <a:pt x="726" y="1104"/>
                </a:cubicBezTo>
                <a:cubicBezTo>
                  <a:pt x="703" y="1081"/>
                  <a:pt x="703" y="1081"/>
                  <a:pt x="703" y="1081"/>
                </a:cubicBezTo>
                <a:cubicBezTo>
                  <a:pt x="805" y="976"/>
                  <a:pt x="805" y="976"/>
                  <a:pt x="805" y="976"/>
                </a:cubicBezTo>
                <a:cubicBezTo>
                  <a:pt x="1116" y="1286"/>
                  <a:pt x="1116" y="1286"/>
                  <a:pt x="1116" y="1286"/>
                </a:cubicBezTo>
                <a:cubicBezTo>
                  <a:pt x="1089" y="1446"/>
                  <a:pt x="1196" y="1597"/>
                  <a:pt x="1356" y="1624"/>
                </a:cubicBezTo>
                <a:cubicBezTo>
                  <a:pt x="1450" y="1640"/>
                  <a:pt x="1546" y="1608"/>
                  <a:pt x="1613" y="1540"/>
                </a:cubicBezTo>
                <a:cubicBezTo>
                  <a:pt x="1625" y="1527"/>
                  <a:pt x="1624" y="1506"/>
                  <a:pt x="1611" y="1495"/>
                </a:cubicBezTo>
                <a:cubicBezTo>
                  <a:pt x="1607" y="1492"/>
                  <a:pt x="1603" y="1489"/>
                  <a:pt x="1599" y="1488"/>
                </a:cubicBezTo>
                <a:cubicBezTo>
                  <a:pt x="1419" y="1440"/>
                  <a:pt x="1419" y="1440"/>
                  <a:pt x="1419" y="1440"/>
                </a:cubicBezTo>
                <a:cubicBezTo>
                  <a:pt x="1401" y="1434"/>
                  <a:pt x="1387" y="1420"/>
                  <a:pt x="1381" y="1403"/>
                </a:cubicBezTo>
                <a:cubicBezTo>
                  <a:pt x="1372" y="1379"/>
                  <a:pt x="1371" y="1352"/>
                  <a:pt x="1378" y="1327"/>
                </a:cubicBezTo>
                <a:cubicBezTo>
                  <a:pt x="1391" y="1277"/>
                  <a:pt x="1434" y="1241"/>
                  <a:pt x="1470" y="1251"/>
                </a:cubicBezTo>
                <a:cubicBezTo>
                  <a:pt x="1648" y="1299"/>
                  <a:pt x="1648" y="1299"/>
                  <a:pt x="1648" y="1299"/>
                </a:cubicBezTo>
                <a:cubicBezTo>
                  <a:pt x="1651" y="1299"/>
                  <a:pt x="1654" y="1299"/>
                  <a:pt x="1657" y="1299"/>
                </a:cubicBezTo>
                <a:cubicBezTo>
                  <a:pt x="1674" y="1299"/>
                  <a:pt x="1689" y="1285"/>
                  <a:pt x="1689" y="1267"/>
                </a:cubicBezTo>
                <a:cubicBezTo>
                  <a:pt x="1689" y="1262"/>
                  <a:pt x="1688" y="1257"/>
                  <a:pt x="1685" y="1252"/>
                </a:cubicBezTo>
                <a:cubicBezTo>
                  <a:pt x="1671" y="1206"/>
                  <a:pt x="1646" y="1164"/>
                  <a:pt x="1612" y="1130"/>
                </a:cubicBezTo>
                <a:close/>
                <a:moveTo>
                  <a:pt x="1292" y="290"/>
                </a:moveTo>
                <a:cubicBezTo>
                  <a:pt x="1297" y="284"/>
                  <a:pt x="1301" y="276"/>
                  <a:pt x="1301" y="268"/>
                </a:cubicBezTo>
                <a:cubicBezTo>
                  <a:pt x="1303" y="183"/>
                  <a:pt x="1303" y="183"/>
                  <a:pt x="1303" y="183"/>
                </a:cubicBezTo>
                <a:cubicBezTo>
                  <a:pt x="1485" y="75"/>
                  <a:pt x="1485" y="75"/>
                  <a:pt x="1485" y="75"/>
                </a:cubicBezTo>
                <a:cubicBezTo>
                  <a:pt x="1562" y="152"/>
                  <a:pt x="1562" y="152"/>
                  <a:pt x="1562" y="152"/>
                </a:cubicBezTo>
                <a:cubicBezTo>
                  <a:pt x="1456" y="333"/>
                  <a:pt x="1456" y="333"/>
                  <a:pt x="1456" y="333"/>
                </a:cubicBezTo>
                <a:cubicBezTo>
                  <a:pt x="1369" y="336"/>
                  <a:pt x="1369" y="336"/>
                  <a:pt x="1369" y="336"/>
                </a:cubicBezTo>
                <a:cubicBezTo>
                  <a:pt x="1361" y="336"/>
                  <a:pt x="1353" y="340"/>
                  <a:pt x="1347" y="345"/>
                </a:cubicBezTo>
                <a:cubicBezTo>
                  <a:pt x="957" y="735"/>
                  <a:pt x="957" y="735"/>
                  <a:pt x="957" y="735"/>
                </a:cubicBezTo>
                <a:cubicBezTo>
                  <a:pt x="902" y="680"/>
                  <a:pt x="902" y="680"/>
                  <a:pt x="902" y="680"/>
                </a:cubicBezTo>
                <a:lnTo>
                  <a:pt x="1292" y="290"/>
                </a:lnTo>
                <a:close/>
                <a:moveTo>
                  <a:pt x="182" y="1565"/>
                </a:moveTo>
                <a:cubicBezTo>
                  <a:pt x="182" y="1565"/>
                  <a:pt x="182" y="1565"/>
                  <a:pt x="182" y="1565"/>
                </a:cubicBezTo>
                <a:cubicBezTo>
                  <a:pt x="72" y="1456"/>
                  <a:pt x="72" y="1456"/>
                  <a:pt x="72" y="1456"/>
                </a:cubicBezTo>
                <a:cubicBezTo>
                  <a:pt x="452" y="1076"/>
                  <a:pt x="452" y="1076"/>
                  <a:pt x="452" y="1076"/>
                </a:cubicBezTo>
                <a:cubicBezTo>
                  <a:pt x="508" y="1132"/>
                  <a:pt x="508" y="1132"/>
                  <a:pt x="508" y="1132"/>
                </a:cubicBezTo>
                <a:cubicBezTo>
                  <a:pt x="560" y="1186"/>
                  <a:pt x="560" y="1186"/>
                  <a:pt x="560" y="1186"/>
                </a:cubicBezTo>
                <a:lnTo>
                  <a:pt x="182" y="1565"/>
                </a:lnTo>
                <a:close/>
                <a:moveTo>
                  <a:pt x="650" y="1181"/>
                </a:moveTo>
                <a:cubicBezTo>
                  <a:pt x="650" y="1181"/>
                  <a:pt x="650" y="1181"/>
                  <a:pt x="650" y="1181"/>
                </a:cubicBezTo>
                <a:cubicBezTo>
                  <a:pt x="608" y="1139"/>
                  <a:pt x="608" y="1139"/>
                  <a:pt x="608" y="1139"/>
                </a:cubicBezTo>
                <a:cubicBezTo>
                  <a:pt x="608" y="1139"/>
                  <a:pt x="608" y="1139"/>
                  <a:pt x="608" y="1139"/>
                </a:cubicBezTo>
                <a:cubicBezTo>
                  <a:pt x="591" y="1122"/>
                  <a:pt x="591" y="1122"/>
                  <a:pt x="591" y="1122"/>
                </a:cubicBezTo>
                <a:cubicBezTo>
                  <a:pt x="457" y="987"/>
                  <a:pt x="457" y="987"/>
                  <a:pt x="457" y="987"/>
                </a:cubicBezTo>
                <a:cubicBezTo>
                  <a:pt x="489" y="955"/>
                  <a:pt x="489" y="955"/>
                  <a:pt x="489" y="955"/>
                </a:cubicBezTo>
                <a:cubicBezTo>
                  <a:pt x="681" y="1149"/>
                  <a:pt x="681" y="1149"/>
                  <a:pt x="681" y="1149"/>
                </a:cubicBezTo>
                <a:lnTo>
                  <a:pt x="650" y="1181"/>
                </a:lnTo>
                <a:close/>
                <a:moveTo>
                  <a:pt x="656" y="1035"/>
                </a:moveTo>
                <a:cubicBezTo>
                  <a:pt x="601" y="980"/>
                  <a:pt x="601" y="980"/>
                  <a:pt x="601" y="980"/>
                </a:cubicBezTo>
                <a:cubicBezTo>
                  <a:pt x="704" y="877"/>
                  <a:pt x="704" y="877"/>
                  <a:pt x="704" y="877"/>
                </a:cubicBezTo>
                <a:cubicBezTo>
                  <a:pt x="759" y="932"/>
                  <a:pt x="759" y="932"/>
                  <a:pt x="759" y="932"/>
                </a:cubicBezTo>
                <a:lnTo>
                  <a:pt x="656" y="1035"/>
                </a:lnTo>
                <a:close/>
                <a:moveTo>
                  <a:pt x="1485" y="1189"/>
                </a:moveTo>
                <a:cubicBezTo>
                  <a:pt x="1476" y="1187"/>
                  <a:pt x="1466" y="1185"/>
                  <a:pt x="1456" y="1185"/>
                </a:cubicBezTo>
                <a:cubicBezTo>
                  <a:pt x="1387" y="1191"/>
                  <a:pt x="1329" y="1242"/>
                  <a:pt x="1315" y="1311"/>
                </a:cubicBezTo>
                <a:cubicBezTo>
                  <a:pt x="1304" y="1349"/>
                  <a:pt x="1306" y="1390"/>
                  <a:pt x="1321" y="1428"/>
                </a:cubicBezTo>
                <a:cubicBezTo>
                  <a:pt x="1335" y="1463"/>
                  <a:pt x="1365" y="1491"/>
                  <a:pt x="1402" y="1501"/>
                </a:cubicBezTo>
                <a:cubicBezTo>
                  <a:pt x="1521" y="1533"/>
                  <a:pt x="1521" y="1533"/>
                  <a:pt x="1521" y="1533"/>
                </a:cubicBezTo>
                <a:cubicBezTo>
                  <a:pt x="1412" y="1598"/>
                  <a:pt x="1272" y="1562"/>
                  <a:pt x="1207" y="1454"/>
                </a:cubicBezTo>
                <a:cubicBezTo>
                  <a:pt x="1177" y="1403"/>
                  <a:pt x="1167" y="1342"/>
                  <a:pt x="1181" y="1284"/>
                </a:cubicBezTo>
                <a:cubicBezTo>
                  <a:pt x="1183" y="1273"/>
                  <a:pt x="1180" y="1262"/>
                  <a:pt x="1172" y="1254"/>
                </a:cubicBezTo>
                <a:cubicBezTo>
                  <a:pt x="451" y="532"/>
                  <a:pt x="451" y="532"/>
                  <a:pt x="451" y="532"/>
                </a:cubicBezTo>
                <a:cubicBezTo>
                  <a:pt x="441" y="523"/>
                  <a:pt x="425" y="521"/>
                  <a:pt x="413" y="528"/>
                </a:cubicBezTo>
                <a:cubicBezTo>
                  <a:pt x="380" y="545"/>
                  <a:pt x="343" y="555"/>
                  <a:pt x="306" y="555"/>
                </a:cubicBezTo>
                <a:cubicBezTo>
                  <a:pt x="210" y="555"/>
                  <a:pt x="124" y="494"/>
                  <a:pt x="91" y="404"/>
                </a:cubicBezTo>
                <a:cubicBezTo>
                  <a:pt x="164" y="444"/>
                  <a:pt x="164" y="444"/>
                  <a:pt x="164" y="444"/>
                </a:cubicBezTo>
                <a:cubicBezTo>
                  <a:pt x="181" y="454"/>
                  <a:pt x="200" y="459"/>
                  <a:pt x="220" y="459"/>
                </a:cubicBezTo>
                <a:cubicBezTo>
                  <a:pt x="279" y="455"/>
                  <a:pt x="332" y="421"/>
                  <a:pt x="359" y="368"/>
                </a:cubicBezTo>
                <a:cubicBezTo>
                  <a:pt x="402" y="290"/>
                  <a:pt x="385" y="198"/>
                  <a:pt x="321" y="162"/>
                </a:cubicBezTo>
                <a:cubicBezTo>
                  <a:pt x="228" y="109"/>
                  <a:pt x="228" y="109"/>
                  <a:pt x="228" y="109"/>
                </a:cubicBezTo>
                <a:cubicBezTo>
                  <a:pt x="347" y="67"/>
                  <a:pt x="478" y="129"/>
                  <a:pt x="521" y="248"/>
                </a:cubicBezTo>
                <a:cubicBezTo>
                  <a:pt x="535" y="289"/>
                  <a:pt x="538" y="334"/>
                  <a:pt x="528" y="376"/>
                </a:cubicBezTo>
                <a:cubicBezTo>
                  <a:pt x="526" y="387"/>
                  <a:pt x="529" y="398"/>
                  <a:pt x="537" y="406"/>
                </a:cubicBezTo>
                <a:cubicBezTo>
                  <a:pt x="1260" y="1129"/>
                  <a:pt x="1260" y="1129"/>
                  <a:pt x="1260" y="1129"/>
                </a:cubicBezTo>
                <a:cubicBezTo>
                  <a:pt x="1269" y="1139"/>
                  <a:pt x="1285" y="1141"/>
                  <a:pt x="1297" y="1134"/>
                </a:cubicBezTo>
                <a:cubicBezTo>
                  <a:pt x="1330" y="1117"/>
                  <a:pt x="1367" y="1108"/>
                  <a:pt x="1404" y="1108"/>
                </a:cubicBezTo>
                <a:cubicBezTo>
                  <a:pt x="1485" y="1108"/>
                  <a:pt x="1560" y="1151"/>
                  <a:pt x="1601" y="1220"/>
                </a:cubicBezTo>
                <a:lnTo>
                  <a:pt x="1485" y="1189"/>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149" name="Freeform 67">
            <a:extLst>
              <a:ext uri="{FF2B5EF4-FFF2-40B4-BE49-F238E27FC236}">
                <a16:creationId xmlns:a16="http://schemas.microsoft.com/office/drawing/2014/main" id="{7535E0B2-D2FC-0EFE-69A0-DBD4FD80D5DF}"/>
              </a:ext>
            </a:extLst>
          </p:cNvPr>
          <p:cNvSpPr>
            <a:spLocks noEditPoints="1"/>
          </p:cNvSpPr>
          <p:nvPr/>
        </p:nvSpPr>
        <p:spPr bwMode="auto">
          <a:xfrm>
            <a:off x="5811518" y="1104728"/>
            <a:ext cx="417690" cy="424500"/>
          </a:xfrm>
          <a:custGeom>
            <a:avLst/>
            <a:gdLst>
              <a:gd name="T0" fmla="*/ 3226 w 3936"/>
              <a:gd name="T1" fmla="*/ 2984 h 3942"/>
              <a:gd name="T2" fmla="*/ 2880 w 3936"/>
              <a:gd name="T3" fmla="*/ 2704 h 3942"/>
              <a:gd name="T4" fmla="*/ 2880 w 3936"/>
              <a:gd name="T5" fmla="*/ 3145 h 3942"/>
              <a:gd name="T6" fmla="*/ 3145 w 3936"/>
              <a:gd name="T7" fmla="*/ 3189 h 3942"/>
              <a:gd name="T8" fmla="*/ 2576 w 3936"/>
              <a:gd name="T9" fmla="*/ 2977 h 3942"/>
              <a:gd name="T10" fmla="*/ 3037 w 3936"/>
              <a:gd name="T11" fmla="*/ 1921 h 3942"/>
              <a:gd name="T12" fmla="*/ 3597 w 3936"/>
              <a:gd name="T13" fmla="*/ 2165 h 3942"/>
              <a:gd name="T14" fmla="*/ 3911 w 3936"/>
              <a:gd name="T15" fmla="*/ 2783 h 3942"/>
              <a:gd name="T16" fmla="*/ 3713 w 3936"/>
              <a:gd name="T17" fmla="*/ 3440 h 3942"/>
              <a:gd name="T18" fmla="*/ 3210 w 3936"/>
              <a:gd name="T19" fmla="*/ 3624 h 3942"/>
              <a:gd name="T20" fmla="*/ 2725 w 3936"/>
              <a:gd name="T21" fmla="*/ 3851 h 3942"/>
              <a:gd name="T22" fmla="*/ 2121 w 3936"/>
              <a:gd name="T23" fmla="*/ 3526 h 3942"/>
              <a:gd name="T24" fmla="*/ 1906 w 3936"/>
              <a:gd name="T25" fmla="*/ 2867 h 3942"/>
              <a:gd name="T26" fmla="*/ 2097 w 3936"/>
              <a:gd name="T27" fmla="*/ 2820 h 3942"/>
              <a:gd name="T28" fmla="*/ 2329 w 3936"/>
              <a:gd name="T29" fmla="*/ 3144 h 3942"/>
              <a:gd name="T30" fmla="*/ 2562 w 3936"/>
              <a:gd name="T31" fmla="*/ 3471 h 3942"/>
              <a:gd name="T32" fmla="*/ 2990 w 3936"/>
              <a:gd name="T33" fmla="*/ 3815 h 3942"/>
              <a:gd name="T34" fmla="*/ 3489 w 3936"/>
              <a:gd name="T35" fmla="*/ 3605 h 3942"/>
              <a:gd name="T36" fmla="*/ 3546 w 3936"/>
              <a:gd name="T37" fmla="*/ 3068 h 3942"/>
              <a:gd name="T38" fmla="*/ 3513 w 3936"/>
              <a:gd name="T39" fmla="*/ 2707 h 3942"/>
              <a:gd name="T40" fmla="*/ 3280 w 3936"/>
              <a:gd name="T41" fmla="*/ 2380 h 3942"/>
              <a:gd name="T42" fmla="*/ 2851 w 3936"/>
              <a:gd name="T43" fmla="*/ 2036 h 3942"/>
              <a:gd name="T44" fmla="*/ 2353 w 3936"/>
              <a:gd name="T45" fmla="*/ 2246 h 3942"/>
              <a:gd name="T46" fmla="*/ 2292 w 3936"/>
              <a:gd name="T47" fmla="*/ 2787 h 3942"/>
              <a:gd name="T48" fmla="*/ 2129 w 3936"/>
              <a:gd name="T49" fmla="*/ 2297 h 3942"/>
              <a:gd name="T50" fmla="*/ 2739 w 3936"/>
              <a:gd name="T51" fmla="*/ 1975 h 3942"/>
              <a:gd name="T52" fmla="*/ 1258 w 3936"/>
              <a:gd name="T53" fmla="*/ 1515 h 3942"/>
              <a:gd name="T54" fmla="*/ 1718 w 3936"/>
              <a:gd name="T55" fmla="*/ 1665 h 3942"/>
              <a:gd name="T56" fmla="*/ 930 w 3936"/>
              <a:gd name="T57" fmla="*/ 1248 h 3942"/>
              <a:gd name="T58" fmla="*/ 1127 w 3936"/>
              <a:gd name="T59" fmla="*/ 1941 h 3942"/>
              <a:gd name="T60" fmla="*/ 1895 w 3936"/>
              <a:gd name="T61" fmla="*/ 1970 h 3942"/>
              <a:gd name="T62" fmla="*/ 1512 w 3936"/>
              <a:gd name="T63" fmla="*/ 2215 h 3942"/>
              <a:gd name="T64" fmla="*/ 813 w 3936"/>
              <a:gd name="T65" fmla="*/ 1515 h 3942"/>
              <a:gd name="T66" fmla="*/ 1812 w 3936"/>
              <a:gd name="T67" fmla="*/ 1283 h 3942"/>
              <a:gd name="T68" fmla="*/ 1564 w 3936"/>
              <a:gd name="T69" fmla="*/ 1890 h 3942"/>
              <a:gd name="T70" fmla="*/ 1163 w 3936"/>
              <a:gd name="T71" fmla="*/ 1367 h 3942"/>
              <a:gd name="T72" fmla="*/ 1902 w 3936"/>
              <a:gd name="T73" fmla="*/ 934 h 3942"/>
              <a:gd name="T74" fmla="*/ 2124 w 3936"/>
              <a:gd name="T75" fmla="*/ 1848 h 3942"/>
              <a:gd name="T76" fmla="*/ 2086 w 3936"/>
              <a:gd name="T77" fmla="*/ 1515 h 3942"/>
              <a:gd name="T78" fmla="*/ 1456 w 3936"/>
              <a:gd name="T79" fmla="*/ 942 h 3942"/>
              <a:gd name="T80" fmla="*/ 1013 w 3936"/>
              <a:gd name="T81" fmla="*/ 1030 h 3942"/>
              <a:gd name="T82" fmla="*/ 1749 w 3936"/>
              <a:gd name="T83" fmla="*/ 67 h 3942"/>
              <a:gd name="T84" fmla="*/ 2518 w 3936"/>
              <a:gd name="T85" fmla="*/ 380 h 3942"/>
              <a:gd name="T86" fmla="*/ 2931 w 3936"/>
              <a:gd name="T87" fmla="*/ 1259 h 3942"/>
              <a:gd name="T88" fmla="*/ 2576 w 3936"/>
              <a:gd name="T89" fmla="*/ 1854 h 3942"/>
              <a:gd name="T90" fmla="*/ 2451 w 3936"/>
              <a:gd name="T91" fmla="*/ 1837 h 3942"/>
              <a:gd name="T92" fmla="*/ 2863 w 3936"/>
              <a:gd name="T93" fmla="*/ 1363 h 3942"/>
              <a:gd name="T94" fmla="*/ 2577 w 3936"/>
              <a:gd name="T95" fmla="*/ 647 h 3942"/>
              <a:gd name="T96" fmla="*/ 1856 w 3936"/>
              <a:gd name="T97" fmla="*/ 582 h 3942"/>
              <a:gd name="T98" fmla="*/ 1361 w 3936"/>
              <a:gd name="T99" fmla="*/ 162 h 3942"/>
              <a:gd name="T100" fmla="*/ 646 w 3936"/>
              <a:gd name="T101" fmla="*/ 448 h 3942"/>
              <a:gd name="T102" fmla="*/ 581 w 3936"/>
              <a:gd name="T103" fmla="*/ 1171 h 3942"/>
              <a:gd name="T104" fmla="*/ 162 w 3936"/>
              <a:gd name="T105" fmla="*/ 1666 h 3942"/>
              <a:gd name="T106" fmla="*/ 447 w 3936"/>
              <a:gd name="T107" fmla="*/ 2382 h 3942"/>
              <a:gd name="T108" fmla="*/ 1169 w 3936"/>
              <a:gd name="T109" fmla="*/ 2448 h 3942"/>
              <a:gd name="T110" fmla="*/ 1664 w 3936"/>
              <a:gd name="T111" fmla="*/ 2867 h 3942"/>
              <a:gd name="T112" fmla="*/ 2025 w 3936"/>
              <a:gd name="T113" fmla="*/ 2458 h 3942"/>
              <a:gd name="T114" fmla="*/ 1602 w 3936"/>
              <a:gd name="T115" fmla="*/ 3029 h 3942"/>
              <a:gd name="T116" fmla="*/ 689 w 3936"/>
              <a:gd name="T117" fmla="*/ 2701 h 3942"/>
              <a:gd name="T118" fmla="*/ 520 w 3936"/>
              <a:gd name="T119" fmla="*/ 2028 h 3942"/>
              <a:gd name="T120" fmla="*/ 25 w 3936"/>
              <a:gd name="T121" fmla="*/ 1328 h 3942"/>
              <a:gd name="T122" fmla="*/ 341 w 3936"/>
              <a:gd name="T123" fmla="*/ 563 h 3942"/>
              <a:gd name="T124" fmla="*/ 1232 w 3936"/>
              <a:gd name="T125" fmla="*/ 156 h 39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936" h="3942">
                <a:moveTo>
                  <a:pt x="2921" y="2577"/>
                </a:moveTo>
                <a:lnTo>
                  <a:pt x="2972" y="2580"/>
                </a:lnTo>
                <a:lnTo>
                  <a:pt x="3021" y="2592"/>
                </a:lnTo>
                <a:lnTo>
                  <a:pt x="3068" y="2609"/>
                </a:lnTo>
                <a:lnTo>
                  <a:pt x="3111" y="2633"/>
                </a:lnTo>
                <a:lnTo>
                  <a:pt x="3149" y="2663"/>
                </a:lnTo>
                <a:lnTo>
                  <a:pt x="3183" y="2697"/>
                </a:lnTo>
                <a:lnTo>
                  <a:pt x="3213" y="2736"/>
                </a:lnTo>
                <a:lnTo>
                  <a:pt x="3237" y="2779"/>
                </a:lnTo>
                <a:lnTo>
                  <a:pt x="3254" y="2825"/>
                </a:lnTo>
                <a:lnTo>
                  <a:pt x="3266" y="2874"/>
                </a:lnTo>
                <a:lnTo>
                  <a:pt x="3269" y="2925"/>
                </a:lnTo>
                <a:lnTo>
                  <a:pt x="3266" y="2945"/>
                </a:lnTo>
                <a:lnTo>
                  <a:pt x="3257" y="2962"/>
                </a:lnTo>
                <a:lnTo>
                  <a:pt x="3243" y="2976"/>
                </a:lnTo>
                <a:lnTo>
                  <a:pt x="3226" y="2984"/>
                </a:lnTo>
                <a:lnTo>
                  <a:pt x="3207" y="2988"/>
                </a:lnTo>
                <a:lnTo>
                  <a:pt x="3187" y="2984"/>
                </a:lnTo>
                <a:lnTo>
                  <a:pt x="3170" y="2976"/>
                </a:lnTo>
                <a:lnTo>
                  <a:pt x="3157" y="2962"/>
                </a:lnTo>
                <a:lnTo>
                  <a:pt x="3148" y="2945"/>
                </a:lnTo>
                <a:lnTo>
                  <a:pt x="3145" y="2925"/>
                </a:lnTo>
                <a:lnTo>
                  <a:pt x="3140" y="2885"/>
                </a:lnTo>
                <a:lnTo>
                  <a:pt x="3131" y="2848"/>
                </a:lnTo>
                <a:lnTo>
                  <a:pt x="3114" y="2812"/>
                </a:lnTo>
                <a:lnTo>
                  <a:pt x="3092" y="2781"/>
                </a:lnTo>
                <a:lnTo>
                  <a:pt x="3065" y="2755"/>
                </a:lnTo>
                <a:lnTo>
                  <a:pt x="3034" y="2732"/>
                </a:lnTo>
                <a:lnTo>
                  <a:pt x="2999" y="2715"/>
                </a:lnTo>
                <a:lnTo>
                  <a:pt x="2962" y="2704"/>
                </a:lnTo>
                <a:lnTo>
                  <a:pt x="2921" y="2701"/>
                </a:lnTo>
                <a:lnTo>
                  <a:pt x="2880" y="2704"/>
                </a:lnTo>
                <a:lnTo>
                  <a:pt x="2843" y="2715"/>
                </a:lnTo>
                <a:lnTo>
                  <a:pt x="2808" y="2732"/>
                </a:lnTo>
                <a:lnTo>
                  <a:pt x="2777" y="2755"/>
                </a:lnTo>
                <a:lnTo>
                  <a:pt x="2750" y="2781"/>
                </a:lnTo>
                <a:lnTo>
                  <a:pt x="2728" y="2812"/>
                </a:lnTo>
                <a:lnTo>
                  <a:pt x="2711" y="2848"/>
                </a:lnTo>
                <a:lnTo>
                  <a:pt x="2700" y="2885"/>
                </a:lnTo>
                <a:lnTo>
                  <a:pt x="2697" y="2925"/>
                </a:lnTo>
                <a:lnTo>
                  <a:pt x="2700" y="2966"/>
                </a:lnTo>
                <a:lnTo>
                  <a:pt x="2711" y="3003"/>
                </a:lnTo>
                <a:lnTo>
                  <a:pt x="2728" y="3039"/>
                </a:lnTo>
                <a:lnTo>
                  <a:pt x="2750" y="3070"/>
                </a:lnTo>
                <a:lnTo>
                  <a:pt x="2777" y="3096"/>
                </a:lnTo>
                <a:lnTo>
                  <a:pt x="2808" y="3119"/>
                </a:lnTo>
                <a:lnTo>
                  <a:pt x="2843" y="3136"/>
                </a:lnTo>
                <a:lnTo>
                  <a:pt x="2880" y="3145"/>
                </a:lnTo>
                <a:lnTo>
                  <a:pt x="2921" y="3150"/>
                </a:lnTo>
                <a:lnTo>
                  <a:pt x="2958" y="3146"/>
                </a:lnTo>
                <a:lnTo>
                  <a:pt x="2994" y="3138"/>
                </a:lnTo>
                <a:lnTo>
                  <a:pt x="3027" y="3123"/>
                </a:lnTo>
                <a:lnTo>
                  <a:pt x="3058" y="3102"/>
                </a:lnTo>
                <a:lnTo>
                  <a:pt x="3072" y="3094"/>
                </a:lnTo>
                <a:lnTo>
                  <a:pt x="3088" y="3090"/>
                </a:lnTo>
                <a:lnTo>
                  <a:pt x="3103" y="3090"/>
                </a:lnTo>
                <a:lnTo>
                  <a:pt x="3119" y="3094"/>
                </a:lnTo>
                <a:lnTo>
                  <a:pt x="3133" y="3102"/>
                </a:lnTo>
                <a:lnTo>
                  <a:pt x="3145" y="3114"/>
                </a:lnTo>
                <a:lnTo>
                  <a:pt x="3154" y="3129"/>
                </a:lnTo>
                <a:lnTo>
                  <a:pt x="3157" y="3144"/>
                </a:lnTo>
                <a:lnTo>
                  <a:pt x="3157" y="3160"/>
                </a:lnTo>
                <a:lnTo>
                  <a:pt x="3154" y="3175"/>
                </a:lnTo>
                <a:lnTo>
                  <a:pt x="3145" y="3189"/>
                </a:lnTo>
                <a:lnTo>
                  <a:pt x="3133" y="3201"/>
                </a:lnTo>
                <a:lnTo>
                  <a:pt x="3095" y="3228"/>
                </a:lnTo>
                <a:lnTo>
                  <a:pt x="3055" y="3248"/>
                </a:lnTo>
                <a:lnTo>
                  <a:pt x="3012" y="3262"/>
                </a:lnTo>
                <a:lnTo>
                  <a:pt x="2968" y="3271"/>
                </a:lnTo>
                <a:lnTo>
                  <a:pt x="2921" y="3274"/>
                </a:lnTo>
                <a:lnTo>
                  <a:pt x="2870" y="3271"/>
                </a:lnTo>
                <a:lnTo>
                  <a:pt x="2821" y="3259"/>
                </a:lnTo>
                <a:lnTo>
                  <a:pt x="2774" y="3242"/>
                </a:lnTo>
                <a:lnTo>
                  <a:pt x="2731" y="3218"/>
                </a:lnTo>
                <a:lnTo>
                  <a:pt x="2693" y="3188"/>
                </a:lnTo>
                <a:lnTo>
                  <a:pt x="2659" y="3154"/>
                </a:lnTo>
                <a:lnTo>
                  <a:pt x="2629" y="3115"/>
                </a:lnTo>
                <a:lnTo>
                  <a:pt x="2605" y="3072"/>
                </a:lnTo>
                <a:lnTo>
                  <a:pt x="2588" y="3026"/>
                </a:lnTo>
                <a:lnTo>
                  <a:pt x="2576" y="2977"/>
                </a:lnTo>
                <a:lnTo>
                  <a:pt x="2573" y="2925"/>
                </a:lnTo>
                <a:lnTo>
                  <a:pt x="2576" y="2874"/>
                </a:lnTo>
                <a:lnTo>
                  <a:pt x="2588" y="2825"/>
                </a:lnTo>
                <a:lnTo>
                  <a:pt x="2605" y="2779"/>
                </a:lnTo>
                <a:lnTo>
                  <a:pt x="2629" y="2736"/>
                </a:lnTo>
                <a:lnTo>
                  <a:pt x="2659" y="2697"/>
                </a:lnTo>
                <a:lnTo>
                  <a:pt x="2693" y="2663"/>
                </a:lnTo>
                <a:lnTo>
                  <a:pt x="2731" y="2633"/>
                </a:lnTo>
                <a:lnTo>
                  <a:pt x="2774" y="2609"/>
                </a:lnTo>
                <a:lnTo>
                  <a:pt x="2821" y="2592"/>
                </a:lnTo>
                <a:lnTo>
                  <a:pt x="2870" y="2580"/>
                </a:lnTo>
                <a:lnTo>
                  <a:pt x="2921" y="2577"/>
                </a:lnTo>
                <a:close/>
                <a:moveTo>
                  <a:pt x="2863" y="1909"/>
                </a:moveTo>
                <a:lnTo>
                  <a:pt x="2979" y="1909"/>
                </a:lnTo>
                <a:lnTo>
                  <a:pt x="3009" y="1911"/>
                </a:lnTo>
                <a:lnTo>
                  <a:pt x="3037" y="1921"/>
                </a:lnTo>
                <a:lnTo>
                  <a:pt x="3063" y="1934"/>
                </a:lnTo>
                <a:lnTo>
                  <a:pt x="3084" y="1952"/>
                </a:lnTo>
                <a:lnTo>
                  <a:pt x="3103" y="1975"/>
                </a:lnTo>
                <a:lnTo>
                  <a:pt x="3117" y="2000"/>
                </a:lnTo>
                <a:lnTo>
                  <a:pt x="3126" y="2028"/>
                </a:lnTo>
                <a:lnTo>
                  <a:pt x="3162" y="2209"/>
                </a:lnTo>
                <a:lnTo>
                  <a:pt x="3210" y="2227"/>
                </a:lnTo>
                <a:lnTo>
                  <a:pt x="3257" y="2248"/>
                </a:lnTo>
                <a:lnTo>
                  <a:pt x="3409" y="2147"/>
                </a:lnTo>
                <a:lnTo>
                  <a:pt x="3435" y="2132"/>
                </a:lnTo>
                <a:lnTo>
                  <a:pt x="3464" y="2124"/>
                </a:lnTo>
                <a:lnTo>
                  <a:pt x="3492" y="2122"/>
                </a:lnTo>
                <a:lnTo>
                  <a:pt x="3521" y="2124"/>
                </a:lnTo>
                <a:lnTo>
                  <a:pt x="3548" y="2132"/>
                </a:lnTo>
                <a:lnTo>
                  <a:pt x="3573" y="2145"/>
                </a:lnTo>
                <a:lnTo>
                  <a:pt x="3597" y="2165"/>
                </a:lnTo>
                <a:lnTo>
                  <a:pt x="3681" y="2248"/>
                </a:lnTo>
                <a:lnTo>
                  <a:pt x="3699" y="2271"/>
                </a:lnTo>
                <a:lnTo>
                  <a:pt x="3713" y="2297"/>
                </a:lnTo>
                <a:lnTo>
                  <a:pt x="3721" y="2325"/>
                </a:lnTo>
                <a:lnTo>
                  <a:pt x="3724" y="2353"/>
                </a:lnTo>
                <a:lnTo>
                  <a:pt x="3721" y="2382"/>
                </a:lnTo>
                <a:lnTo>
                  <a:pt x="3713" y="2409"/>
                </a:lnTo>
                <a:lnTo>
                  <a:pt x="3699" y="2436"/>
                </a:lnTo>
                <a:lnTo>
                  <a:pt x="3597" y="2589"/>
                </a:lnTo>
                <a:lnTo>
                  <a:pt x="3619" y="2636"/>
                </a:lnTo>
                <a:lnTo>
                  <a:pt x="3637" y="2684"/>
                </a:lnTo>
                <a:lnTo>
                  <a:pt x="3817" y="2720"/>
                </a:lnTo>
                <a:lnTo>
                  <a:pt x="3845" y="2730"/>
                </a:lnTo>
                <a:lnTo>
                  <a:pt x="3870" y="2743"/>
                </a:lnTo>
                <a:lnTo>
                  <a:pt x="3893" y="2762"/>
                </a:lnTo>
                <a:lnTo>
                  <a:pt x="3911" y="2783"/>
                </a:lnTo>
                <a:lnTo>
                  <a:pt x="3924" y="2808"/>
                </a:lnTo>
                <a:lnTo>
                  <a:pt x="3932" y="2837"/>
                </a:lnTo>
                <a:lnTo>
                  <a:pt x="3936" y="2867"/>
                </a:lnTo>
                <a:lnTo>
                  <a:pt x="3936" y="2984"/>
                </a:lnTo>
                <a:lnTo>
                  <a:pt x="3932" y="3014"/>
                </a:lnTo>
                <a:lnTo>
                  <a:pt x="3924" y="3041"/>
                </a:lnTo>
                <a:lnTo>
                  <a:pt x="3911" y="3068"/>
                </a:lnTo>
                <a:lnTo>
                  <a:pt x="3893" y="3089"/>
                </a:lnTo>
                <a:lnTo>
                  <a:pt x="3870" y="3108"/>
                </a:lnTo>
                <a:lnTo>
                  <a:pt x="3845" y="3121"/>
                </a:lnTo>
                <a:lnTo>
                  <a:pt x="3817" y="3131"/>
                </a:lnTo>
                <a:lnTo>
                  <a:pt x="3637" y="3167"/>
                </a:lnTo>
                <a:lnTo>
                  <a:pt x="3619" y="3215"/>
                </a:lnTo>
                <a:lnTo>
                  <a:pt x="3597" y="3262"/>
                </a:lnTo>
                <a:lnTo>
                  <a:pt x="3699" y="3414"/>
                </a:lnTo>
                <a:lnTo>
                  <a:pt x="3713" y="3440"/>
                </a:lnTo>
                <a:lnTo>
                  <a:pt x="3721" y="3469"/>
                </a:lnTo>
                <a:lnTo>
                  <a:pt x="3724" y="3498"/>
                </a:lnTo>
                <a:lnTo>
                  <a:pt x="3721" y="3526"/>
                </a:lnTo>
                <a:lnTo>
                  <a:pt x="3713" y="3554"/>
                </a:lnTo>
                <a:lnTo>
                  <a:pt x="3699" y="3579"/>
                </a:lnTo>
                <a:lnTo>
                  <a:pt x="3681" y="3603"/>
                </a:lnTo>
                <a:lnTo>
                  <a:pt x="3597" y="3686"/>
                </a:lnTo>
                <a:lnTo>
                  <a:pt x="3573" y="3704"/>
                </a:lnTo>
                <a:lnTo>
                  <a:pt x="3548" y="3719"/>
                </a:lnTo>
                <a:lnTo>
                  <a:pt x="3521" y="3727"/>
                </a:lnTo>
                <a:lnTo>
                  <a:pt x="3492" y="3729"/>
                </a:lnTo>
                <a:lnTo>
                  <a:pt x="3464" y="3727"/>
                </a:lnTo>
                <a:lnTo>
                  <a:pt x="3435" y="3719"/>
                </a:lnTo>
                <a:lnTo>
                  <a:pt x="3409" y="3704"/>
                </a:lnTo>
                <a:lnTo>
                  <a:pt x="3257" y="3603"/>
                </a:lnTo>
                <a:lnTo>
                  <a:pt x="3210" y="3624"/>
                </a:lnTo>
                <a:lnTo>
                  <a:pt x="3162" y="3642"/>
                </a:lnTo>
                <a:lnTo>
                  <a:pt x="3126" y="3823"/>
                </a:lnTo>
                <a:lnTo>
                  <a:pt x="3117" y="3851"/>
                </a:lnTo>
                <a:lnTo>
                  <a:pt x="3103" y="3876"/>
                </a:lnTo>
                <a:lnTo>
                  <a:pt x="3084" y="3899"/>
                </a:lnTo>
                <a:lnTo>
                  <a:pt x="3063" y="3917"/>
                </a:lnTo>
                <a:lnTo>
                  <a:pt x="3037" y="3930"/>
                </a:lnTo>
                <a:lnTo>
                  <a:pt x="3009" y="3938"/>
                </a:lnTo>
                <a:lnTo>
                  <a:pt x="2979" y="3942"/>
                </a:lnTo>
                <a:lnTo>
                  <a:pt x="2863" y="3942"/>
                </a:lnTo>
                <a:lnTo>
                  <a:pt x="2833" y="3938"/>
                </a:lnTo>
                <a:lnTo>
                  <a:pt x="2804" y="3930"/>
                </a:lnTo>
                <a:lnTo>
                  <a:pt x="2779" y="3917"/>
                </a:lnTo>
                <a:lnTo>
                  <a:pt x="2758" y="3899"/>
                </a:lnTo>
                <a:lnTo>
                  <a:pt x="2739" y="3876"/>
                </a:lnTo>
                <a:lnTo>
                  <a:pt x="2725" y="3851"/>
                </a:lnTo>
                <a:lnTo>
                  <a:pt x="2716" y="3823"/>
                </a:lnTo>
                <a:lnTo>
                  <a:pt x="2680" y="3642"/>
                </a:lnTo>
                <a:lnTo>
                  <a:pt x="2632" y="3624"/>
                </a:lnTo>
                <a:lnTo>
                  <a:pt x="2585" y="3603"/>
                </a:lnTo>
                <a:lnTo>
                  <a:pt x="2432" y="3704"/>
                </a:lnTo>
                <a:lnTo>
                  <a:pt x="2406" y="3719"/>
                </a:lnTo>
                <a:lnTo>
                  <a:pt x="2378" y="3727"/>
                </a:lnTo>
                <a:lnTo>
                  <a:pt x="2350" y="3729"/>
                </a:lnTo>
                <a:lnTo>
                  <a:pt x="2321" y="3727"/>
                </a:lnTo>
                <a:lnTo>
                  <a:pt x="2294" y="3719"/>
                </a:lnTo>
                <a:lnTo>
                  <a:pt x="2267" y="3704"/>
                </a:lnTo>
                <a:lnTo>
                  <a:pt x="2245" y="3686"/>
                </a:lnTo>
                <a:lnTo>
                  <a:pt x="2161" y="3603"/>
                </a:lnTo>
                <a:lnTo>
                  <a:pt x="2142" y="3579"/>
                </a:lnTo>
                <a:lnTo>
                  <a:pt x="2129" y="3554"/>
                </a:lnTo>
                <a:lnTo>
                  <a:pt x="2121" y="3526"/>
                </a:lnTo>
                <a:lnTo>
                  <a:pt x="2118" y="3498"/>
                </a:lnTo>
                <a:lnTo>
                  <a:pt x="2121" y="3469"/>
                </a:lnTo>
                <a:lnTo>
                  <a:pt x="2129" y="3440"/>
                </a:lnTo>
                <a:lnTo>
                  <a:pt x="2143" y="3414"/>
                </a:lnTo>
                <a:lnTo>
                  <a:pt x="2245" y="3262"/>
                </a:lnTo>
                <a:lnTo>
                  <a:pt x="2223" y="3215"/>
                </a:lnTo>
                <a:lnTo>
                  <a:pt x="2205" y="3167"/>
                </a:lnTo>
                <a:lnTo>
                  <a:pt x="2025" y="3131"/>
                </a:lnTo>
                <a:lnTo>
                  <a:pt x="1997" y="3121"/>
                </a:lnTo>
                <a:lnTo>
                  <a:pt x="1972" y="3108"/>
                </a:lnTo>
                <a:lnTo>
                  <a:pt x="1949" y="3089"/>
                </a:lnTo>
                <a:lnTo>
                  <a:pt x="1931" y="3068"/>
                </a:lnTo>
                <a:lnTo>
                  <a:pt x="1918" y="3041"/>
                </a:lnTo>
                <a:lnTo>
                  <a:pt x="1908" y="3014"/>
                </a:lnTo>
                <a:lnTo>
                  <a:pt x="1906" y="2984"/>
                </a:lnTo>
                <a:lnTo>
                  <a:pt x="1906" y="2867"/>
                </a:lnTo>
                <a:lnTo>
                  <a:pt x="1908" y="2837"/>
                </a:lnTo>
                <a:lnTo>
                  <a:pt x="1918" y="2808"/>
                </a:lnTo>
                <a:lnTo>
                  <a:pt x="1931" y="2783"/>
                </a:lnTo>
                <a:lnTo>
                  <a:pt x="1949" y="2762"/>
                </a:lnTo>
                <a:lnTo>
                  <a:pt x="1972" y="2743"/>
                </a:lnTo>
                <a:lnTo>
                  <a:pt x="1997" y="2730"/>
                </a:lnTo>
                <a:lnTo>
                  <a:pt x="2025" y="2720"/>
                </a:lnTo>
                <a:lnTo>
                  <a:pt x="2038" y="2718"/>
                </a:lnTo>
                <a:lnTo>
                  <a:pt x="2059" y="2716"/>
                </a:lnTo>
                <a:lnTo>
                  <a:pt x="2077" y="2722"/>
                </a:lnTo>
                <a:lnTo>
                  <a:pt x="2093" y="2733"/>
                </a:lnTo>
                <a:lnTo>
                  <a:pt x="2105" y="2747"/>
                </a:lnTo>
                <a:lnTo>
                  <a:pt x="2112" y="2767"/>
                </a:lnTo>
                <a:lnTo>
                  <a:pt x="2112" y="2787"/>
                </a:lnTo>
                <a:lnTo>
                  <a:pt x="2108" y="2805"/>
                </a:lnTo>
                <a:lnTo>
                  <a:pt x="2097" y="2820"/>
                </a:lnTo>
                <a:lnTo>
                  <a:pt x="2081" y="2832"/>
                </a:lnTo>
                <a:lnTo>
                  <a:pt x="2063" y="2839"/>
                </a:lnTo>
                <a:lnTo>
                  <a:pt x="2050" y="2842"/>
                </a:lnTo>
                <a:lnTo>
                  <a:pt x="2040" y="2847"/>
                </a:lnTo>
                <a:lnTo>
                  <a:pt x="2032" y="2855"/>
                </a:lnTo>
                <a:lnTo>
                  <a:pt x="2030" y="2867"/>
                </a:lnTo>
                <a:lnTo>
                  <a:pt x="2030" y="2984"/>
                </a:lnTo>
                <a:lnTo>
                  <a:pt x="2032" y="2995"/>
                </a:lnTo>
                <a:lnTo>
                  <a:pt x="2040" y="3004"/>
                </a:lnTo>
                <a:lnTo>
                  <a:pt x="2050" y="3008"/>
                </a:lnTo>
                <a:lnTo>
                  <a:pt x="2266" y="3052"/>
                </a:lnTo>
                <a:lnTo>
                  <a:pt x="2282" y="3057"/>
                </a:lnTo>
                <a:lnTo>
                  <a:pt x="2296" y="3068"/>
                </a:lnTo>
                <a:lnTo>
                  <a:pt x="2307" y="3081"/>
                </a:lnTo>
                <a:lnTo>
                  <a:pt x="2314" y="3096"/>
                </a:lnTo>
                <a:lnTo>
                  <a:pt x="2329" y="3144"/>
                </a:lnTo>
                <a:lnTo>
                  <a:pt x="2348" y="3191"/>
                </a:lnTo>
                <a:lnTo>
                  <a:pt x="2371" y="3235"/>
                </a:lnTo>
                <a:lnTo>
                  <a:pt x="2377" y="3250"/>
                </a:lnTo>
                <a:lnTo>
                  <a:pt x="2379" y="3268"/>
                </a:lnTo>
                <a:lnTo>
                  <a:pt x="2376" y="3285"/>
                </a:lnTo>
                <a:lnTo>
                  <a:pt x="2369" y="3301"/>
                </a:lnTo>
                <a:lnTo>
                  <a:pt x="2246" y="3483"/>
                </a:lnTo>
                <a:lnTo>
                  <a:pt x="2242" y="3494"/>
                </a:lnTo>
                <a:lnTo>
                  <a:pt x="2244" y="3505"/>
                </a:lnTo>
                <a:lnTo>
                  <a:pt x="2249" y="3514"/>
                </a:lnTo>
                <a:lnTo>
                  <a:pt x="2333" y="3598"/>
                </a:lnTo>
                <a:lnTo>
                  <a:pt x="2343" y="3604"/>
                </a:lnTo>
                <a:lnTo>
                  <a:pt x="2353" y="3605"/>
                </a:lnTo>
                <a:lnTo>
                  <a:pt x="2364" y="3602"/>
                </a:lnTo>
                <a:lnTo>
                  <a:pt x="2546" y="3479"/>
                </a:lnTo>
                <a:lnTo>
                  <a:pt x="2562" y="3471"/>
                </a:lnTo>
                <a:lnTo>
                  <a:pt x="2579" y="3468"/>
                </a:lnTo>
                <a:lnTo>
                  <a:pt x="2595" y="3470"/>
                </a:lnTo>
                <a:lnTo>
                  <a:pt x="2612" y="3476"/>
                </a:lnTo>
                <a:lnTo>
                  <a:pt x="2656" y="3499"/>
                </a:lnTo>
                <a:lnTo>
                  <a:pt x="2703" y="3518"/>
                </a:lnTo>
                <a:lnTo>
                  <a:pt x="2750" y="3533"/>
                </a:lnTo>
                <a:lnTo>
                  <a:pt x="2766" y="3541"/>
                </a:lnTo>
                <a:lnTo>
                  <a:pt x="2779" y="3551"/>
                </a:lnTo>
                <a:lnTo>
                  <a:pt x="2789" y="3566"/>
                </a:lnTo>
                <a:lnTo>
                  <a:pt x="2795" y="3581"/>
                </a:lnTo>
                <a:lnTo>
                  <a:pt x="2837" y="3797"/>
                </a:lnTo>
                <a:lnTo>
                  <a:pt x="2842" y="3808"/>
                </a:lnTo>
                <a:lnTo>
                  <a:pt x="2851" y="3815"/>
                </a:lnTo>
                <a:lnTo>
                  <a:pt x="2863" y="3818"/>
                </a:lnTo>
                <a:lnTo>
                  <a:pt x="2979" y="3818"/>
                </a:lnTo>
                <a:lnTo>
                  <a:pt x="2990" y="3815"/>
                </a:lnTo>
                <a:lnTo>
                  <a:pt x="3000" y="3808"/>
                </a:lnTo>
                <a:lnTo>
                  <a:pt x="3003" y="3797"/>
                </a:lnTo>
                <a:lnTo>
                  <a:pt x="3047" y="3581"/>
                </a:lnTo>
                <a:lnTo>
                  <a:pt x="3052" y="3566"/>
                </a:lnTo>
                <a:lnTo>
                  <a:pt x="3063" y="3551"/>
                </a:lnTo>
                <a:lnTo>
                  <a:pt x="3076" y="3541"/>
                </a:lnTo>
                <a:lnTo>
                  <a:pt x="3092" y="3533"/>
                </a:lnTo>
                <a:lnTo>
                  <a:pt x="3139" y="3518"/>
                </a:lnTo>
                <a:lnTo>
                  <a:pt x="3186" y="3499"/>
                </a:lnTo>
                <a:lnTo>
                  <a:pt x="3230" y="3476"/>
                </a:lnTo>
                <a:lnTo>
                  <a:pt x="3245" y="3470"/>
                </a:lnTo>
                <a:lnTo>
                  <a:pt x="3263" y="3468"/>
                </a:lnTo>
                <a:lnTo>
                  <a:pt x="3280" y="3471"/>
                </a:lnTo>
                <a:lnTo>
                  <a:pt x="3296" y="3479"/>
                </a:lnTo>
                <a:lnTo>
                  <a:pt x="3478" y="3602"/>
                </a:lnTo>
                <a:lnTo>
                  <a:pt x="3489" y="3605"/>
                </a:lnTo>
                <a:lnTo>
                  <a:pt x="3499" y="3604"/>
                </a:lnTo>
                <a:lnTo>
                  <a:pt x="3509" y="3598"/>
                </a:lnTo>
                <a:lnTo>
                  <a:pt x="3592" y="3514"/>
                </a:lnTo>
                <a:lnTo>
                  <a:pt x="3598" y="3505"/>
                </a:lnTo>
                <a:lnTo>
                  <a:pt x="3600" y="3494"/>
                </a:lnTo>
                <a:lnTo>
                  <a:pt x="3596" y="3483"/>
                </a:lnTo>
                <a:lnTo>
                  <a:pt x="3473" y="3301"/>
                </a:lnTo>
                <a:lnTo>
                  <a:pt x="3466" y="3285"/>
                </a:lnTo>
                <a:lnTo>
                  <a:pt x="3462" y="3268"/>
                </a:lnTo>
                <a:lnTo>
                  <a:pt x="3465" y="3250"/>
                </a:lnTo>
                <a:lnTo>
                  <a:pt x="3471" y="3235"/>
                </a:lnTo>
                <a:lnTo>
                  <a:pt x="3493" y="3191"/>
                </a:lnTo>
                <a:lnTo>
                  <a:pt x="3513" y="3144"/>
                </a:lnTo>
                <a:lnTo>
                  <a:pt x="3528" y="3096"/>
                </a:lnTo>
                <a:lnTo>
                  <a:pt x="3535" y="3081"/>
                </a:lnTo>
                <a:lnTo>
                  <a:pt x="3546" y="3068"/>
                </a:lnTo>
                <a:lnTo>
                  <a:pt x="3560" y="3057"/>
                </a:lnTo>
                <a:lnTo>
                  <a:pt x="3576" y="3052"/>
                </a:lnTo>
                <a:lnTo>
                  <a:pt x="3792" y="3008"/>
                </a:lnTo>
                <a:lnTo>
                  <a:pt x="3802" y="3004"/>
                </a:lnTo>
                <a:lnTo>
                  <a:pt x="3810" y="2995"/>
                </a:lnTo>
                <a:lnTo>
                  <a:pt x="3812" y="2984"/>
                </a:lnTo>
                <a:lnTo>
                  <a:pt x="3812" y="2867"/>
                </a:lnTo>
                <a:lnTo>
                  <a:pt x="3810" y="2855"/>
                </a:lnTo>
                <a:lnTo>
                  <a:pt x="3802" y="2847"/>
                </a:lnTo>
                <a:lnTo>
                  <a:pt x="3792" y="2842"/>
                </a:lnTo>
                <a:lnTo>
                  <a:pt x="3576" y="2799"/>
                </a:lnTo>
                <a:lnTo>
                  <a:pt x="3560" y="2793"/>
                </a:lnTo>
                <a:lnTo>
                  <a:pt x="3546" y="2783"/>
                </a:lnTo>
                <a:lnTo>
                  <a:pt x="3535" y="2770"/>
                </a:lnTo>
                <a:lnTo>
                  <a:pt x="3528" y="2755"/>
                </a:lnTo>
                <a:lnTo>
                  <a:pt x="3513" y="2707"/>
                </a:lnTo>
                <a:lnTo>
                  <a:pt x="3493" y="2660"/>
                </a:lnTo>
                <a:lnTo>
                  <a:pt x="3471" y="2616"/>
                </a:lnTo>
                <a:lnTo>
                  <a:pt x="3465" y="2599"/>
                </a:lnTo>
                <a:lnTo>
                  <a:pt x="3462" y="2583"/>
                </a:lnTo>
                <a:lnTo>
                  <a:pt x="3466" y="2566"/>
                </a:lnTo>
                <a:lnTo>
                  <a:pt x="3473" y="2550"/>
                </a:lnTo>
                <a:lnTo>
                  <a:pt x="3596" y="2368"/>
                </a:lnTo>
                <a:lnTo>
                  <a:pt x="3600" y="2357"/>
                </a:lnTo>
                <a:lnTo>
                  <a:pt x="3598" y="2346"/>
                </a:lnTo>
                <a:lnTo>
                  <a:pt x="3592" y="2337"/>
                </a:lnTo>
                <a:lnTo>
                  <a:pt x="3509" y="2253"/>
                </a:lnTo>
                <a:lnTo>
                  <a:pt x="3499" y="2247"/>
                </a:lnTo>
                <a:lnTo>
                  <a:pt x="3489" y="2246"/>
                </a:lnTo>
                <a:lnTo>
                  <a:pt x="3478" y="2249"/>
                </a:lnTo>
                <a:lnTo>
                  <a:pt x="3296" y="2372"/>
                </a:lnTo>
                <a:lnTo>
                  <a:pt x="3280" y="2380"/>
                </a:lnTo>
                <a:lnTo>
                  <a:pt x="3263" y="2383"/>
                </a:lnTo>
                <a:lnTo>
                  <a:pt x="3245" y="2381"/>
                </a:lnTo>
                <a:lnTo>
                  <a:pt x="3230" y="2375"/>
                </a:lnTo>
                <a:lnTo>
                  <a:pt x="3186" y="2352"/>
                </a:lnTo>
                <a:lnTo>
                  <a:pt x="3139" y="2333"/>
                </a:lnTo>
                <a:lnTo>
                  <a:pt x="3092" y="2317"/>
                </a:lnTo>
                <a:lnTo>
                  <a:pt x="3076" y="2310"/>
                </a:lnTo>
                <a:lnTo>
                  <a:pt x="3063" y="2300"/>
                </a:lnTo>
                <a:lnTo>
                  <a:pt x="3052" y="2285"/>
                </a:lnTo>
                <a:lnTo>
                  <a:pt x="3047" y="2270"/>
                </a:lnTo>
                <a:lnTo>
                  <a:pt x="3003" y="2053"/>
                </a:lnTo>
                <a:lnTo>
                  <a:pt x="3000" y="2043"/>
                </a:lnTo>
                <a:lnTo>
                  <a:pt x="2990" y="2036"/>
                </a:lnTo>
                <a:lnTo>
                  <a:pt x="2979" y="2033"/>
                </a:lnTo>
                <a:lnTo>
                  <a:pt x="2863" y="2033"/>
                </a:lnTo>
                <a:lnTo>
                  <a:pt x="2851" y="2036"/>
                </a:lnTo>
                <a:lnTo>
                  <a:pt x="2842" y="2043"/>
                </a:lnTo>
                <a:lnTo>
                  <a:pt x="2837" y="2053"/>
                </a:lnTo>
                <a:lnTo>
                  <a:pt x="2795" y="2270"/>
                </a:lnTo>
                <a:lnTo>
                  <a:pt x="2789" y="2285"/>
                </a:lnTo>
                <a:lnTo>
                  <a:pt x="2779" y="2300"/>
                </a:lnTo>
                <a:lnTo>
                  <a:pt x="2766" y="2310"/>
                </a:lnTo>
                <a:lnTo>
                  <a:pt x="2750" y="2317"/>
                </a:lnTo>
                <a:lnTo>
                  <a:pt x="2703" y="2333"/>
                </a:lnTo>
                <a:lnTo>
                  <a:pt x="2656" y="2352"/>
                </a:lnTo>
                <a:lnTo>
                  <a:pt x="2612" y="2375"/>
                </a:lnTo>
                <a:lnTo>
                  <a:pt x="2595" y="2381"/>
                </a:lnTo>
                <a:lnTo>
                  <a:pt x="2579" y="2383"/>
                </a:lnTo>
                <a:lnTo>
                  <a:pt x="2562" y="2380"/>
                </a:lnTo>
                <a:lnTo>
                  <a:pt x="2546" y="2372"/>
                </a:lnTo>
                <a:lnTo>
                  <a:pt x="2364" y="2249"/>
                </a:lnTo>
                <a:lnTo>
                  <a:pt x="2353" y="2246"/>
                </a:lnTo>
                <a:lnTo>
                  <a:pt x="2343" y="2247"/>
                </a:lnTo>
                <a:lnTo>
                  <a:pt x="2333" y="2253"/>
                </a:lnTo>
                <a:lnTo>
                  <a:pt x="2249" y="2337"/>
                </a:lnTo>
                <a:lnTo>
                  <a:pt x="2244" y="2346"/>
                </a:lnTo>
                <a:lnTo>
                  <a:pt x="2242" y="2357"/>
                </a:lnTo>
                <a:lnTo>
                  <a:pt x="2246" y="2368"/>
                </a:lnTo>
                <a:lnTo>
                  <a:pt x="2369" y="2550"/>
                </a:lnTo>
                <a:lnTo>
                  <a:pt x="2376" y="2566"/>
                </a:lnTo>
                <a:lnTo>
                  <a:pt x="2379" y="2583"/>
                </a:lnTo>
                <a:lnTo>
                  <a:pt x="2377" y="2599"/>
                </a:lnTo>
                <a:lnTo>
                  <a:pt x="2371" y="2616"/>
                </a:lnTo>
                <a:lnTo>
                  <a:pt x="2348" y="2660"/>
                </a:lnTo>
                <a:lnTo>
                  <a:pt x="2329" y="2707"/>
                </a:lnTo>
                <a:lnTo>
                  <a:pt x="2314" y="2755"/>
                </a:lnTo>
                <a:lnTo>
                  <a:pt x="2306" y="2773"/>
                </a:lnTo>
                <a:lnTo>
                  <a:pt x="2292" y="2787"/>
                </a:lnTo>
                <a:lnTo>
                  <a:pt x="2276" y="2796"/>
                </a:lnTo>
                <a:lnTo>
                  <a:pt x="2257" y="2800"/>
                </a:lnTo>
                <a:lnTo>
                  <a:pt x="2236" y="2798"/>
                </a:lnTo>
                <a:lnTo>
                  <a:pt x="2218" y="2789"/>
                </a:lnTo>
                <a:lnTo>
                  <a:pt x="2205" y="2776"/>
                </a:lnTo>
                <a:lnTo>
                  <a:pt x="2196" y="2759"/>
                </a:lnTo>
                <a:lnTo>
                  <a:pt x="2191" y="2741"/>
                </a:lnTo>
                <a:lnTo>
                  <a:pt x="2193" y="2721"/>
                </a:lnTo>
                <a:lnTo>
                  <a:pt x="2216" y="2654"/>
                </a:lnTo>
                <a:lnTo>
                  <a:pt x="2245" y="2589"/>
                </a:lnTo>
                <a:lnTo>
                  <a:pt x="2143" y="2436"/>
                </a:lnTo>
                <a:lnTo>
                  <a:pt x="2129" y="2409"/>
                </a:lnTo>
                <a:lnTo>
                  <a:pt x="2121" y="2382"/>
                </a:lnTo>
                <a:lnTo>
                  <a:pt x="2118" y="2353"/>
                </a:lnTo>
                <a:lnTo>
                  <a:pt x="2121" y="2325"/>
                </a:lnTo>
                <a:lnTo>
                  <a:pt x="2129" y="2297"/>
                </a:lnTo>
                <a:lnTo>
                  <a:pt x="2142" y="2271"/>
                </a:lnTo>
                <a:lnTo>
                  <a:pt x="2161" y="2248"/>
                </a:lnTo>
                <a:lnTo>
                  <a:pt x="2245" y="2165"/>
                </a:lnTo>
                <a:lnTo>
                  <a:pt x="2267" y="2145"/>
                </a:lnTo>
                <a:lnTo>
                  <a:pt x="2294" y="2132"/>
                </a:lnTo>
                <a:lnTo>
                  <a:pt x="2321" y="2124"/>
                </a:lnTo>
                <a:lnTo>
                  <a:pt x="2350" y="2122"/>
                </a:lnTo>
                <a:lnTo>
                  <a:pt x="2378" y="2124"/>
                </a:lnTo>
                <a:lnTo>
                  <a:pt x="2406" y="2132"/>
                </a:lnTo>
                <a:lnTo>
                  <a:pt x="2432" y="2147"/>
                </a:lnTo>
                <a:lnTo>
                  <a:pt x="2585" y="2248"/>
                </a:lnTo>
                <a:lnTo>
                  <a:pt x="2632" y="2227"/>
                </a:lnTo>
                <a:lnTo>
                  <a:pt x="2680" y="2209"/>
                </a:lnTo>
                <a:lnTo>
                  <a:pt x="2716" y="2028"/>
                </a:lnTo>
                <a:lnTo>
                  <a:pt x="2725" y="2000"/>
                </a:lnTo>
                <a:lnTo>
                  <a:pt x="2739" y="1975"/>
                </a:lnTo>
                <a:lnTo>
                  <a:pt x="2758" y="1952"/>
                </a:lnTo>
                <a:lnTo>
                  <a:pt x="2779" y="1934"/>
                </a:lnTo>
                <a:lnTo>
                  <a:pt x="2804" y="1921"/>
                </a:lnTo>
                <a:lnTo>
                  <a:pt x="2833" y="1911"/>
                </a:lnTo>
                <a:lnTo>
                  <a:pt x="2863" y="1909"/>
                </a:lnTo>
                <a:close/>
                <a:moveTo>
                  <a:pt x="1512" y="1260"/>
                </a:moveTo>
                <a:lnTo>
                  <a:pt x="1471" y="1263"/>
                </a:lnTo>
                <a:lnTo>
                  <a:pt x="1432" y="1273"/>
                </a:lnTo>
                <a:lnTo>
                  <a:pt x="1395" y="1288"/>
                </a:lnTo>
                <a:lnTo>
                  <a:pt x="1362" y="1309"/>
                </a:lnTo>
                <a:lnTo>
                  <a:pt x="1332" y="1334"/>
                </a:lnTo>
                <a:lnTo>
                  <a:pt x="1307" y="1364"/>
                </a:lnTo>
                <a:lnTo>
                  <a:pt x="1286" y="1398"/>
                </a:lnTo>
                <a:lnTo>
                  <a:pt x="1271" y="1435"/>
                </a:lnTo>
                <a:lnTo>
                  <a:pt x="1261" y="1473"/>
                </a:lnTo>
                <a:lnTo>
                  <a:pt x="1258" y="1515"/>
                </a:lnTo>
                <a:lnTo>
                  <a:pt x="1261" y="1555"/>
                </a:lnTo>
                <a:lnTo>
                  <a:pt x="1271" y="1595"/>
                </a:lnTo>
                <a:lnTo>
                  <a:pt x="1286" y="1632"/>
                </a:lnTo>
                <a:lnTo>
                  <a:pt x="1307" y="1665"/>
                </a:lnTo>
                <a:lnTo>
                  <a:pt x="1332" y="1695"/>
                </a:lnTo>
                <a:lnTo>
                  <a:pt x="1362" y="1720"/>
                </a:lnTo>
                <a:lnTo>
                  <a:pt x="1395" y="1740"/>
                </a:lnTo>
                <a:lnTo>
                  <a:pt x="1432" y="1756"/>
                </a:lnTo>
                <a:lnTo>
                  <a:pt x="1471" y="1766"/>
                </a:lnTo>
                <a:lnTo>
                  <a:pt x="1512" y="1769"/>
                </a:lnTo>
                <a:lnTo>
                  <a:pt x="1553" y="1766"/>
                </a:lnTo>
                <a:lnTo>
                  <a:pt x="1592" y="1756"/>
                </a:lnTo>
                <a:lnTo>
                  <a:pt x="1629" y="1740"/>
                </a:lnTo>
                <a:lnTo>
                  <a:pt x="1663" y="1720"/>
                </a:lnTo>
                <a:lnTo>
                  <a:pt x="1692" y="1695"/>
                </a:lnTo>
                <a:lnTo>
                  <a:pt x="1718" y="1665"/>
                </a:lnTo>
                <a:lnTo>
                  <a:pt x="1738" y="1632"/>
                </a:lnTo>
                <a:lnTo>
                  <a:pt x="1753" y="1595"/>
                </a:lnTo>
                <a:lnTo>
                  <a:pt x="1763" y="1555"/>
                </a:lnTo>
                <a:lnTo>
                  <a:pt x="1766" y="1515"/>
                </a:lnTo>
                <a:lnTo>
                  <a:pt x="1763" y="1473"/>
                </a:lnTo>
                <a:lnTo>
                  <a:pt x="1753" y="1435"/>
                </a:lnTo>
                <a:lnTo>
                  <a:pt x="1738" y="1398"/>
                </a:lnTo>
                <a:lnTo>
                  <a:pt x="1718" y="1364"/>
                </a:lnTo>
                <a:lnTo>
                  <a:pt x="1692" y="1334"/>
                </a:lnTo>
                <a:lnTo>
                  <a:pt x="1663" y="1309"/>
                </a:lnTo>
                <a:lnTo>
                  <a:pt x="1629" y="1288"/>
                </a:lnTo>
                <a:lnTo>
                  <a:pt x="1592" y="1273"/>
                </a:lnTo>
                <a:lnTo>
                  <a:pt x="1553" y="1263"/>
                </a:lnTo>
                <a:lnTo>
                  <a:pt x="1512" y="1260"/>
                </a:lnTo>
                <a:close/>
                <a:moveTo>
                  <a:pt x="911" y="1245"/>
                </a:moveTo>
                <a:lnTo>
                  <a:pt x="930" y="1248"/>
                </a:lnTo>
                <a:lnTo>
                  <a:pt x="948" y="1258"/>
                </a:lnTo>
                <a:lnTo>
                  <a:pt x="961" y="1271"/>
                </a:lnTo>
                <a:lnTo>
                  <a:pt x="970" y="1289"/>
                </a:lnTo>
                <a:lnTo>
                  <a:pt x="972" y="1308"/>
                </a:lnTo>
                <a:lnTo>
                  <a:pt x="968" y="1327"/>
                </a:lnTo>
                <a:lnTo>
                  <a:pt x="952" y="1388"/>
                </a:lnTo>
                <a:lnTo>
                  <a:pt x="941" y="1451"/>
                </a:lnTo>
                <a:lnTo>
                  <a:pt x="937" y="1515"/>
                </a:lnTo>
                <a:lnTo>
                  <a:pt x="941" y="1577"/>
                </a:lnTo>
                <a:lnTo>
                  <a:pt x="952" y="1638"/>
                </a:lnTo>
                <a:lnTo>
                  <a:pt x="967" y="1696"/>
                </a:lnTo>
                <a:lnTo>
                  <a:pt x="989" y="1752"/>
                </a:lnTo>
                <a:lnTo>
                  <a:pt x="1016" y="1805"/>
                </a:lnTo>
                <a:lnTo>
                  <a:pt x="1048" y="1854"/>
                </a:lnTo>
                <a:lnTo>
                  <a:pt x="1087" y="1899"/>
                </a:lnTo>
                <a:lnTo>
                  <a:pt x="1127" y="1941"/>
                </a:lnTo>
                <a:lnTo>
                  <a:pt x="1174" y="1978"/>
                </a:lnTo>
                <a:lnTo>
                  <a:pt x="1223" y="2012"/>
                </a:lnTo>
                <a:lnTo>
                  <a:pt x="1275" y="2038"/>
                </a:lnTo>
                <a:lnTo>
                  <a:pt x="1331" y="2061"/>
                </a:lnTo>
                <a:lnTo>
                  <a:pt x="1390" y="2076"/>
                </a:lnTo>
                <a:lnTo>
                  <a:pt x="1450" y="2087"/>
                </a:lnTo>
                <a:lnTo>
                  <a:pt x="1512" y="2089"/>
                </a:lnTo>
                <a:lnTo>
                  <a:pt x="1573" y="2087"/>
                </a:lnTo>
                <a:lnTo>
                  <a:pt x="1632" y="2077"/>
                </a:lnTo>
                <a:lnTo>
                  <a:pt x="1689" y="2062"/>
                </a:lnTo>
                <a:lnTo>
                  <a:pt x="1745" y="2040"/>
                </a:lnTo>
                <a:lnTo>
                  <a:pt x="1799" y="2014"/>
                </a:lnTo>
                <a:lnTo>
                  <a:pt x="1849" y="1981"/>
                </a:lnTo>
                <a:lnTo>
                  <a:pt x="1863" y="1973"/>
                </a:lnTo>
                <a:lnTo>
                  <a:pt x="1879" y="1970"/>
                </a:lnTo>
                <a:lnTo>
                  <a:pt x="1895" y="1970"/>
                </a:lnTo>
                <a:lnTo>
                  <a:pt x="1911" y="1975"/>
                </a:lnTo>
                <a:lnTo>
                  <a:pt x="1924" y="1983"/>
                </a:lnTo>
                <a:lnTo>
                  <a:pt x="1936" y="1995"/>
                </a:lnTo>
                <a:lnTo>
                  <a:pt x="1943" y="2009"/>
                </a:lnTo>
                <a:lnTo>
                  <a:pt x="1947" y="2025"/>
                </a:lnTo>
                <a:lnTo>
                  <a:pt x="1947" y="2041"/>
                </a:lnTo>
                <a:lnTo>
                  <a:pt x="1942" y="2056"/>
                </a:lnTo>
                <a:lnTo>
                  <a:pt x="1933" y="2070"/>
                </a:lnTo>
                <a:lnTo>
                  <a:pt x="1921" y="2082"/>
                </a:lnTo>
                <a:lnTo>
                  <a:pt x="1869" y="2117"/>
                </a:lnTo>
                <a:lnTo>
                  <a:pt x="1814" y="2145"/>
                </a:lnTo>
                <a:lnTo>
                  <a:pt x="1757" y="2170"/>
                </a:lnTo>
                <a:lnTo>
                  <a:pt x="1698" y="2190"/>
                </a:lnTo>
                <a:lnTo>
                  <a:pt x="1638" y="2203"/>
                </a:lnTo>
                <a:lnTo>
                  <a:pt x="1576" y="2211"/>
                </a:lnTo>
                <a:lnTo>
                  <a:pt x="1512" y="2215"/>
                </a:lnTo>
                <a:lnTo>
                  <a:pt x="1441" y="2211"/>
                </a:lnTo>
                <a:lnTo>
                  <a:pt x="1372" y="2200"/>
                </a:lnTo>
                <a:lnTo>
                  <a:pt x="1305" y="2182"/>
                </a:lnTo>
                <a:lnTo>
                  <a:pt x="1240" y="2160"/>
                </a:lnTo>
                <a:lnTo>
                  <a:pt x="1180" y="2130"/>
                </a:lnTo>
                <a:lnTo>
                  <a:pt x="1122" y="2094"/>
                </a:lnTo>
                <a:lnTo>
                  <a:pt x="1069" y="2055"/>
                </a:lnTo>
                <a:lnTo>
                  <a:pt x="1019" y="2009"/>
                </a:lnTo>
                <a:lnTo>
                  <a:pt x="973" y="1959"/>
                </a:lnTo>
                <a:lnTo>
                  <a:pt x="933" y="1905"/>
                </a:lnTo>
                <a:lnTo>
                  <a:pt x="898" y="1848"/>
                </a:lnTo>
                <a:lnTo>
                  <a:pt x="868" y="1787"/>
                </a:lnTo>
                <a:lnTo>
                  <a:pt x="846" y="1723"/>
                </a:lnTo>
                <a:lnTo>
                  <a:pt x="828" y="1656"/>
                </a:lnTo>
                <a:lnTo>
                  <a:pt x="817" y="1586"/>
                </a:lnTo>
                <a:lnTo>
                  <a:pt x="813" y="1515"/>
                </a:lnTo>
                <a:lnTo>
                  <a:pt x="816" y="1456"/>
                </a:lnTo>
                <a:lnTo>
                  <a:pt x="823" y="1399"/>
                </a:lnTo>
                <a:lnTo>
                  <a:pt x="835" y="1343"/>
                </a:lnTo>
                <a:lnTo>
                  <a:pt x="852" y="1287"/>
                </a:lnTo>
                <a:lnTo>
                  <a:pt x="861" y="1270"/>
                </a:lnTo>
                <a:lnTo>
                  <a:pt x="874" y="1255"/>
                </a:lnTo>
                <a:lnTo>
                  <a:pt x="892" y="1247"/>
                </a:lnTo>
                <a:lnTo>
                  <a:pt x="911" y="1245"/>
                </a:lnTo>
                <a:close/>
                <a:moveTo>
                  <a:pt x="1512" y="1135"/>
                </a:moveTo>
                <a:lnTo>
                  <a:pt x="1564" y="1138"/>
                </a:lnTo>
                <a:lnTo>
                  <a:pt x="1613" y="1149"/>
                </a:lnTo>
                <a:lnTo>
                  <a:pt x="1659" y="1165"/>
                </a:lnTo>
                <a:lnTo>
                  <a:pt x="1703" y="1187"/>
                </a:lnTo>
                <a:lnTo>
                  <a:pt x="1744" y="1215"/>
                </a:lnTo>
                <a:lnTo>
                  <a:pt x="1780" y="1247"/>
                </a:lnTo>
                <a:lnTo>
                  <a:pt x="1812" y="1283"/>
                </a:lnTo>
                <a:lnTo>
                  <a:pt x="1839" y="1324"/>
                </a:lnTo>
                <a:lnTo>
                  <a:pt x="1861" y="1367"/>
                </a:lnTo>
                <a:lnTo>
                  <a:pt x="1877" y="1414"/>
                </a:lnTo>
                <a:lnTo>
                  <a:pt x="1887" y="1463"/>
                </a:lnTo>
                <a:lnTo>
                  <a:pt x="1890" y="1515"/>
                </a:lnTo>
                <a:lnTo>
                  <a:pt x="1887" y="1566"/>
                </a:lnTo>
                <a:lnTo>
                  <a:pt x="1877" y="1615"/>
                </a:lnTo>
                <a:lnTo>
                  <a:pt x="1861" y="1662"/>
                </a:lnTo>
                <a:lnTo>
                  <a:pt x="1839" y="1706"/>
                </a:lnTo>
                <a:lnTo>
                  <a:pt x="1812" y="1746"/>
                </a:lnTo>
                <a:lnTo>
                  <a:pt x="1780" y="1782"/>
                </a:lnTo>
                <a:lnTo>
                  <a:pt x="1744" y="1815"/>
                </a:lnTo>
                <a:lnTo>
                  <a:pt x="1703" y="1842"/>
                </a:lnTo>
                <a:lnTo>
                  <a:pt x="1659" y="1863"/>
                </a:lnTo>
                <a:lnTo>
                  <a:pt x="1613" y="1880"/>
                </a:lnTo>
                <a:lnTo>
                  <a:pt x="1564" y="1890"/>
                </a:lnTo>
                <a:lnTo>
                  <a:pt x="1512" y="1893"/>
                </a:lnTo>
                <a:lnTo>
                  <a:pt x="1461" y="1890"/>
                </a:lnTo>
                <a:lnTo>
                  <a:pt x="1412" y="1880"/>
                </a:lnTo>
                <a:lnTo>
                  <a:pt x="1364" y="1863"/>
                </a:lnTo>
                <a:lnTo>
                  <a:pt x="1322" y="1842"/>
                </a:lnTo>
                <a:lnTo>
                  <a:pt x="1281" y="1815"/>
                </a:lnTo>
                <a:lnTo>
                  <a:pt x="1245" y="1782"/>
                </a:lnTo>
                <a:lnTo>
                  <a:pt x="1213" y="1746"/>
                </a:lnTo>
                <a:lnTo>
                  <a:pt x="1186" y="1706"/>
                </a:lnTo>
                <a:lnTo>
                  <a:pt x="1163" y="1662"/>
                </a:lnTo>
                <a:lnTo>
                  <a:pt x="1147" y="1615"/>
                </a:lnTo>
                <a:lnTo>
                  <a:pt x="1137" y="1566"/>
                </a:lnTo>
                <a:lnTo>
                  <a:pt x="1133" y="1515"/>
                </a:lnTo>
                <a:lnTo>
                  <a:pt x="1137" y="1463"/>
                </a:lnTo>
                <a:lnTo>
                  <a:pt x="1147" y="1414"/>
                </a:lnTo>
                <a:lnTo>
                  <a:pt x="1163" y="1367"/>
                </a:lnTo>
                <a:lnTo>
                  <a:pt x="1186" y="1324"/>
                </a:lnTo>
                <a:lnTo>
                  <a:pt x="1213" y="1283"/>
                </a:lnTo>
                <a:lnTo>
                  <a:pt x="1245" y="1247"/>
                </a:lnTo>
                <a:lnTo>
                  <a:pt x="1281" y="1215"/>
                </a:lnTo>
                <a:lnTo>
                  <a:pt x="1322" y="1187"/>
                </a:lnTo>
                <a:lnTo>
                  <a:pt x="1364" y="1165"/>
                </a:lnTo>
                <a:lnTo>
                  <a:pt x="1412" y="1149"/>
                </a:lnTo>
                <a:lnTo>
                  <a:pt x="1461" y="1138"/>
                </a:lnTo>
                <a:lnTo>
                  <a:pt x="1512" y="1135"/>
                </a:lnTo>
                <a:close/>
                <a:moveTo>
                  <a:pt x="1512" y="815"/>
                </a:moveTo>
                <a:lnTo>
                  <a:pt x="1584" y="818"/>
                </a:lnTo>
                <a:lnTo>
                  <a:pt x="1653" y="829"/>
                </a:lnTo>
                <a:lnTo>
                  <a:pt x="1720" y="847"/>
                </a:lnTo>
                <a:lnTo>
                  <a:pt x="1784" y="870"/>
                </a:lnTo>
                <a:lnTo>
                  <a:pt x="1845" y="899"/>
                </a:lnTo>
                <a:lnTo>
                  <a:pt x="1902" y="934"/>
                </a:lnTo>
                <a:lnTo>
                  <a:pt x="1956" y="975"/>
                </a:lnTo>
                <a:lnTo>
                  <a:pt x="2006" y="1020"/>
                </a:lnTo>
                <a:lnTo>
                  <a:pt x="2051" y="1070"/>
                </a:lnTo>
                <a:lnTo>
                  <a:pt x="2091" y="1124"/>
                </a:lnTo>
                <a:lnTo>
                  <a:pt x="2127" y="1181"/>
                </a:lnTo>
                <a:lnTo>
                  <a:pt x="2156" y="1242"/>
                </a:lnTo>
                <a:lnTo>
                  <a:pt x="2179" y="1307"/>
                </a:lnTo>
                <a:lnTo>
                  <a:pt x="2197" y="1374"/>
                </a:lnTo>
                <a:lnTo>
                  <a:pt x="2208" y="1443"/>
                </a:lnTo>
                <a:lnTo>
                  <a:pt x="2211" y="1515"/>
                </a:lnTo>
                <a:lnTo>
                  <a:pt x="2208" y="1580"/>
                </a:lnTo>
                <a:lnTo>
                  <a:pt x="2198" y="1646"/>
                </a:lnTo>
                <a:lnTo>
                  <a:pt x="2183" y="1711"/>
                </a:lnTo>
                <a:lnTo>
                  <a:pt x="2161" y="1774"/>
                </a:lnTo>
                <a:lnTo>
                  <a:pt x="2134" y="1834"/>
                </a:lnTo>
                <a:lnTo>
                  <a:pt x="2124" y="1848"/>
                </a:lnTo>
                <a:lnTo>
                  <a:pt x="2111" y="1859"/>
                </a:lnTo>
                <a:lnTo>
                  <a:pt x="2096" y="1865"/>
                </a:lnTo>
                <a:lnTo>
                  <a:pt x="2079" y="1867"/>
                </a:lnTo>
                <a:lnTo>
                  <a:pt x="2065" y="1866"/>
                </a:lnTo>
                <a:lnTo>
                  <a:pt x="2050" y="1860"/>
                </a:lnTo>
                <a:lnTo>
                  <a:pt x="2037" y="1850"/>
                </a:lnTo>
                <a:lnTo>
                  <a:pt x="2026" y="1838"/>
                </a:lnTo>
                <a:lnTo>
                  <a:pt x="2019" y="1824"/>
                </a:lnTo>
                <a:lnTo>
                  <a:pt x="2017" y="1809"/>
                </a:lnTo>
                <a:lnTo>
                  <a:pt x="2018" y="1792"/>
                </a:lnTo>
                <a:lnTo>
                  <a:pt x="2024" y="1776"/>
                </a:lnTo>
                <a:lnTo>
                  <a:pt x="2047" y="1727"/>
                </a:lnTo>
                <a:lnTo>
                  <a:pt x="2063" y="1676"/>
                </a:lnTo>
                <a:lnTo>
                  <a:pt x="2077" y="1623"/>
                </a:lnTo>
                <a:lnTo>
                  <a:pt x="2084" y="1570"/>
                </a:lnTo>
                <a:lnTo>
                  <a:pt x="2086" y="1515"/>
                </a:lnTo>
                <a:lnTo>
                  <a:pt x="2084" y="1453"/>
                </a:lnTo>
                <a:lnTo>
                  <a:pt x="2073" y="1392"/>
                </a:lnTo>
                <a:lnTo>
                  <a:pt x="2057" y="1333"/>
                </a:lnTo>
                <a:lnTo>
                  <a:pt x="2035" y="1277"/>
                </a:lnTo>
                <a:lnTo>
                  <a:pt x="2009" y="1224"/>
                </a:lnTo>
                <a:lnTo>
                  <a:pt x="1975" y="1175"/>
                </a:lnTo>
                <a:lnTo>
                  <a:pt x="1938" y="1129"/>
                </a:lnTo>
                <a:lnTo>
                  <a:pt x="1896" y="1088"/>
                </a:lnTo>
                <a:lnTo>
                  <a:pt x="1851" y="1050"/>
                </a:lnTo>
                <a:lnTo>
                  <a:pt x="1802" y="1018"/>
                </a:lnTo>
                <a:lnTo>
                  <a:pt x="1750" y="990"/>
                </a:lnTo>
                <a:lnTo>
                  <a:pt x="1694" y="969"/>
                </a:lnTo>
                <a:lnTo>
                  <a:pt x="1635" y="953"/>
                </a:lnTo>
                <a:lnTo>
                  <a:pt x="1574" y="942"/>
                </a:lnTo>
                <a:lnTo>
                  <a:pt x="1512" y="939"/>
                </a:lnTo>
                <a:lnTo>
                  <a:pt x="1456" y="942"/>
                </a:lnTo>
                <a:lnTo>
                  <a:pt x="1401" y="950"/>
                </a:lnTo>
                <a:lnTo>
                  <a:pt x="1348" y="963"/>
                </a:lnTo>
                <a:lnTo>
                  <a:pt x="1295" y="982"/>
                </a:lnTo>
                <a:lnTo>
                  <a:pt x="1246" y="1005"/>
                </a:lnTo>
                <a:lnTo>
                  <a:pt x="1199" y="1033"/>
                </a:lnTo>
                <a:lnTo>
                  <a:pt x="1153" y="1066"/>
                </a:lnTo>
                <a:lnTo>
                  <a:pt x="1112" y="1103"/>
                </a:lnTo>
                <a:lnTo>
                  <a:pt x="1095" y="1115"/>
                </a:lnTo>
                <a:lnTo>
                  <a:pt x="1077" y="1119"/>
                </a:lnTo>
                <a:lnTo>
                  <a:pt x="1058" y="1119"/>
                </a:lnTo>
                <a:lnTo>
                  <a:pt x="1040" y="1113"/>
                </a:lnTo>
                <a:lnTo>
                  <a:pt x="1023" y="1101"/>
                </a:lnTo>
                <a:lnTo>
                  <a:pt x="1013" y="1086"/>
                </a:lnTo>
                <a:lnTo>
                  <a:pt x="1007" y="1067"/>
                </a:lnTo>
                <a:lnTo>
                  <a:pt x="1007" y="1048"/>
                </a:lnTo>
                <a:lnTo>
                  <a:pt x="1013" y="1030"/>
                </a:lnTo>
                <a:lnTo>
                  <a:pt x="1025" y="1013"/>
                </a:lnTo>
                <a:lnTo>
                  <a:pt x="1076" y="969"/>
                </a:lnTo>
                <a:lnTo>
                  <a:pt x="1131" y="928"/>
                </a:lnTo>
                <a:lnTo>
                  <a:pt x="1188" y="895"/>
                </a:lnTo>
                <a:lnTo>
                  <a:pt x="1249" y="866"/>
                </a:lnTo>
                <a:lnTo>
                  <a:pt x="1312" y="845"/>
                </a:lnTo>
                <a:lnTo>
                  <a:pt x="1378" y="828"/>
                </a:lnTo>
                <a:lnTo>
                  <a:pt x="1444" y="818"/>
                </a:lnTo>
                <a:lnTo>
                  <a:pt x="1512" y="815"/>
                </a:lnTo>
                <a:close/>
                <a:moveTo>
                  <a:pt x="1423" y="0"/>
                </a:moveTo>
                <a:lnTo>
                  <a:pt x="1602" y="0"/>
                </a:lnTo>
                <a:lnTo>
                  <a:pt x="1635" y="4"/>
                </a:lnTo>
                <a:lnTo>
                  <a:pt x="1667" y="12"/>
                </a:lnTo>
                <a:lnTo>
                  <a:pt x="1697" y="25"/>
                </a:lnTo>
                <a:lnTo>
                  <a:pt x="1725" y="44"/>
                </a:lnTo>
                <a:lnTo>
                  <a:pt x="1749" y="67"/>
                </a:lnTo>
                <a:lnTo>
                  <a:pt x="1768" y="93"/>
                </a:lnTo>
                <a:lnTo>
                  <a:pt x="1783" y="123"/>
                </a:lnTo>
                <a:lnTo>
                  <a:pt x="1793" y="156"/>
                </a:lnTo>
                <a:lnTo>
                  <a:pt x="1851" y="449"/>
                </a:lnTo>
                <a:lnTo>
                  <a:pt x="1911" y="469"/>
                </a:lnTo>
                <a:lnTo>
                  <a:pt x="1969" y="493"/>
                </a:lnTo>
                <a:lnTo>
                  <a:pt x="2025" y="521"/>
                </a:lnTo>
                <a:lnTo>
                  <a:pt x="2273" y="356"/>
                </a:lnTo>
                <a:lnTo>
                  <a:pt x="2303" y="339"/>
                </a:lnTo>
                <a:lnTo>
                  <a:pt x="2335" y="329"/>
                </a:lnTo>
                <a:lnTo>
                  <a:pt x="2368" y="324"/>
                </a:lnTo>
                <a:lnTo>
                  <a:pt x="2400" y="324"/>
                </a:lnTo>
                <a:lnTo>
                  <a:pt x="2432" y="330"/>
                </a:lnTo>
                <a:lnTo>
                  <a:pt x="2463" y="342"/>
                </a:lnTo>
                <a:lnTo>
                  <a:pt x="2492" y="358"/>
                </a:lnTo>
                <a:lnTo>
                  <a:pt x="2518" y="380"/>
                </a:lnTo>
                <a:lnTo>
                  <a:pt x="2645" y="508"/>
                </a:lnTo>
                <a:lnTo>
                  <a:pt x="2667" y="533"/>
                </a:lnTo>
                <a:lnTo>
                  <a:pt x="2684" y="563"/>
                </a:lnTo>
                <a:lnTo>
                  <a:pt x="2694" y="592"/>
                </a:lnTo>
                <a:lnTo>
                  <a:pt x="2700" y="625"/>
                </a:lnTo>
                <a:lnTo>
                  <a:pt x="2702" y="658"/>
                </a:lnTo>
                <a:lnTo>
                  <a:pt x="2696" y="690"/>
                </a:lnTo>
                <a:lnTo>
                  <a:pt x="2686" y="723"/>
                </a:lnTo>
                <a:lnTo>
                  <a:pt x="2669" y="753"/>
                </a:lnTo>
                <a:lnTo>
                  <a:pt x="2504" y="1001"/>
                </a:lnTo>
                <a:lnTo>
                  <a:pt x="2531" y="1057"/>
                </a:lnTo>
                <a:lnTo>
                  <a:pt x="2556" y="1116"/>
                </a:lnTo>
                <a:lnTo>
                  <a:pt x="2576" y="1175"/>
                </a:lnTo>
                <a:lnTo>
                  <a:pt x="2869" y="1234"/>
                </a:lnTo>
                <a:lnTo>
                  <a:pt x="2901" y="1244"/>
                </a:lnTo>
                <a:lnTo>
                  <a:pt x="2931" y="1259"/>
                </a:lnTo>
                <a:lnTo>
                  <a:pt x="2958" y="1278"/>
                </a:lnTo>
                <a:lnTo>
                  <a:pt x="2981" y="1302"/>
                </a:lnTo>
                <a:lnTo>
                  <a:pt x="2999" y="1328"/>
                </a:lnTo>
                <a:lnTo>
                  <a:pt x="3013" y="1358"/>
                </a:lnTo>
                <a:lnTo>
                  <a:pt x="3021" y="1390"/>
                </a:lnTo>
                <a:lnTo>
                  <a:pt x="3025" y="1425"/>
                </a:lnTo>
                <a:lnTo>
                  <a:pt x="3025" y="1604"/>
                </a:lnTo>
                <a:lnTo>
                  <a:pt x="3021" y="1638"/>
                </a:lnTo>
                <a:lnTo>
                  <a:pt x="3013" y="1670"/>
                </a:lnTo>
                <a:lnTo>
                  <a:pt x="2999" y="1700"/>
                </a:lnTo>
                <a:lnTo>
                  <a:pt x="2981" y="1727"/>
                </a:lnTo>
                <a:lnTo>
                  <a:pt x="2958" y="1751"/>
                </a:lnTo>
                <a:lnTo>
                  <a:pt x="2931" y="1770"/>
                </a:lnTo>
                <a:lnTo>
                  <a:pt x="2901" y="1786"/>
                </a:lnTo>
                <a:lnTo>
                  <a:pt x="2869" y="1795"/>
                </a:lnTo>
                <a:lnTo>
                  <a:pt x="2576" y="1854"/>
                </a:lnTo>
                <a:lnTo>
                  <a:pt x="2550" y="1927"/>
                </a:lnTo>
                <a:lnTo>
                  <a:pt x="2519" y="1998"/>
                </a:lnTo>
                <a:lnTo>
                  <a:pt x="2511" y="2012"/>
                </a:lnTo>
                <a:lnTo>
                  <a:pt x="2498" y="2022"/>
                </a:lnTo>
                <a:lnTo>
                  <a:pt x="2484" y="2030"/>
                </a:lnTo>
                <a:lnTo>
                  <a:pt x="2469" y="2033"/>
                </a:lnTo>
                <a:lnTo>
                  <a:pt x="2452" y="2032"/>
                </a:lnTo>
                <a:lnTo>
                  <a:pt x="2437" y="2027"/>
                </a:lnTo>
                <a:lnTo>
                  <a:pt x="2422" y="2018"/>
                </a:lnTo>
                <a:lnTo>
                  <a:pt x="2412" y="2006"/>
                </a:lnTo>
                <a:lnTo>
                  <a:pt x="2405" y="1991"/>
                </a:lnTo>
                <a:lnTo>
                  <a:pt x="2401" y="1976"/>
                </a:lnTo>
                <a:lnTo>
                  <a:pt x="2402" y="1960"/>
                </a:lnTo>
                <a:lnTo>
                  <a:pt x="2407" y="1944"/>
                </a:lnTo>
                <a:lnTo>
                  <a:pt x="2431" y="1892"/>
                </a:lnTo>
                <a:lnTo>
                  <a:pt x="2451" y="1837"/>
                </a:lnTo>
                <a:lnTo>
                  <a:pt x="2468" y="1783"/>
                </a:lnTo>
                <a:lnTo>
                  <a:pt x="2475" y="1767"/>
                </a:lnTo>
                <a:lnTo>
                  <a:pt x="2486" y="1754"/>
                </a:lnTo>
                <a:lnTo>
                  <a:pt x="2499" y="1744"/>
                </a:lnTo>
                <a:lnTo>
                  <a:pt x="2515" y="1738"/>
                </a:lnTo>
                <a:lnTo>
                  <a:pt x="2845" y="1672"/>
                </a:lnTo>
                <a:lnTo>
                  <a:pt x="2863" y="1666"/>
                </a:lnTo>
                <a:lnTo>
                  <a:pt x="2878" y="1656"/>
                </a:lnTo>
                <a:lnTo>
                  <a:pt x="2890" y="1641"/>
                </a:lnTo>
                <a:lnTo>
                  <a:pt x="2897" y="1623"/>
                </a:lnTo>
                <a:lnTo>
                  <a:pt x="2901" y="1604"/>
                </a:lnTo>
                <a:lnTo>
                  <a:pt x="2901" y="1425"/>
                </a:lnTo>
                <a:lnTo>
                  <a:pt x="2897" y="1406"/>
                </a:lnTo>
                <a:lnTo>
                  <a:pt x="2890" y="1388"/>
                </a:lnTo>
                <a:lnTo>
                  <a:pt x="2878" y="1374"/>
                </a:lnTo>
                <a:lnTo>
                  <a:pt x="2863" y="1363"/>
                </a:lnTo>
                <a:lnTo>
                  <a:pt x="2845" y="1356"/>
                </a:lnTo>
                <a:lnTo>
                  <a:pt x="2515" y="1290"/>
                </a:lnTo>
                <a:lnTo>
                  <a:pt x="2499" y="1285"/>
                </a:lnTo>
                <a:lnTo>
                  <a:pt x="2486" y="1275"/>
                </a:lnTo>
                <a:lnTo>
                  <a:pt x="2475" y="1261"/>
                </a:lnTo>
                <a:lnTo>
                  <a:pt x="2468" y="1246"/>
                </a:lnTo>
                <a:lnTo>
                  <a:pt x="2444" y="1171"/>
                </a:lnTo>
                <a:lnTo>
                  <a:pt x="2413" y="1098"/>
                </a:lnTo>
                <a:lnTo>
                  <a:pt x="2377" y="1027"/>
                </a:lnTo>
                <a:lnTo>
                  <a:pt x="2371" y="1012"/>
                </a:lnTo>
                <a:lnTo>
                  <a:pt x="2370" y="995"/>
                </a:lnTo>
                <a:lnTo>
                  <a:pt x="2372" y="978"/>
                </a:lnTo>
                <a:lnTo>
                  <a:pt x="2379" y="963"/>
                </a:lnTo>
                <a:lnTo>
                  <a:pt x="2566" y="683"/>
                </a:lnTo>
                <a:lnTo>
                  <a:pt x="2574" y="665"/>
                </a:lnTo>
                <a:lnTo>
                  <a:pt x="2577" y="647"/>
                </a:lnTo>
                <a:lnTo>
                  <a:pt x="2575" y="628"/>
                </a:lnTo>
                <a:lnTo>
                  <a:pt x="2569" y="610"/>
                </a:lnTo>
                <a:lnTo>
                  <a:pt x="2557" y="595"/>
                </a:lnTo>
                <a:lnTo>
                  <a:pt x="2431" y="468"/>
                </a:lnTo>
                <a:lnTo>
                  <a:pt x="2415" y="456"/>
                </a:lnTo>
                <a:lnTo>
                  <a:pt x="2397" y="449"/>
                </a:lnTo>
                <a:lnTo>
                  <a:pt x="2378" y="448"/>
                </a:lnTo>
                <a:lnTo>
                  <a:pt x="2360" y="452"/>
                </a:lnTo>
                <a:lnTo>
                  <a:pt x="2343" y="460"/>
                </a:lnTo>
                <a:lnTo>
                  <a:pt x="2063" y="645"/>
                </a:lnTo>
                <a:lnTo>
                  <a:pt x="2048" y="653"/>
                </a:lnTo>
                <a:lnTo>
                  <a:pt x="2031" y="656"/>
                </a:lnTo>
                <a:lnTo>
                  <a:pt x="2015" y="655"/>
                </a:lnTo>
                <a:lnTo>
                  <a:pt x="1999" y="649"/>
                </a:lnTo>
                <a:lnTo>
                  <a:pt x="1929" y="612"/>
                </a:lnTo>
                <a:lnTo>
                  <a:pt x="1856" y="582"/>
                </a:lnTo>
                <a:lnTo>
                  <a:pt x="1781" y="558"/>
                </a:lnTo>
                <a:lnTo>
                  <a:pt x="1764" y="551"/>
                </a:lnTo>
                <a:lnTo>
                  <a:pt x="1751" y="540"/>
                </a:lnTo>
                <a:lnTo>
                  <a:pt x="1741" y="526"/>
                </a:lnTo>
                <a:lnTo>
                  <a:pt x="1735" y="510"/>
                </a:lnTo>
                <a:lnTo>
                  <a:pt x="1670" y="180"/>
                </a:lnTo>
                <a:lnTo>
                  <a:pt x="1664" y="162"/>
                </a:lnTo>
                <a:lnTo>
                  <a:pt x="1653" y="147"/>
                </a:lnTo>
                <a:lnTo>
                  <a:pt x="1639" y="135"/>
                </a:lnTo>
                <a:lnTo>
                  <a:pt x="1621" y="127"/>
                </a:lnTo>
                <a:lnTo>
                  <a:pt x="1602" y="124"/>
                </a:lnTo>
                <a:lnTo>
                  <a:pt x="1423" y="124"/>
                </a:lnTo>
                <a:lnTo>
                  <a:pt x="1404" y="127"/>
                </a:lnTo>
                <a:lnTo>
                  <a:pt x="1386" y="135"/>
                </a:lnTo>
                <a:lnTo>
                  <a:pt x="1372" y="147"/>
                </a:lnTo>
                <a:lnTo>
                  <a:pt x="1361" y="162"/>
                </a:lnTo>
                <a:lnTo>
                  <a:pt x="1354" y="180"/>
                </a:lnTo>
                <a:lnTo>
                  <a:pt x="1288" y="510"/>
                </a:lnTo>
                <a:lnTo>
                  <a:pt x="1283" y="526"/>
                </a:lnTo>
                <a:lnTo>
                  <a:pt x="1273" y="540"/>
                </a:lnTo>
                <a:lnTo>
                  <a:pt x="1260" y="551"/>
                </a:lnTo>
                <a:lnTo>
                  <a:pt x="1244" y="558"/>
                </a:lnTo>
                <a:lnTo>
                  <a:pt x="1169" y="582"/>
                </a:lnTo>
                <a:lnTo>
                  <a:pt x="1096" y="612"/>
                </a:lnTo>
                <a:lnTo>
                  <a:pt x="1026" y="649"/>
                </a:lnTo>
                <a:lnTo>
                  <a:pt x="1010" y="655"/>
                </a:lnTo>
                <a:lnTo>
                  <a:pt x="994" y="656"/>
                </a:lnTo>
                <a:lnTo>
                  <a:pt x="977" y="653"/>
                </a:lnTo>
                <a:lnTo>
                  <a:pt x="961" y="645"/>
                </a:lnTo>
                <a:lnTo>
                  <a:pt x="682" y="460"/>
                </a:lnTo>
                <a:lnTo>
                  <a:pt x="664" y="452"/>
                </a:lnTo>
                <a:lnTo>
                  <a:pt x="646" y="448"/>
                </a:lnTo>
                <a:lnTo>
                  <a:pt x="627" y="449"/>
                </a:lnTo>
                <a:lnTo>
                  <a:pt x="609" y="456"/>
                </a:lnTo>
                <a:lnTo>
                  <a:pt x="594" y="468"/>
                </a:lnTo>
                <a:lnTo>
                  <a:pt x="468" y="595"/>
                </a:lnTo>
                <a:lnTo>
                  <a:pt x="456" y="610"/>
                </a:lnTo>
                <a:lnTo>
                  <a:pt x="448" y="628"/>
                </a:lnTo>
                <a:lnTo>
                  <a:pt x="447" y="647"/>
                </a:lnTo>
                <a:lnTo>
                  <a:pt x="451" y="665"/>
                </a:lnTo>
                <a:lnTo>
                  <a:pt x="459" y="683"/>
                </a:lnTo>
                <a:lnTo>
                  <a:pt x="644" y="963"/>
                </a:lnTo>
                <a:lnTo>
                  <a:pt x="652" y="978"/>
                </a:lnTo>
                <a:lnTo>
                  <a:pt x="655" y="995"/>
                </a:lnTo>
                <a:lnTo>
                  <a:pt x="654" y="1012"/>
                </a:lnTo>
                <a:lnTo>
                  <a:pt x="648" y="1027"/>
                </a:lnTo>
                <a:lnTo>
                  <a:pt x="611" y="1098"/>
                </a:lnTo>
                <a:lnTo>
                  <a:pt x="581" y="1171"/>
                </a:lnTo>
                <a:lnTo>
                  <a:pt x="557" y="1246"/>
                </a:lnTo>
                <a:lnTo>
                  <a:pt x="550" y="1261"/>
                </a:lnTo>
                <a:lnTo>
                  <a:pt x="539" y="1275"/>
                </a:lnTo>
                <a:lnTo>
                  <a:pt x="525" y="1285"/>
                </a:lnTo>
                <a:lnTo>
                  <a:pt x="509" y="1290"/>
                </a:lnTo>
                <a:lnTo>
                  <a:pt x="180" y="1356"/>
                </a:lnTo>
                <a:lnTo>
                  <a:pt x="162" y="1363"/>
                </a:lnTo>
                <a:lnTo>
                  <a:pt x="147" y="1374"/>
                </a:lnTo>
                <a:lnTo>
                  <a:pt x="135" y="1388"/>
                </a:lnTo>
                <a:lnTo>
                  <a:pt x="126" y="1406"/>
                </a:lnTo>
                <a:lnTo>
                  <a:pt x="124" y="1425"/>
                </a:lnTo>
                <a:lnTo>
                  <a:pt x="124" y="1604"/>
                </a:lnTo>
                <a:lnTo>
                  <a:pt x="126" y="1623"/>
                </a:lnTo>
                <a:lnTo>
                  <a:pt x="135" y="1641"/>
                </a:lnTo>
                <a:lnTo>
                  <a:pt x="147" y="1656"/>
                </a:lnTo>
                <a:lnTo>
                  <a:pt x="162" y="1666"/>
                </a:lnTo>
                <a:lnTo>
                  <a:pt x="180" y="1672"/>
                </a:lnTo>
                <a:lnTo>
                  <a:pt x="509" y="1738"/>
                </a:lnTo>
                <a:lnTo>
                  <a:pt x="525" y="1744"/>
                </a:lnTo>
                <a:lnTo>
                  <a:pt x="539" y="1754"/>
                </a:lnTo>
                <a:lnTo>
                  <a:pt x="550" y="1767"/>
                </a:lnTo>
                <a:lnTo>
                  <a:pt x="557" y="1783"/>
                </a:lnTo>
                <a:lnTo>
                  <a:pt x="581" y="1858"/>
                </a:lnTo>
                <a:lnTo>
                  <a:pt x="611" y="1932"/>
                </a:lnTo>
                <a:lnTo>
                  <a:pt x="648" y="2001"/>
                </a:lnTo>
                <a:lnTo>
                  <a:pt x="654" y="2018"/>
                </a:lnTo>
                <a:lnTo>
                  <a:pt x="655" y="2034"/>
                </a:lnTo>
                <a:lnTo>
                  <a:pt x="652" y="2051"/>
                </a:lnTo>
                <a:lnTo>
                  <a:pt x="644" y="2067"/>
                </a:lnTo>
                <a:lnTo>
                  <a:pt x="459" y="2346"/>
                </a:lnTo>
                <a:lnTo>
                  <a:pt x="451" y="2363"/>
                </a:lnTo>
                <a:lnTo>
                  <a:pt x="447" y="2382"/>
                </a:lnTo>
                <a:lnTo>
                  <a:pt x="448" y="2401"/>
                </a:lnTo>
                <a:lnTo>
                  <a:pt x="456" y="2419"/>
                </a:lnTo>
                <a:lnTo>
                  <a:pt x="468" y="2434"/>
                </a:lnTo>
                <a:lnTo>
                  <a:pt x="594" y="2561"/>
                </a:lnTo>
                <a:lnTo>
                  <a:pt x="609" y="2573"/>
                </a:lnTo>
                <a:lnTo>
                  <a:pt x="627" y="2579"/>
                </a:lnTo>
                <a:lnTo>
                  <a:pt x="646" y="2581"/>
                </a:lnTo>
                <a:lnTo>
                  <a:pt x="664" y="2578"/>
                </a:lnTo>
                <a:lnTo>
                  <a:pt x="682" y="2569"/>
                </a:lnTo>
                <a:lnTo>
                  <a:pt x="961" y="2383"/>
                </a:lnTo>
                <a:lnTo>
                  <a:pt x="977" y="2376"/>
                </a:lnTo>
                <a:lnTo>
                  <a:pt x="994" y="2374"/>
                </a:lnTo>
                <a:lnTo>
                  <a:pt x="1010" y="2375"/>
                </a:lnTo>
                <a:lnTo>
                  <a:pt x="1026" y="2381"/>
                </a:lnTo>
                <a:lnTo>
                  <a:pt x="1096" y="2417"/>
                </a:lnTo>
                <a:lnTo>
                  <a:pt x="1169" y="2448"/>
                </a:lnTo>
                <a:lnTo>
                  <a:pt x="1244" y="2472"/>
                </a:lnTo>
                <a:lnTo>
                  <a:pt x="1260" y="2479"/>
                </a:lnTo>
                <a:lnTo>
                  <a:pt x="1273" y="2489"/>
                </a:lnTo>
                <a:lnTo>
                  <a:pt x="1283" y="2503"/>
                </a:lnTo>
                <a:lnTo>
                  <a:pt x="1288" y="2519"/>
                </a:lnTo>
                <a:lnTo>
                  <a:pt x="1354" y="2849"/>
                </a:lnTo>
                <a:lnTo>
                  <a:pt x="1361" y="2867"/>
                </a:lnTo>
                <a:lnTo>
                  <a:pt x="1372" y="2882"/>
                </a:lnTo>
                <a:lnTo>
                  <a:pt x="1386" y="2894"/>
                </a:lnTo>
                <a:lnTo>
                  <a:pt x="1404" y="2902"/>
                </a:lnTo>
                <a:lnTo>
                  <a:pt x="1423" y="2905"/>
                </a:lnTo>
                <a:lnTo>
                  <a:pt x="1602" y="2905"/>
                </a:lnTo>
                <a:lnTo>
                  <a:pt x="1621" y="2902"/>
                </a:lnTo>
                <a:lnTo>
                  <a:pt x="1639" y="2894"/>
                </a:lnTo>
                <a:lnTo>
                  <a:pt x="1653" y="2882"/>
                </a:lnTo>
                <a:lnTo>
                  <a:pt x="1664" y="2867"/>
                </a:lnTo>
                <a:lnTo>
                  <a:pt x="1670" y="2849"/>
                </a:lnTo>
                <a:lnTo>
                  <a:pt x="1735" y="2519"/>
                </a:lnTo>
                <a:lnTo>
                  <a:pt x="1741" y="2503"/>
                </a:lnTo>
                <a:lnTo>
                  <a:pt x="1751" y="2489"/>
                </a:lnTo>
                <a:lnTo>
                  <a:pt x="1764" y="2479"/>
                </a:lnTo>
                <a:lnTo>
                  <a:pt x="1781" y="2472"/>
                </a:lnTo>
                <a:lnTo>
                  <a:pt x="1833" y="2455"/>
                </a:lnTo>
                <a:lnTo>
                  <a:pt x="1886" y="2436"/>
                </a:lnTo>
                <a:lnTo>
                  <a:pt x="1937" y="2413"/>
                </a:lnTo>
                <a:lnTo>
                  <a:pt x="1954" y="2408"/>
                </a:lnTo>
                <a:lnTo>
                  <a:pt x="1969" y="2407"/>
                </a:lnTo>
                <a:lnTo>
                  <a:pt x="1985" y="2411"/>
                </a:lnTo>
                <a:lnTo>
                  <a:pt x="1999" y="2418"/>
                </a:lnTo>
                <a:lnTo>
                  <a:pt x="2011" y="2429"/>
                </a:lnTo>
                <a:lnTo>
                  <a:pt x="2020" y="2442"/>
                </a:lnTo>
                <a:lnTo>
                  <a:pt x="2025" y="2458"/>
                </a:lnTo>
                <a:lnTo>
                  <a:pt x="2026" y="2474"/>
                </a:lnTo>
                <a:lnTo>
                  <a:pt x="2023" y="2489"/>
                </a:lnTo>
                <a:lnTo>
                  <a:pt x="2016" y="2504"/>
                </a:lnTo>
                <a:lnTo>
                  <a:pt x="2005" y="2516"/>
                </a:lnTo>
                <a:lnTo>
                  <a:pt x="1991" y="2525"/>
                </a:lnTo>
                <a:lnTo>
                  <a:pt x="1921" y="2555"/>
                </a:lnTo>
                <a:lnTo>
                  <a:pt x="1851" y="2580"/>
                </a:lnTo>
                <a:lnTo>
                  <a:pt x="1793" y="2873"/>
                </a:lnTo>
                <a:lnTo>
                  <a:pt x="1783" y="2905"/>
                </a:lnTo>
                <a:lnTo>
                  <a:pt x="1768" y="2935"/>
                </a:lnTo>
                <a:lnTo>
                  <a:pt x="1749" y="2962"/>
                </a:lnTo>
                <a:lnTo>
                  <a:pt x="1725" y="2985"/>
                </a:lnTo>
                <a:lnTo>
                  <a:pt x="1697" y="3003"/>
                </a:lnTo>
                <a:lnTo>
                  <a:pt x="1667" y="3017"/>
                </a:lnTo>
                <a:lnTo>
                  <a:pt x="1635" y="3026"/>
                </a:lnTo>
                <a:lnTo>
                  <a:pt x="1602" y="3029"/>
                </a:lnTo>
                <a:lnTo>
                  <a:pt x="1423" y="3029"/>
                </a:lnTo>
                <a:lnTo>
                  <a:pt x="1388" y="3026"/>
                </a:lnTo>
                <a:lnTo>
                  <a:pt x="1356" y="3017"/>
                </a:lnTo>
                <a:lnTo>
                  <a:pt x="1326" y="3003"/>
                </a:lnTo>
                <a:lnTo>
                  <a:pt x="1300" y="2985"/>
                </a:lnTo>
                <a:lnTo>
                  <a:pt x="1276" y="2962"/>
                </a:lnTo>
                <a:lnTo>
                  <a:pt x="1257" y="2935"/>
                </a:lnTo>
                <a:lnTo>
                  <a:pt x="1242" y="2905"/>
                </a:lnTo>
                <a:lnTo>
                  <a:pt x="1232" y="2873"/>
                </a:lnTo>
                <a:lnTo>
                  <a:pt x="1174" y="2580"/>
                </a:lnTo>
                <a:lnTo>
                  <a:pt x="1114" y="2560"/>
                </a:lnTo>
                <a:lnTo>
                  <a:pt x="1056" y="2535"/>
                </a:lnTo>
                <a:lnTo>
                  <a:pt x="1000" y="2507"/>
                </a:lnTo>
                <a:lnTo>
                  <a:pt x="751" y="2673"/>
                </a:lnTo>
                <a:lnTo>
                  <a:pt x="722" y="2690"/>
                </a:lnTo>
                <a:lnTo>
                  <a:pt x="689" y="2701"/>
                </a:lnTo>
                <a:lnTo>
                  <a:pt x="657" y="2706"/>
                </a:lnTo>
                <a:lnTo>
                  <a:pt x="625" y="2704"/>
                </a:lnTo>
                <a:lnTo>
                  <a:pt x="593" y="2698"/>
                </a:lnTo>
                <a:lnTo>
                  <a:pt x="562" y="2688"/>
                </a:lnTo>
                <a:lnTo>
                  <a:pt x="532" y="2671"/>
                </a:lnTo>
                <a:lnTo>
                  <a:pt x="507" y="2650"/>
                </a:lnTo>
                <a:lnTo>
                  <a:pt x="379" y="2522"/>
                </a:lnTo>
                <a:lnTo>
                  <a:pt x="358" y="2495"/>
                </a:lnTo>
                <a:lnTo>
                  <a:pt x="341" y="2467"/>
                </a:lnTo>
                <a:lnTo>
                  <a:pt x="329" y="2436"/>
                </a:lnTo>
                <a:lnTo>
                  <a:pt x="323" y="2403"/>
                </a:lnTo>
                <a:lnTo>
                  <a:pt x="323" y="2371"/>
                </a:lnTo>
                <a:lnTo>
                  <a:pt x="328" y="2339"/>
                </a:lnTo>
                <a:lnTo>
                  <a:pt x="339" y="2307"/>
                </a:lnTo>
                <a:lnTo>
                  <a:pt x="355" y="2277"/>
                </a:lnTo>
                <a:lnTo>
                  <a:pt x="520" y="2028"/>
                </a:lnTo>
                <a:lnTo>
                  <a:pt x="493" y="1972"/>
                </a:lnTo>
                <a:lnTo>
                  <a:pt x="469" y="1914"/>
                </a:lnTo>
                <a:lnTo>
                  <a:pt x="448" y="1854"/>
                </a:lnTo>
                <a:lnTo>
                  <a:pt x="156" y="1795"/>
                </a:lnTo>
                <a:lnTo>
                  <a:pt x="123" y="1786"/>
                </a:lnTo>
                <a:lnTo>
                  <a:pt x="93" y="1770"/>
                </a:lnTo>
                <a:lnTo>
                  <a:pt x="67" y="1751"/>
                </a:lnTo>
                <a:lnTo>
                  <a:pt x="44" y="1727"/>
                </a:lnTo>
                <a:lnTo>
                  <a:pt x="25" y="1700"/>
                </a:lnTo>
                <a:lnTo>
                  <a:pt x="12" y="1670"/>
                </a:lnTo>
                <a:lnTo>
                  <a:pt x="4" y="1638"/>
                </a:lnTo>
                <a:lnTo>
                  <a:pt x="0" y="1604"/>
                </a:lnTo>
                <a:lnTo>
                  <a:pt x="0" y="1425"/>
                </a:lnTo>
                <a:lnTo>
                  <a:pt x="4" y="1390"/>
                </a:lnTo>
                <a:lnTo>
                  <a:pt x="12" y="1358"/>
                </a:lnTo>
                <a:lnTo>
                  <a:pt x="25" y="1328"/>
                </a:lnTo>
                <a:lnTo>
                  <a:pt x="44" y="1302"/>
                </a:lnTo>
                <a:lnTo>
                  <a:pt x="67" y="1278"/>
                </a:lnTo>
                <a:lnTo>
                  <a:pt x="93" y="1259"/>
                </a:lnTo>
                <a:lnTo>
                  <a:pt x="123" y="1244"/>
                </a:lnTo>
                <a:lnTo>
                  <a:pt x="156" y="1234"/>
                </a:lnTo>
                <a:lnTo>
                  <a:pt x="448" y="1175"/>
                </a:lnTo>
                <a:lnTo>
                  <a:pt x="469" y="1116"/>
                </a:lnTo>
                <a:lnTo>
                  <a:pt x="493" y="1057"/>
                </a:lnTo>
                <a:lnTo>
                  <a:pt x="520" y="1001"/>
                </a:lnTo>
                <a:lnTo>
                  <a:pt x="355" y="753"/>
                </a:lnTo>
                <a:lnTo>
                  <a:pt x="339" y="723"/>
                </a:lnTo>
                <a:lnTo>
                  <a:pt x="328" y="690"/>
                </a:lnTo>
                <a:lnTo>
                  <a:pt x="323" y="658"/>
                </a:lnTo>
                <a:lnTo>
                  <a:pt x="323" y="626"/>
                </a:lnTo>
                <a:lnTo>
                  <a:pt x="329" y="594"/>
                </a:lnTo>
                <a:lnTo>
                  <a:pt x="341" y="563"/>
                </a:lnTo>
                <a:lnTo>
                  <a:pt x="358" y="533"/>
                </a:lnTo>
                <a:lnTo>
                  <a:pt x="379" y="508"/>
                </a:lnTo>
                <a:lnTo>
                  <a:pt x="507" y="380"/>
                </a:lnTo>
                <a:lnTo>
                  <a:pt x="532" y="358"/>
                </a:lnTo>
                <a:lnTo>
                  <a:pt x="562" y="342"/>
                </a:lnTo>
                <a:lnTo>
                  <a:pt x="593" y="330"/>
                </a:lnTo>
                <a:lnTo>
                  <a:pt x="625" y="324"/>
                </a:lnTo>
                <a:lnTo>
                  <a:pt x="657" y="324"/>
                </a:lnTo>
                <a:lnTo>
                  <a:pt x="689" y="329"/>
                </a:lnTo>
                <a:lnTo>
                  <a:pt x="722" y="339"/>
                </a:lnTo>
                <a:lnTo>
                  <a:pt x="751" y="356"/>
                </a:lnTo>
                <a:lnTo>
                  <a:pt x="1000" y="521"/>
                </a:lnTo>
                <a:lnTo>
                  <a:pt x="1056" y="493"/>
                </a:lnTo>
                <a:lnTo>
                  <a:pt x="1114" y="469"/>
                </a:lnTo>
                <a:lnTo>
                  <a:pt x="1174" y="449"/>
                </a:lnTo>
                <a:lnTo>
                  <a:pt x="1232" y="156"/>
                </a:lnTo>
                <a:lnTo>
                  <a:pt x="1242" y="123"/>
                </a:lnTo>
                <a:lnTo>
                  <a:pt x="1257" y="93"/>
                </a:lnTo>
                <a:lnTo>
                  <a:pt x="1276" y="67"/>
                </a:lnTo>
                <a:lnTo>
                  <a:pt x="1300" y="44"/>
                </a:lnTo>
                <a:lnTo>
                  <a:pt x="1326" y="25"/>
                </a:lnTo>
                <a:lnTo>
                  <a:pt x="1356" y="12"/>
                </a:lnTo>
                <a:lnTo>
                  <a:pt x="1388" y="4"/>
                </a:lnTo>
                <a:lnTo>
                  <a:pt x="1423"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grpSp>
        <p:nvGrpSpPr>
          <p:cNvPr id="150" name="Group 30">
            <a:extLst>
              <a:ext uri="{FF2B5EF4-FFF2-40B4-BE49-F238E27FC236}">
                <a16:creationId xmlns:a16="http://schemas.microsoft.com/office/drawing/2014/main" id="{773984BD-E0CE-2A0A-621B-764B6CD6D4AA}"/>
              </a:ext>
            </a:extLst>
          </p:cNvPr>
          <p:cNvGrpSpPr>
            <a:grpSpLocks noChangeAspect="1"/>
          </p:cNvGrpSpPr>
          <p:nvPr/>
        </p:nvGrpSpPr>
        <p:grpSpPr bwMode="auto">
          <a:xfrm>
            <a:off x="7104863" y="1099493"/>
            <a:ext cx="345732" cy="434970"/>
            <a:chOff x="2923" y="1578"/>
            <a:chExt cx="442" cy="548"/>
          </a:xfrm>
          <a:solidFill>
            <a:schemeClr val="tx1"/>
          </a:solidFill>
        </p:grpSpPr>
        <p:sp>
          <p:nvSpPr>
            <p:cNvPr id="151" name="Freeform 31">
              <a:extLst>
                <a:ext uri="{FF2B5EF4-FFF2-40B4-BE49-F238E27FC236}">
                  <a16:creationId xmlns:a16="http://schemas.microsoft.com/office/drawing/2014/main" id="{0665E101-CD60-D8FD-C110-DF1FD76CF935}"/>
                </a:ext>
              </a:extLst>
            </p:cNvPr>
            <p:cNvSpPr>
              <a:spLocks noEditPoints="1"/>
            </p:cNvSpPr>
            <p:nvPr/>
          </p:nvSpPr>
          <p:spPr bwMode="auto">
            <a:xfrm>
              <a:off x="2923" y="1578"/>
              <a:ext cx="442" cy="548"/>
            </a:xfrm>
            <a:custGeom>
              <a:avLst/>
              <a:gdLst>
                <a:gd name="T0" fmla="*/ 153 w 154"/>
                <a:gd name="T1" fmla="*/ 187 h 192"/>
                <a:gd name="T2" fmla="*/ 144 w 154"/>
                <a:gd name="T3" fmla="*/ 178 h 192"/>
                <a:gd name="T4" fmla="*/ 144 w 154"/>
                <a:gd name="T5" fmla="*/ 66 h 192"/>
                <a:gd name="T6" fmla="*/ 128 w 154"/>
                <a:gd name="T7" fmla="*/ 50 h 192"/>
                <a:gd name="T8" fmla="*/ 128 w 154"/>
                <a:gd name="T9" fmla="*/ 0 h 192"/>
                <a:gd name="T10" fmla="*/ 0 w 154"/>
                <a:gd name="T11" fmla="*/ 0 h 192"/>
                <a:gd name="T12" fmla="*/ 0 w 154"/>
                <a:gd name="T13" fmla="*/ 166 h 192"/>
                <a:gd name="T14" fmla="*/ 16 w 154"/>
                <a:gd name="T15" fmla="*/ 166 h 192"/>
                <a:gd name="T16" fmla="*/ 16 w 154"/>
                <a:gd name="T17" fmla="*/ 182 h 192"/>
                <a:gd name="T18" fmla="*/ 139 w 154"/>
                <a:gd name="T19" fmla="*/ 182 h 192"/>
                <a:gd name="T20" fmla="*/ 148 w 154"/>
                <a:gd name="T21" fmla="*/ 191 h 192"/>
                <a:gd name="T22" fmla="*/ 150 w 154"/>
                <a:gd name="T23" fmla="*/ 192 h 192"/>
                <a:gd name="T24" fmla="*/ 153 w 154"/>
                <a:gd name="T25" fmla="*/ 191 h 192"/>
                <a:gd name="T26" fmla="*/ 153 w 154"/>
                <a:gd name="T27" fmla="*/ 187 h 192"/>
                <a:gd name="T28" fmla="*/ 133 w 154"/>
                <a:gd name="T29" fmla="*/ 64 h 192"/>
                <a:gd name="T30" fmla="*/ 96 w 154"/>
                <a:gd name="T31" fmla="*/ 64 h 192"/>
                <a:gd name="T32" fmla="*/ 96 w 154"/>
                <a:gd name="T33" fmla="*/ 27 h 192"/>
                <a:gd name="T34" fmla="*/ 133 w 154"/>
                <a:gd name="T35" fmla="*/ 64 h 192"/>
                <a:gd name="T36" fmla="*/ 6 w 154"/>
                <a:gd name="T37" fmla="*/ 160 h 192"/>
                <a:gd name="T38" fmla="*/ 6 w 154"/>
                <a:gd name="T39" fmla="*/ 6 h 192"/>
                <a:gd name="T40" fmla="*/ 122 w 154"/>
                <a:gd name="T41" fmla="*/ 6 h 192"/>
                <a:gd name="T42" fmla="*/ 122 w 154"/>
                <a:gd name="T43" fmla="*/ 43 h 192"/>
                <a:gd name="T44" fmla="*/ 94 w 154"/>
                <a:gd name="T45" fmla="*/ 16 h 192"/>
                <a:gd name="T46" fmla="*/ 16 w 154"/>
                <a:gd name="T47" fmla="*/ 16 h 192"/>
                <a:gd name="T48" fmla="*/ 16 w 154"/>
                <a:gd name="T49" fmla="*/ 160 h 192"/>
                <a:gd name="T50" fmla="*/ 6 w 154"/>
                <a:gd name="T51" fmla="*/ 160 h 192"/>
                <a:gd name="T52" fmla="*/ 22 w 154"/>
                <a:gd name="T53" fmla="*/ 176 h 192"/>
                <a:gd name="T54" fmla="*/ 22 w 154"/>
                <a:gd name="T55" fmla="*/ 22 h 192"/>
                <a:gd name="T56" fmla="*/ 90 w 154"/>
                <a:gd name="T57" fmla="*/ 22 h 192"/>
                <a:gd name="T58" fmla="*/ 90 w 154"/>
                <a:gd name="T59" fmla="*/ 70 h 192"/>
                <a:gd name="T60" fmla="*/ 138 w 154"/>
                <a:gd name="T61" fmla="*/ 70 h 192"/>
                <a:gd name="T62" fmla="*/ 138 w 154"/>
                <a:gd name="T63" fmla="*/ 171 h 192"/>
                <a:gd name="T64" fmla="*/ 114 w 154"/>
                <a:gd name="T65" fmla="*/ 147 h 192"/>
                <a:gd name="T66" fmla="*/ 122 w 154"/>
                <a:gd name="T67" fmla="*/ 123 h 192"/>
                <a:gd name="T68" fmla="*/ 85 w 154"/>
                <a:gd name="T69" fmla="*/ 85 h 192"/>
                <a:gd name="T70" fmla="*/ 47 w 154"/>
                <a:gd name="T71" fmla="*/ 123 h 192"/>
                <a:gd name="T72" fmla="*/ 85 w 154"/>
                <a:gd name="T73" fmla="*/ 161 h 192"/>
                <a:gd name="T74" fmla="*/ 109 w 154"/>
                <a:gd name="T75" fmla="*/ 152 h 192"/>
                <a:gd name="T76" fmla="*/ 133 w 154"/>
                <a:gd name="T77" fmla="*/ 176 h 192"/>
                <a:gd name="T78" fmla="*/ 22 w 154"/>
                <a:gd name="T79" fmla="*/ 176 h 192"/>
                <a:gd name="T80" fmla="*/ 85 w 154"/>
                <a:gd name="T81" fmla="*/ 155 h 192"/>
                <a:gd name="T82" fmla="*/ 53 w 154"/>
                <a:gd name="T83" fmla="*/ 123 h 192"/>
                <a:gd name="T84" fmla="*/ 85 w 154"/>
                <a:gd name="T85" fmla="*/ 92 h 192"/>
                <a:gd name="T86" fmla="*/ 116 w 154"/>
                <a:gd name="T87" fmla="*/ 123 h 192"/>
                <a:gd name="T88" fmla="*/ 85 w 154"/>
                <a:gd name="T89" fmla="*/ 155 h 192"/>
                <a:gd name="T90" fmla="*/ 85 w 154"/>
                <a:gd name="T91" fmla="*/ 155 h 192"/>
                <a:gd name="T92" fmla="*/ 85 w 154"/>
                <a:gd name="T93" fmla="*/ 155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4" h="192">
                  <a:moveTo>
                    <a:pt x="153" y="187"/>
                  </a:moveTo>
                  <a:cubicBezTo>
                    <a:pt x="144" y="178"/>
                    <a:pt x="144" y="178"/>
                    <a:pt x="144" y="178"/>
                  </a:cubicBezTo>
                  <a:cubicBezTo>
                    <a:pt x="144" y="66"/>
                    <a:pt x="144" y="66"/>
                    <a:pt x="144" y="66"/>
                  </a:cubicBezTo>
                  <a:cubicBezTo>
                    <a:pt x="128" y="50"/>
                    <a:pt x="128" y="50"/>
                    <a:pt x="128" y="50"/>
                  </a:cubicBezTo>
                  <a:cubicBezTo>
                    <a:pt x="128" y="0"/>
                    <a:pt x="128" y="0"/>
                    <a:pt x="128" y="0"/>
                  </a:cubicBezTo>
                  <a:cubicBezTo>
                    <a:pt x="0" y="0"/>
                    <a:pt x="0" y="0"/>
                    <a:pt x="0" y="0"/>
                  </a:cubicBezTo>
                  <a:cubicBezTo>
                    <a:pt x="0" y="166"/>
                    <a:pt x="0" y="166"/>
                    <a:pt x="0" y="166"/>
                  </a:cubicBezTo>
                  <a:cubicBezTo>
                    <a:pt x="16" y="166"/>
                    <a:pt x="16" y="166"/>
                    <a:pt x="16" y="166"/>
                  </a:cubicBezTo>
                  <a:cubicBezTo>
                    <a:pt x="16" y="182"/>
                    <a:pt x="16" y="182"/>
                    <a:pt x="16" y="182"/>
                  </a:cubicBezTo>
                  <a:cubicBezTo>
                    <a:pt x="139" y="182"/>
                    <a:pt x="139" y="182"/>
                    <a:pt x="139" y="182"/>
                  </a:cubicBezTo>
                  <a:cubicBezTo>
                    <a:pt x="148" y="191"/>
                    <a:pt x="148" y="191"/>
                    <a:pt x="148" y="191"/>
                  </a:cubicBezTo>
                  <a:cubicBezTo>
                    <a:pt x="149" y="192"/>
                    <a:pt x="150" y="192"/>
                    <a:pt x="150" y="192"/>
                  </a:cubicBezTo>
                  <a:cubicBezTo>
                    <a:pt x="151" y="192"/>
                    <a:pt x="152" y="192"/>
                    <a:pt x="153" y="191"/>
                  </a:cubicBezTo>
                  <a:cubicBezTo>
                    <a:pt x="154" y="190"/>
                    <a:pt x="154" y="188"/>
                    <a:pt x="153" y="187"/>
                  </a:cubicBezTo>
                  <a:close/>
                  <a:moveTo>
                    <a:pt x="133" y="64"/>
                  </a:moveTo>
                  <a:cubicBezTo>
                    <a:pt x="96" y="64"/>
                    <a:pt x="96" y="64"/>
                    <a:pt x="96" y="64"/>
                  </a:cubicBezTo>
                  <a:cubicBezTo>
                    <a:pt x="96" y="27"/>
                    <a:pt x="96" y="27"/>
                    <a:pt x="96" y="27"/>
                  </a:cubicBezTo>
                  <a:lnTo>
                    <a:pt x="133" y="64"/>
                  </a:lnTo>
                  <a:close/>
                  <a:moveTo>
                    <a:pt x="6" y="160"/>
                  </a:moveTo>
                  <a:cubicBezTo>
                    <a:pt x="6" y="6"/>
                    <a:pt x="6" y="6"/>
                    <a:pt x="6" y="6"/>
                  </a:cubicBezTo>
                  <a:cubicBezTo>
                    <a:pt x="122" y="6"/>
                    <a:pt x="122" y="6"/>
                    <a:pt x="122" y="6"/>
                  </a:cubicBezTo>
                  <a:cubicBezTo>
                    <a:pt x="122" y="43"/>
                    <a:pt x="122" y="43"/>
                    <a:pt x="122" y="43"/>
                  </a:cubicBezTo>
                  <a:cubicBezTo>
                    <a:pt x="94" y="16"/>
                    <a:pt x="94" y="16"/>
                    <a:pt x="94" y="16"/>
                  </a:cubicBezTo>
                  <a:cubicBezTo>
                    <a:pt x="16" y="16"/>
                    <a:pt x="16" y="16"/>
                    <a:pt x="16" y="16"/>
                  </a:cubicBezTo>
                  <a:cubicBezTo>
                    <a:pt x="16" y="160"/>
                    <a:pt x="16" y="160"/>
                    <a:pt x="16" y="160"/>
                  </a:cubicBezTo>
                  <a:lnTo>
                    <a:pt x="6" y="160"/>
                  </a:lnTo>
                  <a:close/>
                  <a:moveTo>
                    <a:pt x="22" y="176"/>
                  </a:moveTo>
                  <a:cubicBezTo>
                    <a:pt x="22" y="22"/>
                    <a:pt x="22" y="22"/>
                    <a:pt x="22" y="22"/>
                  </a:cubicBezTo>
                  <a:cubicBezTo>
                    <a:pt x="90" y="22"/>
                    <a:pt x="90" y="22"/>
                    <a:pt x="90" y="22"/>
                  </a:cubicBezTo>
                  <a:cubicBezTo>
                    <a:pt x="90" y="70"/>
                    <a:pt x="90" y="70"/>
                    <a:pt x="90" y="70"/>
                  </a:cubicBezTo>
                  <a:cubicBezTo>
                    <a:pt x="138" y="70"/>
                    <a:pt x="138" y="70"/>
                    <a:pt x="138" y="70"/>
                  </a:cubicBezTo>
                  <a:cubicBezTo>
                    <a:pt x="138" y="171"/>
                    <a:pt x="138" y="171"/>
                    <a:pt x="138" y="171"/>
                  </a:cubicBezTo>
                  <a:cubicBezTo>
                    <a:pt x="114" y="147"/>
                    <a:pt x="114" y="147"/>
                    <a:pt x="114" y="147"/>
                  </a:cubicBezTo>
                  <a:cubicBezTo>
                    <a:pt x="119" y="141"/>
                    <a:pt x="122" y="132"/>
                    <a:pt x="122" y="123"/>
                  </a:cubicBezTo>
                  <a:cubicBezTo>
                    <a:pt x="122" y="102"/>
                    <a:pt x="106" y="85"/>
                    <a:pt x="85" y="85"/>
                  </a:cubicBezTo>
                  <a:cubicBezTo>
                    <a:pt x="64" y="85"/>
                    <a:pt x="47" y="102"/>
                    <a:pt x="47" y="123"/>
                  </a:cubicBezTo>
                  <a:cubicBezTo>
                    <a:pt x="47" y="144"/>
                    <a:pt x="64" y="161"/>
                    <a:pt x="85" y="161"/>
                  </a:cubicBezTo>
                  <a:cubicBezTo>
                    <a:pt x="94" y="161"/>
                    <a:pt x="102" y="158"/>
                    <a:pt x="109" y="152"/>
                  </a:cubicBezTo>
                  <a:cubicBezTo>
                    <a:pt x="133" y="176"/>
                    <a:pt x="133" y="176"/>
                    <a:pt x="133" y="176"/>
                  </a:cubicBezTo>
                  <a:lnTo>
                    <a:pt x="22" y="176"/>
                  </a:lnTo>
                  <a:close/>
                  <a:moveTo>
                    <a:pt x="85" y="155"/>
                  </a:moveTo>
                  <a:cubicBezTo>
                    <a:pt x="67" y="155"/>
                    <a:pt x="53" y="140"/>
                    <a:pt x="53" y="123"/>
                  </a:cubicBezTo>
                  <a:cubicBezTo>
                    <a:pt x="53" y="106"/>
                    <a:pt x="67" y="92"/>
                    <a:pt x="85" y="92"/>
                  </a:cubicBezTo>
                  <a:cubicBezTo>
                    <a:pt x="102" y="92"/>
                    <a:pt x="116" y="106"/>
                    <a:pt x="116" y="123"/>
                  </a:cubicBezTo>
                  <a:cubicBezTo>
                    <a:pt x="116" y="140"/>
                    <a:pt x="102" y="155"/>
                    <a:pt x="85" y="155"/>
                  </a:cubicBezTo>
                  <a:close/>
                  <a:moveTo>
                    <a:pt x="85" y="155"/>
                  </a:moveTo>
                  <a:cubicBezTo>
                    <a:pt x="85" y="155"/>
                    <a:pt x="85" y="155"/>
                    <a:pt x="85" y="15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152" name="Freeform 32">
              <a:extLst>
                <a:ext uri="{FF2B5EF4-FFF2-40B4-BE49-F238E27FC236}">
                  <a16:creationId xmlns:a16="http://schemas.microsoft.com/office/drawing/2014/main" id="{21E509C7-3AC1-3D7E-A900-D02B80CB0857}"/>
                </a:ext>
              </a:extLst>
            </p:cNvPr>
            <p:cNvSpPr>
              <a:spLocks noEditPoints="1"/>
            </p:cNvSpPr>
            <p:nvPr/>
          </p:nvSpPr>
          <p:spPr bwMode="auto">
            <a:xfrm>
              <a:off x="3104" y="1889"/>
              <a:ext cx="72" cy="17"/>
            </a:xfrm>
            <a:custGeom>
              <a:avLst/>
              <a:gdLst>
                <a:gd name="T0" fmla="*/ 3 w 25"/>
                <a:gd name="T1" fmla="*/ 6 h 6"/>
                <a:gd name="T2" fmla="*/ 22 w 25"/>
                <a:gd name="T3" fmla="*/ 6 h 6"/>
                <a:gd name="T4" fmla="*/ 25 w 25"/>
                <a:gd name="T5" fmla="*/ 3 h 6"/>
                <a:gd name="T6" fmla="*/ 22 w 25"/>
                <a:gd name="T7" fmla="*/ 0 h 6"/>
                <a:gd name="T8" fmla="*/ 3 w 25"/>
                <a:gd name="T9" fmla="*/ 0 h 6"/>
                <a:gd name="T10" fmla="*/ 0 w 25"/>
                <a:gd name="T11" fmla="*/ 3 h 6"/>
                <a:gd name="T12" fmla="*/ 3 w 25"/>
                <a:gd name="T13" fmla="*/ 6 h 6"/>
                <a:gd name="T14" fmla="*/ 3 w 25"/>
                <a:gd name="T15" fmla="*/ 6 h 6"/>
                <a:gd name="T16" fmla="*/ 3 w 25"/>
                <a:gd name="T17"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6">
                  <a:moveTo>
                    <a:pt x="3" y="6"/>
                  </a:moveTo>
                  <a:cubicBezTo>
                    <a:pt x="22" y="6"/>
                    <a:pt x="22" y="6"/>
                    <a:pt x="22" y="6"/>
                  </a:cubicBezTo>
                  <a:cubicBezTo>
                    <a:pt x="24" y="6"/>
                    <a:pt x="25" y="5"/>
                    <a:pt x="25" y="3"/>
                  </a:cubicBezTo>
                  <a:cubicBezTo>
                    <a:pt x="25" y="1"/>
                    <a:pt x="24" y="0"/>
                    <a:pt x="22" y="0"/>
                  </a:cubicBezTo>
                  <a:cubicBezTo>
                    <a:pt x="3" y="0"/>
                    <a:pt x="3" y="0"/>
                    <a:pt x="3" y="0"/>
                  </a:cubicBezTo>
                  <a:cubicBezTo>
                    <a:pt x="1" y="0"/>
                    <a:pt x="0" y="1"/>
                    <a:pt x="0" y="3"/>
                  </a:cubicBezTo>
                  <a:cubicBezTo>
                    <a:pt x="0" y="5"/>
                    <a:pt x="1" y="6"/>
                    <a:pt x="3" y="6"/>
                  </a:cubicBezTo>
                  <a:close/>
                  <a:moveTo>
                    <a:pt x="3" y="6"/>
                  </a:moveTo>
                  <a:cubicBezTo>
                    <a:pt x="3" y="6"/>
                    <a:pt x="3" y="6"/>
                    <a:pt x="3" y="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153" name="Freeform 33">
              <a:extLst>
                <a:ext uri="{FF2B5EF4-FFF2-40B4-BE49-F238E27FC236}">
                  <a16:creationId xmlns:a16="http://schemas.microsoft.com/office/drawing/2014/main" id="{E02EF2D9-652B-195F-00BB-65634D6E2EA6}"/>
                </a:ext>
              </a:extLst>
            </p:cNvPr>
            <p:cNvSpPr>
              <a:spLocks noEditPoints="1"/>
            </p:cNvSpPr>
            <p:nvPr/>
          </p:nvSpPr>
          <p:spPr bwMode="auto">
            <a:xfrm>
              <a:off x="3104" y="1943"/>
              <a:ext cx="129" cy="17"/>
            </a:xfrm>
            <a:custGeom>
              <a:avLst/>
              <a:gdLst>
                <a:gd name="T0" fmla="*/ 41 w 45"/>
                <a:gd name="T1" fmla="*/ 0 h 6"/>
                <a:gd name="T2" fmla="*/ 3 w 45"/>
                <a:gd name="T3" fmla="*/ 0 h 6"/>
                <a:gd name="T4" fmla="*/ 0 w 45"/>
                <a:gd name="T5" fmla="*/ 3 h 6"/>
                <a:gd name="T6" fmla="*/ 3 w 45"/>
                <a:gd name="T7" fmla="*/ 6 h 6"/>
                <a:gd name="T8" fmla="*/ 41 w 45"/>
                <a:gd name="T9" fmla="*/ 6 h 6"/>
                <a:gd name="T10" fmla="*/ 45 w 45"/>
                <a:gd name="T11" fmla="*/ 3 h 6"/>
                <a:gd name="T12" fmla="*/ 41 w 45"/>
                <a:gd name="T13" fmla="*/ 0 h 6"/>
                <a:gd name="T14" fmla="*/ 41 w 45"/>
                <a:gd name="T15" fmla="*/ 0 h 6"/>
                <a:gd name="T16" fmla="*/ 41 w 45"/>
                <a:gd name="T17"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6">
                  <a:moveTo>
                    <a:pt x="41" y="0"/>
                  </a:moveTo>
                  <a:cubicBezTo>
                    <a:pt x="3" y="0"/>
                    <a:pt x="3" y="0"/>
                    <a:pt x="3" y="0"/>
                  </a:cubicBezTo>
                  <a:cubicBezTo>
                    <a:pt x="1" y="0"/>
                    <a:pt x="0" y="1"/>
                    <a:pt x="0" y="3"/>
                  </a:cubicBezTo>
                  <a:cubicBezTo>
                    <a:pt x="0" y="5"/>
                    <a:pt x="1" y="6"/>
                    <a:pt x="3" y="6"/>
                  </a:cubicBezTo>
                  <a:cubicBezTo>
                    <a:pt x="41" y="6"/>
                    <a:pt x="41" y="6"/>
                    <a:pt x="41" y="6"/>
                  </a:cubicBezTo>
                  <a:cubicBezTo>
                    <a:pt x="43" y="6"/>
                    <a:pt x="45" y="5"/>
                    <a:pt x="45" y="3"/>
                  </a:cubicBezTo>
                  <a:cubicBezTo>
                    <a:pt x="45" y="1"/>
                    <a:pt x="43" y="0"/>
                    <a:pt x="41" y="0"/>
                  </a:cubicBezTo>
                  <a:close/>
                  <a:moveTo>
                    <a:pt x="41" y="0"/>
                  </a:moveTo>
                  <a:cubicBezTo>
                    <a:pt x="41" y="0"/>
                    <a:pt x="41" y="0"/>
                    <a:pt x="4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grpSp>
      <p:grpSp>
        <p:nvGrpSpPr>
          <p:cNvPr id="154" name="Group 24">
            <a:extLst>
              <a:ext uri="{FF2B5EF4-FFF2-40B4-BE49-F238E27FC236}">
                <a16:creationId xmlns:a16="http://schemas.microsoft.com/office/drawing/2014/main" id="{CF173355-0214-CBED-87BF-EFDB5F02843D}"/>
              </a:ext>
            </a:extLst>
          </p:cNvPr>
          <p:cNvGrpSpPr>
            <a:grpSpLocks noChangeAspect="1"/>
          </p:cNvGrpSpPr>
          <p:nvPr/>
        </p:nvGrpSpPr>
        <p:grpSpPr bwMode="auto">
          <a:xfrm>
            <a:off x="8437886" y="1131334"/>
            <a:ext cx="456806" cy="371288"/>
            <a:chOff x="2060" y="768"/>
            <a:chExt cx="618" cy="495"/>
          </a:xfrm>
          <a:solidFill>
            <a:schemeClr val="tx1"/>
          </a:solidFill>
        </p:grpSpPr>
        <p:sp>
          <p:nvSpPr>
            <p:cNvPr id="155" name="Freeform 25">
              <a:extLst>
                <a:ext uri="{FF2B5EF4-FFF2-40B4-BE49-F238E27FC236}">
                  <a16:creationId xmlns:a16="http://schemas.microsoft.com/office/drawing/2014/main" id="{9DC47EB9-F036-3FDC-17AC-82E0F263D69B}"/>
                </a:ext>
              </a:extLst>
            </p:cNvPr>
            <p:cNvSpPr>
              <a:spLocks noEditPoints="1"/>
            </p:cNvSpPr>
            <p:nvPr/>
          </p:nvSpPr>
          <p:spPr bwMode="auto">
            <a:xfrm>
              <a:off x="2186" y="813"/>
              <a:ext cx="337" cy="18"/>
            </a:xfrm>
            <a:custGeom>
              <a:avLst/>
              <a:gdLst>
                <a:gd name="T0" fmla="*/ 869 w 893"/>
                <a:gd name="T1" fmla="*/ 0 h 48"/>
                <a:gd name="T2" fmla="*/ 24 w 893"/>
                <a:gd name="T3" fmla="*/ 0 h 48"/>
                <a:gd name="T4" fmla="*/ 0 w 893"/>
                <a:gd name="T5" fmla="*/ 24 h 48"/>
                <a:gd name="T6" fmla="*/ 24 w 893"/>
                <a:gd name="T7" fmla="*/ 48 h 48"/>
                <a:gd name="T8" fmla="*/ 869 w 893"/>
                <a:gd name="T9" fmla="*/ 48 h 48"/>
                <a:gd name="T10" fmla="*/ 893 w 893"/>
                <a:gd name="T11" fmla="*/ 24 h 48"/>
                <a:gd name="T12" fmla="*/ 869 w 893"/>
                <a:gd name="T13" fmla="*/ 0 h 48"/>
                <a:gd name="T14" fmla="*/ 869 w 893"/>
                <a:gd name="T15" fmla="*/ 0 h 48"/>
                <a:gd name="T16" fmla="*/ 869 w 893"/>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3" h="48">
                  <a:moveTo>
                    <a:pt x="869" y="0"/>
                  </a:moveTo>
                  <a:cubicBezTo>
                    <a:pt x="24" y="0"/>
                    <a:pt x="24" y="0"/>
                    <a:pt x="24" y="0"/>
                  </a:cubicBezTo>
                  <a:cubicBezTo>
                    <a:pt x="11" y="0"/>
                    <a:pt x="0" y="11"/>
                    <a:pt x="0" y="24"/>
                  </a:cubicBezTo>
                  <a:cubicBezTo>
                    <a:pt x="0" y="37"/>
                    <a:pt x="11" y="48"/>
                    <a:pt x="24" y="48"/>
                  </a:cubicBezTo>
                  <a:cubicBezTo>
                    <a:pt x="869" y="48"/>
                    <a:pt x="869" y="48"/>
                    <a:pt x="869" y="48"/>
                  </a:cubicBezTo>
                  <a:cubicBezTo>
                    <a:pt x="882" y="48"/>
                    <a:pt x="893" y="37"/>
                    <a:pt x="893" y="24"/>
                  </a:cubicBezTo>
                  <a:cubicBezTo>
                    <a:pt x="893" y="11"/>
                    <a:pt x="882" y="0"/>
                    <a:pt x="869" y="0"/>
                  </a:cubicBezTo>
                  <a:close/>
                  <a:moveTo>
                    <a:pt x="869" y="0"/>
                  </a:moveTo>
                  <a:cubicBezTo>
                    <a:pt x="869" y="0"/>
                    <a:pt x="869" y="0"/>
                    <a:pt x="869"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156" name="Freeform 26">
              <a:extLst>
                <a:ext uri="{FF2B5EF4-FFF2-40B4-BE49-F238E27FC236}">
                  <a16:creationId xmlns:a16="http://schemas.microsoft.com/office/drawing/2014/main" id="{BA693E85-E3DD-483C-02C6-EE7A806F1A39}"/>
                </a:ext>
              </a:extLst>
            </p:cNvPr>
            <p:cNvSpPr>
              <a:spLocks noEditPoints="1"/>
            </p:cNvSpPr>
            <p:nvPr/>
          </p:nvSpPr>
          <p:spPr bwMode="auto">
            <a:xfrm>
              <a:off x="2060" y="768"/>
              <a:ext cx="618" cy="495"/>
            </a:xfrm>
            <a:custGeom>
              <a:avLst/>
              <a:gdLst>
                <a:gd name="T0" fmla="*/ 1459 w 1638"/>
                <a:gd name="T1" fmla="*/ 557 h 1309"/>
                <a:gd name="T2" fmla="*/ 1400 w 1638"/>
                <a:gd name="T3" fmla="*/ 707 h 1309"/>
                <a:gd name="T4" fmla="*/ 1337 w 1638"/>
                <a:gd name="T5" fmla="*/ 0 h 1309"/>
                <a:gd name="T6" fmla="*/ 0 w 1638"/>
                <a:gd name="T7" fmla="*/ 62 h 1309"/>
                <a:gd name="T8" fmla="*/ 62 w 1638"/>
                <a:gd name="T9" fmla="*/ 1309 h 1309"/>
                <a:gd name="T10" fmla="*/ 694 w 1638"/>
                <a:gd name="T11" fmla="*/ 1285 h 1309"/>
                <a:gd name="T12" fmla="*/ 62 w 1638"/>
                <a:gd name="T13" fmla="*/ 1261 h 1309"/>
                <a:gd name="T14" fmla="*/ 48 w 1638"/>
                <a:gd name="T15" fmla="*/ 282 h 1309"/>
                <a:gd name="T16" fmla="*/ 1352 w 1638"/>
                <a:gd name="T17" fmla="*/ 768 h 1309"/>
                <a:gd name="T18" fmla="*/ 1227 w 1638"/>
                <a:gd name="T19" fmla="*/ 869 h 1309"/>
                <a:gd name="T20" fmla="*/ 1052 w 1638"/>
                <a:gd name="T21" fmla="*/ 794 h 1309"/>
                <a:gd name="T22" fmla="*/ 971 w 1638"/>
                <a:gd name="T23" fmla="*/ 665 h 1309"/>
                <a:gd name="T24" fmla="*/ 893 w 1638"/>
                <a:gd name="T25" fmla="*/ 799 h 1309"/>
                <a:gd name="T26" fmla="*/ 715 w 1638"/>
                <a:gd name="T27" fmla="*/ 903 h 1309"/>
                <a:gd name="T28" fmla="*/ 715 w 1638"/>
                <a:gd name="T29" fmla="*/ 1083 h 1309"/>
                <a:gd name="T30" fmla="*/ 795 w 1638"/>
                <a:gd name="T31" fmla="*/ 951 h 1309"/>
                <a:gd name="T32" fmla="*/ 971 w 1638"/>
                <a:gd name="T33" fmla="*/ 844 h 1309"/>
                <a:gd name="T34" fmla="*/ 1143 w 1638"/>
                <a:gd name="T35" fmla="*/ 927 h 1309"/>
                <a:gd name="T36" fmla="*/ 1227 w 1638"/>
                <a:gd name="T37" fmla="*/ 1049 h 1309"/>
                <a:gd name="T38" fmla="*/ 1302 w 1638"/>
                <a:gd name="T39" fmla="*/ 910 h 1309"/>
                <a:gd name="T40" fmla="*/ 1352 w 1638"/>
                <a:gd name="T41" fmla="*/ 1247 h 1309"/>
                <a:gd name="T42" fmla="*/ 782 w 1638"/>
                <a:gd name="T43" fmla="*/ 1261 h 1309"/>
                <a:gd name="T44" fmla="*/ 782 w 1638"/>
                <a:gd name="T45" fmla="*/ 1309 h 1309"/>
                <a:gd name="T46" fmla="*/ 1400 w 1638"/>
                <a:gd name="T47" fmla="*/ 1247 h 1309"/>
                <a:gd name="T48" fmla="*/ 1514 w 1638"/>
                <a:gd name="T49" fmla="*/ 640 h 1309"/>
                <a:gd name="T50" fmla="*/ 1638 w 1638"/>
                <a:gd name="T51" fmla="*/ 557 h 1309"/>
                <a:gd name="T52" fmla="*/ 224 w 1638"/>
                <a:gd name="T53" fmla="*/ 234 h 1309"/>
                <a:gd name="T54" fmla="*/ 48 w 1638"/>
                <a:gd name="T55" fmla="*/ 62 h 1309"/>
                <a:gd name="T56" fmla="*/ 224 w 1638"/>
                <a:gd name="T57" fmla="*/ 48 h 1309"/>
                <a:gd name="T58" fmla="*/ 715 w 1638"/>
                <a:gd name="T59" fmla="*/ 1035 h 1309"/>
                <a:gd name="T60" fmla="*/ 715 w 1638"/>
                <a:gd name="T61" fmla="*/ 951 h 1309"/>
                <a:gd name="T62" fmla="*/ 715 w 1638"/>
                <a:gd name="T63" fmla="*/ 1035 h 1309"/>
                <a:gd name="T64" fmla="*/ 929 w 1638"/>
                <a:gd name="T65" fmla="*/ 755 h 1309"/>
                <a:gd name="T66" fmla="*/ 1013 w 1638"/>
                <a:gd name="T67" fmla="*/ 755 h 1309"/>
                <a:gd name="T68" fmla="*/ 1227 w 1638"/>
                <a:gd name="T69" fmla="*/ 1001 h 1309"/>
                <a:gd name="T70" fmla="*/ 1227 w 1638"/>
                <a:gd name="T71" fmla="*/ 917 h 1309"/>
                <a:gd name="T72" fmla="*/ 1227 w 1638"/>
                <a:gd name="T73" fmla="*/ 1001 h 1309"/>
                <a:gd name="T74" fmla="*/ 272 w 1638"/>
                <a:gd name="T75" fmla="*/ 234 h 1309"/>
                <a:gd name="T76" fmla="*/ 1337 w 1638"/>
                <a:gd name="T77" fmla="*/ 48 h 1309"/>
                <a:gd name="T78" fmla="*/ 1352 w 1638"/>
                <a:gd name="T79" fmla="*/ 234 h 1309"/>
                <a:gd name="T80" fmla="*/ 1507 w 1638"/>
                <a:gd name="T81" fmla="*/ 557 h 1309"/>
                <a:gd name="T82" fmla="*/ 1590 w 1638"/>
                <a:gd name="T83" fmla="*/ 557 h 1309"/>
                <a:gd name="T84" fmla="*/ 1549 w 1638"/>
                <a:gd name="T85" fmla="*/ 598 h 1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638" h="1309">
                  <a:moveTo>
                    <a:pt x="1549" y="467"/>
                  </a:moveTo>
                  <a:cubicBezTo>
                    <a:pt x="1499" y="467"/>
                    <a:pt x="1459" y="507"/>
                    <a:pt x="1459" y="557"/>
                  </a:cubicBezTo>
                  <a:cubicBezTo>
                    <a:pt x="1459" y="577"/>
                    <a:pt x="1465" y="595"/>
                    <a:pt x="1476" y="610"/>
                  </a:cubicBezTo>
                  <a:cubicBezTo>
                    <a:pt x="1400" y="707"/>
                    <a:pt x="1400" y="707"/>
                    <a:pt x="1400" y="707"/>
                  </a:cubicBezTo>
                  <a:cubicBezTo>
                    <a:pt x="1400" y="58"/>
                    <a:pt x="1400" y="58"/>
                    <a:pt x="1400" y="58"/>
                  </a:cubicBezTo>
                  <a:cubicBezTo>
                    <a:pt x="1400" y="30"/>
                    <a:pt x="1379" y="0"/>
                    <a:pt x="1337" y="0"/>
                  </a:cubicBezTo>
                  <a:cubicBezTo>
                    <a:pt x="62" y="0"/>
                    <a:pt x="62" y="0"/>
                    <a:pt x="62" y="0"/>
                  </a:cubicBezTo>
                  <a:cubicBezTo>
                    <a:pt x="28" y="0"/>
                    <a:pt x="0" y="21"/>
                    <a:pt x="0" y="62"/>
                  </a:cubicBezTo>
                  <a:cubicBezTo>
                    <a:pt x="0" y="1247"/>
                    <a:pt x="0" y="1247"/>
                    <a:pt x="0" y="1247"/>
                  </a:cubicBezTo>
                  <a:cubicBezTo>
                    <a:pt x="0" y="1281"/>
                    <a:pt x="28" y="1309"/>
                    <a:pt x="62" y="1309"/>
                  </a:cubicBezTo>
                  <a:cubicBezTo>
                    <a:pt x="670" y="1309"/>
                    <a:pt x="670" y="1309"/>
                    <a:pt x="670" y="1309"/>
                  </a:cubicBezTo>
                  <a:cubicBezTo>
                    <a:pt x="684" y="1309"/>
                    <a:pt x="694" y="1298"/>
                    <a:pt x="694" y="1285"/>
                  </a:cubicBezTo>
                  <a:cubicBezTo>
                    <a:pt x="694" y="1272"/>
                    <a:pt x="684" y="1261"/>
                    <a:pt x="670" y="1261"/>
                  </a:cubicBezTo>
                  <a:cubicBezTo>
                    <a:pt x="62" y="1261"/>
                    <a:pt x="62" y="1261"/>
                    <a:pt x="62" y="1261"/>
                  </a:cubicBezTo>
                  <a:cubicBezTo>
                    <a:pt x="55" y="1261"/>
                    <a:pt x="48" y="1254"/>
                    <a:pt x="48" y="1247"/>
                  </a:cubicBezTo>
                  <a:cubicBezTo>
                    <a:pt x="48" y="282"/>
                    <a:pt x="48" y="282"/>
                    <a:pt x="48" y="282"/>
                  </a:cubicBezTo>
                  <a:cubicBezTo>
                    <a:pt x="1352" y="282"/>
                    <a:pt x="1352" y="282"/>
                    <a:pt x="1352" y="282"/>
                  </a:cubicBezTo>
                  <a:cubicBezTo>
                    <a:pt x="1352" y="768"/>
                    <a:pt x="1352" y="768"/>
                    <a:pt x="1352" y="768"/>
                  </a:cubicBezTo>
                  <a:cubicBezTo>
                    <a:pt x="1265" y="878"/>
                    <a:pt x="1265" y="878"/>
                    <a:pt x="1265" y="878"/>
                  </a:cubicBezTo>
                  <a:cubicBezTo>
                    <a:pt x="1254" y="872"/>
                    <a:pt x="1240" y="869"/>
                    <a:pt x="1227" y="869"/>
                  </a:cubicBezTo>
                  <a:cubicBezTo>
                    <a:pt x="1206" y="869"/>
                    <a:pt x="1187" y="876"/>
                    <a:pt x="1171" y="888"/>
                  </a:cubicBezTo>
                  <a:cubicBezTo>
                    <a:pt x="1052" y="794"/>
                    <a:pt x="1052" y="794"/>
                    <a:pt x="1052" y="794"/>
                  </a:cubicBezTo>
                  <a:cubicBezTo>
                    <a:pt x="1058" y="782"/>
                    <a:pt x="1061" y="769"/>
                    <a:pt x="1061" y="755"/>
                  </a:cubicBezTo>
                  <a:cubicBezTo>
                    <a:pt x="1061" y="705"/>
                    <a:pt x="1020" y="665"/>
                    <a:pt x="971" y="665"/>
                  </a:cubicBezTo>
                  <a:cubicBezTo>
                    <a:pt x="922" y="665"/>
                    <a:pt x="881" y="705"/>
                    <a:pt x="881" y="755"/>
                  </a:cubicBezTo>
                  <a:cubicBezTo>
                    <a:pt x="881" y="771"/>
                    <a:pt x="885" y="786"/>
                    <a:pt x="893" y="799"/>
                  </a:cubicBezTo>
                  <a:cubicBezTo>
                    <a:pt x="762" y="916"/>
                    <a:pt x="762" y="916"/>
                    <a:pt x="762" y="916"/>
                  </a:cubicBezTo>
                  <a:cubicBezTo>
                    <a:pt x="749" y="908"/>
                    <a:pt x="733" y="903"/>
                    <a:pt x="715" y="903"/>
                  </a:cubicBezTo>
                  <a:cubicBezTo>
                    <a:pt x="666" y="903"/>
                    <a:pt x="626" y="943"/>
                    <a:pt x="626" y="993"/>
                  </a:cubicBezTo>
                  <a:cubicBezTo>
                    <a:pt x="626" y="1042"/>
                    <a:pt x="666" y="1083"/>
                    <a:pt x="715" y="1083"/>
                  </a:cubicBezTo>
                  <a:cubicBezTo>
                    <a:pt x="765" y="1083"/>
                    <a:pt x="805" y="1042"/>
                    <a:pt x="805" y="993"/>
                  </a:cubicBezTo>
                  <a:cubicBezTo>
                    <a:pt x="805" y="978"/>
                    <a:pt x="801" y="964"/>
                    <a:pt x="795" y="951"/>
                  </a:cubicBezTo>
                  <a:cubicBezTo>
                    <a:pt x="927" y="833"/>
                    <a:pt x="927" y="833"/>
                    <a:pt x="927" y="833"/>
                  </a:cubicBezTo>
                  <a:cubicBezTo>
                    <a:pt x="940" y="840"/>
                    <a:pt x="955" y="844"/>
                    <a:pt x="971" y="844"/>
                  </a:cubicBezTo>
                  <a:cubicBezTo>
                    <a:pt x="989" y="844"/>
                    <a:pt x="1006" y="839"/>
                    <a:pt x="1020" y="830"/>
                  </a:cubicBezTo>
                  <a:cubicBezTo>
                    <a:pt x="1143" y="927"/>
                    <a:pt x="1143" y="927"/>
                    <a:pt x="1143" y="927"/>
                  </a:cubicBezTo>
                  <a:cubicBezTo>
                    <a:pt x="1139" y="937"/>
                    <a:pt x="1137" y="948"/>
                    <a:pt x="1137" y="959"/>
                  </a:cubicBezTo>
                  <a:cubicBezTo>
                    <a:pt x="1137" y="1009"/>
                    <a:pt x="1177" y="1049"/>
                    <a:pt x="1227" y="1049"/>
                  </a:cubicBezTo>
                  <a:cubicBezTo>
                    <a:pt x="1276" y="1049"/>
                    <a:pt x="1316" y="1009"/>
                    <a:pt x="1316" y="959"/>
                  </a:cubicBezTo>
                  <a:cubicBezTo>
                    <a:pt x="1316" y="941"/>
                    <a:pt x="1311" y="924"/>
                    <a:pt x="1302" y="910"/>
                  </a:cubicBezTo>
                  <a:cubicBezTo>
                    <a:pt x="1352" y="846"/>
                    <a:pt x="1352" y="846"/>
                    <a:pt x="1352" y="846"/>
                  </a:cubicBezTo>
                  <a:cubicBezTo>
                    <a:pt x="1352" y="1247"/>
                    <a:pt x="1352" y="1247"/>
                    <a:pt x="1352" y="1247"/>
                  </a:cubicBezTo>
                  <a:cubicBezTo>
                    <a:pt x="1352" y="1254"/>
                    <a:pt x="1345" y="1261"/>
                    <a:pt x="1337" y="1261"/>
                  </a:cubicBezTo>
                  <a:cubicBezTo>
                    <a:pt x="782" y="1261"/>
                    <a:pt x="782" y="1261"/>
                    <a:pt x="782" y="1261"/>
                  </a:cubicBezTo>
                  <a:cubicBezTo>
                    <a:pt x="769" y="1261"/>
                    <a:pt x="758" y="1272"/>
                    <a:pt x="758" y="1285"/>
                  </a:cubicBezTo>
                  <a:cubicBezTo>
                    <a:pt x="758" y="1298"/>
                    <a:pt x="769" y="1309"/>
                    <a:pt x="782" y="1309"/>
                  </a:cubicBezTo>
                  <a:cubicBezTo>
                    <a:pt x="1337" y="1309"/>
                    <a:pt x="1337" y="1309"/>
                    <a:pt x="1337" y="1309"/>
                  </a:cubicBezTo>
                  <a:cubicBezTo>
                    <a:pt x="1372" y="1309"/>
                    <a:pt x="1400" y="1281"/>
                    <a:pt x="1400" y="1247"/>
                  </a:cubicBezTo>
                  <a:cubicBezTo>
                    <a:pt x="1400" y="785"/>
                    <a:pt x="1400" y="785"/>
                    <a:pt x="1400" y="785"/>
                  </a:cubicBezTo>
                  <a:cubicBezTo>
                    <a:pt x="1514" y="640"/>
                    <a:pt x="1514" y="640"/>
                    <a:pt x="1514" y="640"/>
                  </a:cubicBezTo>
                  <a:cubicBezTo>
                    <a:pt x="1525" y="644"/>
                    <a:pt x="1536" y="646"/>
                    <a:pt x="1549" y="646"/>
                  </a:cubicBezTo>
                  <a:cubicBezTo>
                    <a:pt x="1598" y="646"/>
                    <a:pt x="1638" y="606"/>
                    <a:pt x="1638" y="557"/>
                  </a:cubicBezTo>
                  <a:cubicBezTo>
                    <a:pt x="1638" y="507"/>
                    <a:pt x="1598" y="467"/>
                    <a:pt x="1549" y="467"/>
                  </a:cubicBezTo>
                  <a:close/>
                  <a:moveTo>
                    <a:pt x="224" y="234"/>
                  </a:moveTo>
                  <a:cubicBezTo>
                    <a:pt x="48" y="234"/>
                    <a:pt x="48" y="234"/>
                    <a:pt x="48" y="234"/>
                  </a:cubicBezTo>
                  <a:cubicBezTo>
                    <a:pt x="48" y="62"/>
                    <a:pt x="48" y="62"/>
                    <a:pt x="48" y="62"/>
                  </a:cubicBezTo>
                  <a:cubicBezTo>
                    <a:pt x="48" y="55"/>
                    <a:pt x="55" y="48"/>
                    <a:pt x="62" y="48"/>
                  </a:cubicBezTo>
                  <a:cubicBezTo>
                    <a:pt x="224" y="48"/>
                    <a:pt x="224" y="48"/>
                    <a:pt x="224" y="48"/>
                  </a:cubicBezTo>
                  <a:lnTo>
                    <a:pt x="224" y="234"/>
                  </a:lnTo>
                  <a:close/>
                  <a:moveTo>
                    <a:pt x="715" y="1035"/>
                  </a:moveTo>
                  <a:cubicBezTo>
                    <a:pt x="692" y="1035"/>
                    <a:pt x="674" y="1016"/>
                    <a:pt x="674" y="993"/>
                  </a:cubicBezTo>
                  <a:cubicBezTo>
                    <a:pt x="674" y="970"/>
                    <a:pt x="692" y="951"/>
                    <a:pt x="715" y="951"/>
                  </a:cubicBezTo>
                  <a:cubicBezTo>
                    <a:pt x="738" y="951"/>
                    <a:pt x="757" y="970"/>
                    <a:pt x="757" y="993"/>
                  </a:cubicBezTo>
                  <a:cubicBezTo>
                    <a:pt x="757" y="1016"/>
                    <a:pt x="738" y="1035"/>
                    <a:pt x="715" y="1035"/>
                  </a:cubicBezTo>
                  <a:close/>
                  <a:moveTo>
                    <a:pt x="971" y="796"/>
                  </a:moveTo>
                  <a:cubicBezTo>
                    <a:pt x="948" y="796"/>
                    <a:pt x="929" y="778"/>
                    <a:pt x="929" y="755"/>
                  </a:cubicBezTo>
                  <a:cubicBezTo>
                    <a:pt x="929" y="732"/>
                    <a:pt x="948" y="713"/>
                    <a:pt x="971" y="713"/>
                  </a:cubicBezTo>
                  <a:cubicBezTo>
                    <a:pt x="994" y="713"/>
                    <a:pt x="1013" y="732"/>
                    <a:pt x="1013" y="755"/>
                  </a:cubicBezTo>
                  <a:cubicBezTo>
                    <a:pt x="1013" y="778"/>
                    <a:pt x="994" y="796"/>
                    <a:pt x="971" y="796"/>
                  </a:cubicBezTo>
                  <a:close/>
                  <a:moveTo>
                    <a:pt x="1227" y="1001"/>
                  </a:moveTo>
                  <a:cubicBezTo>
                    <a:pt x="1204" y="1001"/>
                    <a:pt x="1185" y="982"/>
                    <a:pt x="1185" y="959"/>
                  </a:cubicBezTo>
                  <a:cubicBezTo>
                    <a:pt x="1185" y="936"/>
                    <a:pt x="1204" y="917"/>
                    <a:pt x="1227" y="917"/>
                  </a:cubicBezTo>
                  <a:cubicBezTo>
                    <a:pt x="1250" y="917"/>
                    <a:pt x="1268" y="936"/>
                    <a:pt x="1268" y="959"/>
                  </a:cubicBezTo>
                  <a:cubicBezTo>
                    <a:pt x="1268" y="982"/>
                    <a:pt x="1250" y="1001"/>
                    <a:pt x="1227" y="1001"/>
                  </a:cubicBezTo>
                  <a:close/>
                  <a:moveTo>
                    <a:pt x="1352" y="234"/>
                  </a:moveTo>
                  <a:cubicBezTo>
                    <a:pt x="272" y="234"/>
                    <a:pt x="272" y="234"/>
                    <a:pt x="272" y="234"/>
                  </a:cubicBezTo>
                  <a:cubicBezTo>
                    <a:pt x="272" y="48"/>
                    <a:pt x="272" y="48"/>
                    <a:pt x="272" y="48"/>
                  </a:cubicBezTo>
                  <a:cubicBezTo>
                    <a:pt x="1337" y="48"/>
                    <a:pt x="1337" y="48"/>
                    <a:pt x="1337" y="48"/>
                  </a:cubicBezTo>
                  <a:cubicBezTo>
                    <a:pt x="1345" y="48"/>
                    <a:pt x="1352" y="55"/>
                    <a:pt x="1352" y="62"/>
                  </a:cubicBezTo>
                  <a:lnTo>
                    <a:pt x="1352" y="234"/>
                  </a:lnTo>
                  <a:close/>
                  <a:moveTo>
                    <a:pt x="1549" y="598"/>
                  </a:moveTo>
                  <a:cubicBezTo>
                    <a:pt x="1526" y="598"/>
                    <a:pt x="1507" y="580"/>
                    <a:pt x="1507" y="557"/>
                  </a:cubicBezTo>
                  <a:cubicBezTo>
                    <a:pt x="1507" y="534"/>
                    <a:pt x="1526" y="515"/>
                    <a:pt x="1549" y="515"/>
                  </a:cubicBezTo>
                  <a:cubicBezTo>
                    <a:pt x="1572" y="515"/>
                    <a:pt x="1590" y="534"/>
                    <a:pt x="1590" y="557"/>
                  </a:cubicBezTo>
                  <a:cubicBezTo>
                    <a:pt x="1590" y="580"/>
                    <a:pt x="1572" y="598"/>
                    <a:pt x="1549" y="598"/>
                  </a:cubicBezTo>
                  <a:close/>
                  <a:moveTo>
                    <a:pt x="1549" y="598"/>
                  </a:moveTo>
                  <a:cubicBezTo>
                    <a:pt x="1549" y="598"/>
                    <a:pt x="1549" y="598"/>
                    <a:pt x="1549" y="59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157" name="Freeform 27">
              <a:extLst>
                <a:ext uri="{FF2B5EF4-FFF2-40B4-BE49-F238E27FC236}">
                  <a16:creationId xmlns:a16="http://schemas.microsoft.com/office/drawing/2014/main" id="{F4F001B0-74FD-294D-8F58-A29CD48AB45B}"/>
                </a:ext>
              </a:extLst>
            </p:cNvPr>
            <p:cNvSpPr>
              <a:spLocks noEditPoints="1"/>
            </p:cNvSpPr>
            <p:nvPr/>
          </p:nvSpPr>
          <p:spPr bwMode="auto">
            <a:xfrm>
              <a:off x="2129" y="1015"/>
              <a:ext cx="146" cy="19"/>
            </a:xfrm>
            <a:custGeom>
              <a:avLst/>
              <a:gdLst>
                <a:gd name="T0" fmla="*/ 363 w 387"/>
                <a:gd name="T1" fmla="*/ 0 h 48"/>
                <a:gd name="T2" fmla="*/ 24 w 387"/>
                <a:gd name="T3" fmla="*/ 0 h 48"/>
                <a:gd name="T4" fmla="*/ 0 w 387"/>
                <a:gd name="T5" fmla="*/ 24 h 48"/>
                <a:gd name="T6" fmla="*/ 24 w 387"/>
                <a:gd name="T7" fmla="*/ 48 h 48"/>
                <a:gd name="T8" fmla="*/ 363 w 387"/>
                <a:gd name="T9" fmla="*/ 48 h 48"/>
                <a:gd name="T10" fmla="*/ 387 w 387"/>
                <a:gd name="T11" fmla="*/ 24 h 48"/>
                <a:gd name="T12" fmla="*/ 363 w 387"/>
                <a:gd name="T13" fmla="*/ 0 h 48"/>
                <a:gd name="T14" fmla="*/ 363 w 387"/>
                <a:gd name="T15" fmla="*/ 0 h 48"/>
                <a:gd name="T16" fmla="*/ 363 w 387"/>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48">
                  <a:moveTo>
                    <a:pt x="363" y="0"/>
                  </a:moveTo>
                  <a:cubicBezTo>
                    <a:pt x="24" y="0"/>
                    <a:pt x="24" y="0"/>
                    <a:pt x="24" y="0"/>
                  </a:cubicBezTo>
                  <a:cubicBezTo>
                    <a:pt x="11" y="0"/>
                    <a:pt x="0" y="11"/>
                    <a:pt x="0" y="24"/>
                  </a:cubicBezTo>
                  <a:cubicBezTo>
                    <a:pt x="0" y="37"/>
                    <a:pt x="11" y="48"/>
                    <a:pt x="24" y="48"/>
                  </a:cubicBezTo>
                  <a:cubicBezTo>
                    <a:pt x="363" y="48"/>
                    <a:pt x="363" y="48"/>
                    <a:pt x="363" y="48"/>
                  </a:cubicBezTo>
                  <a:cubicBezTo>
                    <a:pt x="376" y="48"/>
                    <a:pt x="387" y="37"/>
                    <a:pt x="387" y="24"/>
                  </a:cubicBezTo>
                  <a:cubicBezTo>
                    <a:pt x="387" y="11"/>
                    <a:pt x="376" y="0"/>
                    <a:pt x="363" y="0"/>
                  </a:cubicBezTo>
                  <a:close/>
                  <a:moveTo>
                    <a:pt x="363" y="0"/>
                  </a:moveTo>
                  <a:cubicBezTo>
                    <a:pt x="363" y="0"/>
                    <a:pt x="363" y="0"/>
                    <a:pt x="36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158" name="Freeform 28">
              <a:extLst>
                <a:ext uri="{FF2B5EF4-FFF2-40B4-BE49-F238E27FC236}">
                  <a16:creationId xmlns:a16="http://schemas.microsoft.com/office/drawing/2014/main" id="{3E4BE26D-2B79-17E0-95C8-2FDBE2AF01E1}"/>
                </a:ext>
              </a:extLst>
            </p:cNvPr>
            <p:cNvSpPr>
              <a:spLocks noEditPoints="1"/>
            </p:cNvSpPr>
            <p:nvPr/>
          </p:nvSpPr>
          <p:spPr bwMode="auto">
            <a:xfrm>
              <a:off x="2129" y="1060"/>
              <a:ext cx="146" cy="18"/>
            </a:xfrm>
            <a:custGeom>
              <a:avLst/>
              <a:gdLst>
                <a:gd name="T0" fmla="*/ 363 w 387"/>
                <a:gd name="T1" fmla="*/ 0 h 48"/>
                <a:gd name="T2" fmla="*/ 24 w 387"/>
                <a:gd name="T3" fmla="*/ 0 h 48"/>
                <a:gd name="T4" fmla="*/ 0 w 387"/>
                <a:gd name="T5" fmla="*/ 24 h 48"/>
                <a:gd name="T6" fmla="*/ 24 w 387"/>
                <a:gd name="T7" fmla="*/ 48 h 48"/>
                <a:gd name="T8" fmla="*/ 363 w 387"/>
                <a:gd name="T9" fmla="*/ 48 h 48"/>
                <a:gd name="T10" fmla="*/ 387 w 387"/>
                <a:gd name="T11" fmla="*/ 24 h 48"/>
                <a:gd name="T12" fmla="*/ 363 w 387"/>
                <a:gd name="T13" fmla="*/ 0 h 48"/>
                <a:gd name="T14" fmla="*/ 363 w 387"/>
                <a:gd name="T15" fmla="*/ 0 h 48"/>
                <a:gd name="T16" fmla="*/ 363 w 387"/>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48">
                  <a:moveTo>
                    <a:pt x="363" y="0"/>
                  </a:moveTo>
                  <a:cubicBezTo>
                    <a:pt x="24" y="0"/>
                    <a:pt x="24" y="0"/>
                    <a:pt x="24" y="0"/>
                  </a:cubicBezTo>
                  <a:cubicBezTo>
                    <a:pt x="11" y="0"/>
                    <a:pt x="0" y="11"/>
                    <a:pt x="0" y="24"/>
                  </a:cubicBezTo>
                  <a:cubicBezTo>
                    <a:pt x="0" y="37"/>
                    <a:pt x="11" y="48"/>
                    <a:pt x="24" y="48"/>
                  </a:cubicBezTo>
                  <a:cubicBezTo>
                    <a:pt x="363" y="48"/>
                    <a:pt x="363" y="48"/>
                    <a:pt x="363" y="48"/>
                  </a:cubicBezTo>
                  <a:cubicBezTo>
                    <a:pt x="376" y="48"/>
                    <a:pt x="387" y="37"/>
                    <a:pt x="387" y="24"/>
                  </a:cubicBezTo>
                  <a:cubicBezTo>
                    <a:pt x="387" y="11"/>
                    <a:pt x="376" y="0"/>
                    <a:pt x="363" y="0"/>
                  </a:cubicBezTo>
                  <a:close/>
                  <a:moveTo>
                    <a:pt x="363" y="0"/>
                  </a:moveTo>
                  <a:cubicBezTo>
                    <a:pt x="363" y="0"/>
                    <a:pt x="363" y="0"/>
                    <a:pt x="36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159" name="Freeform 29">
              <a:extLst>
                <a:ext uri="{FF2B5EF4-FFF2-40B4-BE49-F238E27FC236}">
                  <a16:creationId xmlns:a16="http://schemas.microsoft.com/office/drawing/2014/main" id="{FC3EA5D9-8420-E0B5-C925-AB899FADB593}"/>
                </a:ext>
              </a:extLst>
            </p:cNvPr>
            <p:cNvSpPr>
              <a:spLocks noEditPoints="1"/>
            </p:cNvSpPr>
            <p:nvPr/>
          </p:nvSpPr>
          <p:spPr bwMode="auto">
            <a:xfrm>
              <a:off x="2129" y="1104"/>
              <a:ext cx="146" cy="18"/>
            </a:xfrm>
            <a:custGeom>
              <a:avLst/>
              <a:gdLst>
                <a:gd name="T0" fmla="*/ 363 w 387"/>
                <a:gd name="T1" fmla="*/ 0 h 48"/>
                <a:gd name="T2" fmla="*/ 24 w 387"/>
                <a:gd name="T3" fmla="*/ 0 h 48"/>
                <a:gd name="T4" fmla="*/ 0 w 387"/>
                <a:gd name="T5" fmla="*/ 24 h 48"/>
                <a:gd name="T6" fmla="*/ 24 w 387"/>
                <a:gd name="T7" fmla="*/ 48 h 48"/>
                <a:gd name="T8" fmla="*/ 363 w 387"/>
                <a:gd name="T9" fmla="*/ 48 h 48"/>
                <a:gd name="T10" fmla="*/ 387 w 387"/>
                <a:gd name="T11" fmla="*/ 24 h 48"/>
                <a:gd name="T12" fmla="*/ 363 w 387"/>
                <a:gd name="T13" fmla="*/ 0 h 48"/>
                <a:gd name="T14" fmla="*/ 363 w 387"/>
                <a:gd name="T15" fmla="*/ 0 h 48"/>
                <a:gd name="T16" fmla="*/ 363 w 387"/>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48">
                  <a:moveTo>
                    <a:pt x="363" y="0"/>
                  </a:moveTo>
                  <a:cubicBezTo>
                    <a:pt x="24" y="0"/>
                    <a:pt x="24" y="0"/>
                    <a:pt x="24" y="0"/>
                  </a:cubicBezTo>
                  <a:cubicBezTo>
                    <a:pt x="11" y="0"/>
                    <a:pt x="0" y="11"/>
                    <a:pt x="0" y="24"/>
                  </a:cubicBezTo>
                  <a:cubicBezTo>
                    <a:pt x="0" y="37"/>
                    <a:pt x="11" y="48"/>
                    <a:pt x="24" y="48"/>
                  </a:cubicBezTo>
                  <a:cubicBezTo>
                    <a:pt x="363" y="48"/>
                    <a:pt x="363" y="48"/>
                    <a:pt x="363" y="48"/>
                  </a:cubicBezTo>
                  <a:cubicBezTo>
                    <a:pt x="376" y="48"/>
                    <a:pt x="387" y="37"/>
                    <a:pt x="387" y="24"/>
                  </a:cubicBezTo>
                  <a:cubicBezTo>
                    <a:pt x="387" y="11"/>
                    <a:pt x="376" y="0"/>
                    <a:pt x="363" y="0"/>
                  </a:cubicBezTo>
                  <a:close/>
                  <a:moveTo>
                    <a:pt x="363" y="0"/>
                  </a:moveTo>
                  <a:cubicBezTo>
                    <a:pt x="363" y="0"/>
                    <a:pt x="363" y="0"/>
                    <a:pt x="36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160" name="Freeform 30">
              <a:extLst>
                <a:ext uri="{FF2B5EF4-FFF2-40B4-BE49-F238E27FC236}">
                  <a16:creationId xmlns:a16="http://schemas.microsoft.com/office/drawing/2014/main" id="{DDD137C3-5E3A-25BF-480A-4C8787CA869F}"/>
                </a:ext>
              </a:extLst>
            </p:cNvPr>
            <p:cNvSpPr>
              <a:spLocks noEditPoints="1"/>
            </p:cNvSpPr>
            <p:nvPr/>
          </p:nvSpPr>
          <p:spPr bwMode="auto">
            <a:xfrm>
              <a:off x="2129" y="1148"/>
              <a:ext cx="146" cy="18"/>
            </a:xfrm>
            <a:custGeom>
              <a:avLst/>
              <a:gdLst>
                <a:gd name="T0" fmla="*/ 363 w 387"/>
                <a:gd name="T1" fmla="*/ 0 h 48"/>
                <a:gd name="T2" fmla="*/ 24 w 387"/>
                <a:gd name="T3" fmla="*/ 0 h 48"/>
                <a:gd name="T4" fmla="*/ 0 w 387"/>
                <a:gd name="T5" fmla="*/ 24 h 48"/>
                <a:gd name="T6" fmla="*/ 24 w 387"/>
                <a:gd name="T7" fmla="*/ 48 h 48"/>
                <a:gd name="T8" fmla="*/ 363 w 387"/>
                <a:gd name="T9" fmla="*/ 48 h 48"/>
                <a:gd name="T10" fmla="*/ 387 w 387"/>
                <a:gd name="T11" fmla="*/ 24 h 48"/>
                <a:gd name="T12" fmla="*/ 363 w 387"/>
                <a:gd name="T13" fmla="*/ 0 h 48"/>
                <a:gd name="T14" fmla="*/ 363 w 387"/>
                <a:gd name="T15" fmla="*/ 0 h 48"/>
                <a:gd name="T16" fmla="*/ 363 w 387"/>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48">
                  <a:moveTo>
                    <a:pt x="363" y="0"/>
                  </a:moveTo>
                  <a:cubicBezTo>
                    <a:pt x="24" y="0"/>
                    <a:pt x="24" y="0"/>
                    <a:pt x="24" y="0"/>
                  </a:cubicBezTo>
                  <a:cubicBezTo>
                    <a:pt x="11" y="0"/>
                    <a:pt x="0" y="11"/>
                    <a:pt x="0" y="24"/>
                  </a:cubicBezTo>
                  <a:cubicBezTo>
                    <a:pt x="0" y="37"/>
                    <a:pt x="11" y="48"/>
                    <a:pt x="24" y="48"/>
                  </a:cubicBezTo>
                  <a:cubicBezTo>
                    <a:pt x="363" y="48"/>
                    <a:pt x="363" y="48"/>
                    <a:pt x="363" y="48"/>
                  </a:cubicBezTo>
                  <a:cubicBezTo>
                    <a:pt x="376" y="48"/>
                    <a:pt x="387" y="37"/>
                    <a:pt x="387" y="24"/>
                  </a:cubicBezTo>
                  <a:cubicBezTo>
                    <a:pt x="387" y="11"/>
                    <a:pt x="376" y="0"/>
                    <a:pt x="363" y="0"/>
                  </a:cubicBezTo>
                  <a:close/>
                  <a:moveTo>
                    <a:pt x="363" y="0"/>
                  </a:moveTo>
                  <a:cubicBezTo>
                    <a:pt x="363" y="0"/>
                    <a:pt x="363" y="0"/>
                    <a:pt x="36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161" name="Freeform 31">
              <a:extLst>
                <a:ext uri="{FF2B5EF4-FFF2-40B4-BE49-F238E27FC236}">
                  <a16:creationId xmlns:a16="http://schemas.microsoft.com/office/drawing/2014/main" id="{DEF57E8D-F728-9C56-D2D7-1BD2B0F51CE4}"/>
                </a:ext>
              </a:extLst>
            </p:cNvPr>
            <p:cNvSpPr>
              <a:spLocks noEditPoints="1"/>
            </p:cNvSpPr>
            <p:nvPr/>
          </p:nvSpPr>
          <p:spPr bwMode="auto">
            <a:xfrm>
              <a:off x="2129" y="1192"/>
              <a:ext cx="146" cy="18"/>
            </a:xfrm>
            <a:custGeom>
              <a:avLst/>
              <a:gdLst>
                <a:gd name="T0" fmla="*/ 363 w 387"/>
                <a:gd name="T1" fmla="*/ 0 h 48"/>
                <a:gd name="T2" fmla="*/ 24 w 387"/>
                <a:gd name="T3" fmla="*/ 0 h 48"/>
                <a:gd name="T4" fmla="*/ 0 w 387"/>
                <a:gd name="T5" fmla="*/ 24 h 48"/>
                <a:gd name="T6" fmla="*/ 24 w 387"/>
                <a:gd name="T7" fmla="*/ 48 h 48"/>
                <a:gd name="T8" fmla="*/ 363 w 387"/>
                <a:gd name="T9" fmla="*/ 48 h 48"/>
                <a:gd name="T10" fmla="*/ 387 w 387"/>
                <a:gd name="T11" fmla="*/ 24 h 48"/>
                <a:gd name="T12" fmla="*/ 363 w 387"/>
                <a:gd name="T13" fmla="*/ 0 h 48"/>
                <a:gd name="T14" fmla="*/ 363 w 387"/>
                <a:gd name="T15" fmla="*/ 0 h 48"/>
                <a:gd name="T16" fmla="*/ 363 w 387"/>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48">
                  <a:moveTo>
                    <a:pt x="363" y="0"/>
                  </a:moveTo>
                  <a:cubicBezTo>
                    <a:pt x="24" y="0"/>
                    <a:pt x="24" y="0"/>
                    <a:pt x="24" y="0"/>
                  </a:cubicBezTo>
                  <a:cubicBezTo>
                    <a:pt x="11" y="0"/>
                    <a:pt x="0" y="11"/>
                    <a:pt x="0" y="24"/>
                  </a:cubicBezTo>
                  <a:cubicBezTo>
                    <a:pt x="0" y="37"/>
                    <a:pt x="11" y="48"/>
                    <a:pt x="24" y="48"/>
                  </a:cubicBezTo>
                  <a:cubicBezTo>
                    <a:pt x="363" y="48"/>
                    <a:pt x="363" y="48"/>
                    <a:pt x="363" y="48"/>
                  </a:cubicBezTo>
                  <a:cubicBezTo>
                    <a:pt x="376" y="48"/>
                    <a:pt x="387" y="37"/>
                    <a:pt x="387" y="24"/>
                  </a:cubicBezTo>
                  <a:cubicBezTo>
                    <a:pt x="387" y="11"/>
                    <a:pt x="376" y="0"/>
                    <a:pt x="363" y="0"/>
                  </a:cubicBezTo>
                  <a:close/>
                  <a:moveTo>
                    <a:pt x="363" y="0"/>
                  </a:moveTo>
                  <a:cubicBezTo>
                    <a:pt x="363" y="0"/>
                    <a:pt x="363" y="0"/>
                    <a:pt x="36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sp>
          <p:nvSpPr>
            <p:cNvPr id="162" name="Freeform 32">
              <a:extLst>
                <a:ext uri="{FF2B5EF4-FFF2-40B4-BE49-F238E27FC236}">
                  <a16:creationId xmlns:a16="http://schemas.microsoft.com/office/drawing/2014/main" id="{6E8B8EEC-BB86-24D9-08B4-32010DF80535}"/>
                </a:ext>
              </a:extLst>
            </p:cNvPr>
            <p:cNvSpPr>
              <a:spLocks noEditPoints="1"/>
            </p:cNvSpPr>
            <p:nvPr/>
          </p:nvSpPr>
          <p:spPr bwMode="auto">
            <a:xfrm>
              <a:off x="2129" y="904"/>
              <a:ext cx="389" cy="85"/>
            </a:xfrm>
            <a:custGeom>
              <a:avLst/>
              <a:gdLst>
                <a:gd name="T0" fmla="*/ 967 w 1029"/>
                <a:gd name="T1" fmla="*/ 0 h 224"/>
                <a:gd name="T2" fmla="*/ 63 w 1029"/>
                <a:gd name="T3" fmla="*/ 0 h 224"/>
                <a:gd name="T4" fmla="*/ 0 w 1029"/>
                <a:gd name="T5" fmla="*/ 63 h 224"/>
                <a:gd name="T6" fmla="*/ 0 w 1029"/>
                <a:gd name="T7" fmla="*/ 161 h 224"/>
                <a:gd name="T8" fmla="*/ 63 w 1029"/>
                <a:gd name="T9" fmla="*/ 224 h 224"/>
                <a:gd name="T10" fmla="*/ 485 w 1029"/>
                <a:gd name="T11" fmla="*/ 224 h 224"/>
                <a:gd name="T12" fmla="*/ 509 w 1029"/>
                <a:gd name="T13" fmla="*/ 200 h 224"/>
                <a:gd name="T14" fmla="*/ 485 w 1029"/>
                <a:gd name="T15" fmla="*/ 176 h 224"/>
                <a:gd name="T16" fmla="*/ 63 w 1029"/>
                <a:gd name="T17" fmla="*/ 176 h 224"/>
                <a:gd name="T18" fmla="*/ 48 w 1029"/>
                <a:gd name="T19" fmla="*/ 161 h 224"/>
                <a:gd name="T20" fmla="*/ 48 w 1029"/>
                <a:gd name="T21" fmla="*/ 63 h 224"/>
                <a:gd name="T22" fmla="*/ 63 w 1029"/>
                <a:gd name="T23" fmla="*/ 48 h 224"/>
                <a:gd name="T24" fmla="*/ 967 w 1029"/>
                <a:gd name="T25" fmla="*/ 48 h 224"/>
                <a:gd name="T26" fmla="*/ 981 w 1029"/>
                <a:gd name="T27" fmla="*/ 63 h 224"/>
                <a:gd name="T28" fmla="*/ 981 w 1029"/>
                <a:gd name="T29" fmla="*/ 161 h 224"/>
                <a:gd name="T30" fmla="*/ 967 w 1029"/>
                <a:gd name="T31" fmla="*/ 176 h 224"/>
                <a:gd name="T32" fmla="*/ 597 w 1029"/>
                <a:gd name="T33" fmla="*/ 176 h 224"/>
                <a:gd name="T34" fmla="*/ 573 w 1029"/>
                <a:gd name="T35" fmla="*/ 200 h 224"/>
                <a:gd name="T36" fmla="*/ 597 w 1029"/>
                <a:gd name="T37" fmla="*/ 224 h 224"/>
                <a:gd name="T38" fmla="*/ 967 w 1029"/>
                <a:gd name="T39" fmla="*/ 224 h 224"/>
                <a:gd name="T40" fmla="*/ 1029 w 1029"/>
                <a:gd name="T41" fmla="*/ 161 h 224"/>
                <a:gd name="T42" fmla="*/ 1029 w 1029"/>
                <a:gd name="T43" fmla="*/ 63 h 224"/>
                <a:gd name="T44" fmla="*/ 967 w 1029"/>
                <a:gd name="T45" fmla="*/ 0 h 224"/>
                <a:gd name="T46" fmla="*/ 967 w 1029"/>
                <a:gd name="T47" fmla="*/ 0 h 224"/>
                <a:gd name="T48" fmla="*/ 967 w 1029"/>
                <a:gd name="T49" fmla="*/ 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29" h="224">
                  <a:moveTo>
                    <a:pt x="967" y="0"/>
                  </a:moveTo>
                  <a:cubicBezTo>
                    <a:pt x="63" y="0"/>
                    <a:pt x="63" y="0"/>
                    <a:pt x="63" y="0"/>
                  </a:cubicBezTo>
                  <a:cubicBezTo>
                    <a:pt x="28" y="0"/>
                    <a:pt x="0" y="28"/>
                    <a:pt x="0" y="63"/>
                  </a:cubicBezTo>
                  <a:cubicBezTo>
                    <a:pt x="0" y="161"/>
                    <a:pt x="0" y="161"/>
                    <a:pt x="0" y="161"/>
                  </a:cubicBezTo>
                  <a:cubicBezTo>
                    <a:pt x="0" y="196"/>
                    <a:pt x="28" y="224"/>
                    <a:pt x="63" y="224"/>
                  </a:cubicBezTo>
                  <a:cubicBezTo>
                    <a:pt x="485" y="224"/>
                    <a:pt x="485" y="224"/>
                    <a:pt x="485" y="224"/>
                  </a:cubicBezTo>
                  <a:cubicBezTo>
                    <a:pt x="499" y="224"/>
                    <a:pt x="509" y="213"/>
                    <a:pt x="509" y="200"/>
                  </a:cubicBezTo>
                  <a:cubicBezTo>
                    <a:pt x="509" y="186"/>
                    <a:pt x="499" y="176"/>
                    <a:pt x="485" y="176"/>
                  </a:cubicBezTo>
                  <a:cubicBezTo>
                    <a:pt x="63" y="176"/>
                    <a:pt x="63" y="176"/>
                    <a:pt x="63" y="176"/>
                  </a:cubicBezTo>
                  <a:cubicBezTo>
                    <a:pt x="55" y="176"/>
                    <a:pt x="48" y="169"/>
                    <a:pt x="48" y="161"/>
                  </a:cubicBezTo>
                  <a:cubicBezTo>
                    <a:pt x="48" y="63"/>
                    <a:pt x="48" y="63"/>
                    <a:pt x="48" y="63"/>
                  </a:cubicBezTo>
                  <a:cubicBezTo>
                    <a:pt x="48" y="55"/>
                    <a:pt x="55" y="48"/>
                    <a:pt x="63" y="48"/>
                  </a:cubicBezTo>
                  <a:cubicBezTo>
                    <a:pt x="967" y="48"/>
                    <a:pt x="967" y="48"/>
                    <a:pt x="967" y="48"/>
                  </a:cubicBezTo>
                  <a:cubicBezTo>
                    <a:pt x="975" y="48"/>
                    <a:pt x="981" y="55"/>
                    <a:pt x="981" y="63"/>
                  </a:cubicBezTo>
                  <a:cubicBezTo>
                    <a:pt x="981" y="161"/>
                    <a:pt x="981" y="161"/>
                    <a:pt x="981" y="161"/>
                  </a:cubicBezTo>
                  <a:cubicBezTo>
                    <a:pt x="981" y="169"/>
                    <a:pt x="975" y="176"/>
                    <a:pt x="967" y="176"/>
                  </a:cubicBezTo>
                  <a:cubicBezTo>
                    <a:pt x="597" y="176"/>
                    <a:pt x="597" y="176"/>
                    <a:pt x="597" y="176"/>
                  </a:cubicBezTo>
                  <a:cubicBezTo>
                    <a:pt x="584" y="176"/>
                    <a:pt x="573" y="186"/>
                    <a:pt x="573" y="200"/>
                  </a:cubicBezTo>
                  <a:cubicBezTo>
                    <a:pt x="573" y="213"/>
                    <a:pt x="584" y="224"/>
                    <a:pt x="597" y="224"/>
                  </a:cubicBezTo>
                  <a:cubicBezTo>
                    <a:pt x="967" y="224"/>
                    <a:pt x="967" y="224"/>
                    <a:pt x="967" y="224"/>
                  </a:cubicBezTo>
                  <a:cubicBezTo>
                    <a:pt x="1001" y="224"/>
                    <a:pt x="1029" y="196"/>
                    <a:pt x="1029" y="161"/>
                  </a:cubicBezTo>
                  <a:cubicBezTo>
                    <a:pt x="1029" y="63"/>
                    <a:pt x="1029" y="63"/>
                    <a:pt x="1029" y="63"/>
                  </a:cubicBezTo>
                  <a:cubicBezTo>
                    <a:pt x="1029" y="28"/>
                    <a:pt x="1001" y="0"/>
                    <a:pt x="967" y="0"/>
                  </a:cubicBezTo>
                  <a:close/>
                  <a:moveTo>
                    <a:pt x="967" y="0"/>
                  </a:moveTo>
                  <a:cubicBezTo>
                    <a:pt x="967" y="0"/>
                    <a:pt x="967" y="0"/>
                    <a:pt x="967"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cs typeface="Calibri" panose="020F0502020204030204" pitchFamily="34" charset="0"/>
              </a:endParaRPr>
            </a:p>
          </p:txBody>
        </p:sp>
      </p:grpSp>
      <p:grpSp>
        <p:nvGrpSpPr>
          <p:cNvPr id="163" name="Group 162">
            <a:extLst>
              <a:ext uri="{FF2B5EF4-FFF2-40B4-BE49-F238E27FC236}">
                <a16:creationId xmlns:a16="http://schemas.microsoft.com/office/drawing/2014/main" id="{D85FBE48-8BF4-F6D7-1191-21EBDFBCA1C3}"/>
              </a:ext>
            </a:extLst>
          </p:cNvPr>
          <p:cNvGrpSpPr/>
          <p:nvPr/>
        </p:nvGrpSpPr>
        <p:grpSpPr>
          <a:xfrm>
            <a:off x="9679193" y="1179940"/>
            <a:ext cx="345182" cy="350276"/>
            <a:chOff x="5153025" y="3441701"/>
            <a:chExt cx="2166938" cy="2166938"/>
          </a:xfrm>
          <a:solidFill>
            <a:schemeClr val="tx1"/>
          </a:solidFill>
        </p:grpSpPr>
        <p:sp>
          <p:nvSpPr>
            <p:cNvPr id="164" name="Freeform 66">
              <a:extLst>
                <a:ext uri="{FF2B5EF4-FFF2-40B4-BE49-F238E27FC236}">
                  <a16:creationId xmlns:a16="http://schemas.microsoft.com/office/drawing/2014/main" id="{FA6056B0-867F-2A5B-2172-EEF26DE1B306}"/>
                </a:ext>
              </a:extLst>
            </p:cNvPr>
            <p:cNvSpPr>
              <a:spLocks/>
            </p:cNvSpPr>
            <p:nvPr/>
          </p:nvSpPr>
          <p:spPr bwMode="auto">
            <a:xfrm>
              <a:off x="5153025" y="3441701"/>
              <a:ext cx="2166938" cy="2166938"/>
            </a:xfrm>
            <a:custGeom>
              <a:avLst/>
              <a:gdLst>
                <a:gd name="T0" fmla="*/ 1920 w 2048"/>
                <a:gd name="T1" fmla="*/ 1152 h 2048"/>
                <a:gd name="T2" fmla="*/ 1920 w 2048"/>
                <a:gd name="T3" fmla="*/ 1600 h 2048"/>
                <a:gd name="T4" fmla="*/ 1600 w 2048"/>
                <a:gd name="T5" fmla="*/ 1920 h 2048"/>
                <a:gd name="T6" fmla="*/ 448 w 2048"/>
                <a:gd name="T7" fmla="*/ 1920 h 2048"/>
                <a:gd name="T8" fmla="*/ 128 w 2048"/>
                <a:gd name="T9" fmla="*/ 1600 h 2048"/>
                <a:gd name="T10" fmla="*/ 128 w 2048"/>
                <a:gd name="T11" fmla="*/ 448 h 2048"/>
                <a:gd name="T12" fmla="*/ 448 w 2048"/>
                <a:gd name="T13" fmla="*/ 128 h 2048"/>
                <a:gd name="T14" fmla="*/ 832 w 2048"/>
                <a:gd name="T15" fmla="*/ 128 h 2048"/>
                <a:gd name="T16" fmla="*/ 832 w 2048"/>
                <a:gd name="T17" fmla="*/ 0 h 2048"/>
                <a:gd name="T18" fmla="*/ 448 w 2048"/>
                <a:gd name="T19" fmla="*/ 0 h 2048"/>
                <a:gd name="T20" fmla="*/ 0 w 2048"/>
                <a:gd name="T21" fmla="*/ 448 h 2048"/>
                <a:gd name="T22" fmla="*/ 0 w 2048"/>
                <a:gd name="T23" fmla="*/ 1600 h 2048"/>
                <a:gd name="T24" fmla="*/ 448 w 2048"/>
                <a:gd name="T25" fmla="*/ 2048 h 2048"/>
                <a:gd name="T26" fmla="*/ 1600 w 2048"/>
                <a:gd name="T27" fmla="*/ 2048 h 2048"/>
                <a:gd name="T28" fmla="*/ 2048 w 2048"/>
                <a:gd name="T29" fmla="*/ 1600 h 2048"/>
                <a:gd name="T30" fmla="*/ 2048 w 2048"/>
                <a:gd name="T31" fmla="*/ 1152 h 2048"/>
                <a:gd name="T32" fmla="*/ 1920 w 2048"/>
                <a:gd name="T33" fmla="*/ 1152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48" h="2048">
                  <a:moveTo>
                    <a:pt x="1920" y="1152"/>
                  </a:moveTo>
                  <a:cubicBezTo>
                    <a:pt x="1920" y="1600"/>
                    <a:pt x="1920" y="1600"/>
                    <a:pt x="1920" y="1600"/>
                  </a:cubicBezTo>
                  <a:cubicBezTo>
                    <a:pt x="1920" y="1777"/>
                    <a:pt x="1777" y="1920"/>
                    <a:pt x="1600" y="1920"/>
                  </a:cubicBezTo>
                  <a:cubicBezTo>
                    <a:pt x="448" y="1920"/>
                    <a:pt x="448" y="1920"/>
                    <a:pt x="448" y="1920"/>
                  </a:cubicBezTo>
                  <a:cubicBezTo>
                    <a:pt x="271" y="1920"/>
                    <a:pt x="128" y="1777"/>
                    <a:pt x="128" y="1600"/>
                  </a:cubicBezTo>
                  <a:cubicBezTo>
                    <a:pt x="128" y="448"/>
                    <a:pt x="128" y="448"/>
                    <a:pt x="128" y="448"/>
                  </a:cubicBezTo>
                  <a:cubicBezTo>
                    <a:pt x="128" y="271"/>
                    <a:pt x="271" y="128"/>
                    <a:pt x="448" y="128"/>
                  </a:cubicBezTo>
                  <a:cubicBezTo>
                    <a:pt x="832" y="128"/>
                    <a:pt x="832" y="128"/>
                    <a:pt x="832" y="128"/>
                  </a:cubicBezTo>
                  <a:cubicBezTo>
                    <a:pt x="832" y="0"/>
                    <a:pt x="832" y="0"/>
                    <a:pt x="832" y="0"/>
                  </a:cubicBezTo>
                  <a:cubicBezTo>
                    <a:pt x="448" y="0"/>
                    <a:pt x="448" y="0"/>
                    <a:pt x="448" y="0"/>
                  </a:cubicBezTo>
                  <a:cubicBezTo>
                    <a:pt x="201" y="0"/>
                    <a:pt x="0" y="201"/>
                    <a:pt x="0" y="448"/>
                  </a:cubicBezTo>
                  <a:cubicBezTo>
                    <a:pt x="0" y="1600"/>
                    <a:pt x="0" y="1600"/>
                    <a:pt x="0" y="1600"/>
                  </a:cubicBezTo>
                  <a:cubicBezTo>
                    <a:pt x="0" y="1847"/>
                    <a:pt x="201" y="2048"/>
                    <a:pt x="448" y="2048"/>
                  </a:cubicBezTo>
                  <a:cubicBezTo>
                    <a:pt x="1600" y="2048"/>
                    <a:pt x="1600" y="2048"/>
                    <a:pt x="1600" y="2048"/>
                  </a:cubicBezTo>
                  <a:cubicBezTo>
                    <a:pt x="1847" y="2048"/>
                    <a:pt x="2048" y="1847"/>
                    <a:pt x="2048" y="1600"/>
                  </a:cubicBezTo>
                  <a:cubicBezTo>
                    <a:pt x="2048" y="1152"/>
                    <a:pt x="2048" y="1152"/>
                    <a:pt x="2048" y="1152"/>
                  </a:cubicBezTo>
                  <a:lnTo>
                    <a:pt x="1920" y="11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cs typeface="Calibri" panose="020F0502020204030204" pitchFamily="34" charset="0"/>
              </a:endParaRPr>
            </a:p>
          </p:txBody>
        </p:sp>
        <p:sp>
          <p:nvSpPr>
            <p:cNvPr id="165" name="Freeform 67">
              <a:extLst>
                <a:ext uri="{FF2B5EF4-FFF2-40B4-BE49-F238E27FC236}">
                  <a16:creationId xmlns:a16="http://schemas.microsoft.com/office/drawing/2014/main" id="{1DDFD453-D81D-058C-F4F4-FFD6052E674E}"/>
                </a:ext>
              </a:extLst>
            </p:cNvPr>
            <p:cNvSpPr>
              <a:spLocks/>
            </p:cNvSpPr>
            <p:nvPr/>
          </p:nvSpPr>
          <p:spPr bwMode="auto">
            <a:xfrm>
              <a:off x="5897563" y="3529013"/>
              <a:ext cx="1293813" cy="1673225"/>
            </a:xfrm>
            <a:custGeom>
              <a:avLst/>
              <a:gdLst>
                <a:gd name="T0" fmla="*/ 0 w 1222"/>
                <a:gd name="T1" fmla="*/ 1581 h 1581"/>
                <a:gd name="T2" fmla="*/ 128 w 1222"/>
                <a:gd name="T3" fmla="*/ 1581 h 1581"/>
                <a:gd name="T4" fmla="*/ 128 w 1222"/>
                <a:gd name="T5" fmla="*/ 1069 h 1581"/>
                <a:gd name="T6" fmla="*/ 576 w 1222"/>
                <a:gd name="T7" fmla="*/ 557 h 1581"/>
                <a:gd name="T8" fmla="*/ 998 w 1222"/>
                <a:gd name="T9" fmla="*/ 557 h 1581"/>
                <a:gd name="T10" fmla="*/ 659 w 1222"/>
                <a:gd name="T11" fmla="*/ 896 h 1581"/>
                <a:gd name="T12" fmla="*/ 749 w 1222"/>
                <a:gd name="T13" fmla="*/ 986 h 1581"/>
                <a:gd name="T14" fmla="*/ 1197 w 1222"/>
                <a:gd name="T15" fmla="*/ 538 h 1581"/>
                <a:gd name="T16" fmla="*/ 1197 w 1222"/>
                <a:gd name="T17" fmla="*/ 448 h 1581"/>
                <a:gd name="T18" fmla="*/ 749 w 1222"/>
                <a:gd name="T19" fmla="*/ 0 h 1581"/>
                <a:gd name="T20" fmla="*/ 659 w 1222"/>
                <a:gd name="T21" fmla="*/ 90 h 1581"/>
                <a:gd name="T22" fmla="*/ 998 w 1222"/>
                <a:gd name="T23" fmla="*/ 429 h 1581"/>
                <a:gd name="T24" fmla="*/ 576 w 1222"/>
                <a:gd name="T25" fmla="*/ 429 h 1581"/>
                <a:gd name="T26" fmla="*/ 0 w 1222"/>
                <a:gd name="T27" fmla="*/ 1069 h 1581"/>
                <a:gd name="T28" fmla="*/ 0 w 1222"/>
                <a:gd name="T29" fmla="*/ 1581 h 1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2" h="1581">
                  <a:moveTo>
                    <a:pt x="0" y="1581"/>
                  </a:moveTo>
                  <a:cubicBezTo>
                    <a:pt x="128" y="1581"/>
                    <a:pt x="128" y="1581"/>
                    <a:pt x="128" y="1581"/>
                  </a:cubicBezTo>
                  <a:cubicBezTo>
                    <a:pt x="128" y="1069"/>
                    <a:pt x="128" y="1069"/>
                    <a:pt x="128" y="1069"/>
                  </a:cubicBezTo>
                  <a:cubicBezTo>
                    <a:pt x="128" y="566"/>
                    <a:pt x="558" y="557"/>
                    <a:pt x="576" y="557"/>
                  </a:cubicBezTo>
                  <a:cubicBezTo>
                    <a:pt x="998" y="557"/>
                    <a:pt x="998" y="557"/>
                    <a:pt x="998" y="557"/>
                  </a:cubicBezTo>
                  <a:cubicBezTo>
                    <a:pt x="659" y="896"/>
                    <a:pt x="659" y="896"/>
                    <a:pt x="659" y="896"/>
                  </a:cubicBezTo>
                  <a:cubicBezTo>
                    <a:pt x="749" y="986"/>
                    <a:pt x="749" y="986"/>
                    <a:pt x="749" y="986"/>
                  </a:cubicBezTo>
                  <a:cubicBezTo>
                    <a:pt x="1197" y="538"/>
                    <a:pt x="1197" y="538"/>
                    <a:pt x="1197" y="538"/>
                  </a:cubicBezTo>
                  <a:cubicBezTo>
                    <a:pt x="1222" y="513"/>
                    <a:pt x="1222" y="473"/>
                    <a:pt x="1197" y="448"/>
                  </a:cubicBezTo>
                  <a:cubicBezTo>
                    <a:pt x="749" y="0"/>
                    <a:pt x="749" y="0"/>
                    <a:pt x="749" y="0"/>
                  </a:cubicBezTo>
                  <a:cubicBezTo>
                    <a:pt x="659" y="90"/>
                    <a:pt x="659" y="90"/>
                    <a:pt x="659" y="90"/>
                  </a:cubicBezTo>
                  <a:cubicBezTo>
                    <a:pt x="998" y="429"/>
                    <a:pt x="998" y="429"/>
                    <a:pt x="998" y="429"/>
                  </a:cubicBezTo>
                  <a:cubicBezTo>
                    <a:pt x="576" y="429"/>
                    <a:pt x="576" y="429"/>
                    <a:pt x="576" y="429"/>
                  </a:cubicBezTo>
                  <a:cubicBezTo>
                    <a:pt x="570" y="429"/>
                    <a:pt x="0" y="436"/>
                    <a:pt x="0" y="1069"/>
                  </a:cubicBezTo>
                  <a:lnTo>
                    <a:pt x="0" y="15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cs typeface="Calibri" panose="020F0502020204030204" pitchFamily="34" charset="0"/>
              </a:endParaRPr>
            </a:p>
          </p:txBody>
        </p:sp>
      </p:grpSp>
      <p:grpSp>
        <p:nvGrpSpPr>
          <p:cNvPr id="167" name="Group 166">
            <a:extLst>
              <a:ext uri="{FF2B5EF4-FFF2-40B4-BE49-F238E27FC236}">
                <a16:creationId xmlns:a16="http://schemas.microsoft.com/office/drawing/2014/main" id="{13E1CB97-92D7-098F-D0B7-35B55901EF54}"/>
              </a:ext>
            </a:extLst>
          </p:cNvPr>
          <p:cNvGrpSpPr/>
          <p:nvPr/>
        </p:nvGrpSpPr>
        <p:grpSpPr>
          <a:xfrm>
            <a:off x="1522977" y="2266376"/>
            <a:ext cx="7790752" cy="1668011"/>
            <a:chOff x="1656366" y="2601116"/>
            <a:chExt cx="7790752" cy="2973556"/>
          </a:xfrm>
        </p:grpSpPr>
        <p:cxnSp>
          <p:nvCxnSpPr>
            <p:cNvPr id="168" name="Straight Connector 167">
              <a:extLst>
                <a:ext uri="{FF2B5EF4-FFF2-40B4-BE49-F238E27FC236}">
                  <a16:creationId xmlns:a16="http://schemas.microsoft.com/office/drawing/2014/main" id="{1D312D6F-7808-B509-1621-C521322F617B}"/>
                </a:ext>
              </a:extLst>
            </p:cNvPr>
            <p:cNvCxnSpPr/>
            <p:nvPr/>
          </p:nvCxnSpPr>
          <p:spPr>
            <a:xfrm>
              <a:off x="1656366" y="2601116"/>
              <a:ext cx="0" cy="2949810"/>
            </a:xfrm>
            <a:prstGeom prst="line">
              <a:avLst/>
            </a:prstGeom>
            <a:noFill/>
            <a:ln w="6350" cap="flat" cmpd="sng" algn="ctr">
              <a:solidFill>
                <a:srgbClr val="FFFFFF">
                  <a:lumMod val="65000"/>
                </a:srgbClr>
              </a:solidFill>
              <a:prstDash val="solid"/>
              <a:miter lim="800000"/>
            </a:ln>
            <a:effectLst/>
          </p:spPr>
        </p:cxnSp>
        <p:cxnSp>
          <p:nvCxnSpPr>
            <p:cNvPr id="169" name="Straight Connector 168">
              <a:extLst>
                <a:ext uri="{FF2B5EF4-FFF2-40B4-BE49-F238E27FC236}">
                  <a16:creationId xmlns:a16="http://schemas.microsoft.com/office/drawing/2014/main" id="{2AD1C1E3-517A-8B5D-A1B5-34225341D5B7}"/>
                </a:ext>
              </a:extLst>
            </p:cNvPr>
            <p:cNvCxnSpPr/>
            <p:nvPr/>
          </p:nvCxnSpPr>
          <p:spPr>
            <a:xfrm>
              <a:off x="2958992" y="2601116"/>
              <a:ext cx="0" cy="2949810"/>
            </a:xfrm>
            <a:prstGeom prst="line">
              <a:avLst/>
            </a:prstGeom>
            <a:noFill/>
            <a:ln w="6350" cap="flat" cmpd="sng" algn="ctr">
              <a:solidFill>
                <a:srgbClr val="FFFFFF">
                  <a:lumMod val="65000"/>
                </a:srgbClr>
              </a:solidFill>
              <a:prstDash val="solid"/>
              <a:miter lim="800000"/>
            </a:ln>
            <a:effectLst/>
          </p:spPr>
        </p:cxnSp>
        <p:cxnSp>
          <p:nvCxnSpPr>
            <p:cNvPr id="170" name="Straight Connector 169">
              <a:extLst>
                <a:ext uri="{FF2B5EF4-FFF2-40B4-BE49-F238E27FC236}">
                  <a16:creationId xmlns:a16="http://schemas.microsoft.com/office/drawing/2014/main" id="{F58FD03B-28AE-8845-DA29-E5EE4ADF0E7E}"/>
                </a:ext>
              </a:extLst>
            </p:cNvPr>
            <p:cNvCxnSpPr/>
            <p:nvPr/>
          </p:nvCxnSpPr>
          <p:spPr>
            <a:xfrm>
              <a:off x="5536446" y="2601116"/>
              <a:ext cx="0" cy="2949810"/>
            </a:xfrm>
            <a:prstGeom prst="line">
              <a:avLst/>
            </a:prstGeom>
            <a:noFill/>
            <a:ln w="6350" cap="flat" cmpd="sng" algn="ctr">
              <a:solidFill>
                <a:srgbClr val="FFFFFF">
                  <a:lumMod val="65000"/>
                </a:srgbClr>
              </a:solidFill>
              <a:prstDash val="solid"/>
              <a:miter lim="800000"/>
            </a:ln>
            <a:effectLst/>
          </p:spPr>
        </p:cxnSp>
        <p:cxnSp>
          <p:nvCxnSpPr>
            <p:cNvPr id="171" name="Straight Connector 170">
              <a:extLst>
                <a:ext uri="{FF2B5EF4-FFF2-40B4-BE49-F238E27FC236}">
                  <a16:creationId xmlns:a16="http://schemas.microsoft.com/office/drawing/2014/main" id="{EFCE90D9-BDDE-04FA-4B93-A060FC34DA59}"/>
                </a:ext>
              </a:extLst>
            </p:cNvPr>
            <p:cNvCxnSpPr/>
            <p:nvPr/>
          </p:nvCxnSpPr>
          <p:spPr>
            <a:xfrm>
              <a:off x="6812879" y="2601116"/>
              <a:ext cx="0" cy="2949810"/>
            </a:xfrm>
            <a:prstGeom prst="line">
              <a:avLst/>
            </a:prstGeom>
            <a:noFill/>
            <a:ln w="6350" cap="flat" cmpd="sng" algn="ctr">
              <a:solidFill>
                <a:srgbClr val="FFFFFF">
                  <a:lumMod val="65000"/>
                </a:srgbClr>
              </a:solidFill>
              <a:prstDash val="solid"/>
              <a:miter lim="800000"/>
            </a:ln>
            <a:effectLst/>
          </p:spPr>
        </p:cxnSp>
        <p:cxnSp>
          <p:nvCxnSpPr>
            <p:cNvPr id="172" name="Straight Connector 171">
              <a:extLst>
                <a:ext uri="{FF2B5EF4-FFF2-40B4-BE49-F238E27FC236}">
                  <a16:creationId xmlns:a16="http://schemas.microsoft.com/office/drawing/2014/main" id="{0B73D9DB-0823-DF40-C8A4-5771F71AE19C}"/>
                </a:ext>
              </a:extLst>
            </p:cNvPr>
            <p:cNvCxnSpPr/>
            <p:nvPr/>
          </p:nvCxnSpPr>
          <p:spPr>
            <a:xfrm>
              <a:off x="8138036" y="2624862"/>
              <a:ext cx="0" cy="2949810"/>
            </a:xfrm>
            <a:prstGeom prst="line">
              <a:avLst/>
            </a:prstGeom>
            <a:noFill/>
            <a:ln w="6350" cap="flat" cmpd="sng" algn="ctr">
              <a:solidFill>
                <a:srgbClr val="FFFFFF">
                  <a:lumMod val="65000"/>
                </a:srgbClr>
              </a:solidFill>
              <a:prstDash val="solid"/>
              <a:miter lim="800000"/>
            </a:ln>
            <a:effectLst/>
          </p:spPr>
        </p:cxnSp>
        <p:cxnSp>
          <p:nvCxnSpPr>
            <p:cNvPr id="173" name="Straight Connector 172">
              <a:extLst>
                <a:ext uri="{FF2B5EF4-FFF2-40B4-BE49-F238E27FC236}">
                  <a16:creationId xmlns:a16="http://schemas.microsoft.com/office/drawing/2014/main" id="{ABC4C739-A43A-5780-8816-BBF70AC2326C}"/>
                </a:ext>
              </a:extLst>
            </p:cNvPr>
            <p:cNvCxnSpPr/>
            <p:nvPr/>
          </p:nvCxnSpPr>
          <p:spPr>
            <a:xfrm>
              <a:off x="9447118" y="2601116"/>
              <a:ext cx="0" cy="2949810"/>
            </a:xfrm>
            <a:prstGeom prst="line">
              <a:avLst/>
            </a:prstGeom>
            <a:noFill/>
            <a:ln w="6350" cap="flat" cmpd="sng" algn="ctr">
              <a:solidFill>
                <a:srgbClr val="FFFFFF">
                  <a:lumMod val="65000"/>
                </a:srgbClr>
              </a:solidFill>
              <a:prstDash val="solid"/>
              <a:miter lim="800000"/>
            </a:ln>
            <a:effectLst/>
          </p:spPr>
        </p:cxnSp>
      </p:grpSp>
      <p:sp>
        <p:nvSpPr>
          <p:cNvPr id="200" name="Arrow: Pentagon 199">
            <a:extLst>
              <a:ext uri="{FF2B5EF4-FFF2-40B4-BE49-F238E27FC236}">
                <a16:creationId xmlns:a16="http://schemas.microsoft.com/office/drawing/2014/main" id="{486C06BA-3E0E-0BC9-5C48-86A7E631F708}"/>
              </a:ext>
            </a:extLst>
          </p:cNvPr>
          <p:cNvSpPr/>
          <p:nvPr/>
        </p:nvSpPr>
        <p:spPr>
          <a:xfrm rot="5400000">
            <a:off x="10943581" y="1538680"/>
            <a:ext cx="663747" cy="815387"/>
          </a:xfrm>
          <a:prstGeom prst="homePlate">
            <a:avLst>
              <a:gd name="adj" fmla="val 50000"/>
            </a:avLst>
          </a:prstGeom>
          <a:solidFill>
            <a:schemeClr val="accent3"/>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1" i="0" u="none" strike="noStrike" kern="0" cap="none" spc="0" normalizeH="0" baseline="0" noProof="0">
              <a:ln>
                <a:noFill/>
              </a:ln>
              <a:solidFill>
                <a:srgbClr val="FFFFFF"/>
              </a:solidFill>
              <a:effectLst/>
              <a:uLnTx/>
              <a:uFillTx/>
              <a:ea typeface="+mn-ea"/>
              <a:cs typeface="Calibri" panose="020F0502020204030204" pitchFamily="34" charset="0"/>
            </a:endParaRPr>
          </a:p>
        </p:txBody>
      </p:sp>
      <p:sp>
        <p:nvSpPr>
          <p:cNvPr id="201" name="TextBox 200">
            <a:extLst>
              <a:ext uri="{FF2B5EF4-FFF2-40B4-BE49-F238E27FC236}">
                <a16:creationId xmlns:a16="http://schemas.microsoft.com/office/drawing/2014/main" id="{A0C4385E-1453-DB73-2721-2FB1C1023690}"/>
              </a:ext>
            </a:extLst>
          </p:cNvPr>
          <p:cNvSpPr txBox="1"/>
          <p:nvPr/>
        </p:nvSpPr>
        <p:spPr>
          <a:xfrm>
            <a:off x="10881727" y="1726230"/>
            <a:ext cx="790836" cy="184666"/>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cs typeface="Calibri" panose="020F0502020204030204" pitchFamily="34" charset="0"/>
              </a:rPr>
              <a:t>Support</a:t>
            </a:r>
          </a:p>
        </p:txBody>
      </p:sp>
      <p:sp>
        <p:nvSpPr>
          <p:cNvPr id="202" name="Rectangle 201">
            <a:extLst>
              <a:ext uri="{FF2B5EF4-FFF2-40B4-BE49-F238E27FC236}">
                <a16:creationId xmlns:a16="http://schemas.microsoft.com/office/drawing/2014/main" id="{821F8C2F-8412-42DA-D138-DFFA6A1F5120}"/>
              </a:ext>
            </a:extLst>
          </p:cNvPr>
          <p:cNvSpPr/>
          <p:nvPr/>
        </p:nvSpPr>
        <p:spPr>
          <a:xfrm>
            <a:off x="10711127" y="2140948"/>
            <a:ext cx="1102955" cy="1841654"/>
          </a:xfrm>
          <a:prstGeom prst="rect">
            <a:avLst/>
          </a:prstGeom>
          <a:solidFill>
            <a:schemeClr val="accent6"/>
          </a:solidFill>
          <a:ln w="12700" cap="flat" cmpd="sng" algn="ctr">
            <a:noFill/>
            <a:prstDash val="solid"/>
            <a:miter lim="800000"/>
          </a:ln>
          <a:effectLst/>
        </p:spPr>
        <p:txBody>
          <a:bodyPr lIns="91440" rIns="0" rtlCol="0" anchor="t"/>
          <a:lstStyle/>
          <a:p>
            <a:pPr marL="182880" marR="0" lvl="0" indent="-182880" defTabSz="685800" eaLnBrk="1" fontAlgn="auto" latinLnBrk="0" hangingPunct="1">
              <a:lnSpc>
                <a:spcPct val="100000"/>
              </a:lnSpc>
              <a:spcBef>
                <a:spcPts val="0"/>
              </a:spcBef>
              <a:spcAft>
                <a:spcPts val="600"/>
              </a:spcAft>
              <a:buClr>
                <a:srgbClr val="FB4E0B"/>
              </a:buClr>
              <a:buSzTx/>
              <a:buFont typeface="Calibri" panose="020F0502020204030204" pitchFamily="34" charset="0"/>
              <a:buChar char="•"/>
              <a:tabLst/>
              <a:defRPr/>
            </a:pPr>
            <a:r>
              <a:rPr lang="en-US" sz="1050" kern="0">
                <a:cs typeface="Calibri" panose="020F0502020204030204" pitchFamily="34" charset="0"/>
              </a:rPr>
              <a:t>Automated process for audit review  </a:t>
            </a:r>
            <a:endParaRPr kumimoji="0" lang="en-US" sz="1050" i="0" u="none" strike="noStrike" kern="0" cap="none" spc="0" normalizeH="0" baseline="0" noProof="0">
              <a:ln>
                <a:noFill/>
              </a:ln>
              <a:effectLst/>
              <a:uLnTx/>
              <a:uFillTx/>
              <a:ea typeface="+mn-ea"/>
              <a:cs typeface="Calibri" panose="020F0502020204030204" pitchFamily="34" charset="0"/>
            </a:endParaRPr>
          </a:p>
          <a:p>
            <a:pPr marL="182880" marR="0" lvl="0" indent="-182880" defTabSz="685800" eaLnBrk="1" fontAlgn="auto" latinLnBrk="0" hangingPunct="1">
              <a:lnSpc>
                <a:spcPct val="100000"/>
              </a:lnSpc>
              <a:spcBef>
                <a:spcPts val="0"/>
              </a:spcBef>
              <a:spcAft>
                <a:spcPts val="600"/>
              </a:spcAft>
              <a:buClr>
                <a:srgbClr val="FB4E0B"/>
              </a:buClr>
              <a:buSzTx/>
              <a:buFont typeface="Calibri" panose="020F0502020204030204" pitchFamily="34" charset="0"/>
              <a:buChar char="•"/>
              <a:tabLst/>
              <a:defRPr/>
            </a:pPr>
            <a:r>
              <a:rPr lang="en-US" sz="1050"/>
              <a:t>Remain available for walkthroughs, clarifications, and issue remediation.</a:t>
            </a:r>
            <a:endParaRPr kumimoji="0" lang="en-US" sz="1050" i="0" u="none" strike="noStrike" kern="0" cap="none" spc="0" normalizeH="0" baseline="0" noProof="0">
              <a:ln>
                <a:noFill/>
              </a:ln>
              <a:effectLst/>
              <a:uLnTx/>
              <a:uFillTx/>
              <a:ea typeface="+mn-ea"/>
              <a:cs typeface="Calibri" panose="020F0502020204030204" pitchFamily="34" charset="0"/>
            </a:endParaRPr>
          </a:p>
        </p:txBody>
      </p:sp>
      <p:cxnSp>
        <p:nvCxnSpPr>
          <p:cNvPr id="203" name="Straight Connector 202">
            <a:extLst>
              <a:ext uri="{FF2B5EF4-FFF2-40B4-BE49-F238E27FC236}">
                <a16:creationId xmlns:a16="http://schemas.microsoft.com/office/drawing/2014/main" id="{D50E30D9-369B-E824-1882-B615FDCB5810}"/>
              </a:ext>
            </a:extLst>
          </p:cNvPr>
          <p:cNvCxnSpPr>
            <a:cxnSpLocks/>
          </p:cNvCxnSpPr>
          <p:nvPr/>
        </p:nvCxnSpPr>
        <p:spPr>
          <a:xfrm flipH="1">
            <a:off x="370111" y="3984446"/>
            <a:ext cx="10306967" cy="0"/>
          </a:xfrm>
          <a:prstGeom prst="line">
            <a:avLst/>
          </a:prstGeom>
          <a:noFill/>
          <a:ln w="6350" cap="flat" cmpd="sng" algn="ctr">
            <a:solidFill>
              <a:srgbClr val="FFFFFF">
                <a:lumMod val="65000"/>
              </a:srgbClr>
            </a:solidFill>
            <a:prstDash val="solid"/>
            <a:miter lim="800000"/>
          </a:ln>
          <a:effectLst/>
        </p:spPr>
      </p:cxnSp>
      <p:sp>
        <p:nvSpPr>
          <p:cNvPr id="8" name="TextBox 7">
            <a:extLst>
              <a:ext uri="{FF2B5EF4-FFF2-40B4-BE49-F238E27FC236}">
                <a16:creationId xmlns:a16="http://schemas.microsoft.com/office/drawing/2014/main" id="{E63DFD45-A6BF-03DC-BCF9-65DEF5C259AA}"/>
              </a:ext>
            </a:extLst>
          </p:cNvPr>
          <p:cNvSpPr txBox="1"/>
          <p:nvPr/>
        </p:nvSpPr>
        <p:spPr>
          <a:xfrm>
            <a:off x="363847" y="4093945"/>
            <a:ext cx="3201191" cy="2410805"/>
          </a:xfrm>
          <a:prstGeom prst="rect">
            <a:avLst/>
          </a:prstGeom>
          <a:ln/>
        </p:spPr>
        <p:style>
          <a:lnRef idx="3">
            <a:schemeClr val="lt1"/>
          </a:lnRef>
          <a:fillRef idx="1">
            <a:schemeClr val="accent6"/>
          </a:fillRef>
          <a:effectRef idx="1">
            <a:schemeClr val="accent6"/>
          </a:effectRef>
          <a:fontRef idx="minor">
            <a:schemeClr val="lt1"/>
          </a:fontRef>
        </p:style>
        <p:txBody>
          <a:bodyPr wrap="square" lIns="274320" tIns="0" rIns="91440" bIns="0" rtlCol="0" anchor="ctr">
            <a:noAutofit/>
          </a:bodyPr>
          <a:lstStyle/>
          <a:p>
            <a:pPr>
              <a:defRPr/>
            </a:pPr>
            <a:r>
              <a:rPr lang="en-US" sz="1600" b="1">
                <a:solidFill>
                  <a:srgbClr val="FF6503"/>
                </a:solidFill>
                <a:latin typeface="Arial"/>
                <a:cs typeface="Arial"/>
              </a:rPr>
              <a:t>Key Tasks</a:t>
            </a:r>
            <a:endParaRPr lang="en-US" sz="1600">
              <a:solidFill>
                <a:schemeClr val="tx1"/>
              </a:solidFill>
              <a:latin typeface="Arial"/>
              <a:cs typeface="Arial"/>
            </a:endParaRPr>
          </a:p>
          <a:p>
            <a:pPr marL="171450" lvl="0" indent="-171450">
              <a:buFont typeface="Arial" panose="020B0604020202020204" pitchFamily="34" charset="0"/>
              <a:buChar char="•"/>
              <a:defRPr/>
            </a:pPr>
            <a:r>
              <a:rPr lang="en-US" sz="1100" b="1">
                <a:solidFill>
                  <a:schemeClr val="tx1"/>
                </a:solidFill>
                <a:cs typeface="Arial"/>
              </a:rPr>
              <a:t>Developed</a:t>
            </a:r>
            <a:r>
              <a:rPr lang="en-US" sz="1100">
                <a:solidFill>
                  <a:schemeClr val="tx1"/>
                </a:solidFill>
                <a:cs typeface="Arial"/>
              </a:rPr>
              <a:t> AXIS models for </a:t>
            </a:r>
            <a:r>
              <a:rPr lang="en-US" sz="1100">
                <a:solidFill>
                  <a:schemeClr val="tx1"/>
                </a:solidFill>
              </a:rPr>
              <a:t>annuity products </a:t>
            </a:r>
            <a:endParaRPr lang="en-US" sz="1100">
              <a:solidFill>
                <a:schemeClr val="tx1"/>
              </a:solidFill>
              <a:ea typeface="Calibri"/>
              <a:cs typeface="Arial"/>
            </a:endParaRPr>
          </a:p>
          <a:p>
            <a:pPr marL="171450" lvl="0" indent="-171450">
              <a:buFont typeface="Arial" panose="020B0604020202020204" pitchFamily="34" charset="0"/>
              <a:buChar char="•"/>
              <a:defRPr/>
            </a:pPr>
            <a:r>
              <a:rPr lang="en-US" sz="1100">
                <a:solidFill>
                  <a:schemeClr val="tx1"/>
                </a:solidFill>
                <a:cs typeface="Arial"/>
              </a:rPr>
              <a:t>Built </a:t>
            </a:r>
            <a:r>
              <a:rPr lang="en-US" sz="1100" b="1">
                <a:solidFill>
                  <a:schemeClr val="tx1"/>
                </a:solidFill>
                <a:cs typeface="Arial"/>
              </a:rPr>
              <a:t>robust Excel Validator Tool </a:t>
            </a:r>
            <a:r>
              <a:rPr lang="en-US" sz="1100">
                <a:solidFill>
                  <a:schemeClr val="tx1"/>
                </a:solidFill>
                <a:cs typeface="Arial"/>
              </a:rPr>
              <a:t>to audit and review AXIS model outputs.</a:t>
            </a:r>
            <a:endParaRPr lang="en-US" sz="1100">
              <a:solidFill>
                <a:schemeClr val="tx1"/>
              </a:solidFill>
              <a:ea typeface="Calibri"/>
              <a:cs typeface="Arial"/>
            </a:endParaRPr>
          </a:p>
          <a:p>
            <a:pPr marL="171450" lvl="0" indent="-171450">
              <a:buFont typeface="Arial" panose="020B0604020202020204" pitchFamily="34" charset="0"/>
              <a:buChar char="•"/>
              <a:defRPr/>
            </a:pPr>
            <a:r>
              <a:rPr lang="en-US" sz="1100" b="1">
                <a:solidFill>
                  <a:schemeClr val="tx1"/>
                </a:solidFill>
                <a:cs typeface="Arial"/>
              </a:rPr>
              <a:t>Automate</a:t>
            </a:r>
            <a:r>
              <a:rPr lang="en-US" sz="1100">
                <a:solidFill>
                  <a:schemeClr val="tx1"/>
                </a:solidFill>
                <a:cs typeface="Arial"/>
              </a:rPr>
              <a:t> sub-processes to streamline validation, reduce manual errors, and improve model traceability.</a:t>
            </a:r>
            <a:endParaRPr lang="en-US" sz="1100">
              <a:solidFill>
                <a:schemeClr val="tx1"/>
              </a:solidFill>
              <a:ea typeface="Calibri"/>
              <a:cs typeface="Arial"/>
            </a:endParaRPr>
          </a:p>
          <a:p>
            <a:pPr marL="171450" indent="-171450">
              <a:buFont typeface="Arial" panose="020B0604020202020204" pitchFamily="34" charset="0"/>
              <a:buChar char="•"/>
              <a:defRPr/>
            </a:pPr>
            <a:r>
              <a:rPr lang="en-US" sz="1100">
                <a:solidFill>
                  <a:schemeClr val="tx1"/>
                </a:solidFill>
                <a:cs typeface="Arial"/>
              </a:rPr>
              <a:t>Perform </a:t>
            </a:r>
            <a:r>
              <a:rPr lang="en-US" sz="1100" b="1">
                <a:solidFill>
                  <a:schemeClr val="tx1"/>
                </a:solidFill>
                <a:cs typeface="Arial"/>
              </a:rPr>
              <a:t>quarterly roll-forward </a:t>
            </a:r>
            <a:r>
              <a:rPr lang="en-US" sz="1100">
                <a:solidFill>
                  <a:schemeClr val="tx1"/>
                </a:solidFill>
                <a:cs typeface="Arial"/>
              </a:rPr>
              <a:t>and assumption unlocking processes </a:t>
            </a:r>
            <a:endParaRPr lang="en-US" sz="1100">
              <a:solidFill>
                <a:schemeClr val="tx1"/>
              </a:solidFill>
              <a:ea typeface="Calibri"/>
              <a:cs typeface="Arial"/>
            </a:endParaRPr>
          </a:p>
          <a:p>
            <a:pPr marL="171450" indent="-171450">
              <a:buFont typeface="Arial" panose="020B0604020202020204" pitchFamily="34" charset="0"/>
              <a:buChar char="•"/>
              <a:defRPr/>
            </a:pPr>
            <a:r>
              <a:rPr lang="en-US" sz="1100">
                <a:solidFill>
                  <a:schemeClr val="tx1"/>
                </a:solidFill>
                <a:cs typeface="Arial"/>
              </a:rPr>
              <a:t>Implement </a:t>
            </a:r>
            <a:r>
              <a:rPr lang="en-US" sz="1100" b="1">
                <a:solidFill>
                  <a:schemeClr val="tx1"/>
                </a:solidFill>
                <a:cs typeface="Arial"/>
              </a:rPr>
              <a:t>standardized</a:t>
            </a:r>
            <a:r>
              <a:rPr lang="en-US" sz="1100">
                <a:solidFill>
                  <a:schemeClr val="tx1"/>
                </a:solidFill>
                <a:cs typeface="Arial"/>
              </a:rPr>
              <a:t> actuarial logic and assumptions via AXIS libraries.</a:t>
            </a:r>
            <a:endParaRPr lang="en-US" sz="1100">
              <a:solidFill>
                <a:schemeClr val="tx1"/>
              </a:solidFill>
              <a:ea typeface="Calibri"/>
              <a:cs typeface="Arial"/>
            </a:endParaRPr>
          </a:p>
          <a:p>
            <a:pPr marL="171450" indent="-171450">
              <a:buFont typeface="Arial" panose="020B0604020202020204" pitchFamily="34" charset="0"/>
              <a:buChar char="•"/>
              <a:defRPr/>
            </a:pPr>
            <a:r>
              <a:rPr lang="en-US" sz="1100">
                <a:solidFill>
                  <a:schemeClr val="tx1"/>
                </a:solidFill>
                <a:cs typeface="Arial"/>
              </a:rPr>
              <a:t>Ensure </a:t>
            </a:r>
            <a:r>
              <a:rPr lang="en-US" sz="1100" b="1">
                <a:solidFill>
                  <a:schemeClr val="tx1"/>
                </a:solidFill>
                <a:cs typeface="Arial"/>
              </a:rPr>
              <a:t>model integration </a:t>
            </a:r>
            <a:r>
              <a:rPr lang="en-US" sz="1100">
                <a:solidFill>
                  <a:schemeClr val="tx1"/>
                </a:solidFill>
                <a:cs typeface="Arial"/>
              </a:rPr>
              <a:t>with assumptions and evolving product specs.</a:t>
            </a:r>
            <a:endParaRPr lang="en-US" sz="1100">
              <a:solidFill>
                <a:schemeClr val="tx1"/>
              </a:solidFill>
              <a:ea typeface="Calibri"/>
              <a:cs typeface="Arial"/>
            </a:endParaRPr>
          </a:p>
        </p:txBody>
      </p:sp>
      <p:sp>
        <p:nvSpPr>
          <p:cNvPr id="10" name="TextBox 9">
            <a:extLst>
              <a:ext uri="{FF2B5EF4-FFF2-40B4-BE49-F238E27FC236}">
                <a16:creationId xmlns:a16="http://schemas.microsoft.com/office/drawing/2014/main" id="{CB5AB02A-A548-3E62-1C09-F7625F76C18A}"/>
              </a:ext>
            </a:extLst>
          </p:cNvPr>
          <p:cNvSpPr txBox="1"/>
          <p:nvPr/>
        </p:nvSpPr>
        <p:spPr>
          <a:xfrm>
            <a:off x="3799042" y="4097836"/>
            <a:ext cx="4319147" cy="2406840"/>
          </a:xfrm>
          <a:prstGeom prst="rect">
            <a:avLst/>
          </a:prstGeom>
          <a:ln/>
        </p:spPr>
        <p:style>
          <a:lnRef idx="3">
            <a:schemeClr val="lt1"/>
          </a:lnRef>
          <a:fillRef idx="1">
            <a:schemeClr val="accent6"/>
          </a:fillRef>
          <a:effectRef idx="1">
            <a:schemeClr val="accent6"/>
          </a:effectRef>
          <a:fontRef idx="minor">
            <a:schemeClr val="lt1"/>
          </a:fontRef>
        </p:style>
        <p:txBody>
          <a:bodyPr wrap="square" lIns="274320" tIns="0" rIns="91440" bIns="0" rtlCol="0" anchor="ctr">
            <a:noAutofit/>
          </a:bodyPr>
          <a:lstStyle/>
          <a:p>
            <a:pPr defTabSz="914400" eaLnBrk="0" fontAlgn="base" hangingPunct="0">
              <a:spcBef>
                <a:spcPct val="0"/>
              </a:spcBef>
              <a:spcAft>
                <a:spcPct val="0"/>
              </a:spcAft>
            </a:pPr>
            <a:r>
              <a:rPr lang="en-US" sz="1600" b="1">
                <a:solidFill>
                  <a:srgbClr val="FF6503"/>
                </a:solidFill>
                <a:latin typeface="Arial"/>
                <a:cs typeface="Arial"/>
              </a:rPr>
              <a:t>Challenges</a:t>
            </a:r>
            <a:endParaRPr lang="en-US" altLang="en-US" sz="1100">
              <a:solidFill>
                <a:srgbClr val="000000"/>
              </a:solidFill>
              <a:latin typeface="Calibri" panose="020F0502020204030204"/>
              <a:ea typeface="Calibri" panose="020F0502020204030204"/>
              <a:cs typeface="Calibri" panose="020F0502020204030204"/>
            </a:endParaRPr>
          </a:p>
          <a:p>
            <a:pPr defTabSz="914400">
              <a:spcBef>
                <a:spcPct val="0"/>
              </a:spcBef>
              <a:spcAft>
                <a:spcPct val="0"/>
              </a:spcAft>
              <a:buFont typeface="Arial"/>
              <a:buChar char="•"/>
            </a:pPr>
            <a:r>
              <a:rPr lang="en-US" altLang="en-US" sz="1100" b="1">
                <a:solidFill>
                  <a:schemeClr val="tx1"/>
                </a:solidFill>
              </a:rPr>
              <a:t>Input</a:t>
            </a:r>
            <a:r>
              <a:rPr kumimoji="0" lang="en-US" altLang="en-US" sz="1100" b="1" i="0" u="none" strike="noStrike" cap="none" normalizeH="0" baseline="0">
                <a:ln>
                  <a:noFill/>
                </a:ln>
                <a:solidFill>
                  <a:schemeClr val="tx1"/>
                </a:solidFill>
                <a:effectLst/>
              </a:rPr>
              <a:t> Data Issues:</a:t>
            </a:r>
            <a:r>
              <a:rPr lang="en-US" altLang="en-US" sz="1100" b="1">
                <a:solidFill>
                  <a:schemeClr val="tx1"/>
                </a:solidFill>
              </a:rPr>
              <a:t> - </a:t>
            </a:r>
            <a:r>
              <a:rPr lang="en-US" sz="1100">
                <a:solidFill>
                  <a:schemeClr val="tx1"/>
                </a:solidFill>
              </a:rPr>
              <a:t>Data quality issues and errors surfaced post-run, with missing or incorrect data and limited traceability in large datasets.</a:t>
            </a:r>
            <a:endParaRPr lang="en-US" altLang="en-US" sz="1100" b="0" i="0" u="none" strike="noStrike" cap="none" normalizeH="0" baseline="0">
              <a:ln>
                <a:noFill/>
              </a:ln>
              <a:solidFill>
                <a:schemeClr val="tx1"/>
              </a:solidFill>
              <a:effectLst/>
              <a:ea typeface="Calibri" panose="020F0502020204030204"/>
              <a:cs typeface="Calibri" panose="020F0502020204030204"/>
            </a:endParaRPr>
          </a:p>
          <a:p>
            <a:pPr defTabSz="914400" eaLnBrk="0" fontAlgn="base" hangingPunct="0">
              <a:spcBef>
                <a:spcPct val="0"/>
              </a:spcBef>
              <a:spcAft>
                <a:spcPct val="0"/>
              </a:spcAft>
              <a:buFont typeface="Calibri"/>
              <a:buChar char="•"/>
            </a:pPr>
            <a:r>
              <a:rPr kumimoji="0" lang="en-US" altLang="en-US" sz="1100" b="1" i="0" u="none" strike="noStrike" cap="none" normalizeH="0" baseline="0">
                <a:ln>
                  <a:noFill/>
                </a:ln>
                <a:solidFill>
                  <a:schemeClr val="tx1"/>
                </a:solidFill>
                <a:effectLst/>
              </a:rPr>
              <a:t>Complex Product Logic:</a:t>
            </a:r>
            <a:r>
              <a:rPr lang="en-US" altLang="en-US" sz="1100" b="1">
                <a:solidFill>
                  <a:schemeClr val="tx1"/>
                </a:solidFill>
              </a:rPr>
              <a:t> - </a:t>
            </a:r>
            <a:r>
              <a:rPr kumimoji="0" lang="en-US" altLang="en-US" sz="1100" b="0" i="0" u="none" strike="noStrike" cap="none" normalizeH="0" baseline="0">
                <a:ln>
                  <a:noFill/>
                </a:ln>
                <a:solidFill>
                  <a:schemeClr val="tx1"/>
                </a:solidFill>
                <a:effectLst/>
              </a:rPr>
              <a:t>Multiple product variants and riders embedded within a single model.</a:t>
            </a:r>
            <a:endParaRPr lang="en-US" altLang="en-US" sz="1100" b="0" i="0" u="none" strike="noStrike" cap="none" normalizeH="0" baseline="0">
              <a:ln>
                <a:noFill/>
              </a:ln>
              <a:solidFill>
                <a:schemeClr val="tx1"/>
              </a:solidFill>
              <a:effectLst/>
              <a:ea typeface="Calibri" panose="020F0502020204030204"/>
              <a:cs typeface="Calibri" panose="020F0502020204030204"/>
            </a:endParaRPr>
          </a:p>
          <a:p>
            <a:pPr defTabSz="914400" eaLnBrk="0" fontAlgn="base" hangingPunct="0">
              <a:spcBef>
                <a:spcPct val="0"/>
              </a:spcBef>
              <a:spcAft>
                <a:spcPct val="0"/>
              </a:spcAft>
            </a:pPr>
            <a:r>
              <a:rPr lang="en-US" altLang="en-US" sz="1100">
                <a:solidFill>
                  <a:schemeClr val="tx1"/>
                </a:solidFill>
              </a:rPr>
              <a:t>-  </a:t>
            </a:r>
            <a:r>
              <a:rPr kumimoji="0" lang="en-US" altLang="en-US" sz="1100" b="0" i="0" u="none" strike="noStrike" cap="none" normalizeH="0" baseline="0">
                <a:ln>
                  <a:noFill/>
                </a:ln>
                <a:solidFill>
                  <a:schemeClr val="tx1"/>
                </a:solidFill>
                <a:effectLst/>
              </a:rPr>
              <a:t>Legacy models contained outdated formulas and hardcoding.</a:t>
            </a:r>
            <a:endParaRPr lang="en-US" altLang="en-US" sz="1100" b="0" i="0" u="none" strike="noStrike" cap="none" normalizeH="0" baseline="0">
              <a:ln>
                <a:noFill/>
              </a:ln>
              <a:solidFill>
                <a:schemeClr val="tx1"/>
              </a:solidFill>
              <a:effectLst/>
              <a:ea typeface="Calibri" panose="020F0502020204030204"/>
              <a:cs typeface="Calibri" panose="020F0502020204030204"/>
            </a:endParaRPr>
          </a:p>
          <a:p>
            <a:pPr defTabSz="914400" eaLnBrk="0" fontAlgn="base" hangingPunct="0">
              <a:spcBef>
                <a:spcPct val="0"/>
              </a:spcBef>
              <a:spcAft>
                <a:spcPct val="0"/>
              </a:spcAft>
              <a:buFont typeface="Calibri"/>
              <a:buChar char="•"/>
            </a:pPr>
            <a:r>
              <a:rPr kumimoji="0" lang="en-US" altLang="en-US" sz="1100" b="1" i="0" u="none" strike="noStrike" cap="none" normalizeH="0" baseline="0">
                <a:ln>
                  <a:noFill/>
                </a:ln>
                <a:solidFill>
                  <a:schemeClr val="tx1"/>
                </a:solidFill>
                <a:effectLst/>
              </a:rPr>
              <a:t>AXIS Platform Constraints:</a:t>
            </a:r>
            <a:r>
              <a:rPr lang="en-US" altLang="en-US" sz="1100" b="1">
                <a:solidFill>
                  <a:schemeClr val="tx1"/>
                </a:solidFill>
              </a:rPr>
              <a:t> - </a:t>
            </a:r>
            <a:r>
              <a:rPr kumimoji="0" lang="en-US" altLang="en-US" sz="1100" b="0" i="0" u="none" strike="noStrike" cap="none" normalizeH="0" baseline="0">
                <a:ln>
                  <a:noFill/>
                </a:ln>
                <a:solidFill>
                  <a:schemeClr val="tx1"/>
                </a:solidFill>
                <a:effectLst/>
              </a:rPr>
              <a:t>Black-box nature of AXIS </a:t>
            </a:r>
            <a:r>
              <a:rPr lang="en-US" altLang="en-US" sz="1100">
                <a:solidFill>
                  <a:schemeClr val="tx1"/>
                </a:solidFill>
              </a:rPr>
              <a:t>making it</a:t>
            </a:r>
            <a:r>
              <a:rPr kumimoji="0" lang="en-US" altLang="en-US" sz="1100" b="0" i="0" u="none" strike="noStrike" cap="none" normalizeH="0" baseline="0">
                <a:ln>
                  <a:noFill/>
                </a:ln>
                <a:solidFill>
                  <a:schemeClr val="tx1"/>
                </a:solidFill>
                <a:effectLst/>
              </a:rPr>
              <a:t> difficult to understand </a:t>
            </a:r>
            <a:r>
              <a:rPr lang="en-US" altLang="en-US" sz="1100">
                <a:solidFill>
                  <a:schemeClr val="tx1"/>
                </a:solidFill>
              </a:rPr>
              <a:t>b</a:t>
            </a:r>
            <a:r>
              <a:rPr lang="en-US" sz="1100">
                <a:solidFill>
                  <a:schemeClr val="tx1"/>
                </a:solidFill>
              </a:rPr>
              <a:t>uilt-in calculations and assumptions </a:t>
            </a:r>
            <a:r>
              <a:rPr lang="en-US" altLang="en-US" sz="1100">
                <a:solidFill>
                  <a:schemeClr val="tx1"/>
                </a:solidFill>
              </a:rPr>
              <a:t> </a:t>
            </a:r>
            <a:r>
              <a:rPr kumimoji="0" lang="en-US" altLang="en-US" sz="1100" b="0" i="0" u="none" strike="noStrike" cap="none" normalizeH="0" baseline="0">
                <a:ln>
                  <a:noFill/>
                </a:ln>
                <a:solidFill>
                  <a:schemeClr val="tx1"/>
                </a:solidFill>
                <a:effectLst/>
              </a:rPr>
              <a:t>and replicate logic in Excel.</a:t>
            </a:r>
            <a:endParaRPr lang="en-US" altLang="en-US" sz="1100" b="0" i="0" u="none" strike="noStrike" cap="none" normalizeH="0" baseline="0">
              <a:ln>
                <a:noFill/>
              </a:ln>
              <a:solidFill>
                <a:schemeClr val="tx1"/>
              </a:solidFill>
              <a:effectLst/>
              <a:ea typeface="Calibri" panose="020F0502020204030204"/>
              <a:cs typeface="Calibri" panose="020F0502020204030204"/>
            </a:endParaRPr>
          </a:p>
          <a:p>
            <a:pPr defTabSz="914400" eaLnBrk="0" fontAlgn="base" hangingPunct="0">
              <a:spcBef>
                <a:spcPct val="0"/>
              </a:spcBef>
              <a:spcAft>
                <a:spcPct val="0"/>
              </a:spcAft>
              <a:buFont typeface="Calibri"/>
              <a:buChar char="•"/>
            </a:pPr>
            <a:r>
              <a:rPr kumimoji="0" lang="en-US" altLang="en-US" sz="1100" b="1" i="0" u="none" strike="noStrike" cap="none" normalizeH="0" baseline="0">
                <a:ln>
                  <a:noFill/>
                </a:ln>
                <a:solidFill>
                  <a:schemeClr val="tx1"/>
                </a:solidFill>
                <a:effectLst/>
              </a:rPr>
              <a:t>Performance and Runtime Constraints:</a:t>
            </a:r>
            <a:r>
              <a:rPr kumimoji="0" lang="en-US" altLang="en-US" sz="1100" b="0" i="0" u="none" strike="noStrike" cap="none" normalizeH="0" baseline="0">
                <a:ln>
                  <a:noFill/>
                </a:ln>
                <a:solidFill>
                  <a:schemeClr val="tx1"/>
                </a:solidFill>
                <a:effectLst/>
              </a:rPr>
              <a:t>.</a:t>
            </a:r>
            <a:r>
              <a:rPr lang="en-US" altLang="en-US" sz="1100">
                <a:solidFill>
                  <a:schemeClr val="tx1"/>
                </a:solidFill>
              </a:rPr>
              <a:t> - </a:t>
            </a:r>
            <a:r>
              <a:rPr lang="en-US" sz="1100">
                <a:solidFill>
                  <a:schemeClr val="tx1"/>
                </a:solidFill>
              </a:rPr>
              <a:t>Need to optimize model runtimes without compromising on audit transparency or calculation accuracy.</a:t>
            </a:r>
            <a:endParaRPr lang="en-US" altLang="en-US" sz="1100" b="0" i="0" u="none" strike="noStrike" cap="none" normalizeH="0" baseline="0">
              <a:ln>
                <a:noFill/>
              </a:ln>
              <a:solidFill>
                <a:schemeClr val="tx1"/>
              </a:solidFill>
              <a:effectLst/>
              <a:ea typeface="Calibri" panose="020F0502020204030204"/>
              <a:cs typeface="Calibri" panose="020F0502020204030204"/>
            </a:endParaRPr>
          </a:p>
        </p:txBody>
      </p:sp>
      <p:cxnSp>
        <p:nvCxnSpPr>
          <p:cNvPr id="5" name="Straight Connector 4">
            <a:extLst>
              <a:ext uri="{FF2B5EF4-FFF2-40B4-BE49-F238E27FC236}">
                <a16:creationId xmlns:a16="http://schemas.microsoft.com/office/drawing/2014/main" id="{43CB0E9A-0B05-127C-6405-128602A559D8}"/>
              </a:ext>
            </a:extLst>
          </p:cNvPr>
          <p:cNvCxnSpPr/>
          <p:nvPr/>
        </p:nvCxnSpPr>
        <p:spPr>
          <a:xfrm>
            <a:off x="4118288" y="2259282"/>
            <a:ext cx="0" cy="1654691"/>
          </a:xfrm>
          <a:prstGeom prst="line">
            <a:avLst/>
          </a:prstGeom>
          <a:noFill/>
          <a:ln w="6350" cap="flat" cmpd="sng" algn="ctr">
            <a:solidFill>
              <a:srgbClr val="FFFFFF">
                <a:lumMod val="65000"/>
              </a:srgbClr>
            </a:solidFill>
            <a:prstDash val="solid"/>
            <a:miter lim="800000"/>
          </a:ln>
          <a:effectLst/>
        </p:spPr>
      </p:cxnSp>
      <p:pic>
        <p:nvPicPr>
          <p:cNvPr id="9" name="Graphic 8" descr="Internet Of Things outline">
            <a:extLst>
              <a:ext uri="{FF2B5EF4-FFF2-40B4-BE49-F238E27FC236}">
                <a16:creationId xmlns:a16="http://schemas.microsoft.com/office/drawing/2014/main" id="{3E4B3249-7B9C-4A65-55C3-356C4F93D01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214600" y="1064074"/>
            <a:ext cx="532876" cy="532876"/>
          </a:xfrm>
          <a:prstGeom prst="rect">
            <a:avLst/>
          </a:prstGeom>
        </p:spPr>
      </p:pic>
      <p:sp>
        <p:nvSpPr>
          <p:cNvPr id="11" name="Rectangle 10">
            <a:extLst>
              <a:ext uri="{FF2B5EF4-FFF2-40B4-BE49-F238E27FC236}">
                <a16:creationId xmlns:a16="http://schemas.microsoft.com/office/drawing/2014/main" id="{195A5184-6F77-56F1-6407-81B46E1566BC}"/>
              </a:ext>
            </a:extLst>
          </p:cNvPr>
          <p:cNvSpPr/>
          <p:nvPr/>
        </p:nvSpPr>
        <p:spPr>
          <a:xfrm>
            <a:off x="2879152" y="2218471"/>
            <a:ext cx="1261859" cy="2421058"/>
          </a:xfrm>
          <a:prstGeom prst="rect">
            <a:avLst/>
          </a:prstGeom>
          <a:noFill/>
          <a:ln w="6350" cap="flat" cmpd="sng" algn="ctr">
            <a:noFill/>
            <a:prstDash val="solid"/>
            <a:miter lim="800000"/>
          </a:ln>
          <a:effectLst/>
        </p:spPr>
        <p:txBody>
          <a:bodyPr lIns="0" tIns="0" rIns="0" bIns="0" rtlCol="0" anchor="t"/>
          <a:lstStyle/>
          <a:p>
            <a:pPr marL="0" marR="0" lvl="0" indent="0" defTabSz="914400" eaLnBrk="1" fontAlgn="auto" latinLnBrk="0" hangingPunct="1">
              <a:lnSpc>
                <a:spcPct val="100000"/>
              </a:lnSpc>
              <a:spcBef>
                <a:spcPts val="0"/>
              </a:spcBef>
              <a:spcAft>
                <a:spcPts val="0"/>
              </a:spcAft>
              <a:buClrTx/>
              <a:buSzTx/>
              <a:buFontTx/>
              <a:buNone/>
              <a:tabLst/>
              <a:defRPr/>
            </a:pPr>
            <a:r>
              <a:rPr lang="en-US" sz="1200"/>
              <a:t>Built and enhanced </a:t>
            </a:r>
            <a:r>
              <a:rPr lang="en-US" sz="1200" b="1"/>
              <a:t>AXIS model logic</a:t>
            </a:r>
            <a:r>
              <a:rPr lang="en-US" sz="1200"/>
              <a:t> to reflect new product designs and assumption updates.</a:t>
            </a:r>
          </a:p>
          <a:p>
            <a:pPr marL="0" marR="0" lvl="0" indent="0" defTabSz="914400" eaLnBrk="1" fontAlgn="auto" latinLnBrk="0" hangingPunct="1">
              <a:lnSpc>
                <a:spcPct val="100000"/>
              </a:lnSpc>
              <a:spcBef>
                <a:spcPts val="0"/>
              </a:spcBef>
              <a:spcAft>
                <a:spcPts val="0"/>
              </a:spcAft>
              <a:buClrTx/>
              <a:buSzTx/>
              <a:buFontTx/>
              <a:buNone/>
              <a:tabLst/>
              <a:defRPr/>
            </a:pPr>
            <a:r>
              <a:rPr lang="en-US" sz="1200"/>
              <a:t>Maintain, refine, and </a:t>
            </a:r>
            <a:r>
              <a:rPr lang="en-US" sz="1200" b="1"/>
              <a:t>automate</a:t>
            </a:r>
            <a:r>
              <a:rPr lang="en-US" sz="1200"/>
              <a:t> AXIS batch runs.</a:t>
            </a:r>
            <a:endParaRPr kumimoji="0" lang="en-US" sz="1200" i="0" u="none" strike="noStrike" kern="0" cap="none" spc="0" normalizeH="0" baseline="0" noProof="0">
              <a:ln>
                <a:noFill/>
              </a:ln>
              <a:solidFill>
                <a:srgbClr val="000000">
                  <a:lumMod val="85000"/>
                  <a:lumOff val="15000"/>
                </a:srgbClr>
              </a:solidFill>
              <a:effectLst/>
              <a:uLnTx/>
              <a:uFillTx/>
              <a:ea typeface="+mn-ea"/>
              <a:cs typeface="Calibri" panose="020F0502020204030204" pitchFamily="34" charset="0"/>
            </a:endParaRPr>
          </a:p>
        </p:txBody>
      </p:sp>
    </p:spTree>
    <p:extLst>
      <p:ext uri="{BB962C8B-B14F-4D97-AF65-F5344CB8AC3E}">
        <p14:creationId xmlns:p14="http://schemas.microsoft.com/office/powerpoint/2010/main" val="756667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8F5F7-77A8-024A-6F19-70AC345AF31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AB96D9C-DCAF-C5E7-4A1C-4BC93E0FC239}"/>
              </a:ext>
            </a:extLst>
          </p:cNvPr>
          <p:cNvSpPr>
            <a:spLocks noGrp="1"/>
          </p:cNvSpPr>
          <p:nvPr>
            <p:ph type="body" sz="quarter" idx="10"/>
          </p:nvPr>
        </p:nvSpPr>
        <p:spPr/>
        <p:txBody>
          <a:bodyPr/>
          <a:lstStyle/>
          <a:p>
            <a:r>
              <a:rPr lang="en-US" sz="2400"/>
              <a:t>DAC reconciliation tool for GGY AXIS Results Comparison</a:t>
            </a:r>
            <a:endParaRPr lang="en-IN" sz="2400"/>
          </a:p>
        </p:txBody>
      </p:sp>
      <p:sp>
        <p:nvSpPr>
          <p:cNvPr id="3" name="Text Placeholder 2">
            <a:extLst>
              <a:ext uri="{FF2B5EF4-FFF2-40B4-BE49-F238E27FC236}">
                <a16:creationId xmlns:a16="http://schemas.microsoft.com/office/drawing/2014/main" id="{625989DA-831C-C545-8253-AB30F375BC23}"/>
              </a:ext>
            </a:extLst>
          </p:cNvPr>
          <p:cNvSpPr>
            <a:spLocks noGrp="1"/>
          </p:cNvSpPr>
          <p:nvPr>
            <p:ph type="body" sz="quarter" idx="12"/>
          </p:nvPr>
        </p:nvSpPr>
        <p:spPr>
          <a:xfrm>
            <a:off x="457200" y="741360"/>
            <a:ext cx="11363298" cy="499237"/>
          </a:xfrm>
        </p:spPr>
        <p:txBody>
          <a:bodyPr/>
          <a:lstStyle/>
          <a:p>
            <a:r>
              <a:rPr lang="en-US" sz="1300"/>
              <a:t>Developed an excel based DAC Validation tool and modified the existing DAC setup in GGY AXIS model to extract DAC results at seriatim and cohort level with the help of Moody’s</a:t>
            </a:r>
          </a:p>
        </p:txBody>
      </p:sp>
      <p:sp>
        <p:nvSpPr>
          <p:cNvPr id="4" name="Text Placeholder 3">
            <a:extLst>
              <a:ext uri="{FF2B5EF4-FFF2-40B4-BE49-F238E27FC236}">
                <a16:creationId xmlns:a16="http://schemas.microsoft.com/office/drawing/2014/main" id="{73D35B7E-F920-3782-EF0B-14F8A67876A7}"/>
              </a:ext>
            </a:extLst>
          </p:cNvPr>
          <p:cNvSpPr>
            <a:spLocks noGrp="1"/>
          </p:cNvSpPr>
          <p:nvPr>
            <p:ph type="body" sz="quarter" idx="13"/>
          </p:nvPr>
        </p:nvSpPr>
        <p:spPr>
          <a:xfrm>
            <a:off x="230016" y="1375677"/>
            <a:ext cx="1214119" cy="282410"/>
          </a:xfrm>
        </p:spPr>
        <p:txBody>
          <a:bodyPr/>
          <a:lstStyle/>
          <a:p>
            <a:r>
              <a:rPr lang="en-IN" sz="1500">
                <a:solidFill>
                  <a:srgbClr val="FB4E0B"/>
                </a:solidFill>
              </a:rPr>
              <a:t>Background</a:t>
            </a:r>
          </a:p>
        </p:txBody>
      </p:sp>
      <p:sp>
        <p:nvSpPr>
          <p:cNvPr id="5" name="Text Placeholder 4">
            <a:extLst>
              <a:ext uri="{FF2B5EF4-FFF2-40B4-BE49-F238E27FC236}">
                <a16:creationId xmlns:a16="http://schemas.microsoft.com/office/drawing/2014/main" id="{E37D92CC-D140-B490-D0C7-3416E507EE85}"/>
              </a:ext>
            </a:extLst>
          </p:cNvPr>
          <p:cNvSpPr>
            <a:spLocks noGrp="1"/>
          </p:cNvSpPr>
          <p:nvPr>
            <p:ph type="body" sz="quarter" idx="14"/>
          </p:nvPr>
        </p:nvSpPr>
        <p:spPr>
          <a:xfrm>
            <a:off x="230015" y="1638611"/>
            <a:ext cx="2523483" cy="852870"/>
          </a:xfrm>
        </p:spPr>
        <p:txBody>
          <a:bodyPr/>
          <a:lstStyle/>
          <a:p>
            <a:pPr marL="182880" indent="-182880">
              <a:spcBef>
                <a:spcPts val="300"/>
              </a:spcBef>
              <a:spcAft>
                <a:spcPts val="200"/>
              </a:spcAft>
              <a:buFont typeface="Arial" panose="020B0604020202020204" pitchFamily="34" charset="0"/>
              <a:buChar char="•"/>
            </a:pPr>
            <a:r>
              <a:rPr lang="en-US" sz="1150">
                <a:latin typeface="+mn-lt"/>
              </a:rPr>
              <a:t>Auditor asked to validate the DAC results produced from GGY AXIS. </a:t>
            </a:r>
          </a:p>
          <a:p>
            <a:pPr marL="182880" indent="-182880">
              <a:spcBef>
                <a:spcPts val="300"/>
              </a:spcBef>
              <a:spcAft>
                <a:spcPts val="200"/>
              </a:spcAft>
              <a:buFont typeface="Arial" panose="020B0604020202020204" pitchFamily="34" charset="0"/>
              <a:buChar char="•"/>
            </a:pPr>
            <a:r>
              <a:rPr lang="en-US" sz="1150">
                <a:latin typeface="+mn-lt"/>
              </a:rPr>
              <a:t>We were tasked to create a DAC Validation tool to verify the DAC calculation in GGY-Axis.</a:t>
            </a:r>
          </a:p>
        </p:txBody>
      </p:sp>
      <p:sp>
        <p:nvSpPr>
          <p:cNvPr id="32" name="Text Placeholder 3">
            <a:extLst>
              <a:ext uri="{FF2B5EF4-FFF2-40B4-BE49-F238E27FC236}">
                <a16:creationId xmlns:a16="http://schemas.microsoft.com/office/drawing/2014/main" id="{96290B3A-0E95-5D35-E9C5-E1E48DE65618}"/>
              </a:ext>
            </a:extLst>
          </p:cNvPr>
          <p:cNvSpPr txBox="1">
            <a:spLocks/>
          </p:cNvSpPr>
          <p:nvPr/>
        </p:nvSpPr>
        <p:spPr>
          <a:xfrm>
            <a:off x="230016" y="2587124"/>
            <a:ext cx="1333499" cy="282410"/>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Clr>
                <a:schemeClr val="tx2"/>
              </a:buClr>
              <a:buFontTx/>
              <a:buNone/>
              <a:defRPr sz="1600" b="1" kern="1200">
                <a:solidFill>
                  <a:schemeClr val="accent3"/>
                </a:solidFill>
                <a:latin typeface="+mn-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1500">
                <a:solidFill>
                  <a:srgbClr val="FB4E0B"/>
                </a:solidFill>
              </a:rPr>
              <a:t>Key Objectives</a:t>
            </a:r>
          </a:p>
        </p:txBody>
      </p:sp>
      <p:sp>
        <p:nvSpPr>
          <p:cNvPr id="33" name="Text Placeholder 4">
            <a:extLst>
              <a:ext uri="{FF2B5EF4-FFF2-40B4-BE49-F238E27FC236}">
                <a16:creationId xmlns:a16="http://schemas.microsoft.com/office/drawing/2014/main" id="{AD15ECF7-A5BC-2B43-3E86-1D8080B501A0}"/>
              </a:ext>
            </a:extLst>
          </p:cNvPr>
          <p:cNvSpPr txBox="1">
            <a:spLocks/>
          </p:cNvSpPr>
          <p:nvPr/>
        </p:nvSpPr>
        <p:spPr>
          <a:xfrm>
            <a:off x="241267" y="2846260"/>
            <a:ext cx="2758364" cy="1737524"/>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Clr>
                <a:schemeClr val="tx2"/>
              </a:buClr>
              <a:buFontTx/>
              <a:buNone/>
              <a:defRPr lang="en-US" sz="1800" kern="1200" dirty="0" smtClean="0">
                <a:solidFill>
                  <a:srgbClr val="000000"/>
                </a:solidFill>
                <a:latin typeface="+mj-lt"/>
                <a:ea typeface="+mn-ea"/>
                <a:cs typeface="+mn-cs"/>
              </a:defRPr>
            </a:lvl1pPr>
            <a:lvl2pPr marL="290513" indent="0" algn="l" defTabSz="914400" rtl="0" eaLnBrk="1" latinLnBrk="0" hangingPunct="1">
              <a:lnSpc>
                <a:spcPct val="90000"/>
              </a:lnSpc>
              <a:spcBef>
                <a:spcPts val="500"/>
              </a:spcBef>
              <a:buFontTx/>
              <a:buNone/>
              <a:tabLst/>
              <a:defRPr lang="en-US" sz="1800" kern="1200" dirty="0" smtClean="0">
                <a:solidFill>
                  <a:srgbClr val="000000"/>
                </a:solidFill>
                <a:latin typeface="+mj-lt"/>
                <a:ea typeface="+mn-ea"/>
                <a:cs typeface="+mn-cs"/>
              </a:defRPr>
            </a:lvl2pPr>
            <a:lvl3pPr marL="582613" indent="0" algn="l" defTabSz="914400" rtl="0" eaLnBrk="1" latinLnBrk="0" hangingPunct="1">
              <a:lnSpc>
                <a:spcPct val="90000"/>
              </a:lnSpc>
              <a:spcBef>
                <a:spcPts val="500"/>
              </a:spcBef>
              <a:buFontTx/>
              <a:buNone/>
              <a:tabLst/>
              <a:defRPr lang="en-US" sz="1800" kern="1200" dirty="0" smtClean="0">
                <a:solidFill>
                  <a:srgbClr val="000000"/>
                </a:solidFill>
                <a:latin typeface="+mj-lt"/>
                <a:ea typeface="+mn-ea"/>
                <a:cs typeface="+mn-cs"/>
              </a:defRPr>
            </a:lvl3pPr>
            <a:lvl4pPr marL="855663" indent="0" algn="l" defTabSz="914400" rtl="0" eaLnBrk="1" latinLnBrk="0" hangingPunct="1">
              <a:lnSpc>
                <a:spcPct val="90000"/>
              </a:lnSpc>
              <a:spcBef>
                <a:spcPts val="500"/>
              </a:spcBef>
              <a:buFontTx/>
              <a:buNone/>
              <a:tabLst/>
              <a:defRPr lang="en-US" sz="1800" kern="1200" dirty="0" smtClean="0">
                <a:solidFill>
                  <a:srgbClr val="000000"/>
                </a:solidFill>
                <a:latin typeface="+mj-lt"/>
                <a:ea typeface="+mn-ea"/>
                <a:cs typeface="+mn-cs"/>
              </a:defRPr>
            </a:lvl4pPr>
            <a:lvl5pPr marL="1100138" indent="0" algn="l" defTabSz="914400" rtl="0" eaLnBrk="1" latinLnBrk="0" hangingPunct="1">
              <a:lnSpc>
                <a:spcPct val="90000"/>
              </a:lnSpc>
              <a:spcBef>
                <a:spcPts val="500"/>
              </a:spcBef>
              <a:buFontTx/>
              <a:buNone/>
              <a:tabLst/>
              <a:defRPr lang="en-US" sz="1800" kern="1200" dirty="0">
                <a:solidFill>
                  <a:srgbClr val="000000"/>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0" indent="-182880">
              <a:spcBef>
                <a:spcPts val="300"/>
              </a:spcBef>
              <a:spcAft>
                <a:spcPts val="600"/>
              </a:spcAft>
              <a:buFont typeface="Arial" panose="020B0604020202020204" pitchFamily="34" charset="0"/>
              <a:buChar char="•"/>
            </a:pPr>
            <a:r>
              <a:rPr lang="en-US" sz="1150">
                <a:latin typeface="+mn-lt"/>
              </a:rPr>
              <a:t>results from GGY-Axis. Develop an Excel based VT to calculate seriatim level DAC numbers and reconcile it with GGY-Axis results for single policy.</a:t>
            </a:r>
          </a:p>
          <a:p>
            <a:pPr marL="182880" indent="-182880">
              <a:spcBef>
                <a:spcPts val="300"/>
              </a:spcBef>
              <a:spcAft>
                <a:spcPts val="600"/>
              </a:spcAft>
              <a:buFont typeface="Arial" panose="020B0604020202020204" pitchFamily="34" charset="0"/>
              <a:buChar char="•"/>
            </a:pPr>
            <a:r>
              <a:rPr lang="en-US" sz="1150">
                <a:latin typeface="+mn-lt"/>
              </a:rPr>
              <a:t>Aggregate all seriatim level results and match it with the cohort level </a:t>
            </a:r>
          </a:p>
          <a:p>
            <a:pPr marL="182880" indent="-182880">
              <a:spcBef>
                <a:spcPts val="300"/>
              </a:spcBef>
              <a:spcAft>
                <a:spcPts val="600"/>
              </a:spcAft>
              <a:buFont typeface="Arial" panose="020B0604020202020204" pitchFamily="34" charset="0"/>
              <a:buChar char="•"/>
            </a:pPr>
            <a:r>
              <a:rPr lang="en-US" sz="1150">
                <a:latin typeface="+mn-lt"/>
              </a:rPr>
              <a:t>Aggregate all cohort level results and match it with the product level reported numbers from GGY-Axis</a:t>
            </a:r>
          </a:p>
          <a:p>
            <a:pPr marL="182880" indent="-182880">
              <a:spcBef>
                <a:spcPts val="300"/>
              </a:spcBef>
              <a:spcAft>
                <a:spcPts val="600"/>
              </a:spcAft>
              <a:buFont typeface="Arial" panose="020B0604020202020204" pitchFamily="34" charset="0"/>
              <a:buChar char="•"/>
            </a:pPr>
            <a:r>
              <a:rPr lang="en-US" sz="1150">
                <a:latin typeface="+mn-lt"/>
              </a:rPr>
              <a:t>Modify the existing DAC setup in GGY-Axis to generate seriatim level results.</a:t>
            </a:r>
          </a:p>
        </p:txBody>
      </p:sp>
      <p:sp>
        <p:nvSpPr>
          <p:cNvPr id="34" name="Text Placeholder 3">
            <a:extLst>
              <a:ext uri="{FF2B5EF4-FFF2-40B4-BE49-F238E27FC236}">
                <a16:creationId xmlns:a16="http://schemas.microsoft.com/office/drawing/2014/main" id="{3F8D8783-6AE6-B2ED-17AB-B4BB65F87659}"/>
              </a:ext>
            </a:extLst>
          </p:cNvPr>
          <p:cNvSpPr txBox="1">
            <a:spLocks/>
          </p:cNvSpPr>
          <p:nvPr/>
        </p:nvSpPr>
        <p:spPr>
          <a:xfrm>
            <a:off x="230016" y="4959295"/>
            <a:ext cx="1333499" cy="282410"/>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Clr>
                <a:schemeClr val="tx2"/>
              </a:buClr>
              <a:buFontTx/>
              <a:buNone/>
              <a:defRPr sz="1600" b="1" kern="1200">
                <a:solidFill>
                  <a:schemeClr val="accent3"/>
                </a:solidFill>
                <a:latin typeface="+mn-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1500">
                <a:solidFill>
                  <a:srgbClr val="FB4E0B"/>
                </a:solidFill>
              </a:rPr>
              <a:t>Challenges</a:t>
            </a:r>
          </a:p>
        </p:txBody>
      </p:sp>
      <p:sp>
        <p:nvSpPr>
          <p:cNvPr id="35" name="Text Placeholder 4">
            <a:extLst>
              <a:ext uri="{FF2B5EF4-FFF2-40B4-BE49-F238E27FC236}">
                <a16:creationId xmlns:a16="http://schemas.microsoft.com/office/drawing/2014/main" id="{3D580BED-7281-0E72-0CAF-E0253841E988}"/>
              </a:ext>
            </a:extLst>
          </p:cNvPr>
          <p:cNvSpPr txBox="1">
            <a:spLocks/>
          </p:cNvSpPr>
          <p:nvPr/>
        </p:nvSpPr>
        <p:spPr>
          <a:xfrm>
            <a:off x="230014" y="5221827"/>
            <a:ext cx="2667577" cy="815406"/>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Clr>
                <a:schemeClr val="tx2"/>
              </a:buClr>
              <a:buFontTx/>
              <a:buNone/>
              <a:defRPr lang="en-US" sz="1800" kern="1200" dirty="0" smtClean="0">
                <a:solidFill>
                  <a:srgbClr val="000000"/>
                </a:solidFill>
                <a:latin typeface="+mj-lt"/>
                <a:ea typeface="+mn-ea"/>
                <a:cs typeface="+mn-cs"/>
              </a:defRPr>
            </a:lvl1pPr>
            <a:lvl2pPr marL="290513" indent="0" algn="l" defTabSz="914400" rtl="0" eaLnBrk="1" latinLnBrk="0" hangingPunct="1">
              <a:lnSpc>
                <a:spcPct val="90000"/>
              </a:lnSpc>
              <a:spcBef>
                <a:spcPts val="500"/>
              </a:spcBef>
              <a:buFontTx/>
              <a:buNone/>
              <a:tabLst/>
              <a:defRPr lang="en-US" sz="1800" kern="1200" dirty="0" smtClean="0">
                <a:solidFill>
                  <a:srgbClr val="000000"/>
                </a:solidFill>
                <a:latin typeface="+mj-lt"/>
                <a:ea typeface="+mn-ea"/>
                <a:cs typeface="+mn-cs"/>
              </a:defRPr>
            </a:lvl2pPr>
            <a:lvl3pPr marL="582613" indent="0" algn="l" defTabSz="914400" rtl="0" eaLnBrk="1" latinLnBrk="0" hangingPunct="1">
              <a:lnSpc>
                <a:spcPct val="90000"/>
              </a:lnSpc>
              <a:spcBef>
                <a:spcPts val="500"/>
              </a:spcBef>
              <a:buFontTx/>
              <a:buNone/>
              <a:tabLst/>
              <a:defRPr lang="en-US" sz="1800" kern="1200" dirty="0" smtClean="0">
                <a:solidFill>
                  <a:srgbClr val="000000"/>
                </a:solidFill>
                <a:latin typeface="+mj-lt"/>
                <a:ea typeface="+mn-ea"/>
                <a:cs typeface="+mn-cs"/>
              </a:defRPr>
            </a:lvl3pPr>
            <a:lvl4pPr marL="855663" indent="0" algn="l" defTabSz="914400" rtl="0" eaLnBrk="1" latinLnBrk="0" hangingPunct="1">
              <a:lnSpc>
                <a:spcPct val="90000"/>
              </a:lnSpc>
              <a:spcBef>
                <a:spcPts val="500"/>
              </a:spcBef>
              <a:buFontTx/>
              <a:buNone/>
              <a:tabLst/>
              <a:defRPr lang="en-US" sz="1800" kern="1200" dirty="0" smtClean="0">
                <a:solidFill>
                  <a:srgbClr val="000000"/>
                </a:solidFill>
                <a:latin typeface="+mj-lt"/>
                <a:ea typeface="+mn-ea"/>
                <a:cs typeface="+mn-cs"/>
              </a:defRPr>
            </a:lvl4pPr>
            <a:lvl5pPr marL="1100138" indent="0" algn="l" defTabSz="914400" rtl="0" eaLnBrk="1" latinLnBrk="0" hangingPunct="1">
              <a:lnSpc>
                <a:spcPct val="90000"/>
              </a:lnSpc>
              <a:spcBef>
                <a:spcPts val="500"/>
              </a:spcBef>
              <a:buFontTx/>
              <a:buNone/>
              <a:tabLst/>
              <a:defRPr lang="en-US" sz="1800" kern="1200" dirty="0">
                <a:solidFill>
                  <a:srgbClr val="000000"/>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0" indent="-182880">
              <a:spcBef>
                <a:spcPts val="300"/>
              </a:spcBef>
              <a:spcAft>
                <a:spcPts val="200"/>
              </a:spcAft>
              <a:buFont typeface="Arial" panose="020B0604020202020204" pitchFamily="34" charset="0"/>
              <a:buChar char="•"/>
            </a:pPr>
            <a:r>
              <a:rPr lang="en-US" sz="1150">
                <a:latin typeface="+mn-lt"/>
              </a:rPr>
              <a:t>Seriatim level output can lead to high  run time.</a:t>
            </a:r>
          </a:p>
          <a:p>
            <a:pPr marL="182880" indent="-182880">
              <a:spcBef>
                <a:spcPts val="300"/>
              </a:spcBef>
              <a:spcAft>
                <a:spcPts val="200"/>
              </a:spcAft>
              <a:buFont typeface="Arial" panose="020B0604020202020204" pitchFamily="34" charset="0"/>
              <a:buChar char="•"/>
            </a:pPr>
            <a:r>
              <a:rPr lang="en-US" sz="1150">
                <a:latin typeface="+mn-lt"/>
              </a:rPr>
              <a:t>Increased SQL space to save seriatim results</a:t>
            </a:r>
          </a:p>
          <a:p>
            <a:pPr marL="182880" indent="-182880">
              <a:spcBef>
                <a:spcPts val="300"/>
              </a:spcBef>
              <a:spcAft>
                <a:spcPts val="200"/>
              </a:spcAft>
              <a:buFont typeface="Arial" panose="020B0604020202020204" pitchFamily="34" charset="0"/>
              <a:buChar char="•"/>
            </a:pPr>
            <a:r>
              <a:rPr lang="en-US" sz="1150">
                <a:latin typeface="+mn-lt"/>
              </a:rPr>
              <a:t>Susceptible to human error</a:t>
            </a:r>
          </a:p>
          <a:p>
            <a:pPr marL="182880" indent="-182880">
              <a:spcBef>
                <a:spcPts val="300"/>
              </a:spcBef>
              <a:spcAft>
                <a:spcPts val="200"/>
              </a:spcAft>
              <a:buFont typeface="Arial" panose="020B0604020202020204" pitchFamily="34" charset="0"/>
              <a:buChar char="•"/>
            </a:pPr>
            <a:r>
              <a:rPr lang="en-US" sz="1150">
                <a:latin typeface="+mn-lt"/>
              </a:rPr>
              <a:t>Scalability</a:t>
            </a:r>
          </a:p>
        </p:txBody>
      </p:sp>
      <p:sp>
        <p:nvSpPr>
          <p:cNvPr id="36" name="Text Placeholder 3">
            <a:extLst>
              <a:ext uri="{FF2B5EF4-FFF2-40B4-BE49-F238E27FC236}">
                <a16:creationId xmlns:a16="http://schemas.microsoft.com/office/drawing/2014/main" id="{A4013441-E2BC-BA40-722B-E72AFF9D4F75}"/>
              </a:ext>
            </a:extLst>
          </p:cNvPr>
          <p:cNvSpPr txBox="1">
            <a:spLocks/>
          </p:cNvSpPr>
          <p:nvPr/>
        </p:nvSpPr>
        <p:spPr>
          <a:xfrm>
            <a:off x="3376891" y="1463848"/>
            <a:ext cx="2450803" cy="239842"/>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Clr>
                <a:schemeClr val="tx2"/>
              </a:buClr>
              <a:buFontTx/>
              <a:buNone/>
              <a:defRPr sz="1600" b="1" kern="1200">
                <a:solidFill>
                  <a:schemeClr val="accent3"/>
                </a:solidFill>
                <a:latin typeface="+mn-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a:t>Reconciliation Process Flow</a:t>
            </a:r>
          </a:p>
        </p:txBody>
      </p:sp>
      <p:cxnSp>
        <p:nvCxnSpPr>
          <p:cNvPr id="37" name="Straight Connector 36">
            <a:extLst>
              <a:ext uri="{FF2B5EF4-FFF2-40B4-BE49-F238E27FC236}">
                <a16:creationId xmlns:a16="http://schemas.microsoft.com/office/drawing/2014/main" id="{B2C8E269-D4F2-7574-5D34-8A9A9DCB65BB}"/>
              </a:ext>
            </a:extLst>
          </p:cNvPr>
          <p:cNvCxnSpPr/>
          <p:nvPr/>
        </p:nvCxnSpPr>
        <p:spPr>
          <a:xfrm>
            <a:off x="3058563" y="1780372"/>
            <a:ext cx="0" cy="434692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8" name="Rectangle: Top Corners Rounded 5">
            <a:extLst>
              <a:ext uri="{FF2B5EF4-FFF2-40B4-BE49-F238E27FC236}">
                <a16:creationId xmlns:a16="http://schemas.microsoft.com/office/drawing/2014/main" id="{306C708C-DD7C-F3D4-C0CB-E5882BE46FBE}"/>
              </a:ext>
            </a:extLst>
          </p:cNvPr>
          <p:cNvSpPr/>
          <p:nvPr/>
        </p:nvSpPr>
        <p:spPr>
          <a:xfrm>
            <a:off x="3489813" y="1805405"/>
            <a:ext cx="2110829" cy="59759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Calibri" panose="020F0502020204030204" pitchFamily="34" charset="0"/>
                <a:ea typeface="+mn-ea"/>
                <a:cs typeface="+mn-cs"/>
              </a:rPr>
              <a:t>Match Seriatim level DAC numbers in VT for testbed policies</a:t>
            </a:r>
          </a:p>
        </p:txBody>
      </p:sp>
      <p:sp>
        <p:nvSpPr>
          <p:cNvPr id="40" name="Rectangle: Top Corners Rounded 26">
            <a:extLst>
              <a:ext uri="{FF2B5EF4-FFF2-40B4-BE49-F238E27FC236}">
                <a16:creationId xmlns:a16="http://schemas.microsoft.com/office/drawing/2014/main" id="{51D71759-167C-FFEF-EFD3-E6E167695C9E}"/>
              </a:ext>
            </a:extLst>
          </p:cNvPr>
          <p:cNvSpPr/>
          <p:nvPr/>
        </p:nvSpPr>
        <p:spPr>
          <a:xfrm>
            <a:off x="3488258" y="3227933"/>
            <a:ext cx="2110829" cy="597594"/>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kumimoji="0" lang="en-US" sz="1400" b="1" i="0" u="none" strike="noStrike" kern="1200" cap="none" spc="0" normalizeH="0" baseline="0" noProof="0">
                <a:ln>
                  <a:noFill/>
                </a:ln>
                <a:solidFill>
                  <a:srgbClr val="FFFFFF"/>
                </a:solidFill>
                <a:effectLst/>
                <a:uLnTx/>
                <a:uFillTx/>
                <a:latin typeface="Calibri" panose="020F0502020204030204" pitchFamily="34" charset="0"/>
                <a:ea typeface="+mn-ea"/>
                <a:cs typeface="+mn-cs"/>
              </a:rPr>
              <a:t>GGY-Axis</a:t>
            </a:r>
          </a:p>
        </p:txBody>
      </p:sp>
      <p:sp>
        <p:nvSpPr>
          <p:cNvPr id="42" name="TextBox 41">
            <a:extLst>
              <a:ext uri="{FF2B5EF4-FFF2-40B4-BE49-F238E27FC236}">
                <a16:creationId xmlns:a16="http://schemas.microsoft.com/office/drawing/2014/main" id="{5F02C02F-BCC5-BC44-03A1-47509760A2B8}"/>
              </a:ext>
            </a:extLst>
          </p:cNvPr>
          <p:cNvSpPr txBox="1"/>
          <p:nvPr/>
        </p:nvSpPr>
        <p:spPr>
          <a:xfrm>
            <a:off x="3239196" y="5279339"/>
            <a:ext cx="2530596"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Cohort Level reports were already there in the existing GGY Axis setup. We modified it to incorporate the Seriatim level DAC output reports with the help of Moody’s.</a:t>
            </a:r>
          </a:p>
        </p:txBody>
      </p:sp>
      <p:sp>
        <p:nvSpPr>
          <p:cNvPr id="43" name="Rectangle: Top Corners Rounded 44">
            <a:extLst>
              <a:ext uri="{FF2B5EF4-FFF2-40B4-BE49-F238E27FC236}">
                <a16:creationId xmlns:a16="http://schemas.microsoft.com/office/drawing/2014/main" id="{091C148E-DDA3-6699-A18A-D17CAF2E73E7}"/>
              </a:ext>
            </a:extLst>
          </p:cNvPr>
          <p:cNvSpPr/>
          <p:nvPr/>
        </p:nvSpPr>
        <p:spPr>
          <a:xfrm>
            <a:off x="3488258" y="4612365"/>
            <a:ext cx="2110829" cy="59759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b="1">
                <a:solidFill>
                  <a:schemeClr val="bg1"/>
                </a:solidFill>
                <a:latin typeface="Calibri" panose="020F0502020204030204" pitchFamily="34" charset="0"/>
              </a:rPr>
              <a:t>Generate </a:t>
            </a:r>
            <a:r>
              <a:rPr kumimoji="0" lang="en-US" sz="1200" b="1" i="0" u="none" strike="noStrike" kern="1200" cap="none" spc="0" normalizeH="0" baseline="0" noProof="0">
                <a:ln>
                  <a:noFill/>
                </a:ln>
                <a:solidFill>
                  <a:schemeClr val="bg1"/>
                </a:solidFill>
                <a:effectLst/>
                <a:uLnTx/>
                <a:uFillTx/>
                <a:latin typeface="Calibri" panose="020F0502020204030204" pitchFamily="34" charset="0"/>
                <a:ea typeface="+mn-ea"/>
                <a:cs typeface="+mn-cs"/>
              </a:rPr>
              <a:t>Seriatim and Cohort level output</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Calibri" panose="020F0502020204030204" pitchFamily="34" charset="0"/>
                <a:ea typeface="+mn-ea"/>
                <a:cs typeface="+mn-cs"/>
              </a:rPr>
              <a:t>from GGY-Axis</a:t>
            </a:r>
          </a:p>
        </p:txBody>
      </p:sp>
      <p:sp>
        <p:nvSpPr>
          <p:cNvPr id="46" name="Rectangle: Top Corners Rounded 47">
            <a:extLst>
              <a:ext uri="{FF2B5EF4-FFF2-40B4-BE49-F238E27FC236}">
                <a16:creationId xmlns:a16="http://schemas.microsoft.com/office/drawing/2014/main" id="{86947E48-6E5E-F01E-B8FF-E943A5210D54}"/>
              </a:ext>
            </a:extLst>
          </p:cNvPr>
          <p:cNvSpPr/>
          <p:nvPr/>
        </p:nvSpPr>
        <p:spPr>
          <a:xfrm>
            <a:off x="7244084" y="1696803"/>
            <a:ext cx="1825909" cy="839015"/>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kumimoji="0" lang="en-US" sz="1200" b="1" i="0" u="none" strike="noStrike" kern="1200" cap="none" spc="0" normalizeH="0" baseline="0" noProof="0">
                <a:ln>
                  <a:noFill/>
                </a:ln>
                <a:solidFill>
                  <a:srgbClr val="FFFFFF"/>
                </a:solidFill>
                <a:effectLst/>
                <a:uLnTx/>
                <a:uFillTx/>
                <a:latin typeface="Calibri" panose="020F0502020204030204" pitchFamily="34" charset="0"/>
                <a:ea typeface="+mn-ea"/>
                <a:cs typeface="+mn-cs"/>
              </a:rPr>
              <a:t>Add cohort level results to match it with product level results</a:t>
            </a:r>
          </a:p>
        </p:txBody>
      </p:sp>
      <p:sp>
        <p:nvSpPr>
          <p:cNvPr id="48" name="Rectangle: Top Corners Rounded 50">
            <a:extLst>
              <a:ext uri="{FF2B5EF4-FFF2-40B4-BE49-F238E27FC236}">
                <a16:creationId xmlns:a16="http://schemas.microsoft.com/office/drawing/2014/main" id="{A1A13334-5137-F5E9-5641-45AB0844A124}"/>
              </a:ext>
            </a:extLst>
          </p:cNvPr>
          <p:cNvSpPr/>
          <p:nvPr/>
        </p:nvSpPr>
        <p:spPr>
          <a:xfrm>
            <a:off x="7244084" y="3228674"/>
            <a:ext cx="1825909" cy="666021"/>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B4D0A"/>
                </a:solidFill>
                <a:effectLst/>
                <a:uLnTx/>
                <a:uFillTx/>
                <a:latin typeface="Calibri" panose="020F0502020204030204" pitchFamily="34" charset="0"/>
                <a:ea typeface="+mn-ea"/>
                <a:cs typeface="+mn-cs"/>
              </a:rPr>
              <a:t>Aggregate Seriatim level results to match cohort level results</a:t>
            </a:r>
          </a:p>
        </p:txBody>
      </p:sp>
      <p:sp>
        <p:nvSpPr>
          <p:cNvPr id="50" name="Rectangle: Top Corners Rounded 53">
            <a:extLst>
              <a:ext uri="{FF2B5EF4-FFF2-40B4-BE49-F238E27FC236}">
                <a16:creationId xmlns:a16="http://schemas.microsoft.com/office/drawing/2014/main" id="{3C1EF484-EA1D-24A6-8E29-5499E71A1373}"/>
              </a:ext>
            </a:extLst>
          </p:cNvPr>
          <p:cNvSpPr/>
          <p:nvPr/>
        </p:nvSpPr>
        <p:spPr>
          <a:xfrm>
            <a:off x="7101625" y="4489690"/>
            <a:ext cx="2110828" cy="801039"/>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kumimoji="0" lang="en-US" sz="1200" b="1" i="0" u="none" strike="noStrike" kern="1200" cap="none" spc="0" normalizeH="0" baseline="0" noProof="0">
                <a:ln>
                  <a:noFill/>
                </a:ln>
                <a:solidFill>
                  <a:srgbClr val="FFFFFF"/>
                </a:solidFill>
                <a:effectLst/>
                <a:uLnTx/>
                <a:uFillTx/>
                <a:latin typeface="Calibri" panose="020F0502020204030204" pitchFamily="34" charset="0"/>
                <a:ea typeface="+mn-ea"/>
                <a:cs typeface="+mn-cs"/>
              </a:rPr>
              <a:t>Use Excel VT tool to pull Seriatim and Cohort level results</a:t>
            </a:r>
          </a:p>
        </p:txBody>
      </p:sp>
      <p:cxnSp>
        <p:nvCxnSpPr>
          <p:cNvPr id="55" name="Straight Arrow Connector 54">
            <a:extLst>
              <a:ext uri="{FF2B5EF4-FFF2-40B4-BE49-F238E27FC236}">
                <a16:creationId xmlns:a16="http://schemas.microsoft.com/office/drawing/2014/main" id="{FB5C1A51-CF34-5187-A50A-6B8F11B2CE98}"/>
              </a:ext>
            </a:extLst>
          </p:cNvPr>
          <p:cNvCxnSpPr>
            <a:cxnSpLocks/>
            <a:stCxn id="48" idx="0"/>
            <a:endCxn id="46" idx="2"/>
          </p:cNvCxnSpPr>
          <p:nvPr/>
        </p:nvCxnSpPr>
        <p:spPr>
          <a:xfrm flipV="1">
            <a:off x="8157039" y="2535818"/>
            <a:ext cx="0" cy="6928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F2CC2C9A-8140-3723-4C47-CA29074463CB}"/>
              </a:ext>
            </a:extLst>
          </p:cNvPr>
          <p:cNvCxnSpPr>
            <a:cxnSpLocks/>
            <a:stCxn id="50" idx="0"/>
            <a:endCxn id="48" idx="2"/>
          </p:cNvCxnSpPr>
          <p:nvPr/>
        </p:nvCxnSpPr>
        <p:spPr>
          <a:xfrm flipV="1">
            <a:off x="8157039" y="3894695"/>
            <a:ext cx="0" cy="5949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2E5A3383-600D-9990-BEA5-94B9A298495E}"/>
              </a:ext>
            </a:extLst>
          </p:cNvPr>
          <p:cNvCxnSpPr>
            <a:cxnSpLocks/>
            <a:endCxn id="50" idx="1"/>
          </p:cNvCxnSpPr>
          <p:nvPr/>
        </p:nvCxnSpPr>
        <p:spPr>
          <a:xfrm flipV="1">
            <a:off x="5460204" y="4890210"/>
            <a:ext cx="1641421" cy="5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B2F89B5D-08E1-7CC7-3D64-F12AD00FB427}"/>
              </a:ext>
            </a:extLst>
          </p:cNvPr>
          <p:cNvCxnSpPr>
            <a:cxnSpLocks/>
            <a:stCxn id="40" idx="2"/>
            <a:endCxn id="43" idx="0"/>
          </p:cNvCxnSpPr>
          <p:nvPr/>
        </p:nvCxnSpPr>
        <p:spPr>
          <a:xfrm>
            <a:off x="4543673" y="3825527"/>
            <a:ext cx="0" cy="786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D6C947CB-834B-3B3B-6B90-1528EDD895AF}"/>
              </a:ext>
            </a:extLst>
          </p:cNvPr>
          <p:cNvCxnSpPr>
            <a:cxnSpLocks/>
            <a:stCxn id="40" idx="0"/>
            <a:endCxn id="38" idx="2"/>
          </p:cNvCxnSpPr>
          <p:nvPr/>
        </p:nvCxnSpPr>
        <p:spPr>
          <a:xfrm flipV="1">
            <a:off x="4543673" y="2402999"/>
            <a:ext cx="1555" cy="824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91D4D5AE-0161-91D3-0304-DF765AC421D5}"/>
              </a:ext>
            </a:extLst>
          </p:cNvPr>
          <p:cNvSpPr/>
          <p:nvPr/>
        </p:nvSpPr>
        <p:spPr>
          <a:xfrm>
            <a:off x="3271867" y="3389244"/>
            <a:ext cx="640968" cy="24367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kumimoji="0" lang="en-US" sz="1400" b="0" i="0" u="none" strike="noStrike" kern="1200" cap="none" spc="0" normalizeH="0" baseline="0" noProof="0">
                <a:ln>
                  <a:noFill/>
                </a:ln>
                <a:solidFill>
                  <a:srgbClr val="FFFFFF"/>
                </a:solidFill>
                <a:effectLst/>
                <a:uLnTx/>
                <a:uFillTx/>
                <a:latin typeface="Calibri" panose="020F0502020204030204" pitchFamily="34" charset="0"/>
                <a:ea typeface="+mn-ea"/>
                <a:cs typeface="+mn-cs"/>
              </a:rPr>
              <a:t>Start</a:t>
            </a:r>
          </a:p>
        </p:txBody>
      </p:sp>
      <p:sp>
        <p:nvSpPr>
          <p:cNvPr id="65" name="TextBox 64">
            <a:extLst>
              <a:ext uri="{FF2B5EF4-FFF2-40B4-BE49-F238E27FC236}">
                <a16:creationId xmlns:a16="http://schemas.microsoft.com/office/drawing/2014/main" id="{2FF87980-CA61-A39B-A61B-B2FC6D0200E8}"/>
              </a:ext>
            </a:extLst>
          </p:cNvPr>
          <p:cNvSpPr txBox="1"/>
          <p:nvPr/>
        </p:nvSpPr>
        <p:spPr>
          <a:xfrm>
            <a:off x="4477879" y="2450230"/>
            <a:ext cx="1220608"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Developed a new functionality in VT</a:t>
            </a:r>
          </a:p>
        </p:txBody>
      </p:sp>
      <p:sp>
        <p:nvSpPr>
          <p:cNvPr id="81" name="Text Placeholder 3">
            <a:extLst>
              <a:ext uri="{FF2B5EF4-FFF2-40B4-BE49-F238E27FC236}">
                <a16:creationId xmlns:a16="http://schemas.microsoft.com/office/drawing/2014/main" id="{7C22E905-518A-737C-0612-06AC502D32E2}"/>
              </a:ext>
            </a:extLst>
          </p:cNvPr>
          <p:cNvSpPr txBox="1">
            <a:spLocks/>
          </p:cNvSpPr>
          <p:nvPr/>
        </p:nvSpPr>
        <p:spPr>
          <a:xfrm>
            <a:off x="10508566" y="1459396"/>
            <a:ext cx="1637241" cy="282410"/>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Clr>
                <a:schemeClr val="tx2"/>
              </a:buClr>
              <a:buFontTx/>
              <a:buNone/>
              <a:defRPr sz="1600" b="1" kern="1200">
                <a:solidFill>
                  <a:schemeClr val="accent3"/>
                </a:solidFill>
                <a:latin typeface="+mn-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1500">
                <a:solidFill>
                  <a:srgbClr val="FB4E0B"/>
                </a:solidFill>
              </a:rPr>
              <a:t>Technology</a:t>
            </a:r>
          </a:p>
        </p:txBody>
      </p:sp>
      <p:cxnSp>
        <p:nvCxnSpPr>
          <p:cNvPr id="82" name="Straight Connector 81">
            <a:extLst>
              <a:ext uri="{FF2B5EF4-FFF2-40B4-BE49-F238E27FC236}">
                <a16:creationId xmlns:a16="http://schemas.microsoft.com/office/drawing/2014/main" id="{C87E5645-3F12-18C4-0744-CEDB65D0902F}"/>
              </a:ext>
            </a:extLst>
          </p:cNvPr>
          <p:cNvCxnSpPr/>
          <p:nvPr/>
        </p:nvCxnSpPr>
        <p:spPr>
          <a:xfrm>
            <a:off x="10173142" y="1643612"/>
            <a:ext cx="0" cy="434692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05" name="Picture 104">
            <a:extLst>
              <a:ext uri="{FF2B5EF4-FFF2-40B4-BE49-F238E27FC236}">
                <a16:creationId xmlns:a16="http://schemas.microsoft.com/office/drawing/2014/main" id="{8F227253-70CB-BCE9-2878-5A49F959A95A}"/>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1231777" y="2654090"/>
            <a:ext cx="557784" cy="585216"/>
          </a:xfrm>
          <a:prstGeom prst="rect">
            <a:avLst/>
          </a:prstGeom>
        </p:spPr>
      </p:pic>
      <p:graphicFrame>
        <p:nvGraphicFramePr>
          <p:cNvPr id="115" name="Table 114">
            <a:extLst>
              <a:ext uri="{FF2B5EF4-FFF2-40B4-BE49-F238E27FC236}">
                <a16:creationId xmlns:a16="http://schemas.microsoft.com/office/drawing/2014/main" id="{EA0B164B-C3CD-DFC4-0191-29866C0B9C0D}"/>
              </a:ext>
            </a:extLst>
          </p:cNvPr>
          <p:cNvGraphicFramePr>
            <a:graphicFrameLocks noGrp="1"/>
          </p:cNvGraphicFramePr>
          <p:nvPr>
            <p:extLst>
              <p:ext uri="{D42A27DB-BD31-4B8C-83A1-F6EECF244321}">
                <p14:modId xmlns:p14="http://schemas.microsoft.com/office/powerpoint/2010/main" val="1788042953"/>
              </p:ext>
            </p:extLst>
          </p:nvPr>
        </p:nvGraphicFramePr>
        <p:xfrm>
          <a:off x="10334111" y="3544641"/>
          <a:ext cx="1678868" cy="370840"/>
        </p:xfrm>
        <a:graphic>
          <a:graphicData uri="http://schemas.openxmlformats.org/drawingml/2006/table">
            <a:tbl>
              <a:tblPr firstRow="1" bandRow="1">
                <a:tableStyleId>{2D5ABB26-0587-4C30-8999-92F81FD0307C}</a:tableStyleId>
              </a:tblPr>
              <a:tblGrid>
                <a:gridCol w="1678868">
                  <a:extLst>
                    <a:ext uri="{9D8B030D-6E8A-4147-A177-3AD203B41FA5}">
                      <a16:colId xmlns:a16="http://schemas.microsoft.com/office/drawing/2014/main" val="20000"/>
                    </a:ext>
                  </a:extLst>
                </a:gridCol>
              </a:tblGrid>
              <a:tr h="370840">
                <a:tc>
                  <a:txBody>
                    <a:bodyPr/>
                    <a:lstStyle/>
                    <a:p>
                      <a:pPr algn="l"/>
                      <a:r>
                        <a:rPr lang="en-US" sz="1500" b="1">
                          <a:solidFill>
                            <a:schemeClr val="tx2"/>
                          </a:solidFill>
                          <a:latin typeface="Calibri" panose="020F0502020204030204" pitchFamily="34" charset="0"/>
                        </a:rPr>
                        <a:t>Value Proposition</a:t>
                      </a:r>
                    </a:p>
                  </a:txBody>
                  <a:tcPr anchor="ctr"/>
                </a:tc>
                <a:extLst>
                  <a:ext uri="{0D108BD9-81ED-4DB2-BD59-A6C34878D82A}">
                    <a16:rowId xmlns:a16="http://schemas.microsoft.com/office/drawing/2014/main" val="10000"/>
                  </a:ext>
                </a:extLst>
              </a:tr>
            </a:tbl>
          </a:graphicData>
        </a:graphic>
      </p:graphicFrame>
      <p:sp>
        <p:nvSpPr>
          <p:cNvPr id="116" name="TextBox 115">
            <a:extLst>
              <a:ext uri="{FF2B5EF4-FFF2-40B4-BE49-F238E27FC236}">
                <a16:creationId xmlns:a16="http://schemas.microsoft.com/office/drawing/2014/main" id="{67689996-3172-C81F-9408-20982C251468}"/>
              </a:ext>
            </a:extLst>
          </p:cNvPr>
          <p:cNvSpPr txBox="1"/>
          <p:nvPr/>
        </p:nvSpPr>
        <p:spPr>
          <a:xfrm>
            <a:off x="10226573" y="4018912"/>
            <a:ext cx="1786408" cy="1485022"/>
          </a:xfrm>
          <a:prstGeom prst="rect">
            <a:avLst/>
          </a:prstGeom>
          <a:noFill/>
          <a:ln>
            <a:noFill/>
          </a:ln>
        </p:spPr>
        <p:txBody>
          <a:bodyPr wrap="square" rtlCol="0">
            <a:spAutoFit/>
          </a:bodyPr>
          <a:lstStyle/>
          <a:p>
            <a:pPr marL="228600" marR="0" lvl="1" indent="-228600" algn="l" defTabSz="914400" rtl="0" eaLnBrk="1" fontAlgn="base" latinLnBrk="0" hangingPunct="1">
              <a:lnSpc>
                <a:spcPct val="100000"/>
              </a:lnSpc>
              <a:spcBef>
                <a:spcPts val="0"/>
              </a:spcBef>
              <a:spcAft>
                <a:spcPts val="100"/>
              </a:spcAft>
              <a:buClr>
                <a:srgbClr val="FB4E0B"/>
              </a:buClr>
              <a:buSzPts val="900"/>
              <a:buFont typeface="Calibri" panose="020F0502020204030204" pitchFamily="34" charset="0"/>
              <a:buChar char="•"/>
              <a:tabLst/>
              <a:defRPr/>
            </a:pPr>
            <a:r>
              <a:rPr kumimoji="0" 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End to end scrutiny of DAC results</a:t>
            </a:r>
          </a:p>
          <a:p>
            <a:pPr marL="228600" marR="0" lvl="1" indent="-228600" algn="l" defTabSz="914400" rtl="0" eaLnBrk="1" fontAlgn="base" latinLnBrk="0" hangingPunct="1">
              <a:lnSpc>
                <a:spcPct val="100000"/>
              </a:lnSpc>
              <a:spcBef>
                <a:spcPts val="0"/>
              </a:spcBef>
              <a:spcAft>
                <a:spcPts val="100"/>
              </a:spcAft>
              <a:buClr>
                <a:srgbClr val="FB4E0B"/>
              </a:buClr>
              <a:buSzPts val="900"/>
              <a:buFont typeface="Calibri" panose="020F0502020204030204" pitchFamily="34" charset="0"/>
              <a:buChar char="•"/>
              <a:tabLst/>
              <a:defRPr/>
            </a:pPr>
            <a:r>
              <a:rPr kumimoji="0" 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Functionality for policy level reconciliation</a:t>
            </a:r>
          </a:p>
          <a:p>
            <a:pPr marL="228600" marR="0" lvl="1" indent="-228600" algn="l" defTabSz="914400" rtl="0" eaLnBrk="1" fontAlgn="base" latinLnBrk="0" hangingPunct="1">
              <a:lnSpc>
                <a:spcPct val="100000"/>
              </a:lnSpc>
              <a:spcBef>
                <a:spcPts val="0"/>
              </a:spcBef>
              <a:spcAft>
                <a:spcPts val="100"/>
              </a:spcAft>
              <a:buClr>
                <a:srgbClr val="FB4E0B"/>
              </a:buClr>
              <a:buSzPts val="900"/>
              <a:buFont typeface="Calibri" panose="020F0502020204030204" pitchFamily="34" charset="0"/>
              <a:buChar char="•"/>
              <a:tabLst/>
              <a:defRPr/>
            </a:pPr>
            <a:r>
              <a:rPr kumimoji="0" 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Cohort and Product level reconciliation</a:t>
            </a:r>
          </a:p>
          <a:p>
            <a:pPr marL="228600" marR="0" lvl="1" indent="-228600" algn="l" defTabSz="914400" rtl="0" eaLnBrk="1" fontAlgn="base" latinLnBrk="0" hangingPunct="1">
              <a:lnSpc>
                <a:spcPct val="100000"/>
              </a:lnSpc>
              <a:spcBef>
                <a:spcPts val="0"/>
              </a:spcBef>
              <a:spcAft>
                <a:spcPts val="100"/>
              </a:spcAft>
              <a:buClr>
                <a:srgbClr val="FB4E0B"/>
              </a:buClr>
              <a:buSzPts val="900"/>
              <a:buFont typeface="Calibri" panose="020F0502020204030204" pitchFamily="34" charset="0"/>
              <a:buChar char="•"/>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Little manual efforts by VBA automation</a:t>
            </a:r>
          </a:p>
        </p:txBody>
      </p:sp>
      <p:sp>
        <p:nvSpPr>
          <p:cNvPr id="117" name="Rectangle 116">
            <a:extLst>
              <a:ext uri="{FF2B5EF4-FFF2-40B4-BE49-F238E27FC236}">
                <a16:creationId xmlns:a16="http://schemas.microsoft.com/office/drawing/2014/main" id="{295AE112-0C10-FE0B-EEA2-3E3550BAAB12}"/>
              </a:ext>
            </a:extLst>
          </p:cNvPr>
          <p:cNvSpPr/>
          <p:nvPr/>
        </p:nvSpPr>
        <p:spPr>
          <a:xfrm>
            <a:off x="10508566" y="91606"/>
            <a:ext cx="1683434" cy="26607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accent1"/>
                </a:solidFill>
              </a:rPr>
              <a:t>Process Improvement</a:t>
            </a:r>
          </a:p>
        </p:txBody>
      </p:sp>
      <p:pic>
        <p:nvPicPr>
          <p:cNvPr id="6" name="Picture 5">
            <a:extLst>
              <a:ext uri="{FF2B5EF4-FFF2-40B4-BE49-F238E27FC236}">
                <a16:creationId xmlns:a16="http://schemas.microsoft.com/office/drawing/2014/main" id="{CC573B68-97DD-35C6-47E2-C62F3792B300}"/>
              </a:ext>
            </a:extLst>
          </p:cNvPr>
          <p:cNvPicPr>
            <a:picLocks noChangeAspect="1"/>
          </p:cNvPicPr>
          <p:nvPr/>
        </p:nvPicPr>
        <p:blipFill>
          <a:blip r:embed="rId4"/>
          <a:stretch>
            <a:fillRect/>
          </a:stretch>
        </p:blipFill>
        <p:spPr>
          <a:xfrm>
            <a:off x="10359049" y="2618251"/>
            <a:ext cx="704353" cy="704353"/>
          </a:xfrm>
          <a:prstGeom prst="rect">
            <a:avLst/>
          </a:prstGeom>
        </p:spPr>
      </p:pic>
      <p:pic>
        <p:nvPicPr>
          <p:cNvPr id="1026" name="Picture 2" descr="Data Warehouse Modernization on AWS - Quick Start">
            <a:extLst>
              <a:ext uri="{FF2B5EF4-FFF2-40B4-BE49-F238E27FC236}">
                <a16:creationId xmlns:a16="http://schemas.microsoft.com/office/drawing/2014/main" id="{DB85DAFE-86F5-6505-48BC-3AC1077451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05726" y="2137861"/>
            <a:ext cx="1840066" cy="43965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GGY AXIS Trademark of MIS QUALITY MANAGEMENT CORP. - Registration ...">
            <a:extLst>
              <a:ext uri="{FF2B5EF4-FFF2-40B4-BE49-F238E27FC236}">
                <a16:creationId xmlns:a16="http://schemas.microsoft.com/office/drawing/2014/main" id="{7A9FBC3E-56ED-F230-8978-8462A7869CC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45379" y="1678388"/>
            <a:ext cx="1331894" cy="554956"/>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B7E4D6CC-8904-3DBE-B644-DAFBCD72FAEA}"/>
              </a:ext>
            </a:extLst>
          </p:cNvPr>
          <p:cNvGrpSpPr/>
          <p:nvPr/>
        </p:nvGrpSpPr>
        <p:grpSpPr>
          <a:xfrm>
            <a:off x="9481972" y="3965645"/>
            <a:ext cx="550858" cy="535760"/>
            <a:chOff x="6502507" y="5872937"/>
            <a:chExt cx="703506" cy="780277"/>
          </a:xfrm>
          <a:solidFill>
            <a:schemeClr val="bg1"/>
          </a:solidFill>
        </p:grpSpPr>
        <p:sp>
          <p:nvSpPr>
            <p:cNvPr id="19" name="Flowchart: Magnetic Disk 18">
              <a:extLst>
                <a:ext uri="{FF2B5EF4-FFF2-40B4-BE49-F238E27FC236}">
                  <a16:creationId xmlns:a16="http://schemas.microsoft.com/office/drawing/2014/main" id="{CB6D70AA-84EA-D1EB-BC9E-8A6ED77D13E3}"/>
                </a:ext>
              </a:extLst>
            </p:cNvPr>
            <p:cNvSpPr/>
            <p:nvPr/>
          </p:nvSpPr>
          <p:spPr>
            <a:xfrm>
              <a:off x="6502507" y="6328315"/>
              <a:ext cx="703506" cy="324899"/>
            </a:xfrm>
            <a:prstGeom prst="flowChartMagneticDisk">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20" name="Flowchart: Magnetic Disk 19">
              <a:extLst>
                <a:ext uri="{FF2B5EF4-FFF2-40B4-BE49-F238E27FC236}">
                  <a16:creationId xmlns:a16="http://schemas.microsoft.com/office/drawing/2014/main" id="{55ED32A5-C2EB-CC3D-8E3E-D04EBC9956EB}"/>
                </a:ext>
              </a:extLst>
            </p:cNvPr>
            <p:cNvSpPr/>
            <p:nvPr/>
          </p:nvSpPr>
          <p:spPr>
            <a:xfrm>
              <a:off x="6502507" y="6101817"/>
              <a:ext cx="703506" cy="324899"/>
            </a:xfrm>
            <a:prstGeom prst="flowChartMagneticDisk">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21" name="Flowchart: Magnetic Disk 20">
              <a:extLst>
                <a:ext uri="{FF2B5EF4-FFF2-40B4-BE49-F238E27FC236}">
                  <a16:creationId xmlns:a16="http://schemas.microsoft.com/office/drawing/2014/main" id="{603EC722-5DC7-232E-0C64-01CACAA8B781}"/>
                </a:ext>
              </a:extLst>
            </p:cNvPr>
            <p:cNvSpPr/>
            <p:nvPr/>
          </p:nvSpPr>
          <p:spPr>
            <a:xfrm>
              <a:off x="6502507" y="5872937"/>
              <a:ext cx="703506" cy="324899"/>
            </a:xfrm>
            <a:prstGeom prst="flowChartMagneticDisk">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grpSp>
      <p:sp>
        <p:nvSpPr>
          <p:cNvPr id="23" name="TextBox 22">
            <a:extLst>
              <a:ext uri="{FF2B5EF4-FFF2-40B4-BE49-F238E27FC236}">
                <a16:creationId xmlns:a16="http://schemas.microsoft.com/office/drawing/2014/main" id="{93999AA5-E319-03B8-6E65-0D9D54B74ABE}"/>
              </a:ext>
            </a:extLst>
          </p:cNvPr>
          <p:cNvSpPr txBox="1"/>
          <p:nvPr/>
        </p:nvSpPr>
        <p:spPr>
          <a:xfrm>
            <a:off x="9233096" y="3486894"/>
            <a:ext cx="1123120" cy="461665"/>
          </a:xfrm>
          <a:prstGeom prst="rect">
            <a:avLst/>
          </a:prstGeom>
          <a:noFill/>
        </p:spPr>
        <p:txBody>
          <a:bodyPr wrap="square" rtlCol="0">
            <a:spAutoFit/>
          </a:bodyPr>
          <a:lstStyle>
            <a:defPPr>
              <a:defRPr lang="en-US"/>
            </a:defPPr>
            <a:lvl1pPr algn="ctr">
              <a:defRPr sz="1000">
                <a:solidFill>
                  <a:schemeClr val="tx2"/>
                </a:solidFill>
                <a:latin typeface="+mj-lt"/>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B4D0A"/>
                </a:solidFill>
                <a:effectLst/>
                <a:uLnTx/>
                <a:uFillTx/>
                <a:latin typeface="Calibri" panose="020F0502020204030204" pitchFamily="34" charset="0"/>
                <a:ea typeface="+mn-ea"/>
                <a:cs typeface="+mn-cs"/>
              </a:rPr>
              <a:t>Testbed Cohort List</a:t>
            </a:r>
          </a:p>
        </p:txBody>
      </p:sp>
      <p:cxnSp>
        <p:nvCxnSpPr>
          <p:cNvPr id="26" name="Connector: Elbow 25">
            <a:extLst>
              <a:ext uri="{FF2B5EF4-FFF2-40B4-BE49-F238E27FC236}">
                <a16:creationId xmlns:a16="http://schemas.microsoft.com/office/drawing/2014/main" id="{0A9682BE-34E1-6FB5-2D03-8263909632FB}"/>
              </a:ext>
            </a:extLst>
          </p:cNvPr>
          <p:cNvCxnSpPr>
            <a:cxnSpLocks/>
            <a:stCxn id="19" idx="3"/>
            <a:endCxn id="50" idx="3"/>
          </p:cNvCxnSpPr>
          <p:nvPr/>
        </p:nvCxnSpPr>
        <p:spPr>
          <a:xfrm rot="5400000">
            <a:off x="9290525" y="4423333"/>
            <a:ext cx="388805" cy="54494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42766FE0-EF00-A688-BE18-DBAF2AC6892B}"/>
              </a:ext>
            </a:extLst>
          </p:cNvPr>
          <p:cNvSpPr txBox="1"/>
          <p:nvPr/>
        </p:nvSpPr>
        <p:spPr>
          <a:xfrm>
            <a:off x="241267" y="6540041"/>
            <a:ext cx="2351722" cy="246221"/>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00000"/>
                </a:solidFill>
                <a:effectLst/>
                <a:uLnTx/>
                <a:uFillTx/>
                <a:latin typeface="Calibri" panose="020F0502020204030204" pitchFamily="34" charset="0"/>
                <a:ea typeface="+mn-ea"/>
                <a:cs typeface="+mn-cs"/>
              </a:rPr>
              <a:t>VT : Validation Tool</a:t>
            </a:r>
          </a:p>
        </p:txBody>
      </p:sp>
      <p:sp>
        <p:nvSpPr>
          <p:cNvPr id="53" name="TextBox 52">
            <a:extLst>
              <a:ext uri="{FF2B5EF4-FFF2-40B4-BE49-F238E27FC236}">
                <a16:creationId xmlns:a16="http://schemas.microsoft.com/office/drawing/2014/main" id="{C0ABAADE-C837-9B3C-44AA-FA2EA325A471}"/>
              </a:ext>
            </a:extLst>
          </p:cNvPr>
          <p:cNvSpPr txBox="1"/>
          <p:nvPr/>
        </p:nvSpPr>
        <p:spPr>
          <a:xfrm>
            <a:off x="6891740" y="5333887"/>
            <a:ext cx="2530596"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Cohort Level reports were already there in the existing GGY Axis setup. We modified it to incorporate the Seriatim level DAC output reports with the help of Moody’s.</a:t>
            </a:r>
          </a:p>
        </p:txBody>
      </p:sp>
    </p:spTree>
    <p:extLst>
      <p:ext uri="{BB962C8B-B14F-4D97-AF65-F5344CB8AC3E}">
        <p14:creationId xmlns:p14="http://schemas.microsoft.com/office/powerpoint/2010/main" val="11971994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437D04D-C237-AF2E-4A4E-5FFB041E7B72}"/>
              </a:ext>
            </a:extLst>
          </p:cNvPr>
          <p:cNvSpPr>
            <a:spLocks noGrp="1"/>
          </p:cNvSpPr>
          <p:nvPr>
            <p:ph type="body" sz="quarter" idx="10"/>
          </p:nvPr>
        </p:nvSpPr>
        <p:spPr/>
        <p:txBody>
          <a:bodyPr/>
          <a:lstStyle/>
          <a:p>
            <a:r>
              <a:rPr kumimoji="0" lang="en-US" sz="2400" b="0" i="0" u="none" strike="noStrike" kern="1200" cap="none" spc="0" normalizeH="0" baseline="0" noProof="0">
                <a:ln>
                  <a:noFill/>
                </a:ln>
                <a:solidFill>
                  <a:srgbClr val="FB4D0A"/>
                </a:solidFill>
                <a:effectLst/>
                <a:uLnTx/>
                <a:uFillTx/>
                <a:latin typeface="Calibri Light" panose="020F0302020204030204"/>
                <a:ea typeface="+mj-ea"/>
                <a:cs typeface="+mj-cs"/>
              </a:rPr>
              <a:t>Case Example 5 - Challenger Model Build to Validate US GAAP LDTI DAC Regulatory Changes</a:t>
            </a:r>
            <a:endParaRPr lang="en-US"/>
          </a:p>
        </p:txBody>
      </p:sp>
      <p:sp>
        <p:nvSpPr>
          <p:cNvPr id="3" name="Text Placeholder 2">
            <a:extLst>
              <a:ext uri="{FF2B5EF4-FFF2-40B4-BE49-F238E27FC236}">
                <a16:creationId xmlns:a16="http://schemas.microsoft.com/office/drawing/2014/main" id="{C1F1D231-0567-1F56-E1F4-571379D5463F}"/>
              </a:ext>
            </a:extLst>
          </p:cNvPr>
          <p:cNvSpPr>
            <a:spLocks noGrp="1"/>
          </p:cNvSpPr>
          <p:nvPr>
            <p:ph type="body" sz="quarter" idx="12"/>
          </p:nvPr>
        </p:nvSpPr>
        <p:spPr/>
        <p:txBody>
          <a:bodyPr/>
          <a:lstStyle/>
          <a:p>
            <a:r>
              <a:rPr kumimoji="0" lang="en-US" b="1" i="0" u="none" strike="noStrike" kern="0" cap="none" spc="0" normalizeH="0" baseline="0" noProof="0">
                <a:ln>
                  <a:noFill/>
                </a:ln>
                <a:solidFill>
                  <a:schemeClr val="accent3"/>
                </a:solidFill>
                <a:effectLst/>
                <a:uLnTx/>
                <a:uFillTx/>
                <a:latin typeface="Calibri" panose="020F0502020204030204"/>
                <a:ea typeface="+mn-ea"/>
                <a:cs typeface="Calibri" panose="020F0502020204030204" pitchFamily="34" charset="0"/>
              </a:rPr>
              <a:t>Purpose: </a:t>
            </a:r>
            <a:r>
              <a:rPr kumimoji="0" lang="en-US" sz="1200" b="0" i="0" u="none" strike="noStrike" kern="0" cap="none" spc="0" normalizeH="0" baseline="0" noProof="0">
                <a:ln>
                  <a:noFill/>
                </a:ln>
                <a:effectLst/>
                <a:uLnTx/>
                <a:uFillTx/>
                <a:latin typeface="Calibri" panose="020F0502020204030204"/>
                <a:ea typeface="+mn-ea"/>
                <a:cs typeface="+mn-cs"/>
              </a:rPr>
              <a:t>To develop a simple tool to test the accuracy of the End User Computing Model’s for Deferred Acquisition Cost (DAC) amounts as per the regulatory changes under Long Duration Targeted </a:t>
            </a:r>
            <a:r>
              <a:rPr kumimoji="0" lang="en-US" sz="1200" b="0" i="0" u="none" strike="noStrike" kern="0" cap="none" spc="0" normalizeH="0" baseline="0" noProof="0">
                <a:ln>
                  <a:noFill/>
                </a:ln>
                <a:effectLst/>
                <a:uLnTx/>
                <a:uFillTx/>
                <a:latin typeface="Calibri" panose="020F0502020204030204"/>
                <a:ea typeface="+mn-ea"/>
              </a:rPr>
              <a:t>Improvements (LDTI) for Annuities Direct and Reinsurance business.</a:t>
            </a:r>
            <a:endParaRPr kumimoji="0" lang="en-US" sz="1400" b="1" i="0" u="none" strike="noStrike" kern="0" cap="none" spc="0" normalizeH="0" baseline="0" noProof="0">
              <a:ln>
                <a:noFill/>
              </a:ln>
              <a:effectLst/>
              <a:uLnTx/>
              <a:uFillTx/>
              <a:latin typeface="Calibri" panose="020F0502020204030204" pitchFamily="34" charset="0"/>
              <a:ea typeface="+mn-ea"/>
              <a:cs typeface="Calibri" panose="020F0502020204030204" pitchFamily="34" charset="0"/>
            </a:endParaRPr>
          </a:p>
          <a:p>
            <a:endParaRPr lang="en-US" sz="1200"/>
          </a:p>
        </p:txBody>
      </p:sp>
      <p:sp>
        <p:nvSpPr>
          <p:cNvPr id="6" name="Rectangle 5">
            <a:extLst>
              <a:ext uri="{FF2B5EF4-FFF2-40B4-BE49-F238E27FC236}">
                <a16:creationId xmlns:a16="http://schemas.microsoft.com/office/drawing/2014/main" id="{C3F83F61-175B-38CA-764B-DCF970A83555}"/>
              </a:ext>
            </a:extLst>
          </p:cNvPr>
          <p:cNvSpPr/>
          <p:nvPr/>
        </p:nvSpPr>
        <p:spPr>
          <a:xfrm>
            <a:off x="8594233" y="1700611"/>
            <a:ext cx="3147053" cy="678321"/>
          </a:xfrm>
          <a:prstGeom prst="rect">
            <a:avLst/>
          </a:prstGeom>
          <a:solidFill>
            <a:schemeClr val="accent6"/>
          </a:solidFill>
          <a:ln w="6350" cap="flat" cmpd="sng" algn="ctr">
            <a:solidFill>
              <a:schemeClr val="bg1">
                <a:lumMod val="95000"/>
              </a:scheme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3. Fine tuning of Challenger and EUC model as they would run parallel to each other</a:t>
            </a:r>
          </a:p>
        </p:txBody>
      </p:sp>
      <p:sp>
        <p:nvSpPr>
          <p:cNvPr id="7" name="Rectangle 6">
            <a:extLst>
              <a:ext uri="{FF2B5EF4-FFF2-40B4-BE49-F238E27FC236}">
                <a16:creationId xmlns:a16="http://schemas.microsoft.com/office/drawing/2014/main" id="{E16FBE78-BC71-1A42-89A2-6DFC1057038E}"/>
              </a:ext>
            </a:extLst>
          </p:cNvPr>
          <p:cNvSpPr/>
          <p:nvPr/>
        </p:nvSpPr>
        <p:spPr>
          <a:xfrm>
            <a:off x="1983891" y="1700611"/>
            <a:ext cx="2597634" cy="673069"/>
          </a:xfrm>
          <a:prstGeom prst="rect">
            <a:avLst/>
          </a:prstGeom>
          <a:solidFill>
            <a:schemeClr val="accent6"/>
          </a:solidFill>
          <a:ln w="6350" cap="flat" cmpd="sng" algn="ctr">
            <a:solidFill>
              <a:schemeClr val="bg1">
                <a:lumMod val="95000"/>
              </a:scheme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1. Significant time and effort needed to understand regulatory changes for DAC disclosures under LDTI</a:t>
            </a:r>
          </a:p>
        </p:txBody>
      </p:sp>
      <p:sp>
        <p:nvSpPr>
          <p:cNvPr id="8" name="Rectangle 7">
            <a:extLst>
              <a:ext uri="{FF2B5EF4-FFF2-40B4-BE49-F238E27FC236}">
                <a16:creationId xmlns:a16="http://schemas.microsoft.com/office/drawing/2014/main" id="{50217993-945B-F4C3-118B-E03792763B7D}"/>
              </a:ext>
            </a:extLst>
          </p:cNvPr>
          <p:cNvSpPr/>
          <p:nvPr/>
        </p:nvSpPr>
        <p:spPr>
          <a:xfrm>
            <a:off x="4805083" y="1700611"/>
            <a:ext cx="3565593" cy="678321"/>
          </a:xfrm>
          <a:prstGeom prst="rect">
            <a:avLst/>
          </a:prstGeom>
          <a:solidFill>
            <a:schemeClr val="accent6"/>
          </a:solidFill>
          <a:ln w="6350" cap="flat" cmpd="sng" algn="ctr">
            <a:solidFill>
              <a:schemeClr val="bg1">
                <a:lumMod val="95000"/>
              </a:scheme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2. Creating a model challenger framework that is  useful for model stakeholders for faster identification of errors and improving reliability of EUC</a:t>
            </a:r>
          </a:p>
        </p:txBody>
      </p:sp>
      <p:sp>
        <p:nvSpPr>
          <p:cNvPr id="9" name="Rectangle 8">
            <a:extLst>
              <a:ext uri="{FF2B5EF4-FFF2-40B4-BE49-F238E27FC236}">
                <a16:creationId xmlns:a16="http://schemas.microsoft.com/office/drawing/2014/main" id="{76FB52F4-FCE9-6DEE-6DE2-61346F5A2BF5}"/>
              </a:ext>
            </a:extLst>
          </p:cNvPr>
          <p:cNvSpPr/>
          <p:nvPr/>
        </p:nvSpPr>
        <p:spPr>
          <a:xfrm>
            <a:off x="464155" y="1700610"/>
            <a:ext cx="1440846" cy="678321"/>
          </a:xfrm>
          <a:prstGeom prst="rect">
            <a:avLst/>
          </a:prstGeom>
          <a:solidFill>
            <a:schemeClr val="accent3"/>
          </a:solidFill>
          <a:ln w="635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chemeClr val="bg2"/>
                </a:solidFill>
                <a:effectLst/>
                <a:uLnTx/>
                <a:uFillTx/>
                <a:latin typeface="Calibri" panose="020F0502020204030204"/>
                <a:ea typeface="+mn-ea"/>
                <a:cs typeface="Calibri" panose="020F0502020204030204" pitchFamily="34" charset="0"/>
              </a:rPr>
              <a:t>Key Challenges:</a:t>
            </a:r>
            <a:endParaRPr kumimoji="0" lang="en-US" sz="1400" b="1" i="0" u="none" strike="noStrike" kern="0" cap="none" spc="0" normalizeH="0" baseline="0" noProof="0">
              <a:ln>
                <a:noFill/>
              </a:ln>
              <a:solidFill>
                <a:schemeClr val="bg2"/>
              </a:solidFill>
              <a:effectLst/>
              <a:uLnTx/>
              <a:uFillTx/>
              <a:latin typeface="Calibri" panose="020F0502020204030204" pitchFamily="34" charset="0"/>
              <a:ea typeface="+mn-ea"/>
              <a:cs typeface="Calibri" panose="020F0502020204030204" pitchFamily="34" charset="0"/>
            </a:endParaRPr>
          </a:p>
        </p:txBody>
      </p:sp>
      <p:sp>
        <p:nvSpPr>
          <p:cNvPr id="10" name="Rectangle 9">
            <a:extLst>
              <a:ext uri="{FF2B5EF4-FFF2-40B4-BE49-F238E27FC236}">
                <a16:creationId xmlns:a16="http://schemas.microsoft.com/office/drawing/2014/main" id="{586B0253-9F94-C3D3-5354-7D67B4B87E88}"/>
              </a:ext>
            </a:extLst>
          </p:cNvPr>
          <p:cNvSpPr/>
          <p:nvPr/>
        </p:nvSpPr>
        <p:spPr>
          <a:xfrm>
            <a:off x="472184" y="6088777"/>
            <a:ext cx="1085683" cy="460181"/>
          </a:xfrm>
          <a:prstGeom prst="rect">
            <a:avLst/>
          </a:prstGeom>
          <a:solidFill>
            <a:schemeClr val="accent3"/>
          </a:solidFill>
          <a:ln w="635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u="none" strike="noStrike" kern="0" cap="none" spc="0" normalizeH="0" baseline="0" noProof="0">
                <a:ln>
                  <a:noFill/>
                </a:ln>
                <a:solidFill>
                  <a:schemeClr val="bg2"/>
                </a:solidFill>
                <a:effectLst/>
                <a:uLnTx/>
                <a:uFillTx/>
                <a:ea typeface="+mn-ea"/>
                <a:cs typeface="Calibri" panose="020F0502020204030204" pitchFamily="34" charset="0"/>
              </a:rPr>
              <a:t>Value Add:</a:t>
            </a:r>
          </a:p>
        </p:txBody>
      </p:sp>
      <p:sp>
        <p:nvSpPr>
          <p:cNvPr id="11" name="Rectangle 10">
            <a:extLst>
              <a:ext uri="{FF2B5EF4-FFF2-40B4-BE49-F238E27FC236}">
                <a16:creationId xmlns:a16="http://schemas.microsoft.com/office/drawing/2014/main" id="{20AB3FB1-A7CA-0BE8-051D-5C5F5C67982E}"/>
              </a:ext>
            </a:extLst>
          </p:cNvPr>
          <p:cNvSpPr/>
          <p:nvPr/>
        </p:nvSpPr>
        <p:spPr>
          <a:xfrm>
            <a:off x="1699270" y="6090267"/>
            <a:ext cx="3291840" cy="457200"/>
          </a:xfrm>
          <a:prstGeom prst="rect">
            <a:avLst/>
          </a:prstGeom>
          <a:solidFill>
            <a:schemeClr val="accent6"/>
          </a:solidFill>
          <a:ln>
            <a:solidFill>
              <a:schemeClr val="accent6"/>
            </a:solidFill>
          </a:ln>
        </p:spPr>
        <p:txBody>
          <a:bodyPr wrap="square">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u="none" strike="noStrike" kern="0" cap="none" spc="0" normalizeH="0" baseline="0" noProof="0">
                <a:ln>
                  <a:noFill/>
                </a:ln>
                <a:effectLst/>
                <a:uLnTx/>
                <a:uFillTx/>
                <a:cs typeface="Calibri" panose="020F0502020204030204" pitchFamily="34" charset="0"/>
              </a:rPr>
              <a:t>1. Timely identification and correction of EUC model errors</a:t>
            </a:r>
          </a:p>
        </p:txBody>
      </p:sp>
      <p:sp>
        <p:nvSpPr>
          <p:cNvPr id="12" name="Rectangle 11">
            <a:extLst>
              <a:ext uri="{FF2B5EF4-FFF2-40B4-BE49-F238E27FC236}">
                <a16:creationId xmlns:a16="http://schemas.microsoft.com/office/drawing/2014/main" id="{91E8ED39-485C-D5A1-E967-987FDD0F5324}"/>
              </a:ext>
            </a:extLst>
          </p:cNvPr>
          <p:cNvSpPr/>
          <p:nvPr/>
        </p:nvSpPr>
        <p:spPr>
          <a:xfrm>
            <a:off x="8594232" y="6090267"/>
            <a:ext cx="3147053" cy="457200"/>
          </a:xfrm>
          <a:prstGeom prst="rect">
            <a:avLst/>
          </a:prstGeom>
          <a:solidFill>
            <a:schemeClr val="accent6"/>
          </a:solidFill>
          <a:ln>
            <a:solidFill>
              <a:schemeClr val="accent6"/>
            </a:solidFill>
          </a:ln>
        </p:spPr>
        <p:txBody>
          <a:bodyPr wrap="square">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u="none" strike="noStrike" kern="0" cap="none" spc="0" normalizeH="0" baseline="0" noProof="0">
                <a:ln>
                  <a:noFill/>
                </a:ln>
                <a:effectLst/>
                <a:uLnTx/>
                <a:uFillTx/>
                <a:cs typeface="Calibri" panose="020F0502020204030204" pitchFamily="34" charset="0"/>
              </a:rPr>
              <a:t>3. Provides a simple check to the complex model calculations</a:t>
            </a:r>
          </a:p>
        </p:txBody>
      </p:sp>
      <p:sp>
        <p:nvSpPr>
          <p:cNvPr id="13" name="Rectangle 12">
            <a:extLst>
              <a:ext uri="{FF2B5EF4-FFF2-40B4-BE49-F238E27FC236}">
                <a16:creationId xmlns:a16="http://schemas.microsoft.com/office/drawing/2014/main" id="{4CECAB7D-4C35-B68D-94F7-5A1771574FFA}"/>
              </a:ext>
            </a:extLst>
          </p:cNvPr>
          <p:cNvSpPr/>
          <p:nvPr/>
        </p:nvSpPr>
        <p:spPr>
          <a:xfrm>
            <a:off x="5146751" y="6090267"/>
            <a:ext cx="3291840" cy="457200"/>
          </a:xfrm>
          <a:prstGeom prst="rect">
            <a:avLst/>
          </a:prstGeom>
          <a:solidFill>
            <a:schemeClr val="accent6"/>
          </a:solidFill>
          <a:ln>
            <a:solidFill>
              <a:schemeClr val="accent6"/>
            </a:solidFill>
          </a:ln>
        </p:spPr>
        <p:txBody>
          <a:bodyPr wrap="square">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u="none" strike="noStrike" kern="0" cap="none" spc="0" normalizeH="0" baseline="0" noProof="0">
                <a:ln>
                  <a:noFill/>
                </a:ln>
                <a:effectLst/>
                <a:uLnTx/>
                <a:uFillTx/>
                <a:cs typeface="Calibri" panose="020F0502020204030204" pitchFamily="34" charset="0"/>
              </a:rPr>
              <a:t>2. Confidence that the figures to be published are accurate and in line with the regulations in place</a:t>
            </a:r>
          </a:p>
        </p:txBody>
      </p:sp>
      <p:sp>
        <p:nvSpPr>
          <p:cNvPr id="14" name="Rectangle 13">
            <a:extLst>
              <a:ext uri="{FF2B5EF4-FFF2-40B4-BE49-F238E27FC236}">
                <a16:creationId xmlns:a16="http://schemas.microsoft.com/office/drawing/2014/main" id="{83E63452-94BA-BD95-859A-5B166508573C}"/>
              </a:ext>
            </a:extLst>
          </p:cNvPr>
          <p:cNvSpPr/>
          <p:nvPr/>
        </p:nvSpPr>
        <p:spPr>
          <a:xfrm>
            <a:off x="9391139" y="2552689"/>
            <a:ext cx="2343661" cy="3371620"/>
          </a:xfrm>
          <a:prstGeom prst="rect">
            <a:avLst/>
          </a:prstGeom>
          <a:solidFill>
            <a:sysClr val="window" lastClr="FFFFFF"/>
          </a:solidFill>
          <a:ln w="12700" cap="flat" cmpd="sng" algn="ctr">
            <a:solidFill>
              <a:srgbClr val="44546A">
                <a:lumMod val="20000"/>
                <a:lumOff val="8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u="none" strike="noStrike" kern="0" cap="none" spc="0" normalizeH="0" baseline="0" noProof="0">
              <a:ln>
                <a:solidFill>
                  <a:srgbClr val="5B9BD5">
                    <a:lumMod val="75000"/>
                  </a:srgbClr>
                </a:solidFill>
              </a:ln>
              <a:solidFill>
                <a:prstClr val="black"/>
              </a:solidFill>
              <a:effectLst/>
              <a:uLnTx/>
              <a:uFillTx/>
              <a:ea typeface="+mn-ea"/>
              <a:cs typeface="+mn-cs"/>
            </a:endParaRPr>
          </a:p>
        </p:txBody>
      </p:sp>
      <p:sp>
        <p:nvSpPr>
          <p:cNvPr id="15" name="Rectangle 14">
            <a:extLst>
              <a:ext uri="{FF2B5EF4-FFF2-40B4-BE49-F238E27FC236}">
                <a16:creationId xmlns:a16="http://schemas.microsoft.com/office/drawing/2014/main" id="{7768FBE7-564E-522D-24F4-E9347D4C1800}"/>
              </a:ext>
            </a:extLst>
          </p:cNvPr>
          <p:cNvSpPr/>
          <p:nvPr/>
        </p:nvSpPr>
        <p:spPr>
          <a:xfrm>
            <a:off x="7203579" y="2552689"/>
            <a:ext cx="2048403" cy="3363814"/>
          </a:xfrm>
          <a:prstGeom prst="rect">
            <a:avLst/>
          </a:prstGeom>
          <a:solidFill>
            <a:sysClr val="window" lastClr="FFFFFF"/>
          </a:solidFill>
          <a:ln w="12700" cap="flat" cmpd="sng" algn="ctr">
            <a:solidFill>
              <a:srgbClr val="44546A">
                <a:lumMod val="20000"/>
                <a:lumOff val="8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u="none" strike="noStrike" kern="0" cap="none" spc="0" normalizeH="0" baseline="0" noProof="0">
              <a:ln>
                <a:solidFill>
                  <a:srgbClr val="5B9BD5">
                    <a:lumMod val="75000"/>
                  </a:srgbClr>
                </a:solidFill>
              </a:ln>
              <a:solidFill>
                <a:prstClr val="black"/>
              </a:solidFill>
              <a:effectLst/>
              <a:uLnTx/>
              <a:uFillTx/>
              <a:ea typeface="+mn-ea"/>
              <a:cs typeface="+mn-cs"/>
            </a:endParaRPr>
          </a:p>
        </p:txBody>
      </p:sp>
      <p:sp>
        <p:nvSpPr>
          <p:cNvPr id="16" name="Rectangle 15">
            <a:extLst>
              <a:ext uri="{FF2B5EF4-FFF2-40B4-BE49-F238E27FC236}">
                <a16:creationId xmlns:a16="http://schemas.microsoft.com/office/drawing/2014/main" id="{DCA57C7E-30D1-33F5-FBD5-C47F108C745A}"/>
              </a:ext>
            </a:extLst>
          </p:cNvPr>
          <p:cNvSpPr/>
          <p:nvPr/>
        </p:nvSpPr>
        <p:spPr>
          <a:xfrm>
            <a:off x="5086515" y="2552689"/>
            <a:ext cx="2039991" cy="3343455"/>
          </a:xfrm>
          <a:prstGeom prst="rect">
            <a:avLst/>
          </a:prstGeom>
          <a:solidFill>
            <a:sysClr val="window" lastClr="FFFFFF"/>
          </a:solidFill>
          <a:ln w="12700" cap="flat" cmpd="sng" algn="ctr">
            <a:solidFill>
              <a:srgbClr val="44546A">
                <a:lumMod val="20000"/>
                <a:lumOff val="8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u="none" strike="noStrike" kern="0" cap="none" spc="0" normalizeH="0" baseline="0" noProof="0">
              <a:ln>
                <a:solidFill>
                  <a:srgbClr val="5B9BD5">
                    <a:lumMod val="75000"/>
                  </a:srgbClr>
                </a:solidFill>
              </a:ln>
              <a:solidFill>
                <a:prstClr val="black"/>
              </a:solidFill>
              <a:effectLst/>
              <a:uLnTx/>
              <a:uFillTx/>
              <a:ea typeface="+mn-ea"/>
              <a:cs typeface="+mn-cs"/>
            </a:endParaRPr>
          </a:p>
        </p:txBody>
      </p:sp>
      <p:sp>
        <p:nvSpPr>
          <p:cNvPr id="17" name="Rectangle 16">
            <a:extLst>
              <a:ext uri="{FF2B5EF4-FFF2-40B4-BE49-F238E27FC236}">
                <a16:creationId xmlns:a16="http://schemas.microsoft.com/office/drawing/2014/main" id="{AE2E15D5-FD06-9A9D-F926-0DF32F6BF1D3}"/>
              </a:ext>
            </a:extLst>
          </p:cNvPr>
          <p:cNvSpPr/>
          <p:nvPr/>
        </p:nvSpPr>
        <p:spPr>
          <a:xfrm>
            <a:off x="2780380" y="2552689"/>
            <a:ext cx="2115838" cy="3393259"/>
          </a:xfrm>
          <a:prstGeom prst="rect">
            <a:avLst/>
          </a:prstGeom>
          <a:solidFill>
            <a:sysClr val="window" lastClr="FFFFFF"/>
          </a:solidFill>
          <a:ln w="12700" cap="flat" cmpd="sng" algn="ctr">
            <a:solidFill>
              <a:srgbClr val="44546A">
                <a:lumMod val="20000"/>
                <a:lumOff val="8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u="none" strike="noStrike" kern="0" cap="none" spc="0" normalizeH="0" baseline="0" noProof="0">
              <a:ln>
                <a:solidFill>
                  <a:srgbClr val="5B9BD5">
                    <a:lumMod val="75000"/>
                  </a:srgbClr>
                </a:solidFill>
              </a:ln>
              <a:solidFill>
                <a:prstClr val="black"/>
              </a:solidFill>
              <a:effectLst/>
              <a:uLnTx/>
              <a:uFillTx/>
              <a:ea typeface="+mn-ea"/>
              <a:cs typeface="+mn-cs"/>
            </a:endParaRPr>
          </a:p>
        </p:txBody>
      </p:sp>
      <p:pic>
        <p:nvPicPr>
          <p:cNvPr id="18" name="Picture 17" descr="Clipboard Notes Message · Free vector graphic on Pixabay">
            <a:extLst>
              <a:ext uri="{FF2B5EF4-FFF2-40B4-BE49-F238E27FC236}">
                <a16:creationId xmlns:a16="http://schemas.microsoft.com/office/drawing/2014/main" id="{DB7D5BBE-6E1F-E55C-71B7-21574043DD65}"/>
              </a:ext>
            </a:extLst>
          </p:cNvPr>
          <p:cNvPicPr>
            <a:picLocks noChangeAspect="1"/>
          </p:cNvPicPr>
          <p:nvPr/>
        </p:nvPicPr>
        <p:blipFill>
          <a:blip r:embed="rId2"/>
          <a:stretch>
            <a:fillRect/>
          </a:stretch>
        </p:blipFill>
        <p:spPr>
          <a:xfrm>
            <a:off x="6180931" y="4263278"/>
            <a:ext cx="19050" cy="9525"/>
          </a:xfrm>
          <a:prstGeom prst="rect">
            <a:avLst/>
          </a:prstGeom>
        </p:spPr>
      </p:pic>
      <p:sp>
        <p:nvSpPr>
          <p:cNvPr id="19" name="Freeform: Shape 12">
            <a:extLst>
              <a:ext uri="{FF2B5EF4-FFF2-40B4-BE49-F238E27FC236}">
                <a16:creationId xmlns:a16="http://schemas.microsoft.com/office/drawing/2014/main" id="{264B19F3-173A-9519-7FFD-62C2D64D6F99}"/>
              </a:ext>
            </a:extLst>
          </p:cNvPr>
          <p:cNvSpPr/>
          <p:nvPr/>
        </p:nvSpPr>
        <p:spPr>
          <a:xfrm>
            <a:off x="2702226" y="2832708"/>
            <a:ext cx="642964" cy="538368"/>
          </a:xfrm>
          <a:custGeom>
            <a:avLst/>
            <a:gdLst>
              <a:gd name="connsiteX0" fmla="*/ 0 w 1593519"/>
              <a:gd name="connsiteY0" fmla="*/ 0 h 2808000"/>
              <a:gd name="connsiteX1" fmla="*/ 1593519 w 1593519"/>
              <a:gd name="connsiteY1" fmla="*/ 0 h 2808000"/>
              <a:gd name="connsiteX2" fmla="*/ 1593519 w 1593519"/>
              <a:gd name="connsiteY2" fmla="*/ 2808000 h 2808000"/>
              <a:gd name="connsiteX3" fmla="*/ 0 w 1593519"/>
              <a:gd name="connsiteY3" fmla="*/ 2808000 h 2808000"/>
              <a:gd name="connsiteX4" fmla="*/ 0 w 1593519"/>
              <a:gd name="connsiteY4" fmla="*/ 0 h 280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3519" h="2808000">
                <a:moveTo>
                  <a:pt x="0" y="0"/>
                </a:moveTo>
                <a:lnTo>
                  <a:pt x="1593519" y="0"/>
                </a:lnTo>
                <a:lnTo>
                  <a:pt x="1593519" y="2808000"/>
                </a:lnTo>
                <a:lnTo>
                  <a:pt x="0" y="2808000"/>
                </a:lnTo>
                <a:lnTo>
                  <a:pt x="0" y="0"/>
                </a:lnTo>
                <a:close/>
              </a:path>
            </a:pathLst>
          </a:custGeom>
          <a:noFill/>
          <a:ln>
            <a:noFill/>
          </a:ln>
          <a:effectLst/>
        </p:spPr>
        <p:txBody>
          <a:bodyPr spcFirstLastPara="0" vert="horz" wrap="square" lIns="0" tIns="0" rIns="0" bIns="0" numCol="1" spcCol="1270" anchor="t"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u="none" strike="noStrike" kern="0" cap="none" spc="0" normalizeH="0" baseline="0" noProof="0">
              <a:ln>
                <a:noFill/>
              </a:ln>
              <a:solidFill>
                <a:srgbClr val="000000"/>
              </a:solidFill>
              <a:effectLst/>
              <a:uLnTx/>
              <a:uFillTx/>
              <a:ea typeface="+mn-ea"/>
              <a:cs typeface="Calibri" panose="020F0502020204030204" pitchFamily="34" charset="0"/>
            </a:endParaRPr>
          </a:p>
        </p:txBody>
      </p:sp>
      <p:sp>
        <p:nvSpPr>
          <p:cNvPr id="20" name="Rectangle 19">
            <a:extLst>
              <a:ext uri="{FF2B5EF4-FFF2-40B4-BE49-F238E27FC236}">
                <a16:creationId xmlns:a16="http://schemas.microsoft.com/office/drawing/2014/main" id="{E5A43998-09A5-CB6C-4811-B3719728BF89}"/>
              </a:ext>
            </a:extLst>
          </p:cNvPr>
          <p:cNvSpPr/>
          <p:nvPr/>
        </p:nvSpPr>
        <p:spPr>
          <a:xfrm>
            <a:off x="10001581" y="2610510"/>
            <a:ext cx="1733219" cy="457200"/>
          </a:xfrm>
          <a:prstGeom prst="rect">
            <a:avLst/>
          </a:prstGeom>
          <a:solidFill>
            <a:schemeClr val="tx1">
              <a:lumMod val="75000"/>
              <a:lumOff val="2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u="none" strike="noStrike" kern="0" cap="none" spc="0" normalizeH="0" baseline="0" noProof="0">
                <a:ln>
                  <a:noFill/>
                </a:ln>
                <a:solidFill>
                  <a:prstClr val="white"/>
                </a:solidFill>
                <a:effectLst/>
                <a:uLnTx/>
                <a:uFillTx/>
                <a:ea typeface="+mn-ea"/>
                <a:cs typeface="+mn-cs"/>
              </a:rPr>
              <a:t>Step 5) Report Summary </a:t>
            </a:r>
          </a:p>
        </p:txBody>
      </p:sp>
      <p:pic>
        <p:nvPicPr>
          <p:cNvPr id="21" name="Picture 20" descr="File:Document icon (the Noun Project 27904).svg - Wikimedia Commons">
            <a:extLst>
              <a:ext uri="{FF2B5EF4-FFF2-40B4-BE49-F238E27FC236}">
                <a16:creationId xmlns:a16="http://schemas.microsoft.com/office/drawing/2014/main" id="{237FBCA6-2F1F-55B8-AF17-36CDEC7DA5E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2184" y="2665175"/>
            <a:ext cx="417143" cy="347870"/>
          </a:xfrm>
          <a:prstGeom prst="rect">
            <a:avLst/>
          </a:prstGeom>
          <a:ln>
            <a:noFill/>
          </a:ln>
          <a:effectLst>
            <a:outerShdw blurRad="190500" algn="tl" rotWithShape="0">
              <a:srgbClr val="000000">
                <a:alpha val="70000"/>
              </a:srgbClr>
            </a:outerShdw>
            <a:softEdge rad="0"/>
          </a:effectLst>
        </p:spPr>
      </p:pic>
      <p:sp>
        <p:nvSpPr>
          <p:cNvPr id="22" name="TextBox 21">
            <a:extLst>
              <a:ext uri="{FF2B5EF4-FFF2-40B4-BE49-F238E27FC236}">
                <a16:creationId xmlns:a16="http://schemas.microsoft.com/office/drawing/2014/main" id="{D5603E24-DDBD-3F61-3A73-B008FB14AC62}"/>
              </a:ext>
            </a:extLst>
          </p:cNvPr>
          <p:cNvSpPr txBox="1"/>
          <p:nvPr/>
        </p:nvSpPr>
        <p:spPr>
          <a:xfrm>
            <a:off x="1029574" y="2620053"/>
            <a:ext cx="1654923" cy="457200"/>
          </a:xfrm>
          <a:prstGeom prst="rect">
            <a:avLst/>
          </a:prstGeom>
          <a:solidFill>
            <a:schemeClr val="accent1"/>
          </a:solidFill>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u="none" strike="noStrike" kern="0" cap="none" spc="0" normalizeH="0" baseline="0" noProof="0">
                <a:ln>
                  <a:noFill/>
                </a:ln>
                <a:solidFill>
                  <a:prstClr val="white"/>
                </a:solidFill>
                <a:effectLst/>
                <a:uLnTx/>
                <a:uFillTx/>
              </a:rPr>
              <a:t>Step 1) Requirement Gathering &amp; Design </a:t>
            </a:r>
          </a:p>
        </p:txBody>
      </p:sp>
      <p:sp>
        <p:nvSpPr>
          <p:cNvPr id="23" name="TextBox 22">
            <a:extLst>
              <a:ext uri="{FF2B5EF4-FFF2-40B4-BE49-F238E27FC236}">
                <a16:creationId xmlns:a16="http://schemas.microsoft.com/office/drawing/2014/main" id="{1FE03F9E-FEFD-A410-D44C-79ECE1915633}"/>
              </a:ext>
            </a:extLst>
          </p:cNvPr>
          <p:cNvSpPr txBox="1"/>
          <p:nvPr/>
        </p:nvSpPr>
        <p:spPr>
          <a:xfrm>
            <a:off x="3282604" y="2620053"/>
            <a:ext cx="1580434" cy="457200"/>
          </a:xfrm>
          <a:prstGeom prst="rect">
            <a:avLst/>
          </a:prstGeom>
          <a:solidFill>
            <a:schemeClr val="accent3"/>
          </a:solidFill>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u="none" strike="noStrike" kern="0" cap="none" spc="0" normalizeH="0" baseline="0" noProof="0">
                <a:ln>
                  <a:noFill/>
                </a:ln>
                <a:solidFill>
                  <a:prstClr val="white"/>
                </a:solidFill>
                <a:effectLst/>
                <a:uLnTx/>
                <a:uFillTx/>
              </a:rPr>
              <a:t>Step 2) Model Input</a:t>
            </a:r>
          </a:p>
        </p:txBody>
      </p:sp>
      <p:sp>
        <p:nvSpPr>
          <p:cNvPr id="24" name="TextBox 23">
            <a:extLst>
              <a:ext uri="{FF2B5EF4-FFF2-40B4-BE49-F238E27FC236}">
                <a16:creationId xmlns:a16="http://schemas.microsoft.com/office/drawing/2014/main" id="{333C5B1E-2CB8-D075-16F9-9444ECFA9093}"/>
              </a:ext>
            </a:extLst>
          </p:cNvPr>
          <p:cNvSpPr txBox="1"/>
          <p:nvPr/>
        </p:nvSpPr>
        <p:spPr>
          <a:xfrm>
            <a:off x="5695946" y="2620053"/>
            <a:ext cx="1420523" cy="457200"/>
          </a:xfrm>
          <a:prstGeom prst="rect">
            <a:avLst/>
          </a:prstGeom>
          <a:solidFill>
            <a:schemeClr val="accent4"/>
          </a:solidFill>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u="none" strike="noStrike" kern="0" cap="none" spc="0" normalizeH="0" baseline="0" noProof="0">
                <a:ln>
                  <a:noFill/>
                </a:ln>
                <a:solidFill>
                  <a:prstClr val="white"/>
                </a:solidFill>
                <a:effectLst/>
                <a:uLnTx/>
                <a:uFillTx/>
              </a:rPr>
              <a:t>Step 3) Model Build</a:t>
            </a:r>
          </a:p>
        </p:txBody>
      </p:sp>
      <p:sp>
        <p:nvSpPr>
          <p:cNvPr id="25" name="Freeform 85">
            <a:extLst>
              <a:ext uri="{FF2B5EF4-FFF2-40B4-BE49-F238E27FC236}">
                <a16:creationId xmlns:a16="http://schemas.microsoft.com/office/drawing/2014/main" id="{364B4919-051B-5098-6903-BF3F46159ED0}"/>
              </a:ext>
            </a:extLst>
          </p:cNvPr>
          <p:cNvSpPr>
            <a:spLocks noChangeAspect="1" noEditPoints="1"/>
          </p:cNvSpPr>
          <p:nvPr/>
        </p:nvSpPr>
        <p:spPr bwMode="auto">
          <a:xfrm>
            <a:off x="2866954" y="2709328"/>
            <a:ext cx="333445" cy="251097"/>
          </a:xfrm>
          <a:custGeom>
            <a:avLst/>
            <a:gdLst>
              <a:gd name="T0" fmla="*/ 1889 w 3186"/>
              <a:gd name="T1" fmla="*/ 618 h 1908"/>
              <a:gd name="T2" fmla="*/ 1289 w 3186"/>
              <a:gd name="T3" fmla="*/ 710 h 1908"/>
              <a:gd name="T4" fmla="*/ 1094 w 3186"/>
              <a:gd name="T5" fmla="*/ 687 h 1908"/>
              <a:gd name="T6" fmla="*/ 1240 w 3186"/>
              <a:gd name="T7" fmla="*/ 1132 h 1908"/>
              <a:gd name="T8" fmla="*/ 1890 w 3186"/>
              <a:gd name="T9" fmla="*/ 1126 h 1908"/>
              <a:gd name="T10" fmla="*/ 2980 w 3186"/>
              <a:gd name="T11" fmla="*/ 856 h 1908"/>
              <a:gd name="T12" fmla="*/ 3171 w 3186"/>
              <a:gd name="T13" fmla="*/ 681 h 1908"/>
              <a:gd name="T14" fmla="*/ 3101 w 3186"/>
              <a:gd name="T15" fmla="*/ 427 h 1908"/>
              <a:gd name="T16" fmla="*/ 2688 w 3186"/>
              <a:gd name="T17" fmla="*/ 427 h 1908"/>
              <a:gd name="T18" fmla="*/ 2628 w 3186"/>
              <a:gd name="T19" fmla="*/ 686 h 1908"/>
              <a:gd name="T20" fmla="*/ 2789 w 3186"/>
              <a:gd name="T21" fmla="*/ 916 h 1908"/>
              <a:gd name="T22" fmla="*/ 2728 w 3186"/>
              <a:gd name="T23" fmla="*/ 486 h 1908"/>
              <a:gd name="T24" fmla="*/ 2891 w 3186"/>
              <a:gd name="T25" fmla="*/ 695 h 1908"/>
              <a:gd name="T26" fmla="*/ 2932 w 3186"/>
              <a:gd name="T27" fmla="*/ 848 h 1908"/>
              <a:gd name="T28" fmla="*/ 2740 w 3186"/>
              <a:gd name="T29" fmla="*/ 849 h 1908"/>
              <a:gd name="T30" fmla="*/ 1383 w 3186"/>
              <a:gd name="T31" fmla="*/ 572 h 1908"/>
              <a:gd name="T32" fmla="*/ 3146 w 3186"/>
              <a:gd name="T33" fmla="*/ 1170 h 1908"/>
              <a:gd name="T34" fmla="*/ 3018 w 3186"/>
              <a:gd name="T35" fmla="*/ 1001 h 1908"/>
              <a:gd name="T36" fmla="*/ 2632 w 3186"/>
              <a:gd name="T37" fmla="*/ 1071 h 1908"/>
              <a:gd name="T38" fmla="*/ 2365 w 3186"/>
              <a:gd name="T39" fmla="*/ 1345 h 1908"/>
              <a:gd name="T40" fmla="*/ 1516 w 3186"/>
              <a:gd name="T41" fmla="*/ 1204 h 1908"/>
              <a:gd name="T42" fmla="*/ 668 w 3186"/>
              <a:gd name="T43" fmla="*/ 1406 h 1908"/>
              <a:gd name="T44" fmla="*/ 451 w 3186"/>
              <a:gd name="T45" fmla="*/ 1004 h 1908"/>
              <a:gd name="T46" fmla="*/ 68 w 3186"/>
              <a:gd name="T47" fmla="*/ 1069 h 1908"/>
              <a:gd name="T48" fmla="*/ 134 w 3186"/>
              <a:gd name="T49" fmla="*/ 1109 h 1908"/>
              <a:gd name="T50" fmla="*/ 444 w 3186"/>
              <a:gd name="T51" fmla="*/ 1083 h 1908"/>
              <a:gd name="T52" fmla="*/ 956 w 3186"/>
              <a:gd name="T53" fmla="*/ 1696 h 1908"/>
              <a:gd name="T54" fmla="*/ 263 w 3186"/>
              <a:gd name="T55" fmla="*/ 1794 h 1908"/>
              <a:gd name="T56" fmla="*/ 2848 w 3186"/>
              <a:gd name="T57" fmla="*/ 1697 h 1908"/>
              <a:gd name="T58" fmla="*/ 2664 w 3186"/>
              <a:gd name="T59" fmla="*/ 1150 h 1908"/>
              <a:gd name="T60" fmla="*/ 2795 w 3186"/>
              <a:gd name="T61" fmla="*/ 1075 h 1908"/>
              <a:gd name="T62" fmla="*/ 3065 w 3186"/>
              <a:gd name="T63" fmla="*/ 1149 h 1908"/>
              <a:gd name="T64" fmla="*/ 1360 w 3186"/>
              <a:gd name="T65" fmla="*/ 1632 h 1908"/>
              <a:gd name="T66" fmla="*/ 143 w 3186"/>
              <a:gd name="T67" fmla="*/ 828 h 1908"/>
              <a:gd name="T68" fmla="*/ 351 w 3186"/>
              <a:gd name="T69" fmla="*/ 917 h 1908"/>
              <a:gd name="T70" fmla="*/ 516 w 3186"/>
              <a:gd name="T71" fmla="*/ 631 h 1908"/>
              <a:gd name="T72" fmla="*/ 472 w 3186"/>
              <a:gd name="T73" fmla="*/ 436 h 1908"/>
              <a:gd name="T74" fmla="*/ 300 w 3186"/>
              <a:gd name="T75" fmla="*/ 385 h 1908"/>
              <a:gd name="T76" fmla="*/ 122 w 3186"/>
              <a:gd name="T77" fmla="*/ 464 h 1908"/>
              <a:gd name="T78" fmla="*/ 77 w 3186"/>
              <a:gd name="T79" fmla="*/ 736 h 1908"/>
              <a:gd name="T80" fmla="*/ 446 w 3186"/>
              <a:gd name="T81" fmla="*/ 523 h 1908"/>
              <a:gd name="T82" fmla="*/ 447 w 3186"/>
              <a:gd name="T83" fmla="*/ 801 h 1908"/>
              <a:gd name="T84" fmla="*/ 244 w 3186"/>
              <a:gd name="T85" fmla="*/ 868 h 1908"/>
              <a:gd name="T86" fmla="*/ 1537 w 3186"/>
              <a:gd name="T87" fmla="*/ 1467 h 1908"/>
              <a:gd name="T88" fmla="*/ 1637 w 3186"/>
              <a:gd name="T89" fmla="*/ 1409 h 1908"/>
              <a:gd name="T90" fmla="*/ 1559 w 3186"/>
              <a:gd name="T91" fmla="*/ 1340 h 1908"/>
              <a:gd name="T92" fmla="*/ 1441 w 3186"/>
              <a:gd name="T93" fmla="*/ 1379 h 1908"/>
              <a:gd name="T94" fmla="*/ 1483 w 3186"/>
              <a:gd name="T95" fmla="*/ 1459 h 1908"/>
              <a:gd name="T96" fmla="*/ 1598 w 3186"/>
              <a:gd name="T97" fmla="*/ 1396 h 1908"/>
              <a:gd name="T98" fmla="*/ 1486 w 3186"/>
              <a:gd name="T99" fmla="*/ 1414 h 1908"/>
              <a:gd name="T100" fmla="*/ 1364 w 3186"/>
              <a:gd name="T101" fmla="*/ 504 h 1908"/>
              <a:gd name="T102" fmla="*/ 1520 w 3186"/>
              <a:gd name="T103" fmla="*/ 529 h 1908"/>
              <a:gd name="T104" fmla="*/ 1758 w 3186"/>
              <a:gd name="T105" fmla="*/ 494 h 1908"/>
              <a:gd name="T106" fmla="*/ 1762 w 3186"/>
              <a:gd name="T107" fmla="*/ 197 h 1908"/>
              <a:gd name="T108" fmla="*/ 1543 w 3186"/>
              <a:gd name="T109" fmla="*/ 1 h 1908"/>
              <a:gd name="T110" fmla="*/ 1352 w 3186"/>
              <a:gd name="T111" fmla="*/ 60 h 1908"/>
              <a:gd name="T112" fmla="*/ 1269 w 3186"/>
              <a:gd name="T113" fmla="*/ 453 h 1908"/>
              <a:gd name="T114" fmla="*/ 1370 w 3186"/>
              <a:gd name="T115" fmla="*/ 254 h 1908"/>
              <a:gd name="T116" fmla="*/ 1536 w 3186"/>
              <a:gd name="T117" fmla="*/ 244 h 1908"/>
              <a:gd name="T118" fmla="*/ 1670 w 3186"/>
              <a:gd name="T119" fmla="*/ 322 h 1908"/>
              <a:gd name="T120" fmla="*/ 1535 w 3186"/>
              <a:gd name="T121" fmla="*/ 489 h 1908"/>
              <a:gd name="T122" fmla="*/ 1376 w 3186"/>
              <a:gd name="T123" fmla="*/ 372 h 19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186" h="1908">
                <a:moveTo>
                  <a:pt x="2067" y="1164"/>
                </a:moveTo>
                <a:lnTo>
                  <a:pt x="2014" y="805"/>
                </a:lnTo>
                <a:lnTo>
                  <a:pt x="2014" y="805"/>
                </a:lnTo>
                <a:lnTo>
                  <a:pt x="2009" y="779"/>
                </a:lnTo>
                <a:lnTo>
                  <a:pt x="2004" y="756"/>
                </a:lnTo>
                <a:lnTo>
                  <a:pt x="1996" y="734"/>
                </a:lnTo>
                <a:lnTo>
                  <a:pt x="1989" y="714"/>
                </a:lnTo>
                <a:lnTo>
                  <a:pt x="1979" y="697"/>
                </a:lnTo>
                <a:lnTo>
                  <a:pt x="1969" y="681"/>
                </a:lnTo>
                <a:lnTo>
                  <a:pt x="1958" y="667"/>
                </a:lnTo>
                <a:lnTo>
                  <a:pt x="1946" y="655"/>
                </a:lnTo>
                <a:lnTo>
                  <a:pt x="1933" y="644"/>
                </a:lnTo>
                <a:lnTo>
                  <a:pt x="1919" y="634"/>
                </a:lnTo>
                <a:lnTo>
                  <a:pt x="1904" y="626"/>
                </a:lnTo>
                <a:lnTo>
                  <a:pt x="1889" y="618"/>
                </a:lnTo>
                <a:lnTo>
                  <a:pt x="1872" y="613"/>
                </a:lnTo>
                <a:lnTo>
                  <a:pt x="1855" y="607"/>
                </a:lnTo>
                <a:lnTo>
                  <a:pt x="1836" y="603"/>
                </a:lnTo>
                <a:lnTo>
                  <a:pt x="1817" y="600"/>
                </a:lnTo>
                <a:lnTo>
                  <a:pt x="1776" y="593"/>
                </a:lnTo>
                <a:lnTo>
                  <a:pt x="1776" y="593"/>
                </a:lnTo>
                <a:lnTo>
                  <a:pt x="1778" y="696"/>
                </a:lnTo>
                <a:lnTo>
                  <a:pt x="1778" y="710"/>
                </a:lnTo>
                <a:lnTo>
                  <a:pt x="1764" y="714"/>
                </a:lnTo>
                <a:lnTo>
                  <a:pt x="1731" y="725"/>
                </a:lnTo>
                <a:lnTo>
                  <a:pt x="1779" y="768"/>
                </a:lnTo>
                <a:lnTo>
                  <a:pt x="1528" y="1052"/>
                </a:lnTo>
                <a:lnTo>
                  <a:pt x="1288" y="766"/>
                </a:lnTo>
                <a:lnTo>
                  <a:pt x="1335" y="725"/>
                </a:lnTo>
                <a:lnTo>
                  <a:pt x="1289" y="710"/>
                </a:lnTo>
                <a:lnTo>
                  <a:pt x="1289" y="696"/>
                </a:lnTo>
                <a:lnTo>
                  <a:pt x="1289" y="696"/>
                </a:lnTo>
                <a:lnTo>
                  <a:pt x="1290" y="591"/>
                </a:lnTo>
                <a:lnTo>
                  <a:pt x="1237" y="602"/>
                </a:lnTo>
                <a:lnTo>
                  <a:pt x="1237" y="602"/>
                </a:lnTo>
                <a:lnTo>
                  <a:pt x="1219" y="606"/>
                </a:lnTo>
                <a:lnTo>
                  <a:pt x="1202" y="611"/>
                </a:lnTo>
                <a:lnTo>
                  <a:pt x="1186" y="617"/>
                </a:lnTo>
                <a:lnTo>
                  <a:pt x="1169" y="623"/>
                </a:lnTo>
                <a:lnTo>
                  <a:pt x="1155" y="631"/>
                </a:lnTo>
                <a:lnTo>
                  <a:pt x="1141" y="640"/>
                </a:lnTo>
                <a:lnTo>
                  <a:pt x="1128" y="649"/>
                </a:lnTo>
                <a:lnTo>
                  <a:pt x="1115" y="661"/>
                </a:lnTo>
                <a:lnTo>
                  <a:pt x="1105" y="673"/>
                </a:lnTo>
                <a:lnTo>
                  <a:pt x="1094" y="687"/>
                </a:lnTo>
                <a:lnTo>
                  <a:pt x="1085" y="702"/>
                </a:lnTo>
                <a:lnTo>
                  <a:pt x="1076" y="720"/>
                </a:lnTo>
                <a:lnTo>
                  <a:pt x="1069" y="738"/>
                </a:lnTo>
                <a:lnTo>
                  <a:pt x="1061" y="759"/>
                </a:lnTo>
                <a:lnTo>
                  <a:pt x="1056" y="781"/>
                </a:lnTo>
                <a:lnTo>
                  <a:pt x="1050" y="805"/>
                </a:lnTo>
                <a:lnTo>
                  <a:pt x="993" y="1193"/>
                </a:lnTo>
                <a:lnTo>
                  <a:pt x="993" y="1193"/>
                </a:lnTo>
                <a:lnTo>
                  <a:pt x="1028" y="1182"/>
                </a:lnTo>
                <a:lnTo>
                  <a:pt x="1061" y="1172"/>
                </a:lnTo>
                <a:lnTo>
                  <a:pt x="1097" y="1162"/>
                </a:lnTo>
                <a:lnTo>
                  <a:pt x="1132" y="1153"/>
                </a:lnTo>
                <a:lnTo>
                  <a:pt x="1167" y="1146"/>
                </a:lnTo>
                <a:lnTo>
                  <a:pt x="1203" y="1138"/>
                </a:lnTo>
                <a:lnTo>
                  <a:pt x="1240" y="1132"/>
                </a:lnTo>
                <a:lnTo>
                  <a:pt x="1276" y="1125"/>
                </a:lnTo>
                <a:lnTo>
                  <a:pt x="1313" y="1120"/>
                </a:lnTo>
                <a:lnTo>
                  <a:pt x="1350" y="1116"/>
                </a:lnTo>
                <a:lnTo>
                  <a:pt x="1388" y="1111"/>
                </a:lnTo>
                <a:lnTo>
                  <a:pt x="1425" y="1108"/>
                </a:lnTo>
                <a:lnTo>
                  <a:pt x="1463" y="1105"/>
                </a:lnTo>
                <a:lnTo>
                  <a:pt x="1501" y="1104"/>
                </a:lnTo>
                <a:lnTo>
                  <a:pt x="1540" y="1103"/>
                </a:lnTo>
                <a:lnTo>
                  <a:pt x="1579" y="1101"/>
                </a:lnTo>
                <a:lnTo>
                  <a:pt x="1579" y="1101"/>
                </a:lnTo>
                <a:lnTo>
                  <a:pt x="1643" y="1103"/>
                </a:lnTo>
                <a:lnTo>
                  <a:pt x="1705" y="1106"/>
                </a:lnTo>
                <a:lnTo>
                  <a:pt x="1768" y="1111"/>
                </a:lnTo>
                <a:lnTo>
                  <a:pt x="1830" y="1118"/>
                </a:lnTo>
                <a:lnTo>
                  <a:pt x="1890" y="1126"/>
                </a:lnTo>
                <a:lnTo>
                  <a:pt x="1951" y="1137"/>
                </a:lnTo>
                <a:lnTo>
                  <a:pt x="2010" y="1150"/>
                </a:lnTo>
                <a:lnTo>
                  <a:pt x="2067" y="1164"/>
                </a:lnTo>
                <a:lnTo>
                  <a:pt x="2067" y="1164"/>
                </a:lnTo>
                <a:close/>
                <a:moveTo>
                  <a:pt x="2832" y="923"/>
                </a:moveTo>
                <a:lnTo>
                  <a:pt x="2832" y="923"/>
                </a:lnTo>
                <a:lnTo>
                  <a:pt x="2853" y="921"/>
                </a:lnTo>
                <a:lnTo>
                  <a:pt x="2874" y="918"/>
                </a:lnTo>
                <a:lnTo>
                  <a:pt x="2894" y="913"/>
                </a:lnTo>
                <a:lnTo>
                  <a:pt x="2913" y="905"/>
                </a:lnTo>
                <a:lnTo>
                  <a:pt x="2931" y="895"/>
                </a:lnTo>
                <a:lnTo>
                  <a:pt x="2948" y="885"/>
                </a:lnTo>
                <a:lnTo>
                  <a:pt x="2964" y="872"/>
                </a:lnTo>
                <a:lnTo>
                  <a:pt x="2980" y="856"/>
                </a:lnTo>
                <a:lnTo>
                  <a:pt x="2980" y="856"/>
                </a:lnTo>
                <a:lnTo>
                  <a:pt x="3009" y="840"/>
                </a:lnTo>
                <a:lnTo>
                  <a:pt x="3031" y="826"/>
                </a:lnTo>
                <a:lnTo>
                  <a:pt x="3051" y="813"/>
                </a:lnTo>
                <a:lnTo>
                  <a:pt x="3051" y="813"/>
                </a:lnTo>
                <a:lnTo>
                  <a:pt x="3066" y="809"/>
                </a:lnTo>
                <a:lnTo>
                  <a:pt x="3080" y="802"/>
                </a:lnTo>
                <a:lnTo>
                  <a:pt x="3093" y="794"/>
                </a:lnTo>
                <a:lnTo>
                  <a:pt x="3106" y="784"/>
                </a:lnTo>
                <a:lnTo>
                  <a:pt x="3118" y="772"/>
                </a:lnTo>
                <a:lnTo>
                  <a:pt x="3129" y="760"/>
                </a:lnTo>
                <a:lnTo>
                  <a:pt x="3140" y="746"/>
                </a:lnTo>
                <a:lnTo>
                  <a:pt x="3148" y="731"/>
                </a:lnTo>
                <a:lnTo>
                  <a:pt x="3157" y="714"/>
                </a:lnTo>
                <a:lnTo>
                  <a:pt x="3164" y="698"/>
                </a:lnTo>
                <a:lnTo>
                  <a:pt x="3171" y="681"/>
                </a:lnTo>
                <a:lnTo>
                  <a:pt x="3175" y="662"/>
                </a:lnTo>
                <a:lnTo>
                  <a:pt x="3180" y="644"/>
                </a:lnTo>
                <a:lnTo>
                  <a:pt x="3182" y="626"/>
                </a:lnTo>
                <a:lnTo>
                  <a:pt x="3184" y="607"/>
                </a:lnTo>
                <a:lnTo>
                  <a:pt x="3184" y="588"/>
                </a:lnTo>
                <a:lnTo>
                  <a:pt x="3183" y="569"/>
                </a:lnTo>
                <a:lnTo>
                  <a:pt x="3180" y="551"/>
                </a:lnTo>
                <a:lnTo>
                  <a:pt x="3175" y="532"/>
                </a:lnTo>
                <a:lnTo>
                  <a:pt x="3170" y="515"/>
                </a:lnTo>
                <a:lnTo>
                  <a:pt x="3162" y="498"/>
                </a:lnTo>
                <a:lnTo>
                  <a:pt x="3154" y="481"/>
                </a:lnTo>
                <a:lnTo>
                  <a:pt x="3143" y="466"/>
                </a:lnTo>
                <a:lnTo>
                  <a:pt x="3131" y="452"/>
                </a:lnTo>
                <a:lnTo>
                  <a:pt x="3117" y="439"/>
                </a:lnTo>
                <a:lnTo>
                  <a:pt x="3101" y="427"/>
                </a:lnTo>
                <a:lnTo>
                  <a:pt x="3083" y="417"/>
                </a:lnTo>
                <a:lnTo>
                  <a:pt x="3063" y="409"/>
                </a:lnTo>
                <a:lnTo>
                  <a:pt x="3041" y="401"/>
                </a:lnTo>
                <a:lnTo>
                  <a:pt x="3017" y="396"/>
                </a:lnTo>
                <a:lnTo>
                  <a:pt x="2991" y="392"/>
                </a:lnTo>
                <a:lnTo>
                  <a:pt x="2963" y="391"/>
                </a:lnTo>
                <a:lnTo>
                  <a:pt x="2760" y="391"/>
                </a:lnTo>
                <a:lnTo>
                  <a:pt x="2760" y="391"/>
                </a:lnTo>
                <a:lnTo>
                  <a:pt x="2748" y="391"/>
                </a:lnTo>
                <a:lnTo>
                  <a:pt x="2736" y="395"/>
                </a:lnTo>
                <a:lnTo>
                  <a:pt x="2726" y="398"/>
                </a:lnTo>
                <a:lnTo>
                  <a:pt x="2715" y="403"/>
                </a:lnTo>
                <a:lnTo>
                  <a:pt x="2705" y="410"/>
                </a:lnTo>
                <a:lnTo>
                  <a:pt x="2696" y="417"/>
                </a:lnTo>
                <a:lnTo>
                  <a:pt x="2688" y="427"/>
                </a:lnTo>
                <a:lnTo>
                  <a:pt x="2680" y="437"/>
                </a:lnTo>
                <a:lnTo>
                  <a:pt x="2674" y="448"/>
                </a:lnTo>
                <a:lnTo>
                  <a:pt x="2667" y="461"/>
                </a:lnTo>
                <a:lnTo>
                  <a:pt x="2662" y="474"/>
                </a:lnTo>
                <a:lnTo>
                  <a:pt x="2658" y="487"/>
                </a:lnTo>
                <a:lnTo>
                  <a:pt x="2653" y="502"/>
                </a:lnTo>
                <a:lnTo>
                  <a:pt x="2649" y="517"/>
                </a:lnTo>
                <a:lnTo>
                  <a:pt x="2646" y="532"/>
                </a:lnTo>
                <a:lnTo>
                  <a:pt x="2643" y="549"/>
                </a:lnTo>
                <a:lnTo>
                  <a:pt x="2643" y="549"/>
                </a:lnTo>
                <a:lnTo>
                  <a:pt x="2637" y="568"/>
                </a:lnTo>
                <a:lnTo>
                  <a:pt x="2633" y="589"/>
                </a:lnTo>
                <a:lnTo>
                  <a:pt x="2631" y="609"/>
                </a:lnTo>
                <a:lnTo>
                  <a:pt x="2628" y="630"/>
                </a:lnTo>
                <a:lnTo>
                  <a:pt x="2628" y="686"/>
                </a:lnTo>
                <a:lnTo>
                  <a:pt x="2628" y="686"/>
                </a:lnTo>
                <a:lnTo>
                  <a:pt x="2628" y="709"/>
                </a:lnTo>
                <a:lnTo>
                  <a:pt x="2632" y="733"/>
                </a:lnTo>
                <a:lnTo>
                  <a:pt x="2636" y="755"/>
                </a:lnTo>
                <a:lnTo>
                  <a:pt x="2642" y="776"/>
                </a:lnTo>
                <a:lnTo>
                  <a:pt x="2651" y="797"/>
                </a:lnTo>
                <a:lnTo>
                  <a:pt x="2661" y="815"/>
                </a:lnTo>
                <a:lnTo>
                  <a:pt x="2672" y="834"/>
                </a:lnTo>
                <a:lnTo>
                  <a:pt x="2685" y="851"/>
                </a:lnTo>
                <a:lnTo>
                  <a:pt x="2700" y="866"/>
                </a:lnTo>
                <a:lnTo>
                  <a:pt x="2715" y="880"/>
                </a:lnTo>
                <a:lnTo>
                  <a:pt x="2732" y="892"/>
                </a:lnTo>
                <a:lnTo>
                  <a:pt x="2750" y="902"/>
                </a:lnTo>
                <a:lnTo>
                  <a:pt x="2769" y="911"/>
                </a:lnTo>
                <a:lnTo>
                  <a:pt x="2789" y="916"/>
                </a:lnTo>
                <a:lnTo>
                  <a:pt x="2810" y="920"/>
                </a:lnTo>
                <a:lnTo>
                  <a:pt x="2832" y="923"/>
                </a:lnTo>
                <a:lnTo>
                  <a:pt x="2832" y="923"/>
                </a:lnTo>
                <a:close/>
                <a:moveTo>
                  <a:pt x="2667" y="631"/>
                </a:moveTo>
                <a:lnTo>
                  <a:pt x="2667" y="631"/>
                </a:lnTo>
                <a:lnTo>
                  <a:pt x="2668" y="618"/>
                </a:lnTo>
                <a:lnTo>
                  <a:pt x="2669" y="606"/>
                </a:lnTo>
                <a:lnTo>
                  <a:pt x="2672" y="594"/>
                </a:lnTo>
                <a:lnTo>
                  <a:pt x="2674" y="582"/>
                </a:lnTo>
                <a:lnTo>
                  <a:pt x="2677" y="571"/>
                </a:lnTo>
                <a:lnTo>
                  <a:pt x="2680" y="559"/>
                </a:lnTo>
                <a:lnTo>
                  <a:pt x="2690" y="539"/>
                </a:lnTo>
                <a:lnTo>
                  <a:pt x="2701" y="519"/>
                </a:lnTo>
                <a:lnTo>
                  <a:pt x="2714" y="502"/>
                </a:lnTo>
                <a:lnTo>
                  <a:pt x="2728" y="486"/>
                </a:lnTo>
                <a:lnTo>
                  <a:pt x="2744" y="473"/>
                </a:lnTo>
                <a:lnTo>
                  <a:pt x="2744" y="473"/>
                </a:lnTo>
                <a:lnTo>
                  <a:pt x="2750" y="492"/>
                </a:lnTo>
                <a:lnTo>
                  <a:pt x="2758" y="512"/>
                </a:lnTo>
                <a:lnTo>
                  <a:pt x="2766" y="530"/>
                </a:lnTo>
                <a:lnTo>
                  <a:pt x="2774" y="550"/>
                </a:lnTo>
                <a:lnTo>
                  <a:pt x="2784" y="567"/>
                </a:lnTo>
                <a:lnTo>
                  <a:pt x="2795" y="585"/>
                </a:lnTo>
                <a:lnTo>
                  <a:pt x="2806" y="603"/>
                </a:lnTo>
                <a:lnTo>
                  <a:pt x="2819" y="620"/>
                </a:lnTo>
                <a:lnTo>
                  <a:pt x="2832" y="636"/>
                </a:lnTo>
                <a:lnTo>
                  <a:pt x="2846" y="652"/>
                </a:lnTo>
                <a:lnTo>
                  <a:pt x="2860" y="667"/>
                </a:lnTo>
                <a:lnTo>
                  <a:pt x="2875" y="681"/>
                </a:lnTo>
                <a:lnTo>
                  <a:pt x="2891" y="695"/>
                </a:lnTo>
                <a:lnTo>
                  <a:pt x="2908" y="708"/>
                </a:lnTo>
                <a:lnTo>
                  <a:pt x="2927" y="720"/>
                </a:lnTo>
                <a:lnTo>
                  <a:pt x="2945" y="731"/>
                </a:lnTo>
                <a:lnTo>
                  <a:pt x="2945" y="731"/>
                </a:lnTo>
                <a:lnTo>
                  <a:pt x="2970" y="744"/>
                </a:lnTo>
                <a:lnTo>
                  <a:pt x="2995" y="755"/>
                </a:lnTo>
                <a:lnTo>
                  <a:pt x="2995" y="755"/>
                </a:lnTo>
                <a:lnTo>
                  <a:pt x="2989" y="769"/>
                </a:lnTo>
                <a:lnTo>
                  <a:pt x="2984" y="783"/>
                </a:lnTo>
                <a:lnTo>
                  <a:pt x="2976" y="796"/>
                </a:lnTo>
                <a:lnTo>
                  <a:pt x="2969" y="808"/>
                </a:lnTo>
                <a:lnTo>
                  <a:pt x="2961" y="818"/>
                </a:lnTo>
                <a:lnTo>
                  <a:pt x="2951" y="829"/>
                </a:lnTo>
                <a:lnTo>
                  <a:pt x="2942" y="839"/>
                </a:lnTo>
                <a:lnTo>
                  <a:pt x="2932" y="848"/>
                </a:lnTo>
                <a:lnTo>
                  <a:pt x="2920" y="856"/>
                </a:lnTo>
                <a:lnTo>
                  <a:pt x="2909" y="863"/>
                </a:lnTo>
                <a:lnTo>
                  <a:pt x="2897" y="869"/>
                </a:lnTo>
                <a:lnTo>
                  <a:pt x="2884" y="875"/>
                </a:lnTo>
                <a:lnTo>
                  <a:pt x="2873" y="878"/>
                </a:lnTo>
                <a:lnTo>
                  <a:pt x="2859" y="881"/>
                </a:lnTo>
                <a:lnTo>
                  <a:pt x="2846" y="882"/>
                </a:lnTo>
                <a:lnTo>
                  <a:pt x="2833" y="884"/>
                </a:lnTo>
                <a:lnTo>
                  <a:pt x="2833" y="884"/>
                </a:lnTo>
                <a:lnTo>
                  <a:pt x="2815" y="881"/>
                </a:lnTo>
                <a:lnTo>
                  <a:pt x="2799" y="879"/>
                </a:lnTo>
                <a:lnTo>
                  <a:pt x="2783" y="874"/>
                </a:lnTo>
                <a:lnTo>
                  <a:pt x="2768" y="867"/>
                </a:lnTo>
                <a:lnTo>
                  <a:pt x="2753" y="859"/>
                </a:lnTo>
                <a:lnTo>
                  <a:pt x="2740" y="849"/>
                </a:lnTo>
                <a:lnTo>
                  <a:pt x="2727" y="838"/>
                </a:lnTo>
                <a:lnTo>
                  <a:pt x="2715" y="825"/>
                </a:lnTo>
                <a:lnTo>
                  <a:pt x="2704" y="812"/>
                </a:lnTo>
                <a:lnTo>
                  <a:pt x="2694" y="797"/>
                </a:lnTo>
                <a:lnTo>
                  <a:pt x="2686" y="781"/>
                </a:lnTo>
                <a:lnTo>
                  <a:pt x="2679" y="763"/>
                </a:lnTo>
                <a:lnTo>
                  <a:pt x="2674" y="745"/>
                </a:lnTo>
                <a:lnTo>
                  <a:pt x="2669" y="726"/>
                </a:lnTo>
                <a:lnTo>
                  <a:pt x="2667" y="707"/>
                </a:lnTo>
                <a:lnTo>
                  <a:pt x="2666" y="686"/>
                </a:lnTo>
                <a:lnTo>
                  <a:pt x="2667" y="631"/>
                </a:lnTo>
                <a:close/>
                <a:moveTo>
                  <a:pt x="1737" y="586"/>
                </a:moveTo>
                <a:lnTo>
                  <a:pt x="1671" y="576"/>
                </a:lnTo>
                <a:lnTo>
                  <a:pt x="1528" y="877"/>
                </a:lnTo>
                <a:lnTo>
                  <a:pt x="1383" y="572"/>
                </a:lnTo>
                <a:lnTo>
                  <a:pt x="1329" y="583"/>
                </a:lnTo>
                <a:lnTo>
                  <a:pt x="1329" y="583"/>
                </a:lnTo>
                <a:lnTo>
                  <a:pt x="1328" y="629"/>
                </a:lnTo>
                <a:lnTo>
                  <a:pt x="1328" y="629"/>
                </a:lnTo>
                <a:lnTo>
                  <a:pt x="1328" y="682"/>
                </a:lnTo>
                <a:lnTo>
                  <a:pt x="1411" y="709"/>
                </a:lnTo>
                <a:lnTo>
                  <a:pt x="1342" y="771"/>
                </a:lnTo>
                <a:lnTo>
                  <a:pt x="1529" y="992"/>
                </a:lnTo>
                <a:lnTo>
                  <a:pt x="1724" y="771"/>
                </a:lnTo>
                <a:lnTo>
                  <a:pt x="1656" y="709"/>
                </a:lnTo>
                <a:lnTo>
                  <a:pt x="1739" y="682"/>
                </a:lnTo>
                <a:lnTo>
                  <a:pt x="1739" y="682"/>
                </a:lnTo>
                <a:lnTo>
                  <a:pt x="1737" y="586"/>
                </a:lnTo>
                <a:lnTo>
                  <a:pt x="1737" y="586"/>
                </a:lnTo>
                <a:close/>
                <a:moveTo>
                  <a:pt x="3146" y="1170"/>
                </a:moveTo>
                <a:lnTo>
                  <a:pt x="3146" y="1170"/>
                </a:lnTo>
                <a:lnTo>
                  <a:pt x="3144" y="1150"/>
                </a:lnTo>
                <a:lnTo>
                  <a:pt x="3141" y="1132"/>
                </a:lnTo>
                <a:lnTo>
                  <a:pt x="3136" y="1114"/>
                </a:lnTo>
                <a:lnTo>
                  <a:pt x="3131" y="1098"/>
                </a:lnTo>
                <a:lnTo>
                  <a:pt x="3125" y="1083"/>
                </a:lnTo>
                <a:lnTo>
                  <a:pt x="3118" y="1069"/>
                </a:lnTo>
                <a:lnTo>
                  <a:pt x="3110" y="1056"/>
                </a:lnTo>
                <a:lnTo>
                  <a:pt x="3101" y="1044"/>
                </a:lnTo>
                <a:lnTo>
                  <a:pt x="3091" y="1033"/>
                </a:lnTo>
                <a:lnTo>
                  <a:pt x="3079" y="1023"/>
                </a:lnTo>
                <a:lnTo>
                  <a:pt x="3066" y="1016"/>
                </a:lnTo>
                <a:lnTo>
                  <a:pt x="3052" y="1009"/>
                </a:lnTo>
                <a:lnTo>
                  <a:pt x="3036" y="1004"/>
                </a:lnTo>
                <a:lnTo>
                  <a:pt x="3018" y="1001"/>
                </a:lnTo>
                <a:lnTo>
                  <a:pt x="3000" y="997"/>
                </a:lnTo>
                <a:lnTo>
                  <a:pt x="2981" y="997"/>
                </a:lnTo>
                <a:lnTo>
                  <a:pt x="2795" y="997"/>
                </a:lnTo>
                <a:lnTo>
                  <a:pt x="2795" y="997"/>
                </a:lnTo>
                <a:lnTo>
                  <a:pt x="2775" y="997"/>
                </a:lnTo>
                <a:lnTo>
                  <a:pt x="2757" y="1000"/>
                </a:lnTo>
                <a:lnTo>
                  <a:pt x="2739" y="1003"/>
                </a:lnTo>
                <a:lnTo>
                  <a:pt x="2721" y="1008"/>
                </a:lnTo>
                <a:lnTo>
                  <a:pt x="2706" y="1014"/>
                </a:lnTo>
                <a:lnTo>
                  <a:pt x="2691" y="1020"/>
                </a:lnTo>
                <a:lnTo>
                  <a:pt x="2677" y="1029"/>
                </a:lnTo>
                <a:lnTo>
                  <a:pt x="2664" y="1037"/>
                </a:lnTo>
                <a:lnTo>
                  <a:pt x="2652" y="1048"/>
                </a:lnTo>
                <a:lnTo>
                  <a:pt x="2641" y="1059"/>
                </a:lnTo>
                <a:lnTo>
                  <a:pt x="2632" y="1071"/>
                </a:lnTo>
                <a:lnTo>
                  <a:pt x="2622" y="1084"/>
                </a:lnTo>
                <a:lnTo>
                  <a:pt x="2614" y="1098"/>
                </a:lnTo>
                <a:lnTo>
                  <a:pt x="2607" y="1112"/>
                </a:lnTo>
                <a:lnTo>
                  <a:pt x="2600" y="1127"/>
                </a:lnTo>
                <a:lnTo>
                  <a:pt x="2596" y="1144"/>
                </a:lnTo>
                <a:lnTo>
                  <a:pt x="2596" y="1144"/>
                </a:lnTo>
                <a:lnTo>
                  <a:pt x="2567" y="1248"/>
                </a:lnTo>
                <a:lnTo>
                  <a:pt x="2541" y="1337"/>
                </a:lnTo>
                <a:lnTo>
                  <a:pt x="2529" y="1378"/>
                </a:lnTo>
                <a:lnTo>
                  <a:pt x="2517" y="1411"/>
                </a:lnTo>
                <a:lnTo>
                  <a:pt x="2511" y="1413"/>
                </a:lnTo>
                <a:lnTo>
                  <a:pt x="2511" y="1413"/>
                </a:lnTo>
                <a:lnTo>
                  <a:pt x="2464" y="1389"/>
                </a:lnTo>
                <a:lnTo>
                  <a:pt x="2415" y="1366"/>
                </a:lnTo>
                <a:lnTo>
                  <a:pt x="2365" y="1345"/>
                </a:lnTo>
                <a:lnTo>
                  <a:pt x="2313" y="1325"/>
                </a:lnTo>
                <a:lnTo>
                  <a:pt x="2260" y="1306"/>
                </a:lnTo>
                <a:lnTo>
                  <a:pt x="2205" y="1289"/>
                </a:lnTo>
                <a:lnTo>
                  <a:pt x="2147" y="1274"/>
                </a:lnTo>
                <a:lnTo>
                  <a:pt x="2090" y="1259"/>
                </a:lnTo>
                <a:lnTo>
                  <a:pt x="2031" y="1247"/>
                </a:lnTo>
                <a:lnTo>
                  <a:pt x="1969" y="1235"/>
                </a:lnTo>
                <a:lnTo>
                  <a:pt x="1907" y="1225"/>
                </a:lnTo>
                <a:lnTo>
                  <a:pt x="1845" y="1217"/>
                </a:lnTo>
                <a:lnTo>
                  <a:pt x="1780" y="1211"/>
                </a:lnTo>
                <a:lnTo>
                  <a:pt x="1715" y="1207"/>
                </a:lnTo>
                <a:lnTo>
                  <a:pt x="1649" y="1204"/>
                </a:lnTo>
                <a:lnTo>
                  <a:pt x="1582" y="1203"/>
                </a:lnTo>
                <a:lnTo>
                  <a:pt x="1582" y="1203"/>
                </a:lnTo>
                <a:lnTo>
                  <a:pt x="1516" y="1204"/>
                </a:lnTo>
                <a:lnTo>
                  <a:pt x="1451" y="1207"/>
                </a:lnTo>
                <a:lnTo>
                  <a:pt x="1388" y="1211"/>
                </a:lnTo>
                <a:lnTo>
                  <a:pt x="1325" y="1217"/>
                </a:lnTo>
                <a:lnTo>
                  <a:pt x="1262" y="1225"/>
                </a:lnTo>
                <a:lnTo>
                  <a:pt x="1202" y="1234"/>
                </a:lnTo>
                <a:lnTo>
                  <a:pt x="1142" y="1245"/>
                </a:lnTo>
                <a:lnTo>
                  <a:pt x="1084" y="1258"/>
                </a:lnTo>
                <a:lnTo>
                  <a:pt x="1027" y="1271"/>
                </a:lnTo>
                <a:lnTo>
                  <a:pt x="970" y="1286"/>
                </a:lnTo>
                <a:lnTo>
                  <a:pt x="915" y="1303"/>
                </a:lnTo>
                <a:lnTo>
                  <a:pt x="862" y="1320"/>
                </a:lnTo>
                <a:lnTo>
                  <a:pt x="812" y="1340"/>
                </a:lnTo>
                <a:lnTo>
                  <a:pt x="762" y="1361"/>
                </a:lnTo>
                <a:lnTo>
                  <a:pt x="714" y="1382"/>
                </a:lnTo>
                <a:lnTo>
                  <a:pt x="668" y="1406"/>
                </a:lnTo>
                <a:lnTo>
                  <a:pt x="597" y="1157"/>
                </a:lnTo>
                <a:lnTo>
                  <a:pt x="597" y="1157"/>
                </a:lnTo>
                <a:lnTo>
                  <a:pt x="591" y="1139"/>
                </a:lnTo>
                <a:lnTo>
                  <a:pt x="585" y="1123"/>
                </a:lnTo>
                <a:lnTo>
                  <a:pt x="577" y="1107"/>
                </a:lnTo>
                <a:lnTo>
                  <a:pt x="570" y="1093"/>
                </a:lnTo>
                <a:lnTo>
                  <a:pt x="560" y="1079"/>
                </a:lnTo>
                <a:lnTo>
                  <a:pt x="550" y="1066"/>
                </a:lnTo>
                <a:lnTo>
                  <a:pt x="539" y="1054"/>
                </a:lnTo>
                <a:lnTo>
                  <a:pt x="527" y="1042"/>
                </a:lnTo>
                <a:lnTo>
                  <a:pt x="513" y="1032"/>
                </a:lnTo>
                <a:lnTo>
                  <a:pt x="499" y="1023"/>
                </a:lnTo>
                <a:lnTo>
                  <a:pt x="484" y="1016"/>
                </a:lnTo>
                <a:lnTo>
                  <a:pt x="468" y="1009"/>
                </a:lnTo>
                <a:lnTo>
                  <a:pt x="451" y="1004"/>
                </a:lnTo>
                <a:lnTo>
                  <a:pt x="432" y="1001"/>
                </a:lnTo>
                <a:lnTo>
                  <a:pt x="413" y="997"/>
                </a:lnTo>
                <a:lnTo>
                  <a:pt x="392" y="997"/>
                </a:lnTo>
                <a:lnTo>
                  <a:pt x="206" y="997"/>
                </a:lnTo>
                <a:lnTo>
                  <a:pt x="206" y="997"/>
                </a:lnTo>
                <a:lnTo>
                  <a:pt x="186" y="997"/>
                </a:lnTo>
                <a:lnTo>
                  <a:pt x="168" y="1001"/>
                </a:lnTo>
                <a:lnTo>
                  <a:pt x="151" y="1004"/>
                </a:lnTo>
                <a:lnTo>
                  <a:pt x="135" y="1009"/>
                </a:lnTo>
                <a:lnTo>
                  <a:pt x="121" y="1016"/>
                </a:lnTo>
                <a:lnTo>
                  <a:pt x="108" y="1023"/>
                </a:lnTo>
                <a:lnTo>
                  <a:pt x="96" y="1033"/>
                </a:lnTo>
                <a:lnTo>
                  <a:pt x="86" y="1044"/>
                </a:lnTo>
                <a:lnTo>
                  <a:pt x="77" y="1056"/>
                </a:lnTo>
                <a:lnTo>
                  <a:pt x="68" y="1069"/>
                </a:lnTo>
                <a:lnTo>
                  <a:pt x="62" y="1083"/>
                </a:lnTo>
                <a:lnTo>
                  <a:pt x="55" y="1098"/>
                </a:lnTo>
                <a:lnTo>
                  <a:pt x="51" y="1114"/>
                </a:lnTo>
                <a:lnTo>
                  <a:pt x="46" y="1132"/>
                </a:lnTo>
                <a:lnTo>
                  <a:pt x="43" y="1150"/>
                </a:lnTo>
                <a:lnTo>
                  <a:pt x="41" y="1170"/>
                </a:lnTo>
                <a:lnTo>
                  <a:pt x="0" y="1611"/>
                </a:lnTo>
                <a:lnTo>
                  <a:pt x="78" y="1611"/>
                </a:lnTo>
                <a:lnTo>
                  <a:pt x="118" y="1176"/>
                </a:lnTo>
                <a:lnTo>
                  <a:pt x="118" y="1176"/>
                </a:lnTo>
                <a:lnTo>
                  <a:pt x="122" y="1149"/>
                </a:lnTo>
                <a:lnTo>
                  <a:pt x="124" y="1137"/>
                </a:lnTo>
                <a:lnTo>
                  <a:pt x="128" y="1126"/>
                </a:lnTo>
                <a:lnTo>
                  <a:pt x="131" y="1118"/>
                </a:lnTo>
                <a:lnTo>
                  <a:pt x="134" y="1109"/>
                </a:lnTo>
                <a:lnTo>
                  <a:pt x="138" y="1101"/>
                </a:lnTo>
                <a:lnTo>
                  <a:pt x="144" y="1096"/>
                </a:lnTo>
                <a:lnTo>
                  <a:pt x="149" y="1091"/>
                </a:lnTo>
                <a:lnTo>
                  <a:pt x="156" y="1086"/>
                </a:lnTo>
                <a:lnTo>
                  <a:pt x="162" y="1082"/>
                </a:lnTo>
                <a:lnTo>
                  <a:pt x="170" y="1080"/>
                </a:lnTo>
                <a:lnTo>
                  <a:pt x="177" y="1078"/>
                </a:lnTo>
                <a:lnTo>
                  <a:pt x="186" y="1077"/>
                </a:lnTo>
                <a:lnTo>
                  <a:pt x="206" y="1075"/>
                </a:lnTo>
                <a:lnTo>
                  <a:pt x="392" y="1075"/>
                </a:lnTo>
                <a:lnTo>
                  <a:pt x="392" y="1075"/>
                </a:lnTo>
                <a:lnTo>
                  <a:pt x="405" y="1075"/>
                </a:lnTo>
                <a:lnTo>
                  <a:pt x="419" y="1077"/>
                </a:lnTo>
                <a:lnTo>
                  <a:pt x="431" y="1080"/>
                </a:lnTo>
                <a:lnTo>
                  <a:pt x="444" y="1083"/>
                </a:lnTo>
                <a:lnTo>
                  <a:pt x="455" y="1087"/>
                </a:lnTo>
                <a:lnTo>
                  <a:pt x="467" y="1092"/>
                </a:lnTo>
                <a:lnTo>
                  <a:pt x="477" y="1098"/>
                </a:lnTo>
                <a:lnTo>
                  <a:pt x="486" y="1105"/>
                </a:lnTo>
                <a:lnTo>
                  <a:pt x="496" y="1112"/>
                </a:lnTo>
                <a:lnTo>
                  <a:pt x="504" y="1121"/>
                </a:lnTo>
                <a:lnTo>
                  <a:pt x="512" y="1130"/>
                </a:lnTo>
                <a:lnTo>
                  <a:pt x="519" y="1139"/>
                </a:lnTo>
                <a:lnTo>
                  <a:pt x="525" y="1150"/>
                </a:lnTo>
                <a:lnTo>
                  <a:pt x="531" y="1161"/>
                </a:lnTo>
                <a:lnTo>
                  <a:pt x="535" y="1173"/>
                </a:lnTo>
                <a:lnTo>
                  <a:pt x="538" y="1185"/>
                </a:lnTo>
                <a:lnTo>
                  <a:pt x="612" y="1482"/>
                </a:lnTo>
                <a:lnTo>
                  <a:pt x="956" y="1531"/>
                </a:lnTo>
                <a:lnTo>
                  <a:pt x="956" y="1696"/>
                </a:lnTo>
                <a:lnTo>
                  <a:pt x="455" y="1696"/>
                </a:lnTo>
                <a:lnTo>
                  <a:pt x="305" y="1352"/>
                </a:lnTo>
                <a:lnTo>
                  <a:pt x="269" y="1368"/>
                </a:lnTo>
                <a:lnTo>
                  <a:pt x="379" y="1619"/>
                </a:lnTo>
                <a:lnTo>
                  <a:pt x="379" y="1619"/>
                </a:lnTo>
                <a:lnTo>
                  <a:pt x="364" y="1636"/>
                </a:lnTo>
                <a:lnTo>
                  <a:pt x="350" y="1652"/>
                </a:lnTo>
                <a:lnTo>
                  <a:pt x="336" y="1670"/>
                </a:lnTo>
                <a:lnTo>
                  <a:pt x="324" y="1687"/>
                </a:lnTo>
                <a:lnTo>
                  <a:pt x="311" y="1704"/>
                </a:lnTo>
                <a:lnTo>
                  <a:pt x="300" y="1722"/>
                </a:lnTo>
                <a:lnTo>
                  <a:pt x="290" y="1739"/>
                </a:lnTo>
                <a:lnTo>
                  <a:pt x="280" y="1757"/>
                </a:lnTo>
                <a:lnTo>
                  <a:pt x="270" y="1776"/>
                </a:lnTo>
                <a:lnTo>
                  <a:pt x="263" y="1794"/>
                </a:lnTo>
                <a:lnTo>
                  <a:pt x="255" y="1813"/>
                </a:lnTo>
                <a:lnTo>
                  <a:pt x="247" y="1831"/>
                </a:lnTo>
                <a:lnTo>
                  <a:pt x="242" y="1851"/>
                </a:lnTo>
                <a:lnTo>
                  <a:pt x="237" y="1869"/>
                </a:lnTo>
                <a:lnTo>
                  <a:pt x="232" y="1888"/>
                </a:lnTo>
                <a:lnTo>
                  <a:pt x="228" y="1908"/>
                </a:lnTo>
                <a:lnTo>
                  <a:pt x="2934" y="1893"/>
                </a:lnTo>
                <a:lnTo>
                  <a:pt x="2934" y="1893"/>
                </a:lnTo>
                <a:lnTo>
                  <a:pt x="2930" y="1877"/>
                </a:lnTo>
                <a:lnTo>
                  <a:pt x="2926" y="1859"/>
                </a:lnTo>
                <a:lnTo>
                  <a:pt x="2915" y="1826"/>
                </a:lnTo>
                <a:lnTo>
                  <a:pt x="2902" y="1792"/>
                </a:lnTo>
                <a:lnTo>
                  <a:pt x="2887" y="1759"/>
                </a:lnTo>
                <a:lnTo>
                  <a:pt x="2868" y="1728"/>
                </a:lnTo>
                <a:lnTo>
                  <a:pt x="2848" y="1697"/>
                </a:lnTo>
                <a:lnTo>
                  <a:pt x="2825" y="1666"/>
                </a:lnTo>
                <a:lnTo>
                  <a:pt x="2801" y="1636"/>
                </a:lnTo>
                <a:lnTo>
                  <a:pt x="2918" y="1368"/>
                </a:lnTo>
                <a:lnTo>
                  <a:pt x="2882" y="1352"/>
                </a:lnTo>
                <a:lnTo>
                  <a:pt x="2732" y="1696"/>
                </a:lnTo>
                <a:lnTo>
                  <a:pt x="2231" y="1696"/>
                </a:lnTo>
                <a:lnTo>
                  <a:pt x="2231" y="1531"/>
                </a:lnTo>
                <a:lnTo>
                  <a:pt x="2575" y="1482"/>
                </a:lnTo>
                <a:lnTo>
                  <a:pt x="2575" y="1482"/>
                </a:lnTo>
                <a:lnTo>
                  <a:pt x="2586" y="1446"/>
                </a:lnTo>
                <a:lnTo>
                  <a:pt x="2600" y="1400"/>
                </a:lnTo>
                <a:lnTo>
                  <a:pt x="2628" y="1293"/>
                </a:lnTo>
                <a:lnTo>
                  <a:pt x="2661" y="1160"/>
                </a:lnTo>
                <a:lnTo>
                  <a:pt x="2661" y="1160"/>
                </a:lnTo>
                <a:lnTo>
                  <a:pt x="2664" y="1150"/>
                </a:lnTo>
                <a:lnTo>
                  <a:pt x="2668" y="1140"/>
                </a:lnTo>
                <a:lnTo>
                  <a:pt x="2674" y="1132"/>
                </a:lnTo>
                <a:lnTo>
                  <a:pt x="2679" y="1123"/>
                </a:lnTo>
                <a:lnTo>
                  <a:pt x="2686" y="1116"/>
                </a:lnTo>
                <a:lnTo>
                  <a:pt x="2693" y="1109"/>
                </a:lnTo>
                <a:lnTo>
                  <a:pt x="2701" y="1103"/>
                </a:lnTo>
                <a:lnTo>
                  <a:pt x="2709" y="1097"/>
                </a:lnTo>
                <a:lnTo>
                  <a:pt x="2719" y="1092"/>
                </a:lnTo>
                <a:lnTo>
                  <a:pt x="2728" y="1087"/>
                </a:lnTo>
                <a:lnTo>
                  <a:pt x="2739" y="1083"/>
                </a:lnTo>
                <a:lnTo>
                  <a:pt x="2749" y="1081"/>
                </a:lnTo>
                <a:lnTo>
                  <a:pt x="2760" y="1078"/>
                </a:lnTo>
                <a:lnTo>
                  <a:pt x="2771" y="1077"/>
                </a:lnTo>
                <a:lnTo>
                  <a:pt x="2783" y="1075"/>
                </a:lnTo>
                <a:lnTo>
                  <a:pt x="2795" y="1075"/>
                </a:lnTo>
                <a:lnTo>
                  <a:pt x="2981" y="1075"/>
                </a:lnTo>
                <a:lnTo>
                  <a:pt x="2981" y="1075"/>
                </a:lnTo>
                <a:lnTo>
                  <a:pt x="3000" y="1077"/>
                </a:lnTo>
                <a:lnTo>
                  <a:pt x="3009" y="1078"/>
                </a:lnTo>
                <a:lnTo>
                  <a:pt x="3017" y="1080"/>
                </a:lnTo>
                <a:lnTo>
                  <a:pt x="3025" y="1082"/>
                </a:lnTo>
                <a:lnTo>
                  <a:pt x="3031" y="1086"/>
                </a:lnTo>
                <a:lnTo>
                  <a:pt x="3038" y="1091"/>
                </a:lnTo>
                <a:lnTo>
                  <a:pt x="3043" y="1096"/>
                </a:lnTo>
                <a:lnTo>
                  <a:pt x="3048" y="1101"/>
                </a:lnTo>
                <a:lnTo>
                  <a:pt x="3052" y="1109"/>
                </a:lnTo>
                <a:lnTo>
                  <a:pt x="3056" y="1118"/>
                </a:lnTo>
                <a:lnTo>
                  <a:pt x="3060" y="1126"/>
                </a:lnTo>
                <a:lnTo>
                  <a:pt x="3063" y="1137"/>
                </a:lnTo>
                <a:lnTo>
                  <a:pt x="3065" y="1149"/>
                </a:lnTo>
                <a:lnTo>
                  <a:pt x="3068" y="1176"/>
                </a:lnTo>
                <a:lnTo>
                  <a:pt x="3108" y="1611"/>
                </a:lnTo>
                <a:lnTo>
                  <a:pt x="3186" y="1611"/>
                </a:lnTo>
                <a:lnTo>
                  <a:pt x="3146" y="1170"/>
                </a:lnTo>
                <a:close/>
                <a:moveTo>
                  <a:pt x="1175" y="1795"/>
                </a:moveTo>
                <a:lnTo>
                  <a:pt x="1394" y="1306"/>
                </a:lnTo>
                <a:lnTo>
                  <a:pt x="1803" y="1306"/>
                </a:lnTo>
                <a:lnTo>
                  <a:pt x="2022" y="1795"/>
                </a:lnTo>
                <a:lnTo>
                  <a:pt x="1175" y="1795"/>
                </a:lnTo>
                <a:close/>
                <a:moveTo>
                  <a:pt x="1324" y="1713"/>
                </a:moveTo>
                <a:lnTo>
                  <a:pt x="1872" y="1713"/>
                </a:lnTo>
                <a:lnTo>
                  <a:pt x="1856" y="1674"/>
                </a:lnTo>
                <a:lnTo>
                  <a:pt x="1341" y="1674"/>
                </a:lnTo>
                <a:lnTo>
                  <a:pt x="1324" y="1713"/>
                </a:lnTo>
                <a:close/>
                <a:moveTo>
                  <a:pt x="1360" y="1632"/>
                </a:moveTo>
                <a:lnTo>
                  <a:pt x="1836" y="1632"/>
                </a:lnTo>
                <a:lnTo>
                  <a:pt x="1820" y="1593"/>
                </a:lnTo>
                <a:lnTo>
                  <a:pt x="1377" y="1593"/>
                </a:lnTo>
                <a:lnTo>
                  <a:pt x="1360" y="1632"/>
                </a:lnTo>
                <a:close/>
                <a:moveTo>
                  <a:pt x="1784" y="1511"/>
                </a:moveTo>
                <a:lnTo>
                  <a:pt x="1411" y="1511"/>
                </a:lnTo>
                <a:lnTo>
                  <a:pt x="1395" y="1550"/>
                </a:lnTo>
                <a:lnTo>
                  <a:pt x="1802" y="1550"/>
                </a:lnTo>
                <a:lnTo>
                  <a:pt x="1784" y="1511"/>
                </a:lnTo>
                <a:close/>
                <a:moveTo>
                  <a:pt x="113" y="766"/>
                </a:moveTo>
                <a:lnTo>
                  <a:pt x="113" y="766"/>
                </a:lnTo>
                <a:lnTo>
                  <a:pt x="119" y="783"/>
                </a:lnTo>
                <a:lnTo>
                  <a:pt x="125" y="799"/>
                </a:lnTo>
                <a:lnTo>
                  <a:pt x="133" y="814"/>
                </a:lnTo>
                <a:lnTo>
                  <a:pt x="143" y="828"/>
                </a:lnTo>
                <a:lnTo>
                  <a:pt x="152" y="842"/>
                </a:lnTo>
                <a:lnTo>
                  <a:pt x="162" y="855"/>
                </a:lnTo>
                <a:lnTo>
                  <a:pt x="174" y="867"/>
                </a:lnTo>
                <a:lnTo>
                  <a:pt x="187" y="878"/>
                </a:lnTo>
                <a:lnTo>
                  <a:pt x="200" y="888"/>
                </a:lnTo>
                <a:lnTo>
                  <a:pt x="214" y="897"/>
                </a:lnTo>
                <a:lnTo>
                  <a:pt x="228" y="904"/>
                </a:lnTo>
                <a:lnTo>
                  <a:pt x="243" y="911"/>
                </a:lnTo>
                <a:lnTo>
                  <a:pt x="259" y="915"/>
                </a:lnTo>
                <a:lnTo>
                  <a:pt x="276" y="919"/>
                </a:lnTo>
                <a:lnTo>
                  <a:pt x="292" y="921"/>
                </a:lnTo>
                <a:lnTo>
                  <a:pt x="309" y="923"/>
                </a:lnTo>
                <a:lnTo>
                  <a:pt x="309" y="923"/>
                </a:lnTo>
                <a:lnTo>
                  <a:pt x="331" y="920"/>
                </a:lnTo>
                <a:lnTo>
                  <a:pt x="351" y="917"/>
                </a:lnTo>
                <a:lnTo>
                  <a:pt x="371" y="912"/>
                </a:lnTo>
                <a:lnTo>
                  <a:pt x="390" y="904"/>
                </a:lnTo>
                <a:lnTo>
                  <a:pt x="409" y="894"/>
                </a:lnTo>
                <a:lnTo>
                  <a:pt x="426" y="882"/>
                </a:lnTo>
                <a:lnTo>
                  <a:pt x="441" y="869"/>
                </a:lnTo>
                <a:lnTo>
                  <a:pt x="456" y="854"/>
                </a:lnTo>
                <a:lnTo>
                  <a:pt x="469" y="838"/>
                </a:lnTo>
                <a:lnTo>
                  <a:pt x="481" y="821"/>
                </a:lnTo>
                <a:lnTo>
                  <a:pt x="491" y="802"/>
                </a:lnTo>
                <a:lnTo>
                  <a:pt x="499" y="783"/>
                </a:lnTo>
                <a:lnTo>
                  <a:pt x="507" y="761"/>
                </a:lnTo>
                <a:lnTo>
                  <a:pt x="511" y="740"/>
                </a:lnTo>
                <a:lnTo>
                  <a:pt x="514" y="718"/>
                </a:lnTo>
                <a:lnTo>
                  <a:pt x="516" y="695"/>
                </a:lnTo>
                <a:lnTo>
                  <a:pt x="516" y="631"/>
                </a:lnTo>
                <a:lnTo>
                  <a:pt x="516" y="631"/>
                </a:lnTo>
                <a:lnTo>
                  <a:pt x="516" y="618"/>
                </a:lnTo>
                <a:lnTo>
                  <a:pt x="514" y="605"/>
                </a:lnTo>
                <a:lnTo>
                  <a:pt x="512" y="593"/>
                </a:lnTo>
                <a:lnTo>
                  <a:pt x="510" y="580"/>
                </a:lnTo>
                <a:lnTo>
                  <a:pt x="504" y="556"/>
                </a:lnTo>
                <a:lnTo>
                  <a:pt x="495" y="533"/>
                </a:lnTo>
                <a:lnTo>
                  <a:pt x="484" y="511"/>
                </a:lnTo>
                <a:lnTo>
                  <a:pt x="471" y="491"/>
                </a:lnTo>
                <a:lnTo>
                  <a:pt x="457" y="473"/>
                </a:lnTo>
                <a:lnTo>
                  <a:pt x="440" y="455"/>
                </a:lnTo>
                <a:lnTo>
                  <a:pt x="461" y="443"/>
                </a:lnTo>
                <a:lnTo>
                  <a:pt x="461" y="443"/>
                </a:lnTo>
                <a:lnTo>
                  <a:pt x="467" y="440"/>
                </a:lnTo>
                <a:lnTo>
                  <a:pt x="472" y="436"/>
                </a:lnTo>
                <a:lnTo>
                  <a:pt x="476" y="431"/>
                </a:lnTo>
                <a:lnTo>
                  <a:pt x="479" y="427"/>
                </a:lnTo>
                <a:lnTo>
                  <a:pt x="480" y="423"/>
                </a:lnTo>
                <a:lnTo>
                  <a:pt x="481" y="417"/>
                </a:lnTo>
                <a:lnTo>
                  <a:pt x="482" y="413"/>
                </a:lnTo>
                <a:lnTo>
                  <a:pt x="482" y="409"/>
                </a:lnTo>
                <a:lnTo>
                  <a:pt x="481" y="404"/>
                </a:lnTo>
                <a:lnTo>
                  <a:pt x="479" y="400"/>
                </a:lnTo>
                <a:lnTo>
                  <a:pt x="477" y="397"/>
                </a:lnTo>
                <a:lnTo>
                  <a:pt x="474" y="394"/>
                </a:lnTo>
                <a:lnTo>
                  <a:pt x="471" y="390"/>
                </a:lnTo>
                <a:lnTo>
                  <a:pt x="468" y="388"/>
                </a:lnTo>
                <a:lnTo>
                  <a:pt x="464" y="387"/>
                </a:lnTo>
                <a:lnTo>
                  <a:pt x="459" y="387"/>
                </a:lnTo>
                <a:lnTo>
                  <a:pt x="300" y="385"/>
                </a:lnTo>
                <a:lnTo>
                  <a:pt x="300" y="385"/>
                </a:lnTo>
                <a:lnTo>
                  <a:pt x="289" y="385"/>
                </a:lnTo>
                <a:lnTo>
                  <a:pt x="289" y="385"/>
                </a:lnTo>
                <a:lnTo>
                  <a:pt x="275" y="385"/>
                </a:lnTo>
                <a:lnTo>
                  <a:pt x="260" y="386"/>
                </a:lnTo>
                <a:lnTo>
                  <a:pt x="246" y="388"/>
                </a:lnTo>
                <a:lnTo>
                  <a:pt x="233" y="391"/>
                </a:lnTo>
                <a:lnTo>
                  <a:pt x="233" y="391"/>
                </a:lnTo>
                <a:lnTo>
                  <a:pt x="214" y="398"/>
                </a:lnTo>
                <a:lnTo>
                  <a:pt x="197" y="405"/>
                </a:lnTo>
                <a:lnTo>
                  <a:pt x="180" y="414"/>
                </a:lnTo>
                <a:lnTo>
                  <a:pt x="164" y="425"/>
                </a:lnTo>
                <a:lnTo>
                  <a:pt x="149" y="437"/>
                </a:lnTo>
                <a:lnTo>
                  <a:pt x="135" y="450"/>
                </a:lnTo>
                <a:lnTo>
                  <a:pt x="122" y="464"/>
                </a:lnTo>
                <a:lnTo>
                  <a:pt x="110" y="479"/>
                </a:lnTo>
                <a:lnTo>
                  <a:pt x="99" y="495"/>
                </a:lnTo>
                <a:lnTo>
                  <a:pt x="90" y="513"/>
                </a:lnTo>
                <a:lnTo>
                  <a:pt x="82" y="531"/>
                </a:lnTo>
                <a:lnTo>
                  <a:pt x="76" y="551"/>
                </a:lnTo>
                <a:lnTo>
                  <a:pt x="70" y="570"/>
                </a:lnTo>
                <a:lnTo>
                  <a:pt x="66" y="590"/>
                </a:lnTo>
                <a:lnTo>
                  <a:pt x="64" y="610"/>
                </a:lnTo>
                <a:lnTo>
                  <a:pt x="63" y="631"/>
                </a:lnTo>
                <a:lnTo>
                  <a:pt x="63" y="695"/>
                </a:lnTo>
                <a:lnTo>
                  <a:pt x="63" y="695"/>
                </a:lnTo>
                <a:lnTo>
                  <a:pt x="64" y="706"/>
                </a:lnTo>
                <a:lnTo>
                  <a:pt x="66" y="717"/>
                </a:lnTo>
                <a:lnTo>
                  <a:pt x="70" y="727"/>
                </a:lnTo>
                <a:lnTo>
                  <a:pt x="77" y="736"/>
                </a:lnTo>
                <a:lnTo>
                  <a:pt x="83" y="745"/>
                </a:lnTo>
                <a:lnTo>
                  <a:pt x="92" y="752"/>
                </a:lnTo>
                <a:lnTo>
                  <a:pt x="103" y="760"/>
                </a:lnTo>
                <a:lnTo>
                  <a:pt x="113" y="766"/>
                </a:lnTo>
                <a:lnTo>
                  <a:pt x="113" y="766"/>
                </a:lnTo>
                <a:close/>
                <a:moveTo>
                  <a:pt x="142" y="665"/>
                </a:moveTo>
                <a:lnTo>
                  <a:pt x="222" y="665"/>
                </a:lnTo>
                <a:lnTo>
                  <a:pt x="222" y="606"/>
                </a:lnTo>
                <a:lnTo>
                  <a:pt x="335" y="603"/>
                </a:lnTo>
                <a:lnTo>
                  <a:pt x="284" y="542"/>
                </a:lnTo>
                <a:lnTo>
                  <a:pt x="404" y="476"/>
                </a:lnTo>
                <a:lnTo>
                  <a:pt x="404" y="476"/>
                </a:lnTo>
                <a:lnTo>
                  <a:pt x="419" y="489"/>
                </a:lnTo>
                <a:lnTo>
                  <a:pt x="433" y="505"/>
                </a:lnTo>
                <a:lnTo>
                  <a:pt x="446" y="523"/>
                </a:lnTo>
                <a:lnTo>
                  <a:pt x="457" y="542"/>
                </a:lnTo>
                <a:lnTo>
                  <a:pt x="465" y="563"/>
                </a:lnTo>
                <a:lnTo>
                  <a:pt x="471" y="584"/>
                </a:lnTo>
                <a:lnTo>
                  <a:pt x="473" y="595"/>
                </a:lnTo>
                <a:lnTo>
                  <a:pt x="476" y="607"/>
                </a:lnTo>
                <a:lnTo>
                  <a:pt x="477" y="619"/>
                </a:lnTo>
                <a:lnTo>
                  <a:pt x="477" y="631"/>
                </a:lnTo>
                <a:lnTo>
                  <a:pt x="477" y="695"/>
                </a:lnTo>
                <a:lnTo>
                  <a:pt x="477" y="695"/>
                </a:lnTo>
                <a:lnTo>
                  <a:pt x="476" y="714"/>
                </a:lnTo>
                <a:lnTo>
                  <a:pt x="473" y="733"/>
                </a:lnTo>
                <a:lnTo>
                  <a:pt x="469" y="751"/>
                </a:lnTo>
                <a:lnTo>
                  <a:pt x="464" y="769"/>
                </a:lnTo>
                <a:lnTo>
                  <a:pt x="456" y="785"/>
                </a:lnTo>
                <a:lnTo>
                  <a:pt x="447" y="801"/>
                </a:lnTo>
                <a:lnTo>
                  <a:pt x="438" y="815"/>
                </a:lnTo>
                <a:lnTo>
                  <a:pt x="427" y="828"/>
                </a:lnTo>
                <a:lnTo>
                  <a:pt x="415" y="841"/>
                </a:lnTo>
                <a:lnTo>
                  <a:pt x="402" y="851"/>
                </a:lnTo>
                <a:lnTo>
                  <a:pt x="388" y="861"/>
                </a:lnTo>
                <a:lnTo>
                  <a:pt x="374" y="868"/>
                </a:lnTo>
                <a:lnTo>
                  <a:pt x="358" y="875"/>
                </a:lnTo>
                <a:lnTo>
                  <a:pt x="343" y="879"/>
                </a:lnTo>
                <a:lnTo>
                  <a:pt x="326" y="882"/>
                </a:lnTo>
                <a:lnTo>
                  <a:pt x="309" y="884"/>
                </a:lnTo>
                <a:lnTo>
                  <a:pt x="309" y="884"/>
                </a:lnTo>
                <a:lnTo>
                  <a:pt x="292" y="882"/>
                </a:lnTo>
                <a:lnTo>
                  <a:pt x="276" y="879"/>
                </a:lnTo>
                <a:lnTo>
                  <a:pt x="259" y="875"/>
                </a:lnTo>
                <a:lnTo>
                  <a:pt x="244" y="868"/>
                </a:lnTo>
                <a:lnTo>
                  <a:pt x="230" y="861"/>
                </a:lnTo>
                <a:lnTo>
                  <a:pt x="216" y="851"/>
                </a:lnTo>
                <a:lnTo>
                  <a:pt x="203" y="841"/>
                </a:lnTo>
                <a:lnTo>
                  <a:pt x="191" y="828"/>
                </a:lnTo>
                <a:lnTo>
                  <a:pt x="180" y="815"/>
                </a:lnTo>
                <a:lnTo>
                  <a:pt x="171" y="801"/>
                </a:lnTo>
                <a:lnTo>
                  <a:pt x="162" y="785"/>
                </a:lnTo>
                <a:lnTo>
                  <a:pt x="155" y="769"/>
                </a:lnTo>
                <a:lnTo>
                  <a:pt x="149" y="751"/>
                </a:lnTo>
                <a:lnTo>
                  <a:pt x="145" y="733"/>
                </a:lnTo>
                <a:lnTo>
                  <a:pt x="143" y="714"/>
                </a:lnTo>
                <a:lnTo>
                  <a:pt x="142" y="695"/>
                </a:lnTo>
                <a:lnTo>
                  <a:pt x="142" y="665"/>
                </a:lnTo>
                <a:close/>
                <a:moveTo>
                  <a:pt x="1537" y="1467"/>
                </a:moveTo>
                <a:lnTo>
                  <a:pt x="1537" y="1467"/>
                </a:lnTo>
                <a:lnTo>
                  <a:pt x="1549" y="1467"/>
                </a:lnTo>
                <a:lnTo>
                  <a:pt x="1561" y="1466"/>
                </a:lnTo>
                <a:lnTo>
                  <a:pt x="1571" y="1465"/>
                </a:lnTo>
                <a:lnTo>
                  <a:pt x="1581" y="1461"/>
                </a:lnTo>
                <a:lnTo>
                  <a:pt x="1590" y="1459"/>
                </a:lnTo>
                <a:lnTo>
                  <a:pt x="1598" y="1456"/>
                </a:lnTo>
                <a:lnTo>
                  <a:pt x="1606" y="1452"/>
                </a:lnTo>
                <a:lnTo>
                  <a:pt x="1612" y="1447"/>
                </a:lnTo>
                <a:lnTo>
                  <a:pt x="1619" y="1443"/>
                </a:lnTo>
                <a:lnTo>
                  <a:pt x="1623" y="1438"/>
                </a:lnTo>
                <a:lnTo>
                  <a:pt x="1628" y="1432"/>
                </a:lnTo>
                <a:lnTo>
                  <a:pt x="1632" y="1427"/>
                </a:lnTo>
                <a:lnTo>
                  <a:pt x="1634" y="1421"/>
                </a:lnTo>
                <a:lnTo>
                  <a:pt x="1636" y="1415"/>
                </a:lnTo>
                <a:lnTo>
                  <a:pt x="1637" y="1409"/>
                </a:lnTo>
                <a:lnTo>
                  <a:pt x="1637" y="1403"/>
                </a:lnTo>
                <a:lnTo>
                  <a:pt x="1637" y="1397"/>
                </a:lnTo>
                <a:lnTo>
                  <a:pt x="1636" y="1391"/>
                </a:lnTo>
                <a:lnTo>
                  <a:pt x="1634" y="1385"/>
                </a:lnTo>
                <a:lnTo>
                  <a:pt x="1631" y="1379"/>
                </a:lnTo>
                <a:lnTo>
                  <a:pt x="1628" y="1374"/>
                </a:lnTo>
                <a:lnTo>
                  <a:pt x="1623" y="1368"/>
                </a:lnTo>
                <a:lnTo>
                  <a:pt x="1618" y="1364"/>
                </a:lnTo>
                <a:lnTo>
                  <a:pt x="1612" y="1358"/>
                </a:lnTo>
                <a:lnTo>
                  <a:pt x="1606" y="1354"/>
                </a:lnTo>
                <a:lnTo>
                  <a:pt x="1598" y="1351"/>
                </a:lnTo>
                <a:lnTo>
                  <a:pt x="1590" y="1348"/>
                </a:lnTo>
                <a:lnTo>
                  <a:pt x="1580" y="1344"/>
                </a:lnTo>
                <a:lnTo>
                  <a:pt x="1570" y="1342"/>
                </a:lnTo>
                <a:lnTo>
                  <a:pt x="1559" y="1340"/>
                </a:lnTo>
                <a:lnTo>
                  <a:pt x="1549" y="1339"/>
                </a:lnTo>
                <a:lnTo>
                  <a:pt x="1536" y="1339"/>
                </a:lnTo>
                <a:lnTo>
                  <a:pt x="1536" y="1339"/>
                </a:lnTo>
                <a:lnTo>
                  <a:pt x="1524" y="1339"/>
                </a:lnTo>
                <a:lnTo>
                  <a:pt x="1512" y="1340"/>
                </a:lnTo>
                <a:lnTo>
                  <a:pt x="1502" y="1342"/>
                </a:lnTo>
                <a:lnTo>
                  <a:pt x="1491" y="1344"/>
                </a:lnTo>
                <a:lnTo>
                  <a:pt x="1483" y="1348"/>
                </a:lnTo>
                <a:lnTo>
                  <a:pt x="1474" y="1351"/>
                </a:lnTo>
                <a:lnTo>
                  <a:pt x="1467" y="1354"/>
                </a:lnTo>
                <a:lnTo>
                  <a:pt x="1460" y="1358"/>
                </a:lnTo>
                <a:lnTo>
                  <a:pt x="1455" y="1364"/>
                </a:lnTo>
                <a:lnTo>
                  <a:pt x="1449" y="1368"/>
                </a:lnTo>
                <a:lnTo>
                  <a:pt x="1445" y="1374"/>
                </a:lnTo>
                <a:lnTo>
                  <a:pt x="1441" y="1379"/>
                </a:lnTo>
                <a:lnTo>
                  <a:pt x="1438" y="1385"/>
                </a:lnTo>
                <a:lnTo>
                  <a:pt x="1436" y="1391"/>
                </a:lnTo>
                <a:lnTo>
                  <a:pt x="1435" y="1397"/>
                </a:lnTo>
                <a:lnTo>
                  <a:pt x="1435" y="1403"/>
                </a:lnTo>
                <a:lnTo>
                  <a:pt x="1435" y="1409"/>
                </a:lnTo>
                <a:lnTo>
                  <a:pt x="1436" y="1415"/>
                </a:lnTo>
                <a:lnTo>
                  <a:pt x="1438" y="1421"/>
                </a:lnTo>
                <a:lnTo>
                  <a:pt x="1442" y="1427"/>
                </a:lnTo>
                <a:lnTo>
                  <a:pt x="1445" y="1432"/>
                </a:lnTo>
                <a:lnTo>
                  <a:pt x="1449" y="1438"/>
                </a:lnTo>
                <a:lnTo>
                  <a:pt x="1455" y="1443"/>
                </a:lnTo>
                <a:lnTo>
                  <a:pt x="1460" y="1447"/>
                </a:lnTo>
                <a:lnTo>
                  <a:pt x="1467" y="1452"/>
                </a:lnTo>
                <a:lnTo>
                  <a:pt x="1474" y="1456"/>
                </a:lnTo>
                <a:lnTo>
                  <a:pt x="1483" y="1459"/>
                </a:lnTo>
                <a:lnTo>
                  <a:pt x="1492" y="1461"/>
                </a:lnTo>
                <a:lnTo>
                  <a:pt x="1502" y="1465"/>
                </a:lnTo>
                <a:lnTo>
                  <a:pt x="1513" y="1466"/>
                </a:lnTo>
                <a:lnTo>
                  <a:pt x="1524" y="1467"/>
                </a:lnTo>
                <a:lnTo>
                  <a:pt x="1537" y="1467"/>
                </a:lnTo>
                <a:lnTo>
                  <a:pt x="1537" y="1467"/>
                </a:lnTo>
                <a:close/>
                <a:moveTo>
                  <a:pt x="1536" y="1374"/>
                </a:moveTo>
                <a:lnTo>
                  <a:pt x="1536" y="1374"/>
                </a:lnTo>
                <a:lnTo>
                  <a:pt x="1552" y="1375"/>
                </a:lnTo>
                <a:lnTo>
                  <a:pt x="1565" y="1377"/>
                </a:lnTo>
                <a:lnTo>
                  <a:pt x="1576" y="1380"/>
                </a:lnTo>
                <a:lnTo>
                  <a:pt x="1584" y="1384"/>
                </a:lnTo>
                <a:lnTo>
                  <a:pt x="1591" y="1389"/>
                </a:lnTo>
                <a:lnTo>
                  <a:pt x="1595" y="1392"/>
                </a:lnTo>
                <a:lnTo>
                  <a:pt x="1598" y="1396"/>
                </a:lnTo>
                <a:lnTo>
                  <a:pt x="1599" y="1398"/>
                </a:lnTo>
                <a:lnTo>
                  <a:pt x="1599" y="1398"/>
                </a:lnTo>
                <a:lnTo>
                  <a:pt x="1598" y="1401"/>
                </a:lnTo>
                <a:lnTo>
                  <a:pt x="1596" y="1405"/>
                </a:lnTo>
                <a:lnTo>
                  <a:pt x="1593" y="1408"/>
                </a:lnTo>
                <a:lnTo>
                  <a:pt x="1587" y="1414"/>
                </a:lnTo>
                <a:lnTo>
                  <a:pt x="1578" y="1418"/>
                </a:lnTo>
                <a:lnTo>
                  <a:pt x="1567" y="1421"/>
                </a:lnTo>
                <a:lnTo>
                  <a:pt x="1553" y="1423"/>
                </a:lnTo>
                <a:lnTo>
                  <a:pt x="1537" y="1424"/>
                </a:lnTo>
                <a:lnTo>
                  <a:pt x="1537" y="1424"/>
                </a:lnTo>
                <a:lnTo>
                  <a:pt x="1520" y="1423"/>
                </a:lnTo>
                <a:lnTo>
                  <a:pt x="1505" y="1421"/>
                </a:lnTo>
                <a:lnTo>
                  <a:pt x="1495" y="1417"/>
                </a:lnTo>
                <a:lnTo>
                  <a:pt x="1486" y="1414"/>
                </a:lnTo>
                <a:lnTo>
                  <a:pt x="1481" y="1408"/>
                </a:lnTo>
                <a:lnTo>
                  <a:pt x="1476" y="1405"/>
                </a:lnTo>
                <a:lnTo>
                  <a:pt x="1474" y="1401"/>
                </a:lnTo>
                <a:lnTo>
                  <a:pt x="1473" y="1398"/>
                </a:lnTo>
                <a:lnTo>
                  <a:pt x="1473" y="1398"/>
                </a:lnTo>
                <a:lnTo>
                  <a:pt x="1474" y="1396"/>
                </a:lnTo>
                <a:lnTo>
                  <a:pt x="1477" y="1392"/>
                </a:lnTo>
                <a:lnTo>
                  <a:pt x="1482" y="1389"/>
                </a:lnTo>
                <a:lnTo>
                  <a:pt x="1488" y="1384"/>
                </a:lnTo>
                <a:lnTo>
                  <a:pt x="1497" y="1380"/>
                </a:lnTo>
                <a:lnTo>
                  <a:pt x="1508" y="1377"/>
                </a:lnTo>
                <a:lnTo>
                  <a:pt x="1521" y="1375"/>
                </a:lnTo>
                <a:lnTo>
                  <a:pt x="1536" y="1374"/>
                </a:lnTo>
                <a:lnTo>
                  <a:pt x="1536" y="1374"/>
                </a:lnTo>
                <a:close/>
                <a:moveTo>
                  <a:pt x="1364" y="504"/>
                </a:moveTo>
                <a:lnTo>
                  <a:pt x="1364" y="504"/>
                </a:lnTo>
                <a:lnTo>
                  <a:pt x="1384" y="504"/>
                </a:lnTo>
                <a:lnTo>
                  <a:pt x="1401" y="503"/>
                </a:lnTo>
                <a:lnTo>
                  <a:pt x="1414" y="502"/>
                </a:lnTo>
                <a:lnTo>
                  <a:pt x="1424" y="500"/>
                </a:lnTo>
                <a:lnTo>
                  <a:pt x="1424" y="500"/>
                </a:lnTo>
                <a:lnTo>
                  <a:pt x="1435" y="506"/>
                </a:lnTo>
                <a:lnTo>
                  <a:pt x="1446" y="512"/>
                </a:lnTo>
                <a:lnTo>
                  <a:pt x="1458" y="517"/>
                </a:lnTo>
                <a:lnTo>
                  <a:pt x="1469" y="520"/>
                </a:lnTo>
                <a:lnTo>
                  <a:pt x="1482" y="524"/>
                </a:lnTo>
                <a:lnTo>
                  <a:pt x="1494" y="527"/>
                </a:lnTo>
                <a:lnTo>
                  <a:pt x="1507" y="528"/>
                </a:lnTo>
                <a:lnTo>
                  <a:pt x="1520" y="529"/>
                </a:lnTo>
                <a:lnTo>
                  <a:pt x="1520" y="529"/>
                </a:lnTo>
                <a:lnTo>
                  <a:pt x="1532" y="528"/>
                </a:lnTo>
                <a:lnTo>
                  <a:pt x="1545" y="527"/>
                </a:lnTo>
                <a:lnTo>
                  <a:pt x="1558" y="524"/>
                </a:lnTo>
                <a:lnTo>
                  <a:pt x="1570" y="520"/>
                </a:lnTo>
                <a:lnTo>
                  <a:pt x="1582" y="516"/>
                </a:lnTo>
                <a:lnTo>
                  <a:pt x="1594" y="511"/>
                </a:lnTo>
                <a:lnTo>
                  <a:pt x="1605" y="505"/>
                </a:lnTo>
                <a:lnTo>
                  <a:pt x="1616" y="499"/>
                </a:lnTo>
                <a:lnTo>
                  <a:pt x="1616" y="499"/>
                </a:lnTo>
                <a:lnTo>
                  <a:pt x="1656" y="501"/>
                </a:lnTo>
                <a:lnTo>
                  <a:pt x="1700" y="501"/>
                </a:lnTo>
                <a:lnTo>
                  <a:pt x="1721" y="501"/>
                </a:lnTo>
                <a:lnTo>
                  <a:pt x="1739" y="499"/>
                </a:lnTo>
                <a:lnTo>
                  <a:pt x="1753" y="497"/>
                </a:lnTo>
                <a:lnTo>
                  <a:pt x="1758" y="494"/>
                </a:lnTo>
                <a:lnTo>
                  <a:pt x="1763" y="492"/>
                </a:lnTo>
                <a:lnTo>
                  <a:pt x="1763" y="492"/>
                </a:lnTo>
                <a:lnTo>
                  <a:pt x="1765" y="490"/>
                </a:lnTo>
                <a:lnTo>
                  <a:pt x="1766" y="488"/>
                </a:lnTo>
                <a:lnTo>
                  <a:pt x="1769" y="479"/>
                </a:lnTo>
                <a:lnTo>
                  <a:pt x="1772" y="467"/>
                </a:lnTo>
                <a:lnTo>
                  <a:pt x="1773" y="452"/>
                </a:lnTo>
                <a:lnTo>
                  <a:pt x="1776" y="435"/>
                </a:lnTo>
                <a:lnTo>
                  <a:pt x="1777" y="416"/>
                </a:lnTo>
                <a:lnTo>
                  <a:pt x="1777" y="373"/>
                </a:lnTo>
                <a:lnTo>
                  <a:pt x="1776" y="326"/>
                </a:lnTo>
                <a:lnTo>
                  <a:pt x="1772" y="280"/>
                </a:lnTo>
                <a:lnTo>
                  <a:pt x="1768" y="235"/>
                </a:lnTo>
                <a:lnTo>
                  <a:pt x="1762" y="197"/>
                </a:lnTo>
                <a:lnTo>
                  <a:pt x="1762" y="197"/>
                </a:lnTo>
                <a:lnTo>
                  <a:pt x="1758" y="180"/>
                </a:lnTo>
                <a:lnTo>
                  <a:pt x="1753" y="163"/>
                </a:lnTo>
                <a:lnTo>
                  <a:pt x="1748" y="144"/>
                </a:lnTo>
                <a:lnTo>
                  <a:pt x="1740" y="128"/>
                </a:lnTo>
                <a:lnTo>
                  <a:pt x="1732" y="111"/>
                </a:lnTo>
                <a:lnTo>
                  <a:pt x="1722" y="94"/>
                </a:lnTo>
                <a:lnTo>
                  <a:pt x="1711" y="79"/>
                </a:lnTo>
                <a:lnTo>
                  <a:pt x="1697" y="64"/>
                </a:lnTo>
                <a:lnTo>
                  <a:pt x="1682" y="51"/>
                </a:lnTo>
                <a:lnTo>
                  <a:pt x="1664" y="38"/>
                </a:lnTo>
                <a:lnTo>
                  <a:pt x="1645" y="27"/>
                </a:lnTo>
                <a:lnTo>
                  <a:pt x="1623" y="18"/>
                </a:lnTo>
                <a:lnTo>
                  <a:pt x="1599" y="11"/>
                </a:lnTo>
                <a:lnTo>
                  <a:pt x="1572" y="4"/>
                </a:lnTo>
                <a:lnTo>
                  <a:pt x="1543" y="1"/>
                </a:lnTo>
                <a:lnTo>
                  <a:pt x="1512" y="0"/>
                </a:lnTo>
                <a:lnTo>
                  <a:pt x="1512" y="0"/>
                </a:lnTo>
                <a:lnTo>
                  <a:pt x="1496" y="1"/>
                </a:lnTo>
                <a:lnTo>
                  <a:pt x="1481" y="2"/>
                </a:lnTo>
                <a:lnTo>
                  <a:pt x="1465" y="3"/>
                </a:lnTo>
                <a:lnTo>
                  <a:pt x="1453" y="7"/>
                </a:lnTo>
                <a:lnTo>
                  <a:pt x="1440" y="9"/>
                </a:lnTo>
                <a:lnTo>
                  <a:pt x="1427" y="13"/>
                </a:lnTo>
                <a:lnTo>
                  <a:pt x="1415" y="17"/>
                </a:lnTo>
                <a:lnTo>
                  <a:pt x="1404" y="22"/>
                </a:lnTo>
                <a:lnTo>
                  <a:pt x="1394" y="27"/>
                </a:lnTo>
                <a:lnTo>
                  <a:pt x="1384" y="33"/>
                </a:lnTo>
                <a:lnTo>
                  <a:pt x="1376" y="39"/>
                </a:lnTo>
                <a:lnTo>
                  <a:pt x="1367" y="46"/>
                </a:lnTo>
                <a:lnTo>
                  <a:pt x="1352" y="60"/>
                </a:lnTo>
                <a:lnTo>
                  <a:pt x="1339" y="75"/>
                </a:lnTo>
                <a:lnTo>
                  <a:pt x="1328" y="90"/>
                </a:lnTo>
                <a:lnTo>
                  <a:pt x="1318" y="106"/>
                </a:lnTo>
                <a:lnTo>
                  <a:pt x="1311" y="123"/>
                </a:lnTo>
                <a:lnTo>
                  <a:pt x="1304" y="139"/>
                </a:lnTo>
                <a:lnTo>
                  <a:pt x="1300" y="154"/>
                </a:lnTo>
                <a:lnTo>
                  <a:pt x="1296" y="169"/>
                </a:lnTo>
                <a:lnTo>
                  <a:pt x="1291" y="195"/>
                </a:lnTo>
                <a:lnTo>
                  <a:pt x="1291" y="195"/>
                </a:lnTo>
                <a:lnTo>
                  <a:pt x="1283" y="258"/>
                </a:lnTo>
                <a:lnTo>
                  <a:pt x="1274" y="341"/>
                </a:lnTo>
                <a:lnTo>
                  <a:pt x="1271" y="382"/>
                </a:lnTo>
                <a:lnTo>
                  <a:pt x="1269" y="416"/>
                </a:lnTo>
                <a:lnTo>
                  <a:pt x="1268" y="444"/>
                </a:lnTo>
                <a:lnTo>
                  <a:pt x="1269" y="453"/>
                </a:lnTo>
                <a:lnTo>
                  <a:pt x="1269" y="460"/>
                </a:lnTo>
                <a:lnTo>
                  <a:pt x="1269" y="460"/>
                </a:lnTo>
                <a:lnTo>
                  <a:pt x="1272" y="467"/>
                </a:lnTo>
                <a:lnTo>
                  <a:pt x="1276" y="475"/>
                </a:lnTo>
                <a:lnTo>
                  <a:pt x="1283" y="482"/>
                </a:lnTo>
                <a:lnTo>
                  <a:pt x="1291" y="489"/>
                </a:lnTo>
                <a:lnTo>
                  <a:pt x="1303" y="494"/>
                </a:lnTo>
                <a:lnTo>
                  <a:pt x="1320" y="499"/>
                </a:lnTo>
                <a:lnTo>
                  <a:pt x="1339" y="502"/>
                </a:lnTo>
                <a:lnTo>
                  <a:pt x="1364" y="504"/>
                </a:lnTo>
                <a:lnTo>
                  <a:pt x="1364" y="504"/>
                </a:lnTo>
                <a:close/>
                <a:moveTo>
                  <a:pt x="1369" y="276"/>
                </a:moveTo>
                <a:lnTo>
                  <a:pt x="1369" y="276"/>
                </a:lnTo>
                <a:lnTo>
                  <a:pt x="1369" y="266"/>
                </a:lnTo>
                <a:lnTo>
                  <a:pt x="1370" y="254"/>
                </a:lnTo>
                <a:lnTo>
                  <a:pt x="1376" y="232"/>
                </a:lnTo>
                <a:lnTo>
                  <a:pt x="1376" y="232"/>
                </a:lnTo>
                <a:lnTo>
                  <a:pt x="1381" y="239"/>
                </a:lnTo>
                <a:lnTo>
                  <a:pt x="1388" y="245"/>
                </a:lnTo>
                <a:lnTo>
                  <a:pt x="1397" y="250"/>
                </a:lnTo>
                <a:lnTo>
                  <a:pt x="1408" y="256"/>
                </a:lnTo>
                <a:lnTo>
                  <a:pt x="1421" y="259"/>
                </a:lnTo>
                <a:lnTo>
                  <a:pt x="1436" y="261"/>
                </a:lnTo>
                <a:lnTo>
                  <a:pt x="1455" y="262"/>
                </a:lnTo>
                <a:lnTo>
                  <a:pt x="1475" y="260"/>
                </a:lnTo>
                <a:lnTo>
                  <a:pt x="1475" y="260"/>
                </a:lnTo>
                <a:lnTo>
                  <a:pt x="1488" y="258"/>
                </a:lnTo>
                <a:lnTo>
                  <a:pt x="1499" y="256"/>
                </a:lnTo>
                <a:lnTo>
                  <a:pt x="1518" y="250"/>
                </a:lnTo>
                <a:lnTo>
                  <a:pt x="1536" y="244"/>
                </a:lnTo>
                <a:lnTo>
                  <a:pt x="1553" y="237"/>
                </a:lnTo>
                <a:lnTo>
                  <a:pt x="1571" y="231"/>
                </a:lnTo>
                <a:lnTo>
                  <a:pt x="1582" y="228"/>
                </a:lnTo>
                <a:lnTo>
                  <a:pt x="1594" y="225"/>
                </a:lnTo>
                <a:lnTo>
                  <a:pt x="1608" y="223"/>
                </a:lnTo>
                <a:lnTo>
                  <a:pt x="1623" y="222"/>
                </a:lnTo>
                <a:lnTo>
                  <a:pt x="1641" y="221"/>
                </a:lnTo>
                <a:lnTo>
                  <a:pt x="1660" y="221"/>
                </a:lnTo>
                <a:lnTo>
                  <a:pt x="1660" y="221"/>
                </a:lnTo>
                <a:lnTo>
                  <a:pt x="1664" y="234"/>
                </a:lnTo>
                <a:lnTo>
                  <a:pt x="1666" y="248"/>
                </a:lnTo>
                <a:lnTo>
                  <a:pt x="1669" y="262"/>
                </a:lnTo>
                <a:lnTo>
                  <a:pt x="1670" y="276"/>
                </a:lnTo>
                <a:lnTo>
                  <a:pt x="1670" y="322"/>
                </a:lnTo>
                <a:lnTo>
                  <a:pt x="1670" y="322"/>
                </a:lnTo>
                <a:lnTo>
                  <a:pt x="1669" y="339"/>
                </a:lnTo>
                <a:lnTo>
                  <a:pt x="1666" y="356"/>
                </a:lnTo>
                <a:lnTo>
                  <a:pt x="1662" y="372"/>
                </a:lnTo>
                <a:lnTo>
                  <a:pt x="1657" y="387"/>
                </a:lnTo>
                <a:lnTo>
                  <a:pt x="1651" y="402"/>
                </a:lnTo>
                <a:lnTo>
                  <a:pt x="1643" y="416"/>
                </a:lnTo>
                <a:lnTo>
                  <a:pt x="1634" y="429"/>
                </a:lnTo>
                <a:lnTo>
                  <a:pt x="1624" y="441"/>
                </a:lnTo>
                <a:lnTo>
                  <a:pt x="1614" y="452"/>
                </a:lnTo>
                <a:lnTo>
                  <a:pt x="1603" y="461"/>
                </a:lnTo>
                <a:lnTo>
                  <a:pt x="1590" y="469"/>
                </a:lnTo>
                <a:lnTo>
                  <a:pt x="1577" y="477"/>
                </a:lnTo>
                <a:lnTo>
                  <a:pt x="1563" y="482"/>
                </a:lnTo>
                <a:lnTo>
                  <a:pt x="1549" y="487"/>
                </a:lnTo>
                <a:lnTo>
                  <a:pt x="1535" y="489"/>
                </a:lnTo>
                <a:lnTo>
                  <a:pt x="1520" y="490"/>
                </a:lnTo>
                <a:lnTo>
                  <a:pt x="1520" y="490"/>
                </a:lnTo>
                <a:lnTo>
                  <a:pt x="1504" y="489"/>
                </a:lnTo>
                <a:lnTo>
                  <a:pt x="1489" y="487"/>
                </a:lnTo>
                <a:lnTo>
                  <a:pt x="1475" y="482"/>
                </a:lnTo>
                <a:lnTo>
                  <a:pt x="1461" y="477"/>
                </a:lnTo>
                <a:lnTo>
                  <a:pt x="1448" y="469"/>
                </a:lnTo>
                <a:lnTo>
                  <a:pt x="1436" y="461"/>
                </a:lnTo>
                <a:lnTo>
                  <a:pt x="1424" y="452"/>
                </a:lnTo>
                <a:lnTo>
                  <a:pt x="1414" y="441"/>
                </a:lnTo>
                <a:lnTo>
                  <a:pt x="1404" y="429"/>
                </a:lnTo>
                <a:lnTo>
                  <a:pt x="1395" y="416"/>
                </a:lnTo>
                <a:lnTo>
                  <a:pt x="1388" y="402"/>
                </a:lnTo>
                <a:lnTo>
                  <a:pt x="1381" y="387"/>
                </a:lnTo>
                <a:lnTo>
                  <a:pt x="1376" y="372"/>
                </a:lnTo>
                <a:lnTo>
                  <a:pt x="1373" y="356"/>
                </a:lnTo>
                <a:lnTo>
                  <a:pt x="1370" y="339"/>
                </a:lnTo>
                <a:lnTo>
                  <a:pt x="1369" y="322"/>
                </a:lnTo>
                <a:lnTo>
                  <a:pt x="1369" y="276"/>
                </a:lnTo>
                <a:close/>
              </a:path>
            </a:pathLst>
          </a:custGeom>
          <a:noFill/>
          <a:ln w="6350">
            <a:solidFill>
              <a:schemeClr val="tx1"/>
            </a:solidFill>
          </a:ln>
        </p:spPr>
        <p:txBody>
          <a:bodyPr vert="horz" wrap="square" lIns="91440" tIns="45720" rIns="91440" bIns="45720" numCol="1" anchor="t" anchorCtr="0" compatLnSpc="1">
            <a:prstTxWarp prst="textNoShape">
              <a:avLst/>
            </a:prstTxWarp>
          </a:bodyPr>
          <a:lstStyle/>
          <a:p>
            <a:pPr defTabSz="914077">
              <a:defRPr/>
            </a:pPr>
            <a:endParaRPr lang="de-DE">
              <a:solidFill>
                <a:srgbClr val="000000"/>
              </a:solidFill>
            </a:endParaRPr>
          </a:p>
        </p:txBody>
      </p:sp>
      <p:sp>
        <p:nvSpPr>
          <p:cNvPr id="26" name="TextBox 25">
            <a:extLst>
              <a:ext uri="{FF2B5EF4-FFF2-40B4-BE49-F238E27FC236}">
                <a16:creationId xmlns:a16="http://schemas.microsoft.com/office/drawing/2014/main" id="{FB5AE9F3-2604-14D0-5B8F-C39C6DFD9763}"/>
              </a:ext>
            </a:extLst>
          </p:cNvPr>
          <p:cNvSpPr txBox="1"/>
          <p:nvPr/>
        </p:nvSpPr>
        <p:spPr>
          <a:xfrm>
            <a:off x="7695332" y="2620053"/>
            <a:ext cx="1556639" cy="457200"/>
          </a:xfrm>
          <a:prstGeom prst="rect">
            <a:avLst/>
          </a:prstGeom>
          <a:solidFill>
            <a:schemeClr val="accent2"/>
          </a:solidFill>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u="none" strike="noStrike" kern="0" cap="none" spc="0" normalizeH="0" baseline="0" noProof="0">
                <a:ln>
                  <a:noFill/>
                </a:ln>
                <a:solidFill>
                  <a:prstClr val="white"/>
                </a:solidFill>
                <a:effectLst/>
                <a:uLnTx/>
                <a:uFillTx/>
              </a:rPr>
              <a:t>Step 4) Model Output &amp; Analysis </a:t>
            </a:r>
          </a:p>
        </p:txBody>
      </p:sp>
      <p:sp>
        <p:nvSpPr>
          <p:cNvPr id="27" name="Rounded Rectangle 78">
            <a:extLst>
              <a:ext uri="{FF2B5EF4-FFF2-40B4-BE49-F238E27FC236}">
                <a16:creationId xmlns:a16="http://schemas.microsoft.com/office/drawing/2014/main" id="{313818DA-1E0C-A1C5-2B4C-1F6DAF7C0479}"/>
              </a:ext>
            </a:extLst>
          </p:cNvPr>
          <p:cNvSpPr/>
          <p:nvPr/>
        </p:nvSpPr>
        <p:spPr>
          <a:xfrm>
            <a:off x="472184" y="3142321"/>
            <a:ext cx="2212313" cy="521727"/>
          </a:xfrm>
          <a:prstGeom prst="roundRect">
            <a:avLst>
              <a:gd name="adj" fmla="val 11799"/>
            </a:avLst>
          </a:prstGeom>
          <a:solidFill>
            <a:schemeClr val="accent6"/>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u="none" strike="noStrike" kern="0" cap="none" spc="0" normalizeH="0" baseline="0" noProof="0">
                <a:ln>
                  <a:noFill/>
                </a:ln>
                <a:solidFill>
                  <a:schemeClr val="tx2"/>
                </a:solidFill>
                <a:effectLst/>
                <a:uLnTx/>
                <a:uFillTx/>
                <a:ea typeface="+mn-ea"/>
                <a:cs typeface="Calibri" panose="020F0502020204030204" pitchFamily="34" charset="0"/>
              </a:rPr>
              <a:t>Business Requirement Document    </a:t>
            </a:r>
          </a:p>
        </p:txBody>
      </p:sp>
      <p:sp>
        <p:nvSpPr>
          <p:cNvPr id="28" name="Rounded Rectangle 79">
            <a:extLst>
              <a:ext uri="{FF2B5EF4-FFF2-40B4-BE49-F238E27FC236}">
                <a16:creationId xmlns:a16="http://schemas.microsoft.com/office/drawing/2014/main" id="{6D169016-98CE-8651-F806-6A22767561AB}"/>
              </a:ext>
            </a:extLst>
          </p:cNvPr>
          <p:cNvSpPr/>
          <p:nvPr/>
        </p:nvSpPr>
        <p:spPr>
          <a:xfrm>
            <a:off x="472184" y="3720802"/>
            <a:ext cx="2208408" cy="707721"/>
          </a:xfrm>
          <a:prstGeom prst="roundRect">
            <a:avLst>
              <a:gd name="adj" fmla="val 7408"/>
            </a:avLst>
          </a:prstGeom>
          <a:solidFill>
            <a:schemeClr val="accent6"/>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u="none" strike="noStrike" kern="0" cap="none" spc="0" normalizeH="0" baseline="0" noProof="0">
              <a:ln>
                <a:noFill/>
              </a:ln>
              <a:solidFill>
                <a:srgbClr val="0070C0"/>
              </a:solidFill>
              <a:effectLst/>
              <a:uLnTx/>
              <a:uFillTx/>
              <a:ea typeface="+mn-ea"/>
              <a:cs typeface="Calibri" panose="020F050202020403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u="none" strike="noStrike" kern="0" cap="none" spc="0" normalizeH="0" baseline="0" noProof="0">
                <a:ln>
                  <a:noFill/>
                </a:ln>
                <a:solidFill>
                  <a:schemeClr val="tx2"/>
                </a:solidFill>
                <a:effectLst/>
                <a:uLnTx/>
                <a:uFillTx/>
                <a:ea typeface="+mn-ea"/>
                <a:cs typeface="Calibri" panose="020F0502020204030204" pitchFamily="34" charset="0"/>
              </a:rPr>
              <a:t>Data Collection</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u="none" strike="noStrike" kern="0" cap="none" spc="0" normalizeH="0" baseline="0" noProof="0">
                <a:ln>
                  <a:noFill/>
                </a:ln>
                <a:solidFill>
                  <a:prstClr val="black"/>
                </a:solidFill>
                <a:effectLst/>
                <a:uLnTx/>
                <a:uFillTx/>
                <a:ea typeface="+mn-ea"/>
                <a:cs typeface="Calibri" panose="020F0502020204030204" pitchFamily="34" charset="0"/>
              </a:rPr>
              <a:t>Policy Admin systems, Actuarial software, Assumptions Guidance group </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u="none" strike="noStrike" kern="0" cap="none" spc="0" normalizeH="0" baseline="0" noProof="0">
              <a:ln>
                <a:noFill/>
              </a:ln>
              <a:solidFill>
                <a:srgbClr val="0070C0"/>
              </a:solidFill>
              <a:effectLst/>
              <a:uLnTx/>
              <a:uFillTx/>
              <a:ea typeface="+mn-ea"/>
              <a:cs typeface="Calibri" panose="020F0502020204030204" pitchFamily="34" charset="0"/>
            </a:endParaRPr>
          </a:p>
        </p:txBody>
      </p:sp>
      <p:sp>
        <p:nvSpPr>
          <p:cNvPr id="29" name="Rounded Rectangle 80">
            <a:extLst>
              <a:ext uri="{FF2B5EF4-FFF2-40B4-BE49-F238E27FC236}">
                <a16:creationId xmlns:a16="http://schemas.microsoft.com/office/drawing/2014/main" id="{AF24E229-BE88-630D-1F49-54D78D6C0261}"/>
              </a:ext>
            </a:extLst>
          </p:cNvPr>
          <p:cNvSpPr/>
          <p:nvPr/>
        </p:nvSpPr>
        <p:spPr>
          <a:xfrm>
            <a:off x="457200" y="5061437"/>
            <a:ext cx="2237898" cy="830780"/>
          </a:xfrm>
          <a:prstGeom prst="roundRect">
            <a:avLst>
              <a:gd name="adj" fmla="val 7495"/>
            </a:avLst>
          </a:prstGeom>
          <a:solidFill>
            <a:schemeClr val="accent6"/>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u="none" strike="noStrike" kern="0" cap="none" spc="0" normalizeH="0" baseline="0" noProof="0">
              <a:ln>
                <a:noFill/>
              </a:ln>
              <a:solidFill>
                <a:srgbClr val="0070C0"/>
              </a:solidFill>
              <a:effectLst/>
              <a:uLnTx/>
              <a:uFillTx/>
              <a:ea typeface="+mn-ea"/>
              <a:cs typeface="Calibri" panose="020F050202020403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u="none" strike="noStrike" kern="0" cap="none" spc="0" normalizeH="0" baseline="0" noProof="0">
              <a:ln>
                <a:noFill/>
              </a:ln>
              <a:solidFill>
                <a:srgbClr val="0070C0"/>
              </a:solidFill>
              <a:effectLst/>
              <a:uLnTx/>
              <a:uFillTx/>
              <a:ea typeface="+mn-ea"/>
              <a:cs typeface="Calibri" panose="020F050202020403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u="none" strike="noStrike" kern="0" cap="none" spc="0" normalizeH="0" baseline="0" noProof="0">
                <a:ln>
                  <a:noFill/>
                </a:ln>
                <a:solidFill>
                  <a:schemeClr val="tx2"/>
                </a:solidFill>
                <a:effectLst/>
                <a:uLnTx/>
                <a:uFillTx/>
                <a:ea typeface="+mn-ea"/>
                <a:cs typeface="Calibri" panose="020F0502020204030204" pitchFamily="34" charset="0"/>
              </a:rPr>
              <a:t>Model Design</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u="none" strike="noStrike" kern="0" cap="none" spc="0" normalizeH="0" baseline="0" noProof="0">
                <a:ln>
                  <a:noFill/>
                </a:ln>
                <a:solidFill>
                  <a:prstClr val="black"/>
                </a:solidFill>
                <a:effectLst/>
                <a:uLnTx/>
                <a:uFillTx/>
                <a:ea typeface="+mn-ea"/>
                <a:cs typeface="Calibri" panose="020F0502020204030204" pitchFamily="34" charset="0"/>
              </a:rPr>
              <a:t>Design the build based on regulatory changes and stakeholder requirement</a:t>
            </a:r>
            <a:r>
              <a:rPr kumimoji="0" lang="en-US" sz="1200" b="1" u="none" strike="noStrike" kern="0" cap="none" spc="0" normalizeH="0" baseline="0" noProof="0">
                <a:ln>
                  <a:noFill/>
                </a:ln>
                <a:solidFill>
                  <a:prstClr val="black"/>
                </a:solidFill>
                <a:effectLst/>
                <a:uLnTx/>
                <a:uFillTx/>
                <a:ea typeface="+mn-ea"/>
                <a:cs typeface="Calibri" panose="020F0502020204030204" pitchFamily="34" charset="0"/>
              </a:rPr>
              <a:t> </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u="none" strike="noStrike" kern="0" cap="none" spc="0" normalizeH="0" baseline="0" noProof="0">
              <a:ln>
                <a:noFill/>
              </a:ln>
              <a:solidFill>
                <a:srgbClr val="0070C0"/>
              </a:solidFill>
              <a:effectLst/>
              <a:uLnTx/>
              <a:uFillTx/>
              <a:ea typeface="+mn-ea"/>
              <a:cs typeface="Calibri" panose="020F050202020403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u="none" strike="noStrike" kern="0" cap="none" spc="0" normalizeH="0" baseline="0" noProof="0">
                <a:ln>
                  <a:noFill/>
                </a:ln>
                <a:solidFill>
                  <a:srgbClr val="0070C0"/>
                </a:solidFill>
                <a:effectLst/>
                <a:uLnTx/>
                <a:uFillTx/>
                <a:ea typeface="+mn-ea"/>
                <a:cs typeface="Calibri" panose="020F0502020204030204" pitchFamily="34" charset="0"/>
              </a:rPr>
              <a:t>   </a:t>
            </a:r>
            <a:endParaRPr kumimoji="0" lang="en-US" sz="1050" b="0" u="none" strike="noStrike" kern="0" cap="none" spc="0" normalizeH="0" baseline="0" noProof="0">
              <a:ln>
                <a:noFill/>
              </a:ln>
              <a:solidFill>
                <a:srgbClr val="0070C0"/>
              </a:solidFill>
              <a:effectLst/>
              <a:uLnTx/>
              <a:uFillTx/>
              <a:ea typeface="+mn-ea"/>
              <a:cs typeface="Calibri" panose="020F0502020204030204" pitchFamily="34" charset="0"/>
            </a:endParaRPr>
          </a:p>
        </p:txBody>
      </p:sp>
      <p:sp>
        <p:nvSpPr>
          <p:cNvPr id="30" name="Rounded Rectangle 83">
            <a:extLst>
              <a:ext uri="{FF2B5EF4-FFF2-40B4-BE49-F238E27FC236}">
                <a16:creationId xmlns:a16="http://schemas.microsoft.com/office/drawing/2014/main" id="{5EB8C235-CFFC-DA4A-ED29-5868936731AD}"/>
              </a:ext>
            </a:extLst>
          </p:cNvPr>
          <p:cNvSpPr/>
          <p:nvPr/>
        </p:nvSpPr>
        <p:spPr>
          <a:xfrm>
            <a:off x="5146390" y="4055183"/>
            <a:ext cx="1920240" cy="616699"/>
          </a:xfrm>
          <a:prstGeom prst="roundRect">
            <a:avLst>
              <a:gd name="adj" fmla="val 8430"/>
            </a:avLst>
          </a:prstGeom>
          <a:solidFill>
            <a:schemeClr val="accent6"/>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u="none" strike="noStrike" kern="0" cap="none" spc="0" normalizeH="0" baseline="0" noProof="0">
              <a:ln>
                <a:noFill/>
              </a:ln>
              <a:solidFill>
                <a:srgbClr val="0070C0"/>
              </a:solidFill>
              <a:effectLst/>
              <a:uLnTx/>
              <a:uFillTx/>
              <a:ea typeface="+mn-ea"/>
              <a:cs typeface="Calibri" panose="020F050202020403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u="none" strike="noStrike" kern="0" cap="none" spc="0" normalizeH="0" baseline="0" noProof="0">
                <a:ln>
                  <a:noFill/>
                </a:ln>
                <a:solidFill>
                  <a:schemeClr val="tx2"/>
                </a:solidFill>
                <a:effectLst/>
                <a:uLnTx/>
                <a:uFillTx/>
                <a:ea typeface="+mn-ea"/>
                <a:cs typeface="Calibri" panose="020F0502020204030204" pitchFamily="34" charset="0"/>
              </a:rPr>
              <a:t>Single Cohort Run</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u="none" strike="noStrike" kern="0" cap="none" spc="0" normalizeH="0" baseline="0" noProof="0">
                <a:ln>
                  <a:noFill/>
                </a:ln>
                <a:solidFill>
                  <a:srgbClr val="000000"/>
                </a:solidFill>
                <a:effectLst/>
                <a:uLnTx/>
                <a:uFillTx/>
                <a:ea typeface="ヒラギノ角ゴ Pro W3" pitchFamily="1" charset="-128"/>
                <a:cs typeface="Calibri" panose="020F0502020204030204" pitchFamily="34" charset="0"/>
              </a:rPr>
              <a:t>Running a Single cohort to validate the code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u="none" strike="noStrike" kern="0" cap="none" spc="0" normalizeH="0" baseline="0" noProof="0">
                <a:ln>
                  <a:noFill/>
                </a:ln>
                <a:solidFill>
                  <a:srgbClr val="0070C0"/>
                </a:solidFill>
                <a:effectLst/>
                <a:uLnTx/>
                <a:uFillTx/>
                <a:ea typeface="+mn-ea"/>
                <a:cs typeface="Calibri" panose="020F0502020204030204" pitchFamily="34" charset="0"/>
              </a:rPr>
              <a:t> </a:t>
            </a:r>
          </a:p>
        </p:txBody>
      </p:sp>
      <p:sp>
        <p:nvSpPr>
          <p:cNvPr id="31" name="Rounded Rectangle 104">
            <a:extLst>
              <a:ext uri="{FF2B5EF4-FFF2-40B4-BE49-F238E27FC236}">
                <a16:creationId xmlns:a16="http://schemas.microsoft.com/office/drawing/2014/main" id="{358AE20D-9676-FC66-BA5D-B6D7A9BB4A65}"/>
              </a:ext>
            </a:extLst>
          </p:cNvPr>
          <p:cNvSpPr/>
          <p:nvPr/>
        </p:nvSpPr>
        <p:spPr>
          <a:xfrm>
            <a:off x="5146390" y="3142321"/>
            <a:ext cx="1920240" cy="782498"/>
          </a:xfrm>
          <a:prstGeom prst="roundRect">
            <a:avLst>
              <a:gd name="adj" fmla="val 8877"/>
            </a:avLst>
          </a:prstGeom>
          <a:solidFill>
            <a:schemeClr val="accent6"/>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u="none" strike="noStrike" kern="0" cap="none" spc="0" normalizeH="0" baseline="0" noProof="0">
              <a:ln>
                <a:noFill/>
              </a:ln>
              <a:solidFill>
                <a:srgbClr val="0070C0"/>
              </a:solidFill>
              <a:effectLst/>
              <a:uLnTx/>
              <a:uFillTx/>
              <a:ea typeface="+mn-ea"/>
              <a:cs typeface="Calibri" panose="020F050202020403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u="none" strike="noStrike" kern="0" cap="none" spc="0" normalizeH="0" baseline="0" noProof="0">
                <a:ln>
                  <a:noFill/>
                </a:ln>
                <a:solidFill>
                  <a:schemeClr val="tx2"/>
                </a:solidFill>
                <a:effectLst/>
                <a:uLnTx/>
                <a:uFillTx/>
                <a:ea typeface="+mn-ea"/>
                <a:cs typeface="Calibri" panose="020F0502020204030204" pitchFamily="34" charset="0"/>
              </a:rPr>
              <a:t>Model Build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u="none" strike="noStrike" kern="0" cap="none" spc="0" normalizeH="0" baseline="0" noProof="0">
                <a:ln>
                  <a:noFill/>
                </a:ln>
                <a:solidFill>
                  <a:srgbClr val="000000"/>
                </a:solidFill>
                <a:effectLst/>
                <a:uLnTx/>
                <a:uFillTx/>
                <a:ea typeface="ヒラギノ角ゴ Pro W3" pitchFamily="1" charset="-128"/>
                <a:cs typeface="Calibri" panose="020F0502020204030204" pitchFamily="34" charset="0"/>
              </a:rPr>
              <a:t>The model is built for DAC roll-forward calculations for Direct and reinsurance business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u="none" strike="noStrike" kern="0" cap="none" spc="0" normalizeH="0" baseline="0" noProof="0">
                <a:ln>
                  <a:noFill/>
                </a:ln>
                <a:solidFill>
                  <a:srgbClr val="0070C0"/>
                </a:solidFill>
                <a:effectLst/>
                <a:uLnTx/>
                <a:uFillTx/>
                <a:ea typeface="+mn-ea"/>
                <a:cs typeface="Calibri" panose="020F0502020204030204" pitchFamily="34" charset="0"/>
              </a:rPr>
              <a:t> </a:t>
            </a:r>
          </a:p>
        </p:txBody>
      </p:sp>
      <p:sp>
        <p:nvSpPr>
          <p:cNvPr id="32" name="Rounded Rectangle 110">
            <a:extLst>
              <a:ext uri="{FF2B5EF4-FFF2-40B4-BE49-F238E27FC236}">
                <a16:creationId xmlns:a16="http://schemas.microsoft.com/office/drawing/2014/main" id="{376EEE37-784D-8AF2-C927-ECC63C8F2B0F}"/>
              </a:ext>
            </a:extLst>
          </p:cNvPr>
          <p:cNvSpPr/>
          <p:nvPr/>
        </p:nvSpPr>
        <p:spPr>
          <a:xfrm>
            <a:off x="5146390" y="4929838"/>
            <a:ext cx="1920240" cy="616699"/>
          </a:xfrm>
          <a:prstGeom prst="roundRect">
            <a:avLst>
              <a:gd name="adj" fmla="val 10077"/>
            </a:avLst>
          </a:prstGeom>
          <a:solidFill>
            <a:schemeClr val="accent6"/>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u="none" strike="noStrike" kern="0" cap="none" spc="0" normalizeH="0" baseline="0" noProof="0">
              <a:ln>
                <a:noFill/>
              </a:ln>
              <a:solidFill>
                <a:schemeClr val="tx2"/>
              </a:solidFill>
              <a:effectLst/>
              <a:uLnTx/>
              <a:uFillTx/>
              <a:ea typeface="+mn-ea"/>
              <a:cs typeface="Calibri" panose="020F050202020403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u="none" strike="noStrike" kern="0" cap="none" spc="0" normalizeH="0" baseline="0" noProof="0">
                <a:ln>
                  <a:noFill/>
                </a:ln>
                <a:solidFill>
                  <a:schemeClr val="tx2"/>
                </a:solidFill>
                <a:effectLst/>
                <a:uLnTx/>
                <a:uFillTx/>
                <a:ea typeface="+mn-ea"/>
                <a:cs typeface="Calibri" panose="020F0502020204030204" pitchFamily="34" charset="0"/>
              </a:rPr>
              <a:t>Identify &amp; Fix the errors </a:t>
            </a:r>
            <a:endParaRPr kumimoji="0" lang="en-US" sz="1050" b="0" u="none" strike="noStrike" kern="0" cap="none" spc="0" normalizeH="0" baseline="0" noProof="0">
              <a:ln>
                <a:noFill/>
              </a:ln>
              <a:solidFill>
                <a:schemeClr val="tx2"/>
              </a:solidFill>
              <a:effectLst/>
              <a:uLnTx/>
              <a:uFillTx/>
              <a:ea typeface="ヒラギノ角ゴ Pro W3" pitchFamily="1" charset="-128"/>
              <a:cs typeface="Calibri" panose="020F050202020403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u="none" strike="noStrike" kern="0" cap="none" spc="0" normalizeH="0" baseline="0" noProof="0">
                <a:ln>
                  <a:noFill/>
                </a:ln>
                <a:solidFill>
                  <a:schemeClr val="tx2"/>
                </a:solidFill>
                <a:effectLst/>
                <a:uLnTx/>
                <a:uFillTx/>
                <a:ea typeface="+mn-ea"/>
                <a:cs typeface="Calibri" panose="020F0502020204030204" pitchFamily="34" charset="0"/>
              </a:rPr>
              <a:t> </a:t>
            </a:r>
          </a:p>
        </p:txBody>
      </p:sp>
      <p:sp>
        <p:nvSpPr>
          <p:cNvPr id="33" name="Rounded Rectangle 116">
            <a:extLst>
              <a:ext uri="{FF2B5EF4-FFF2-40B4-BE49-F238E27FC236}">
                <a16:creationId xmlns:a16="http://schemas.microsoft.com/office/drawing/2014/main" id="{D7189604-4200-59FF-1DB0-80F1CD19DD87}"/>
              </a:ext>
            </a:extLst>
          </p:cNvPr>
          <p:cNvSpPr/>
          <p:nvPr/>
        </p:nvSpPr>
        <p:spPr>
          <a:xfrm>
            <a:off x="7316803" y="3142321"/>
            <a:ext cx="1828489" cy="1060378"/>
          </a:xfrm>
          <a:prstGeom prst="roundRect">
            <a:avLst>
              <a:gd name="adj" fmla="val 6127"/>
            </a:avLst>
          </a:prstGeom>
          <a:solidFill>
            <a:schemeClr val="accent6"/>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u="none" strike="noStrike" kern="0" cap="none" spc="0" normalizeH="0" baseline="0" noProof="0">
                <a:ln>
                  <a:noFill/>
                </a:ln>
                <a:solidFill>
                  <a:schemeClr val="tx2"/>
                </a:solidFill>
                <a:effectLst/>
                <a:uLnTx/>
                <a:uFillTx/>
                <a:ea typeface="+mn-ea"/>
                <a:cs typeface="Calibri" panose="020F0502020204030204" pitchFamily="34" charset="0"/>
              </a:rPr>
              <a:t>Roll-forward calculations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u="none" strike="noStrike" kern="0" cap="none" spc="0" normalizeH="0" baseline="0" noProof="0">
                <a:ln>
                  <a:noFill/>
                </a:ln>
                <a:solidFill>
                  <a:prstClr val="black"/>
                </a:solidFill>
                <a:effectLst/>
                <a:uLnTx/>
                <a:uFillTx/>
                <a:ea typeface="+mn-ea"/>
                <a:cs typeface="Calibri" panose="020F0502020204030204" pitchFamily="34" charset="0"/>
              </a:rPr>
              <a:t>Generate roll-forward calculations and End of Period (EOP) DAC values for all cohorts </a:t>
            </a:r>
          </a:p>
        </p:txBody>
      </p:sp>
      <p:sp>
        <p:nvSpPr>
          <p:cNvPr id="34" name="Rounded Rectangle 118">
            <a:extLst>
              <a:ext uri="{FF2B5EF4-FFF2-40B4-BE49-F238E27FC236}">
                <a16:creationId xmlns:a16="http://schemas.microsoft.com/office/drawing/2014/main" id="{C624DD17-4F5A-C549-65D8-A322C28593D8}"/>
              </a:ext>
            </a:extLst>
          </p:cNvPr>
          <p:cNvSpPr/>
          <p:nvPr/>
        </p:nvSpPr>
        <p:spPr>
          <a:xfrm>
            <a:off x="9456634" y="3142321"/>
            <a:ext cx="2201966" cy="1111422"/>
          </a:xfrm>
          <a:prstGeom prst="roundRect">
            <a:avLst>
              <a:gd name="adj" fmla="val 5525"/>
            </a:avLst>
          </a:prstGeom>
          <a:solidFill>
            <a:schemeClr val="accent6"/>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u="none" strike="noStrike" kern="0" cap="none" spc="0" normalizeH="0" baseline="0" noProof="0">
              <a:ln>
                <a:noFill/>
              </a:ln>
              <a:solidFill>
                <a:srgbClr val="0070C0"/>
              </a:solidFill>
              <a:effectLst/>
              <a:uLnTx/>
              <a:uFillTx/>
              <a:ea typeface="+mn-ea"/>
              <a:cs typeface="Calibri" panose="020F050202020403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u="none" strike="noStrike" kern="0" cap="none" spc="0" normalizeH="0" baseline="0" noProof="0">
                <a:ln>
                  <a:noFill/>
                </a:ln>
                <a:solidFill>
                  <a:schemeClr val="tx2"/>
                </a:solidFill>
                <a:effectLst/>
                <a:uLnTx/>
                <a:uFillTx/>
                <a:ea typeface="+mn-ea"/>
                <a:cs typeface="Calibri" panose="020F0502020204030204" pitchFamily="34" charset="0"/>
              </a:rPr>
              <a:t>Report Summary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u="none" strike="noStrike" kern="0" cap="none" spc="0" normalizeH="0" baseline="0" noProof="0">
                <a:ln>
                  <a:noFill/>
                </a:ln>
                <a:solidFill>
                  <a:srgbClr val="000000"/>
                </a:solidFill>
                <a:effectLst/>
                <a:uLnTx/>
                <a:uFillTx/>
                <a:ea typeface="ヒラギノ角ゴ Pro W3" pitchFamily="1" charset="-128"/>
                <a:cs typeface="Calibri" panose="020F0502020204030204" pitchFamily="34" charset="0"/>
              </a:rPr>
              <a:t>Preparation of a DAC summary report summarizing EOP DAC numbers and Drivers which Valuation team would use to compare outputs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u="none" strike="noStrike" kern="0" cap="none" spc="0" normalizeH="0" baseline="0" noProof="0">
                <a:ln>
                  <a:noFill/>
                </a:ln>
                <a:solidFill>
                  <a:srgbClr val="0070C0"/>
                </a:solidFill>
                <a:effectLst/>
                <a:uLnTx/>
                <a:uFillTx/>
                <a:ea typeface="+mn-ea"/>
                <a:cs typeface="Calibri" panose="020F0502020204030204" pitchFamily="34" charset="0"/>
              </a:rPr>
              <a:t> </a:t>
            </a:r>
          </a:p>
        </p:txBody>
      </p:sp>
      <p:sp>
        <p:nvSpPr>
          <p:cNvPr id="35" name="Rounded Rectangle 51">
            <a:extLst>
              <a:ext uri="{FF2B5EF4-FFF2-40B4-BE49-F238E27FC236}">
                <a16:creationId xmlns:a16="http://schemas.microsoft.com/office/drawing/2014/main" id="{31040780-8469-F744-F7EF-FCE408187C6D}"/>
              </a:ext>
            </a:extLst>
          </p:cNvPr>
          <p:cNvSpPr/>
          <p:nvPr/>
        </p:nvSpPr>
        <p:spPr>
          <a:xfrm>
            <a:off x="2828342" y="3142321"/>
            <a:ext cx="2019695" cy="782498"/>
          </a:xfrm>
          <a:prstGeom prst="roundRect">
            <a:avLst>
              <a:gd name="adj" fmla="val 9526"/>
            </a:avLst>
          </a:prstGeom>
          <a:solidFill>
            <a:schemeClr val="accent6"/>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u="none" strike="noStrike" kern="0" cap="none" spc="0" normalizeH="0" baseline="0" noProof="0">
              <a:ln>
                <a:noFill/>
              </a:ln>
              <a:solidFill>
                <a:srgbClr val="0070C0"/>
              </a:solidFill>
              <a:effectLst/>
              <a:uLnTx/>
              <a:uFillTx/>
              <a:ea typeface="+mn-ea"/>
              <a:cs typeface="Calibri" panose="020F050202020403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u="none" strike="noStrike" kern="0" cap="none" spc="0" normalizeH="0" baseline="0" noProof="0" err="1">
                <a:ln>
                  <a:noFill/>
                </a:ln>
                <a:solidFill>
                  <a:schemeClr val="tx2"/>
                </a:solidFill>
                <a:effectLst/>
                <a:uLnTx/>
                <a:uFillTx/>
                <a:ea typeface="+mn-ea"/>
                <a:cs typeface="Calibri" panose="020F0502020204030204" pitchFamily="34" charset="0"/>
              </a:rPr>
              <a:t>Inforce</a:t>
            </a:r>
            <a:r>
              <a:rPr kumimoji="0" lang="en-US" sz="1200" b="1" u="none" strike="noStrike" kern="0" cap="none" spc="0" normalizeH="0" baseline="0" noProof="0">
                <a:ln>
                  <a:noFill/>
                </a:ln>
                <a:solidFill>
                  <a:schemeClr val="tx2"/>
                </a:solidFill>
                <a:effectLst/>
                <a:uLnTx/>
                <a:uFillTx/>
                <a:ea typeface="+mn-ea"/>
                <a:cs typeface="Calibri" panose="020F0502020204030204" pitchFamily="34" charset="0"/>
              </a:rPr>
              <a:t> Cohort Level Data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u="none" strike="noStrike" kern="0" cap="none" spc="0" normalizeH="0" baseline="0" noProof="0" err="1">
                <a:ln>
                  <a:noFill/>
                </a:ln>
                <a:solidFill>
                  <a:prstClr val="black"/>
                </a:solidFill>
                <a:effectLst/>
                <a:uLnTx/>
                <a:uFillTx/>
                <a:ea typeface="+mn-ea"/>
                <a:cs typeface="Calibri" panose="020F0502020204030204" pitchFamily="34" charset="0"/>
              </a:rPr>
              <a:t>Inforce</a:t>
            </a:r>
            <a:r>
              <a:rPr kumimoji="0" lang="en-US" sz="1050" b="0" u="none" strike="noStrike" kern="0" cap="none" spc="0" normalizeH="0" baseline="0" noProof="0">
                <a:ln>
                  <a:noFill/>
                </a:ln>
                <a:solidFill>
                  <a:prstClr val="black"/>
                </a:solidFill>
                <a:effectLst/>
                <a:uLnTx/>
                <a:uFillTx/>
                <a:ea typeface="+mn-ea"/>
                <a:cs typeface="Calibri" panose="020F0502020204030204" pitchFamily="34" charset="0"/>
              </a:rPr>
              <a:t> premium Projections, Premium Deposits due to renewals or new business </a:t>
            </a:r>
            <a:endParaRPr kumimoji="0" lang="en-US" sz="1050" b="0" u="none" strike="noStrike" kern="0" cap="none" spc="0" normalizeH="0" baseline="0" noProof="0">
              <a:ln>
                <a:noFill/>
              </a:ln>
              <a:solidFill>
                <a:srgbClr val="000000"/>
              </a:solidFill>
              <a:effectLst/>
              <a:uLnTx/>
              <a:uFillTx/>
              <a:ea typeface="ヒラギノ角ゴ Pro W3" pitchFamily="1" charset="-128"/>
              <a:cs typeface="Calibri" panose="020F050202020403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u="none" strike="noStrike" kern="0" cap="none" spc="0" normalizeH="0" baseline="0" noProof="0">
                <a:ln>
                  <a:noFill/>
                </a:ln>
                <a:solidFill>
                  <a:srgbClr val="0070C0"/>
                </a:solidFill>
                <a:effectLst/>
                <a:uLnTx/>
                <a:uFillTx/>
                <a:ea typeface="+mn-ea"/>
                <a:cs typeface="Calibri" panose="020F0502020204030204" pitchFamily="34" charset="0"/>
              </a:rPr>
              <a:t> </a:t>
            </a:r>
          </a:p>
        </p:txBody>
      </p:sp>
      <p:sp>
        <p:nvSpPr>
          <p:cNvPr id="36" name="Rounded Rectangle 52">
            <a:extLst>
              <a:ext uri="{FF2B5EF4-FFF2-40B4-BE49-F238E27FC236}">
                <a16:creationId xmlns:a16="http://schemas.microsoft.com/office/drawing/2014/main" id="{7AC53833-CA50-D62C-D96B-D0DF915DD79F}"/>
              </a:ext>
            </a:extLst>
          </p:cNvPr>
          <p:cNvSpPr/>
          <p:nvPr/>
        </p:nvSpPr>
        <p:spPr>
          <a:xfrm>
            <a:off x="2828342" y="4059885"/>
            <a:ext cx="2019695" cy="782498"/>
          </a:xfrm>
          <a:prstGeom prst="roundRect">
            <a:avLst>
              <a:gd name="adj" fmla="val 10175"/>
            </a:avLst>
          </a:prstGeom>
          <a:solidFill>
            <a:schemeClr val="accent6"/>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u="none" strike="noStrike" kern="0" cap="none" spc="0" normalizeH="0" baseline="0" noProof="0">
                <a:ln>
                  <a:noFill/>
                </a:ln>
                <a:solidFill>
                  <a:schemeClr val="tx2"/>
                </a:solidFill>
                <a:effectLst/>
                <a:uLnTx/>
                <a:uFillTx/>
                <a:ea typeface="+mn-ea"/>
                <a:cs typeface="Calibri" panose="020F0502020204030204" pitchFamily="34" charset="0"/>
              </a:rPr>
              <a:t>Financial Data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u="none" strike="noStrike" kern="0" cap="none" spc="0" normalizeH="0" baseline="0" noProof="0">
                <a:ln>
                  <a:noFill/>
                </a:ln>
                <a:solidFill>
                  <a:prstClr val="black"/>
                </a:solidFill>
                <a:effectLst/>
                <a:uLnTx/>
                <a:uFillTx/>
                <a:ea typeface="+mn-ea"/>
                <a:cs typeface="Calibri" panose="020F0502020204030204" pitchFamily="34" charset="0"/>
              </a:rPr>
              <a:t>Initial DAC new capitalization on renewals and new business  </a:t>
            </a:r>
            <a:endParaRPr kumimoji="0" lang="en-US" sz="1050" b="0" u="none" strike="noStrike" kern="0" cap="none" spc="0" normalizeH="0" baseline="0" noProof="0">
              <a:ln>
                <a:noFill/>
              </a:ln>
              <a:solidFill>
                <a:srgbClr val="000000"/>
              </a:solidFill>
              <a:effectLst/>
              <a:uLnTx/>
              <a:uFillTx/>
              <a:ea typeface="ヒラギノ角ゴ Pro W3" pitchFamily="1" charset="-128"/>
              <a:cs typeface="Calibri" panose="020F050202020403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u="none" strike="noStrike" kern="0" cap="none" spc="0" normalizeH="0" baseline="0" noProof="0">
                <a:ln>
                  <a:noFill/>
                </a:ln>
                <a:solidFill>
                  <a:srgbClr val="0070C0"/>
                </a:solidFill>
                <a:effectLst/>
                <a:uLnTx/>
                <a:uFillTx/>
                <a:ea typeface="+mn-ea"/>
                <a:cs typeface="Calibri" panose="020F0502020204030204" pitchFamily="34" charset="0"/>
              </a:rPr>
              <a:t> </a:t>
            </a:r>
          </a:p>
        </p:txBody>
      </p:sp>
      <p:sp>
        <p:nvSpPr>
          <p:cNvPr id="37" name="Rounded Rectangle 54">
            <a:extLst>
              <a:ext uri="{FF2B5EF4-FFF2-40B4-BE49-F238E27FC236}">
                <a16:creationId xmlns:a16="http://schemas.microsoft.com/office/drawing/2014/main" id="{12AD1F6B-65FF-5A29-205C-79866215AD9C}"/>
              </a:ext>
            </a:extLst>
          </p:cNvPr>
          <p:cNvSpPr/>
          <p:nvPr/>
        </p:nvSpPr>
        <p:spPr>
          <a:xfrm>
            <a:off x="7316803" y="4381713"/>
            <a:ext cx="1828489" cy="1165049"/>
          </a:xfrm>
          <a:prstGeom prst="roundRect">
            <a:avLst>
              <a:gd name="adj" fmla="val 6638"/>
            </a:avLst>
          </a:prstGeom>
          <a:solidFill>
            <a:schemeClr val="accent6"/>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u="none" strike="noStrike" kern="0" cap="none" spc="0" normalizeH="0" baseline="0" noProof="0">
                <a:ln>
                  <a:noFill/>
                </a:ln>
                <a:solidFill>
                  <a:schemeClr val="tx2"/>
                </a:solidFill>
                <a:effectLst/>
                <a:uLnTx/>
                <a:uFillTx/>
                <a:ea typeface="+mn-ea"/>
                <a:cs typeface="Calibri" panose="020F0502020204030204" pitchFamily="34" charset="0"/>
              </a:rPr>
              <a:t>Result Analysis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u="none" strike="noStrike" kern="0" cap="none" spc="0" normalizeH="0" baseline="0" noProof="0">
                <a:ln>
                  <a:noFill/>
                </a:ln>
                <a:solidFill>
                  <a:srgbClr val="000000"/>
                </a:solidFill>
                <a:effectLst/>
                <a:uLnTx/>
                <a:uFillTx/>
                <a:ea typeface="ヒラギノ角ゴ Pro W3" pitchFamily="1" charset="-128"/>
                <a:cs typeface="Calibri" panose="020F0502020204030204" pitchFamily="34" charset="0"/>
              </a:rPr>
              <a:t>Compare EOP DAC amounts of Challenger model with EUC model and report the discrepancies.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u="none" strike="noStrike" kern="0" cap="none" spc="0" normalizeH="0" baseline="0" noProof="0">
                <a:ln>
                  <a:noFill/>
                </a:ln>
                <a:solidFill>
                  <a:srgbClr val="0070C0"/>
                </a:solidFill>
                <a:effectLst/>
                <a:uLnTx/>
                <a:uFillTx/>
                <a:ea typeface="+mn-ea"/>
                <a:cs typeface="Calibri" panose="020F0502020204030204" pitchFamily="34" charset="0"/>
              </a:rPr>
              <a:t> </a:t>
            </a:r>
          </a:p>
        </p:txBody>
      </p:sp>
      <p:sp>
        <p:nvSpPr>
          <p:cNvPr id="38" name="Rounded Rectangle 56">
            <a:extLst>
              <a:ext uri="{FF2B5EF4-FFF2-40B4-BE49-F238E27FC236}">
                <a16:creationId xmlns:a16="http://schemas.microsoft.com/office/drawing/2014/main" id="{623E4548-E40F-3246-47A0-3ACAB30FBA30}"/>
              </a:ext>
            </a:extLst>
          </p:cNvPr>
          <p:cNvSpPr/>
          <p:nvPr/>
        </p:nvSpPr>
        <p:spPr>
          <a:xfrm>
            <a:off x="472184" y="4485277"/>
            <a:ext cx="2192845" cy="519405"/>
          </a:xfrm>
          <a:prstGeom prst="roundRect">
            <a:avLst>
              <a:gd name="adj" fmla="val 8109"/>
            </a:avLst>
          </a:prstGeom>
          <a:solidFill>
            <a:schemeClr val="accent6"/>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u="none" strike="noStrike" kern="0" cap="none" spc="0" normalizeH="0" baseline="0" noProof="0">
              <a:ln>
                <a:noFill/>
              </a:ln>
              <a:solidFill>
                <a:schemeClr val="tx2"/>
              </a:solidFill>
              <a:effectLst/>
              <a:uLnTx/>
              <a:uFillTx/>
              <a:ea typeface="+mn-ea"/>
              <a:cs typeface="Calibri" panose="020F050202020403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u="none" strike="noStrike" kern="0" cap="none" spc="0" normalizeH="0" baseline="0" noProof="0">
                <a:ln>
                  <a:noFill/>
                </a:ln>
                <a:solidFill>
                  <a:schemeClr val="tx2"/>
                </a:solidFill>
                <a:effectLst/>
                <a:uLnTx/>
                <a:uFillTx/>
                <a:ea typeface="+mn-ea"/>
                <a:cs typeface="Calibri" panose="020F0502020204030204" pitchFamily="34" charset="0"/>
              </a:rPr>
              <a:t>Data Validation </a:t>
            </a:r>
            <a:endParaRPr kumimoji="0" lang="en-US" sz="1050" b="0" u="none" strike="noStrike" kern="0" cap="none" spc="0" normalizeH="0" baseline="0" noProof="0">
              <a:ln>
                <a:noFill/>
              </a:ln>
              <a:solidFill>
                <a:schemeClr val="tx2"/>
              </a:solidFill>
              <a:effectLst/>
              <a:uLnTx/>
              <a:uFillTx/>
              <a:ea typeface="ヒラギノ角ゴ Pro W3" pitchFamily="1" charset="-128"/>
              <a:cs typeface="Calibri" panose="020F050202020403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u="none" strike="noStrike" kern="0" cap="none" spc="0" normalizeH="0" baseline="0" noProof="0">
                <a:ln>
                  <a:noFill/>
                </a:ln>
                <a:solidFill>
                  <a:schemeClr val="tx2"/>
                </a:solidFill>
                <a:effectLst/>
                <a:uLnTx/>
                <a:uFillTx/>
                <a:ea typeface="+mn-ea"/>
                <a:cs typeface="Calibri" panose="020F0502020204030204" pitchFamily="34" charset="0"/>
              </a:rPr>
              <a:t> </a:t>
            </a:r>
          </a:p>
        </p:txBody>
      </p:sp>
      <p:sp>
        <p:nvSpPr>
          <p:cNvPr id="39" name="Rounded Rectangle 62">
            <a:extLst>
              <a:ext uri="{FF2B5EF4-FFF2-40B4-BE49-F238E27FC236}">
                <a16:creationId xmlns:a16="http://schemas.microsoft.com/office/drawing/2014/main" id="{D9F81D7C-46C8-4FA6-697F-DA3691793119}"/>
              </a:ext>
            </a:extLst>
          </p:cNvPr>
          <p:cNvSpPr/>
          <p:nvPr/>
        </p:nvSpPr>
        <p:spPr>
          <a:xfrm>
            <a:off x="9474322" y="4321730"/>
            <a:ext cx="2147105" cy="262048"/>
          </a:xfrm>
          <a:prstGeom prst="roundRect">
            <a:avLst/>
          </a:prstGeom>
          <a:solidFill>
            <a:srgbClr val="E7E6E6"/>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u="none" strike="noStrike" kern="0" cap="none" spc="0" normalizeH="0" baseline="0" noProof="0">
                <a:ln>
                  <a:noFill/>
                </a:ln>
                <a:solidFill>
                  <a:schemeClr val="tx2"/>
                </a:solidFill>
                <a:effectLst/>
                <a:uLnTx/>
                <a:uFillTx/>
                <a:ea typeface="+mn-ea"/>
                <a:cs typeface="Calibri" panose="020F0502020204030204" pitchFamily="34" charset="0"/>
              </a:rPr>
              <a:t>Sample report</a:t>
            </a:r>
            <a:r>
              <a:rPr kumimoji="0" lang="en-US" sz="1050" b="1" u="none" strike="noStrike" kern="0" cap="none" spc="0" normalizeH="0" baseline="0" noProof="0">
                <a:ln>
                  <a:noFill/>
                </a:ln>
                <a:solidFill>
                  <a:schemeClr val="tx2"/>
                </a:solidFill>
                <a:effectLst/>
                <a:uLnTx/>
                <a:uFillTx/>
                <a:ea typeface="+mn-ea"/>
                <a:cs typeface="Calibri" panose="020F0502020204030204" pitchFamily="34" charset="0"/>
              </a:rPr>
              <a:t> </a:t>
            </a:r>
          </a:p>
        </p:txBody>
      </p:sp>
      <p:pic>
        <p:nvPicPr>
          <p:cNvPr id="40" name="Picture 39">
            <a:extLst>
              <a:ext uri="{FF2B5EF4-FFF2-40B4-BE49-F238E27FC236}">
                <a16:creationId xmlns:a16="http://schemas.microsoft.com/office/drawing/2014/main" id="{4E17E94C-A1C6-3CC2-F517-360783DFC182}"/>
              </a:ext>
            </a:extLst>
          </p:cNvPr>
          <p:cNvPicPr>
            <a:picLocks noChangeAspect="1"/>
          </p:cNvPicPr>
          <p:nvPr/>
        </p:nvPicPr>
        <p:blipFill rotWithShape="1">
          <a:blip r:embed="rId4"/>
          <a:srcRect l="18916" t="32190" r="49820" b="36204"/>
          <a:stretch/>
        </p:blipFill>
        <p:spPr>
          <a:xfrm>
            <a:off x="9579213" y="4660554"/>
            <a:ext cx="1771070" cy="1226386"/>
          </a:xfrm>
          <a:prstGeom prst="rect">
            <a:avLst/>
          </a:prstGeom>
        </p:spPr>
      </p:pic>
      <p:pic>
        <p:nvPicPr>
          <p:cNvPr id="41" name="Picture 2" descr="Report ">
            <a:extLst>
              <a:ext uri="{FF2B5EF4-FFF2-40B4-BE49-F238E27FC236}">
                <a16:creationId xmlns:a16="http://schemas.microsoft.com/office/drawing/2014/main" id="{BB8737EC-2DD5-EE41-0380-7C21571E004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58990" y="2678305"/>
            <a:ext cx="321610" cy="321610"/>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Output ">
            <a:extLst>
              <a:ext uri="{FF2B5EF4-FFF2-40B4-BE49-F238E27FC236}">
                <a16:creationId xmlns:a16="http://schemas.microsoft.com/office/drawing/2014/main" id="{F256C7AE-2E64-A093-2040-66D831C1B64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87096" y="2662531"/>
            <a:ext cx="353159" cy="353159"/>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6" descr="Build ">
            <a:extLst>
              <a:ext uri="{FF2B5EF4-FFF2-40B4-BE49-F238E27FC236}">
                <a16:creationId xmlns:a16="http://schemas.microsoft.com/office/drawing/2014/main" id="{B8263316-40FE-275D-05FB-36CC26D0EBC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13865" y="2678583"/>
            <a:ext cx="321054" cy="321054"/>
          </a:xfrm>
          <a:prstGeom prst="rect">
            <a:avLst/>
          </a:prstGeom>
          <a:noFill/>
          <a:extLst>
            <a:ext uri="{909E8E84-426E-40DD-AFC4-6F175D3DCCD1}">
              <a14:hiddenFill xmlns:a14="http://schemas.microsoft.com/office/drawing/2010/main">
                <a:solidFill>
                  <a:srgbClr val="FFFFFF"/>
                </a:solidFill>
              </a14:hiddenFill>
            </a:ext>
          </a:extLst>
        </p:spPr>
      </p:pic>
      <p:sp>
        <p:nvSpPr>
          <p:cNvPr id="44" name="Rectangle 43">
            <a:extLst>
              <a:ext uri="{FF2B5EF4-FFF2-40B4-BE49-F238E27FC236}">
                <a16:creationId xmlns:a16="http://schemas.microsoft.com/office/drawing/2014/main" id="{EA503666-29F1-6720-9398-678F3EC35274}"/>
              </a:ext>
            </a:extLst>
          </p:cNvPr>
          <p:cNvSpPr/>
          <p:nvPr/>
        </p:nvSpPr>
        <p:spPr>
          <a:xfrm>
            <a:off x="10508566" y="91606"/>
            <a:ext cx="1683434" cy="26607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solidFill>
                  <a:schemeClr val="accent1"/>
                </a:solidFill>
              </a:rPr>
              <a:t>Modeling</a:t>
            </a:r>
          </a:p>
        </p:txBody>
      </p:sp>
    </p:spTree>
    <p:extLst>
      <p:ext uri="{BB962C8B-B14F-4D97-AF65-F5344CB8AC3E}">
        <p14:creationId xmlns:p14="http://schemas.microsoft.com/office/powerpoint/2010/main" val="3309671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A group of people sitting around a table&#10;&#10;Description automatically generated">
            <a:extLst>
              <a:ext uri="{FF2B5EF4-FFF2-40B4-BE49-F238E27FC236}">
                <a16:creationId xmlns:a16="http://schemas.microsoft.com/office/drawing/2014/main" id="{949B84D2-B99D-44BB-D339-69F6D093E325}"/>
              </a:ext>
            </a:extLst>
          </p:cNvPr>
          <p:cNvPicPr>
            <a:picLocks noGrp="1" noChangeAspect="1"/>
          </p:cNvPicPr>
          <p:nvPr>
            <p:ph type="pic" sz="quarter" idx="12"/>
          </p:nvPr>
        </p:nvPicPr>
        <p:blipFill>
          <a:blip r:embed="rId3"/>
          <a:srcRect t="7802" b="7802"/>
          <a:stretch>
            <a:fillRect/>
          </a:stretch>
        </p:blipFill>
        <p:spPr/>
      </p:pic>
      <p:sp>
        <p:nvSpPr>
          <p:cNvPr id="32" name="Text Placeholder 31">
            <a:extLst>
              <a:ext uri="{FF2B5EF4-FFF2-40B4-BE49-F238E27FC236}">
                <a16:creationId xmlns:a16="http://schemas.microsoft.com/office/drawing/2014/main" id="{036940B3-539E-E545-1122-7222C8D485D7}"/>
              </a:ext>
            </a:extLst>
          </p:cNvPr>
          <p:cNvSpPr>
            <a:spLocks noGrp="1"/>
          </p:cNvSpPr>
          <p:nvPr>
            <p:ph type="body" sz="quarter" idx="13"/>
          </p:nvPr>
        </p:nvSpPr>
        <p:spPr>
          <a:xfrm>
            <a:off x="0" y="0"/>
            <a:ext cx="12188952" cy="6858000"/>
          </a:xfrm>
        </p:spPr>
        <p:txBody>
          <a:bodyPr/>
          <a:lstStyle/>
          <a:p>
            <a:endParaRPr lang="en-US"/>
          </a:p>
        </p:txBody>
      </p:sp>
      <p:sp>
        <p:nvSpPr>
          <p:cNvPr id="29" name="Title 28">
            <a:extLst>
              <a:ext uri="{FF2B5EF4-FFF2-40B4-BE49-F238E27FC236}">
                <a16:creationId xmlns:a16="http://schemas.microsoft.com/office/drawing/2014/main" id="{B7B9E555-EE89-EE1E-87C7-09D09162E1B1}"/>
              </a:ext>
            </a:extLst>
          </p:cNvPr>
          <p:cNvSpPr>
            <a:spLocks noGrp="1"/>
          </p:cNvSpPr>
          <p:nvPr>
            <p:ph type="ctrTitle"/>
          </p:nvPr>
        </p:nvSpPr>
        <p:spPr/>
        <p:txBody>
          <a:bodyPr/>
          <a:lstStyle/>
          <a:p>
            <a:r>
              <a:rPr lang="en-US" sz="6000"/>
              <a:t>Thank you</a:t>
            </a:r>
          </a:p>
        </p:txBody>
      </p:sp>
      <p:sp>
        <p:nvSpPr>
          <p:cNvPr id="30" name="Text Placeholder 29">
            <a:extLst>
              <a:ext uri="{FF2B5EF4-FFF2-40B4-BE49-F238E27FC236}">
                <a16:creationId xmlns:a16="http://schemas.microsoft.com/office/drawing/2014/main" id="{BA37A2BB-F891-8784-AEB4-64FF276760C3}"/>
              </a:ext>
            </a:extLst>
          </p:cNvPr>
          <p:cNvSpPr>
            <a:spLocks noGrp="1"/>
          </p:cNvSpPr>
          <p:nvPr>
            <p:ph type="body" sz="quarter" idx="11"/>
          </p:nvPr>
        </p:nvSpPr>
        <p:spPr/>
        <p:txBody>
          <a:bodyPr/>
          <a:lstStyle/>
          <a:p>
            <a:endParaRPr lang="en-US"/>
          </a:p>
        </p:txBody>
      </p:sp>
      <p:sp>
        <p:nvSpPr>
          <p:cNvPr id="6" name="Text Placeholder 7">
            <a:hlinkClick r:id="rId4"/>
            <a:extLst>
              <a:ext uri="{FF2B5EF4-FFF2-40B4-BE49-F238E27FC236}">
                <a16:creationId xmlns:a16="http://schemas.microsoft.com/office/drawing/2014/main" id="{55153A17-168F-4688-93AD-788B190B0C05}"/>
              </a:ext>
            </a:extLst>
          </p:cNvPr>
          <p:cNvSpPr txBox="1">
            <a:spLocks/>
          </p:cNvSpPr>
          <p:nvPr/>
        </p:nvSpPr>
        <p:spPr>
          <a:xfrm>
            <a:off x="575842" y="6570055"/>
            <a:ext cx="6089336" cy="281142"/>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Clr>
                <a:schemeClr val="tx1"/>
              </a:buClr>
              <a:buFont typeface="System Font Regular"/>
              <a:buNone/>
              <a:defRPr sz="1500" kern="1200">
                <a:solidFill>
                  <a:schemeClr val="tx1"/>
                </a:solidFill>
                <a:latin typeface="+mj-lt"/>
                <a:ea typeface="+mn-ea"/>
                <a:cs typeface="+mn-cs"/>
              </a:defRPr>
            </a:lvl1pPr>
            <a:lvl2pPr marL="290513" indent="0" algn="l" defTabSz="914400" rtl="0" eaLnBrk="1" latinLnBrk="0" hangingPunct="1">
              <a:lnSpc>
                <a:spcPct val="90000"/>
              </a:lnSpc>
              <a:spcBef>
                <a:spcPts val="500"/>
              </a:spcBef>
              <a:buFont typeface="System Font Regular"/>
              <a:buNone/>
              <a:tabLst/>
              <a:defRPr sz="2400" kern="1200">
                <a:solidFill>
                  <a:schemeClr val="tx2"/>
                </a:solidFill>
                <a:latin typeface="+mj-lt"/>
                <a:ea typeface="+mn-ea"/>
                <a:cs typeface="+mn-cs"/>
              </a:defRPr>
            </a:lvl2pPr>
            <a:lvl3pPr marL="582613" indent="0" algn="l" defTabSz="914400" rtl="0" eaLnBrk="1" latinLnBrk="0" hangingPunct="1">
              <a:lnSpc>
                <a:spcPct val="90000"/>
              </a:lnSpc>
              <a:spcBef>
                <a:spcPts val="500"/>
              </a:spcBef>
              <a:buFont typeface="System Font Regular"/>
              <a:buNone/>
              <a:tabLst/>
              <a:defRPr sz="2000" kern="1200">
                <a:solidFill>
                  <a:schemeClr val="tx2"/>
                </a:solidFill>
                <a:latin typeface="+mj-lt"/>
                <a:ea typeface="+mn-ea"/>
                <a:cs typeface="+mn-cs"/>
              </a:defRPr>
            </a:lvl3pPr>
            <a:lvl4pPr marL="855663" indent="0" algn="l"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4pPr>
            <a:lvl5pPr marL="1100138" indent="0" algn="l" defTabSz="914400" rtl="0" eaLnBrk="1" latinLnBrk="0" hangingPunct="1">
              <a:lnSpc>
                <a:spcPct val="90000"/>
              </a:lnSpc>
              <a:spcBef>
                <a:spcPts val="500"/>
              </a:spcBef>
              <a:buFont typeface="System Font Regular"/>
              <a:buNone/>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a:t>© 2024 ExlService Holdings, Inc.  All rights reserved. For more information go to www.exlservice.com/legal-disclaimer</a:t>
            </a:r>
          </a:p>
        </p:txBody>
      </p:sp>
    </p:spTree>
    <p:extLst>
      <p:ext uri="{BB962C8B-B14F-4D97-AF65-F5344CB8AC3E}">
        <p14:creationId xmlns:p14="http://schemas.microsoft.com/office/powerpoint/2010/main" val="1901060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285868-F9E1-D218-5486-329E7E314BD2}"/>
              </a:ext>
            </a:extLst>
          </p:cNvPr>
          <p:cNvSpPr>
            <a:spLocks noGrp="1"/>
          </p:cNvSpPr>
          <p:nvPr>
            <p:ph type="body" sz="quarter" idx="13"/>
          </p:nvPr>
        </p:nvSpPr>
        <p:spPr/>
        <p:txBody>
          <a:bodyPr/>
          <a:lstStyle/>
          <a:p>
            <a:endParaRPr lang="en-US"/>
          </a:p>
        </p:txBody>
      </p:sp>
      <p:sp>
        <p:nvSpPr>
          <p:cNvPr id="3" name="Picture Placeholder 2">
            <a:extLst>
              <a:ext uri="{FF2B5EF4-FFF2-40B4-BE49-F238E27FC236}">
                <a16:creationId xmlns:a16="http://schemas.microsoft.com/office/drawing/2014/main" id="{2EAC4ACD-1C33-76A4-FB85-7FB8444AE49A}"/>
              </a:ext>
            </a:extLst>
          </p:cNvPr>
          <p:cNvSpPr>
            <a:spLocks noGrp="1"/>
          </p:cNvSpPr>
          <p:nvPr>
            <p:ph type="pic" sz="quarter" idx="12"/>
          </p:nvPr>
        </p:nvSpPr>
        <p:spPr/>
        <p:txBody>
          <a:bodyPr/>
          <a:lstStyle/>
          <a:p>
            <a:endParaRPr lang="en-US"/>
          </a:p>
        </p:txBody>
      </p:sp>
      <p:sp>
        <p:nvSpPr>
          <p:cNvPr id="4" name="Title 3">
            <a:extLst>
              <a:ext uri="{FF2B5EF4-FFF2-40B4-BE49-F238E27FC236}">
                <a16:creationId xmlns:a16="http://schemas.microsoft.com/office/drawing/2014/main" id="{5C913710-FD83-2714-47A9-C1230C8B2CEB}"/>
              </a:ext>
            </a:extLst>
          </p:cNvPr>
          <p:cNvSpPr>
            <a:spLocks noGrp="1"/>
          </p:cNvSpPr>
          <p:nvPr>
            <p:ph type="ctrTitle"/>
          </p:nvPr>
        </p:nvSpPr>
        <p:spPr/>
        <p:txBody>
          <a:bodyPr/>
          <a:lstStyle/>
          <a:p>
            <a:r>
              <a:rPr lang="en-US"/>
              <a:t>Lincon</a:t>
            </a:r>
          </a:p>
        </p:txBody>
      </p:sp>
      <p:sp>
        <p:nvSpPr>
          <p:cNvPr id="5" name="Text Placeholder 4">
            <a:extLst>
              <a:ext uri="{FF2B5EF4-FFF2-40B4-BE49-F238E27FC236}">
                <a16:creationId xmlns:a16="http://schemas.microsoft.com/office/drawing/2014/main" id="{0BA34111-0F95-6E8A-BA62-F5A903387067}"/>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5251290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A4C9B-980D-D4E4-4582-13AC4C1EC48C}"/>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2A9F032A-E95A-2AFF-7812-38F7E80B2D62}"/>
              </a:ext>
            </a:extLst>
          </p:cNvPr>
          <p:cNvSpPr/>
          <p:nvPr/>
        </p:nvSpPr>
        <p:spPr>
          <a:xfrm>
            <a:off x="314960" y="1124132"/>
            <a:ext cx="7598954" cy="5076077"/>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 name="Rectangle 1">
            <a:extLst>
              <a:ext uri="{FF2B5EF4-FFF2-40B4-BE49-F238E27FC236}">
                <a16:creationId xmlns:a16="http://schemas.microsoft.com/office/drawing/2014/main" id="{5D00B219-AED4-3B58-1A16-AD15BDCEECFA}"/>
              </a:ext>
            </a:extLst>
          </p:cNvPr>
          <p:cNvSpPr/>
          <p:nvPr/>
        </p:nvSpPr>
        <p:spPr>
          <a:xfrm>
            <a:off x="50624" y="1115960"/>
            <a:ext cx="231928" cy="5076077"/>
          </a:xfrm>
          <a:prstGeom prst="rect">
            <a:avLst/>
          </a:prstGeom>
          <a:solidFill>
            <a:srgbClr val="20486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mj-lt"/>
                <a:ea typeface="+mn-ea"/>
                <a:cs typeface="+mn-cs"/>
              </a:rPr>
              <a:t>Process</a:t>
            </a:r>
          </a:p>
        </p:txBody>
      </p:sp>
      <p:sp>
        <p:nvSpPr>
          <p:cNvPr id="171" name="Oval 170">
            <a:extLst>
              <a:ext uri="{FF2B5EF4-FFF2-40B4-BE49-F238E27FC236}">
                <a16:creationId xmlns:a16="http://schemas.microsoft.com/office/drawing/2014/main" id="{CD19CDFF-2C22-A4B5-BA1E-CC644F6564DC}"/>
              </a:ext>
            </a:extLst>
          </p:cNvPr>
          <p:cNvSpPr/>
          <p:nvPr/>
        </p:nvSpPr>
        <p:spPr>
          <a:xfrm>
            <a:off x="427665" y="1420660"/>
            <a:ext cx="531137" cy="219348"/>
          </a:xfrm>
          <a:prstGeom prst="ellipse">
            <a:avLst/>
          </a:prstGeom>
          <a:solidFill>
            <a:srgbClr val="92D050"/>
          </a:solidFill>
          <a:ln>
            <a:solidFill>
              <a:srgbClr val="92D05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j-lt"/>
                <a:ea typeface="+mn-ea"/>
                <a:cs typeface="+mn-cs"/>
              </a:rPr>
              <a:t>Start</a:t>
            </a:r>
          </a:p>
        </p:txBody>
      </p:sp>
      <p:sp>
        <p:nvSpPr>
          <p:cNvPr id="173" name="Rectangle 172">
            <a:extLst>
              <a:ext uri="{FF2B5EF4-FFF2-40B4-BE49-F238E27FC236}">
                <a16:creationId xmlns:a16="http://schemas.microsoft.com/office/drawing/2014/main" id="{83578485-D248-4231-66A6-BB61BE5A2FAB}"/>
              </a:ext>
            </a:extLst>
          </p:cNvPr>
          <p:cNvSpPr/>
          <p:nvPr/>
        </p:nvSpPr>
        <p:spPr>
          <a:xfrm>
            <a:off x="1596337" y="1323778"/>
            <a:ext cx="1472605" cy="409400"/>
          </a:xfrm>
          <a:prstGeom prst="rect">
            <a:avLst/>
          </a:prstGeom>
          <a:solidFill>
            <a:schemeClr val="tx1">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900" u="sng">
                <a:solidFill>
                  <a:schemeClr val="accent6">
                    <a:lumMod val="10000"/>
                  </a:schemeClr>
                </a:solidFill>
                <a:latin typeface="+mj-lt"/>
              </a:rPr>
              <a:t>Input Data Cleaning &amp; Scrubbing</a:t>
            </a:r>
          </a:p>
        </p:txBody>
      </p:sp>
      <p:sp>
        <p:nvSpPr>
          <p:cNvPr id="138" name="Rectangle 137">
            <a:extLst>
              <a:ext uri="{FF2B5EF4-FFF2-40B4-BE49-F238E27FC236}">
                <a16:creationId xmlns:a16="http://schemas.microsoft.com/office/drawing/2014/main" id="{82F95DB5-F930-378D-56CC-6D8D0ADA7622}"/>
              </a:ext>
            </a:extLst>
          </p:cNvPr>
          <p:cNvSpPr/>
          <p:nvPr/>
        </p:nvSpPr>
        <p:spPr>
          <a:xfrm>
            <a:off x="724565" y="2072314"/>
            <a:ext cx="789700" cy="500566"/>
          </a:xfrm>
          <a:prstGeom prst="rect">
            <a:avLst/>
          </a:prstGeom>
          <a:solidFill>
            <a:schemeClr val="accent4">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a:defRPr/>
            </a:pPr>
            <a:r>
              <a:rPr kumimoji="0" lang="en-US" sz="900" b="0" i="0" u="none" strike="noStrike" kern="1200" cap="none" spc="0" normalizeH="0" baseline="0" noProof="0">
                <a:ln>
                  <a:noFill/>
                </a:ln>
                <a:solidFill>
                  <a:srgbClr val="000000"/>
                </a:solidFill>
                <a:effectLst/>
                <a:uLnTx/>
                <a:uFillTx/>
                <a:latin typeface="+mj-lt"/>
                <a:ea typeface="+mn-ea"/>
                <a:cs typeface="+mn-cs"/>
              </a:rPr>
              <a:t>Remove Excess Termination</a:t>
            </a:r>
          </a:p>
        </p:txBody>
      </p:sp>
      <p:sp>
        <p:nvSpPr>
          <p:cNvPr id="150" name="Rectangle 149">
            <a:extLst>
              <a:ext uri="{FF2B5EF4-FFF2-40B4-BE49-F238E27FC236}">
                <a16:creationId xmlns:a16="http://schemas.microsoft.com/office/drawing/2014/main" id="{9E8B6A07-C624-50E1-73DD-2F71B34CF7EE}"/>
              </a:ext>
            </a:extLst>
          </p:cNvPr>
          <p:cNvSpPr/>
          <p:nvPr/>
        </p:nvSpPr>
        <p:spPr>
          <a:xfrm>
            <a:off x="3510802" y="1323778"/>
            <a:ext cx="1178016" cy="409400"/>
          </a:xfrm>
          <a:prstGeom prst="rect">
            <a:avLst/>
          </a:prstGeom>
          <a:solidFill>
            <a:schemeClr val="tx1">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900" u="sng">
                <a:solidFill>
                  <a:schemeClr val="accent6">
                    <a:lumMod val="10000"/>
                  </a:schemeClr>
                </a:solidFill>
                <a:latin typeface="+mj-lt"/>
              </a:rPr>
              <a:t>Run the Triton Model</a:t>
            </a:r>
          </a:p>
        </p:txBody>
      </p:sp>
      <p:sp>
        <p:nvSpPr>
          <p:cNvPr id="181" name="Rectangle 180">
            <a:extLst>
              <a:ext uri="{FF2B5EF4-FFF2-40B4-BE49-F238E27FC236}">
                <a16:creationId xmlns:a16="http://schemas.microsoft.com/office/drawing/2014/main" id="{EED61455-C0BB-7E70-2C98-6F4B67DABBB1}"/>
              </a:ext>
            </a:extLst>
          </p:cNvPr>
          <p:cNvSpPr/>
          <p:nvPr/>
        </p:nvSpPr>
        <p:spPr>
          <a:xfrm>
            <a:off x="4666488" y="2072314"/>
            <a:ext cx="1405681" cy="500566"/>
          </a:xfrm>
          <a:prstGeom prst="rect">
            <a:avLst/>
          </a:prstGeom>
          <a:solidFill>
            <a:schemeClr val="accent4">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a:defRPr/>
            </a:pPr>
            <a:r>
              <a:rPr lang="en-US" sz="900">
                <a:solidFill>
                  <a:srgbClr val="000000"/>
                </a:solidFill>
                <a:latin typeface="+mj-lt"/>
              </a:rPr>
              <a:t>Link scrubbed DBFs and reinsurance files</a:t>
            </a:r>
          </a:p>
        </p:txBody>
      </p:sp>
      <p:cxnSp>
        <p:nvCxnSpPr>
          <p:cNvPr id="462" name="Straight Arrow Connector 461">
            <a:extLst>
              <a:ext uri="{FF2B5EF4-FFF2-40B4-BE49-F238E27FC236}">
                <a16:creationId xmlns:a16="http://schemas.microsoft.com/office/drawing/2014/main" id="{E0D2875E-F9D1-B241-F86B-DDBA0339E8FB}"/>
              </a:ext>
            </a:extLst>
          </p:cNvPr>
          <p:cNvCxnSpPr>
            <a:cxnSpLocks/>
            <a:stCxn id="150" idx="3"/>
            <a:endCxn id="62" idx="2"/>
          </p:cNvCxnSpPr>
          <p:nvPr/>
        </p:nvCxnSpPr>
        <p:spPr>
          <a:xfrm>
            <a:off x="4688818" y="1528478"/>
            <a:ext cx="2711043" cy="54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4" name="Rectangle 193">
            <a:extLst>
              <a:ext uri="{FF2B5EF4-FFF2-40B4-BE49-F238E27FC236}">
                <a16:creationId xmlns:a16="http://schemas.microsoft.com/office/drawing/2014/main" id="{6C7CAB32-596B-F8DC-AD31-C9BAE2F7FD0C}"/>
              </a:ext>
            </a:extLst>
          </p:cNvPr>
          <p:cNvSpPr/>
          <p:nvPr/>
        </p:nvSpPr>
        <p:spPr>
          <a:xfrm>
            <a:off x="1731519" y="3791518"/>
            <a:ext cx="1249009" cy="409400"/>
          </a:xfrm>
          <a:prstGeom prst="rect">
            <a:avLst/>
          </a:prstGeom>
          <a:solidFill>
            <a:schemeClr val="tx1">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900" u="sng">
                <a:solidFill>
                  <a:schemeClr val="accent6">
                    <a:lumMod val="10000"/>
                  </a:schemeClr>
                </a:solidFill>
                <a:latin typeface="+mj-lt"/>
              </a:rPr>
              <a:t>VUL </a:t>
            </a:r>
            <a:r>
              <a:rPr lang="en-US" sz="900" u="sng" err="1">
                <a:solidFill>
                  <a:schemeClr val="accent6">
                    <a:lumMod val="10000"/>
                  </a:schemeClr>
                </a:solidFill>
                <a:latin typeface="+mj-lt"/>
              </a:rPr>
              <a:t>Fundroll</a:t>
            </a:r>
            <a:r>
              <a:rPr lang="en-US" sz="900" u="sng">
                <a:solidFill>
                  <a:schemeClr val="accent6">
                    <a:lumMod val="10000"/>
                  </a:schemeClr>
                </a:solidFill>
                <a:latin typeface="+mj-lt"/>
              </a:rPr>
              <a:t> </a:t>
            </a:r>
          </a:p>
        </p:txBody>
      </p:sp>
      <p:sp>
        <p:nvSpPr>
          <p:cNvPr id="196" name="Rectangle 195">
            <a:extLst>
              <a:ext uri="{FF2B5EF4-FFF2-40B4-BE49-F238E27FC236}">
                <a16:creationId xmlns:a16="http://schemas.microsoft.com/office/drawing/2014/main" id="{F343EDEA-B5DC-5CA2-4F71-CEC79BF02327}"/>
              </a:ext>
            </a:extLst>
          </p:cNvPr>
          <p:cNvSpPr/>
          <p:nvPr/>
        </p:nvSpPr>
        <p:spPr>
          <a:xfrm>
            <a:off x="1744424" y="4514265"/>
            <a:ext cx="1237678" cy="508582"/>
          </a:xfrm>
          <a:prstGeom prst="rect">
            <a:avLst/>
          </a:prstGeom>
          <a:solidFill>
            <a:schemeClr val="accent4">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900">
                <a:solidFill>
                  <a:srgbClr val="000000"/>
                </a:solidFill>
                <a:latin typeface="+mj-lt"/>
              </a:rPr>
              <a:t>Out of Balance adjustments (Manual adjustments)</a:t>
            </a:r>
          </a:p>
        </p:txBody>
      </p:sp>
      <p:cxnSp>
        <p:nvCxnSpPr>
          <p:cNvPr id="464" name="Straight Arrow Connector 463">
            <a:extLst>
              <a:ext uri="{FF2B5EF4-FFF2-40B4-BE49-F238E27FC236}">
                <a16:creationId xmlns:a16="http://schemas.microsoft.com/office/drawing/2014/main" id="{E1D8257D-DAF2-EE89-1E54-37B945AD5B6A}"/>
              </a:ext>
            </a:extLst>
          </p:cNvPr>
          <p:cNvCxnSpPr>
            <a:cxnSpLocks/>
            <a:stCxn id="449" idx="6"/>
            <a:endCxn id="194" idx="1"/>
          </p:cNvCxnSpPr>
          <p:nvPr/>
        </p:nvCxnSpPr>
        <p:spPr>
          <a:xfrm>
            <a:off x="858442" y="3995809"/>
            <a:ext cx="873077" cy="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5" name="Straight Arrow Connector 494">
            <a:extLst>
              <a:ext uri="{FF2B5EF4-FFF2-40B4-BE49-F238E27FC236}">
                <a16:creationId xmlns:a16="http://schemas.microsoft.com/office/drawing/2014/main" id="{D692508E-D5A9-F611-8414-E2F27E12B645}"/>
              </a:ext>
            </a:extLst>
          </p:cNvPr>
          <p:cNvCxnSpPr>
            <a:cxnSpLocks/>
            <a:stCxn id="171" idx="6"/>
            <a:endCxn id="173" idx="1"/>
          </p:cNvCxnSpPr>
          <p:nvPr/>
        </p:nvCxnSpPr>
        <p:spPr>
          <a:xfrm flipV="1">
            <a:off x="958802" y="1528478"/>
            <a:ext cx="637535" cy="18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2" name="Oval 271">
            <a:extLst>
              <a:ext uri="{FF2B5EF4-FFF2-40B4-BE49-F238E27FC236}">
                <a16:creationId xmlns:a16="http://schemas.microsoft.com/office/drawing/2014/main" id="{6ADED66A-41AC-0A3C-F157-EFBC4E88A2D2}"/>
              </a:ext>
            </a:extLst>
          </p:cNvPr>
          <p:cNvSpPr/>
          <p:nvPr/>
        </p:nvSpPr>
        <p:spPr>
          <a:xfrm>
            <a:off x="6664881" y="4817371"/>
            <a:ext cx="604512" cy="209747"/>
          </a:xfrm>
          <a:prstGeom prst="ellipse">
            <a:avLst/>
          </a:prstGeom>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chemeClr val="bg1"/>
                </a:solidFill>
                <a:effectLst/>
                <a:uLnTx/>
                <a:uFillTx/>
                <a:latin typeface="+mj-lt"/>
                <a:ea typeface="+mn-ea"/>
                <a:cs typeface="+mn-cs"/>
              </a:rPr>
              <a:t>End</a:t>
            </a:r>
          </a:p>
        </p:txBody>
      </p:sp>
      <p:sp>
        <p:nvSpPr>
          <p:cNvPr id="95" name="Rectangle 94">
            <a:extLst>
              <a:ext uri="{FF2B5EF4-FFF2-40B4-BE49-F238E27FC236}">
                <a16:creationId xmlns:a16="http://schemas.microsoft.com/office/drawing/2014/main" id="{B49118AA-A1AA-815B-C6B9-5B4E53BF4DF3}"/>
              </a:ext>
            </a:extLst>
          </p:cNvPr>
          <p:cNvSpPr/>
          <p:nvPr/>
        </p:nvSpPr>
        <p:spPr>
          <a:xfrm>
            <a:off x="1816952" y="2067216"/>
            <a:ext cx="1040254" cy="510762"/>
          </a:xfrm>
          <a:prstGeom prst="rect">
            <a:avLst/>
          </a:prstGeom>
          <a:solidFill>
            <a:schemeClr val="accent4">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a:defRPr/>
            </a:pPr>
            <a:r>
              <a:rPr kumimoji="0" lang="en-US" sz="900" b="0" i="0" u="none" strike="noStrike" kern="1200" cap="none" spc="0" normalizeH="0" baseline="0" noProof="0">
                <a:ln>
                  <a:noFill/>
                </a:ln>
                <a:solidFill>
                  <a:srgbClr val="000000"/>
                </a:solidFill>
                <a:effectLst/>
                <a:uLnTx/>
                <a:uFillTx/>
                <a:latin typeface="+mj-lt"/>
                <a:ea typeface="+mn-ea"/>
                <a:cs typeface="+mn-cs"/>
              </a:rPr>
              <a:t>Map Plan IDs and cohorts using Triton Mapper</a:t>
            </a:r>
          </a:p>
        </p:txBody>
      </p:sp>
      <p:sp>
        <p:nvSpPr>
          <p:cNvPr id="96" name="Rectangle 95">
            <a:extLst>
              <a:ext uri="{FF2B5EF4-FFF2-40B4-BE49-F238E27FC236}">
                <a16:creationId xmlns:a16="http://schemas.microsoft.com/office/drawing/2014/main" id="{5C3C9BBB-CAC1-771F-1F0A-DB84F80F6153}"/>
              </a:ext>
            </a:extLst>
          </p:cNvPr>
          <p:cNvSpPr/>
          <p:nvPr/>
        </p:nvSpPr>
        <p:spPr>
          <a:xfrm>
            <a:off x="3078880" y="2072314"/>
            <a:ext cx="717909" cy="500566"/>
          </a:xfrm>
          <a:prstGeom prst="rect">
            <a:avLst/>
          </a:prstGeom>
          <a:solidFill>
            <a:schemeClr val="accent4">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a:defRPr/>
            </a:pPr>
            <a:r>
              <a:rPr kumimoji="0" lang="en-US" sz="900" b="0" i="0" u="none" strike="noStrike" kern="1200" cap="none" spc="0" normalizeH="0" baseline="0" noProof="0">
                <a:ln>
                  <a:noFill/>
                </a:ln>
                <a:solidFill>
                  <a:srgbClr val="000000"/>
                </a:solidFill>
                <a:effectLst/>
                <a:uLnTx/>
                <a:uFillTx/>
                <a:latin typeface="+mj-lt"/>
                <a:ea typeface="+mn-ea"/>
                <a:cs typeface="+mn-cs"/>
              </a:rPr>
              <a:t>Scrub and Trim data</a:t>
            </a:r>
          </a:p>
        </p:txBody>
      </p:sp>
      <p:sp>
        <p:nvSpPr>
          <p:cNvPr id="129" name="Rectangle 128">
            <a:extLst>
              <a:ext uri="{FF2B5EF4-FFF2-40B4-BE49-F238E27FC236}">
                <a16:creationId xmlns:a16="http://schemas.microsoft.com/office/drawing/2014/main" id="{E97DDF98-7965-19A9-C269-2383E2028048}"/>
              </a:ext>
            </a:extLst>
          </p:cNvPr>
          <p:cNvSpPr/>
          <p:nvPr/>
        </p:nvSpPr>
        <p:spPr>
          <a:xfrm>
            <a:off x="3210100" y="4514265"/>
            <a:ext cx="1237678" cy="508582"/>
          </a:xfrm>
          <a:prstGeom prst="rect">
            <a:avLst/>
          </a:prstGeom>
          <a:solidFill>
            <a:schemeClr val="accent4">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900">
                <a:solidFill>
                  <a:srgbClr val="000000"/>
                </a:solidFill>
                <a:latin typeface="+mj-lt"/>
              </a:rPr>
              <a:t>Fund roll SSIS upload to SQL</a:t>
            </a:r>
          </a:p>
        </p:txBody>
      </p:sp>
      <p:cxnSp>
        <p:nvCxnSpPr>
          <p:cNvPr id="473" name="Straight Connector 472">
            <a:extLst>
              <a:ext uri="{FF2B5EF4-FFF2-40B4-BE49-F238E27FC236}">
                <a16:creationId xmlns:a16="http://schemas.microsoft.com/office/drawing/2014/main" id="{A5B48AB5-3C7B-0A78-FA60-3AA54DCCB51D}"/>
              </a:ext>
            </a:extLst>
          </p:cNvPr>
          <p:cNvCxnSpPr>
            <a:stCxn id="173" idx="3"/>
            <a:endCxn id="150" idx="1"/>
          </p:cNvCxnSpPr>
          <p:nvPr/>
        </p:nvCxnSpPr>
        <p:spPr>
          <a:xfrm>
            <a:off x="3068942" y="1528478"/>
            <a:ext cx="441860" cy="0"/>
          </a:xfrm>
          <a:prstGeom prst="line">
            <a:avLst/>
          </a:prstGeom>
        </p:spPr>
        <p:style>
          <a:lnRef idx="1">
            <a:schemeClr val="accent1"/>
          </a:lnRef>
          <a:fillRef idx="0">
            <a:schemeClr val="accent1"/>
          </a:fillRef>
          <a:effectRef idx="0">
            <a:schemeClr val="accent1"/>
          </a:effectRef>
          <a:fontRef idx="minor">
            <a:schemeClr val="tx1"/>
          </a:fontRef>
        </p:style>
      </p:cxnSp>
      <p:sp>
        <p:nvSpPr>
          <p:cNvPr id="152" name="Rectangle 151">
            <a:extLst>
              <a:ext uri="{FF2B5EF4-FFF2-40B4-BE49-F238E27FC236}">
                <a16:creationId xmlns:a16="http://schemas.microsoft.com/office/drawing/2014/main" id="{17BF817B-8640-1C75-CC06-BF127BCD9F2E}"/>
              </a:ext>
            </a:extLst>
          </p:cNvPr>
          <p:cNvSpPr/>
          <p:nvPr/>
        </p:nvSpPr>
        <p:spPr>
          <a:xfrm>
            <a:off x="3512317" y="2979992"/>
            <a:ext cx="1175582" cy="465379"/>
          </a:xfrm>
          <a:prstGeom prst="rect">
            <a:avLst/>
          </a:prstGeom>
          <a:solidFill>
            <a:schemeClr val="accent4">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a:defRPr/>
            </a:pPr>
            <a:r>
              <a:rPr kumimoji="0" lang="en-US" sz="900" b="0" i="0" u="none" strike="noStrike" kern="1200" cap="none" spc="0" normalizeH="0" baseline="0" noProof="0">
                <a:ln>
                  <a:noFill/>
                </a:ln>
                <a:solidFill>
                  <a:srgbClr val="000000"/>
                </a:solidFill>
                <a:effectLst/>
                <a:uLnTx/>
                <a:uFillTx/>
                <a:latin typeface="+mj-lt"/>
                <a:ea typeface="+mn-ea"/>
                <a:cs typeface="+mn-cs"/>
              </a:rPr>
              <a:t>Modify DBFs for access database uploads</a:t>
            </a:r>
          </a:p>
        </p:txBody>
      </p:sp>
      <p:sp>
        <p:nvSpPr>
          <p:cNvPr id="153" name="Rectangle 152">
            <a:extLst>
              <a:ext uri="{FF2B5EF4-FFF2-40B4-BE49-F238E27FC236}">
                <a16:creationId xmlns:a16="http://schemas.microsoft.com/office/drawing/2014/main" id="{B9D43A74-2436-E34D-26E5-2B1A52FA20DD}"/>
              </a:ext>
            </a:extLst>
          </p:cNvPr>
          <p:cNvSpPr/>
          <p:nvPr/>
        </p:nvSpPr>
        <p:spPr>
          <a:xfrm>
            <a:off x="4839932" y="2976207"/>
            <a:ext cx="1175577" cy="472949"/>
          </a:xfrm>
          <a:prstGeom prst="rect">
            <a:avLst/>
          </a:prstGeom>
          <a:solidFill>
            <a:schemeClr val="accent4">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a:defRPr/>
            </a:pPr>
            <a:r>
              <a:rPr kumimoji="0" lang="en-US" sz="900" b="0" i="0" u="none" strike="noStrike" kern="1200" cap="none" spc="0" normalizeH="0" baseline="0" noProof="0">
                <a:ln>
                  <a:noFill/>
                </a:ln>
                <a:solidFill>
                  <a:srgbClr val="000000"/>
                </a:solidFill>
                <a:effectLst/>
                <a:uLnTx/>
                <a:uFillTx/>
                <a:latin typeface="+mj-lt"/>
                <a:ea typeface="+mn-ea"/>
                <a:cs typeface="+mn-cs"/>
              </a:rPr>
              <a:t>Review for any Triton errors</a:t>
            </a:r>
          </a:p>
        </p:txBody>
      </p:sp>
      <p:sp>
        <p:nvSpPr>
          <p:cNvPr id="160" name="Rectangle 159">
            <a:extLst>
              <a:ext uri="{FF2B5EF4-FFF2-40B4-BE49-F238E27FC236}">
                <a16:creationId xmlns:a16="http://schemas.microsoft.com/office/drawing/2014/main" id="{3B1DBAC8-C056-83B8-1B97-5E9F8A4A2AD3}"/>
              </a:ext>
            </a:extLst>
          </p:cNvPr>
          <p:cNvSpPr/>
          <p:nvPr/>
        </p:nvSpPr>
        <p:spPr>
          <a:xfrm>
            <a:off x="1966837" y="2982676"/>
            <a:ext cx="1326976" cy="460010"/>
          </a:xfrm>
          <a:prstGeom prst="rect">
            <a:avLst/>
          </a:prstGeom>
          <a:solidFill>
            <a:schemeClr val="accent4">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a:defRPr/>
            </a:pPr>
            <a:r>
              <a:rPr lang="en-US" sz="900">
                <a:solidFill>
                  <a:srgbClr val="000000"/>
                </a:solidFill>
                <a:latin typeface="+mj-lt"/>
              </a:rPr>
              <a:t>Generate Database files(DBFs)</a:t>
            </a:r>
            <a:endParaRPr kumimoji="0" lang="en-US" sz="900" b="0" i="0" u="none" strike="noStrike" kern="1200" cap="none" spc="0" normalizeH="0" baseline="0" noProof="0">
              <a:ln>
                <a:noFill/>
              </a:ln>
              <a:solidFill>
                <a:srgbClr val="000000"/>
              </a:solidFill>
              <a:effectLst/>
              <a:uLnTx/>
              <a:uFillTx/>
              <a:latin typeface="+mj-lt"/>
              <a:ea typeface="+mn-ea"/>
              <a:cs typeface="+mn-cs"/>
            </a:endParaRPr>
          </a:p>
        </p:txBody>
      </p:sp>
      <p:sp>
        <p:nvSpPr>
          <p:cNvPr id="35" name="Rectangle 34">
            <a:extLst>
              <a:ext uri="{FF2B5EF4-FFF2-40B4-BE49-F238E27FC236}">
                <a16:creationId xmlns:a16="http://schemas.microsoft.com/office/drawing/2014/main" id="{6FBD44FB-C727-9DEA-31C3-1A1CEFEA0A0D}"/>
              </a:ext>
            </a:extLst>
          </p:cNvPr>
          <p:cNvSpPr/>
          <p:nvPr/>
        </p:nvSpPr>
        <p:spPr>
          <a:xfrm>
            <a:off x="5421858" y="1323778"/>
            <a:ext cx="1178016" cy="409400"/>
          </a:xfrm>
          <a:prstGeom prst="rect">
            <a:avLst/>
          </a:prstGeom>
          <a:solidFill>
            <a:schemeClr val="tx1">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900" u="sng">
                <a:solidFill>
                  <a:schemeClr val="accent6">
                    <a:lumMod val="10000"/>
                  </a:schemeClr>
                </a:solidFill>
                <a:latin typeface="+mj-lt"/>
              </a:rPr>
              <a:t>Run the access databases</a:t>
            </a:r>
          </a:p>
        </p:txBody>
      </p:sp>
      <p:sp>
        <p:nvSpPr>
          <p:cNvPr id="43" name="Rectangle 42">
            <a:extLst>
              <a:ext uri="{FF2B5EF4-FFF2-40B4-BE49-F238E27FC236}">
                <a16:creationId xmlns:a16="http://schemas.microsoft.com/office/drawing/2014/main" id="{5BF44251-546F-0D5F-77B8-16031350819C}"/>
              </a:ext>
            </a:extLst>
          </p:cNvPr>
          <p:cNvSpPr/>
          <p:nvPr/>
        </p:nvSpPr>
        <p:spPr>
          <a:xfrm>
            <a:off x="6251529" y="2072314"/>
            <a:ext cx="1405681" cy="500566"/>
          </a:xfrm>
          <a:prstGeom prst="rect">
            <a:avLst/>
          </a:prstGeom>
          <a:solidFill>
            <a:schemeClr val="accent4">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a:defRPr/>
            </a:pPr>
            <a:r>
              <a:rPr lang="en-US" sz="900">
                <a:solidFill>
                  <a:srgbClr val="000000"/>
                </a:solidFill>
                <a:latin typeface="+mj-lt"/>
              </a:rPr>
              <a:t>Run macros and SSIS runs for ETL uploads</a:t>
            </a:r>
          </a:p>
        </p:txBody>
      </p:sp>
      <p:sp>
        <p:nvSpPr>
          <p:cNvPr id="50" name="Rectangle 49">
            <a:extLst>
              <a:ext uri="{FF2B5EF4-FFF2-40B4-BE49-F238E27FC236}">
                <a16:creationId xmlns:a16="http://schemas.microsoft.com/office/drawing/2014/main" id="{BE5D17AB-DE09-B5B0-8987-675D4D839925}"/>
              </a:ext>
            </a:extLst>
          </p:cNvPr>
          <p:cNvSpPr/>
          <p:nvPr/>
        </p:nvSpPr>
        <p:spPr>
          <a:xfrm>
            <a:off x="434050" y="4519407"/>
            <a:ext cx="1147691" cy="498298"/>
          </a:xfrm>
          <a:prstGeom prst="rect">
            <a:avLst/>
          </a:prstGeom>
          <a:solidFill>
            <a:schemeClr val="accent4">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457200">
              <a:defRPr/>
            </a:pPr>
            <a:r>
              <a:rPr kumimoji="0" lang="en-US" sz="900" b="0" i="0" u="none" strike="noStrike" kern="1200" cap="none" spc="0" normalizeH="0" baseline="0" noProof="0">
                <a:ln>
                  <a:noFill/>
                </a:ln>
                <a:solidFill>
                  <a:srgbClr val="000000"/>
                </a:solidFill>
                <a:effectLst/>
                <a:uLnTx/>
                <a:uFillTx/>
                <a:latin typeface="+mj-lt"/>
                <a:ea typeface="+mn-ea"/>
                <a:cs typeface="+mn-cs"/>
              </a:rPr>
              <a:t>TXN modification</a:t>
            </a:r>
          </a:p>
        </p:txBody>
      </p:sp>
      <p:sp>
        <p:nvSpPr>
          <p:cNvPr id="55" name="Rectangle 54">
            <a:extLst>
              <a:ext uri="{FF2B5EF4-FFF2-40B4-BE49-F238E27FC236}">
                <a16:creationId xmlns:a16="http://schemas.microsoft.com/office/drawing/2014/main" id="{E3BC7BC0-EA55-3013-607F-740947E8702F}"/>
              </a:ext>
            </a:extLst>
          </p:cNvPr>
          <p:cNvSpPr/>
          <p:nvPr/>
        </p:nvSpPr>
        <p:spPr>
          <a:xfrm>
            <a:off x="4336525" y="3784067"/>
            <a:ext cx="1334130" cy="409400"/>
          </a:xfrm>
          <a:prstGeom prst="rect">
            <a:avLst/>
          </a:prstGeom>
          <a:solidFill>
            <a:schemeClr val="tx1">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900" u="sng">
                <a:solidFill>
                  <a:schemeClr val="accent6">
                    <a:lumMod val="10000"/>
                  </a:schemeClr>
                </a:solidFill>
                <a:latin typeface="+mj-lt"/>
              </a:rPr>
              <a:t>Analyze and complete reports</a:t>
            </a:r>
          </a:p>
        </p:txBody>
      </p:sp>
      <p:sp>
        <p:nvSpPr>
          <p:cNvPr id="58" name="Rectangle 57">
            <a:extLst>
              <a:ext uri="{FF2B5EF4-FFF2-40B4-BE49-F238E27FC236}">
                <a16:creationId xmlns:a16="http://schemas.microsoft.com/office/drawing/2014/main" id="{1CF9F5D3-BC4A-7A1B-0463-1ED2C1474D60}"/>
              </a:ext>
            </a:extLst>
          </p:cNvPr>
          <p:cNvSpPr/>
          <p:nvPr/>
        </p:nvSpPr>
        <p:spPr>
          <a:xfrm>
            <a:off x="2388717" y="5496791"/>
            <a:ext cx="1237678" cy="508582"/>
          </a:xfrm>
          <a:prstGeom prst="rect">
            <a:avLst/>
          </a:prstGeom>
          <a:solidFill>
            <a:schemeClr val="accent4">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900">
                <a:solidFill>
                  <a:srgbClr val="000000"/>
                </a:solidFill>
                <a:latin typeface="+mj-lt"/>
              </a:rPr>
              <a:t>Reserve Trend Analysis</a:t>
            </a:r>
          </a:p>
        </p:txBody>
      </p:sp>
      <p:sp>
        <p:nvSpPr>
          <p:cNvPr id="59" name="Rectangle 58">
            <a:extLst>
              <a:ext uri="{FF2B5EF4-FFF2-40B4-BE49-F238E27FC236}">
                <a16:creationId xmlns:a16="http://schemas.microsoft.com/office/drawing/2014/main" id="{8CE5696F-DDE9-B4B7-232F-E53CE0A566E7}"/>
              </a:ext>
            </a:extLst>
          </p:cNvPr>
          <p:cNvSpPr/>
          <p:nvPr/>
        </p:nvSpPr>
        <p:spPr>
          <a:xfrm>
            <a:off x="3755574" y="5496791"/>
            <a:ext cx="1237678" cy="508582"/>
          </a:xfrm>
          <a:prstGeom prst="rect">
            <a:avLst/>
          </a:prstGeom>
          <a:solidFill>
            <a:schemeClr val="accent4">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900">
                <a:solidFill>
                  <a:srgbClr val="000000"/>
                </a:solidFill>
                <a:latin typeface="+mj-lt"/>
              </a:rPr>
              <a:t>Funds released on death</a:t>
            </a:r>
          </a:p>
        </p:txBody>
      </p:sp>
      <p:sp>
        <p:nvSpPr>
          <p:cNvPr id="60" name="Rectangle 59">
            <a:extLst>
              <a:ext uri="{FF2B5EF4-FFF2-40B4-BE49-F238E27FC236}">
                <a16:creationId xmlns:a16="http://schemas.microsoft.com/office/drawing/2014/main" id="{865686E8-3BA9-2946-D4CE-EC53EBEC2280}"/>
              </a:ext>
            </a:extLst>
          </p:cNvPr>
          <p:cNvSpPr/>
          <p:nvPr/>
        </p:nvSpPr>
        <p:spPr>
          <a:xfrm>
            <a:off x="5144445" y="5496791"/>
            <a:ext cx="1237678" cy="508582"/>
          </a:xfrm>
          <a:prstGeom prst="rect">
            <a:avLst/>
          </a:prstGeom>
          <a:solidFill>
            <a:schemeClr val="accent4">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900">
                <a:solidFill>
                  <a:srgbClr val="000000"/>
                </a:solidFill>
                <a:latin typeface="+mj-lt"/>
              </a:rPr>
              <a:t>Update reinsurance and Commonwealth reports</a:t>
            </a:r>
          </a:p>
        </p:txBody>
      </p:sp>
      <p:sp>
        <p:nvSpPr>
          <p:cNvPr id="61" name="Rectangle 60">
            <a:extLst>
              <a:ext uri="{FF2B5EF4-FFF2-40B4-BE49-F238E27FC236}">
                <a16:creationId xmlns:a16="http://schemas.microsoft.com/office/drawing/2014/main" id="{6938AFD4-0679-A966-C675-B844BFAE8F7E}"/>
              </a:ext>
            </a:extLst>
          </p:cNvPr>
          <p:cNvSpPr/>
          <p:nvPr/>
        </p:nvSpPr>
        <p:spPr>
          <a:xfrm>
            <a:off x="6543440" y="5496791"/>
            <a:ext cx="1237678" cy="508582"/>
          </a:xfrm>
          <a:prstGeom prst="rect">
            <a:avLst/>
          </a:prstGeom>
          <a:solidFill>
            <a:schemeClr val="accent4">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900">
                <a:solidFill>
                  <a:srgbClr val="000000"/>
                </a:solidFill>
                <a:latin typeface="+mj-lt"/>
              </a:rPr>
              <a:t>Reasonable checks and adjustments</a:t>
            </a:r>
          </a:p>
        </p:txBody>
      </p:sp>
      <p:cxnSp>
        <p:nvCxnSpPr>
          <p:cNvPr id="500" name="Straight Arrow Connector 499">
            <a:extLst>
              <a:ext uri="{FF2B5EF4-FFF2-40B4-BE49-F238E27FC236}">
                <a16:creationId xmlns:a16="http://schemas.microsoft.com/office/drawing/2014/main" id="{DBE092ED-3815-4936-6216-88D9B05E98C7}"/>
              </a:ext>
            </a:extLst>
          </p:cNvPr>
          <p:cNvCxnSpPr>
            <a:cxnSpLocks/>
            <a:stCxn id="205" idx="2"/>
            <a:endCxn id="272" idx="0"/>
          </p:cNvCxnSpPr>
          <p:nvPr/>
        </p:nvCxnSpPr>
        <p:spPr>
          <a:xfrm flipH="1">
            <a:off x="6967137" y="4579641"/>
            <a:ext cx="1" cy="2377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Connector: Elbow 5">
            <a:extLst>
              <a:ext uri="{FF2B5EF4-FFF2-40B4-BE49-F238E27FC236}">
                <a16:creationId xmlns:a16="http://schemas.microsoft.com/office/drawing/2014/main" id="{46EE8A84-0518-3A19-3306-4B7EDADDF3A0}"/>
              </a:ext>
            </a:extLst>
          </p:cNvPr>
          <p:cNvCxnSpPr>
            <a:stCxn id="55" idx="2"/>
            <a:endCxn id="58" idx="0"/>
          </p:cNvCxnSpPr>
          <p:nvPr/>
        </p:nvCxnSpPr>
        <p:spPr>
          <a:xfrm rot="5400000">
            <a:off x="3353911" y="3847112"/>
            <a:ext cx="1303324" cy="1996034"/>
          </a:xfrm>
          <a:prstGeom prst="bentConnector3">
            <a:avLst>
              <a:gd name="adj1" fmla="val 8006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nector: Elbow 8">
            <a:extLst>
              <a:ext uri="{FF2B5EF4-FFF2-40B4-BE49-F238E27FC236}">
                <a16:creationId xmlns:a16="http://schemas.microsoft.com/office/drawing/2014/main" id="{DAB431BF-EFEA-227C-A236-AFE91518B057}"/>
              </a:ext>
            </a:extLst>
          </p:cNvPr>
          <p:cNvCxnSpPr>
            <a:stCxn id="55" idx="2"/>
            <a:endCxn id="59" idx="0"/>
          </p:cNvCxnSpPr>
          <p:nvPr/>
        </p:nvCxnSpPr>
        <p:spPr>
          <a:xfrm rot="5400000">
            <a:off x="4037340" y="4530541"/>
            <a:ext cx="1303324" cy="629177"/>
          </a:xfrm>
          <a:prstGeom prst="bentConnector3">
            <a:avLst>
              <a:gd name="adj1" fmla="val 8006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Connector: Elbow 10">
            <a:extLst>
              <a:ext uri="{FF2B5EF4-FFF2-40B4-BE49-F238E27FC236}">
                <a16:creationId xmlns:a16="http://schemas.microsoft.com/office/drawing/2014/main" id="{58CEACB4-9FE6-09DB-9A45-B1C477ACBF75}"/>
              </a:ext>
            </a:extLst>
          </p:cNvPr>
          <p:cNvCxnSpPr>
            <a:stCxn id="55" idx="2"/>
            <a:endCxn id="60" idx="0"/>
          </p:cNvCxnSpPr>
          <p:nvPr/>
        </p:nvCxnSpPr>
        <p:spPr>
          <a:xfrm rot="16200000" flipH="1">
            <a:off x="4731775" y="4465282"/>
            <a:ext cx="1303324" cy="759694"/>
          </a:xfrm>
          <a:prstGeom prst="bentConnector3">
            <a:avLst>
              <a:gd name="adj1" fmla="val 8006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C5F18A1A-9D5E-231C-DDEE-6E1FD0E57A7E}"/>
              </a:ext>
            </a:extLst>
          </p:cNvPr>
          <p:cNvCxnSpPr>
            <a:stCxn id="55" idx="2"/>
            <a:endCxn id="61" idx="0"/>
          </p:cNvCxnSpPr>
          <p:nvPr/>
        </p:nvCxnSpPr>
        <p:spPr>
          <a:xfrm rot="16200000" flipH="1">
            <a:off x="5431272" y="3765784"/>
            <a:ext cx="1303324" cy="2158689"/>
          </a:xfrm>
          <a:prstGeom prst="bentConnector3">
            <a:avLst>
              <a:gd name="adj1" fmla="val 8006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1FB7017A-74BB-716C-7E4E-C41B8447DAE0}"/>
              </a:ext>
            </a:extLst>
          </p:cNvPr>
          <p:cNvCxnSpPr>
            <a:stCxn id="194" idx="2"/>
            <a:endCxn id="50" idx="0"/>
          </p:cNvCxnSpPr>
          <p:nvPr/>
        </p:nvCxnSpPr>
        <p:spPr>
          <a:xfrm rot="5400000">
            <a:off x="1522716" y="3686098"/>
            <a:ext cx="318489" cy="134812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89F4FA4B-6488-F47F-5F93-D830D97FF592}"/>
              </a:ext>
            </a:extLst>
          </p:cNvPr>
          <p:cNvCxnSpPr>
            <a:stCxn id="194" idx="2"/>
            <a:endCxn id="129" idx="0"/>
          </p:cNvCxnSpPr>
          <p:nvPr/>
        </p:nvCxnSpPr>
        <p:spPr>
          <a:xfrm rot="16200000" flipH="1">
            <a:off x="2935808" y="3621133"/>
            <a:ext cx="313347" cy="147291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30C9A56-521A-0C77-A017-EABEC0A4BE79}"/>
              </a:ext>
            </a:extLst>
          </p:cNvPr>
          <p:cNvCxnSpPr>
            <a:stCxn id="194" idx="2"/>
            <a:endCxn id="196" idx="0"/>
          </p:cNvCxnSpPr>
          <p:nvPr/>
        </p:nvCxnSpPr>
        <p:spPr>
          <a:xfrm>
            <a:off x="2356024" y="4200918"/>
            <a:ext cx="7239" cy="3133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BEF29DC9-F327-7012-1F20-4DB231C759CE}"/>
              </a:ext>
            </a:extLst>
          </p:cNvPr>
          <p:cNvCxnSpPr>
            <a:stCxn id="173" idx="2"/>
            <a:endCxn id="138" idx="0"/>
          </p:cNvCxnSpPr>
          <p:nvPr/>
        </p:nvCxnSpPr>
        <p:spPr>
          <a:xfrm rot="5400000">
            <a:off x="1556460" y="1296134"/>
            <a:ext cx="339136" cy="121322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8638FAAA-81DC-40A4-55F4-CF0DDA94DDEF}"/>
              </a:ext>
            </a:extLst>
          </p:cNvPr>
          <p:cNvCxnSpPr>
            <a:stCxn id="173" idx="2"/>
            <a:endCxn id="95" idx="0"/>
          </p:cNvCxnSpPr>
          <p:nvPr/>
        </p:nvCxnSpPr>
        <p:spPr>
          <a:xfrm>
            <a:off x="2332640" y="1733178"/>
            <a:ext cx="4439" cy="334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2693DB06-33CF-99F3-CE11-63CBA8B43B4E}"/>
              </a:ext>
            </a:extLst>
          </p:cNvPr>
          <p:cNvCxnSpPr>
            <a:stCxn id="173" idx="2"/>
            <a:endCxn id="96" idx="0"/>
          </p:cNvCxnSpPr>
          <p:nvPr/>
        </p:nvCxnSpPr>
        <p:spPr>
          <a:xfrm rot="16200000" flipH="1">
            <a:off x="2715669" y="1350148"/>
            <a:ext cx="339136" cy="110519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2627280C-352F-1E9F-46E2-36CCD3AD1634}"/>
              </a:ext>
            </a:extLst>
          </p:cNvPr>
          <p:cNvCxnSpPr>
            <a:cxnSpLocks/>
            <a:stCxn id="150" idx="2"/>
            <a:endCxn id="160" idx="0"/>
          </p:cNvCxnSpPr>
          <p:nvPr/>
        </p:nvCxnSpPr>
        <p:spPr>
          <a:xfrm rot="5400000">
            <a:off x="2740319" y="1623185"/>
            <a:ext cx="1249498" cy="1469485"/>
          </a:xfrm>
          <a:prstGeom prst="bentConnector3">
            <a:avLst>
              <a:gd name="adj1" fmla="val 8659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3177D347-BB57-424C-9AC9-8F7582B90819}"/>
              </a:ext>
            </a:extLst>
          </p:cNvPr>
          <p:cNvCxnSpPr>
            <a:stCxn id="150" idx="2"/>
            <a:endCxn id="152" idx="0"/>
          </p:cNvCxnSpPr>
          <p:nvPr/>
        </p:nvCxnSpPr>
        <p:spPr>
          <a:xfrm rot="16200000" flipH="1">
            <a:off x="3476552" y="2356436"/>
            <a:ext cx="1246814" cy="29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22835DBB-44FA-5543-2270-91A27B893E2E}"/>
              </a:ext>
            </a:extLst>
          </p:cNvPr>
          <p:cNvCxnSpPr>
            <a:stCxn id="150" idx="2"/>
            <a:endCxn id="153" idx="0"/>
          </p:cNvCxnSpPr>
          <p:nvPr/>
        </p:nvCxnSpPr>
        <p:spPr>
          <a:xfrm rot="16200000" flipH="1">
            <a:off x="4142251" y="1690736"/>
            <a:ext cx="1243029" cy="1327911"/>
          </a:xfrm>
          <a:prstGeom prst="bentConnector3">
            <a:avLst>
              <a:gd name="adj1" fmla="val 8678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FD3FCF2A-FE6E-24D3-6676-3D0607C533CA}"/>
              </a:ext>
            </a:extLst>
          </p:cNvPr>
          <p:cNvCxnSpPr>
            <a:stCxn id="35" idx="2"/>
            <a:endCxn id="181" idx="0"/>
          </p:cNvCxnSpPr>
          <p:nvPr/>
        </p:nvCxnSpPr>
        <p:spPr>
          <a:xfrm rot="5400000">
            <a:off x="5520530" y="1581978"/>
            <a:ext cx="339136" cy="64153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1C76E9B3-BA1B-A58E-5CC9-983665C57672}"/>
              </a:ext>
            </a:extLst>
          </p:cNvPr>
          <p:cNvCxnSpPr>
            <a:stCxn id="35" idx="2"/>
            <a:endCxn id="43" idx="0"/>
          </p:cNvCxnSpPr>
          <p:nvPr/>
        </p:nvCxnSpPr>
        <p:spPr>
          <a:xfrm rot="16200000" flipH="1">
            <a:off x="6313050" y="1430994"/>
            <a:ext cx="339136" cy="94350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620C932-0AFE-B8CE-FDCD-1A0FE2EC70F8}"/>
              </a:ext>
            </a:extLst>
          </p:cNvPr>
          <p:cNvGrpSpPr/>
          <p:nvPr/>
        </p:nvGrpSpPr>
        <p:grpSpPr>
          <a:xfrm>
            <a:off x="6248019" y="3718974"/>
            <a:ext cx="1438238" cy="860667"/>
            <a:chOff x="10134218" y="3414172"/>
            <a:chExt cx="1438238" cy="860667"/>
          </a:xfrm>
        </p:grpSpPr>
        <p:sp>
          <p:nvSpPr>
            <p:cNvPr id="205" name="Rectangle 204">
              <a:extLst>
                <a:ext uri="{FF2B5EF4-FFF2-40B4-BE49-F238E27FC236}">
                  <a16:creationId xmlns:a16="http://schemas.microsoft.com/office/drawing/2014/main" id="{54DF5781-4C18-31AB-9D35-0B9FE86554D3}"/>
                </a:ext>
              </a:extLst>
            </p:cNvPr>
            <p:cNvSpPr/>
            <p:nvPr/>
          </p:nvSpPr>
          <p:spPr>
            <a:xfrm>
              <a:off x="10134218" y="3534148"/>
              <a:ext cx="1438238" cy="740691"/>
            </a:xfrm>
            <a:prstGeom prst="rect">
              <a:avLst/>
            </a:prstGeom>
            <a:solidFill>
              <a:schemeClr val="tx1">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lvl="0" indent="-171450">
                <a:buFont typeface="Arial" panose="020B0604020202020204" pitchFamily="34" charset="0"/>
                <a:buChar char="•"/>
              </a:pPr>
              <a:endParaRPr lang="en-US" sz="900">
                <a:solidFill>
                  <a:schemeClr val="accent6">
                    <a:lumMod val="10000"/>
                  </a:schemeClr>
                </a:solidFill>
                <a:latin typeface="+mj-lt"/>
              </a:endParaRPr>
            </a:p>
            <a:p>
              <a:pPr marL="171450" lvl="0" indent="-171450">
                <a:buFont typeface="Arial" panose="020B0604020202020204" pitchFamily="34" charset="0"/>
                <a:buChar char="•"/>
              </a:pPr>
              <a:r>
                <a:rPr lang="en-US" sz="900">
                  <a:solidFill>
                    <a:schemeClr val="accent6">
                      <a:lumMod val="10000"/>
                    </a:schemeClr>
                  </a:solidFill>
                  <a:latin typeface="+mj-lt"/>
                </a:rPr>
                <a:t>Process improvements</a:t>
              </a:r>
            </a:p>
            <a:p>
              <a:pPr marL="171450" lvl="0" indent="-171450">
                <a:buFont typeface="Arial" panose="020B0604020202020204" pitchFamily="34" charset="0"/>
                <a:buChar char="•"/>
              </a:pPr>
              <a:r>
                <a:rPr lang="en-US" sz="900" err="1">
                  <a:solidFill>
                    <a:schemeClr val="accent6">
                      <a:lumMod val="10000"/>
                    </a:schemeClr>
                  </a:solidFill>
                  <a:latin typeface="+mj-lt"/>
                </a:rPr>
                <a:t>Adhoc</a:t>
              </a:r>
              <a:r>
                <a:rPr lang="en-US" sz="900">
                  <a:solidFill>
                    <a:schemeClr val="accent6">
                      <a:lumMod val="10000"/>
                    </a:schemeClr>
                  </a:solidFill>
                  <a:latin typeface="+mj-lt"/>
                </a:rPr>
                <a:t> projects – Audit and Regulatory requirements</a:t>
              </a:r>
            </a:p>
          </p:txBody>
        </p:sp>
        <p:sp>
          <p:nvSpPr>
            <p:cNvPr id="57" name="Rectangle: Rounded Corners 56">
              <a:extLst>
                <a:ext uri="{FF2B5EF4-FFF2-40B4-BE49-F238E27FC236}">
                  <a16:creationId xmlns:a16="http://schemas.microsoft.com/office/drawing/2014/main" id="{9D1376AF-B040-ECFF-FAE3-03AFF672F24E}"/>
                </a:ext>
              </a:extLst>
            </p:cNvPr>
            <p:cNvSpPr/>
            <p:nvPr/>
          </p:nvSpPr>
          <p:spPr>
            <a:xfrm>
              <a:off x="10551080" y="3414172"/>
              <a:ext cx="604512" cy="228047"/>
            </a:xfrm>
            <a:prstGeom prst="roundRect">
              <a:avLst/>
            </a:prstGeom>
            <a:solidFill>
              <a:srgbClr val="CCCC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50">
                  <a:solidFill>
                    <a:schemeClr val="tx1"/>
                  </a:solidFill>
                </a:rPr>
                <a:t>Others</a:t>
              </a:r>
            </a:p>
          </p:txBody>
        </p:sp>
      </p:grpSp>
      <p:sp>
        <p:nvSpPr>
          <p:cNvPr id="62" name="Oval 61">
            <a:extLst>
              <a:ext uri="{FF2B5EF4-FFF2-40B4-BE49-F238E27FC236}">
                <a16:creationId xmlns:a16="http://schemas.microsoft.com/office/drawing/2014/main" id="{24003BF8-2A80-4E46-1A70-229AF6429B45}"/>
              </a:ext>
            </a:extLst>
          </p:cNvPr>
          <p:cNvSpPr/>
          <p:nvPr/>
        </p:nvSpPr>
        <p:spPr>
          <a:xfrm>
            <a:off x="7399861" y="1389068"/>
            <a:ext cx="267755" cy="289677"/>
          </a:xfrm>
          <a:prstGeom prst="ellipse">
            <a:avLst/>
          </a:prstGeom>
          <a:solidFill>
            <a:schemeClr val="accent2">
              <a:lumMod val="7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t>a</a:t>
            </a:r>
          </a:p>
        </p:txBody>
      </p:sp>
      <p:sp>
        <p:nvSpPr>
          <p:cNvPr id="449" name="Oval 448">
            <a:extLst>
              <a:ext uri="{FF2B5EF4-FFF2-40B4-BE49-F238E27FC236}">
                <a16:creationId xmlns:a16="http://schemas.microsoft.com/office/drawing/2014/main" id="{529E05F2-D80F-8F38-DEE8-F4441C8F6E89}"/>
              </a:ext>
            </a:extLst>
          </p:cNvPr>
          <p:cNvSpPr/>
          <p:nvPr/>
        </p:nvSpPr>
        <p:spPr>
          <a:xfrm>
            <a:off x="590687" y="3850970"/>
            <a:ext cx="267755" cy="289677"/>
          </a:xfrm>
          <a:prstGeom prst="ellipse">
            <a:avLst/>
          </a:prstGeom>
          <a:solidFill>
            <a:schemeClr val="accent2">
              <a:lumMod val="7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t>a</a:t>
            </a:r>
          </a:p>
        </p:txBody>
      </p:sp>
      <p:sp>
        <p:nvSpPr>
          <p:cNvPr id="451" name="Title 1">
            <a:extLst>
              <a:ext uri="{FF2B5EF4-FFF2-40B4-BE49-F238E27FC236}">
                <a16:creationId xmlns:a16="http://schemas.microsoft.com/office/drawing/2014/main" id="{C771069A-EF28-D289-0FF1-52036C4CB34C}"/>
              </a:ext>
            </a:extLst>
          </p:cNvPr>
          <p:cNvSpPr txBox="1">
            <a:spLocks/>
          </p:cNvSpPr>
          <p:nvPr/>
        </p:nvSpPr>
        <p:spPr>
          <a:xfrm>
            <a:off x="251010" y="104400"/>
            <a:ext cx="11277600" cy="669925"/>
          </a:xfrm>
          <a:prstGeom prst="rect">
            <a:avLst/>
          </a:prstGeom>
        </p:spPr>
        <p:txBody>
          <a:bodyPr vert="horz" lIns="0" tIns="0" rIns="0" bIns="0" rtlCol="0" anchor="t" anchorCtr="0">
            <a:noAutofit/>
          </a:bodyPr>
          <a:lstStyle>
            <a:lvl1pPr algn="l" defTabSz="914400" rtl="0" eaLnBrk="1" latinLnBrk="0" hangingPunct="1">
              <a:lnSpc>
                <a:spcPct val="80000"/>
              </a:lnSpc>
              <a:spcBef>
                <a:spcPct val="0"/>
              </a:spcBef>
              <a:buNone/>
              <a:defRPr sz="3200" kern="1200">
                <a:solidFill>
                  <a:schemeClr val="tx2"/>
                </a:solidFill>
                <a:latin typeface="+mj-lt"/>
                <a:ea typeface="+mj-ea"/>
                <a:cs typeface="+mj-cs"/>
              </a:defRPr>
            </a:lvl1pPr>
          </a:lstStyle>
          <a:p>
            <a:pPr>
              <a:lnSpc>
                <a:spcPct val="90000"/>
              </a:lnSpc>
            </a:pPr>
            <a:r>
              <a:rPr lang="en-US" sz="3600" b="1"/>
              <a:t>Life Valuation - Workflow &amp; Key Deliverables - VUL</a:t>
            </a:r>
          </a:p>
          <a:p>
            <a:pPr>
              <a:lnSpc>
                <a:spcPct val="90000"/>
              </a:lnSpc>
            </a:pPr>
            <a:r>
              <a:rPr lang="en-US" sz="1400" b="1">
                <a:solidFill>
                  <a:schemeClr val="accent3"/>
                </a:solidFill>
                <a:latin typeface="+mn-lt"/>
                <a:ea typeface="+mn-ea"/>
                <a:cs typeface="+mn-cs"/>
              </a:rPr>
              <a:t>End-to-end process for VUL valuation, including data preparation, model runs, reporting, and key deliverables across monthly, quarterly, annual cycles and </a:t>
            </a:r>
            <a:r>
              <a:rPr lang="en-US" sz="1400" b="1" err="1">
                <a:solidFill>
                  <a:schemeClr val="accent3"/>
                </a:solidFill>
                <a:latin typeface="+mn-lt"/>
                <a:ea typeface="+mn-ea"/>
                <a:cs typeface="+mn-cs"/>
              </a:rPr>
              <a:t>adhoc</a:t>
            </a:r>
            <a:r>
              <a:rPr lang="en-US" sz="1400" b="1">
                <a:solidFill>
                  <a:schemeClr val="accent3"/>
                </a:solidFill>
                <a:latin typeface="+mn-lt"/>
                <a:ea typeface="+mn-ea"/>
                <a:cs typeface="+mn-cs"/>
              </a:rPr>
              <a:t> processes</a:t>
            </a:r>
          </a:p>
        </p:txBody>
      </p:sp>
      <p:cxnSp>
        <p:nvCxnSpPr>
          <p:cNvPr id="454" name="Straight Connector 453">
            <a:extLst>
              <a:ext uri="{FF2B5EF4-FFF2-40B4-BE49-F238E27FC236}">
                <a16:creationId xmlns:a16="http://schemas.microsoft.com/office/drawing/2014/main" id="{5235AC7D-989E-2A32-3684-2A24983CE686}"/>
              </a:ext>
            </a:extLst>
          </p:cNvPr>
          <p:cNvCxnSpPr>
            <a:cxnSpLocks/>
          </p:cNvCxnSpPr>
          <p:nvPr/>
        </p:nvCxnSpPr>
        <p:spPr>
          <a:xfrm>
            <a:off x="435768" y="3651412"/>
            <a:ext cx="7458604" cy="0"/>
          </a:xfrm>
          <a:prstGeom prst="line">
            <a:avLst/>
          </a:prstGeom>
          <a:ln>
            <a:solidFill>
              <a:schemeClr val="tx1">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5B06CBE1-9AB4-72B2-20B9-E555DB538818}"/>
              </a:ext>
            </a:extLst>
          </p:cNvPr>
          <p:cNvCxnSpPr>
            <a:cxnSpLocks/>
            <a:stCxn id="194" idx="3"/>
            <a:endCxn id="55" idx="1"/>
          </p:cNvCxnSpPr>
          <p:nvPr/>
        </p:nvCxnSpPr>
        <p:spPr>
          <a:xfrm flipV="1">
            <a:off x="2980528" y="3988767"/>
            <a:ext cx="1355997" cy="74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1C25ABCA-455A-2455-AA69-B720AEC98EFE}"/>
              </a:ext>
            </a:extLst>
          </p:cNvPr>
          <p:cNvCxnSpPr>
            <a:cxnSpLocks/>
            <a:stCxn id="55" idx="3"/>
            <a:endCxn id="205" idx="1"/>
          </p:cNvCxnSpPr>
          <p:nvPr/>
        </p:nvCxnSpPr>
        <p:spPr>
          <a:xfrm>
            <a:off x="5670655" y="3988767"/>
            <a:ext cx="577364" cy="22052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26" name="Rectangle: Diagonal Corners Rounded 125">
            <a:extLst>
              <a:ext uri="{FF2B5EF4-FFF2-40B4-BE49-F238E27FC236}">
                <a16:creationId xmlns:a16="http://schemas.microsoft.com/office/drawing/2014/main" id="{109841F0-C636-02AE-A903-679960F22C02}"/>
              </a:ext>
            </a:extLst>
          </p:cNvPr>
          <p:cNvSpPr/>
          <p:nvPr/>
        </p:nvSpPr>
        <p:spPr>
          <a:xfrm flipV="1">
            <a:off x="10060421" y="3782041"/>
            <a:ext cx="1981200" cy="2519902"/>
          </a:xfrm>
          <a:prstGeom prst="round2DiagRect">
            <a:avLst>
              <a:gd name="adj1" fmla="val 23907"/>
              <a:gd name="adj2" fmla="val 0"/>
            </a:avLst>
          </a:prstGeom>
          <a:solidFill>
            <a:srgbClr val="CC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TextBox 126">
            <a:extLst>
              <a:ext uri="{FF2B5EF4-FFF2-40B4-BE49-F238E27FC236}">
                <a16:creationId xmlns:a16="http://schemas.microsoft.com/office/drawing/2014/main" id="{811CFB33-A673-544C-E732-137B07D39179}"/>
              </a:ext>
            </a:extLst>
          </p:cNvPr>
          <p:cNvSpPr txBox="1"/>
          <p:nvPr/>
        </p:nvSpPr>
        <p:spPr>
          <a:xfrm flipH="1">
            <a:off x="10257726" y="4394354"/>
            <a:ext cx="1619314" cy="1246495"/>
          </a:xfrm>
          <a:prstGeom prst="rect">
            <a:avLst/>
          </a:prstGeom>
          <a:noFill/>
        </p:spPr>
        <p:txBody>
          <a:bodyPr wrap="square" lIns="0" tIns="0" rIns="0" bIns="0" rtlCol="0">
            <a:spAutoFit/>
          </a:bodyPr>
          <a:lstStyle/>
          <a:p>
            <a:pPr marL="244602" indent="-171450" algn="l" rtl="0" eaLnBrk="1" fontAlgn="b" latinLnBrk="0" hangingPunct="1">
              <a:buFont typeface="Arial" panose="020B0604020202020204" pitchFamily="34" charset="0"/>
              <a:buChar char="•"/>
            </a:pPr>
            <a:r>
              <a:rPr lang="en-IN" sz="900" kern="1200">
                <a:latin typeface="+mn-lt"/>
                <a:ea typeface="+mn-ea"/>
                <a:cs typeface="+mn-cs"/>
              </a:rPr>
              <a:t>NY </a:t>
            </a:r>
            <a:r>
              <a:rPr lang="en-IN" sz="900" i="0" u="none" strike="noStrike" kern="1200" err="1">
                <a:effectLst/>
                <a:latin typeface="Calibri" panose="020F0502020204030204" pitchFamily="34" charset="0"/>
              </a:rPr>
              <a:t>NY</a:t>
            </a:r>
            <a:r>
              <a:rPr lang="en-IN" sz="900" i="0" u="none" strike="noStrike" kern="1200">
                <a:effectLst/>
                <a:latin typeface="Calibri" panose="020F0502020204030204" pitchFamily="34" charset="0"/>
              </a:rPr>
              <a:t> Binder</a:t>
            </a:r>
            <a:endParaRPr lang="en-IN" sz="90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IN" sz="900" b="0" i="0" u="none" strike="noStrike" kern="1200">
                <a:effectLst/>
                <a:latin typeface="Calibri" panose="020F0502020204030204" pitchFamily="34" charset="0"/>
              </a:rPr>
              <a:t>S&amp;P Survey</a:t>
            </a:r>
            <a:endParaRPr lang="en-IN" sz="900" b="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IN" sz="900" b="0" i="0" u="none" strike="noStrike" kern="1200">
                <a:effectLst/>
                <a:latin typeface="Calibri" panose="020F0502020204030204" pitchFamily="34" charset="0"/>
              </a:rPr>
              <a:t>Exhibit 3 - LNL/LNY</a:t>
            </a:r>
            <a:endParaRPr lang="en-IN" sz="900" b="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IN" sz="900" b="0" i="0" u="none" strike="noStrike" kern="1200">
                <a:effectLst/>
                <a:latin typeface="Calibri" panose="020F0502020204030204" pitchFamily="34" charset="0"/>
              </a:rPr>
              <a:t>Exhibit 5 - LNL/LNY/FPP</a:t>
            </a:r>
            <a:endParaRPr lang="en-IN" sz="900" b="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IN" sz="900" b="0" i="0" u="none" strike="noStrike" kern="1200">
                <a:effectLst/>
                <a:latin typeface="Calibri" panose="020F0502020204030204" pitchFamily="34" charset="0"/>
              </a:rPr>
              <a:t>State Pages - LNL/LNY/FPP</a:t>
            </a:r>
            <a:endParaRPr lang="en-IN" sz="900" b="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IN" sz="900" b="0" i="0" u="none" strike="noStrike" kern="1200">
                <a:effectLst/>
                <a:latin typeface="Calibri" panose="020F0502020204030204" pitchFamily="34" charset="0"/>
              </a:rPr>
              <a:t>CFT Memos - LNL/LNY/FPP</a:t>
            </a:r>
            <a:endParaRPr lang="en-IN" sz="900" b="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IN" sz="900" b="0" i="0" u="none" strike="noStrike" kern="1200">
                <a:effectLst/>
                <a:latin typeface="Calibri" panose="020F0502020204030204" pitchFamily="34" charset="0"/>
              </a:rPr>
              <a:t>Aetna Page 6 </a:t>
            </a:r>
            <a:endParaRPr lang="en-IN" sz="900" b="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US" sz="900" b="0" i="0" u="none" strike="noStrike" kern="1200">
                <a:effectLst/>
                <a:latin typeface="Calibri" panose="020F0502020204030204" pitchFamily="34" charset="0"/>
              </a:rPr>
              <a:t>Aetna Policy counts, reserves, DB by state</a:t>
            </a:r>
            <a:endParaRPr lang="en-IN" sz="900" b="0" i="0" u="none" strike="noStrike">
              <a:effectLst/>
              <a:latin typeface="Arial" panose="020B0604020202020204" pitchFamily="34" charset="0"/>
            </a:endParaRPr>
          </a:p>
        </p:txBody>
      </p:sp>
      <p:sp>
        <p:nvSpPr>
          <p:cNvPr id="128" name="Oval 127">
            <a:extLst>
              <a:ext uri="{FF2B5EF4-FFF2-40B4-BE49-F238E27FC236}">
                <a16:creationId xmlns:a16="http://schemas.microsoft.com/office/drawing/2014/main" id="{81819AFE-C77C-E15E-0313-C70D2F219EF0}"/>
              </a:ext>
            </a:extLst>
          </p:cNvPr>
          <p:cNvSpPr/>
          <p:nvPr/>
        </p:nvSpPr>
        <p:spPr>
          <a:xfrm rot="16200000">
            <a:off x="9223612" y="4240375"/>
            <a:ext cx="1560910" cy="537817"/>
          </a:xfrm>
          <a:prstGeom prst="ellipse">
            <a:avLst/>
          </a:prstGeom>
          <a:gradFill flip="none" rotWithShape="1">
            <a:gsLst>
              <a:gs pos="100000">
                <a:schemeClr val="tx1">
                  <a:alpha val="0"/>
                </a:schemeClr>
              </a:gs>
              <a:gs pos="3000">
                <a:schemeClr val="tx1">
                  <a:alpha val="50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Diagonal Corners Rounded 129">
            <a:extLst>
              <a:ext uri="{FF2B5EF4-FFF2-40B4-BE49-F238E27FC236}">
                <a16:creationId xmlns:a16="http://schemas.microsoft.com/office/drawing/2014/main" id="{F4E1E57D-55A7-2240-3301-F74014094656}"/>
              </a:ext>
            </a:extLst>
          </p:cNvPr>
          <p:cNvSpPr/>
          <p:nvPr/>
        </p:nvSpPr>
        <p:spPr>
          <a:xfrm flipH="1" flipV="1">
            <a:off x="8079139" y="3782041"/>
            <a:ext cx="1981200" cy="2519902"/>
          </a:xfrm>
          <a:prstGeom prst="round2DiagRect">
            <a:avLst>
              <a:gd name="adj1" fmla="val 23907"/>
              <a:gd name="adj2" fmla="val 0"/>
            </a:avLst>
          </a:prstGeom>
          <a:solidFill>
            <a:srgbClr val="DAE7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a:extLst>
              <a:ext uri="{FF2B5EF4-FFF2-40B4-BE49-F238E27FC236}">
                <a16:creationId xmlns:a16="http://schemas.microsoft.com/office/drawing/2014/main" id="{BE317E88-4005-3C2C-CB3C-189A1449AC4B}"/>
              </a:ext>
            </a:extLst>
          </p:cNvPr>
          <p:cNvSpPr/>
          <p:nvPr/>
        </p:nvSpPr>
        <p:spPr>
          <a:xfrm>
            <a:off x="8566645" y="3457543"/>
            <a:ext cx="1560910" cy="537817"/>
          </a:xfrm>
          <a:prstGeom prst="ellipse">
            <a:avLst/>
          </a:prstGeom>
          <a:gradFill flip="none" rotWithShape="1">
            <a:gsLst>
              <a:gs pos="100000">
                <a:schemeClr val="tx1">
                  <a:alpha val="0"/>
                </a:schemeClr>
              </a:gs>
              <a:gs pos="3000">
                <a:schemeClr val="tx1">
                  <a:alpha val="50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Diagonal Corners Rounded 133">
            <a:extLst>
              <a:ext uri="{FF2B5EF4-FFF2-40B4-BE49-F238E27FC236}">
                <a16:creationId xmlns:a16="http://schemas.microsoft.com/office/drawing/2014/main" id="{09E9B866-9475-3D21-E276-123AA758A5FB}"/>
              </a:ext>
            </a:extLst>
          </p:cNvPr>
          <p:cNvSpPr/>
          <p:nvPr/>
        </p:nvSpPr>
        <p:spPr>
          <a:xfrm flipH="1">
            <a:off x="8079139" y="1376703"/>
            <a:ext cx="1981200" cy="2407719"/>
          </a:xfrm>
          <a:prstGeom prst="round2DiagRect">
            <a:avLst>
              <a:gd name="adj1" fmla="val 23907"/>
              <a:gd name="adj2" fmla="val 0"/>
            </a:avLst>
          </a:prstGeom>
          <a:solidFill>
            <a:srgbClr val="CC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Oval 136">
            <a:extLst>
              <a:ext uri="{FF2B5EF4-FFF2-40B4-BE49-F238E27FC236}">
                <a16:creationId xmlns:a16="http://schemas.microsoft.com/office/drawing/2014/main" id="{D3014741-27AB-333D-3A46-A2A0383DD4D2}"/>
              </a:ext>
            </a:extLst>
          </p:cNvPr>
          <p:cNvSpPr/>
          <p:nvPr/>
        </p:nvSpPr>
        <p:spPr>
          <a:xfrm rot="16200000">
            <a:off x="9358044" y="2732677"/>
            <a:ext cx="1560910" cy="537817"/>
          </a:xfrm>
          <a:prstGeom prst="ellipse">
            <a:avLst/>
          </a:prstGeom>
          <a:gradFill flip="none" rotWithShape="1">
            <a:gsLst>
              <a:gs pos="100000">
                <a:schemeClr val="tx1">
                  <a:alpha val="0"/>
                </a:schemeClr>
              </a:gs>
              <a:gs pos="3000">
                <a:schemeClr val="tx1">
                  <a:alpha val="50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Diagonal Corners Rounded 138">
            <a:extLst>
              <a:ext uri="{FF2B5EF4-FFF2-40B4-BE49-F238E27FC236}">
                <a16:creationId xmlns:a16="http://schemas.microsoft.com/office/drawing/2014/main" id="{839C4561-B86D-EBD9-35F2-615675D7785D}"/>
              </a:ext>
            </a:extLst>
          </p:cNvPr>
          <p:cNvSpPr/>
          <p:nvPr/>
        </p:nvSpPr>
        <p:spPr>
          <a:xfrm>
            <a:off x="10060421" y="1376703"/>
            <a:ext cx="1981200" cy="2407719"/>
          </a:xfrm>
          <a:prstGeom prst="round2DiagRect">
            <a:avLst>
              <a:gd name="adj1" fmla="val 23907"/>
              <a:gd name="adj2" fmla="val 0"/>
            </a:avLst>
          </a:prstGeom>
          <a:solidFill>
            <a:srgbClr val="DAE7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a:extLst>
              <a:ext uri="{FF2B5EF4-FFF2-40B4-BE49-F238E27FC236}">
                <a16:creationId xmlns:a16="http://schemas.microsoft.com/office/drawing/2014/main" id="{42F1B3E0-4AC9-5D77-6413-C6B79E3777EE}"/>
              </a:ext>
            </a:extLst>
          </p:cNvPr>
          <p:cNvSpPr/>
          <p:nvPr/>
        </p:nvSpPr>
        <p:spPr>
          <a:xfrm>
            <a:off x="10301807" y="3624340"/>
            <a:ext cx="1386657" cy="466396"/>
          </a:xfrm>
          <a:prstGeom prst="ellipse">
            <a:avLst/>
          </a:prstGeom>
          <a:gradFill flip="none" rotWithShape="1">
            <a:gsLst>
              <a:gs pos="100000">
                <a:schemeClr val="tx1">
                  <a:alpha val="0"/>
                </a:schemeClr>
              </a:gs>
              <a:gs pos="3000">
                <a:schemeClr val="tx1">
                  <a:alpha val="50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4" name="Group 143">
            <a:extLst>
              <a:ext uri="{FF2B5EF4-FFF2-40B4-BE49-F238E27FC236}">
                <a16:creationId xmlns:a16="http://schemas.microsoft.com/office/drawing/2014/main" id="{080DE31E-9031-D38B-8A9D-B60ABC31CA23}"/>
              </a:ext>
            </a:extLst>
          </p:cNvPr>
          <p:cNvGrpSpPr/>
          <p:nvPr/>
        </p:nvGrpSpPr>
        <p:grpSpPr>
          <a:xfrm>
            <a:off x="8079057" y="1376703"/>
            <a:ext cx="776347" cy="776347"/>
            <a:chOff x="3772535" y="1485504"/>
            <a:chExt cx="1136650" cy="1136650"/>
          </a:xfrm>
        </p:grpSpPr>
        <p:grpSp>
          <p:nvGrpSpPr>
            <p:cNvPr id="145" name="Group 144">
              <a:extLst>
                <a:ext uri="{FF2B5EF4-FFF2-40B4-BE49-F238E27FC236}">
                  <a16:creationId xmlns:a16="http://schemas.microsoft.com/office/drawing/2014/main" id="{4C898D9C-04E2-1B67-5081-25B990B74F05}"/>
                </a:ext>
              </a:extLst>
            </p:cNvPr>
            <p:cNvGrpSpPr/>
            <p:nvPr/>
          </p:nvGrpSpPr>
          <p:grpSpPr>
            <a:xfrm>
              <a:off x="3772535" y="1485504"/>
              <a:ext cx="1136650" cy="1136650"/>
              <a:chOff x="3944620" y="1307126"/>
              <a:chExt cx="1021080" cy="1021080"/>
            </a:xfrm>
          </p:grpSpPr>
          <p:sp>
            <p:nvSpPr>
              <p:cNvPr id="147" name="Oval 146">
                <a:extLst>
                  <a:ext uri="{FF2B5EF4-FFF2-40B4-BE49-F238E27FC236}">
                    <a16:creationId xmlns:a16="http://schemas.microsoft.com/office/drawing/2014/main" id="{4F06D201-D951-5576-1F39-9BB00D581556}"/>
                  </a:ext>
                </a:extLst>
              </p:cNvPr>
              <p:cNvSpPr/>
              <p:nvPr/>
            </p:nvSpPr>
            <p:spPr>
              <a:xfrm>
                <a:off x="3944620" y="1307126"/>
                <a:ext cx="1021080" cy="1021080"/>
              </a:xfrm>
              <a:prstGeom prst="ellipse">
                <a:avLst/>
              </a:prstGeom>
              <a:solidFill>
                <a:schemeClr val="accent1"/>
              </a:solidFill>
              <a:ln>
                <a:noFill/>
              </a:ln>
              <a:effectLst>
                <a:outerShdw blurRad="1016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Oval 147">
                <a:extLst>
                  <a:ext uri="{FF2B5EF4-FFF2-40B4-BE49-F238E27FC236}">
                    <a16:creationId xmlns:a16="http://schemas.microsoft.com/office/drawing/2014/main" id="{8BD22D11-ED08-0D3E-C85F-4DA6DE797238}"/>
                  </a:ext>
                </a:extLst>
              </p:cNvPr>
              <p:cNvSpPr/>
              <p:nvPr/>
            </p:nvSpPr>
            <p:spPr>
              <a:xfrm>
                <a:off x="4071313" y="1433819"/>
                <a:ext cx="767694" cy="767694"/>
              </a:xfrm>
              <a:prstGeom prst="ellipse">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6" name="Freeform: Shape 145">
              <a:extLst>
                <a:ext uri="{FF2B5EF4-FFF2-40B4-BE49-F238E27FC236}">
                  <a16:creationId xmlns:a16="http://schemas.microsoft.com/office/drawing/2014/main" id="{EFA62FB1-EF9D-6520-8214-09CED8E580ED}"/>
                </a:ext>
              </a:extLst>
            </p:cNvPr>
            <p:cNvSpPr>
              <a:spLocks/>
            </p:cNvSpPr>
            <p:nvPr/>
          </p:nvSpPr>
          <p:spPr bwMode="auto">
            <a:xfrm>
              <a:off x="4141470" y="1834114"/>
              <a:ext cx="398780" cy="439432"/>
            </a:xfrm>
            <a:custGeom>
              <a:avLst/>
              <a:gdLst>
                <a:gd name="connsiteX0" fmla="*/ 314051 w 880832"/>
                <a:gd name="connsiteY0" fmla="*/ 623700 h 970626"/>
                <a:gd name="connsiteX1" fmla="*/ 302651 w 880832"/>
                <a:gd name="connsiteY1" fmla="*/ 635700 h 970626"/>
                <a:gd name="connsiteX2" fmla="*/ 314051 w 880832"/>
                <a:gd name="connsiteY2" fmla="*/ 647699 h 970626"/>
                <a:gd name="connsiteX3" fmla="*/ 336850 w 880832"/>
                <a:gd name="connsiteY3" fmla="*/ 647699 h 970626"/>
                <a:gd name="connsiteX4" fmla="*/ 348250 w 880832"/>
                <a:gd name="connsiteY4" fmla="*/ 635700 h 970626"/>
                <a:gd name="connsiteX5" fmla="*/ 336850 w 880832"/>
                <a:gd name="connsiteY5" fmla="*/ 623700 h 970626"/>
                <a:gd name="connsiteX6" fmla="*/ 314051 w 880832"/>
                <a:gd name="connsiteY6" fmla="*/ 623700 h 970626"/>
                <a:gd name="connsiteX7" fmla="*/ 292452 w 880832"/>
                <a:gd name="connsiteY7" fmla="*/ 578101 h 970626"/>
                <a:gd name="connsiteX8" fmla="*/ 281052 w 880832"/>
                <a:gd name="connsiteY8" fmla="*/ 588901 h 970626"/>
                <a:gd name="connsiteX9" fmla="*/ 292452 w 880832"/>
                <a:gd name="connsiteY9" fmla="*/ 599701 h 970626"/>
                <a:gd name="connsiteX10" fmla="*/ 360849 w 880832"/>
                <a:gd name="connsiteY10" fmla="*/ 599701 h 970626"/>
                <a:gd name="connsiteX11" fmla="*/ 372248 w 880832"/>
                <a:gd name="connsiteY11" fmla="*/ 588901 h 970626"/>
                <a:gd name="connsiteX12" fmla="*/ 360849 w 880832"/>
                <a:gd name="connsiteY12" fmla="*/ 578101 h 970626"/>
                <a:gd name="connsiteX13" fmla="*/ 292452 w 880832"/>
                <a:gd name="connsiteY13" fmla="*/ 578101 h 970626"/>
                <a:gd name="connsiteX14" fmla="*/ 508242 w 880832"/>
                <a:gd name="connsiteY14" fmla="*/ 371708 h 970626"/>
                <a:gd name="connsiteX15" fmla="*/ 497042 w 880832"/>
                <a:gd name="connsiteY15" fmla="*/ 382508 h 970626"/>
                <a:gd name="connsiteX16" fmla="*/ 508242 w 880832"/>
                <a:gd name="connsiteY16" fmla="*/ 393308 h 970626"/>
                <a:gd name="connsiteX17" fmla="*/ 553041 w 880832"/>
                <a:gd name="connsiteY17" fmla="*/ 393308 h 970626"/>
                <a:gd name="connsiteX18" fmla="*/ 564240 w 880832"/>
                <a:gd name="connsiteY18" fmla="*/ 382508 h 970626"/>
                <a:gd name="connsiteX19" fmla="*/ 553041 w 880832"/>
                <a:gd name="connsiteY19" fmla="*/ 371708 h 970626"/>
                <a:gd name="connsiteX20" fmla="*/ 508242 w 880832"/>
                <a:gd name="connsiteY20" fmla="*/ 371708 h 970626"/>
                <a:gd name="connsiteX21" fmla="*/ 98260 w 880832"/>
                <a:gd name="connsiteY21" fmla="*/ 371708 h 970626"/>
                <a:gd name="connsiteX22" fmla="*/ 86660 w 880832"/>
                <a:gd name="connsiteY22" fmla="*/ 382508 h 970626"/>
                <a:gd name="connsiteX23" fmla="*/ 98260 w 880832"/>
                <a:gd name="connsiteY23" fmla="*/ 393308 h 970626"/>
                <a:gd name="connsiteX24" fmla="*/ 144658 w 880832"/>
                <a:gd name="connsiteY24" fmla="*/ 393308 h 970626"/>
                <a:gd name="connsiteX25" fmla="*/ 156258 w 880832"/>
                <a:gd name="connsiteY25" fmla="*/ 382508 h 970626"/>
                <a:gd name="connsiteX26" fmla="*/ 144658 w 880832"/>
                <a:gd name="connsiteY26" fmla="*/ 371708 h 970626"/>
                <a:gd name="connsiteX27" fmla="*/ 98260 w 880832"/>
                <a:gd name="connsiteY27" fmla="*/ 371708 h 970626"/>
                <a:gd name="connsiteX28" fmla="*/ 325451 w 880832"/>
                <a:gd name="connsiteY28" fmla="*/ 234914 h 970626"/>
                <a:gd name="connsiteX29" fmla="*/ 177856 w 880832"/>
                <a:gd name="connsiteY29" fmla="*/ 383109 h 970626"/>
                <a:gd name="connsiteX30" fmla="*/ 280037 w 880832"/>
                <a:gd name="connsiteY30" fmla="*/ 525604 h 970626"/>
                <a:gd name="connsiteX31" fmla="*/ 280037 w 880832"/>
                <a:gd name="connsiteY31" fmla="*/ 542704 h 970626"/>
                <a:gd name="connsiteX32" fmla="*/ 291390 w 880832"/>
                <a:gd name="connsiteY32" fmla="*/ 554103 h 970626"/>
                <a:gd name="connsiteX33" fmla="*/ 359511 w 880832"/>
                <a:gd name="connsiteY33" fmla="*/ 554103 h 970626"/>
                <a:gd name="connsiteX34" fmla="*/ 370864 w 880832"/>
                <a:gd name="connsiteY34" fmla="*/ 542704 h 970626"/>
                <a:gd name="connsiteX35" fmla="*/ 370864 w 880832"/>
                <a:gd name="connsiteY35" fmla="*/ 525604 h 970626"/>
                <a:gd name="connsiteX36" fmla="*/ 473045 w 880832"/>
                <a:gd name="connsiteY36" fmla="*/ 383109 h 970626"/>
                <a:gd name="connsiteX37" fmla="*/ 325451 w 880832"/>
                <a:gd name="connsiteY37" fmla="*/ 234914 h 970626"/>
                <a:gd name="connsiteX38" fmla="*/ 503113 w 880832"/>
                <a:gd name="connsiteY38" fmla="*/ 195515 h 970626"/>
                <a:gd name="connsiteX39" fmla="*/ 496674 w 880832"/>
                <a:gd name="connsiteY39" fmla="*/ 199715 h 970626"/>
                <a:gd name="connsiteX40" fmla="*/ 445168 w 880832"/>
                <a:gd name="connsiteY40" fmla="*/ 244514 h 970626"/>
                <a:gd name="connsiteX41" fmla="*/ 445168 w 880832"/>
                <a:gd name="connsiteY41" fmla="*/ 261313 h 970626"/>
                <a:gd name="connsiteX42" fmla="*/ 456614 w 880832"/>
                <a:gd name="connsiteY42" fmla="*/ 261313 h 970626"/>
                <a:gd name="connsiteX43" fmla="*/ 462337 w 880832"/>
                <a:gd name="connsiteY43" fmla="*/ 261313 h 970626"/>
                <a:gd name="connsiteX44" fmla="*/ 513843 w 880832"/>
                <a:gd name="connsiteY44" fmla="*/ 210914 h 970626"/>
                <a:gd name="connsiteX45" fmla="*/ 513843 w 880832"/>
                <a:gd name="connsiteY45" fmla="*/ 199715 h 970626"/>
                <a:gd name="connsiteX46" fmla="*/ 503113 w 880832"/>
                <a:gd name="connsiteY46" fmla="*/ 195515 h 970626"/>
                <a:gd name="connsiteX47" fmla="*/ 149842 w 880832"/>
                <a:gd name="connsiteY47" fmla="*/ 195515 h 970626"/>
                <a:gd name="connsiteX48" fmla="*/ 139458 w 880832"/>
                <a:gd name="connsiteY48" fmla="*/ 199715 h 970626"/>
                <a:gd name="connsiteX49" fmla="*/ 139458 w 880832"/>
                <a:gd name="connsiteY49" fmla="*/ 210914 h 970626"/>
                <a:gd name="connsiteX50" fmla="*/ 189302 w 880832"/>
                <a:gd name="connsiteY50" fmla="*/ 261313 h 970626"/>
                <a:gd name="connsiteX51" fmla="*/ 194840 w 880832"/>
                <a:gd name="connsiteY51" fmla="*/ 261313 h 970626"/>
                <a:gd name="connsiteX52" fmla="*/ 205917 w 880832"/>
                <a:gd name="connsiteY52" fmla="*/ 261313 h 970626"/>
                <a:gd name="connsiteX53" fmla="*/ 205917 w 880832"/>
                <a:gd name="connsiteY53" fmla="*/ 244514 h 970626"/>
                <a:gd name="connsiteX54" fmla="*/ 156073 w 880832"/>
                <a:gd name="connsiteY54" fmla="*/ 199715 h 970626"/>
                <a:gd name="connsiteX55" fmla="*/ 149842 w 880832"/>
                <a:gd name="connsiteY55" fmla="*/ 195515 h 970626"/>
                <a:gd name="connsiteX56" fmla="*/ 325450 w 880832"/>
                <a:gd name="connsiteY56" fmla="*/ 141317 h 970626"/>
                <a:gd name="connsiteX57" fmla="*/ 314650 w 880832"/>
                <a:gd name="connsiteY57" fmla="*/ 152916 h 970626"/>
                <a:gd name="connsiteX58" fmla="*/ 314650 w 880832"/>
                <a:gd name="connsiteY58" fmla="*/ 199315 h 970626"/>
                <a:gd name="connsiteX59" fmla="*/ 325450 w 880832"/>
                <a:gd name="connsiteY59" fmla="*/ 210915 h 970626"/>
                <a:gd name="connsiteX60" fmla="*/ 336250 w 880832"/>
                <a:gd name="connsiteY60" fmla="*/ 199315 h 970626"/>
                <a:gd name="connsiteX61" fmla="*/ 336250 w 880832"/>
                <a:gd name="connsiteY61" fmla="*/ 152916 h 970626"/>
                <a:gd name="connsiteX62" fmla="*/ 325450 w 880832"/>
                <a:gd name="connsiteY62" fmla="*/ 141317 h 970626"/>
                <a:gd name="connsiteX63" fmla="*/ 404980 w 880832"/>
                <a:gd name="connsiteY63" fmla="*/ 0 h 970626"/>
                <a:gd name="connsiteX64" fmla="*/ 789712 w 880832"/>
                <a:gd name="connsiteY64" fmla="*/ 343764 h 970626"/>
                <a:gd name="connsiteX65" fmla="*/ 820085 w 880832"/>
                <a:gd name="connsiteY65" fmla="*/ 394317 h 970626"/>
                <a:gd name="connsiteX66" fmla="*/ 880832 w 880832"/>
                <a:gd name="connsiteY66" fmla="*/ 545977 h 970626"/>
                <a:gd name="connsiteX67" fmla="*/ 880832 w 880832"/>
                <a:gd name="connsiteY67" fmla="*/ 556088 h 970626"/>
                <a:gd name="connsiteX68" fmla="*/ 870708 w 880832"/>
                <a:gd name="connsiteY68" fmla="*/ 586420 h 970626"/>
                <a:gd name="connsiteX69" fmla="*/ 830210 w 880832"/>
                <a:gd name="connsiteY69" fmla="*/ 606641 h 970626"/>
                <a:gd name="connsiteX70" fmla="*/ 789712 w 880832"/>
                <a:gd name="connsiteY70" fmla="*/ 606641 h 970626"/>
                <a:gd name="connsiteX71" fmla="*/ 749214 w 880832"/>
                <a:gd name="connsiteY71" fmla="*/ 788634 h 970626"/>
                <a:gd name="connsiteX72" fmla="*/ 607471 w 880832"/>
                <a:gd name="connsiteY72" fmla="*/ 829077 h 970626"/>
                <a:gd name="connsiteX73" fmla="*/ 607471 w 880832"/>
                <a:gd name="connsiteY73" fmla="*/ 950405 h 970626"/>
                <a:gd name="connsiteX74" fmla="*/ 587222 w 880832"/>
                <a:gd name="connsiteY74" fmla="*/ 970626 h 970626"/>
                <a:gd name="connsiteX75" fmla="*/ 182241 w 880832"/>
                <a:gd name="connsiteY75" fmla="*/ 970626 h 970626"/>
                <a:gd name="connsiteX76" fmla="*/ 161992 w 880832"/>
                <a:gd name="connsiteY76" fmla="*/ 950405 h 970626"/>
                <a:gd name="connsiteX77" fmla="*/ 161992 w 880832"/>
                <a:gd name="connsiteY77" fmla="*/ 727970 h 970626"/>
                <a:gd name="connsiteX78" fmla="*/ 0 w 880832"/>
                <a:gd name="connsiteY78" fmla="*/ 404428 h 970626"/>
                <a:gd name="connsiteX79" fmla="*/ 404980 w 880832"/>
                <a:gd name="connsiteY79" fmla="*/ 0 h 970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880832" h="970626">
                  <a:moveTo>
                    <a:pt x="314051" y="623700"/>
                  </a:moveTo>
                  <a:cubicBezTo>
                    <a:pt x="308351" y="623700"/>
                    <a:pt x="302651" y="629700"/>
                    <a:pt x="302651" y="635700"/>
                  </a:cubicBezTo>
                  <a:cubicBezTo>
                    <a:pt x="302651" y="641699"/>
                    <a:pt x="308351" y="647699"/>
                    <a:pt x="314051" y="647699"/>
                  </a:cubicBezTo>
                  <a:cubicBezTo>
                    <a:pt x="336850" y="647699"/>
                    <a:pt x="336850" y="647699"/>
                    <a:pt x="336850" y="647699"/>
                  </a:cubicBezTo>
                  <a:cubicBezTo>
                    <a:pt x="342550" y="647699"/>
                    <a:pt x="348250" y="641699"/>
                    <a:pt x="348250" y="635700"/>
                  </a:cubicBezTo>
                  <a:cubicBezTo>
                    <a:pt x="348250" y="629700"/>
                    <a:pt x="342550" y="623700"/>
                    <a:pt x="336850" y="623700"/>
                  </a:cubicBezTo>
                  <a:cubicBezTo>
                    <a:pt x="314051" y="623700"/>
                    <a:pt x="314051" y="623700"/>
                    <a:pt x="314051" y="623700"/>
                  </a:cubicBezTo>
                  <a:close/>
                  <a:moveTo>
                    <a:pt x="292452" y="578101"/>
                  </a:moveTo>
                  <a:cubicBezTo>
                    <a:pt x="286752" y="578101"/>
                    <a:pt x="281052" y="583501"/>
                    <a:pt x="281052" y="588901"/>
                  </a:cubicBezTo>
                  <a:cubicBezTo>
                    <a:pt x="281052" y="594301"/>
                    <a:pt x="286752" y="599701"/>
                    <a:pt x="292452" y="599701"/>
                  </a:cubicBezTo>
                  <a:cubicBezTo>
                    <a:pt x="360849" y="599701"/>
                    <a:pt x="360849" y="599701"/>
                    <a:pt x="360849" y="599701"/>
                  </a:cubicBezTo>
                  <a:cubicBezTo>
                    <a:pt x="366548" y="599701"/>
                    <a:pt x="372248" y="594301"/>
                    <a:pt x="372248" y="588901"/>
                  </a:cubicBezTo>
                  <a:cubicBezTo>
                    <a:pt x="372248" y="583501"/>
                    <a:pt x="366548" y="578101"/>
                    <a:pt x="360849" y="578101"/>
                  </a:cubicBezTo>
                  <a:cubicBezTo>
                    <a:pt x="292452" y="578101"/>
                    <a:pt x="292452" y="578101"/>
                    <a:pt x="292452" y="578101"/>
                  </a:cubicBezTo>
                  <a:close/>
                  <a:moveTo>
                    <a:pt x="508242" y="371708"/>
                  </a:moveTo>
                  <a:cubicBezTo>
                    <a:pt x="502642" y="371708"/>
                    <a:pt x="497042" y="377108"/>
                    <a:pt x="497042" y="382508"/>
                  </a:cubicBezTo>
                  <a:cubicBezTo>
                    <a:pt x="497042" y="387908"/>
                    <a:pt x="502642" y="393308"/>
                    <a:pt x="508242" y="393308"/>
                  </a:cubicBezTo>
                  <a:cubicBezTo>
                    <a:pt x="553041" y="393308"/>
                    <a:pt x="553041" y="393308"/>
                    <a:pt x="553041" y="393308"/>
                  </a:cubicBezTo>
                  <a:cubicBezTo>
                    <a:pt x="558640" y="393308"/>
                    <a:pt x="564240" y="387908"/>
                    <a:pt x="564240" y="382508"/>
                  </a:cubicBezTo>
                  <a:cubicBezTo>
                    <a:pt x="564240" y="377108"/>
                    <a:pt x="558640" y="371708"/>
                    <a:pt x="553041" y="371708"/>
                  </a:cubicBezTo>
                  <a:cubicBezTo>
                    <a:pt x="508242" y="371708"/>
                    <a:pt x="508242" y="371708"/>
                    <a:pt x="508242" y="371708"/>
                  </a:cubicBezTo>
                  <a:close/>
                  <a:moveTo>
                    <a:pt x="98260" y="371708"/>
                  </a:moveTo>
                  <a:cubicBezTo>
                    <a:pt x="92460" y="371708"/>
                    <a:pt x="86660" y="377108"/>
                    <a:pt x="86660" y="382508"/>
                  </a:cubicBezTo>
                  <a:cubicBezTo>
                    <a:pt x="86660" y="387908"/>
                    <a:pt x="92460" y="393308"/>
                    <a:pt x="98260" y="393308"/>
                  </a:cubicBezTo>
                  <a:cubicBezTo>
                    <a:pt x="144658" y="393308"/>
                    <a:pt x="144658" y="393308"/>
                    <a:pt x="144658" y="393308"/>
                  </a:cubicBezTo>
                  <a:cubicBezTo>
                    <a:pt x="150458" y="393308"/>
                    <a:pt x="156258" y="387908"/>
                    <a:pt x="156258" y="382508"/>
                  </a:cubicBezTo>
                  <a:cubicBezTo>
                    <a:pt x="156258" y="377108"/>
                    <a:pt x="150458" y="371708"/>
                    <a:pt x="144658" y="371708"/>
                  </a:cubicBezTo>
                  <a:cubicBezTo>
                    <a:pt x="98260" y="371708"/>
                    <a:pt x="98260" y="371708"/>
                    <a:pt x="98260" y="371708"/>
                  </a:cubicBezTo>
                  <a:close/>
                  <a:moveTo>
                    <a:pt x="325451" y="234914"/>
                  </a:moveTo>
                  <a:cubicBezTo>
                    <a:pt x="245977" y="234914"/>
                    <a:pt x="177856" y="303312"/>
                    <a:pt x="177856" y="383109"/>
                  </a:cubicBezTo>
                  <a:cubicBezTo>
                    <a:pt x="177856" y="445807"/>
                    <a:pt x="217593" y="502805"/>
                    <a:pt x="280037" y="525604"/>
                  </a:cubicBezTo>
                  <a:cubicBezTo>
                    <a:pt x="280037" y="542704"/>
                    <a:pt x="280037" y="542704"/>
                    <a:pt x="280037" y="542704"/>
                  </a:cubicBezTo>
                  <a:cubicBezTo>
                    <a:pt x="280037" y="548403"/>
                    <a:pt x="285714" y="554103"/>
                    <a:pt x="291390" y="554103"/>
                  </a:cubicBezTo>
                  <a:cubicBezTo>
                    <a:pt x="359511" y="554103"/>
                    <a:pt x="359511" y="554103"/>
                    <a:pt x="359511" y="554103"/>
                  </a:cubicBezTo>
                  <a:cubicBezTo>
                    <a:pt x="365188" y="554103"/>
                    <a:pt x="370864" y="548403"/>
                    <a:pt x="370864" y="542704"/>
                  </a:cubicBezTo>
                  <a:cubicBezTo>
                    <a:pt x="370864" y="525604"/>
                    <a:pt x="370864" y="525604"/>
                    <a:pt x="370864" y="525604"/>
                  </a:cubicBezTo>
                  <a:cubicBezTo>
                    <a:pt x="433308" y="502805"/>
                    <a:pt x="473045" y="445807"/>
                    <a:pt x="473045" y="383109"/>
                  </a:cubicBezTo>
                  <a:cubicBezTo>
                    <a:pt x="473045" y="303312"/>
                    <a:pt x="404925" y="234914"/>
                    <a:pt x="325451" y="234914"/>
                  </a:cubicBezTo>
                  <a:close/>
                  <a:moveTo>
                    <a:pt x="503113" y="195515"/>
                  </a:moveTo>
                  <a:cubicBezTo>
                    <a:pt x="499536" y="195515"/>
                    <a:pt x="496674" y="196915"/>
                    <a:pt x="496674" y="199715"/>
                  </a:cubicBezTo>
                  <a:cubicBezTo>
                    <a:pt x="445168" y="244514"/>
                    <a:pt x="445168" y="244514"/>
                    <a:pt x="445168" y="244514"/>
                  </a:cubicBezTo>
                  <a:cubicBezTo>
                    <a:pt x="439445" y="250114"/>
                    <a:pt x="439445" y="255713"/>
                    <a:pt x="445168" y="261313"/>
                  </a:cubicBezTo>
                  <a:cubicBezTo>
                    <a:pt x="450891" y="261313"/>
                    <a:pt x="450891" y="261313"/>
                    <a:pt x="456614" y="261313"/>
                  </a:cubicBezTo>
                  <a:cubicBezTo>
                    <a:pt x="456614" y="261313"/>
                    <a:pt x="462337" y="261313"/>
                    <a:pt x="462337" y="261313"/>
                  </a:cubicBezTo>
                  <a:cubicBezTo>
                    <a:pt x="513843" y="210914"/>
                    <a:pt x="513843" y="210914"/>
                    <a:pt x="513843" y="210914"/>
                  </a:cubicBezTo>
                  <a:cubicBezTo>
                    <a:pt x="513843" y="210914"/>
                    <a:pt x="513843" y="199715"/>
                    <a:pt x="513843" y="199715"/>
                  </a:cubicBezTo>
                  <a:cubicBezTo>
                    <a:pt x="510982" y="196915"/>
                    <a:pt x="506689" y="195515"/>
                    <a:pt x="503113" y="195515"/>
                  </a:cubicBezTo>
                  <a:close/>
                  <a:moveTo>
                    <a:pt x="149842" y="195515"/>
                  </a:moveTo>
                  <a:cubicBezTo>
                    <a:pt x="146381" y="195515"/>
                    <a:pt x="142227" y="196915"/>
                    <a:pt x="139458" y="199715"/>
                  </a:cubicBezTo>
                  <a:cubicBezTo>
                    <a:pt x="139458" y="199715"/>
                    <a:pt x="139458" y="210914"/>
                    <a:pt x="139458" y="210914"/>
                  </a:cubicBezTo>
                  <a:lnTo>
                    <a:pt x="189302" y="261313"/>
                  </a:lnTo>
                  <a:cubicBezTo>
                    <a:pt x="189302" y="261313"/>
                    <a:pt x="194840" y="261313"/>
                    <a:pt x="194840" y="261313"/>
                  </a:cubicBezTo>
                  <a:cubicBezTo>
                    <a:pt x="200379" y="261313"/>
                    <a:pt x="200379" y="261313"/>
                    <a:pt x="205917" y="261313"/>
                  </a:cubicBezTo>
                  <a:cubicBezTo>
                    <a:pt x="211455" y="255713"/>
                    <a:pt x="211455" y="250114"/>
                    <a:pt x="205917" y="244514"/>
                  </a:cubicBezTo>
                  <a:cubicBezTo>
                    <a:pt x="156073" y="199715"/>
                    <a:pt x="156073" y="199715"/>
                    <a:pt x="156073" y="199715"/>
                  </a:cubicBezTo>
                  <a:cubicBezTo>
                    <a:pt x="156073" y="196915"/>
                    <a:pt x="153304" y="195515"/>
                    <a:pt x="149842" y="195515"/>
                  </a:cubicBezTo>
                  <a:close/>
                  <a:moveTo>
                    <a:pt x="325450" y="141317"/>
                  </a:moveTo>
                  <a:cubicBezTo>
                    <a:pt x="320050" y="141317"/>
                    <a:pt x="314650" y="147117"/>
                    <a:pt x="314650" y="152916"/>
                  </a:cubicBezTo>
                  <a:cubicBezTo>
                    <a:pt x="314650" y="199315"/>
                    <a:pt x="314650" y="199315"/>
                    <a:pt x="314650" y="199315"/>
                  </a:cubicBezTo>
                  <a:cubicBezTo>
                    <a:pt x="314650" y="205115"/>
                    <a:pt x="320050" y="210915"/>
                    <a:pt x="325450" y="210915"/>
                  </a:cubicBezTo>
                  <a:cubicBezTo>
                    <a:pt x="330850" y="210915"/>
                    <a:pt x="336250" y="205115"/>
                    <a:pt x="336250" y="199315"/>
                  </a:cubicBezTo>
                  <a:cubicBezTo>
                    <a:pt x="336250" y="152916"/>
                    <a:pt x="336250" y="152916"/>
                    <a:pt x="336250" y="152916"/>
                  </a:cubicBezTo>
                  <a:cubicBezTo>
                    <a:pt x="336250" y="147117"/>
                    <a:pt x="330850" y="141317"/>
                    <a:pt x="325450" y="141317"/>
                  </a:cubicBezTo>
                  <a:close/>
                  <a:moveTo>
                    <a:pt x="404980" y="0"/>
                  </a:moveTo>
                  <a:cubicBezTo>
                    <a:pt x="597346" y="0"/>
                    <a:pt x="789712" y="131439"/>
                    <a:pt x="789712" y="343764"/>
                  </a:cubicBezTo>
                  <a:cubicBezTo>
                    <a:pt x="789712" y="343764"/>
                    <a:pt x="809961" y="374096"/>
                    <a:pt x="820085" y="394317"/>
                  </a:cubicBezTo>
                  <a:cubicBezTo>
                    <a:pt x="850459" y="444870"/>
                    <a:pt x="880832" y="505535"/>
                    <a:pt x="880832" y="545977"/>
                  </a:cubicBezTo>
                  <a:cubicBezTo>
                    <a:pt x="880832" y="545977"/>
                    <a:pt x="880832" y="545977"/>
                    <a:pt x="880832" y="556088"/>
                  </a:cubicBezTo>
                  <a:cubicBezTo>
                    <a:pt x="880832" y="566199"/>
                    <a:pt x="880832" y="576309"/>
                    <a:pt x="870708" y="586420"/>
                  </a:cubicBezTo>
                  <a:cubicBezTo>
                    <a:pt x="860583" y="596531"/>
                    <a:pt x="850459" y="606641"/>
                    <a:pt x="830210" y="606641"/>
                  </a:cubicBezTo>
                  <a:cubicBezTo>
                    <a:pt x="820085" y="606641"/>
                    <a:pt x="799836" y="606641"/>
                    <a:pt x="789712" y="606641"/>
                  </a:cubicBezTo>
                  <a:cubicBezTo>
                    <a:pt x="789712" y="657195"/>
                    <a:pt x="789712" y="758302"/>
                    <a:pt x="749214" y="788634"/>
                  </a:cubicBezTo>
                  <a:cubicBezTo>
                    <a:pt x="718840" y="818966"/>
                    <a:pt x="678342" y="829077"/>
                    <a:pt x="607471" y="829077"/>
                  </a:cubicBezTo>
                  <a:cubicBezTo>
                    <a:pt x="607471" y="829077"/>
                    <a:pt x="607471" y="829077"/>
                    <a:pt x="607471" y="950405"/>
                  </a:cubicBezTo>
                  <a:cubicBezTo>
                    <a:pt x="607471" y="960516"/>
                    <a:pt x="597346" y="970626"/>
                    <a:pt x="587222" y="970626"/>
                  </a:cubicBezTo>
                  <a:cubicBezTo>
                    <a:pt x="587222" y="970626"/>
                    <a:pt x="587222" y="970626"/>
                    <a:pt x="182241" y="970626"/>
                  </a:cubicBezTo>
                  <a:cubicBezTo>
                    <a:pt x="172117" y="970626"/>
                    <a:pt x="161992" y="960516"/>
                    <a:pt x="161992" y="950405"/>
                  </a:cubicBezTo>
                  <a:cubicBezTo>
                    <a:pt x="161992" y="950405"/>
                    <a:pt x="161992" y="950405"/>
                    <a:pt x="161992" y="727970"/>
                  </a:cubicBezTo>
                  <a:cubicBezTo>
                    <a:pt x="50623" y="657195"/>
                    <a:pt x="0" y="556088"/>
                    <a:pt x="0" y="404428"/>
                  </a:cubicBezTo>
                  <a:cubicBezTo>
                    <a:pt x="0" y="181993"/>
                    <a:pt x="182241" y="0"/>
                    <a:pt x="404980"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id-ID"/>
            </a:p>
          </p:txBody>
        </p:sp>
      </p:grpSp>
      <p:grpSp>
        <p:nvGrpSpPr>
          <p:cNvPr id="149" name="Group 148">
            <a:extLst>
              <a:ext uri="{FF2B5EF4-FFF2-40B4-BE49-F238E27FC236}">
                <a16:creationId xmlns:a16="http://schemas.microsoft.com/office/drawing/2014/main" id="{CDC4C038-9893-B823-462A-25EFBBE0C70F}"/>
              </a:ext>
            </a:extLst>
          </p:cNvPr>
          <p:cNvGrpSpPr/>
          <p:nvPr/>
        </p:nvGrpSpPr>
        <p:grpSpPr>
          <a:xfrm>
            <a:off x="11265274" y="1382463"/>
            <a:ext cx="776347" cy="776347"/>
            <a:chOff x="7282897" y="1485504"/>
            <a:chExt cx="1136650" cy="1136650"/>
          </a:xfrm>
        </p:grpSpPr>
        <p:grpSp>
          <p:nvGrpSpPr>
            <p:cNvPr id="151" name="Group 150">
              <a:extLst>
                <a:ext uri="{FF2B5EF4-FFF2-40B4-BE49-F238E27FC236}">
                  <a16:creationId xmlns:a16="http://schemas.microsoft.com/office/drawing/2014/main" id="{3150F9D7-A0AA-1502-5DBA-85AC54DBAB77}"/>
                </a:ext>
              </a:extLst>
            </p:cNvPr>
            <p:cNvGrpSpPr/>
            <p:nvPr/>
          </p:nvGrpSpPr>
          <p:grpSpPr>
            <a:xfrm flipH="1">
              <a:off x="7282897" y="1485504"/>
              <a:ext cx="1136650" cy="1136650"/>
              <a:chOff x="3944620" y="1307126"/>
              <a:chExt cx="1021080" cy="1021080"/>
            </a:xfrm>
          </p:grpSpPr>
          <p:sp>
            <p:nvSpPr>
              <p:cNvPr id="159" name="Oval 158">
                <a:extLst>
                  <a:ext uri="{FF2B5EF4-FFF2-40B4-BE49-F238E27FC236}">
                    <a16:creationId xmlns:a16="http://schemas.microsoft.com/office/drawing/2014/main" id="{EF0680A2-BC7C-C24B-8ACC-9D83C9B23D46}"/>
                  </a:ext>
                </a:extLst>
              </p:cNvPr>
              <p:cNvSpPr/>
              <p:nvPr/>
            </p:nvSpPr>
            <p:spPr>
              <a:xfrm>
                <a:off x="3944620" y="1307126"/>
                <a:ext cx="1021080" cy="1021080"/>
              </a:xfrm>
              <a:prstGeom prst="ellipse">
                <a:avLst/>
              </a:prstGeom>
              <a:solidFill>
                <a:schemeClr val="accent2"/>
              </a:solidFill>
              <a:ln>
                <a:noFill/>
              </a:ln>
              <a:effectLst>
                <a:outerShdw blurRad="1016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Oval 160">
                <a:extLst>
                  <a:ext uri="{FF2B5EF4-FFF2-40B4-BE49-F238E27FC236}">
                    <a16:creationId xmlns:a16="http://schemas.microsoft.com/office/drawing/2014/main" id="{D85C31A2-D81C-1A7A-9133-0BA2A6E0B89A}"/>
                  </a:ext>
                </a:extLst>
              </p:cNvPr>
              <p:cNvSpPr/>
              <p:nvPr/>
            </p:nvSpPr>
            <p:spPr>
              <a:xfrm>
                <a:off x="4071313" y="1433819"/>
                <a:ext cx="767694" cy="767694"/>
              </a:xfrm>
              <a:prstGeom prst="ellipse">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 name="Group 153">
              <a:extLst>
                <a:ext uri="{FF2B5EF4-FFF2-40B4-BE49-F238E27FC236}">
                  <a16:creationId xmlns:a16="http://schemas.microsoft.com/office/drawing/2014/main" id="{956D5B6E-7F21-2F9F-FA35-C84E702A86BC}"/>
                </a:ext>
              </a:extLst>
            </p:cNvPr>
            <p:cNvGrpSpPr/>
            <p:nvPr/>
          </p:nvGrpSpPr>
          <p:grpSpPr>
            <a:xfrm>
              <a:off x="7663344" y="1865124"/>
              <a:ext cx="375756" cy="377410"/>
              <a:chOff x="4113213" y="2163763"/>
              <a:chExt cx="360363" cy="361950"/>
            </a:xfrm>
            <a:solidFill>
              <a:schemeClr val="accent2"/>
            </a:solidFill>
          </p:grpSpPr>
          <p:sp>
            <p:nvSpPr>
              <p:cNvPr id="155" name="Freeform 185">
                <a:extLst>
                  <a:ext uri="{FF2B5EF4-FFF2-40B4-BE49-F238E27FC236}">
                    <a16:creationId xmlns:a16="http://schemas.microsoft.com/office/drawing/2014/main" id="{9BA76403-B44D-C4D0-04BF-9938F46E7C6E}"/>
                  </a:ext>
                </a:extLst>
              </p:cNvPr>
              <p:cNvSpPr>
                <a:spLocks/>
              </p:cNvSpPr>
              <p:nvPr/>
            </p:nvSpPr>
            <p:spPr bwMode="auto">
              <a:xfrm>
                <a:off x="4314825" y="2382838"/>
                <a:ext cx="120650" cy="120650"/>
              </a:xfrm>
              <a:custGeom>
                <a:avLst/>
                <a:gdLst>
                  <a:gd name="T0" fmla="*/ 45 w 76"/>
                  <a:gd name="T1" fmla="*/ 0 h 76"/>
                  <a:gd name="T2" fmla="*/ 0 w 76"/>
                  <a:gd name="T3" fmla="*/ 45 h 76"/>
                  <a:gd name="T4" fmla="*/ 31 w 76"/>
                  <a:gd name="T5" fmla="*/ 76 h 76"/>
                  <a:gd name="T6" fmla="*/ 76 w 76"/>
                  <a:gd name="T7" fmla="*/ 30 h 76"/>
                  <a:gd name="T8" fmla="*/ 45 w 76"/>
                  <a:gd name="T9" fmla="*/ 0 h 76"/>
                </a:gdLst>
                <a:ahLst/>
                <a:cxnLst>
                  <a:cxn ang="0">
                    <a:pos x="T0" y="T1"/>
                  </a:cxn>
                  <a:cxn ang="0">
                    <a:pos x="T2" y="T3"/>
                  </a:cxn>
                  <a:cxn ang="0">
                    <a:pos x="T4" y="T5"/>
                  </a:cxn>
                  <a:cxn ang="0">
                    <a:pos x="T6" y="T7"/>
                  </a:cxn>
                  <a:cxn ang="0">
                    <a:pos x="T8" y="T9"/>
                  </a:cxn>
                </a:cxnLst>
                <a:rect l="0" t="0" r="r" b="b"/>
                <a:pathLst>
                  <a:path w="76" h="76">
                    <a:moveTo>
                      <a:pt x="45" y="0"/>
                    </a:moveTo>
                    <a:lnTo>
                      <a:pt x="0" y="45"/>
                    </a:lnTo>
                    <a:lnTo>
                      <a:pt x="31" y="76"/>
                    </a:lnTo>
                    <a:lnTo>
                      <a:pt x="76" y="30"/>
                    </a:lnTo>
                    <a:lnTo>
                      <a:pt x="4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56" name="Freeform 186">
                <a:extLst>
                  <a:ext uri="{FF2B5EF4-FFF2-40B4-BE49-F238E27FC236}">
                    <a16:creationId xmlns:a16="http://schemas.microsoft.com/office/drawing/2014/main" id="{B80A3CCF-F6AE-973C-B368-A2B5D6D86267}"/>
                  </a:ext>
                </a:extLst>
              </p:cNvPr>
              <p:cNvSpPr>
                <a:spLocks/>
              </p:cNvSpPr>
              <p:nvPr/>
            </p:nvSpPr>
            <p:spPr bwMode="auto">
              <a:xfrm>
                <a:off x="4292600" y="2468563"/>
                <a:ext cx="57150" cy="57150"/>
              </a:xfrm>
              <a:custGeom>
                <a:avLst/>
                <a:gdLst>
                  <a:gd name="T0" fmla="*/ 4 w 15"/>
                  <a:gd name="T1" fmla="*/ 0 h 15"/>
                  <a:gd name="T2" fmla="*/ 0 w 15"/>
                  <a:gd name="T3" fmla="*/ 12 h 15"/>
                  <a:gd name="T4" fmla="*/ 1 w 15"/>
                  <a:gd name="T5" fmla="*/ 14 h 15"/>
                  <a:gd name="T6" fmla="*/ 2 w 15"/>
                  <a:gd name="T7" fmla="*/ 15 h 15"/>
                  <a:gd name="T8" fmla="*/ 3 w 15"/>
                  <a:gd name="T9" fmla="*/ 15 h 15"/>
                  <a:gd name="T10" fmla="*/ 15 w 15"/>
                  <a:gd name="T11" fmla="*/ 11 h 15"/>
                  <a:gd name="T12" fmla="*/ 4 w 15"/>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15" h="15">
                    <a:moveTo>
                      <a:pt x="4" y="0"/>
                    </a:moveTo>
                    <a:cubicBezTo>
                      <a:pt x="0" y="12"/>
                      <a:pt x="0" y="12"/>
                      <a:pt x="0" y="12"/>
                    </a:cubicBezTo>
                    <a:cubicBezTo>
                      <a:pt x="0" y="13"/>
                      <a:pt x="0" y="14"/>
                      <a:pt x="1" y="14"/>
                    </a:cubicBezTo>
                    <a:cubicBezTo>
                      <a:pt x="1" y="15"/>
                      <a:pt x="1" y="15"/>
                      <a:pt x="2" y="15"/>
                    </a:cubicBezTo>
                    <a:cubicBezTo>
                      <a:pt x="2" y="15"/>
                      <a:pt x="2" y="15"/>
                      <a:pt x="3" y="15"/>
                    </a:cubicBezTo>
                    <a:cubicBezTo>
                      <a:pt x="15" y="11"/>
                      <a:pt x="15" y="11"/>
                      <a:pt x="15" y="11"/>
                    </a:cubicBezTo>
                    <a:lnTo>
                      <a:pt x="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57" name="Freeform 187">
                <a:extLst>
                  <a:ext uri="{FF2B5EF4-FFF2-40B4-BE49-F238E27FC236}">
                    <a16:creationId xmlns:a16="http://schemas.microsoft.com/office/drawing/2014/main" id="{F6E624B4-9785-1648-0723-4937975DE39C}"/>
                  </a:ext>
                </a:extLst>
              </p:cNvPr>
              <p:cNvSpPr>
                <a:spLocks/>
              </p:cNvSpPr>
              <p:nvPr/>
            </p:nvSpPr>
            <p:spPr bwMode="auto">
              <a:xfrm>
                <a:off x="4398963" y="2344738"/>
                <a:ext cx="74613" cy="74613"/>
              </a:xfrm>
              <a:custGeom>
                <a:avLst/>
                <a:gdLst>
                  <a:gd name="T0" fmla="*/ 19 w 20"/>
                  <a:gd name="T1" fmla="*/ 11 h 20"/>
                  <a:gd name="T2" fmla="*/ 9 w 20"/>
                  <a:gd name="T3" fmla="*/ 1 h 20"/>
                  <a:gd name="T4" fmla="*/ 7 w 20"/>
                  <a:gd name="T5" fmla="*/ 1 h 20"/>
                  <a:gd name="T6" fmla="*/ 0 w 20"/>
                  <a:gd name="T7" fmla="*/ 7 h 20"/>
                  <a:gd name="T8" fmla="*/ 13 w 20"/>
                  <a:gd name="T9" fmla="*/ 20 h 20"/>
                  <a:gd name="T10" fmla="*/ 19 w 20"/>
                  <a:gd name="T11" fmla="*/ 13 h 20"/>
                  <a:gd name="T12" fmla="*/ 19 w 20"/>
                  <a:gd name="T13" fmla="*/ 11 h 20"/>
                </a:gdLst>
                <a:ahLst/>
                <a:cxnLst>
                  <a:cxn ang="0">
                    <a:pos x="T0" y="T1"/>
                  </a:cxn>
                  <a:cxn ang="0">
                    <a:pos x="T2" y="T3"/>
                  </a:cxn>
                  <a:cxn ang="0">
                    <a:pos x="T4" y="T5"/>
                  </a:cxn>
                  <a:cxn ang="0">
                    <a:pos x="T6" y="T7"/>
                  </a:cxn>
                  <a:cxn ang="0">
                    <a:pos x="T8" y="T9"/>
                  </a:cxn>
                  <a:cxn ang="0">
                    <a:pos x="T10" y="T11"/>
                  </a:cxn>
                  <a:cxn ang="0">
                    <a:pos x="T12" y="T13"/>
                  </a:cxn>
                </a:cxnLst>
                <a:rect l="0" t="0" r="r" b="b"/>
                <a:pathLst>
                  <a:path w="20" h="20">
                    <a:moveTo>
                      <a:pt x="19" y="11"/>
                    </a:moveTo>
                    <a:cubicBezTo>
                      <a:pt x="9" y="1"/>
                      <a:pt x="9" y="1"/>
                      <a:pt x="9" y="1"/>
                    </a:cubicBezTo>
                    <a:cubicBezTo>
                      <a:pt x="9" y="0"/>
                      <a:pt x="7" y="0"/>
                      <a:pt x="7" y="1"/>
                    </a:cubicBezTo>
                    <a:cubicBezTo>
                      <a:pt x="0" y="7"/>
                      <a:pt x="0" y="7"/>
                      <a:pt x="0" y="7"/>
                    </a:cubicBezTo>
                    <a:cubicBezTo>
                      <a:pt x="13" y="20"/>
                      <a:pt x="13" y="20"/>
                      <a:pt x="13" y="20"/>
                    </a:cubicBezTo>
                    <a:cubicBezTo>
                      <a:pt x="19" y="13"/>
                      <a:pt x="19" y="13"/>
                      <a:pt x="19" y="13"/>
                    </a:cubicBezTo>
                    <a:cubicBezTo>
                      <a:pt x="20" y="13"/>
                      <a:pt x="20" y="11"/>
                      <a:pt x="1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58" name="Freeform 188">
                <a:extLst>
                  <a:ext uri="{FF2B5EF4-FFF2-40B4-BE49-F238E27FC236}">
                    <a16:creationId xmlns:a16="http://schemas.microsoft.com/office/drawing/2014/main" id="{48B045C0-AFC0-563E-EB05-0D3A2D3E197A}"/>
                  </a:ext>
                </a:extLst>
              </p:cNvPr>
              <p:cNvSpPr>
                <a:spLocks noEditPoints="1"/>
              </p:cNvSpPr>
              <p:nvPr/>
            </p:nvSpPr>
            <p:spPr bwMode="auto">
              <a:xfrm>
                <a:off x="4113213" y="2163763"/>
                <a:ext cx="255588" cy="331788"/>
              </a:xfrm>
              <a:custGeom>
                <a:avLst/>
                <a:gdLst>
                  <a:gd name="T0" fmla="*/ 48 w 68"/>
                  <a:gd name="T1" fmla="*/ 78 h 88"/>
                  <a:gd name="T2" fmla="*/ 50 w 68"/>
                  <a:gd name="T3" fmla="*/ 76 h 88"/>
                  <a:gd name="T4" fmla="*/ 68 w 68"/>
                  <a:gd name="T5" fmla="*/ 58 h 88"/>
                  <a:gd name="T6" fmla="*/ 68 w 68"/>
                  <a:gd name="T7" fmla="*/ 22 h 88"/>
                  <a:gd name="T8" fmla="*/ 67 w 68"/>
                  <a:gd name="T9" fmla="*/ 21 h 88"/>
                  <a:gd name="T10" fmla="*/ 47 w 68"/>
                  <a:gd name="T11" fmla="*/ 1 h 88"/>
                  <a:gd name="T12" fmla="*/ 46 w 68"/>
                  <a:gd name="T13" fmla="*/ 0 h 88"/>
                  <a:gd name="T14" fmla="*/ 2 w 68"/>
                  <a:gd name="T15" fmla="*/ 0 h 88"/>
                  <a:gd name="T16" fmla="*/ 0 w 68"/>
                  <a:gd name="T17" fmla="*/ 2 h 88"/>
                  <a:gd name="T18" fmla="*/ 0 w 68"/>
                  <a:gd name="T19" fmla="*/ 86 h 88"/>
                  <a:gd name="T20" fmla="*/ 2 w 68"/>
                  <a:gd name="T21" fmla="*/ 88 h 88"/>
                  <a:gd name="T22" fmla="*/ 45 w 68"/>
                  <a:gd name="T23" fmla="*/ 88 h 88"/>
                  <a:gd name="T24" fmla="*/ 48 w 68"/>
                  <a:gd name="T25" fmla="*/ 78 h 88"/>
                  <a:gd name="T26" fmla="*/ 46 w 68"/>
                  <a:gd name="T27" fmla="*/ 2 h 88"/>
                  <a:gd name="T28" fmla="*/ 66 w 68"/>
                  <a:gd name="T29" fmla="*/ 22 h 88"/>
                  <a:gd name="T30" fmla="*/ 46 w 68"/>
                  <a:gd name="T31" fmla="*/ 22 h 88"/>
                  <a:gd name="T32" fmla="*/ 46 w 68"/>
                  <a:gd name="T33" fmla="*/ 2 h 88"/>
                  <a:gd name="T34" fmla="*/ 36 w 68"/>
                  <a:gd name="T35" fmla="*/ 40 h 88"/>
                  <a:gd name="T36" fmla="*/ 52 w 68"/>
                  <a:gd name="T37" fmla="*/ 40 h 88"/>
                  <a:gd name="T38" fmla="*/ 54 w 68"/>
                  <a:gd name="T39" fmla="*/ 42 h 88"/>
                  <a:gd name="T40" fmla="*/ 52 w 68"/>
                  <a:gd name="T41" fmla="*/ 44 h 88"/>
                  <a:gd name="T42" fmla="*/ 36 w 68"/>
                  <a:gd name="T43" fmla="*/ 44 h 88"/>
                  <a:gd name="T44" fmla="*/ 34 w 68"/>
                  <a:gd name="T45" fmla="*/ 42 h 88"/>
                  <a:gd name="T46" fmla="*/ 36 w 68"/>
                  <a:gd name="T47" fmla="*/ 40 h 88"/>
                  <a:gd name="T48" fmla="*/ 31 w 68"/>
                  <a:gd name="T49" fmla="*/ 51 h 88"/>
                  <a:gd name="T50" fmla="*/ 21 w 68"/>
                  <a:gd name="T51" fmla="*/ 61 h 88"/>
                  <a:gd name="T52" fmla="*/ 20 w 68"/>
                  <a:gd name="T53" fmla="*/ 62 h 88"/>
                  <a:gd name="T54" fmla="*/ 19 w 68"/>
                  <a:gd name="T55" fmla="*/ 61 h 88"/>
                  <a:gd name="T56" fmla="*/ 13 w 68"/>
                  <a:gd name="T57" fmla="*/ 55 h 88"/>
                  <a:gd name="T58" fmla="*/ 13 w 68"/>
                  <a:gd name="T59" fmla="*/ 53 h 88"/>
                  <a:gd name="T60" fmla="*/ 15 w 68"/>
                  <a:gd name="T61" fmla="*/ 53 h 88"/>
                  <a:gd name="T62" fmla="*/ 20 w 68"/>
                  <a:gd name="T63" fmla="*/ 57 h 88"/>
                  <a:gd name="T64" fmla="*/ 29 w 68"/>
                  <a:gd name="T65" fmla="*/ 49 h 88"/>
                  <a:gd name="T66" fmla="*/ 31 w 68"/>
                  <a:gd name="T67" fmla="*/ 49 h 88"/>
                  <a:gd name="T68" fmla="*/ 31 w 68"/>
                  <a:gd name="T69" fmla="*/ 51 h 88"/>
                  <a:gd name="T70" fmla="*/ 31 w 68"/>
                  <a:gd name="T71" fmla="*/ 35 h 88"/>
                  <a:gd name="T72" fmla="*/ 21 w 68"/>
                  <a:gd name="T73" fmla="*/ 45 h 88"/>
                  <a:gd name="T74" fmla="*/ 20 w 68"/>
                  <a:gd name="T75" fmla="*/ 46 h 88"/>
                  <a:gd name="T76" fmla="*/ 19 w 68"/>
                  <a:gd name="T77" fmla="*/ 45 h 88"/>
                  <a:gd name="T78" fmla="*/ 13 w 68"/>
                  <a:gd name="T79" fmla="*/ 39 h 88"/>
                  <a:gd name="T80" fmla="*/ 13 w 68"/>
                  <a:gd name="T81" fmla="*/ 37 h 88"/>
                  <a:gd name="T82" fmla="*/ 15 w 68"/>
                  <a:gd name="T83" fmla="*/ 37 h 88"/>
                  <a:gd name="T84" fmla="*/ 20 w 68"/>
                  <a:gd name="T85" fmla="*/ 41 h 88"/>
                  <a:gd name="T86" fmla="*/ 29 w 68"/>
                  <a:gd name="T87" fmla="*/ 33 h 88"/>
                  <a:gd name="T88" fmla="*/ 31 w 68"/>
                  <a:gd name="T89" fmla="*/ 33 h 88"/>
                  <a:gd name="T90" fmla="*/ 31 w 68"/>
                  <a:gd name="T91" fmla="*/ 35 h 88"/>
                  <a:gd name="T92" fmla="*/ 34 w 68"/>
                  <a:gd name="T93" fmla="*/ 58 h 88"/>
                  <a:gd name="T94" fmla="*/ 36 w 68"/>
                  <a:gd name="T95" fmla="*/ 56 h 88"/>
                  <a:gd name="T96" fmla="*/ 52 w 68"/>
                  <a:gd name="T97" fmla="*/ 56 h 88"/>
                  <a:gd name="T98" fmla="*/ 54 w 68"/>
                  <a:gd name="T99" fmla="*/ 58 h 88"/>
                  <a:gd name="T100" fmla="*/ 52 w 68"/>
                  <a:gd name="T101" fmla="*/ 60 h 88"/>
                  <a:gd name="T102" fmla="*/ 36 w 68"/>
                  <a:gd name="T103" fmla="*/ 60 h 88"/>
                  <a:gd name="T104" fmla="*/ 34 w 68"/>
                  <a:gd name="T105" fmla="*/ 5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8" h="88">
                    <a:moveTo>
                      <a:pt x="48" y="78"/>
                    </a:moveTo>
                    <a:cubicBezTo>
                      <a:pt x="49" y="77"/>
                      <a:pt x="49" y="76"/>
                      <a:pt x="50" y="76"/>
                    </a:cubicBezTo>
                    <a:cubicBezTo>
                      <a:pt x="68" y="58"/>
                      <a:pt x="68" y="58"/>
                      <a:pt x="68" y="58"/>
                    </a:cubicBezTo>
                    <a:cubicBezTo>
                      <a:pt x="68" y="22"/>
                      <a:pt x="68" y="22"/>
                      <a:pt x="68" y="22"/>
                    </a:cubicBezTo>
                    <a:cubicBezTo>
                      <a:pt x="68" y="21"/>
                      <a:pt x="68" y="21"/>
                      <a:pt x="67" y="21"/>
                    </a:cubicBezTo>
                    <a:cubicBezTo>
                      <a:pt x="47" y="1"/>
                      <a:pt x="47" y="1"/>
                      <a:pt x="47" y="1"/>
                    </a:cubicBezTo>
                    <a:cubicBezTo>
                      <a:pt x="47" y="0"/>
                      <a:pt x="47" y="0"/>
                      <a:pt x="46" y="0"/>
                    </a:cubicBezTo>
                    <a:cubicBezTo>
                      <a:pt x="2" y="0"/>
                      <a:pt x="2" y="0"/>
                      <a:pt x="2" y="0"/>
                    </a:cubicBezTo>
                    <a:cubicBezTo>
                      <a:pt x="1" y="0"/>
                      <a:pt x="0" y="1"/>
                      <a:pt x="0" y="2"/>
                    </a:cubicBezTo>
                    <a:cubicBezTo>
                      <a:pt x="0" y="86"/>
                      <a:pt x="0" y="86"/>
                      <a:pt x="0" y="86"/>
                    </a:cubicBezTo>
                    <a:cubicBezTo>
                      <a:pt x="0" y="87"/>
                      <a:pt x="1" y="88"/>
                      <a:pt x="2" y="88"/>
                    </a:cubicBezTo>
                    <a:cubicBezTo>
                      <a:pt x="45" y="88"/>
                      <a:pt x="45" y="88"/>
                      <a:pt x="45" y="88"/>
                    </a:cubicBezTo>
                    <a:lnTo>
                      <a:pt x="48" y="78"/>
                    </a:lnTo>
                    <a:close/>
                    <a:moveTo>
                      <a:pt x="46" y="2"/>
                    </a:moveTo>
                    <a:cubicBezTo>
                      <a:pt x="66" y="22"/>
                      <a:pt x="66" y="22"/>
                      <a:pt x="66" y="22"/>
                    </a:cubicBezTo>
                    <a:cubicBezTo>
                      <a:pt x="46" y="22"/>
                      <a:pt x="46" y="22"/>
                      <a:pt x="46" y="22"/>
                    </a:cubicBezTo>
                    <a:lnTo>
                      <a:pt x="46" y="2"/>
                    </a:lnTo>
                    <a:close/>
                    <a:moveTo>
                      <a:pt x="36" y="40"/>
                    </a:moveTo>
                    <a:cubicBezTo>
                      <a:pt x="52" y="40"/>
                      <a:pt x="52" y="40"/>
                      <a:pt x="52" y="40"/>
                    </a:cubicBezTo>
                    <a:cubicBezTo>
                      <a:pt x="53" y="40"/>
                      <a:pt x="54" y="41"/>
                      <a:pt x="54" y="42"/>
                    </a:cubicBezTo>
                    <a:cubicBezTo>
                      <a:pt x="54" y="43"/>
                      <a:pt x="53" y="44"/>
                      <a:pt x="52" y="44"/>
                    </a:cubicBezTo>
                    <a:cubicBezTo>
                      <a:pt x="36" y="44"/>
                      <a:pt x="36" y="44"/>
                      <a:pt x="36" y="44"/>
                    </a:cubicBezTo>
                    <a:cubicBezTo>
                      <a:pt x="35" y="44"/>
                      <a:pt x="34" y="43"/>
                      <a:pt x="34" y="42"/>
                    </a:cubicBezTo>
                    <a:cubicBezTo>
                      <a:pt x="34" y="41"/>
                      <a:pt x="35" y="40"/>
                      <a:pt x="36" y="40"/>
                    </a:cubicBezTo>
                    <a:close/>
                    <a:moveTo>
                      <a:pt x="31" y="51"/>
                    </a:moveTo>
                    <a:cubicBezTo>
                      <a:pt x="21" y="61"/>
                      <a:pt x="21" y="61"/>
                      <a:pt x="21" y="61"/>
                    </a:cubicBezTo>
                    <a:cubicBezTo>
                      <a:pt x="21" y="62"/>
                      <a:pt x="21" y="62"/>
                      <a:pt x="20" y="62"/>
                    </a:cubicBezTo>
                    <a:cubicBezTo>
                      <a:pt x="19" y="62"/>
                      <a:pt x="19" y="62"/>
                      <a:pt x="19" y="61"/>
                    </a:cubicBezTo>
                    <a:cubicBezTo>
                      <a:pt x="13" y="55"/>
                      <a:pt x="13" y="55"/>
                      <a:pt x="13" y="55"/>
                    </a:cubicBezTo>
                    <a:cubicBezTo>
                      <a:pt x="12" y="55"/>
                      <a:pt x="12" y="53"/>
                      <a:pt x="13" y="53"/>
                    </a:cubicBezTo>
                    <a:cubicBezTo>
                      <a:pt x="13" y="52"/>
                      <a:pt x="15" y="52"/>
                      <a:pt x="15" y="53"/>
                    </a:cubicBezTo>
                    <a:cubicBezTo>
                      <a:pt x="20" y="57"/>
                      <a:pt x="20" y="57"/>
                      <a:pt x="20" y="57"/>
                    </a:cubicBezTo>
                    <a:cubicBezTo>
                      <a:pt x="29" y="49"/>
                      <a:pt x="29" y="49"/>
                      <a:pt x="29" y="49"/>
                    </a:cubicBezTo>
                    <a:cubicBezTo>
                      <a:pt x="29" y="48"/>
                      <a:pt x="31" y="48"/>
                      <a:pt x="31" y="49"/>
                    </a:cubicBezTo>
                    <a:cubicBezTo>
                      <a:pt x="32" y="49"/>
                      <a:pt x="32" y="51"/>
                      <a:pt x="31" y="51"/>
                    </a:cubicBezTo>
                    <a:close/>
                    <a:moveTo>
                      <a:pt x="31" y="35"/>
                    </a:moveTo>
                    <a:cubicBezTo>
                      <a:pt x="21" y="45"/>
                      <a:pt x="21" y="45"/>
                      <a:pt x="21" y="45"/>
                    </a:cubicBezTo>
                    <a:cubicBezTo>
                      <a:pt x="21" y="46"/>
                      <a:pt x="21" y="46"/>
                      <a:pt x="20" y="46"/>
                    </a:cubicBezTo>
                    <a:cubicBezTo>
                      <a:pt x="19" y="46"/>
                      <a:pt x="19" y="46"/>
                      <a:pt x="19" y="45"/>
                    </a:cubicBezTo>
                    <a:cubicBezTo>
                      <a:pt x="13" y="39"/>
                      <a:pt x="13" y="39"/>
                      <a:pt x="13" y="39"/>
                    </a:cubicBezTo>
                    <a:cubicBezTo>
                      <a:pt x="12" y="39"/>
                      <a:pt x="12" y="37"/>
                      <a:pt x="13" y="37"/>
                    </a:cubicBezTo>
                    <a:cubicBezTo>
                      <a:pt x="13" y="36"/>
                      <a:pt x="15" y="36"/>
                      <a:pt x="15" y="37"/>
                    </a:cubicBezTo>
                    <a:cubicBezTo>
                      <a:pt x="20" y="41"/>
                      <a:pt x="20" y="41"/>
                      <a:pt x="20" y="41"/>
                    </a:cubicBezTo>
                    <a:cubicBezTo>
                      <a:pt x="29" y="33"/>
                      <a:pt x="29" y="33"/>
                      <a:pt x="29" y="33"/>
                    </a:cubicBezTo>
                    <a:cubicBezTo>
                      <a:pt x="29" y="32"/>
                      <a:pt x="31" y="32"/>
                      <a:pt x="31" y="33"/>
                    </a:cubicBezTo>
                    <a:cubicBezTo>
                      <a:pt x="32" y="33"/>
                      <a:pt x="32" y="35"/>
                      <a:pt x="31" y="35"/>
                    </a:cubicBezTo>
                    <a:close/>
                    <a:moveTo>
                      <a:pt x="34" y="58"/>
                    </a:moveTo>
                    <a:cubicBezTo>
                      <a:pt x="34" y="57"/>
                      <a:pt x="35" y="56"/>
                      <a:pt x="36" y="56"/>
                    </a:cubicBezTo>
                    <a:cubicBezTo>
                      <a:pt x="52" y="56"/>
                      <a:pt x="52" y="56"/>
                      <a:pt x="52" y="56"/>
                    </a:cubicBezTo>
                    <a:cubicBezTo>
                      <a:pt x="53" y="56"/>
                      <a:pt x="54" y="57"/>
                      <a:pt x="54" y="58"/>
                    </a:cubicBezTo>
                    <a:cubicBezTo>
                      <a:pt x="54" y="59"/>
                      <a:pt x="53" y="60"/>
                      <a:pt x="52" y="60"/>
                    </a:cubicBezTo>
                    <a:cubicBezTo>
                      <a:pt x="36" y="60"/>
                      <a:pt x="36" y="60"/>
                      <a:pt x="36" y="60"/>
                    </a:cubicBezTo>
                    <a:cubicBezTo>
                      <a:pt x="35" y="60"/>
                      <a:pt x="34" y="59"/>
                      <a:pt x="34"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grpSp>
        <p:nvGrpSpPr>
          <p:cNvPr id="162" name="Group 161">
            <a:extLst>
              <a:ext uri="{FF2B5EF4-FFF2-40B4-BE49-F238E27FC236}">
                <a16:creationId xmlns:a16="http://schemas.microsoft.com/office/drawing/2014/main" id="{5FC9EF2C-BF33-C176-61AB-7D8E70E207B5}"/>
              </a:ext>
            </a:extLst>
          </p:cNvPr>
          <p:cNvGrpSpPr/>
          <p:nvPr/>
        </p:nvGrpSpPr>
        <p:grpSpPr>
          <a:xfrm>
            <a:off x="11265274" y="5587800"/>
            <a:ext cx="776347" cy="705770"/>
            <a:chOff x="7282897" y="4883547"/>
            <a:chExt cx="1136650" cy="1136650"/>
          </a:xfrm>
        </p:grpSpPr>
        <p:grpSp>
          <p:nvGrpSpPr>
            <p:cNvPr id="163" name="Group 162">
              <a:extLst>
                <a:ext uri="{FF2B5EF4-FFF2-40B4-BE49-F238E27FC236}">
                  <a16:creationId xmlns:a16="http://schemas.microsoft.com/office/drawing/2014/main" id="{0D0BE109-7A79-9A13-2EBF-7D1C95D36CC5}"/>
                </a:ext>
              </a:extLst>
            </p:cNvPr>
            <p:cNvGrpSpPr/>
            <p:nvPr/>
          </p:nvGrpSpPr>
          <p:grpSpPr>
            <a:xfrm flipH="1" flipV="1">
              <a:off x="7282897" y="4883547"/>
              <a:ext cx="1136650" cy="1136650"/>
              <a:chOff x="3944620" y="1307126"/>
              <a:chExt cx="1021080" cy="1021080"/>
            </a:xfrm>
          </p:grpSpPr>
          <p:sp>
            <p:nvSpPr>
              <p:cNvPr id="168" name="Oval 167">
                <a:extLst>
                  <a:ext uri="{FF2B5EF4-FFF2-40B4-BE49-F238E27FC236}">
                    <a16:creationId xmlns:a16="http://schemas.microsoft.com/office/drawing/2014/main" id="{0BB88D9D-6832-5F5E-B117-BAE2F3773AF1}"/>
                  </a:ext>
                </a:extLst>
              </p:cNvPr>
              <p:cNvSpPr/>
              <p:nvPr/>
            </p:nvSpPr>
            <p:spPr>
              <a:xfrm>
                <a:off x="3944620" y="1307126"/>
                <a:ext cx="1021080" cy="1021080"/>
              </a:xfrm>
              <a:prstGeom prst="ellipse">
                <a:avLst/>
              </a:prstGeom>
              <a:solidFill>
                <a:schemeClr val="accent4"/>
              </a:solidFill>
              <a:ln>
                <a:noFill/>
              </a:ln>
              <a:effectLst>
                <a:outerShdw blurRad="1016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Oval 168">
                <a:extLst>
                  <a:ext uri="{FF2B5EF4-FFF2-40B4-BE49-F238E27FC236}">
                    <a16:creationId xmlns:a16="http://schemas.microsoft.com/office/drawing/2014/main" id="{D3CA2FF8-5BCD-6D39-9BC2-1991C36887AE}"/>
                  </a:ext>
                </a:extLst>
              </p:cNvPr>
              <p:cNvSpPr/>
              <p:nvPr/>
            </p:nvSpPr>
            <p:spPr>
              <a:xfrm>
                <a:off x="4071313" y="1433819"/>
                <a:ext cx="767694" cy="767694"/>
              </a:xfrm>
              <a:prstGeom prst="ellipse">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4" name="Group 163">
              <a:extLst>
                <a:ext uri="{FF2B5EF4-FFF2-40B4-BE49-F238E27FC236}">
                  <a16:creationId xmlns:a16="http://schemas.microsoft.com/office/drawing/2014/main" id="{EEE7DCC5-9E32-3690-79EC-0E5E06A57F8C}"/>
                </a:ext>
              </a:extLst>
            </p:cNvPr>
            <p:cNvGrpSpPr/>
            <p:nvPr/>
          </p:nvGrpSpPr>
          <p:grpSpPr>
            <a:xfrm>
              <a:off x="7653511" y="5252404"/>
              <a:ext cx="395422" cy="398937"/>
              <a:chOff x="4833938" y="5051425"/>
              <a:chExt cx="357188" cy="360363"/>
            </a:xfrm>
            <a:solidFill>
              <a:schemeClr val="accent4"/>
            </a:solidFill>
          </p:grpSpPr>
          <p:sp>
            <p:nvSpPr>
              <p:cNvPr id="165" name="Freeform 217">
                <a:extLst>
                  <a:ext uri="{FF2B5EF4-FFF2-40B4-BE49-F238E27FC236}">
                    <a16:creationId xmlns:a16="http://schemas.microsoft.com/office/drawing/2014/main" id="{DE418375-9022-71EB-54BD-4B6D48D9BCBC}"/>
                  </a:ext>
                </a:extLst>
              </p:cNvPr>
              <p:cNvSpPr>
                <a:spLocks/>
              </p:cNvSpPr>
              <p:nvPr/>
            </p:nvSpPr>
            <p:spPr bwMode="auto">
              <a:xfrm>
                <a:off x="5062538" y="5281613"/>
                <a:ext cx="128588" cy="130175"/>
              </a:xfrm>
              <a:custGeom>
                <a:avLst/>
                <a:gdLst>
                  <a:gd name="T0" fmla="*/ 34 w 34"/>
                  <a:gd name="T1" fmla="*/ 20 h 35"/>
                  <a:gd name="T2" fmla="*/ 22 w 34"/>
                  <a:gd name="T3" fmla="*/ 0 h 35"/>
                  <a:gd name="T4" fmla="*/ 0 w 34"/>
                  <a:gd name="T5" fmla="*/ 17 h 35"/>
                  <a:gd name="T6" fmla="*/ 10 w 34"/>
                  <a:gd name="T7" fmla="*/ 34 h 35"/>
                  <a:gd name="T8" fmla="*/ 12 w 34"/>
                  <a:gd name="T9" fmla="*/ 35 h 35"/>
                  <a:gd name="T10" fmla="*/ 12 w 34"/>
                  <a:gd name="T11" fmla="*/ 35 h 35"/>
                  <a:gd name="T12" fmla="*/ 13 w 34"/>
                  <a:gd name="T13" fmla="*/ 34 h 35"/>
                  <a:gd name="T14" fmla="*/ 18 w 34"/>
                  <a:gd name="T15" fmla="*/ 21 h 35"/>
                  <a:gd name="T16" fmla="*/ 32 w 34"/>
                  <a:gd name="T17" fmla="*/ 23 h 35"/>
                  <a:gd name="T18" fmla="*/ 34 w 34"/>
                  <a:gd name="T19" fmla="*/ 22 h 35"/>
                  <a:gd name="T20" fmla="*/ 34 w 34"/>
                  <a:gd name="T21" fmla="*/ 2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 h="35">
                    <a:moveTo>
                      <a:pt x="34" y="20"/>
                    </a:moveTo>
                    <a:cubicBezTo>
                      <a:pt x="22" y="0"/>
                      <a:pt x="22" y="0"/>
                      <a:pt x="22" y="0"/>
                    </a:cubicBezTo>
                    <a:cubicBezTo>
                      <a:pt x="17" y="8"/>
                      <a:pt x="9" y="14"/>
                      <a:pt x="0" y="17"/>
                    </a:cubicBezTo>
                    <a:cubicBezTo>
                      <a:pt x="10" y="34"/>
                      <a:pt x="10" y="34"/>
                      <a:pt x="10" y="34"/>
                    </a:cubicBezTo>
                    <a:cubicBezTo>
                      <a:pt x="10" y="35"/>
                      <a:pt x="11" y="35"/>
                      <a:pt x="12" y="35"/>
                    </a:cubicBezTo>
                    <a:cubicBezTo>
                      <a:pt x="12" y="35"/>
                      <a:pt x="12" y="35"/>
                      <a:pt x="12" y="35"/>
                    </a:cubicBezTo>
                    <a:cubicBezTo>
                      <a:pt x="13" y="35"/>
                      <a:pt x="13" y="34"/>
                      <a:pt x="13" y="34"/>
                    </a:cubicBezTo>
                    <a:cubicBezTo>
                      <a:pt x="18" y="21"/>
                      <a:pt x="18" y="21"/>
                      <a:pt x="18" y="21"/>
                    </a:cubicBezTo>
                    <a:cubicBezTo>
                      <a:pt x="32" y="23"/>
                      <a:pt x="32" y="23"/>
                      <a:pt x="32" y="23"/>
                    </a:cubicBezTo>
                    <a:cubicBezTo>
                      <a:pt x="33" y="23"/>
                      <a:pt x="34" y="23"/>
                      <a:pt x="34" y="22"/>
                    </a:cubicBezTo>
                    <a:cubicBezTo>
                      <a:pt x="34" y="21"/>
                      <a:pt x="34" y="21"/>
                      <a:pt x="34"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66" name="Freeform 218">
                <a:extLst>
                  <a:ext uri="{FF2B5EF4-FFF2-40B4-BE49-F238E27FC236}">
                    <a16:creationId xmlns:a16="http://schemas.microsoft.com/office/drawing/2014/main" id="{DA5B8BD9-762E-51CD-7005-DFC528F169F1}"/>
                  </a:ext>
                </a:extLst>
              </p:cNvPr>
              <p:cNvSpPr>
                <a:spLocks/>
              </p:cNvSpPr>
              <p:nvPr/>
            </p:nvSpPr>
            <p:spPr bwMode="auto">
              <a:xfrm>
                <a:off x="4833938" y="5276850"/>
                <a:ext cx="131763" cy="134938"/>
              </a:xfrm>
              <a:custGeom>
                <a:avLst/>
                <a:gdLst>
                  <a:gd name="T0" fmla="*/ 12 w 35"/>
                  <a:gd name="T1" fmla="*/ 0 h 36"/>
                  <a:gd name="T2" fmla="*/ 0 w 35"/>
                  <a:gd name="T3" fmla="*/ 21 h 36"/>
                  <a:gd name="T4" fmla="*/ 0 w 35"/>
                  <a:gd name="T5" fmla="*/ 23 h 36"/>
                  <a:gd name="T6" fmla="*/ 2 w 35"/>
                  <a:gd name="T7" fmla="*/ 24 h 36"/>
                  <a:gd name="T8" fmla="*/ 16 w 35"/>
                  <a:gd name="T9" fmla="*/ 22 h 36"/>
                  <a:gd name="T10" fmla="*/ 21 w 35"/>
                  <a:gd name="T11" fmla="*/ 35 h 36"/>
                  <a:gd name="T12" fmla="*/ 23 w 35"/>
                  <a:gd name="T13" fmla="*/ 36 h 36"/>
                  <a:gd name="T14" fmla="*/ 23 w 35"/>
                  <a:gd name="T15" fmla="*/ 36 h 36"/>
                  <a:gd name="T16" fmla="*/ 24 w 35"/>
                  <a:gd name="T17" fmla="*/ 35 h 36"/>
                  <a:gd name="T18" fmla="*/ 35 w 35"/>
                  <a:gd name="T19" fmla="*/ 18 h 36"/>
                  <a:gd name="T20" fmla="*/ 12 w 35"/>
                  <a:gd name="T21"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 h="36">
                    <a:moveTo>
                      <a:pt x="12" y="0"/>
                    </a:moveTo>
                    <a:cubicBezTo>
                      <a:pt x="0" y="21"/>
                      <a:pt x="0" y="21"/>
                      <a:pt x="0" y="21"/>
                    </a:cubicBezTo>
                    <a:cubicBezTo>
                      <a:pt x="0" y="22"/>
                      <a:pt x="0" y="22"/>
                      <a:pt x="0" y="23"/>
                    </a:cubicBezTo>
                    <a:cubicBezTo>
                      <a:pt x="1" y="24"/>
                      <a:pt x="2" y="24"/>
                      <a:pt x="2" y="24"/>
                    </a:cubicBezTo>
                    <a:cubicBezTo>
                      <a:pt x="16" y="22"/>
                      <a:pt x="16" y="22"/>
                      <a:pt x="16" y="22"/>
                    </a:cubicBezTo>
                    <a:cubicBezTo>
                      <a:pt x="21" y="35"/>
                      <a:pt x="21" y="35"/>
                      <a:pt x="21" y="35"/>
                    </a:cubicBezTo>
                    <a:cubicBezTo>
                      <a:pt x="21" y="35"/>
                      <a:pt x="22" y="36"/>
                      <a:pt x="23" y="36"/>
                    </a:cubicBezTo>
                    <a:cubicBezTo>
                      <a:pt x="23" y="36"/>
                      <a:pt x="23" y="36"/>
                      <a:pt x="23" y="36"/>
                    </a:cubicBezTo>
                    <a:cubicBezTo>
                      <a:pt x="23" y="36"/>
                      <a:pt x="24" y="36"/>
                      <a:pt x="24" y="35"/>
                    </a:cubicBezTo>
                    <a:cubicBezTo>
                      <a:pt x="35" y="18"/>
                      <a:pt x="35" y="18"/>
                      <a:pt x="35" y="18"/>
                    </a:cubicBezTo>
                    <a:cubicBezTo>
                      <a:pt x="25" y="15"/>
                      <a:pt x="17" y="8"/>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67" name="Freeform 219">
                <a:extLst>
                  <a:ext uri="{FF2B5EF4-FFF2-40B4-BE49-F238E27FC236}">
                    <a16:creationId xmlns:a16="http://schemas.microsoft.com/office/drawing/2014/main" id="{D3D63DD4-063A-88D9-8E4B-7B2A26D6C4F9}"/>
                  </a:ext>
                </a:extLst>
              </p:cNvPr>
              <p:cNvSpPr>
                <a:spLocks noEditPoints="1"/>
              </p:cNvSpPr>
              <p:nvPr/>
            </p:nvSpPr>
            <p:spPr bwMode="auto">
              <a:xfrm>
                <a:off x="4872038" y="5051425"/>
                <a:ext cx="285750" cy="285750"/>
              </a:xfrm>
              <a:custGeom>
                <a:avLst/>
                <a:gdLst>
                  <a:gd name="T0" fmla="*/ 38 w 76"/>
                  <a:gd name="T1" fmla="*/ 0 h 76"/>
                  <a:gd name="T2" fmla="*/ 0 w 76"/>
                  <a:gd name="T3" fmla="*/ 38 h 76"/>
                  <a:gd name="T4" fmla="*/ 38 w 76"/>
                  <a:gd name="T5" fmla="*/ 76 h 76"/>
                  <a:gd name="T6" fmla="*/ 76 w 76"/>
                  <a:gd name="T7" fmla="*/ 38 h 76"/>
                  <a:gd name="T8" fmla="*/ 38 w 76"/>
                  <a:gd name="T9" fmla="*/ 0 h 76"/>
                  <a:gd name="T10" fmla="*/ 55 w 76"/>
                  <a:gd name="T11" fmla="*/ 27 h 76"/>
                  <a:gd name="T12" fmla="*/ 35 w 76"/>
                  <a:gd name="T13" fmla="*/ 52 h 76"/>
                  <a:gd name="T14" fmla="*/ 34 w 76"/>
                  <a:gd name="T15" fmla="*/ 53 h 76"/>
                  <a:gd name="T16" fmla="*/ 33 w 76"/>
                  <a:gd name="T17" fmla="*/ 53 h 76"/>
                  <a:gd name="T18" fmla="*/ 32 w 76"/>
                  <a:gd name="T19" fmla="*/ 52 h 76"/>
                  <a:gd name="T20" fmla="*/ 21 w 76"/>
                  <a:gd name="T21" fmla="*/ 41 h 76"/>
                  <a:gd name="T22" fmla="*/ 21 w 76"/>
                  <a:gd name="T23" fmla="*/ 39 h 76"/>
                  <a:gd name="T24" fmla="*/ 24 w 76"/>
                  <a:gd name="T25" fmla="*/ 39 h 76"/>
                  <a:gd name="T26" fmla="*/ 33 w 76"/>
                  <a:gd name="T27" fmla="*/ 48 h 76"/>
                  <a:gd name="T28" fmla="*/ 52 w 76"/>
                  <a:gd name="T29" fmla="*/ 24 h 76"/>
                  <a:gd name="T30" fmla="*/ 54 w 76"/>
                  <a:gd name="T31" fmla="*/ 24 h 76"/>
                  <a:gd name="T32" fmla="*/ 55 w 76"/>
                  <a:gd name="T33" fmla="*/ 27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6" h="76">
                    <a:moveTo>
                      <a:pt x="38" y="0"/>
                    </a:moveTo>
                    <a:cubicBezTo>
                      <a:pt x="17" y="0"/>
                      <a:pt x="0" y="17"/>
                      <a:pt x="0" y="38"/>
                    </a:cubicBezTo>
                    <a:cubicBezTo>
                      <a:pt x="0" y="59"/>
                      <a:pt x="17" y="76"/>
                      <a:pt x="38" y="76"/>
                    </a:cubicBezTo>
                    <a:cubicBezTo>
                      <a:pt x="59" y="76"/>
                      <a:pt x="76" y="59"/>
                      <a:pt x="76" y="38"/>
                    </a:cubicBezTo>
                    <a:cubicBezTo>
                      <a:pt x="76" y="17"/>
                      <a:pt x="59" y="0"/>
                      <a:pt x="38" y="0"/>
                    </a:cubicBezTo>
                    <a:close/>
                    <a:moveTo>
                      <a:pt x="55" y="27"/>
                    </a:moveTo>
                    <a:cubicBezTo>
                      <a:pt x="35" y="52"/>
                      <a:pt x="35" y="52"/>
                      <a:pt x="35" y="52"/>
                    </a:cubicBezTo>
                    <a:cubicBezTo>
                      <a:pt x="35" y="52"/>
                      <a:pt x="34" y="53"/>
                      <a:pt x="34" y="53"/>
                    </a:cubicBezTo>
                    <a:cubicBezTo>
                      <a:pt x="33" y="53"/>
                      <a:pt x="33" y="53"/>
                      <a:pt x="33" y="53"/>
                    </a:cubicBezTo>
                    <a:cubicBezTo>
                      <a:pt x="33" y="53"/>
                      <a:pt x="32" y="52"/>
                      <a:pt x="32" y="52"/>
                    </a:cubicBezTo>
                    <a:cubicBezTo>
                      <a:pt x="21" y="41"/>
                      <a:pt x="21" y="41"/>
                      <a:pt x="21" y="41"/>
                    </a:cubicBezTo>
                    <a:cubicBezTo>
                      <a:pt x="21" y="41"/>
                      <a:pt x="21" y="39"/>
                      <a:pt x="21" y="39"/>
                    </a:cubicBezTo>
                    <a:cubicBezTo>
                      <a:pt x="22" y="38"/>
                      <a:pt x="23" y="38"/>
                      <a:pt x="24" y="39"/>
                    </a:cubicBezTo>
                    <a:cubicBezTo>
                      <a:pt x="33" y="48"/>
                      <a:pt x="33" y="48"/>
                      <a:pt x="33" y="48"/>
                    </a:cubicBezTo>
                    <a:cubicBezTo>
                      <a:pt x="52" y="24"/>
                      <a:pt x="52" y="24"/>
                      <a:pt x="52" y="24"/>
                    </a:cubicBezTo>
                    <a:cubicBezTo>
                      <a:pt x="52" y="23"/>
                      <a:pt x="54" y="23"/>
                      <a:pt x="54" y="24"/>
                    </a:cubicBezTo>
                    <a:cubicBezTo>
                      <a:pt x="55" y="25"/>
                      <a:pt x="55" y="26"/>
                      <a:pt x="55"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grpSp>
        <p:nvGrpSpPr>
          <p:cNvPr id="170" name="Group 169">
            <a:extLst>
              <a:ext uri="{FF2B5EF4-FFF2-40B4-BE49-F238E27FC236}">
                <a16:creationId xmlns:a16="http://schemas.microsoft.com/office/drawing/2014/main" id="{4C42AF5B-8D1B-0494-1128-10BE3EB47D1F}"/>
              </a:ext>
            </a:extLst>
          </p:cNvPr>
          <p:cNvGrpSpPr/>
          <p:nvPr/>
        </p:nvGrpSpPr>
        <p:grpSpPr>
          <a:xfrm>
            <a:off x="8116415" y="5587309"/>
            <a:ext cx="776347" cy="705770"/>
            <a:chOff x="3772535" y="4883547"/>
            <a:chExt cx="1136650" cy="1136650"/>
          </a:xfrm>
        </p:grpSpPr>
        <p:grpSp>
          <p:nvGrpSpPr>
            <p:cNvPr id="172" name="Group 171">
              <a:extLst>
                <a:ext uri="{FF2B5EF4-FFF2-40B4-BE49-F238E27FC236}">
                  <a16:creationId xmlns:a16="http://schemas.microsoft.com/office/drawing/2014/main" id="{6DCC8EFF-905C-F229-E2D0-530D4F470B01}"/>
                </a:ext>
              </a:extLst>
            </p:cNvPr>
            <p:cNvGrpSpPr/>
            <p:nvPr/>
          </p:nvGrpSpPr>
          <p:grpSpPr>
            <a:xfrm flipV="1">
              <a:off x="3772535" y="4883547"/>
              <a:ext cx="1136650" cy="1136650"/>
              <a:chOff x="3944620" y="1307126"/>
              <a:chExt cx="1021080" cy="1021080"/>
            </a:xfrm>
          </p:grpSpPr>
          <p:sp>
            <p:nvSpPr>
              <p:cNvPr id="175" name="Oval 174">
                <a:extLst>
                  <a:ext uri="{FF2B5EF4-FFF2-40B4-BE49-F238E27FC236}">
                    <a16:creationId xmlns:a16="http://schemas.microsoft.com/office/drawing/2014/main" id="{2BB9C5EF-E4F4-0745-B399-E298706D33FE}"/>
                  </a:ext>
                </a:extLst>
              </p:cNvPr>
              <p:cNvSpPr/>
              <p:nvPr/>
            </p:nvSpPr>
            <p:spPr>
              <a:xfrm>
                <a:off x="3944620" y="1307126"/>
                <a:ext cx="1021080" cy="1021080"/>
              </a:xfrm>
              <a:prstGeom prst="ellipse">
                <a:avLst/>
              </a:prstGeom>
              <a:solidFill>
                <a:schemeClr val="accent3"/>
              </a:solidFill>
              <a:ln>
                <a:noFill/>
              </a:ln>
              <a:effectLst>
                <a:outerShdw blurRad="1016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Oval 175">
                <a:extLst>
                  <a:ext uri="{FF2B5EF4-FFF2-40B4-BE49-F238E27FC236}">
                    <a16:creationId xmlns:a16="http://schemas.microsoft.com/office/drawing/2014/main" id="{5FEF0464-FA25-9859-0DA4-EBA30B12FABD}"/>
                  </a:ext>
                </a:extLst>
              </p:cNvPr>
              <p:cNvSpPr/>
              <p:nvPr/>
            </p:nvSpPr>
            <p:spPr>
              <a:xfrm>
                <a:off x="4071313" y="1433819"/>
                <a:ext cx="767694" cy="767694"/>
              </a:xfrm>
              <a:prstGeom prst="ellipse">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4" name="Freeform 26">
              <a:extLst>
                <a:ext uri="{FF2B5EF4-FFF2-40B4-BE49-F238E27FC236}">
                  <a16:creationId xmlns:a16="http://schemas.microsoft.com/office/drawing/2014/main" id="{6ABB1259-881C-ED59-F968-09A749ADB4C0}"/>
                </a:ext>
              </a:extLst>
            </p:cNvPr>
            <p:cNvSpPr>
              <a:spLocks noEditPoints="1"/>
            </p:cNvSpPr>
            <p:nvPr/>
          </p:nvSpPr>
          <p:spPr bwMode="auto">
            <a:xfrm>
              <a:off x="4114291" y="5220223"/>
              <a:ext cx="453139" cy="463299"/>
            </a:xfrm>
            <a:custGeom>
              <a:avLst/>
              <a:gdLst>
                <a:gd name="T0" fmla="*/ 88 w 94"/>
                <a:gd name="T1" fmla="*/ 31 h 96"/>
                <a:gd name="T2" fmla="*/ 92 w 94"/>
                <a:gd name="T3" fmla="*/ 22 h 96"/>
                <a:gd name="T4" fmla="*/ 93 w 94"/>
                <a:gd name="T5" fmla="*/ 19 h 96"/>
                <a:gd name="T6" fmla="*/ 86 w 94"/>
                <a:gd name="T7" fmla="*/ 8 h 96"/>
                <a:gd name="T8" fmla="*/ 80 w 94"/>
                <a:gd name="T9" fmla="*/ 11 h 96"/>
                <a:gd name="T10" fmla="*/ 74 w 94"/>
                <a:gd name="T11" fmla="*/ 2 h 96"/>
                <a:gd name="T12" fmla="*/ 60 w 94"/>
                <a:gd name="T13" fmla="*/ 0 h 96"/>
                <a:gd name="T14" fmla="*/ 58 w 94"/>
                <a:gd name="T15" fmla="*/ 7 h 96"/>
                <a:gd name="T16" fmla="*/ 48 w 94"/>
                <a:gd name="T17" fmla="*/ 8 h 96"/>
                <a:gd name="T18" fmla="*/ 39 w 94"/>
                <a:gd name="T19" fmla="*/ 19 h 96"/>
                <a:gd name="T20" fmla="*/ 40 w 94"/>
                <a:gd name="T21" fmla="*/ 22 h 96"/>
                <a:gd name="T22" fmla="*/ 44 w 94"/>
                <a:gd name="T23" fmla="*/ 31 h 96"/>
                <a:gd name="T24" fmla="*/ 39 w 94"/>
                <a:gd name="T25" fmla="*/ 35 h 96"/>
                <a:gd name="T26" fmla="*/ 45 w 94"/>
                <a:gd name="T27" fmla="*/ 47 h 96"/>
                <a:gd name="T28" fmla="*/ 42 w 94"/>
                <a:gd name="T29" fmla="*/ 51 h 96"/>
                <a:gd name="T30" fmla="*/ 36 w 94"/>
                <a:gd name="T31" fmla="*/ 42 h 96"/>
                <a:gd name="T32" fmla="*/ 22 w 94"/>
                <a:gd name="T33" fmla="*/ 40 h 96"/>
                <a:gd name="T34" fmla="*/ 20 w 94"/>
                <a:gd name="T35" fmla="*/ 47 h 96"/>
                <a:gd name="T36" fmla="*/ 10 w 94"/>
                <a:gd name="T37" fmla="*/ 48 h 96"/>
                <a:gd name="T38" fmla="*/ 1 w 94"/>
                <a:gd name="T39" fmla="*/ 59 h 96"/>
                <a:gd name="T40" fmla="*/ 2 w 94"/>
                <a:gd name="T41" fmla="*/ 62 h 96"/>
                <a:gd name="T42" fmla="*/ 6 w 94"/>
                <a:gd name="T43" fmla="*/ 71 h 96"/>
                <a:gd name="T44" fmla="*/ 1 w 94"/>
                <a:gd name="T45" fmla="*/ 75 h 96"/>
                <a:gd name="T46" fmla="*/ 7 w 94"/>
                <a:gd name="T47" fmla="*/ 87 h 96"/>
                <a:gd name="T48" fmla="*/ 14 w 94"/>
                <a:gd name="T49" fmla="*/ 85 h 96"/>
                <a:gd name="T50" fmla="*/ 20 w 94"/>
                <a:gd name="T51" fmla="*/ 94 h 96"/>
                <a:gd name="T52" fmla="*/ 34 w 94"/>
                <a:gd name="T53" fmla="*/ 96 h 96"/>
                <a:gd name="T54" fmla="*/ 36 w 94"/>
                <a:gd name="T55" fmla="*/ 88 h 96"/>
                <a:gd name="T56" fmla="*/ 46 w 94"/>
                <a:gd name="T57" fmla="*/ 88 h 96"/>
                <a:gd name="T58" fmla="*/ 49 w 94"/>
                <a:gd name="T59" fmla="*/ 87 h 96"/>
                <a:gd name="T60" fmla="*/ 54 w 94"/>
                <a:gd name="T61" fmla="*/ 74 h 96"/>
                <a:gd name="T62" fmla="*/ 50 w 94"/>
                <a:gd name="T63" fmla="*/ 65 h 96"/>
                <a:gd name="T64" fmla="*/ 55 w 94"/>
                <a:gd name="T65" fmla="*/ 61 h 96"/>
                <a:gd name="T66" fmla="*/ 49 w 94"/>
                <a:gd name="T67" fmla="*/ 49 h 96"/>
                <a:gd name="T68" fmla="*/ 48 w 94"/>
                <a:gd name="T69" fmla="*/ 48 h 96"/>
                <a:gd name="T70" fmla="*/ 58 w 94"/>
                <a:gd name="T71" fmla="*/ 49 h 96"/>
                <a:gd name="T72" fmla="*/ 60 w 94"/>
                <a:gd name="T73" fmla="*/ 56 h 96"/>
                <a:gd name="T74" fmla="*/ 74 w 94"/>
                <a:gd name="T75" fmla="*/ 54 h 96"/>
                <a:gd name="T76" fmla="*/ 80 w 94"/>
                <a:gd name="T77" fmla="*/ 45 h 96"/>
                <a:gd name="T78" fmla="*/ 86 w 94"/>
                <a:gd name="T79" fmla="*/ 48 h 96"/>
                <a:gd name="T80" fmla="*/ 93 w 94"/>
                <a:gd name="T81" fmla="*/ 37 h 96"/>
                <a:gd name="T82" fmla="*/ 28 w 94"/>
                <a:gd name="T83" fmla="*/ 78 h 96"/>
                <a:gd name="T84" fmla="*/ 28 w 94"/>
                <a:gd name="T85" fmla="*/ 58 h 96"/>
                <a:gd name="T86" fmla="*/ 28 w 94"/>
                <a:gd name="T87" fmla="*/ 78 h 96"/>
                <a:gd name="T88" fmla="*/ 56 w 94"/>
                <a:gd name="T89" fmla="*/ 28 h 96"/>
                <a:gd name="T90" fmla="*/ 76 w 94"/>
                <a:gd name="T91" fmla="*/ 2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4" h="96">
                  <a:moveTo>
                    <a:pt x="92" y="34"/>
                  </a:moveTo>
                  <a:cubicBezTo>
                    <a:pt x="88" y="31"/>
                    <a:pt x="88" y="31"/>
                    <a:pt x="88" y="31"/>
                  </a:cubicBezTo>
                  <a:cubicBezTo>
                    <a:pt x="88" y="29"/>
                    <a:pt x="88" y="27"/>
                    <a:pt x="88" y="25"/>
                  </a:cubicBezTo>
                  <a:cubicBezTo>
                    <a:pt x="92" y="22"/>
                    <a:pt x="92" y="22"/>
                    <a:pt x="92" y="22"/>
                  </a:cubicBezTo>
                  <a:cubicBezTo>
                    <a:pt x="93" y="22"/>
                    <a:pt x="93" y="21"/>
                    <a:pt x="93" y="21"/>
                  </a:cubicBezTo>
                  <a:cubicBezTo>
                    <a:pt x="94" y="20"/>
                    <a:pt x="93" y="20"/>
                    <a:pt x="93" y="19"/>
                  </a:cubicBezTo>
                  <a:cubicBezTo>
                    <a:pt x="87" y="9"/>
                    <a:pt x="87" y="9"/>
                    <a:pt x="87" y="9"/>
                  </a:cubicBezTo>
                  <a:cubicBezTo>
                    <a:pt x="87" y="8"/>
                    <a:pt x="87" y="8"/>
                    <a:pt x="86" y="8"/>
                  </a:cubicBezTo>
                  <a:cubicBezTo>
                    <a:pt x="85" y="8"/>
                    <a:pt x="85" y="8"/>
                    <a:pt x="84" y="8"/>
                  </a:cubicBezTo>
                  <a:cubicBezTo>
                    <a:pt x="80" y="11"/>
                    <a:pt x="80" y="11"/>
                    <a:pt x="80" y="11"/>
                  </a:cubicBezTo>
                  <a:cubicBezTo>
                    <a:pt x="78" y="10"/>
                    <a:pt x="77" y="9"/>
                    <a:pt x="74" y="8"/>
                  </a:cubicBezTo>
                  <a:cubicBezTo>
                    <a:pt x="74" y="2"/>
                    <a:pt x="74" y="2"/>
                    <a:pt x="74" y="2"/>
                  </a:cubicBezTo>
                  <a:cubicBezTo>
                    <a:pt x="74" y="1"/>
                    <a:pt x="74" y="0"/>
                    <a:pt x="72" y="0"/>
                  </a:cubicBezTo>
                  <a:cubicBezTo>
                    <a:pt x="60" y="0"/>
                    <a:pt x="60" y="0"/>
                    <a:pt x="60" y="0"/>
                  </a:cubicBezTo>
                  <a:cubicBezTo>
                    <a:pt x="59" y="0"/>
                    <a:pt x="58" y="1"/>
                    <a:pt x="58" y="2"/>
                  </a:cubicBezTo>
                  <a:cubicBezTo>
                    <a:pt x="58" y="7"/>
                    <a:pt x="58" y="7"/>
                    <a:pt x="58" y="7"/>
                  </a:cubicBezTo>
                  <a:cubicBezTo>
                    <a:pt x="56" y="8"/>
                    <a:pt x="54" y="9"/>
                    <a:pt x="52" y="11"/>
                  </a:cubicBezTo>
                  <a:cubicBezTo>
                    <a:pt x="48" y="8"/>
                    <a:pt x="48" y="8"/>
                    <a:pt x="48" y="8"/>
                  </a:cubicBezTo>
                  <a:cubicBezTo>
                    <a:pt x="47" y="8"/>
                    <a:pt x="45" y="8"/>
                    <a:pt x="45" y="9"/>
                  </a:cubicBezTo>
                  <a:cubicBezTo>
                    <a:pt x="39" y="19"/>
                    <a:pt x="39" y="19"/>
                    <a:pt x="39" y="19"/>
                  </a:cubicBezTo>
                  <a:cubicBezTo>
                    <a:pt x="39" y="20"/>
                    <a:pt x="38" y="20"/>
                    <a:pt x="39" y="21"/>
                  </a:cubicBezTo>
                  <a:cubicBezTo>
                    <a:pt x="39" y="21"/>
                    <a:pt x="39" y="22"/>
                    <a:pt x="40" y="22"/>
                  </a:cubicBezTo>
                  <a:cubicBezTo>
                    <a:pt x="44" y="25"/>
                    <a:pt x="44" y="25"/>
                    <a:pt x="44" y="25"/>
                  </a:cubicBezTo>
                  <a:cubicBezTo>
                    <a:pt x="44" y="27"/>
                    <a:pt x="44" y="29"/>
                    <a:pt x="44" y="31"/>
                  </a:cubicBezTo>
                  <a:cubicBezTo>
                    <a:pt x="39" y="34"/>
                    <a:pt x="39" y="34"/>
                    <a:pt x="39" y="34"/>
                  </a:cubicBezTo>
                  <a:cubicBezTo>
                    <a:pt x="39" y="34"/>
                    <a:pt x="39" y="35"/>
                    <a:pt x="39" y="35"/>
                  </a:cubicBezTo>
                  <a:cubicBezTo>
                    <a:pt x="38" y="36"/>
                    <a:pt x="38" y="36"/>
                    <a:pt x="39" y="37"/>
                  </a:cubicBezTo>
                  <a:cubicBezTo>
                    <a:pt x="45" y="47"/>
                    <a:pt x="45" y="47"/>
                    <a:pt x="45" y="47"/>
                  </a:cubicBezTo>
                  <a:cubicBezTo>
                    <a:pt x="45" y="48"/>
                    <a:pt x="46" y="48"/>
                    <a:pt x="46" y="48"/>
                  </a:cubicBezTo>
                  <a:cubicBezTo>
                    <a:pt x="42" y="51"/>
                    <a:pt x="42" y="51"/>
                    <a:pt x="42" y="51"/>
                  </a:cubicBezTo>
                  <a:cubicBezTo>
                    <a:pt x="40" y="50"/>
                    <a:pt x="39" y="49"/>
                    <a:pt x="36" y="48"/>
                  </a:cubicBezTo>
                  <a:cubicBezTo>
                    <a:pt x="36" y="42"/>
                    <a:pt x="36" y="42"/>
                    <a:pt x="36" y="42"/>
                  </a:cubicBezTo>
                  <a:cubicBezTo>
                    <a:pt x="36" y="41"/>
                    <a:pt x="36" y="40"/>
                    <a:pt x="34" y="40"/>
                  </a:cubicBezTo>
                  <a:cubicBezTo>
                    <a:pt x="22" y="40"/>
                    <a:pt x="22" y="40"/>
                    <a:pt x="22" y="40"/>
                  </a:cubicBezTo>
                  <a:cubicBezTo>
                    <a:pt x="21" y="40"/>
                    <a:pt x="20" y="41"/>
                    <a:pt x="20" y="42"/>
                  </a:cubicBezTo>
                  <a:cubicBezTo>
                    <a:pt x="20" y="47"/>
                    <a:pt x="20" y="47"/>
                    <a:pt x="20" y="47"/>
                  </a:cubicBezTo>
                  <a:cubicBezTo>
                    <a:pt x="18" y="48"/>
                    <a:pt x="16" y="49"/>
                    <a:pt x="14" y="51"/>
                  </a:cubicBezTo>
                  <a:cubicBezTo>
                    <a:pt x="10" y="48"/>
                    <a:pt x="10" y="48"/>
                    <a:pt x="10" y="48"/>
                  </a:cubicBezTo>
                  <a:cubicBezTo>
                    <a:pt x="9" y="48"/>
                    <a:pt x="7" y="48"/>
                    <a:pt x="7" y="49"/>
                  </a:cubicBezTo>
                  <a:cubicBezTo>
                    <a:pt x="1" y="59"/>
                    <a:pt x="1" y="59"/>
                    <a:pt x="1" y="59"/>
                  </a:cubicBezTo>
                  <a:cubicBezTo>
                    <a:pt x="1" y="60"/>
                    <a:pt x="0" y="60"/>
                    <a:pt x="1" y="61"/>
                  </a:cubicBezTo>
                  <a:cubicBezTo>
                    <a:pt x="1" y="61"/>
                    <a:pt x="1" y="62"/>
                    <a:pt x="2" y="62"/>
                  </a:cubicBezTo>
                  <a:cubicBezTo>
                    <a:pt x="6" y="65"/>
                    <a:pt x="6" y="65"/>
                    <a:pt x="6" y="65"/>
                  </a:cubicBezTo>
                  <a:cubicBezTo>
                    <a:pt x="6" y="67"/>
                    <a:pt x="6" y="69"/>
                    <a:pt x="6" y="71"/>
                  </a:cubicBezTo>
                  <a:cubicBezTo>
                    <a:pt x="1" y="74"/>
                    <a:pt x="1" y="74"/>
                    <a:pt x="1" y="74"/>
                  </a:cubicBezTo>
                  <a:cubicBezTo>
                    <a:pt x="1" y="74"/>
                    <a:pt x="1" y="75"/>
                    <a:pt x="1" y="75"/>
                  </a:cubicBezTo>
                  <a:cubicBezTo>
                    <a:pt x="0" y="76"/>
                    <a:pt x="0" y="76"/>
                    <a:pt x="1" y="77"/>
                  </a:cubicBezTo>
                  <a:cubicBezTo>
                    <a:pt x="7" y="87"/>
                    <a:pt x="7" y="87"/>
                    <a:pt x="7" y="87"/>
                  </a:cubicBezTo>
                  <a:cubicBezTo>
                    <a:pt x="7" y="88"/>
                    <a:pt x="8" y="88"/>
                    <a:pt x="9" y="88"/>
                  </a:cubicBezTo>
                  <a:cubicBezTo>
                    <a:pt x="14" y="85"/>
                    <a:pt x="14" y="85"/>
                    <a:pt x="14" y="85"/>
                  </a:cubicBezTo>
                  <a:cubicBezTo>
                    <a:pt x="16" y="87"/>
                    <a:pt x="18" y="88"/>
                    <a:pt x="20" y="89"/>
                  </a:cubicBezTo>
                  <a:cubicBezTo>
                    <a:pt x="20" y="94"/>
                    <a:pt x="20" y="94"/>
                    <a:pt x="20" y="94"/>
                  </a:cubicBezTo>
                  <a:cubicBezTo>
                    <a:pt x="20" y="95"/>
                    <a:pt x="21" y="96"/>
                    <a:pt x="22" y="96"/>
                  </a:cubicBezTo>
                  <a:cubicBezTo>
                    <a:pt x="34" y="96"/>
                    <a:pt x="34" y="96"/>
                    <a:pt x="34" y="96"/>
                  </a:cubicBezTo>
                  <a:cubicBezTo>
                    <a:pt x="36" y="96"/>
                    <a:pt x="36" y="95"/>
                    <a:pt x="36" y="94"/>
                  </a:cubicBezTo>
                  <a:cubicBezTo>
                    <a:pt x="36" y="88"/>
                    <a:pt x="36" y="88"/>
                    <a:pt x="36" y="88"/>
                  </a:cubicBezTo>
                  <a:cubicBezTo>
                    <a:pt x="39" y="87"/>
                    <a:pt x="40" y="86"/>
                    <a:pt x="42" y="85"/>
                  </a:cubicBezTo>
                  <a:cubicBezTo>
                    <a:pt x="46" y="88"/>
                    <a:pt x="46" y="88"/>
                    <a:pt x="46" y="88"/>
                  </a:cubicBezTo>
                  <a:cubicBezTo>
                    <a:pt x="47" y="88"/>
                    <a:pt x="47" y="88"/>
                    <a:pt x="48" y="88"/>
                  </a:cubicBezTo>
                  <a:cubicBezTo>
                    <a:pt x="49" y="88"/>
                    <a:pt x="49" y="88"/>
                    <a:pt x="49" y="87"/>
                  </a:cubicBezTo>
                  <a:cubicBezTo>
                    <a:pt x="55" y="77"/>
                    <a:pt x="55" y="77"/>
                    <a:pt x="55" y="77"/>
                  </a:cubicBezTo>
                  <a:cubicBezTo>
                    <a:pt x="56" y="76"/>
                    <a:pt x="55" y="75"/>
                    <a:pt x="54" y="74"/>
                  </a:cubicBezTo>
                  <a:cubicBezTo>
                    <a:pt x="50" y="71"/>
                    <a:pt x="50" y="71"/>
                    <a:pt x="50" y="71"/>
                  </a:cubicBezTo>
                  <a:cubicBezTo>
                    <a:pt x="50" y="69"/>
                    <a:pt x="50" y="67"/>
                    <a:pt x="50" y="65"/>
                  </a:cubicBezTo>
                  <a:cubicBezTo>
                    <a:pt x="54" y="62"/>
                    <a:pt x="54" y="62"/>
                    <a:pt x="54" y="62"/>
                  </a:cubicBezTo>
                  <a:cubicBezTo>
                    <a:pt x="55" y="62"/>
                    <a:pt x="55" y="61"/>
                    <a:pt x="55" y="61"/>
                  </a:cubicBezTo>
                  <a:cubicBezTo>
                    <a:pt x="56" y="60"/>
                    <a:pt x="55" y="60"/>
                    <a:pt x="55" y="59"/>
                  </a:cubicBezTo>
                  <a:cubicBezTo>
                    <a:pt x="49" y="49"/>
                    <a:pt x="49" y="49"/>
                    <a:pt x="49" y="49"/>
                  </a:cubicBezTo>
                  <a:cubicBezTo>
                    <a:pt x="49" y="48"/>
                    <a:pt x="49" y="48"/>
                    <a:pt x="48" y="48"/>
                  </a:cubicBezTo>
                  <a:cubicBezTo>
                    <a:pt x="48" y="48"/>
                    <a:pt x="48" y="48"/>
                    <a:pt x="48" y="48"/>
                  </a:cubicBezTo>
                  <a:cubicBezTo>
                    <a:pt x="52" y="45"/>
                    <a:pt x="52" y="45"/>
                    <a:pt x="52" y="45"/>
                  </a:cubicBezTo>
                  <a:cubicBezTo>
                    <a:pt x="54" y="47"/>
                    <a:pt x="56" y="48"/>
                    <a:pt x="58" y="49"/>
                  </a:cubicBezTo>
                  <a:cubicBezTo>
                    <a:pt x="58" y="54"/>
                    <a:pt x="58" y="54"/>
                    <a:pt x="58" y="54"/>
                  </a:cubicBezTo>
                  <a:cubicBezTo>
                    <a:pt x="58" y="55"/>
                    <a:pt x="59" y="56"/>
                    <a:pt x="60" y="56"/>
                  </a:cubicBezTo>
                  <a:cubicBezTo>
                    <a:pt x="72" y="56"/>
                    <a:pt x="72" y="56"/>
                    <a:pt x="72" y="56"/>
                  </a:cubicBezTo>
                  <a:cubicBezTo>
                    <a:pt x="74" y="56"/>
                    <a:pt x="74" y="55"/>
                    <a:pt x="74" y="54"/>
                  </a:cubicBezTo>
                  <a:cubicBezTo>
                    <a:pt x="74" y="48"/>
                    <a:pt x="74" y="48"/>
                    <a:pt x="74" y="48"/>
                  </a:cubicBezTo>
                  <a:cubicBezTo>
                    <a:pt x="77" y="47"/>
                    <a:pt x="78" y="46"/>
                    <a:pt x="80" y="45"/>
                  </a:cubicBezTo>
                  <a:cubicBezTo>
                    <a:pt x="84" y="48"/>
                    <a:pt x="84" y="48"/>
                    <a:pt x="84" y="48"/>
                  </a:cubicBezTo>
                  <a:cubicBezTo>
                    <a:pt x="85" y="48"/>
                    <a:pt x="85" y="48"/>
                    <a:pt x="86" y="48"/>
                  </a:cubicBezTo>
                  <a:cubicBezTo>
                    <a:pt x="87" y="48"/>
                    <a:pt x="87" y="48"/>
                    <a:pt x="87" y="47"/>
                  </a:cubicBezTo>
                  <a:cubicBezTo>
                    <a:pt x="93" y="37"/>
                    <a:pt x="93" y="37"/>
                    <a:pt x="93" y="37"/>
                  </a:cubicBezTo>
                  <a:cubicBezTo>
                    <a:pt x="94" y="36"/>
                    <a:pt x="93" y="35"/>
                    <a:pt x="92" y="34"/>
                  </a:cubicBezTo>
                  <a:close/>
                  <a:moveTo>
                    <a:pt x="28" y="78"/>
                  </a:moveTo>
                  <a:cubicBezTo>
                    <a:pt x="22" y="78"/>
                    <a:pt x="18" y="74"/>
                    <a:pt x="18" y="68"/>
                  </a:cubicBezTo>
                  <a:cubicBezTo>
                    <a:pt x="18" y="62"/>
                    <a:pt x="22" y="58"/>
                    <a:pt x="28" y="58"/>
                  </a:cubicBezTo>
                  <a:cubicBezTo>
                    <a:pt x="33" y="58"/>
                    <a:pt x="38" y="62"/>
                    <a:pt x="38" y="68"/>
                  </a:cubicBezTo>
                  <a:cubicBezTo>
                    <a:pt x="38" y="74"/>
                    <a:pt x="33" y="78"/>
                    <a:pt x="28" y="78"/>
                  </a:cubicBezTo>
                  <a:close/>
                  <a:moveTo>
                    <a:pt x="66" y="38"/>
                  </a:moveTo>
                  <a:cubicBezTo>
                    <a:pt x="60" y="38"/>
                    <a:pt x="56" y="34"/>
                    <a:pt x="56" y="28"/>
                  </a:cubicBezTo>
                  <a:cubicBezTo>
                    <a:pt x="56" y="22"/>
                    <a:pt x="60" y="18"/>
                    <a:pt x="66" y="18"/>
                  </a:cubicBezTo>
                  <a:cubicBezTo>
                    <a:pt x="71" y="18"/>
                    <a:pt x="76" y="22"/>
                    <a:pt x="76" y="28"/>
                  </a:cubicBezTo>
                  <a:cubicBezTo>
                    <a:pt x="76" y="34"/>
                    <a:pt x="71" y="38"/>
                    <a:pt x="66" y="3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id-ID"/>
            </a:p>
          </p:txBody>
        </p:sp>
      </p:grpSp>
      <p:sp>
        <p:nvSpPr>
          <p:cNvPr id="177" name="TextBox 176">
            <a:extLst>
              <a:ext uri="{FF2B5EF4-FFF2-40B4-BE49-F238E27FC236}">
                <a16:creationId xmlns:a16="http://schemas.microsoft.com/office/drawing/2014/main" id="{B6FD5936-E3E7-0B50-F925-50C043794CE1}"/>
              </a:ext>
            </a:extLst>
          </p:cNvPr>
          <p:cNvSpPr txBox="1"/>
          <p:nvPr/>
        </p:nvSpPr>
        <p:spPr>
          <a:xfrm flipH="1">
            <a:off x="10239346" y="3965545"/>
            <a:ext cx="1459664" cy="276999"/>
          </a:xfrm>
          <a:prstGeom prst="rect">
            <a:avLst/>
          </a:prstGeom>
          <a:noFill/>
        </p:spPr>
        <p:txBody>
          <a:bodyPr wrap="square" lIns="0" tIns="0" rIns="0" bIns="0" rtlCol="0">
            <a:spAutoFit/>
          </a:bodyPr>
          <a:lstStyle/>
          <a:p>
            <a:pPr algn="ctr"/>
            <a:r>
              <a:rPr lang="en-US" b="1">
                <a:latin typeface="Century Gothic" panose="020B0502020202020204" pitchFamily="34" charset="0"/>
              </a:rPr>
              <a:t>Annual</a:t>
            </a:r>
          </a:p>
        </p:txBody>
      </p:sp>
      <p:sp>
        <p:nvSpPr>
          <p:cNvPr id="178" name="TextBox 177">
            <a:extLst>
              <a:ext uri="{FF2B5EF4-FFF2-40B4-BE49-F238E27FC236}">
                <a16:creationId xmlns:a16="http://schemas.microsoft.com/office/drawing/2014/main" id="{AB51A1A5-88F5-2CCD-BDAD-C5F7C9B248EE}"/>
              </a:ext>
            </a:extLst>
          </p:cNvPr>
          <p:cNvSpPr txBox="1"/>
          <p:nvPr/>
        </p:nvSpPr>
        <p:spPr>
          <a:xfrm flipH="1">
            <a:off x="8216170" y="4399617"/>
            <a:ext cx="1717988" cy="1107996"/>
          </a:xfrm>
          <a:prstGeom prst="rect">
            <a:avLst/>
          </a:prstGeom>
          <a:noFill/>
        </p:spPr>
        <p:txBody>
          <a:bodyPr wrap="square" lIns="0" tIns="0" rIns="0" bIns="0" rtlCol="0">
            <a:spAutoFit/>
          </a:bodyPr>
          <a:lstStyle/>
          <a:p>
            <a:pPr marL="244602" indent="-171450" algn="l" rtl="0" eaLnBrk="1" fontAlgn="b" latinLnBrk="0" hangingPunct="1">
              <a:buFont typeface="Arial" panose="020B0604020202020204" pitchFamily="34" charset="0"/>
              <a:buChar char="•"/>
            </a:pPr>
            <a:r>
              <a:rPr lang="en-US" sz="900" i="0" u="none" strike="noStrike" kern="1200">
                <a:effectLst/>
                <a:latin typeface="Calibri" panose="020F0502020204030204" pitchFamily="34" charset="0"/>
              </a:rPr>
              <a:t>Support for NY147 related changes in Triton model</a:t>
            </a:r>
            <a:endParaRPr lang="en-IN" sz="105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IN" sz="900" b="0" i="0" u="none" strike="noStrike" kern="1200">
                <a:effectLst/>
                <a:latin typeface="Calibri" panose="020F0502020204030204" pitchFamily="34" charset="0"/>
              </a:rPr>
              <a:t>Support for EY Audit Requirements  - Seriatim level cashflow projections</a:t>
            </a:r>
            <a:endParaRPr lang="en-IN" sz="1050" b="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IN" sz="900" b="0" i="0" u="none" strike="noStrike" kern="1200">
                <a:effectLst/>
                <a:latin typeface="Calibri" panose="020F0502020204030204" pitchFamily="34" charset="0"/>
              </a:rPr>
              <a:t>Power query implementation</a:t>
            </a:r>
            <a:endParaRPr lang="en-IN" sz="1050">
              <a:latin typeface="Arial" panose="020B0604020202020204" pitchFamily="34" charset="0"/>
            </a:endParaRPr>
          </a:p>
          <a:p>
            <a:pPr marL="244602" indent="-171450" algn="l" rtl="0" eaLnBrk="1" fontAlgn="b" latinLnBrk="0" hangingPunct="1">
              <a:buFont typeface="Arial" panose="020B0604020202020204" pitchFamily="34" charset="0"/>
              <a:buChar char="•"/>
            </a:pPr>
            <a:r>
              <a:rPr lang="en-IN" sz="900" b="0" i="0" u="none" strike="noStrike" kern="1200">
                <a:effectLst/>
                <a:latin typeface="Calibri" panose="020F0502020204030204" pitchFamily="34" charset="0"/>
              </a:rPr>
              <a:t>Documentation Creation/Refinement</a:t>
            </a:r>
            <a:endParaRPr lang="en-IN" sz="1050" b="0" i="0" u="none" strike="noStrike">
              <a:effectLst/>
              <a:latin typeface="Arial" panose="020B0604020202020204" pitchFamily="34" charset="0"/>
            </a:endParaRPr>
          </a:p>
        </p:txBody>
      </p:sp>
      <p:sp>
        <p:nvSpPr>
          <p:cNvPr id="179" name="TextBox 178">
            <a:extLst>
              <a:ext uri="{FF2B5EF4-FFF2-40B4-BE49-F238E27FC236}">
                <a16:creationId xmlns:a16="http://schemas.microsoft.com/office/drawing/2014/main" id="{5C244ADA-94E2-1B52-6F38-AE9F5A77A2D6}"/>
              </a:ext>
            </a:extLst>
          </p:cNvPr>
          <p:cNvSpPr txBox="1"/>
          <p:nvPr/>
        </p:nvSpPr>
        <p:spPr>
          <a:xfrm flipH="1">
            <a:off x="8392393" y="3945368"/>
            <a:ext cx="1459664" cy="276999"/>
          </a:xfrm>
          <a:prstGeom prst="rect">
            <a:avLst/>
          </a:prstGeom>
          <a:noFill/>
        </p:spPr>
        <p:txBody>
          <a:bodyPr wrap="square" lIns="0" tIns="0" rIns="0" bIns="0" rtlCol="0">
            <a:spAutoFit/>
          </a:bodyPr>
          <a:lstStyle/>
          <a:p>
            <a:pPr algn="ctr"/>
            <a:r>
              <a:rPr lang="en-US" b="1" err="1">
                <a:latin typeface="Century Gothic" panose="020B0502020202020204" pitchFamily="34" charset="0"/>
              </a:rPr>
              <a:t>Adhoc</a:t>
            </a:r>
            <a:endParaRPr lang="en-US" b="1">
              <a:latin typeface="Century Gothic" panose="020B0502020202020204" pitchFamily="34" charset="0"/>
            </a:endParaRPr>
          </a:p>
        </p:txBody>
      </p:sp>
      <p:sp>
        <p:nvSpPr>
          <p:cNvPr id="180" name="TextBox 179">
            <a:extLst>
              <a:ext uri="{FF2B5EF4-FFF2-40B4-BE49-F238E27FC236}">
                <a16:creationId xmlns:a16="http://schemas.microsoft.com/office/drawing/2014/main" id="{553090CC-FD04-5885-3A5F-3EEAFC66B13C}"/>
              </a:ext>
            </a:extLst>
          </p:cNvPr>
          <p:cNvSpPr txBox="1"/>
          <p:nvPr/>
        </p:nvSpPr>
        <p:spPr>
          <a:xfrm flipH="1">
            <a:off x="8661081" y="1648951"/>
            <a:ext cx="1459664" cy="276999"/>
          </a:xfrm>
          <a:prstGeom prst="rect">
            <a:avLst/>
          </a:prstGeom>
          <a:noFill/>
        </p:spPr>
        <p:txBody>
          <a:bodyPr wrap="square" lIns="0" tIns="0" rIns="0" bIns="0" rtlCol="0">
            <a:spAutoFit/>
          </a:bodyPr>
          <a:lstStyle/>
          <a:p>
            <a:pPr algn="ctr"/>
            <a:r>
              <a:rPr lang="en-US" b="1">
                <a:latin typeface="Century Gothic" panose="020B0502020202020204" pitchFamily="34" charset="0"/>
              </a:rPr>
              <a:t>Monthly</a:t>
            </a:r>
          </a:p>
        </p:txBody>
      </p:sp>
      <p:sp>
        <p:nvSpPr>
          <p:cNvPr id="182" name="TextBox 181">
            <a:extLst>
              <a:ext uri="{FF2B5EF4-FFF2-40B4-BE49-F238E27FC236}">
                <a16:creationId xmlns:a16="http://schemas.microsoft.com/office/drawing/2014/main" id="{969F9F1E-4B0D-4A9E-837D-4BC2BAE2C376}"/>
              </a:ext>
            </a:extLst>
          </p:cNvPr>
          <p:cNvSpPr txBox="1"/>
          <p:nvPr/>
        </p:nvSpPr>
        <p:spPr>
          <a:xfrm flipH="1">
            <a:off x="9971401" y="1637947"/>
            <a:ext cx="1459664" cy="276999"/>
          </a:xfrm>
          <a:prstGeom prst="rect">
            <a:avLst/>
          </a:prstGeom>
          <a:noFill/>
        </p:spPr>
        <p:txBody>
          <a:bodyPr wrap="square" lIns="0" tIns="0" rIns="0" bIns="0" rtlCol="0">
            <a:spAutoFit/>
          </a:bodyPr>
          <a:lstStyle/>
          <a:p>
            <a:pPr algn="ctr"/>
            <a:r>
              <a:rPr lang="en-US" b="1">
                <a:latin typeface="Century Gothic" panose="020B0502020202020204" pitchFamily="34" charset="0"/>
              </a:rPr>
              <a:t>Quarterly</a:t>
            </a:r>
          </a:p>
        </p:txBody>
      </p:sp>
      <p:sp>
        <p:nvSpPr>
          <p:cNvPr id="183" name="TextBox 182">
            <a:extLst>
              <a:ext uri="{FF2B5EF4-FFF2-40B4-BE49-F238E27FC236}">
                <a16:creationId xmlns:a16="http://schemas.microsoft.com/office/drawing/2014/main" id="{566DEDA1-0ABA-9B37-4C35-EC767339FF33}"/>
              </a:ext>
            </a:extLst>
          </p:cNvPr>
          <p:cNvSpPr txBox="1"/>
          <p:nvPr/>
        </p:nvSpPr>
        <p:spPr>
          <a:xfrm flipH="1">
            <a:off x="8406371" y="2256229"/>
            <a:ext cx="1290750" cy="1107996"/>
          </a:xfrm>
          <a:prstGeom prst="rect">
            <a:avLst/>
          </a:prstGeom>
          <a:noFill/>
        </p:spPr>
        <p:txBody>
          <a:bodyPr wrap="square" lIns="0" tIns="0" rIns="0" bIns="0" rtlCol="0">
            <a:spAutoFit/>
          </a:bodyPr>
          <a:lstStyle/>
          <a:p>
            <a:pPr marL="244602" indent="-171450" algn="l" rtl="0" eaLnBrk="1" fontAlgn="b" latinLnBrk="0" hangingPunct="1">
              <a:buFont typeface="Arial" panose="020B0604020202020204" pitchFamily="34" charset="0"/>
              <a:buChar char="•"/>
            </a:pPr>
            <a:r>
              <a:rPr lang="en-IN" sz="900" i="0" u="none" strike="noStrike" kern="1200" err="1">
                <a:effectLst/>
                <a:latin typeface="Calibri" panose="020F0502020204030204" pitchFamily="34" charset="0"/>
              </a:rPr>
              <a:t>Fundroll</a:t>
            </a:r>
            <a:endParaRPr lang="en-IN" sz="90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IN" sz="900" b="0" i="0" u="none" strike="noStrike" kern="1200" err="1">
                <a:effectLst/>
                <a:latin typeface="Calibri" panose="020F0502020204030204" pitchFamily="34" charset="0"/>
              </a:rPr>
              <a:t>Inforce</a:t>
            </a:r>
            <a:r>
              <a:rPr lang="en-IN" sz="900" b="0" i="0" u="none" strike="noStrike" kern="1200">
                <a:effectLst/>
                <a:latin typeface="Calibri" panose="020F0502020204030204" pitchFamily="34" charset="0"/>
              </a:rPr>
              <a:t> Policy List</a:t>
            </a:r>
            <a:endParaRPr lang="en-IN" sz="900" b="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IN" sz="900" b="0" i="0" u="none" strike="noStrike" kern="1200">
                <a:effectLst/>
                <a:latin typeface="Calibri" panose="020F0502020204030204" pitchFamily="34" charset="0"/>
              </a:rPr>
              <a:t>Funds Released on Death</a:t>
            </a:r>
            <a:endParaRPr lang="en-IN" sz="900" b="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IN" sz="900" b="0" i="0" u="none" strike="noStrike" kern="1200">
                <a:effectLst/>
                <a:latin typeface="Calibri" panose="020F0502020204030204" pitchFamily="34" charset="0"/>
              </a:rPr>
              <a:t>Reserve Trend Analysis</a:t>
            </a:r>
            <a:endParaRPr lang="en-IN" sz="900" b="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US" sz="900" b="0" i="0" u="none" strike="noStrike" kern="1200">
                <a:effectLst/>
                <a:latin typeface="Calibri" panose="020F0502020204030204" pitchFamily="34" charset="0"/>
              </a:rPr>
              <a:t>SOX Control – Input vs Triton Model Output</a:t>
            </a:r>
            <a:endParaRPr lang="en-IN" sz="900" b="0" i="0" u="none" strike="noStrike">
              <a:effectLst/>
              <a:latin typeface="Arial" panose="020B0604020202020204" pitchFamily="34" charset="0"/>
            </a:endParaRPr>
          </a:p>
        </p:txBody>
      </p:sp>
      <p:sp>
        <p:nvSpPr>
          <p:cNvPr id="184" name="TextBox 183">
            <a:extLst>
              <a:ext uri="{FF2B5EF4-FFF2-40B4-BE49-F238E27FC236}">
                <a16:creationId xmlns:a16="http://schemas.microsoft.com/office/drawing/2014/main" id="{273AE4C2-A21F-AF5C-ED96-F40923F631BC}"/>
              </a:ext>
            </a:extLst>
          </p:cNvPr>
          <p:cNvSpPr txBox="1"/>
          <p:nvPr/>
        </p:nvSpPr>
        <p:spPr>
          <a:xfrm flipH="1">
            <a:off x="10271318" y="2257373"/>
            <a:ext cx="1553237" cy="1107996"/>
          </a:xfrm>
          <a:prstGeom prst="rect">
            <a:avLst/>
          </a:prstGeom>
          <a:noFill/>
        </p:spPr>
        <p:txBody>
          <a:bodyPr wrap="square" lIns="0" tIns="0" rIns="0" bIns="0" rtlCol="0">
            <a:spAutoFit/>
          </a:bodyPr>
          <a:lstStyle/>
          <a:p>
            <a:pPr marL="244602" indent="-171450" algn="l" rtl="0" eaLnBrk="1" fontAlgn="b" latinLnBrk="0" hangingPunct="1">
              <a:buFont typeface="Arial" panose="020B0604020202020204" pitchFamily="34" charset="0"/>
              <a:buChar char="•"/>
            </a:pPr>
            <a:r>
              <a:rPr lang="en-IN" sz="900" i="0" u="none" strike="noStrike" kern="1200">
                <a:effectLst/>
                <a:latin typeface="Calibri" panose="020F0502020204030204" pitchFamily="34" charset="0"/>
              </a:rPr>
              <a:t>Sensitivity Analysis - </a:t>
            </a:r>
            <a:r>
              <a:rPr lang="en-IN" sz="900" i="0" u="none" strike="noStrike" kern="1200" err="1">
                <a:effectLst/>
                <a:latin typeface="Calibri" panose="020F0502020204030204" pitchFamily="34" charset="0"/>
              </a:rPr>
              <a:t>PrePBR</a:t>
            </a:r>
            <a:endParaRPr lang="en-IN" sz="90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IN" sz="900" b="0" i="0" u="none" strike="noStrike" kern="1200">
                <a:effectLst/>
                <a:latin typeface="Calibri" panose="020F0502020204030204" pitchFamily="34" charset="0"/>
              </a:rPr>
              <a:t>Topside creation</a:t>
            </a:r>
            <a:endParaRPr lang="en-IN" sz="900" b="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US" sz="900" b="0" i="0" u="none" strike="noStrike" kern="1200">
                <a:effectLst/>
                <a:latin typeface="Calibri" panose="020F0502020204030204" pitchFamily="34" charset="0"/>
              </a:rPr>
              <a:t>SOX NS Control - Triton to Ledger Reconciliation</a:t>
            </a:r>
            <a:endParaRPr lang="en-IN" sz="900" b="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US" sz="900" b="0" i="0" u="none" strike="noStrike" kern="1200">
                <a:effectLst/>
                <a:latin typeface="Calibri" panose="020F0502020204030204" pitchFamily="34" charset="0"/>
              </a:rPr>
              <a:t>Commonwealth Allocations - reinsurance summaries, </a:t>
            </a:r>
            <a:r>
              <a:rPr lang="en-US" sz="900" b="0" i="0" u="none" strike="noStrike" kern="1200" err="1">
                <a:effectLst/>
                <a:latin typeface="Calibri" panose="020F0502020204030204" pitchFamily="34" charset="0"/>
              </a:rPr>
              <a:t>fundroll</a:t>
            </a:r>
            <a:r>
              <a:rPr lang="en-US" sz="900" b="0" i="0" u="none" strike="noStrike" kern="1200">
                <a:effectLst/>
                <a:latin typeface="Calibri" panose="020F0502020204030204" pitchFamily="34" charset="0"/>
              </a:rPr>
              <a:t> and deposit accounting</a:t>
            </a:r>
            <a:endParaRPr lang="en-IN" sz="900" b="0" i="0" u="none" strike="noStrike">
              <a:effectLst/>
              <a:latin typeface="Arial" panose="020B0604020202020204" pitchFamily="34" charset="0"/>
            </a:endParaRPr>
          </a:p>
        </p:txBody>
      </p:sp>
      <p:sp>
        <p:nvSpPr>
          <p:cNvPr id="186" name="Rectangle 185">
            <a:extLst>
              <a:ext uri="{FF2B5EF4-FFF2-40B4-BE49-F238E27FC236}">
                <a16:creationId xmlns:a16="http://schemas.microsoft.com/office/drawing/2014/main" id="{3FFD56EE-4C5F-EFA7-07BD-D5D3BE68ED5E}"/>
              </a:ext>
            </a:extLst>
          </p:cNvPr>
          <p:cNvSpPr/>
          <p:nvPr/>
        </p:nvSpPr>
        <p:spPr>
          <a:xfrm rot="5400000">
            <a:off x="9915646" y="-832743"/>
            <a:ext cx="289385" cy="3939235"/>
          </a:xfrm>
          <a:prstGeom prst="rect">
            <a:avLst/>
          </a:prstGeom>
          <a:solidFill>
            <a:srgbClr val="20486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ea typeface="+mn-ea"/>
                <a:cs typeface="+mn-cs"/>
              </a:rPr>
              <a:t>Key Deliverables</a:t>
            </a:r>
          </a:p>
        </p:txBody>
      </p:sp>
      <p:sp>
        <p:nvSpPr>
          <p:cNvPr id="3" name="Footer Placeholder 3">
            <a:extLst>
              <a:ext uri="{FF2B5EF4-FFF2-40B4-BE49-F238E27FC236}">
                <a16:creationId xmlns:a16="http://schemas.microsoft.com/office/drawing/2014/main" id="{4DB3E85E-2384-2F2D-BE7E-84BE66F55A4C}"/>
              </a:ext>
            </a:extLst>
          </p:cNvPr>
          <p:cNvSpPr>
            <a:spLocks noGrp="1"/>
          </p:cNvSpPr>
          <p:nvPr>
            <p:ph type="ftr" sz="quarter" idx="11"/>
          </p:nvPr>
        </p:nvSpPr>
        <p:spPr>
          <a:xfrm>
            <a:off x="5013105" y="6505585"/>
            <a:ext cx="5398374" cy="182358"/>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©2025 </a:t>
            </a:r>
            <a:r>
              <a:rPr kumimoji="0" lang="en-US" sz="800" b="0" i="0" u="none" strike="noStrike" kern="1200" cap="none" spc="0" normalizeH="0" baseline="0" noProof="0" err="1">
                <a:ln>
                  <a:noFill/>
                </a:ln>
                <a:solidFill>
                  <a:srgbClr val="000000"/>
                </a:solidFill>
                <a:effectLst/>
                <a:uLnTx/>
                <a:uFillTx/>
                <a:latin typeface="Calibri" panose="020F0502020204030204"/>
                <a:ea typeface="+mn-ea"/>
                <a:cs typeface="+mn-cs"/>
              </a:rPr>
              <a:t>Exl</a:t>
            </a: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 Service Holdings, Inc. All rights reserved.</a:t>
            </a:r>
          </a:p>
        </p:txBody>
      </p:sp>
    </p:spTree>
    <p:extLst>
      <p:ext uri="{BB962C8B-B14F-4D97-AF65-F5344CB8AC3E}">
        <p14:creationId xmlns:p14="http://schemas.microsoft.com/office/powerpoint/2010/main" val="17978093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4F7A9-D67F-EB8B-0F00-A6803F550CB1}"/>
            </a:ext>
          </a:extLst>
        </p:cNvPr>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7408F2A6-DD15-EF65-4FC5-17B3E2FE9B76}"/>
              </a:ext>
            </a:extLst>
          </p:cNvPr>
          <p:cNvCxnSpPr>
            <a:cxnSpLocks/>
            <a:stCxn id="13" idx="3"/>
            <a:endCxn id="17" idx="1"/>
          </p:cNvCxnSpPr>
          <p:nvPr/>
        </p:nvCxnSpPr>
        <p:spPr>
          <a:xfrm flipV="1">
            <a:off x="4328373" y="3105891"/>
            <a:ext cx="2303440" cy="1"/>
          </a:xfrm>
          <a:prstGeom prst="line">
            <a:avLst/>
          </a:prstGeom>
        </p:spPr>
        <p:style>
          <a:lnRef idx="1">
            <a:schemeClr val="accent1"/>
          </a:lnRef>
          <a:fillRef idx="0">
            <a:schemeClr val="accent1"/>
          </a:fillRef>
          <a:effectRef idx="0">
            <a:schemeClr val="accent1"/>
          </a:effectRef>
          <a:fontRef idx="minor">
            <a:schemeClr val="tx1"/>
          </a:fontRef>
        </p:style>
      </p:cxnSp>
      <p:sp>
        <p:nvSpPr>
          <p:cNvPr id="173" name="Rectangle 172">
            <a:extLst>
              <a:ext uri="{FF2B5EF4-FFF2-40B4-BE49-F238E27FC236}">
                <a16:creationId xmlns:a16="http://schemas.microsoft.com/office/drawing/2014/main" id="{0D0C14C0-31F5-47C7-1492-C9696DB5269C}"/>
              </a:ext>
            </a:extLst>
          </p:cNvPr>
          <p:cNvSpPr/>
          <p:nvPr/>
        </p:nvSpPr>
        <p:spPr>
          <a:xfrm>
            <a:off x="1214259" y="1792581"/>
            <a:ext cx="1338732" cy="535935"/>
          </a:xfrm>
          <a:prstGeom prst="rect">
            <a:avLst/>
          </a:prstGeom>
          <a:solidFill>
            <a:schemeClr val="tx1">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sng" strike="noStrike" kern="1200" cap="none" spc="0" normalizeH="0" baseline="0" noProof="0">
                <a:ln>
                  <a:noFill/>
                </a:ln>
                <a:solidFill>
                  <a:srgbClr val="E6F6FB">
                    <a:lumMod val="10000"/>
                  </a:srgbClr>
                </a:solidFill>
                <a:effectLst/>
                <a:uLnTx/>
                <a:uFillTx/>
                <a:latin typeface="Calibri" panose="020F0502020204030204"/>
                <a:ea typeface="+mn-ea"/>
                <a:cs typeface="+mn-cs"/>
              </a:rPr>
              <a:t>Run the WLEC Master Macro to create file &amp; Folder Structure</a:t>
            </a:r>
          </a:p>
        </p:txBody>
      </p:sp>
      <p:sp>
        <p:nvSpPr>
          <p:cNvPr id="126" name="Rectangle 125">
            <a:extLst>
              <a:ext uri="{FF2B5EF4-FFF2-40B4-BE49-F238E27FC236}">
                <a16:creationId xmlns:a16="http://schemas.microsoft.com/office/drawing/2014/main" id="{8A762113-1FF8-A49F-4AAF-14C7993C51B5}"/>
              </a:ext>
            </a:extLst>
          </p:cNvPr>
          <p:cNvSpPr/>
          <p:nvPr/>
        </p:nvSpPr>
        <p:spPr>
          <a:xfrm>
            <a:off x="1039248" y="2883412"/>
            <a:ext cx="717909" cy="444958"/>
          </a:xfrm>
          <a:prstGeom prst="rect">
            <a:avLst/>
          </a:prstGeom>
          <a:solidFill>
            <a:schemeClr val="accent4">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libri" panose="020F0502020204030204"/>
                <a:ea typeface="+mn-ea"/>
                <a:cs typeface="+mn-cs"/>
              </a:rPr>
              <a:t>Create Folders</a:t>
            </a:r>
          </a:p>
        </p:txBody>
      </p:sp>
      <p:sp>
        <p:nvSpPr>
          <p:cNvPr id="140" name="Rectangle 139">
            <a:extLst>
              <a:ext uri="{FF2B5EF4-FFF2-40B4-BE49-F238E27FC236}">
                <a16:creationId xmlns:a16="http://schemas.microsoft.com/office/drawing/2014/main" id="{8A1613E9-E7B4-EED4-22E0-C6FCDE9FF906}"/>
              </a:ext>
            </a:extLst>
          </p:cNvPr>
          <p:cNvSpPr/>
          <p:nvPr/>
        </p:nvSpPr>
        <p:spPr>
          <a:xfrm>
            <a:off x="4864352" y="1877522"/>
            <a:ext cx="1178016" cy="366051"/>
          </a:xfrm>
          <a:prstGeom prst="rect">
            <a:avLst/>
          </a:prstGeom>
          <a:solidFill>
            <a:schemeClr val="tx1">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sng" strike="noStrike" kern="1200" cap="none" spc="0" normalizeH="0" baseline="0" noProof="0">
                <a:ln>
                  <a:noFill/>
                </a:ln>
                <a:solidFill>
                  <a:srgbClr val="E6F6FB">
                    <a:lumMod val="10000"/>
                  </a:srgbClr>
                </a:solidFill>
                <a:effectLst/>
                <a:uLnTx/>
                <a:uFillTx/>
                <a:latin typeface="Calibri" panose="020F0502020204030204"/>
                <a:ea typeface="+mn-ea"/>
                <a:cs typeface="+mn-cs"/>
              </a:rPr>
              <a:t>Run the Triton model</a:t>
            </a:r>
          </a:p>
        </p:txBody>
      </p:sp>
      <p:cxnSp>
        <p:nvCxnSpPr>
          <p:cNvPr id="462" name="Straight Arrow Connector 461">
            <a:extLst>
              <a:ext uri="{FF2B5EF4-FFF2-40B4-BE49-F238E27FC236}">
                <a16:creationId xmlns:a16="http://schemas.microsoft.com/office/drawing/2014/main" id="{A97D8AB5-C41D-B5C5-B422-365FBD5D4855}"/>
              </a:ext>
            </a:extLst>
          </p:cNvPr>
          <p:cNvCxnSpPr>
            <a:cxnSpLocks/>
            <a:stCxn id="140" idx="3"/>
            <a:endCxn id="448" idx="2"/>
          </p:cNvCxnSpPr>
          <p:nvPr/>
        </p:nvCxnSpPr>
        <p:spPr>
          <a:xfrm flipV="1">
            <a:off x="6042368" y="2054920"/>
            <a:ext cx="1103497" cy="56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4" name="Rectangle 193">
            <a:extLst>
              <a:ext uri="{FF2B5EF4-FFF2-40B4-BE49-F238E27FC236}">
                <a16:creationId xmlns:a16="http://schemas.microsoft.com/office/drawing/2014/main" id="{C0AF9B3C-5F72-D77B-5ADE-E8EA630A9390}"/>
              </a:ext>
            </a:extLst>
          </p:cNvPr>
          <p:cNvSpPr/>
          <p:nvPr/>
        </p:nvSpPr>
        <p:spPr>
          <a:xfrm>
            <a:off x="3769325" y="4029082"/>
            <a:ext cx="1425400" cy="487214"/>
          </a:xfrm>
          <a:prstGeom prst="rect">
            <a:avLst/>
          </a:prstGeom>
          <a:solidFill>
            <a:schemeClr val="tx1">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sng" strike="noStrike" kern="1200" cap="none" spc="0" normalizeH="0" baseline="0" noProof="0">
                <a:ln>
                  <a:noFill/>
                </a:ln>
                <a:solidFill>
                  <a:srgbClr val="E6F6FB">
                    <a:lumMod val="10000"/>
                  </a:srgbClr>
                </a:solidFill>
                <a:effectLst/>
                <a:uLnTx/>
                <a:uFillTx/>
                <a:latin typeface="Calibri" panose="020F0502020204030204"/>
                <a:ea typeface="+mn-ea"/>
                <a:cs typeface="+mn-cs"/>
              </a:rPr>
              <a:t>Analyze and Complete reports</a:t>
            </a:r>
          </a:p>
        </p:txBody>
      </p:sp>
      <p:sp>
        <p:nvSpPr>
          <p:cNvPr id="195" name="Rectangle 194">
            <a:extLst>
              <a:ext uri="{FF2B5EF4-FFF2-40B4-BE49-F238E27FC236}">
                <a16:creationId xmlns:a16="http://schemas.microsoft.com/office/drawing/2014/main" id="{7BB5B47F-B655-AEA0-3C2B-7EFDABA0A3ED}"/>
              </a:ext>
            </a:extLst>
          </p:cNvPr>
          <p:cNvSpPr/>
          <p:nvPr/>
        </p:nvSpPr>
        <p:spPr>
          <a:xfrm>
            <a:off x="3137295" y="5268290"/>
            <a:ext cx="2693692" cy="722052"/>
          </a:xfrm>
          <a:prstGeom prst="rect">
            <a:avLst/>
          </a:prstGeom>
          <a:solidFill>
            <a:schemeClr val="accent4">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libri" panose="020F0502020204030204"/>
                <a:ea typeface="+mn-ea"/>
                <a:cs typeface="+mn-cs"/>
              </a:rPr>
              <a:t>Update death claims, surrender claims, 2 to 1 policies, due premiums and cash value information in the respective files and analyze the trend for change in reserve, fund value and face amount</a:t>
            </a:r>
          </a:p>
        </p:txBody>
      </p:sp>
      <p:sp>
        <p:nvSpPr>
          <p:cNvPr id="196" name="Rectangle 195">
            <a:extLst>
              <a:ext uri="{FF2B5EF4-FFF2-40B4-BE49-F238E27FC236}">
                <a16:creationId xmlns:a16="http://schemas.microsoft.com/office/drawing/2014/main" id="{FD48CC89-F04F-2F7D-98D8-AE1B9F90D4D4}"/>
              </a:ext>
            </a:extLst>
          </p:cNvPr>
          <p:cNvSpPr/>
          <p:nvPr/>
        </p:nvSpPr>
        <p:spPr>
          <a:xfrm>
            <a:off x="6046473" y="5261219"/>
            <a:ext cx="838757" cy="736195"/>
          </a:xfrm>
          <a:prstGeom prst="rect">
            <a:avLst/>
          </a:prstGeom>
          <a:solidFill>
            <a:schemeClr val="accent4">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libri" panose="020F0502020204030204"/>
                <a:ea typeface="+mn-ea"/>
                <a:cs typeface="+mn-cs"/>
              </a:rPr>
              <a:t>Check for reasonableness and send for review</a:t>
            </a:r>
          </a:p>
        </p:txBody>
      </p:sp>
      <p:cxnSp>
        <p:nvCxnSpPr>
          <p:cNvPr id="464" name="Straight Arrow Connector 463">
            <a:extLst>
              <a:ext uri="{FF2B5EF4-FFF2-40B4-BE49-F238E27FC236}">
                <a16:creationId xmlns:a16="http://schemas.microsoft.com/office/drawing/2014/main" id="{835D7271-A281-E6BC-03B8-C0BA61C07117}"/>
              </a:ext>
            </a:extLst>
          </p:cNvPr>
          <p:cNvCxnSpPr>
            <a:cxnSpLocks/>
            <a:stCxn id="3" idx="3"/>
            <a:endCxn id="194" idx="1"/>
          </p:cNvCxnSpPr>
          <p:nvPr/>
        </p:nvCxnSpPr>
        <p:spPr>
          <a:xfrm>
            <a:off x="2359502" y="4272689"/>
            <a:ext cx="140982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61799741-A8CB-CC53-80A7-2DA7DEA516A4}"/>
              </a:ext>
            </a:extLst>
          </p:cNvPr>
          <p:cNvSpPr/>
          <p:nvPr/>
        </p:nvSpPr>
        <p:spPr>
          <a:xfrm>
            <a:off x="3196034" y="1792348"/>
            <a:ext cx="1119073" cy="536400"/>
          </a:xfrm>
          <a:prstGeom prst="rect">
            <a:avLst/>
          </a:prstGeom>
          <a:solidFill>
            <a:schemeClr val="tx1">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sng" strike="noStrike" kern="1200" cap="none" spc="0" normalizeH="0" baseline="0" noProof="0">
                <a:ln>
                  <a:noFill/>
                </a:ln>
                <a:solidFill>
                  <a:srgbClr val="E6F6FB">
                    <a:lumMod val="10000"/>
                  </a:srgbClr>
                </a:solidFill>
                <a:effectLst/>
                <a:uLnTx/>
                <a:uFillTx/>
                <a:latin typeface="Calibri" panose="020F0502020204030204"/>
                <a:ea typeface="+mn-ea"/>
                <a:cs typeface="+mn-cs"/>
              </a:rPr>
              <a:t>Check data issues in IFE files and correct them if possible</a:t>
            </a:r>
          </a:p>
        </p:txBody>
      </p:sp>
      <p:cxnSp>
        <p:nvCxnSpPr>
          <p:cNvPr id="7" name="Straight Arrow Connector 6">
            <a:extLst>
              <a:ext uri="{FF2B5EF4-FFF2-40B4-BE49-F238E27FC236}">
                <a16:creationId xmlns:a16="http://schemas.microsoft.com/office/drawing/2014/main" id="{FF630A80-A6AC-6C57-929D-5BE8A17B423F}"/>
              </a:ext>
            </a:extLst>
          </p:cNvPr>
          <p:cNvCxnSpPr>
            <a:stCxn id="173" idx="3"/>
            <a:endCxn id="5" idx="1"/>
          </p:cNvCxnSpPr>
          <p:nvPr/>
        </p:nvCxnSpPr>
        <p:spPr>
          <a:xfrm flipV="1">
            <a:off x="2552991" y="2060548"/>
            <a:ext cx="64304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9EE5D39-127E-FC5C-9609-4B15318855BF}"/>
              </a:ext>
            </a:extLst>
          </p:cNvPr>
          <p:cNvCxnSpPr>
            <a:cxnSpLocks/>
            <a:stCxn id="451" idx="6"/>
            <a:endCxn id="173" idx="1"/>
          </p:cNvCxnSpPr>
          <p:nvPr/>
        </p:nvCxnSpPr>
        <p:spPr>
          <a:xfrm flipV="1">
            <a:off x="971689" y="2060549"/>
            <a:ext cx="242570" cy="37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48AA12AA-6672-3201-A7EE-BC39C177D423}"/>
              </a:ext>
            </a:extLst>
          </p:cNvPr>
          <p:cNvCxnSpPr>
            <a:stCxn id="173" idx="2"/>
            <a:endCxn id="126" idx="0"/>
          </p:cNvCxnSpPr>
          <p:nvPr/>
        </p:nvCxnSpPr>
        <p:spPr>
          <a:xfrm rot="5400000">
            <a:off x="1363466" y="2363253"/>
            <a:ext cx="554896" cy="48542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B622F0D9-2F24-347C-64A6-E6BD07002D12}"/>
              </a:ext>
            </a:extLst>
          </p:cNvPr>
          <p:cNvCxnSpPr>
            <a:cxnSpLocks/>
            <a:stCxn id="173" idx="2"/>
            <a:endCxn id="33" idx="0"/>
          </p:cNvCxnSpPr>
          <p:nvPr/>
        </p:nvCxnSpPr>
        <p:spPr>
          <a:xfrm rot="16200000" flipH="1">
            <a:off x="1848267" y="2363873"/>
            <a:ext cx="554896" cy="48418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1655D8F8-76F3-86ED-A8FA-6A0B730FE71F}"/>
              </a:ext>
            </a:extLst>
          </p:cNvPr>
          <p:cNvSpPr/>
          <p:nvPr/>
        </p:nvSpPr>
        <p:spPr>
          <a:xfrm>
            <a:off x="1870794" y="2883412"/>
            <a:ext cx="994024" cy="444958"/>
          </a:xfrm>
          <a:prstGeom prst="rect">
            <a:avLst/>
          </a:prstGeom>
          <a:solidFill>
            <a:schemeClr val="accent4">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libri" panose="020F0502020204030204"/>
                <a:ea typeface="+mn-ea"/>
                <a:cs typeface="+mn-cs"/>
              </a:rPr>
              <a:t>Rename files to reflect current Val date</a:t>
            </a:r>
          </a:p>
        </p:txBody>
      </p:sp>
      <p:sp>
        <p:nvSpPr>
          <p:cNvPr id="448" name="Oval 447">
            <a:extLst>
              <a:ext uri="{FF2B5EF4-FFF2-40B4-BE49-F238E27FC236}">
                <a16:creationId xmlns:a16="http://schemas.microsoft.com/office/drawing/2014/main" id="{AA5F7A2B-5163-8593-C3FD-20A495E7EF68}"/>
              </a:ext>
            </a:extLst>
          </p:cNvPr>
          <p:cNvSpPr/>
          <p:nvPr/>
        </p:nvSpPr>
        <p:spPr>
          <a:xfrm>
            <a:off x="7145865" y="1910081"/>
            <a:ext cx="267755" cy="289677"/>
          </a:xfrm>
          <a:prstGeom prst="ellipse">
            <a:avLst/>
          </a:prstGeom>
          <a:solidFill>
            <a:schemeClr val="accent2">
              <a:lumMod val="7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t>a</a:t>
            </a:r>
          </a:p>
        </p:txBody>
      </p:sp>
      <p:sp>
        <p:nvSpPr>
          <p:cNvPr id="451" name="Oval 450">
            <a:extLst>
              <a:ext uri="{FF2B5EF4-FFF2-40B4-BE49-F238E27FC236}">
                <a16:creationId xmlns:a16="http://schemas.microsoft.com/office/drawing/2014/main" id="{F2C94483-2B31-6F14-25D2-BDB8CD27A4DE}"/>
              </a:ext>
            </a:extLst>
          </p:cNvPr>
          <p:cNvSpPr/>
          <p:nvPr/>
        </p:nvSpPr>
        <p:spPr>
          <a:xfrm>
            <a:off x="440552" y="1954657"/>
            <a:ext cx="531137" cy="219348"/>
          </a:xfrm>
          <a:prstGeom prst="ellipse">
            <a:avLst/>
          </a:prstGeom>
          <a:solidFill>
            <a:srgbClr val="92D050"/>
          </a:solidFill>
          <a:ln>
            <a:solidFill>
              <a:srgbClr val="92D05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Calibri Light" panose="020F0302020204030204"/>
                <a:ea typeface="+mn-ea"/>
                <a:cs typeface="+mn-cs"/>
              </a:rPr>
              <a:t>Start</a:t>
            </a:r>
          </a:p>
        </p:txBody>
      </p:sp>
      <p:sp>
        <p:nvSpPr>
          <p:cNvPr id="459" name="Rectangle 458">
            <a:extLst>
              <a:ext uri="{FF2B5EF4-FFF2-40B4-BE49-F238E27FC236}">
                <a16:creationId xmlns:a16="http://schemas.microsoft.com/office/drawing/2014/main" id="{3414143E-776B-820E-9D82-3B2DD6E9B1CF}"/>
              </a:ext>
            </a:extLst>
          </p:cNvPr>
          <p:cNvSpPr/>
          <p:nvPr/>
        </p:nvSpPr>
        <p:spPr>
          <a:xfrm>
            <a:off x="50624" y="1115962"/>
            <a:ext cx="231928" cy="5076077"/>
          </a:xfrm>
          <a:prstGeom prst="rect">
            <a:avLst/>
          </a:prstGeom>
          <a:solidFill>
            <a:srgbClr val="20486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Light" panose="020F0302020204030204"/>
                <a:ea typeface="+mn-ea"/>
                <a:cs typeface="+mn-cs"/>
              </a:rPr>
              <a:t>Process</a:t>
            </a:r>
          </a:p>
        </p:txBody>
      </p:sp>
      <p:cxnSp>
        <p:nvCxnSpPr>
          <p:cNvPr id="2" name="Straight Connector 1">
            <a:extLst>
              <a:ext uri="{FF2B5EF4-FFF2-40B4-BE49-F238E27FC236}">
                <a16:creationId xmlns:a16="http://schemas.microsoft.com/office/drawing/2014/main" id="{A7FB9A32-CCA9-CE8A-616F-2DF5A6CE88A3}"/>
              </a:ext>
            </a:extLst>
          </p:cNvPr>
          <p:cNvCxnSpPr>
            <a:cxnSpLocks/>
            <a:stCxn id="4" idx="3"/>
            <a:endCxn id="6" idx="1"/>
          </p:cNvCxnSpPr>
          <p:nvPr/>
        </p:nvCxnSpPr>
        <p:spPr>
          <a:xfrm>
            <a:off x="1698513" y="5629316"/>
            <a:ext cx="19979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3315D927-6AA8-0A26-681F-AB0EC55E679F}"/>
              </a:ext>
            </a:extLst>
          </p:cNvPr>
          <p:cNvSpPr/>
          <p:nvPr/>
        </p:nvSpPr>
        <p:spPr>
          <a:xfrm>
            <a:off x="1181486" y="4051228"/>
            <a:ext cx="1178016" cy="442922"/>
          </a:xfrm>
          <a:prstGeom prst="rect">
            <a:avLst/>
          </a:prstGeom>
          <a:solidFill>
            <a:schemeClr val="tx1">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sng" strike="noStrike" kern="1200" cap="none" spc="0" normalizeH="0" baseline="0" noProof="0">
                <a:ln>
                  <a:noFill/>
                </a:ln>
                <a:solidFill>
                  <a:srgbClr val="E6F6FB">
                    <a:lumMod val="10000"/>
                  </a:srgbClr>
                </a:solidFill>
                <a:effectLst/>
                <a:uLnTx/>
                <a:uFillTx/>
                <a:latin typeface="Calibri" panose="020F0502020204030204"/>
                <a:ea typeface="+mn-ea"/>
                <a:cs typeface="+mn-cs"/>
              </a:rPr>
              <a:t>Calculate Disability and Final  Reserves</a:t>
            </a:r>
          </a:p>
        </p:txBody>
      </p:sp>
      <p:sp>
        <p:nvSpPr>
          <p:cNvPr id="4" name="Rectangle 3">
            <a:extLst>
              <a:ext uri="{FF2B5EF4-FFF2-40B4-BE49-F238E27FC236}">
                <a16:creationId xmlns:a16="http://schemas.microsoft.com/office/drawing/2014/main" id="{4FD9EAEE-7E07-3213-052F-B5E5E4B22C6E}"/>
              </a:ext>
            </a:extLst>
          </p:cNvPr>
          <p:cNvSpPr/>
          <p:nvPr/>
        </p:nvSpPr>
        <p:spPr>
          <a:xfrm>
            <a:off x="576827" y="5260316"/>
            <a:ext cx="1121686" cy="738000"/>
          </a:xfrm>
          <a:prstGeom prst="rect">
            <a:avLst/>
          </a:prstGeom>
          <a:solidFill>
            <a:schemeClr val="accent4">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libri" panose="020F0502020204030204"/>
                <a:ea typeface="+mn-ea"/>
                <a:cs typeface="+mn-cs"/>
              </a:rPr>
              <a:t>Run Access queries to calculate Disability reserves (quarterly process)</a:t>
            </a:r>
          </a:p>
        </p:txBody>
      </p:sp>
      <p:sp>
        <p:nvSpPr>
          <p:cNvPr id="6" name="Rectangle 5">
            <a:extLst>
              <a:ext uri="{FF2B5EF4-FFF2-40B4-BE49-F238E27FC236}">
                <a16:creationId xmlns:a16="http://schemas.microsoft.com/office/drawing/2014/main" id="{AECE833A-F8EA-7259-12ED-D2CF310B2A65}"/>
              </a:ext>
            </a:extLst>
          </p:cNvPr>
          <p:cNvSpPr/>
          <p:nvPr/>
        </p:nvSpPr>
        <p:spPr>
          <a:xfrm>
            <a:off x="1898306" y="5260316"/>
            <a:ext cx="1094050" cy="738000"/>
          </a:xfrm>
          <a:prstGeom prst="rect">
            <a:avLst/>
          </a:prstGeom>
          <a:solidFill>
            <a:schemeClr val="accent4">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libri" panose="020F0502020204030204"/>
                <a:ea typeface="+mn-ea"/>
                <a:cs typeface="+mn-cs"/>
              </a:rPr>
              <a:t>Combine disability reserves with reserves from Triton jobs to reach to final reserves.</a:t>
            </a:r>
          </a:p>
        </p:txBody>
      </p:sp>
      <p:cxnSp>
        <p:nvCxnSpPr>
          <p:cNvPr id="8" name="Connector: Elbow 7">
            <a:extLst>
              <a:ext uri="{FF2B5EF4-FFF2-40B4-BE49-F238E27FC236}">
                <a16:creationId xmlns:a16="http://schemas.microsoft.com/office/drawing/2014/main" id="{F32A3ED1-6A18-D133-33E6-EEEDC12559E9}"/>
              </a:ext>
            </a:extLst>
          </p:cNvPr>
          <p:cNvCxnSpPr>
            <a:stCxn id="3" idx="2"/>
            <a:endCxn id="4" idx="0"/>
          </p:cNvCxnSpPr>
          <p:nvPr/>
        </p:nvCxnSpPr>
        <p:spPr>
          <a:xfrm rot="5400000">
            <a:off x="1070999" y="4560821"/>
            <a:ext cx="766166" cy="632824"/>
          </a:xfrm>
          <a:prstGeom prst="bentConnector3">
            <a:avLst>
              <a:gd name="adj1" fmla="val 6989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B3B43095-1B04-889C-87AD-620ACB4F1F44}"/>
              </a:ext>
            </a:extLst>
          </p:cNvPr>
          <p:cNvSpPr/>
          <p:nvPr/>
        </p:nvSpPr>
        <p:spPr>
          <a:xfrm>
            <a:off x="3110046" y="2861566"/>
            <a:ext cx="1218327" cy="488651"/>
          </a:xfrm>
          <a:prstGeom prst="rect">
            <a:avLst/>
          </a:prstGeom>
          <a:solidFill>
            <a:schemeClr val="accent4">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libri" panose="020F0502020204030204"/>
                <a:ea typeface="+mn-ea"/>
                <a:cs typeface="+mn-cs"/>
              </a:rPr>
              <a:t>Create batch file and run it to create Triton jobs</a:t>
            </a:r>
          </a:p>
        </p:txBody>
      </p:sp>
      <p:sp>
        <p:nvSpPr>
          <p:cNvPr id="14" name="Rectangle 13">
            <a:extLst>
              <a:ext uri="{FF2B5EF4-FFF2-40B4-BE49-F238E27FC236}">
                <a16:creationId xmlns:a16="http://schemas.microsoft.com/office/drawing/2014/main" id="{A5D82531-4C43-1722-1647-F8A0733C7C8F}"/>
              </a:ext>
            </a:extLst>
          </p:cNvPr>
          <p:cNvSpPr/>
          <p:nvPr/>
        </p:nvSpPr>
        <p:spPr>
          <a:xfrm>
            <a:off x="4482039" y="2861091"/>
            <a:ext cx="599628" cy="489600"/>
          </a:xfrm>
          <a:prstGeom prst="rect">
            <a:avLst/>
          </a:prstGeom>
          <a:solidFill>
            <a:schemeClr val="accent4">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libri" panose="020F0502020204030204"/>
                <a:ea typeface="+mn-ea"/>
                <a:cs typeface="+mn-cs"/>
              </a:rPr>
              <a:t>Update Interest rates</a:t>
            </a:r>
          </a:p>
        </p:txBody>
      </p:sp>
      <p:sp>
        <p:nvSpPr>
          <p:cNvPr id="15" name="Rectangle 14">
            <a:extLst>
              <a:ext uri="{FF2B5EF4-FFF2-40B4-BE49-F238E27FC236}">
                <a16:creationId xmlns:a16="http://schemas.microsoft.com/office/drawing/2014/main" id="{B7E4AD4D-4DDA-3A3B-A771-73D744E00945}"/>
              </a:ext>
            </a:extLst>
          </p:cNvPr>
          <p:cNvSpPr/>
          <p:nvPr/>
        </p:nvSpPr>
        <p:spPr>
          <a:xfrm>
            <a:off x="5202681" y="2861091"/>
            <a:ext cx="1273093" cy="489600"/>
          </a:xfrm>
          <a:prstGeom prst="rect">
            <a:avLst/>
          </a:prstGeom>
          <a:solidFill>
            <a:schemeClr val="accent4">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libri" panose="020F0502020204030204"/>
                <a:ea typeface="+mn-ea"/>
                <a:cs typeface="+mn-cs"/>
              </a:rPr>
              <a:t>Scrub and merge the IFE files using MS Access database</a:t>
            </a:r>
          </a:p>
        </p:txBody>
      </p:sp>
      <p:sp>
        <p:nvSpPr>
          <p:cNvPr id="17" name="Rectangle 16">
            <a:extLst>
              <a:ext uri="{FF2B5EF4-FFF2-40B4-BE49-F238E27FC236}">
                <a16:creationId xmlns:a16="http://schemas.microsoft.com/office/drawing/2014/main" id="{2AB0ED73-C119-161E-633C-323B6B8C269A}"/>
              </a:ext>
            </a:extLst>
          </p:cNvPr>
          <p:cNvSpPr/>
          <p:nvPr/>
        </p:nvSpPr>
        <p:spPr>
          <a:xfrm>
            <a:off x="6631813" y="2861091"/>
            <a:ext cx="1258806" cy="489600"/>
          </a:xfrm>
          <a:prstGeom prst="rect">
            <a:avLst/>
          </a:prstGeom>
          <a:solidFill>
            <a:schemeClr val="accent4">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Calibri" panose="020F0502020204030204"/>
                <a:ea typeface="+mn-ea"/>
                <a:cs typeface="+mn-cs"/>
              </a:rPr>
              <a:t>Run Triton jobs and review the valuation errors</a:t>
            </a:r>
          </a:p>
        </p:txBody>
      </p:sp>
      <p:cxnSp>
        <p:nvCxnSpPr>
          <p:cNvPr id="18" name="Straight Arrow Connector 17">
            <a:extLst>
              <a:ext uri="{FF2B5EF4-FFF2-40B4-BE49-F238E27FC236}">
                <a16:creationId xmlns:a16="http://schemas.microsoft.com/office/drawing/2014/main" id="{6977C52D-D643-F2B6-46FA-550BB75B550D}"/>
              </a:ext>
            </a:extLst>
          </p:cNvPr>
          <p:cNvCxnSpPr>
            <a:cxnSpLocks/>
            <a:stCxn id="5" idx="3"/>
            <a:endCxn id="140" idx="1"/>
          </p:cNvCxnSpPr>
          <p:nvPr/>
        </p:nvCxnSpPr>
        <p:spPr>
          <a:xfrm>
            <a:off x="4315107" y="2060548"/>
            <a:ext cx="5492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735F830C-8513-8A71-4D5A-AE999E74585B}"/>
              </a:ext>
            </a:extLst>
          </p:cNvPr>
          <p:cNvCxnSpPr>
            <a:stCxn id="140" idx="2"/>
            <a:endCxn id="13" idx="0"/>
          </p:cNvCxnSpPr>
          <p:nvPr/>
        </p:nvCxnSpPr>
        <p:spPr>
          <a:xfrm rot="5400000">
            <a:off x="4277289" y="1685494"/>
            <a:ext cx="617993" cy="173415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F178ADAF-E449-135D-8976-6734FC2D81D9}"/>
              </a:ext>
            </a:extLst>
          </p:cNvPr>
          <p:cNvCxnSpPr>
            <a:stCxn id="140" idx="2"/>
            <a:endCxn id="14" idx="0"/>
          </p:cNvCxnSpPr>
          <p:nvPr/>
        </p:nvCxnSpPr>
        <p:spPr>
          <a:xfrm rot="5400000">
            <a:off x="4808848" y="2216579"/>
            <a:ext cx="617518" cy="67150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30E05E28-8239-0A8A-9D7D-B1F9909CAE18}"/>
              </a:ext>
            </a:extLst>
          </p:cNvPr>
          <p:cNvCxnSpPr>
            <a:cxnSpLocks/>
            <a:stCxn id="140" idx="2"/>
            <a:endCxn id="15" idx="0"/>
          </p:cNvCxnSpPr>
          <p:nvPr/>
        </p:nvCxnSpPr>
        <p:spPr>
          <a:xfrm rot="16200000" flipH="1">
            <a:off x="5337535" y="2359398"/>
            <a:ext cx="617518" cy="38586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5BF1FEB6-D379-693D-9238-467BFD163EAC}"/>
              </a:ext>
            </a:extLst>
          </p:cNvPr>
          <p:cNvCxnSpPr>
            <a:cxnSpLocks/>
            <a:stCxn id="140" idx="2"/>
            <a:endCxn id="17" idx="0"/>
          </p:cNvCxnSpPr>
          <p:nvPr/>
        </p:nvCxnSpPr>
        <p:spPr>
          <a:xfrm rot="16200000" flipH="1">
            <a:off x="6048529" y="1648404"/>
            <a:ext cx="617518" cy="180785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487" name="Group 486">
            <a:extLst>
              <a:ext uri="{FF2B5EF4-FFF2-40B4-BE49-F238E27FC236}">
                <a16:creationId xmlns:a16="http://schemas.microsoft.com/office/drawing/2014/main" id="{4D25B109-1D91-6407-E3DD-BEA72A7B25FB}"/>
              </a:ext>
            </a:extLst>
          </p:cNvPr>
          <p:cNvGrpSpPr/>
          <p:nvPr/>
        </p:nvGrpSpPr>
        <p:grpSpPr>
          <a:xfrm>
            <a:off x="5804900" y="3740552"/>
            <a:ext cx="1957377" cy="900848"/>
            <a:chOff x="5881101" y="3740552"/>
            <a:chExt cx="1957377" cy="900848"/>
          </a:xfrm>
        </p:grpSpPr>
        <p:sp>
          <p:nvSpPr>
            <p:cNvPr id="205" name="Rectangle 204">
              <a:extLst>
                <a:ext uri="{FF2B5EF4-FFF2-40B4-BE49-F238E27FC236}">
                  <a16:creationId xmlns:a16="http://schemas.microsoft.com/office/drawing/2014/main" id="{B51618DB-B0B5-CA3D-8C00-4B803A912C0E}"/>
                </a:ext>
              </a:extLst>
            </p:cNvPr>
            <p:cNvSpPr/>
            <p:nvPr/>
          </p:nvSpPr>
          <p:spPr>
            <a:xfrm>
              <a:off x="5881101" y="3903978"/>
              <a:ext cx="1957377" cy="737422"/>
            </a:xfrm>
            <a:prstGeom prst="rect">
              <a:avLst/>
            </a:prstGeom>
            <a:solidFill>
              <a:schemeClr val="tx1">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E6F6FB">
                      <a:lumMod val="10000"/>
                    </a:srgbClr>
                  </a:solidFill>
                  <a:effectLst/>
                  <a:uLnTx/>
                  <a:uFillTx/>
                  <a:latin typeface="Calibri" panose="020F0502020204030204"/>
                  <a:ea typeface="+mn-ea"/>
                  <a:cs typeface="+mn-cs"/>
                </a:rPr>
                <a:t>Identify and implement process improvement opportunities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E6F6FB">
                      <a:lumMod val="10000"/>
                    </a:srgbClr>
                  </a:solidFill>
                  <a:effectLst/>
                  <a:uLnTx/>
                  <a:uFillTx/>
                  <a:latin typeface="Calibri" panose="020F0502020204030204"/>
                  <a:ea typeface="+mn-ea"/>
                  <a:cs typeface="+mn-cs"/>
                </a:rPr>
                <a:t>Identify and implement automation opportunities</a:t>
              </a:r>
            </a:p>
          </p:txBody>
        </p:sp>
        <p:sp>
          <p:nvSpPr>
            <p:cNvPr id="54" name="Rectangle: Rounded Corners 53">
              <a:extLst>
                <a:ext uri="{FF2B5EF4-FFF2-40B4-BE49-F238E27FC236}">
                  <a16:creationId xmlns:a16="http://schemas.microsoft.com/office/drawing/2014/main" id="{020B15AB-1DE5-0067-C1FA-5662782D93D1}"/>
                </a:ext>
              </a:extLst>
            </p:cNvPr>
            <p:cNvSpPr/>
            <p:nvPr/>
          </p:nvSpPr>
          <p:spPr>
            <a:xfrm>
              <a:off x="6557533" y="3740552"/>
              <a:ext cx="604512" cy="228047"/>
            </a:xfrm>
            <a:prstGeom prst="roundRect">
              <a:avLst/>
            </a:prstGeom>
            <a:solidFill>
              <a:srgbClr val="CCCC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50" b="0" i="0" u="sng" strike="noStrike" kern="1200" cap="none" spc="0" normalizeH="0" baseline="0" noProof="0">
                  <a:ln>
                    <a:noFill/>
                  </a:ln>
                  <a:solidFill>
                    <a:srgbClr val="000000"/>
                  </a:solidFill>
                  <a:effectLst/>
                  <a:uLnTx/>
                  <a:uFillTx/>
                  <a:latin typeface="Calibri" panose="020F0502020204030204"/>
                  <a:ea typeface="+mn-ea"/>
                  <a:cs typeface="+mn-cs"/>
                </a:rPr>
                <a:t>Others</a:t>
              </a:r>
            </a:p>
          </p:txBody>
        </p:sp>
      </p:grpSp>
      <p:cxnSp>
        <p:nvCxnSpPr>
          <p:cNvPr id="56" name="Connector: Elbow 55">
            <a:extLst>
              <a:ext uri="{FF2B5EF4-FFF2-40B4-BE49-F238E27FC236}">
                <a16:creationId xmlns:a16="http://schemas.microsoft.com/office/drawing/2014/main" id="{2E0C6024-7FCD-2670-7272-490948770A99}"/>
              </a:ext>
            </a:extLst>
          </p:cNvPr>
          <p:cNvCxnSpPr>
            <a:cxnSpLocks/>
            <a:stCxn id="3" idx="2"/>
            <a:endCxn id="6" idx="0"/>
          </p:cNvCxnSpPr>
          <p:nvPr/>
        </p:nvCxnSpPr>
        <p:spPr>
          <a:xfrm rot="16200000" flipH="1">
            <a:off x="1724829" y="4539814"/>
            <a:ext cx="766166" cy="674837"/>
          </a:xfrm>
          <a:prstGeom prst="bentConnector3">
            <a:avLst>
              <a:gd name="adj1" fmla="val 6989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Connector: Elbow 59">
            <a:extLst>
              <a:ext uri="{FF2B5EF4-FFF2-40B4-BE49-F238E27FC236}">
                <a16:creationId xmlns:a16="http://schemas.microsoft.com/office/drawing/2014/main" id="{3F553B22-81F4-E75D-B8D1-6F096DAC102A}"/>
              </a:ext>
            </a:extLst>
          </p:cNvPr>
          <p:cNvCxnSpPr>
            <a:cxnSpLocks/>
            <a:stCxn id="194" idx="2"/>
            <a:endCxn id="195" idx="0"/>
          </p:cNvCxnSpPr>
          <p:nvPr/>
        </p:nvCxnSpPr>
        <p:spPr>
          <a:xfrm rot="16200000" flipH="1">
            <a:off x="4107086" y="4891235"/>
            <a:ext cx="751994" cy="211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Connector: Elbow 62">
            <a:extLst>
              <a:ext uri="{FF2B5EF4-FFF2-40B4-BE49-F238E27FC236}">
                <a16:creationId xmlns:a16="http://schemas.microsoft.com/office/drawing/2014/main" id="{41ECFBB4-8CD6-1A42-1B30-5178E2F92E1E}"/>
              </a:ext>
            </a:extLst>
          </p:cNvPr>
          <p:cNvCxnSpPr>
            <a:cxnSpLocks/>
            <a:stCxn id="194" idx="2"/>
            <a:endCxn id="196" idx="0"/>
          </p:cNvCxnSpPr>
          <p:nvPr/>
        </p:nvCxnSpPr>
        <p:spPr>
          <a:xfrm rot="16200000" flipH="1">
            <a:off x="5101477" y="3896843"/>
            <a:ext cx="744923" cy="1983827"/>
          </a:xfrm>
          <a:prstGeom prst="bentConnector3">
            <a:avLst>
              <a:gd name="adj1" fmla="val 5730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4" name="Straight Arrow Connector 453">
            <a:extLst>
              <a:ext uri="{FF2B5EF4-FFF2-40B4-BE49-F238E27FC236}">
                <a16:creationId xmlns:a16="http://schemas.microsoft.com/office/drawing/2014/main" id="{792149DE-F7B5-2B1F-2818-ADDAA5E3EFAC}"/>
              </a:ext>
            </a:extLst>
          </p:cNvPr>
          <p:cNvCxnSpPr>
            <a:cxnSpLocks/>
            <a:stCxn id="194" idx="3"/>
            <a:endCxn id="205" idx="1"/>
          </p:cNvCxnSpPr>
          <p:nvPr/>
        </p:nvCxnSpPr>
        <p:spPr>
          <a:xfrm>
            <a:off x="5194725" y="4272689"/>
            <a:ext cx="6101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8" name="Oval 457">
            <a:extLst>
              <a:ext uri="{FF2B5EF4-FFF2-40B4-BE49-F238E27FC236}">
                <a16:creationId xmlns:a16="http://schemas.microsoft.com/office/drawing/2014/main" id="{8FA20111-D889-FEAA-F3DC-D9D7325AC2C8}"/>
              </a:ext>
            </a:extLst>
          </p:cNvPr>
          <p:cNvSpPr/>
          <p:nvPr/>
        </p:nvSpPr>
        <p:spPr>
          <a:xfrm>
            <a:off x="531714" y="4127851"/>
            <a:ext cx="267755" cy="289677"/>
          </a:xfrm>
          <a:prstGeom prst="ellipse">
            <a:avLst/>
          </a:prstGeom>
          <a:solidFill>
            <a:schemeClr val="accent2">
              <a:lumMod val="7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Calibri" panose="020F0502020204030204"/>
                <a:ea typeface="+mn-ea"/>
                <a:cs typeface="+mn-cs"/>
              </a:rPr>
              <a:t>a</a:t>
            </a:r>
          </a:p>
        </p:txBody>
      </p:sp>
      <p:cxnSp>
        <p:nvCxnSpPr>
          <p:cNvPr id="460" name="Straight Arrow Connector 459">
            <a:extLst>
              <a:ext uri="{FF2B5EF4-FFF2-40B4-BE49-F238E27FC236}">
                <a16:creationId xmlns:a16="http://schemas.microsoft.com/office/drawing/2014/main" id="{45FD1248-A9FC-3513-87E4-B9D917D79729}"/>
              </a:ext>
            </a:extLst>
          </p:cNvPr>
          <p:cNvCxnSpPr>
            <a:cxnSpLocks/>
            <a:stCxn id="458" idx="6"/>
            <a:endCxn id="3" idx="1"/>
          </p:cNvCxnSpPr>
          <p:nvPr/>
        </p:nvCxnSpPr>
        <p:spPr>
          <a:xfrm flipV="1">
            <a:off x="799469" y="4272689"/>
            <a:ext cx="38201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5" name="Oval 464">
            <a:extLst>
              <a:ext uri="{FF2B5EF4-FFF2-40B4-BE49-F238E27FC236}">
                <a16:creationId xmlns:a16="http://schemas.microsoft.com/office/drawing/2014/main" id="{AD593E26-7A8E-1E05-1E08-64A0AE589805}"/>
              </a:ext>
            </a:extLst>
          </p:cNvPr>
          <p:cNvSpPr/>
          <p:nvPr/>
        </p:nvSpPr>
        <p:spPr>
          <a:xfrm>
            <a:off x="7177960" y="5283497"/>
            <a:ext cx="604512" cy="209747"/>
          </a:xfrm>
          <a:prstGeom prst="ellipse">
            <a:avLst/>
          </a:prstGeom>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Calibri Light" panose="020F0302020204030204"/>
                <a:ea typeface="+mn-ea"/>
                <a:cs typeface="+mn-cs"/>
              </a:rPr>
              <a:t>End</a:t>
            </a:r>
          </a:p>
        </p:txBody>
      </p:sp>
      <p:cxnSp>
        <p:nvCxnSpPr>
          <p:cNvPr id="30" name="Connector: Elbow 29">
            <a:extLst>
              <a:ext uri="{FF2B5EF4-FFF2-40B4-BE49-F238E27FC236}">
                <a16:creationId xmlns:a16="http://schemas.microsoft.com/office/drawing/2014/main" id="{C0EBA4A7-21EE-BBDE-A56E-D09224A9CED6}"/>
              </a:ext>
            </a:extLst>
          </p:cNvPr>
          <p:cNvCxnSpPr>
            <a:cxnSpLocks/>
            <a:stCxn id="205" idx="2"/>
            <a:endCxn id="465" idx="0"/>
          </p:cNvCxnSpPr>
          <p:nvPr/>
        </p:nvCxnSpPr>
        <p:spPr>
          <a:xfrm rot="16200000" flipH="1">
            <a:off x="6810854" y="4614134"/>
            <a:ext cx="642097" cy="69662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Rectangle: Diagonal Corners Rounded 39">
            <a:extLst>
              <a:ext uri="{FF2B5EF4-FFF2-40B4-BE49-F238E27FC236}">
                <a16:creationId xmlns:a16="http://schemas.microsoft.com/office/drawing/2014/main" id="{DBE736FA-90D6-D2A7-280D-344C96C0CD85}"/>
              </a:ext>
            </a:extLst>
          </p:cNvPr>
          <p:cNvSpPr/>
          <p:nvPr/>
        </p:nvSpPr>
        <p:spPr>
          <a:xfrm flipV="1">
            <a:off x="10060421" y="3782043"/>
            <a:ext cx="1981200" cy="2519902"/>
          </a:xfrm>
          <a:prstGeom prst="round2DiagRect">
            <a:avLst>
              <a:gd name="adj1" fmla="val 23907"/>
              <a:gd name="adj2" fmla="val 0"/>
            </a:avLst>
          </a:prstGeom>
          <a:solidFill>
            <a:srgbClr val="CC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E7AA0F91-0AFD-6B61-8206-D3DE16678323}"/>
              </a:ext>
            </a:extLst>
          </p:cNvPr>
          <p:cNvSpPr txBox="1"/>
          <p:nvPr/>
        </p:nvSpPr>
        <p:spPr>
          <a:xfrm flipH="1">
            <a:off x="10147854" y="4215757"/>
            <a:ext cx="1952469" cy="1938992"/>
          </a:xfrm>
          <a:prstGeom prst="rect">
            <a:avLst/>
          </a:prstGeom>
          <a:noFill/>
        </p:spPr>
        <p:txBody>
          <a:bodyPr wrap="square" lIns="0" tIns="0" rIns="0" bIns="0" rtlCol="0">
            <a:spAutoFit/>
          </a:bodyPr>
          <a:lstStyle/>
          <a:p>
            <a:pPr marL="244602" indent="-171450" algn="l" rtl="0" eaLnBrk="1" fontAlgn="b" latinLnBrk="0" hangingPunct="1">
              <a:buFont typeface="Arial" panose="020B0604020202020204" pitchFamily="34" charset="0"/>
              <a:buChar char="•"/>
            </a:pPr>
            <a:r>
              <a:rPr lang="en-IN" sz="900" i="0" u="none" strike="noStrike" kern="1200">
                <a:solidFill>
                  <a:srgbClr val="000000"/>
                </a:solidFill>
                <a:effectLst/>
                <a:latin typeface="Calibri" panose="020F0502020204030204" pitchFamily="34" charset="0"/>
              </a:rPr>
              <a:t>NY Binder</a:t>
            </a:r>
            <a:endParaRPr lang="en-IN" sz="90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IN" sz="900" b="0" i="0" u="none" strike="noStrike" kern="1200">
                <a:solidFill>
                  <a:srgbClr val="000000"/>
                </a:solidFill>
                <a:effectLst/>
                <a:latin typeface="Calibri" panose="020F0502020204030204" pitchFamily="34" charset="0"/>
              </a:rPr>
              <a:t>S&amp;P Survey</a:t>
            </a:r>
            <a:endParaRPr lang="en-IN" sz="900" b="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IN" sz="900" b="0" i="0" u="none" strike="noStrike" kern="1200">
                <a:solidFill>
                  <a:srgbClr val="000000"/>
                </a:solidFill>
                <a:effectLst/>
                <a:latin typeface="Calibri" panose="020F0502020204030204" pitchFamily="34" charset="0"/>
              </a:rPr>
              <a:t>Fund Value report for AM Best</a:t>
            </a:r>
            <a:endParaRPr lang="en-IN" sz="900" b="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IN" sz="900" b="0" i="0" u="none" strike="noStrike" kern="1200">
                <a:solidFill>
                  <a:srgbClr val="000000"/>
                </a:solidFill>
                <a:effectLst/>
                <a:latin typeface="Calibri" panose="020F0502020204030204" pitchFamily="34" charset="0"/>
              </a:rPr>
              <a:t>Exhibit of Life</a:t>
            </a:r>
            <a:endParaRPr lang="en-IN" sz="900" b="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IN" sz="900" b="0" i="0" u="none" strike="noStrike" kern="1200">
                <a:solidFill>
                  <a:srgbClr val="000000"/>
                </a:solidFill>
                <a:effectLst/>
                <a:latin typeface="Calibri" panose="020F0502020204030204" pitchFamily="34" charset="0"/>
              </a:rPr>
              <a:t>Exhibit 5</a:t>
            </a:r>
            <a:endParaRPr lang="en-IN" sz="900" b="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US" sz="900" b="0" i="0" u="none" strike="noStrike" kern="1200">
                <a:solidFill>
                  <a:srgbClr val="000000"/>
                </a:solidFill>
                <a:effectLst/>
                <a:latin typeface="Calibri" panose="020F0502020204030204" pitchFamily="34" charset="0"/>
              </a:rPr>
              <a:t>Footnotes 31 – Deficiency Reserves</a:t>
            </a:r>
            <a:br>
              <a:rPr lang="en-US" sz="900" b="0" i="0" u="none" strike="noStrike" kern="1200">
                <a:solidFill>
                  <a:srgbClr val="000000"/>
                </a:solidFill>
                <a:effectLst/>
                <a:latin typeface="Calibri" panose="020F0502020204030204" pitchFamily="34" charset="0"/>
              </a:rPr>
            </a:br>
            <a:r>
              <a:rPr lang="en-US" sz="900" b="0" i="0" u="none" strike="noStrike" kern="1200">
                <a:solidFill>
                  <a:srgbClr val="000000"/>
                </a:solidFill>
                <a:effectLst/>
                <a:latin typeface="Calibri" panose="020F0502020204030204" pitchFamily="34" charset="0"/>
              </a:rPr>
              <a:t>Footnote 32 –  Analysis of Annuity Reserves</a:t>
            </a:r>
            <a:br>
              <a:rPr lang="en-US" sz="900" b="0" i="0" u="none" strike="noStrike" kern="1200">
                <a:solidFill>
                  <a:srgbClr val="000000"/>
                </a:solidFill>
                <a:effectLst/>
                <a:latin typeface="Calibri" panose="020F0502020204030204" pitchFamily="34" charset="0"/>
              </a:rPr>
            </a:br>
            <a:r>
              <a:rPr lang="en-US" sz="900" b="0" i="0" u="none" strike="noStrike" kern="1200">
                <a:solidFill>
                  <a:srgbClr val="000000"/>
                </a:solidFill>
                <a:effectLst/>
                <a:latin typeface="Calibri" panose="020F0502020204030204" pitchFamily="34" charset="0"/>
              </a:rPr>
              <a:t>Footnote 33 -  Analysis of Life Reserves</a:t>
            </a:r>
            <a:endParaRPr lang="en-IN" sz="900" b="0" i="0" u="none" strike="noStrike">
              <a:effectLst/>
              <a:latin typeface="Arial" panose="020B0604020202020204" pitchFamily="34" charset="0"/>
            </a:endParaRPr>
          </a:p>
          <a:p>
            <a:pPr marL="244602" indent="-171450" algn="l" rtl="0" eaLnBrk="1" fontAlgn="ctr" latinLnBrk="0" hangingPunct="1">
              <a:buFont typeface="Arial" panose="020B0604020202020204" pitchFamily="34" charset="0"/>
              <a:buChar char="•"/>
            </a:pPr>
            <a:r>
              <a:rPr lang="en-US" sz="900" b="0" i="0" u="none" strike="noStrike" kern="1200">
                <a:solidFill>
                  <a:srgbClr val="000000"/>
                </a:solidFill>
                <a:effectLst/>
                <a:latin typeface="Calibri" panose="020F0502020204030204" pitchFamily="34" charset="0"/>
              </a:rPr>
              <a:t>Year end filing - Page 7</a:t>
            </a:r>
            <a:endParaRPr lang="en-IN" sz="900" b="0" i="0" u="none" strike="noStrike">
              <a:effectLst/>
              <a:latin typeface="Arial" panose="020B0604020202020204" pitchFamily="34" charset="0"/>
            </a:endParaRPr>
          </a:p>
          <a:p>
            <a:pPr marL="244602" indent="-171450" algn="l" rtl="0" eaLnBrk="1" fontAlgn="ctr" latinLnBrk="0" hangingPunct="1">
              <a:buFont typeface="Arial" panose="020B0604020202020204" pitchFamily="34" charset="0"/>
              <a:buChar char="•"/>
            </a:pPr>
            <a:r>
              <a:rPr lang="en-US" sz="900" b="0" i="0" u="none" strike="noStrike" kern="1200">
                <a:solidFill>
                  <a:srgbClr val="000000"/>
                </a:solidFill>
                <a:effectLst/>
                <a:latin typeface="Calibri" panose="020F0502020204030204" pitchFamily="34" charset="0"/>
              </a:rPr>
              <a:t>Actuarial Opinion Pages</a:t>
            </a:r>
            <a:endParaRPr lang="en-IN" sz="900" b="0" i="0" u="none" strike="noStrike">
              <a:effectLst/>
              <a:latin typeface="Arial" panose="020B0604020202020204" pitchFamily="34" charset="0"/>
            </a:endParaRPr>
          </a:p>
          <a:p>
            <a:pPr marL="244602" indent="-171450" algn="l" rtl="0" eaLnBrk="1" fontAlgn="ctr" latinLnBrk="0" hangingPunct="1">
              <a:buFont typeface="Arial" panose="020B0604020202020204" pitchFamily="34" charset="0"/>
              <a:buChar char="•"/>
            </a:pPr>
            <a:r>
              <a:rPr lang="en-US" sz="900" b="0" i="0" u="none" strike="noStrike" kern="1200">
                <a:solidFill>
                  <a:srgbClr val="000000"/>
                </a:solidFill>
                <a:effectLst/>
                <a:latin typeface="Calibri" panose="020F0502020204030204" pitchFamily="34" charset="0"/>
              </a:rPr>
              <a:t>State Requests</a:t>
            </a:r>
            <a:endParaRPr lang="en-IN" sz="900" b="0" i="0" u="none" strike="noStrike">
              <a:effectLst/>
              <a:latin typeface="Arial" panose="020B0604020202020204" pitchFamily="34" charset="0"/>
            </a:endParaRPr>
          </a:p>
          <a:p>
            <a:pPr marL="244602" indent="-171450" algn="l" rtl="0" eaLnBrk="1" fontAlgn="ctr" latinLnBrk="0" hangingPunct="1">
              <a:buFont typeface="Arial" panose="020B0604020202020204" pitchFamily="34" charset="0"/>
              <a:buChar char="•"/>
            </a:pPr>
            <a:r>
              <a:rPr lang="en-US" sz="900" b="0" i="0" u="none" strike="noStrike" kern="1200">
                <a:solidFill>
                  <a:srgbClr val="000000"/>
                </a:solidFill>
                <a:effectLst/>
                <a:latin typeface="Calibri" panose="020F0502020204030204" pitchFamily="34" charset="0"/>
              </a:rPr>
              <a:t>NYSID Liquidity Survey</a:t>
            </a:r>
            <a:endParaRPr lang="en-IN" sz="900" b="0" i="0" u="none" strike="noStrike">
              <a:effectLst/>
              <a:latin typeface="Arial" panose="020B0604020202020204" pitchFamily="34" charset="0"/>
            </a:endParaRPr>
          </a:p>
        </p:txBody>
      </p:sp>
      <p:sp>
        <p:nvSpPr>
          <p:cNvPr id="43" name="Oval 42">
            <a:extLst>
              <a:ext uri="{FF2B5EF4-FFF2-40B4-BE49-F238E27FC236}">
                <a16:creationId xmlns:a16="http://schemas.microsoft.com/office/drawing/2014/main" id="{F334E7E8-AF7D-9529-BF66-8AF343F99072}"/>
              </a:ext>
            </a:extLst>
          </p:cNvPr>
          <p:cNvSpPr/>
          <p:nvPr/>
        </p:nvSpPr>
        <p:spPr>
          <a:xfrm rot="16200000">
            <a:off x="9223612" y="4240377"/>
            <a:ext cx="1560910" cy="537817"/>
          </a:xfrm>
          <a:prstGeom prst="ellipse">
            <a:avLst/>
          </a:prstGeom>
          <a:gradFill flip="none" rotWithShape="1">
            <a:gsLst>
              <a:gs pos="100000">
                <a:schemeClr val="tx1">
                  <a:alpha val="0"/>
                </a:schemeClr>
              </a:gs>
              <a:gs pos="3000">
                <a:schemeClr val="tx1">
                  <a:alpha val="50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Diagonal Corners Rounded 43">
            <a:extLst>
              <a:ext uri="{FF2B5EF4-FFF2-40B4-BE49-F238E27FC236}">
                <a16:creationId xmlns:a16="http://schemas.microsoft.com/office/drawing/2014/main" id="{2E8C0083-7282-EAE1-77FC-9471F612A6B4}"/>
              </a:ext>
            </a:extLst>
          </p:cNvPr>
          <p:cNvSpPr/>
          <p:nvPr/>
        </p:nvSpPr>
        <p:spPr>
          <a:xfrm flipH="1" flipV="1">
            <a:off x="8079139" y="3782043"/>
            <a:ext cx="1981200" cy="2519902"/>
          </a:xfrm>
          <a:prstGeom prst="round2DiagRect">
            <a:avLst>
              <a:gd name="adj1" fmla="val 23907"/>
              <a:gd name="adj2" fmla="val 0"/>
            </a:avLst>
          </a:prstGeom>
          <a:solidFill>
            <a:srgbClr val="DAE7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69994359-A647-9FB4-06E1-19752B77C80E}"/>
              </a:ext>
            </a:extLst>
          </p:cNvPr>
          <p:cNvSpPr/>
          <p:nvPr/>
        </p:nvSpPr>
        <p:spPr>
          <a:xfrm>
            <a:off x="8566645" y="3457545"/>
            <a:ext cx="1560910" cy="537817"/>
          </a:xfrm>
          <a:prstGeom prst="ellipse">
            <a:avLst/>
          </a:prstGeom>
          <a:gradFill flip="none" rotWithShape="1">
            <a:gsLst>
              <a:gs pos="100000">
                <a:schemeClr val="tx1">
                  <a:alpha val="0"/>
                </a:schemeClr>
              </a:gs>
              <a:gs pos="3000">
                <a:schemeClr val="tx1">
                  <a:alpha val="50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Diagonal Corners Rounded 45">
            <a:extLst>
              <a:ext uri="{FF2B5EF4-FFF2-40B4-BE49-F238E27FC236}">
                <a16:creationId xmlns:a16="http://schemas.microsoft.com/office/drawing/2014/main" id="{080C4EF1-4978-93D7-BB1E-F60DE69237FB}"/>
              </a:ext>
            </a:extLst>
          </p:cNvPr>
          <p:cNvSpPr/>
          <p:nvPr/>
        </p:nvSpPr>
        <p:spPr>
          <a:xfrm flipH="1">
            <a:off x="8079139" y="1376705"/>
            <a:ext cx="1981200" cy="2407719"/>
          </a:xfrm>
          <a:prstGeom prst="round2DiagRect">
            <a:avLst>
              <a:gd name="adj1" fmla="val 23907"/>
              <a:gd name="adj2" fmla="val 0"/>
            </a:avLst>
          </a:prstGeom>
          <a:solidFill>
            <a:srgbClr val="CC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F201F302-2A31-5B6E-03B7-3186B2A17377}"/>
              </a:ext>
            </a:extLst>
          </p:cNvPr>
          <p:cNvSpPr/>
          <p:nvPr/>
        </p:nvSpPr>
        <p:spPr>
          <a:xfrm rot="16200000">
            <a:off x="9358044" y="2732679"/>
            <a:ext cx="1560910" cy="537817"/>
          </a:xfrm>
          <a:prstGeom prst="ellipse">
            <a:avLst/>
          </a:prstGeom>
          <a:gradFill flip="none" rotWithShape="1">
            <a:gsLst>
              <a:gs pos="100000">
                <a:schemeClr val="tx1">
                  <a:alpha val="0"/>
                </a:schemeClr>
              </a:gs>
              <a:gs pos="3000">
                <a:schemeClr val="tx1">
                  <a:alpha val="50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Diagonal Corners Rounded 47">
            <a:extLst>
              <a:ext uri="{FF2B5EF4-FFF2-40B4-BE49-F238E27FC236}">
                <a16:creationId xmlns:a16="http://schemas.microsoft.com/office/drawing/2014/main" id="{DEA3C3F9-5F21-62C5-EB3D-12B9E709E1F4}"/>
              </a:ext>
            </a:extLst>
          </p:cNvPr>
          <p:cNvSpPr/>
          <p:nvPr/>
        </p:nvSpPr>
        <p:spPr>
          <a:xfrm>
            <a:off x="10060421" y="1376705"/>
            <a:ext cx="1981200" cy="2407719"/>
          </a:xfrm>
          <a:prstGeom prst="round2DiagRect">
            <a:avLst>
              <a:gd name="adj1" fmla="val 23907"/>
              <a:gd name="adj2" fmla="val 0"/>
            </a:avLst>
          </a:prstGeom>
          <a:solidFill>
            <a:srgbClr val="DAE7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EC3B17FB-C603-F6E1-0FF4-8A02533F5782}"/>
              </a:ext>
            </a:extLst>
          </p:cNvPr>
          <p:cNvSpPr/>
          <p:nvPr/>
        </p:nvSpPr>
        <p:spPr>
          <a:xfrm>
            <a:off x="10301807" y="3624342"/>
            <a:ext cx="1386657" cy="466396"/>
          </a:xfrm>
          <a:prstGeom prst="ellipse">
            <a:avLst/>
          </a:prstGeom>
          <a:gradFill flip="none" rotWithShape="1">
            <a:gsLst>
              <a:gs pos="100000">
                <a:schemeClr val="tx1">
                  <a:alpha val="0"/>
                </a:schemeClr>
              </a:gs>
              <a:gs pos="3000">
                <a:schemeClr val="tx1">
                  <a:alpha val="50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0" name="Group 49">
            <a:extLst>
              <a:ext uri="{FF2B5EF4-FFF2-40B4-BE49-F238E27FC236}">
                <a16:creationId xmlns:a16="http://schemas.microsoft.com/office/drawing/2014/main" id="{455EFD3B-DD13-62E1-91B4-4F4F28D4FBE1}"/>
              </a:ext>
            </a:extLst>
          </p:cNvPr>
          <p:cNvGrpSpPr/>
          <p:nvPr/>
        </p:nvGrpSpPr>
        <p:grpSpPr>
          <a:xfrm>
            <a:off x="8095560" y="1379826"/>
            <a:ext cx="530255" cy="530255"/>
            <a:chOff x="3772535" y="1485504"/>
            <a:chExt cx="1136650" cy="1136650"/>
          </a:xfrm>
        </p:grpSpPr>
        <p:grpSp>
          <p:nvGrpSpPr>
            <p:cNvPr id="51" name="Group 50">
              <a:extLst>
                <a:ext uri="{FF2B5EF4-FFF2-40B4-BE49-F238E27FC236}">
                  <a16:creationId xmlns:a16="http://schemas.microsoft.com/office/drawing/2014/main" id="{7F4F1971-5CFE-1D90-537B-8F95B5A4670F}"/>
                </a:ext>
              </a:extLst>
            </p:cNvPr>
            <p:cNvGrpSpPr/>
            <p:nvPr/>
          </p:nvGrpSpPr>
          <p:grpSpPr>
            <a:xfrm>
              <a:off x="3772535" y="1485504"/>
              <a:ext cx="1136650" cy="1136650"/>
              <a:chOff x="3944620" y="1307126"/>
              <a:chExt cx="1021080" cy="1021080"/>
            </a:xfrm>
          </p:grpSpPr>
          <p:sp>
            <p:nvSpPr>
              <p:cNvPr id="55" name="Oval 54">
                <a:extLst>
                  <a:ext uri="{FF2B5EF4-FFF2-40B4-BE49-F238E27FC236}">
                    <a16:creationId xmlns:a16="http://schemas.microsoft.com/office/drawing/2014/main" id="{34DB31A3-7E80-039F-8939-FB3E21AF5BCA}"/>
                  </a:ext>
                </a:extLst>
              </p:cNvPr>
              <p:cNvSpPr/>
              <p:nvPr/>
            </p:nvSpPr>
            <p:spPr>
              <a:xfrm>
                <a:off x="3944620" y="1307126"/>
                <a:ext cx="1021080" cy="1021080"/>
              </a:xfrm>
              <a:prstGeom prst="ellipse">
                <a:avLst/>
              </a:prstGeom>
              <a:solidFill>
                <a:schemeClr val="accent1"/>
              </a:solidFill>
              <a:ln>
                <a:noFill/>
              </a:ln>
              <a:effectLst>
                <a:outerShdw blurRad="1016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F5A9BE2D-F186-2DFB-CE37-F243437B940C}"/>
                  </a:ext>
                </a:extLst>
              </p:cNvPr>
              <p:cNvSpPr/>
              <p:nvPr/>
            </p:nvSpPr>
            <p:spPr>
              <a:xfrm>
                <a:off x="4071313" y="1433819"/>
                <a:ext cx="767694" cy="767694"/>
              </a:xfrm>
              <a:prstGeom prst="ellipse">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3" name="Freeform: Shape 52">
              <a:extLst>
                <a:ext uri="{FF2B5EF4-FFF2-40B4-BE49-F238E27FC236}">
                  <a16:creationId xmlns:a16="http://schemas.microsoft.com/office/drawing/2014/main" id="{319EF494-C9C6-05F8-8559-657F74A1E49B}"/>
                </a:ext>
              </a:extLst>
            </p:cNvPr>
            <p:cNvSpPr>
              <a:spLocks/>
            </p:cNvSpPr>
            <p:nvPr/>
          </p:nvSpPr>
          <p:spPr bwMode="auto">
            <a:xfrm>
              <a:off x="4141470" y="1834114"/>
              <a:ext cx="398780" cy="439432"/>
            </a:xfrm>
            <a:custGeom>
              <a:avLst/>
              <a:gdLst>
                <a:gd name="connsiteX0" fmla="*/ 314051 w 880832"/>
                <a:gd name="connsiteY0" fmla="*/ 623700 h 970626"/>
                <a:gd name="connsiteX1" fmla="*/ 302651 w 880832"/>
                <a:gd name="connsiteY1" fmla="*/ 635700 h 970626"/>
                <a:gd name="connsiteX2" fmla="*/ 314051 w 880832"/>
                <a:gd name="connsiteY2" fmla="*/ 647699 h 970626"/>
                <a:gd name="connsiteX3" fmla="*/ 336850 w 880832"/>
                <a:gd name="connsiteY3" fmla="*/ 647699 h 970626"/>
                <a:gd name="connsiteX4" fmla="*/ 348250 w 880832"/>
                <a:gd name="connsiteY4" fmla="*/ 635700 h 970626"/>
                <a:gd name="connsiteX5" fmla="*/ 336850 w 880832"/>
                <a:gd name="connsiteY5" fmla="*/ 623700 h 970626"/>
                <a:gd name="connsiteX6" fmla="*/ 314051 w 880832"/>
                <a:gd name="connsiteY6" fmla="*/ 623700 h 970626"/>
                <a:gd name="connsiteX7" fmla="*/ 292452 w 880832"/>
                <a:gd name="connsiteY7" fmla="*/ 578101 h 970626"/>
                <a:gd name="connsiteX8" fmla="*/ 281052 w 880832"/>
                <a:gd name="connsiteY8" fmla="*/ 588901 h 970626"/>
                <a:gd name="connsiteX9" fmla="*/ 292452 w 880832"/>
                <a:gd name="connsiteY9" fmla="*/ 599701 h 970626"/>
                <a:gd name="connsiteX10" fmla="*/ 360849 w 880832"/>
                <a:gd name="connsiteY10" fmla="*/ 599701 h 970626"/>
                <a:gd name="connsiteX11" fmla="*/ 372248 w 880832"/>
                <a:gd name="connsiteY11" fmla="*/ 588901 h 970626"/>
                <a:gd name="connsiteX12" fmla="*/ 360849 w 880832"/>
                <a:gd name="connsiteY12" fmla="*/ 578101 h 970626"/>
                <a:gd name="connsiteX13" fmla="*/ 292452 w 880832"/>
                <a:gd name="connsiteY13" fmla="*/ 578101 h 970626"/>
                <a:gd name="connsiteX14" fmla="*/ 508242 w 880832"/>
                <a:gd name="connsiteY14" fmla="*/ 371708 h 970626"/>
                <a:gd name="connsiteX15" fmla="*/ 497042 w 880832"/>
                <a:gd name="connsiteY15" fmla="*/ 382508 h 970626"/>
                <a:gd name="connsiteX16" fmla="*/ 508242 w 880832"/>
                <a:gd name="connsiteY16" fmla="*/ 393308 h 970626"/>
                <a:gd name="connsiteX17" fmla="*/ 553041 w 880832"/>
                <a:gd name="connsiteY17" fmla="*/ 393308 h 970626"/>
                <a:gd name="connsiteX18" fmla="*/ 564240 w 880832"/>
                <a:gd name="connsiteY18" fmla="*/ 382508 h 970626"/>
                <a:gd name="connsiteX19" fmla="*/ 553041 w 880832"/>
                <a:gd name="connsiteY19" fmla="*/ 371708 h 970626"/>
                <a:gd name="connsiteX20" fmla="*/ 508242 w 880832"/>
                <a:gd name="connsiteY20" fmla="*/ 371708 h 970626"/>
                <a:gd name="connsiteX21" fmla="*/ 98260 w 880832"/>
                <a:gd name="connsiteY21" fmla="*/ 371708 h 970626"/>
                <a:gd name="connsiteX22" fmla="*/ 86660 w 880832"/>
                <a:gd name="connsiteY22" fmla="*/ 382508 h 970626"/>
                <a:gd name="connsiteX23" fmla="*/ 98260 w 880832"/>
                <a:gd name="connsiteY23" fmla="*/ 393308 h 970626"/>
                <a:gd name="connsiteX24" fmla="*/ 144658 w 880832"/>
                <a:gd name="connsiteY24" fmla="*/ 393308 h 970626"/>
                <a:gd name="connsiteX25" fmla="*/ 156258 w 880832"/>
                <a:gd name="connsiteY25" fmla="*/ 382508 h 970626"/>
                <a:gd name="connsiteX26" fmla="*/ 144658 w 880832"/>
                <a:gd name="connsiteY26" fmla="*/ 371708 h 970626"/>
                <a:gd name="connsiteX27" fmla="*/ 98260 w 880832"/>
                <a:gd name="connsiteY27" fmla="*/ 371708 h 970626"/>
                <a:gd name="connsiteX28" fmla="*/ 325451 w 880832"/>
                <a:gd name="connsiteY28" fmla="*/ 234914 h 970626"/>
                <a:gd name="connsiteX29" fmla="*/ 177856 w 880832"/>
                <a:gd name="connsiteY29" fmla="*/ 383109 h 970626"/>
                <a:gd name="connsiteX30" fmla="*/ 280037 w 880832"/>
                <a:gd name="connsiteY30" fmla="*/ 525604 h 970626"/>
                <a:gd name="connsiteX31" fmla="*/ 280037 w 880832"/>
                <a:gd name="connsiteY31" fmla="*/ 542704 h 970626"/>
                <a:gd name="connsiteX32" fmla="*/ 291390 w 880832"/>
                <a:gd name="connsiteY32" fmla="*/ 554103 h 970626"/>
                <a:gd name="connsiteX33" fmla="*/ 359511 w 880832"/>
                <a:gd name="connsiteY33" fmla="*/ 554103 h 970626"/>
                <a:gd name="connsiteX34" fmla="*/ 370864 w 880832"/>
                <a:gd name="connsiteY34" fmla="*/ 542704 h 970626"/>
                <a:gd name="connsiteX35" fmla="*/ 370864 w 880832"/>
                <a:gd name="connsiteY35" fmla="*/ 525604 h 970626"/>
                <a:gd name="connsiteX36" fmla="*/ 473045 w 880832"/>
                <a:gd name="connsiteY36" fmla="*/ 383109 h 970626"/>
                <a:gd name="connsiteX37" fmla="*/ 325451 w 880832"/>
                <a:gd name="connsiteY37" fmla="*/ 234914 h 970626"/>
                <a:gd name="connsiteX38" fmla="*/ 503113 w 880832"/>
                <a:gd name="connsiteY38" fmla="*/ 195515 h 970626"/>
                <a:gd name="connsiteX39" fmla="*/ 496674 w 880832"/>
                <a:gd name="connsiteY39" fmla="*/ 199715 h 970626"/>
                <a:gd name="connsiteX40" fmla="*/ 445168 w 880832"/>
                <a:gd name="connsiteY40" fmla="*/ 244514 h 970626"/>
                <a:gd name="connsiteX41" fmla="*/ 445168 w 880832"/>
                <a:gd name="connsiteY41" fmla="*/ 261313 h 970626"/>
                <a:gd name="connsiteX42" fmla="*/ 456614 w 880832"/>
                <a:gd name="connsiteY42" fmla="*/ 261313 h 970626"/>
                <a:gd name="connsiteX43" fmla="*/ 462337 w 880832"/>
                <a:gd name="connsiteY43" fmla="*/ 261313 h 970626"/>
                <a:gd name="connsiteX44" fmla="*/ 513843 w 880832"/>
                <a:gd name="connsiteY44" fmla="*/ 210914 h 970626"/>
                <a:gd name="connsiteX45" fmla="*/ 513843 w 880832"/>
                <a:gd name="connsiteY45" fmla="*/ 199715 h 970626"/>
                <a:gd name="connsiteX46" fmla="*/ 503113 w 880832"/>
                <a:gd name="connsiteY46" fmla="*/ 195515 h 970626"/>
                <a:gd name="connsiteX47" fmla="*/ 149842 w 880832"/>
                <a:gd name="connsiteY47" fmla="*/ 195515 h 970626"/>
                <a:gd name="connsiteX48" fmla="*/ 139458 w 880832"/>
                <a:gd name="connsiteY48" fmla="*/ 199715 h 970626"/>
                <a:gd name="connsiteX49" fmla="*/ 139458 w 880832"/>
                <a:gd name="connsiteY49" fmla="*/ 210914 h 970626"/>
                <a:gd name="connsiteX50" fmla="*/ 189302 w 880832"/>
                <a:gd name="connsiteY50" fmla="*/ 261313 h 970626"/>
                <a:gd name="connsiteX51" fmla="*/ 194840 w 880832"/>
                <a:gd name="connsiteY51" fmla="*/ 261313 h 970626"/>
                <a:gd name="connsiteX52" fmla="*/ 205917 w 880832"/>
                <a:gd name="connsiteY52" fmla="*/ 261313 h 970626"/>
                <a:gd name="connsiteX53" fmla="*/ 205917 w 880832"/>
                <a:gd name="connsiteY53" fmla="*/ 244514 h 970626"/>
                <a:gd name="connsiteX54" fmla="*/ 156073 w 880832"/>
                <a:gd name="connsiteY54" fmla="*/ 199715 h 970626"/>
                <a:gd name="connsiteX55" fmla="*/ 149842 w 880832"/>
                <a:gd name="connsiteY55" fmla="*/ 195515 h 970626"/>
                <a:gd name="connsiteX56" fmla="*/ 325450 w 880832"/>
                <a:gd name="connsiteY56" fmla="*/ 141317 h 970626"/>
                <a:gd name="connsiteX57" fmla="*/ 314650 w 880832"/>
                <a:gd name="connsiteY57" fmla="*/ 152916 h 970626"/>
                <a:gd name="connsiteX58" fmla="*/ 314650 w 880832"/>
                <a:gd name="connsiteY58" fmla="*/ 199315 h 970626"/>
                <a:gd name="connsiteX59" fmla="*/ 325450 w 880832"/>
                <a:gd name="connsiteY59" fmla="*/ 210915 h 970626"/>
                <a:gd name="connsiteX60" fmla="*/ 336250 w 880832"/>
                <a:gd name="connsiteY60" fmla="*/ 199315 h 970626"/>
                <a:gd name="connsiteX61" fmla="*/ 336250 w 880832"/>
                <a:gd name="connsiteY61" fmla="*/ 152916 h 970626"/>
                <a:gd name="connsiteX62" fmla="*/ 325450 w 880832"/>
                <a:gd name="connsiteY62" fmla="*/ 141317 h 970626"/>
                <a:gd name="connsiteX63" fmla="*/ 404980 w 880832"/>
                <a:gd name="connsiteY63" fmla="*/ 0 h 970626"/>
                <a:gd name="connsiteX64" fmla="*/ 789712 w 880832"/>
                <a:gd name="connsiteY64" fmla="*/ 343764 h 970626"/>
                <a:gd name="connsiteX65" fmla="*/ 820085 w 880832"/>
                <a:gd name="connsiteY65" fmla="*/ 394317 h 970626"/>
                <a:gd name="connsiteX66" fmla="*/ 880832 w 880832"/>
                <a:gd name="connsiteY66" fmla="*/ 545977 h 970626"/>
                <a:gd name="connsiteX67" fmla="*/ 880832 w 880832"/>
                <a:gd name="connsiteY67" fmla="*/ 556088 h 970626"/>
                <a:gd name="connsiteX68" fmla="*/ 870708 w 880832"/>
                <a:gd name="connsiteY68" fmla="*/ 586420 h 970626"/>
                <a:gd name="connsiteX69" fmla="*/ 830210 w 880832"/>
                <a:gd name="connsiteY69" fmla="*/ 606641 h 970626"/>
                <a:gd name="connsiteX70" fmla="*/ 789712 w 880832"/>
                <a:gd name="connsiteY70" fmla="*/ 606641 h 970626"/>
                <a:gd name="connsiteX71" fmla="*/ 749214 w 880832"/>
                <a:gd name="connsiteY71" fmla="*/ 788634 h 970626"/>
                <a:gd name="connsiteX72" fmla="*/ 607471 w 880832"/>
                <a:gd name="connsiteY72" fmla="*/ 829077 h 970626"/>
                <a:gd name="connsiteX73" fmla="*/ 607471 w 880832"/>
                <a:gd name="connsiteY73" fmla="*/ 950405 h 970626"/>
                <a:gd name="connsiteX74" fmla="*/ 587222 w 880832"/>
                <a:gd name="connsiteY74" fmla="*/ 970626 h 970626"/>
                <a:gd name="connsiteX75" fmla="*/ 182241 w 880832"/>
                <a:gd name="connsiteY75" fmla="*/ 970626 h 970626"/>
                <a:gd name="connsiteX76" fmla="*/ 161992 w 880832"/>
                <a:gd name="connsiteY76" fmla="*/ 950405 h 970626"/>
                <a:gd name="connsiteX77" fmla="*/ 161992 w 880832"/>
                <a:gd name="connsiteY77" fmla="*/ 727970 h 970626"/>
                <a:gd name="connsiteX78" fmla="*/ 0 w 880832"/>
                <a:gd name="connsiteY78" fmla="*/ 404428 h 970626"/>
                <a:gd name="connsiteX79" fmla="*/ 404980 w 880832"/>
                <a:gd name="connsiteY79" fmla="*/ 0 h 970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880832" h="970626">
                  <a:moveTo>
                    <a:pt x="314051" y="623700"/>
                  </a:moveTo>
                  <a:cubicBezTo>
                    <a:pt x="308351" y="623700"/>
                    <a:pt x="302651" y="629700"/>
                    <a:pt x="302651" y="635700"/>
                  </a:cubicBezTo>
                  <a:cubicBezTo>
                    <a:pt x="302651" y="641699"/>
                    <a:pt x="308351" y="647699"/>
                    <a:pt x="314051" y="647699"/>
                  </a:cubicBezTo>
                  <a:cubicBezTo>
                    <a:pt x="336850" y="647699"/>
                    <a:pt x="336850" y="647699"/>
                    <a:pt x="336850" y="647699"/>
                  </a:cubicBezTo>
                  <a:cubicBezTo>
                    <a:pt x="342550" y="647699"/>
                    <a:pt x="348250" y="641699"/>
                    <a:pt x="348250" y="635700"/>
                  </a:cubicBezTo>
                  <a:cubicBezTo>
                    <a:pt x="348250" y="629700"/>
                    <a:pt x="342550" y="623700"/>
                    <a:pt x="336850" y="623700"/>
                  </a:cubicBezTo>
                  <a:cubicBezTo>
                    <a:pt x="314051" y="623700"/>
                    <a:pt x="314051" y="623700"/>
                    <a:pt x="314051" y="623700"/>
                  </a:cubicBezTo>
                  <a:close/>
                  <a:moveTo>
                    <a:pt x="292452" y="578101"/>
                  </a:moveTo>
                  <a:cubicBezTo>
                    <a:pt x="286752" y="578101"/>
                    <a:pt x="281052" y="583501"/>
                    <a:pt x="281052" y="588901"/>
                  </a:cubicBezTo>
                  <a:cubicBezTo>
                    <a:pt x="281052" y="594301"/>
                    <a:pt x="286752" y="599701"/>
                    <a:pt x="292452" y="599701"/>
                  </a:cubicBezTo>
                  <a:cubicBezTo>
                    <a:pt x="360849" y="599701"/>
                    <a:pt x="360849" y="599701"/>
                    <a:pt x="360849" y="599701"/>
                  </a:cubicBezTo>
                  <a:cubicBezTo>
                    <a:pt x="366548" y="599701"/>
                    <a:pt x="372248" y="594301"/>
                    <a:pt x="372248" y="588901"/>
                  </a:cubicBezTo>
                  <a:cubicBezTo>
                    <a:pt x="372248" y="583501"/>
                    <a:pt x="366548" y="578101"/>
                    <a:pt x="360849" y="578101"/>
                  </a:cubicBezTo>
                  <a:cubicBezTo>
                    <a:pt x="292452" y="578101"/>
                    <a:pt x="292452" y="578101"/>
                    <a:pt x="292452" y="578101"/>
                  </a:cubicBezTo>
                  <a:close/>
                  <a:moveTo>
                    <a:pt x="508242" y="371708"/>
                  </a:moveTo>
                  <a:cubicBezTo>
                    <a:pt x="502642" y="371708"/>
                    <a:pt x="497042" y="377108"/>
                    <a:pt x="497042" y="382508"/>
                  </a:cubicBezTo>
                  <a:cubicBezTo>
                    <a:pt x="497042" y="387908"/>
                    <a:pt x="502642" y="393308"/>
                    <a:pt x="508242" y="393308"/>
                  </a:cubicBezTo>
                  <a:cubicBezTo>
                    <a:pt x="553041" y="393308"/>
                    <a:pt x="553041" y="393308"/>
                    <a:pt x="553041" y="393308"/>
                  </a:cubicBezTo>
                  <a:cubicBezTo>
                    <a:pt x="558640" y="393308"/>
                    <a:pt x="564240" y="387908"/>
                    <a:pt x="564240" y="382508"/>
                  </a:cubicBezTo>
                  <a:cubicBezTo>
                    <a:pt x="564240" y="377108"/>
                    <a:pt x="558640" y="371708"/>
                    <a:pt x="553041" y="371708"/>
                  </a:cubicBezTo>
                  <a:cubicBezTo>
                    <a:pt x="508242" y="371708"/>
                    <a:pt x="508242" y="371708"/>
                    <a:pt x="508242" y="371708"/>
                  </a:cubicBezTo>
                  <a:close/>
                  <a:moveTo>
                    <a:pt x="98260" y="371708"/>
                  </a:moveTo>
                  <a:cubicBezTo>
                    <a:pt x="92460" y="371708"/>
                    <a:pt x="86660" y="377108"/>
                    <a:pt x="86660" y="382508"/>
                  </a:cubicBezTo>
                  <a:cubicBezTo>
                    <a:pt x="86660" y="387908"/>
                    <a:pt x="92460" y="393308"/>
                    <a:pt x="98260" y="393308"/>
                  </a:cubicBezTo>
                  <a:cubicBezTo>
                    <a:pt x="144658" y="393308"/>
                    <a:pt x="144658" y="393308"/>
                    <a:pt x="144658" y="393308"/>
                  </a:cubicBezTo>
                  <a:cubicBezTo>
                    <a:pt x="150458" y="393308"/>
                    <a:pt x="156258" y="387908"/>
                    <a:pt x="156258" y="382508"/>
                  </a:cubicBezTo>
                  <a:cubicBezTo>
                    <a:pt x="156258" y="377108"/>
                    <a:pt x="150458" y="371708"/>
                    <a:pt x="144658" y="371708"/>
                  </a:cubicBezTo>
                  <a:cubicBezTo>
                    <a:pt x="98260" y="371708"/>
                    <a:pt x="98260" y="371708"/>
                    <a:pt x="98260" y="371708"/>
                  </a:cubicBezTo>
                  <a:close/>
                  <a:moveTo>
                    <a:pt x="325451" y="234914"/>
                  </a:moveTo>
                  <a:cubicBezTo>
                    <a:pt x="245977" y="234914"/>
                    <a:pt x="177856" y="303312"/>
                    <a:pt x="177856" y="383109"/>
                  </a:cubicBezTo>
                  <a:cubicBezTo>
                    <a:pt x="177856" y="445807"/>
                    <a:pt x="217593" y="502805"/>
                    <a:pt x="280037" y="525604"/>
                  </a:cubicBezTo>
                  <a:cubicBezTo>
                    <a:pt x="280037" y="542704"/>
                    <a:pt x="280037" y="542704"/>
                    <a:pt x="280037" y="542704"/>
                  </a:cubicBezTo>
                  <a:cubicBezTo>
                    <a:pt x="280037" y="548403"/>
                    <a:pt x="285714" y="554103"/>
                    <a:pt x="291390" y="554103"/>
                  </a:cubicBezTo>
                  <a:cubicBezTo>
                    <a:pt x="359511" y="554103"/>
                    <a:pt x="359511" y="554103"/>
                    <a:pt x="359511" y="554103"/>
                  </a:cubicBezTo>
                  <a:cubicBezTo>
                    <a:pt x="365188" y="554103"/>
                    <a:pt x="370864" y="548403"/>
                    <a:pt x="370864" y="542704"/>
                  </a:cubicBezTo>
                  <a:cubicBezTo>
                    <a:pt x="370864" y="525604"/>
                    <a:pt x="370864" y="525604"/>
                    <a:pt x="370864" y="525604"/>
                  </a:cubicBezTo>
                  <a:cubicBezTo>
                    <a:pt x="433308" y="502805"/>
                    <a:pt x="473045" y="445807"/>
                    <a:pt x="473045" y="383109"/>
                  </a:cubicBezTo>
                  <a:cubicBezTo>
                    <a:pt x="473045" y="303312"/>
                    <a:pt x="404925" y="234914"/>
                    <a:pt x="325451" y="234914"/>
                  </a:cubicBezTo>
                  <a:close/>
                  <a:moveTo>
                    <a:pt x="503113" y="195515"/>
                  </a:moveTo>
                  <a:cubicBezTo>
                    <a:pt x="499536" y="195515"/>
                    <a:pt x="496674" y="196915"/>
                    <a:pt x="496674" y="199715"/>
                  </a:cubicBezTo>
                  <a:cubicBezTo>
                    <a:pt x="445168" y="244514"/>
                    <a:pt x="445168" y="244514"/>
                    <a:pt x="445168" y="244514"/>
                  </a:cubicBezTo>
                  <a:cubicBezTo>
                    <a:pt x="439445" y="250114"/>
                    <a:pt x="439445" y="255713"/>
                    <a:pt x="445168" y="261313"/>
                  </a:cubicBezTo>
                  <a:cubicBezTo>
                    <a:pt x="450891" y="261313"/>
                    <a:pt x="450891" y="261313"/>
                    <a:pt x="456614" y="261313"/>
                  </a:cubicBezTo>
                  <a:cubicBezTo>
                    <a:pt x="456614" y="261313"/>
                    <a:pt x="462337" y="261313"/>
                    <a:pt x="462337" y="261313"/>
                  </a:cubicBezTo>
                  <a:cubicBezTo>
                    <a:pt x="513843" y="210914"/>
                    <a:pt x="513843" y="210914"/>
                    <a:pt x="513843" y="210914"/>
                  </a:cubicBezTo>
                  <a:cubicBezTo>
                    <a:pt x="513843" y="210914"/>
                    <a:pt x="513843" y="199715"/>
                    <a:pt x="513843" y="199715"/>
                  </a:cubicBezTo>
                  <a:cubicBezTo>
                    <a:pt x="510982" y="196915"/>
                    <a:pt x="506689" y="195515"/>
                    <a:pt x="503113" y="195515"/>
                  </a:cubicBezTo>
                  <a:close/>
                  <a:moveTo>
                    <a:pt x="149842" y="195515"/>
                  </a:moveTo>
                  <a:cubicBezTo>
                    <a:pt x="146381" y="195515"/>
                    <a:pt x="142227" y="196915"/>
                    <a:pt x="139458" y="199715"/>
                  </a:cubicBezTo>
                  <a:cubicBezTo>
                    <a:pt x="139458" y="199715"/>
                    <a:pt x="139458" y="210914"/>
                    <a:pt x="139458" y="210914"/>
                  </a:cubicBezTo>
                  <a:lnTo>
                    <a:pt x="189302" y="261313"/>
                  </a:lnTo>
                  <a:cubicBezTo>
                    <a:pt x="189302" y="261313"/>
                    <a:pt x="194840" y="261313"/>
                    <a:pt x="194840" y="261313"/>
                  </a:cubicBezTo>
                  <a:cubicBezTo>
                    <a:pt x="200379" y="261313"/>
                    <a:pt x="200379" y="261313"/>
                    <a:pt x="205917" y="261313"/>
                  </a:cubicBezTo>
                  <a:cubicBezTo>
                    <a:pt x="211455" y="255713"/>
                    <a:pt x="211455" y="250114"/>
                    <a:pt x="205917" y="244514"/>
                  </a:cubicBezTo>
                  <a:cubicBezTo>
                    <a:pt x="156073" y="199715"/>
                    <a:pt x="156073" y="199715"/>
                    <a:pt x="156073" y="199715"/>
                  </a:cubicBezTo>
                  <a:cubicBezTo>
                    <a:pt x="156073" y="196915"/>
                    <a:pt x="153304" y="195515"/>
                    <a:pt x="149842" y="195515"/>
                  </a:cubicBezTo>
                  <a:close/>
                  <a:moveTo>
                    <a:pt x="325450" y="141317"/>
                  </a:moveTo>
                  <a:cubicBezTo>
                    <a:pt x="320050" y="141317"/>
                    <a:pt x="314650" y="147117"/>
                    <a:pt x="314650" y="152916"/>
                  </a:cubicBezTo>
                  <a:cubicBezTo>
                    <a:pt x="314650" y="199315"/>
                    <a:pt x="314650" y="199315"/>
                    <a:pt x="314650" y="199315"/>
                  </a:cubicBezTo>
                  <a:cubicBezTo>
                    <a:pt x="314650" y="205115"/>
                    <a:pt x="320050" y="210915"/>
                    <a:pt x="325450" y="210915"/>
                  </a:cubicBezTo>
                  <a:cubicBezTo>
                    <a:pt x="330850" y="210915"/>
                    <a:pt x="336250" y="205115"/>
                    <a:pt x="336250" y="199315"/>
                  </a:cubicBezTo>
                  <a:cubicBezTo>
                    <a:pt x="336250" y="152916"/>
                    <a:pt x="336250" y="152916"/>
                    <a:pt x="336250" y="152916"/>
                  </a:cubicBezTo>
                  <a:cubicBezTo>
                    <a:pt x="336250" y="147117"/>
                    <a:pt x="330850" y="141317"/>
                    <a:pt x="325450" y="141317"/>
                  </a:cubicBezTo>
                  <a:close/>
                  <a:moveTo>
                    <a:pt x="404980" y="0"/>
                  </a:moveTo>
                  <a:cubicBezTo>
                    <a:pt x="597346" y="0"/>
                    <a:pt x="789712" y="131439"/>
                    <a:pt x="789712" y="343764"/>
                  </a:cubicBezTo>
                  <a:cubicBezTo>
                    <a:pt x="789712" y="343764"/>
                    <a:pt x="809961" y="374096"/>
                    <a:pt x="820085" y="394317"/>
                  </a:cubicBezTo>
                  <a:cubicBezTo>
                    <a:pt x="850459" y="444870"/>
                    <a:pt x="880832" y="505535"/>
                    <a:pt x="880832" y="545977"/>
                  </a:cubicBezTo>
                  <a:cubicBezTo>
                    <a:pt x="880832" y="545977"/>
                    <a:pt x="880832" y="545977"/>
                    <a:pt x="880832" y="556088"/>
                  </a:cubicBezTo>
                  <a:cubicBezTo>
                    <a:pt x="880832" y="566199"/>
                    <a:pt x="880832" y="576309"/>
                    <a:pt x="870708" y="586420"/>
                  </a:cubicBezTo>
                  <a:cubicBezTo>
                    <a:pt x="860583" y="596531"/>
                    <a:pt x="850459" y="606641"/>
                    <a:pt x="830210" y="606641"/>
                  </a:cubicBezTo>
                  <a:cubicBezTo>
                    <a:pt x="820085" y="606641"/>
                    <a:pt x="799836" y="606641"/>
                    <a:pt x="789712" y="606641"/>
                  </a:cubicBezTo>
                  <a:cubicBezTo>
                    <a:pt x="789712" y="657195"/>
                    <a:pt x="789712" y="758302"/>
                    <a:pt x="749214" y="788634"/>
                  </a:cubicBezTo>
                  <a:cubicBezTo>
                    <a:pt x="718840" y="818966"/>
                    <a:pt x="678342" y="829077"/>
                    <a:pt x="607471" y="829077"/>
                  </a:cubicBezTo>
                  <a:cubicBezTo>
                    <a:pt x="607471" y="829077"/>
                    <a:pt x="607471" y="829077"/>
                    <a:pt x="607471" y="950405"/>
                  </a:cubicBezTo>
                  <a:cubicBezTo>
                    <a:pt x="607471" y="960516"/>
                    <a:pt x="597346" y="970626"/>
                    <a:pt x="587222" y="970626"/>
                  </a:cubicBezTo>
                  <a:cubicBezTo>
                    <a:pt x="587222" y="970626"/>
                    <a:pt x="587222" y="970626"/>
                    <a:pt x="182241" y="970626"/>
                  </a:cubicBezTo>
                  <a:cubicBezTo>
                    <a:pt x="172117" y="970626"/>
                    <a:pt x="161992" y="960516"/>
                    <a:pt x="161992" y="950405"/>
                  </a:cubicBezTo>
                  <a:cubicBezTo>
                    <a:pt x="161992" y="950405"/>
                    <a:pt x="161992" y="950405"/>
                    <a:pt x="161992" y="727970"/>
                  </a:cubicBezTo>
                  <a:cubicBezTo>
                    <a:pt x="50623" y="657195"/>
                    <a:pt x="0" y="556088"/>
                    <a:pt x="0" y="404428"/>
                  </a:cubicBezTo>
                  <a:cubicBezTo>
                    <a:pt x="0" y="181993"/>
                    <a:pt x="182241" y="0"/>
                    <a:pt x="404980"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id-ID"/>
            </a:p>
          </p:txBody>
        </p:sp>
      </p:grpSp>
      <p:grpSp>
        <p:nvGrpSpPr>
          <p:cNvPr id="58" name="Group 57">
            <a:extLst>
              <a:ext uri="{FF2B5EF4-FFF2-40B4-BE49-F238E27FC236}">
                <a16:creationId xmlns:a16="http://schemas.microsoft.com/office/drawing/2014/main" id="{7976F14B-4841-B349-84ED-83A11CF14000}"/>
              </a:ext>
            </a:extLst>
          </p:cNvPr>
          <p:cNvGrpSpPr/>
          <p:nvPr/>
        </p:nvGrpSpPr>
        <p:grpSpPr>
          <a:xfrm>
            <a:off x="11497983" y="1385933"/>
            <a:ext cx="530255" cy="530255"/>
            <a:chOff x="7282897" y="1485504"/>
            <a:chExt cx="1136650" cy="1136650"/>
          </a:xfrm>
        </p:grpSpPr>
        <p:grpSp>
          <p:nvGrpSpPr>
            <p:cNvPr id="59" name="Group 58">
              <a:extLst>
                <a:ext uri="{FF2B5EF4-FFF2-40B4-BE49-F238E27FC236}">
                  <a16:creationId xmlns:a16="http://schemas.microsoft.com/office/drawing/2014/main" id="{21E030B4-5252-0532-B0EB-96A4EBE9F0ED}"/>
                </a:ext>
              </a:extLst>
            </p:cNvPr>
            <p:cNvGrpSpPr/>
            <p:nvPr/>
          </p:nvGrpSpPr>
          <p:grpSpPr>
            <a:xfrm flipH="1">
              <a:off x="7282897" y="1485504"/>
              <a:ext cx="1136650" cy="1136650"/>
              <a:chOff x="3944620" y="1307126"/>
              <a:chExt cx="1021080" cy="1021080"/>
            </a:xfrm>
          </p:grpSpPr>
          <p:sp>
            <p:nvSpPr>
              <p:cNvPr id="453" name="Oval 452">
                <a:extLst>
                  <a:ext uri="{FF2B5EF4-FFF2-40B4-BE49-F238E27FC236}">
                    <a16:creationId xmlns:a16="http://schemas.microsoft.com/office/drawing/2014/main" id="{ABB02521-2A33-E9AB-8ED6-66AC8A8C1C76}"/>
                  </a:ext>
                </a:extLst>
              </p:cNvPr>
              <p:cNvSpPr/>
              <p:nvPr/>
            </p:nvSpPr>
            <p:spPr>
              <a:xfrm>
                <a:off x="3944620" y="1307126"/>
                <a:ext cx="1021080" cy="1021080"/>
              </a:xfrm>
              <a:prstGeom prst="ellipse">
                <a:avLst/>
              </a:prstGeom>
              <a:solidFill>
                <a:schemeClr val="accent2"/>
              </a:solidFill>
              <a:ln>
                <a:noFill/>
              </a:ln>
              <a:effectLst>
                <a:outerShdw blurRad="1016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5" name="Oval 454">
                <a:extLst>
                  <a:ext uri="{FF2B5EF4-FFF2-40B4-BE49-F238E27FC236}">
                    <a16:creationId xmlns:a16="http://schemas.microsoft.com/office/drawing/2014/main" id="{EC64277C-67A5-1FC0-BB23-2C5DC51E6065}"/>
                  </a:ext>
                </a:extLst>
              </p:cNvPr>
              <p:cNvSpPr/>
              <p:nvPr/>
            </p:nvSpPr>
            <p:spPr>
              <a:xfrm>
                <a:off x="4071313" y="1433819"/>
                <a:ext cx="767694" cy="767694"/>
              </a:xfrm>
              <a:prstGeom prst="ellipse">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ACE29CCE-6537-B2B4-760F-371B69373F1D}"/>
                </a:ext>
              </a:extLst>
            </p:cNvPr>
            <p:cNvGrpSpPr/>
            <p:nvPr/>
          </p:nvGrpSpPr>
          <p:grpSpPr>
            <a:xfrm>
              <a:off x="7663344" y="1865124"/>
              <a:ext cx="375756" cy="377410"/>
              <a:chOff x="4113213" y="2163763"/>
              <a:chExt cx="360363" cy="361950"/>
            </a:xfrm>
            <a:solidFill>
              <a:schemeClr val="accent2"/>
            </a:solidFill>
          </p:grpSpPr>
          <p:sp>
            <p:nvSpPr>
              <p:cNvPr id="62" name="Freeform 185">
                <a:extLst>
                  <a:ext uri="{FF2B5EF4-FFF2-40B4-BE49-F238E27FC236}">
                    <a16:creationId xmlns:a16="http://schemas.microsoft.com/office/drawing/2014/main" id="{635F17D0-AE3A-BC25-4ABA-463DA6C59FBC}"/>
                  </a:ext>
                </a:extLst>
              </p:cNvPr>
              <p:cNvSpPr>
                <a:spLocks/>
              </p:cNvSpPr>
              <p:nvPr/>
            </p:nvSpPr>
            <p:spPr bwMode="auto">
              <a:xfrm>
                <a:off x="4314825" y="2382838"/>
                <a:ext cx="120650" cy="120650"/>
              </a:xfrm>
              <a:custGeom>
                <a:avLst/>
                <a:gdLst>
                  <a:gd name="T0" fmla="*/ 45 w 76"/>
                  <a:gd name="T1" fmla="*/ 0 h 76"/>
                  <a:gd name="T2" fmla="*/ 0 w 76"/>
                  <a:gd name="T3" fmla="*/ 45 h 76"/>
                  <a:gd name="T4" fmla="*/ 31 w 76"/>
                  <a:gd name="T5" fmla="*/ 76 h 76"/>
                  <a:gd name="T6" fmla="*/ 76 w 76"/>
                  <a:gd name="T7" fmla="*/ 30 h 76"/>
                  <a:gd name="T8" fmla="*/ 45 w 76"/>
                  <a:gd name="T9" fmla="*/ 0 h 76"/>
                </a:gdLst>
                <a:ahLst/>
                <a:cxnLst>
                  <a:cxn ang="0">
                    <a:pos x="T0" y="T1"/>
                  </a:cxn>
                  <a:cxn ang="0">
                    <a:pos x="T2" y="T3"/>
                  </a:cxn>
                  <a:cxn ang="0">
                    <a:pos x="T4" y="T5"/>
                  </a:cxn>
                  <a:cxn ang="0">
                    <a:pos x="T6" y="T7"/>
                  </a:cxn>
                  <a:cxn ang="0">
                    <a:pos x="T8" y="T9"/>
                  </a:cxn>
                </a:cxnLst>
                <a:rect l="0" t="0" r="r" b="b"/>
                <a:pathLst>
                  <a:path w="76" h="76">
                    <a:moveTo>
                      <a:pt x="45" y="0"/>
                    </a:moveTo>
                    <a:lnTo>
                      <a:pt x="0" y="45"/>
                    </a:lnTo>
                    <a:lnTo>
                      <a:pt x="31" y="76"/>
                    </a:lnTo>
                    <a:lnTo>
                      <a:pt x="76" y="30"/>
                    </a:lnTo>
                    <a:lnTo>
                      <a:pt x="4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49" name="Freeform 186">
                <a:extLst>
                  <a:ext uri="{FF2B5EF4-FFF2-40B4-BE49-F238E27FC236}">
                    <a16:creationId xmlns:a16="http://schemas.microsoft.com/office/drawing/2014/main" id="{86E369D3-49BA-0C36-02CA-1F694971EADA}"/>
                  </a:ext>
                </a:extLst>
              </p:cNvPr>
              <p:cNvSpPr>
                <a:spLocks/>
              </p:cNvSpPr>
              <p:nvPr/>
            </p:nvSpPr>
            <p:spPr bwMode="auto">
              <a:xfrm>
                <a:off x="4292600" y="2468563"/>
                <a:ext cx="57150" cy="57150"/>
              </a:xfrm>
              <a:custGeom>
                <a:avLst/>
                <a:gdLst>
                  <a:gd name="T0" fmla="*/ 4 w 15"/>
                  <a:gd name="T1" fmla="*/ 0 h 15"/>
                  <a:gd name="T2" fmla="*/ 0 w 15"/>
                  <a:gd name="T3" fmla="*/ 12 h 15"/>
                  <a:gd name="T4" fmla="*/ 1 w 15"/>
                  <a:gd name="T5" fmla="*/ 14 h 15"/>
                  <a:gd name="T6" fmla="*/ 2 w 15"/>
                  <a:gd name="T7" fmla="*/ 15 h 15"/>
                  <a:gd name="T8" fmla="*/ 3 w 15"/>
                  <a:gd name="T9" fmla="*/ 15 h 15"/>
                  <a:gd name="T10" fmla="*/ 15 w 15"/>
                  <a:gd name="T11" fmla="*/ 11 h 15"/>
                  <a:gd name="T12" fmla="*/ 4 w 15"/>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15" h="15">
                    <a:moveTo>
                      <a:pt x="4" y="0"/>
                    </a:moveTo>
                    <a:cubicBezTo>
                      <a:pt x="0" y="12"/>
                      <a:pt x="0" y="12"/>
                      <a:pt x="0" y="12"/>
                    </a:cubicBezTo>
                    <a:cubicBezTo>
                      <a:pt x="0" y="13"/>
                      <a:pt x="0" y="14"/>
                      <a:pt x="1" y="14"/>
                    </a:cubicBezTo>
                    <a:cubicBezTo>
                      <a:pt x="1" y="15"/>
                      <a:pt x="1" y="15"/>
                      <a:pt x="2" y="15"/>
                    </a:cubicBezTo>
                    <a:cubicBezTo>
                      <a:pt x="2" y="15"/>
                      <a:pt x="2" y="15"/>
                      <a:pt x="3" y="15"/>
                    </a:cubicBezTo>
                    <a:cubicBezTo>
                      <a:pt x="15" y="11"/>
                      <a:pt x="15" y="11"/>
                      <a:pt x="15" y="11"/>
                    </a:cubicBezTo>
                    <a:lnTo>
                      <a:pt x="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50" name="Freeform 187">
                <a:extLst>
                  <a:ext uri="{FF2B5EF4-FFF2-40B4-BE49-F238E27FC236}">
                    <a16:creationId xmlns:a16="http://schemas.microsoft.com/office/drawing/2014/main" id="{6F0077EE-CB82-9F9F-E13F-538B1AC4D085}"/>
                  </a:ext>
                </a:extLst>
              </p:cNvPr>
              <p:cNvSpPr>
                <a:spLocks/>
              </p:cNvSpPr>
              <p:nvPr/>
            </p:nvSpPr>
            <p:spPr bwMode="auto">
              <a:xfrm>
                <a:off x="4398963" y="2344738"/>
                <a:ext cx="74613" cy="74613"/>
              </a:xfrm>
              <a:custGeom>
                <a:avLst/>
                <a:gdLst>
                  <a:gd name="T0" fmla="*/ 19 w 20"/>
                  <a:gd name="T1" fmla="*/ 11 h 20"/>
                  <a:gd name="T2" fmla="*/ 9 w 20"/>
                  <a:gd name="T3" fmla="*/ 1 h 20"/>
                  <a:gd name="T4" fmla="*/ 7 w 20"/>
                  <a:gd name="T5" fmla="*/ 1 h 20"/>
                  <a:gd name="T6" fmla="*/ 0 w 20"/>
                  <a:gd name="T7" fmla="*/ 7 h 20"/>
                  <a:gd name="T8" fmla="*/ 13 w 20"/>
                  <a:gd name="T9" fmla="*/ 20 h 20"/>
                  <a:gd name="T10" fmla="*/ 19 w 20"/>
                  <a:gd name="T11" fmla="*/ 13 h 20"/>
                  <a:gd name="T12" fmla="*/ 19 w 20"/>
                  <a:gd name="T13" fmla="*/ 11 h 20"/>
                </a:gdLst>
                <a:ahLst/>
                <a:cxnLst>
                  <a:cxn ang="0">
                    <a:pos x="T0" y="T1"/>
                  </a:cxn>
                  <a:cxn ang="0">
                    <a:pos x="T2" y="T3"/>
                  </a:cxn>
                  <a:cxn ang="0">
                    <a:pos x="T4" y="T5"/>
                  </a:cxn>
                  <a:cxn ang="0">
                    <a:pos x="T6" y="T7"/>
                  </a:cxn>
                  <a:cxn ang="0">
                    <a:pos x="T8" y="T9"/>
                  </a:cxn>
                  <a:cxn ang="0">
                    <a:pos x="T10" y="T11"/>
                  </a:cxn>
                  <a:cxn ang="0">
                    <a:pos x="T12" y="T13"/>
                  </a:cxn>
                </a:cxnLst>
                <a:rect l="0" t="0" r="r" b="b"/>
                <a:pathLst>
                  <a:path w="20" h="20">
                    <a:moveTo>
                      <a:pt x="19" y="11"/>
                    </a:moveTo>
                    <a:cubicBezTo>
                      <a:pt x="9" y="1"/>
                      <a:pt x="9" y="1"/>
                      <a:pt x="9" y="1"/>
                    </a:cubicBezTo>
                    <a:cubicBezTo>
                      <a:pt x="9" y="0"/>
                      <a:pt x="7" y="0"/>
                      <a:pt x="7" y="1"/>
                    </a:cubicBezTo>
                    <a:cubicBezTo>
                      <a:pt x="0" y="7"/>
                      <a:pt x="0" y="7"/>
                      <a:pt x="0" y="7"/>
                    </a:cubicBezTo>
                    <a:cubicBezTo>
                      <a:pt x="13" y="20"/>
                      <a:pt x="13" y="20"/>
                      <a:pt x="13" y="20"/>
                    </a:cubicBezTo>
                    <a:cubicBezTo>
                      <a:pt x="19" y="13"/>
                      <a:pt x="19" y="13"/>
                      <a:pt x="19" y="13"/>
                    </a:cubicBezTo>
                    <a:cubicBezTo>
                      <a:pt x="20" y="13"/>
                      <a:pt x="20" y="11"/>
                      <a:pt x="1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52" name="Freeform 188">
                <a:extLst>
                  <a:ext uri="{FF2B5EF4-FFF2-40B4-BE49-F238E27FC236}">
                    <a16:creationId xmlns:a16="http://schemas.microsoft.com/office/drawing/2014/main" id="{4D8DF45E-59DC-5A9C-9CFF-6BD6790D7AA2}"/>
                  </a:ext>
                </a:extLst>
              </p:cNvPr>
              <p:cNvSpPr>
                <a:spLocks noEditPoints="1"/>
              </p:cNvSpPr>
              <p:nvPr/>
            </p:nvSpPr>
            <p:spPr bwMode="auto">
              <a:xfrm>
                <a:off x="4113213" y="2163763"/>
                <a:ext cx="255588" cy="331788"/>
              </a:xfrm>
              <a:custGeom>
                <a:avLst/>
                <a:gdLst>
                  <a:gd name="T0" fmla="*/ 48 w 68"/>
                  <a:gd name="T1" fmla="*/ 78 h 88"/>
                  <a:gd name="T2" fmla="*/ 50 w 68"/>
                  <a:gd name="T3" fmla="*/ 76 h 88"/>
                  <a:gd name="T4" fmla="*/ 68 w 68"/>
                  <a:gd name="T5" fmla="*/ 58 h 88"/>
                  <a:gd name="T6" fmla="*/ 68 w 68"/>
                  <a:gd name="T7" fmla="*/ 22 h 88"/>
                  <a:gd name="T8" fmla="*/ 67 w 68"/>
                  <a:gd name="T9" fmla="*/ 21 h 88"/>
                  <a:gd name="T10" fmla="*/ 47 w 68"/>
                  <a:gd name="T11" fmla="*/ 1 h 88"/>
                  <a:gd name="T12" fmla="*/ 46 w 68"/>
                  <a:gd name="T13" fmla="*/ 0 h 88"/>
                  <a:gd name="T14" fmla="*/ 2 w 68"/>
                  <a:gd name="T15" fmla="*/ 0 h 88"/>
                  <a:gd name="T16" fmla="*/ 0 w 68"/>
                  <a:gd name="T17" fmla="*/ 2 h 88"/>
                  <a:gd name="T18" fmla="*/ 0 w 68"/>
                  <a:gd name="T19" fmla="*/ 86 h 88"/>
                  <a:gd name="T20" fmla="*/ 2 w 68"/>
                  <a:gd name="T21" fmla="*/ 88 h 88"/>
                  <a:gd name="T22" fmla="*/ 45 w 68"/>
                  <a:gd name="T23" fmla="*/ 88 h 88"/>
                  <a:gd name="T24" fmla="*/ 48 w 68"/>
                  <a:gd name="T25" fmla="*/ 78 h 88"/>
                  <a:gd name="T26" fmla="*/ 46 w 68"/>
                  <a:gd name="T27" fmla="*/ 2 h 88"/>
                  <a:gd name="T28" fmla="*/ 66 w 68"/>
                  <a:gd name="T29" fmla="*/ 22 h 88"/>
                  <a:gd name="T30" fmla="*/ 46 w 68"/>
                  <a:gd name="T31" fmla="*/ 22 h 88"/>
                  <a:gd name="T32" fmla="*/ 46 w 68"/>
                  <a:gd name="T33" fmla="*/ 2 h 88"/>
                  <a:gd name="T34" fmla="*/ 36 w 68"/>
                  <a:gd name="T35" fmla="*/ 40 h 88"/>
                  <a:gd name="T36" fmla="*/ 52 w 68"/>
                  <a:gd name="T37" fmla="*/ 40 h 88"/>
                  <a:gd name="T38" fmla="*/ 54 w 68"/>
                  <a:gd name="T39" fmla="*/ 42 h 88"/>
                  <a:gd name="T40" fmla="*/ 52 w 68"/>
                  <a:gd name="T41" fmla="*/ 44 h 88"/>
                  <a:gd name="T42" fmla="*/ 36 w 68"/>
                  <a:gd name="T43" fmla="*/ 44 h 88"/>
                  <a:gd name="T44" fmla="*/ 34 w 68"/>
                  <a:gd name="T45" fmla="*/ 42 h 88"/>
                  <a:gd name="T46" fmla="*/ 36 w 68"/>
                  <a:gd name="T47" fmla="*/ 40 h 88"/>
                  <a:gd name="T48" fmla="*/ 31 w 68"/>
                  <a:gd name="T49" fmla="*/ 51 h 88"/>
                  <a:gd name="T50" fmla="*/ 21 w 68"/>
                  <a:gd name="T51" fmla="*/ 61 h 88"/>
                  <a:gd name="T52" fmla="*/ 20 w 68"/>
                  <a:gd name="T53" fmla="*/ 62 h 88"/>
                  <a:gd name="T54" fmla="*/ 19 w 68"/>
                  <a:gd name="T55" fmla="*/ 61 h 88"/>
                  <a:gd name="T56" fmla="*/ 13 w 68"/>
                  <a:gd name="T57" fmla="*/ 55 h 88"/>
                  <a:gd name="T58" fmla="*/ 13 w 68"/>
                  <a:gd name="T59" fmla="*/ 53 h 88"/>
                  <a:gd name="T60" fmla="*/ 15 w 68"/>
                  <a:gd name="T61" fmla="*/ 53 h 88"/>
                  <a:gd name="T62" fmla="*/ 20 w 68"/>
                  <a:gd name="T63" fmla="*/ 57 h 88"/>
                  <a:gd name="T64" fmla="*/ 29 w 68"/>
                  <a:gd name="T65" fmla="*/ 49 h 88"/>
                  <a:gd name="T66" fmla="*/ 31 w 68"/>
                  <a:gd name="T67" fmla="*/ 49 h 88"/>
                  <a:gd name="T68" fmla="*/ 31 w 68"/>
                  <a:gd name="T69" fmla="*/ 51 h 88"/>
                  <a:gd name="T70" fmla="*/ 31 w 68"/>
                  <a:gd name="T71" fmla="*/ 35 h 88"/>
                  <a:gd name="T72" fmla="*/ 21 w 68"/>
                  <a:gd name="T73" fmla="*/ 45 h 88"/>
                  <a:gd name="T74" fmla="*/ 20 w 68"/>
                  <a:gd name="T75" fmla="*/ 46 h 88"/>
                  <a:gd name="T76" fmla="*/ 19 w 68"/>
                  <a:gd name="T77" fmla="*/ 45 h 88"/>
                  <a:gd name="T78" fmla="*/ 13 w 68"/>
                  <a:gd name="T79" fmla="*/ 39 h 88"/>
                  <a:gd name="T80" fmla="*/ 13 w 68"/>
                  <a:gd name="T81" fmla="*/ 37 h 88"/>
                  <a:gd name="T82" fmla="*/ 15 w 68"/>
                  <a:gd name="T83" fmla="*/ 37 h 88"/>
                  <a:gd name="T84" fmla="*/ 20 w 68"/>
                  <a:gd name="T85" fmla="*/ 41 h 88"/>
                  <a:gd name="T86" fmla="*/ 29 w 68"/>
                  <a:gd name="T87" fmla="*/ 33 h 88"/>
                  <a:gd name="T88" fmla="*/ 31 w 68"/>
                  <a:gd name="T89" fmla="*/ 33 h 88"/>
                  <a:gd name="T90" fmla="*/ 31 w 68"/>
                  <a:gd name="T91" fmla="*/ 35 h 88"/>
                  <a:gd name="T92" fmla="*/ 34 w 68"/>
                  <a:gd name="T93" fmla="*/ 58 h 88"/>
                  <a:gd name="T94" fmla="*/ 36 w 68"/>
                  <a:gd name="T95" fmla="*/ 56 h 88"/>
                  <a:gd name="T96" fmla="*/ 52 w 68"/>
                  <a:gd name="T97" fmla="*/ 56 h 88"/>
                  <a:gd name="T98" fmla="*/ 54 w 68"/>
                  <a:gd name="T99" fmla="*/ 58 h 88"/>
                  <a:gd name="T100" fmla="*/ 52 w 68"/>
                  <a:gd name="T101" fmla="*/ 60 h 88"/>
                  <a:gd name="T102" fmla="*/ 36 w 68"/>
                  <a:gd name="T103" fmla="*/ 60 h 88"/>
                  <a:gd name="T104" fmla="*/ 34 w 68"/>
                  <a:gd name="T105" fmla="*/ 5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8" h="88">
                    <a:moveTo>
                      <a:pt x="48" y="78"/>
                    </a:moveTo>
                    <a:cubicBezTo>
                      <a:pt x="49" y="77"/>
                      <a:pt x="49" y="76"/>
                      <a:pt x="50" y="76"/>
                    </a:cubicBezTo>
                    <a:cubicBezTo>
                      <a:pt x="68" y="58"/>
                      <a:pt x="68" y="58"/>
                      <a:pt x="68" y="58"/>
                    </a:cubicBezTo>
                    <a:cubicBezTo>
                      <a:pt x="68" y="22"/>
                      <a:pt x="68" y="22"/>
                      <a:pt x="68" y="22"/>
                    </a:cubicBezTo>
                    <a:cubicBezTo>
                      <a:pt x="68" y="21"/>
                      <a:pt x="68" y="21"/>
                      <a:pt x="67" y="21"/>
                    </a:cubicBezTo>
                    <a:cubicBezTo>
                      <a:pt x="47" y="1"/>
                      <a:pt x="47" y="1"/>
                      <a:pt x="47" y="1"/>
                    </a:cubicBezTo>
                    <a:cubicBezTo>
                      <a:pt x="47" y="0"/>
                      <a:pt x="47" y="0"/>
                      <a:pt x="46" y="0"/>
                    </a:cubicBezTo>
                    <a:cubicBezTo>
                      <a:pt x="2" y="0"/>
                      <a:pt x="2" y="0"/>
                      <a:pt x="2" y="0"/>
                    </a:cubicBezTo>
                    <a:cubicBezTo>
                      <a:pt x="1" y="0"/>
                      <a:pt x="0" y="1"/>
                      <a:pt x="0" y="2"/>
                    </a:cubicBezTo>
                    <a:cubicBezTo>
                      <a:pt x="0" y="86"/>
                      <a:pt x="0" y="86"/>
                      <a:pt x="0" y="86"/>
                    </a:cubicBezTo>
                    <a:cubicBezTo>
                      <a:pt x="0" y="87"/>
                      <a:pt x="1" y="88"/>
                      <a:pt x="2" y="88"/>
                    </a:cubicBezTo>
                    <a:cubicBezTo>
                      <a:pt x="45" y="88"/>
                      <a:pt x="45" y="88"/>
                      <a:pt x="45" y="88"/>
                    </a:cubicBezTo>
                    <a:lnTo>
                      <a:pt x="48" y="78"/>
                    </a:lnTo>
                    <a:close/>
                    <a:moveTo>
                      <a:pt x="46" y="2"/>
                    </a:moveTo>
                    <a:cubicBezTo>
                      <a:pt x="66" y="22"/>
                      <a:pt x="66" y="22"/>
                      <a:pt x="66" y="22"/>
                    </a:cubicBezTo>
                    <a:cubicBezTo>
                      <a:pt x="46" y="22"/>
                      <a:pt x="46" y="22"/>
                      <a:pt x="46" y="22"/>
                    </a:cubicBezTo>
                    <a:lnTo>
                      <a:pt x="46" y="2"/>
                    </a:lnTo>
                    <a:close/>
                    <a:moveTo>
                      <a:pt x="36" y="40"/>
                    </a:moveTo>
                    <a:cubicBezTo>
                      <a:pt x="52" y="40"/>
                      <a:pt x="52" y="40"/>
                      <a:pt x="52" y="40"/>
                    </a:cubicBezTo>
                    <a:cubicBezTo>
                      <a:pt x="53" y="40"/>
                      <a:pt x="54" y="41"/>
                      <a:pt x="54" y="42"/>
                    </a:cubicBezTo>
                    <a:cubicBezTo>
                      <a:pt x="54" y="43"/>
                      <a:pt x="53" y="44"/>
                      <a:pt x="52" y="44"/>
                    </a:cubicBezTo>
                    <a:cubicBezTo>
                      <a:pt x="36" y="44"/>
                      <a:pt x="36" y="44"/>
                      <a:pt x="36" y="44"/>
                    </a:cubicBezTo>
                    <a:cubicBezTo>
                      <a:pt x="35" y="44"/>
                      <a:pt x="34" y="43"/>
                      <a:pt x="34" y="42"/>
                    </a:cubicBezTo>
                    <a:cubicBezTo>
                      <a:pt x="34" y="41"/>
                      <a:pt x="35" y="40"/>
                      <a:pt x="36" y="40"/>
                    </a:cubicBezTo>
                    <a:close/>
                    <a:moveTo>
                      <a:pt x="31" y="51"/>
                    </a:moveTo>
                    <a:cubicBezTo>
                      <a:pt x="21" y="61"/>
                      <a:pt x="21" y="61"/>
                      <a:pt x="21" y="61"/>
                    </a:cubicBezTo>
                    <a:cubicBezTo>
                      <a:pt x="21" y="62"/>
                      <a:pt x="21" y="62"/>
                      <a:pt x="20" y="62"/>
                    </a:cubicBezTo>
                    <a:cubicBezTo>
                      <a:pt x="19" y="62"/>
                      <a:pt x="19" y="62"/>
                      <a:pt x="19" y="61"/>
                    </a:cubicBezTo>
                    <a:cubicBezTo>
                      <a:pt x="13" y="55"/>
                      <a:pt x="13" y="55"/>
                      <a:pt x="13" y="55"/>
                    </a:cubicBezTo>
                    <a:cubicBezTo>
                      <a:pt x="12" y="55"/>
                      <a:pt x="12" y="53"/>
                      <a:pt x="13" y="53"/>
                    </a:cubicBezTo>
                    <a:cubicBezTo>
                      <a:pt x="13" y="52"/>
                      <a:pt x="15" y="52"/>
                      <a:pt x="15" y="53"/>
                    </a:cubicBezTo>
                    <a:cubicBezTo>
                      <a:pt x="20" y="57"/>
                      <a:pt x="20" y="57"/>
                      <a:pt x="20" y="57"/>
                    </a:cubicBezTo>
                    <a:cubicBezTo>
                      <a:pt x="29" y="49"/>
                      <a:pt x="29" y="49"/>
                      <a:pt x="29" y="49"/>
                    </a:cubicBezTo>
                    <a:cubicBezTo>
                      <a:pt x="29" y="48"/>
                      <a:pt x="31" y="48"/>
                      <a:pt x="31" y="49"/>
                    </a:cubicBezTo>
                    <a:cubicBezTo>
                      <a:pt x="32" y="49"/>
                      <a:pt x="32" y="51"/>
                      <a:pt x="31" y="51"/>
                    </a:cubicBezTo>
                    <a:close/>
                    <a:moveTo>
                      <a:pt x="31" y="35"/>
                    </a:moveTo>
                    <a:cubicBezTo>
                      <a:pt x="21" y="45"/>
                      <a:pt x="21" y="45"/>
                      <a:pt x="21" y="45"/>
                    </a:cubicBezTo>
                    <a:cubicBezTo>
                      <a:pt x="21" y="46"/>
                      <a:pt x="21" y="46"/>
                      <a:pt x="20" y="46"/>
                    </a:cubicBezTo>
                    <a:cubicBezTo>
                      <a:pt x="19" y="46"/>
                      <a:pt x="19" y="46"/>
                      <a:pt x="19" y="45"/>
                    </a:cubicBezTo>
                    <a:cubicBezTo>
                      <a:pt x="13" y="39"/>
                      <a:pt x="13" y="39"/>
                      <a:pt x="13" y="39"/>
                    </a:cubicBezTo>
                    <a:cubicBezTo>
                      <a:pt x="12" y="39"/>
                      <a:pt x="12" y="37"/>
                      <a:pt x="13" y="37"/>
                    </a:cubicBezTo>
                    <a:cubicBezTo>
                      <a:pt x="13" y="36"/>
                      <a:pt x="15" y="36"/>
                      <a:pt x="15" y="37"/>
                    </a:cubicBezTo>
                    <a:cubicBezTo>
                      <a:pt x="20" y="41"/>
                      <a:pt x="20" y="41"/>
                      <a:pt x="20" y="41"/>
                    </a:cubicBezTo>
                    <a:cubicBezTo>
                      <a:pt x="29" y="33"/>
                      <a:pt x="29" y="33"/>
                      <a:pt x="29" y="33"/>
                    </a:cubicBezTo>
                    <a:cubicBezTo>
                      <a:pt x="29" y="32"/>
                      <a:pt x="31" y="32"/>
                      <a:pt x="31" y="33"/>
                    </a:cubicBezTo>
                    <a:cubicBezTo>
                      <a:pt x="32" y="33"/>
                      <a:pt x="32" y="35"/>
                      <a:pt x="31" y="35"/>
                    </a:cubicBezTo>
                    <a:close/>
                    <a:moveTo>
                      <a:pt x="34" y="58"/>
                    </a:moveTo>
                    <a:cubicBezTo>
                      <a:pt x="34" y="57"/>
                      <a:pt x="35" y="56"/>
                      <a:pt x="36" y="56"/>
                    </a:cubicBezTo>
                    <a:cubicBezTo>
                      <a:pt x="52" y="56"/>
                      <a:pt x="52" y="56"/>
                      <a:pt x="52" y="56"/>
                    </a:cubicBezTo>
                    <a:cubicBezTo>
                      <a:pt x="53" y="56"/>
                      <a:pt x="54" y="57"/>
                      <a:pt x="54" y="58"/>
                    </a:cubicBezTo>
                    <a:cubicBezTo>
                      <a:pt x="54" y="59"/>
                      <a:pt x="53" y="60"/>
                      <a:pt x="52" y="60"/>
                    </a:cubicBezTo>
                    <a:cubicBezTo>
                      <a:pt x="36" y="60"/>
                      <a:pt x="36" y="60"/>
                      <a:pt x="36" y="60"/>
                    </a:cubicBezTo>
                    <a:cubicBezTo>
                      <a:pt x="35" y="60"/>
                      <a:pt x="34" y="59"/>
                      <a:pt x="34"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grpSp>
        <p:nvGrpSpPr>
          <p:cNvPr id="456" name="Group 455">
            <a:extLst>
              <a:ext uri="{FF2B5EF4-FFF2-40B4-BE49-F238E27FC236}">
                <a16:creationId xmlns:a16="http://schemas.microsoft.com/office/drawing/2014/main" id="{598FA7D3-38AB-CCE6-70CC-6CAC739CDD31}"/>
              </a:ext>
            </a:extLst>
          </p:cNvPr>
          <p:cNvGrpSpPr/>
          <p:nvPr/>
        </p:nvGrpSpPr>
        <p:grpSpPr>
          <a:xfrm>
            <a:off x="11527813" y="5831443"/>
            <a:ext cx="530255" cy="482050"/>
            <a:chOff x="7282897" y="4883547"/>
            <a:chExt cx="1136650" cy="1136650"/>
          </a:xfrm>
        </p:grpSpPr>
        <p:grpSp>
          <p:nvGrpSpPr>
            <p:cNvPr id="457" name="Group 456">
              <a:extLst>
                <a:ext uri="{FF2B5EF4-FFF2-40B4-BE49-F238E27FC236}">
                  <a16:creationId xmlns:a16="http://schemas.microsoft.com/office/drawing/2014/main" id="{12229232-F2DB-4E1C-A551-4F56E3A42C71}"/>
                </a:ext>
              </a:extLst>
            </p:cNvPr>
            <p:cNvGrpSpPr/>
            <p:nvPr/>
          </p:nvGrpSpPr>
          <p:grpSpPr>
            <a:xfrm flipH="1" flipV="1">
              <a:off x="7282897" y="4883547"/>
              <a:ext cx="1136650" cy="1136650"/>
              <a:chOff x="3944620" y="1307126"/>
              <a:chExt cx="1021080" cy="1021080"/>
            </a:xfrm>
          </p:grpSpPr>
          <p:sp>
            <p:nvSpPr>
              <p:cNvPr id="469" name="Oval 468">
                <a:extLst>
                  <a:ext uri="{FF2B5EF4-FFF2-40B4-BE49-F238E27FC236}">
                    <a16:creationId xmlns:a16="http://schemas.microsoft.com/office/drawing/2014/main" id="{03101C61-628B-76D1-05F1-63949C9AA51C}"/>
                  </a:ext>
                </a:extLst>
              </p:cNvPr>
              <p:cNvSpPr/>
              <p:nvPr/>
            </p:nvSpPr>
            <p:spPr>
              <a:xfrm>
                <a:off x="3944620" y="1307126"/>
                <a:ext cx="1021080" cy="1021080"/>
              </a:xfrm>
              <a:prstGeom prst="ellipse">
                <a:avLst/>
              </a:prstGeom>
              <a:solidFill>
                <a:schemeClr val="accent4"/>
              </a:solidFill>
              <a:ln>
                <a:noFill/>
              </a:ln>
              <a:effectLst>
                <a:outerShdw blurRad="1016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0" name="Oval 469">
                <a:extLst>
                  <a:ext uri="{FF2B5EF4-FFF2-40B4-BE49-F238E27FC236}">
                    <a16:creationId xmlns:a16="http://schemas.microsoft.com/office/drawing/2014/main" id="{D90EE167-8DA6-8357-1C06-6E9C9557887E}"/>
                  </a:ext>
                </a:extLst>
              </p:cNvPr>
              <p:cNvSpPr/>
              <p:nvPr/>
            </p:nvSpPr>
            <p:spPr>
              <a:xfrm>
                <a:off x="4071313" y="1433819"/>
                <a:ext cx="767694" cy="767694"/>
              </a:xfrm>
              <a:prstGeom prst="ellipse">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1" name="Group 460">
              <a:extLst>
                <a:ext uri="{FF2B5EF4-FFF2-40B4-BE49-F238E27FC236}">
                  <a16:creationId xmlns:a16="http://schemas.microsoft.com/office/drawing/2014/main" id="{80483065-76F2-3243-5FB0-714264AE222A}"/>
                </a:ext>
              </a:extLst>
            </p:cNvPr>
            <p:cNvGrpSpPr/>
            <p:nvPr/>
          </p:nvGrpSpPr>
          <p:grpSpPr>
            <a:xfrm>
              <a:off x="7653511" y="5252404"/>
              <a:ext cx="395422" cy="398937"/>
              <a:chOff x="4833938" y="5051425"/>
              <a:chExt cx="357188" cy="360363"/>
            </a:xfrm>
            <a:solidFill>
              <a:schemeClr val="accent4"/>
            </a:solidFill>
          </p:grpSpPr>
          <p:sp>
            <p:nvSpPr>
              <p:cNvPr id="463" name="Freeform 217">
                <a:extLst>
                  <a:ext uri="{FF2B5EF4-FFF2-40B4-BE49-F238E27FC236}">
                    <a16:creationId xmlns:a16="http://schemas.microsoft.com/office/drawing/2014/main" id="{4E8E180A-1A12-987B-F63D-D33812B3CEF5}"/>
                  </a:ext>
                </a:extLst>
              </p:cNvPr>
              <p:cNvSpPr>
                <a:spLocks/>
              </p:cNvSpPr>
              <p:nvPr/>
            </p:nvSpPr>
            <p:spPr bwMode="auto">
              <a:xfrm>
                <a:off x="5062538" y="5281613"/>
                <a:ext cx="128588" cy="130175"/>
              </a:xfrm>
              <a:custGeom>
                <a:avLst/>
                <a:gdLst>
                  <a:gd name="T0" fmla="*/ 34 w 34"/>
                  <a:gd name="T1" fmla="*/ 20 h 35"/>
                  <a:gd name="T2" fmla="*/ 22 w 34"/>
                  <a:gd name="T3" fmla="*/ 0 h 35"/>
                  <a:gd name="T4" fmla="*/ 0 w 34"/>
                  <a:gd name="T5" fmla="*/ 17 h 35"/>
                  <a:gd name="T6" fmla="*/ 10 w 34"/>
                  <a:gd name="T7" fmla="*/ 34 h 35"/>
                  <a:gd name="T8" fmla="*/ 12 w 34"/>
                  <a:gd name="T9" fmla="*/ 35 h 35"/>
                  <a:gd name="T10" fmla="*/ 12 w 34"/>
                  <a:gd name="T11" fmla="*/ 35 h 35"/>
                  <a:gd name="T12" fmla="*/ 13 w 34"/>
                  <a:gd name="T13" fmla="*/ 34 h 35"/>
                  <a:gd name="T14" fmla="*/ 18 w 34"/>
                  <a:gd name="T15" fmla="*/ 21 h 35"/>
                  <a:gd name="T16" fmla="*/ 32 w 34"/>
                  <a:gd name="T17" fmla="*/ 23 h 35"/>
                  <a:gd name="T18" fmla="*/ 34 w 34"/>
                  <a:gd name="T19" fmla="*/ 22 h 35"/>
                  <a:gd name="T20" fmla="*/ 34 w 34"/>
                  <a:gd name="T21" fmla="*/ 2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 h="35">
                    <a:moveTo>
                      <a:pt x="34" y="20"/>
                    </a:moveTo>
                    <a:cubicBezTo>
                      <a:pt x="22" y="0"/>
                      <a:pt x="22" y="0"/>
                      <a:pt x="22" y="0"/>
                    </a:cubicBezTo>
                    <a:cubicBezTo>
                      <a:pt x="17" y="8"/>
                      <a:pt x="9" y="14"/>
                      <a:pt x="0" y="17"/>
                    </a:cubicBezTo>
                    <a:cubicBezTo>
                      <a:pt x="10" y="34"/>
                      <a:pt x="10" y="34"/>
                      <a:pt x="10" y="34"/>
                    </a:cubicBezTo>
                    <a:cubicBezTo>
                      <a:pt x="10" y="35"/>
                      <a:pt x="11" y="35"/>
                      <a:pt x="12" y="35"/>
                    </a:cubicBezTo>
                    <a:cubicBezTo>
                      <a:pt x="12" y="35"/>
                      <a:pt x="12" y="35"/>
                      <a:pt x="12" y="35"/>
                    </a:cubicBezTo>
                    <a:cubicBezTo>
                      <a:pt x="13" y="35"/>
                      <a:pt x="13" y="34"/>
                      <a:pt x="13" y="34"/>
                    </a:cubicBezTo>
                    <a:cubicBezTo>
                      <a:pt x="18" y="21"/>
                      <a:pt x="18" y="21"/>
                      <a:pt x="18" y="21"/>
                    </a:cubicBezTo>
                    <a:cubicBezTo>
                      <a:pt x="32" y="23"/>
                      <a:pt x="32" y="23"/>
                      <a:pt x="32" y="23"/>
                    </a:cubicBezTo>
                    <a:cubicBezTo>
                      <a:pt x="33" y="23"/>
                      <a:pt x="34" y="23"/>
                      <a:pt x="34" y="22"/>
                    </a:cubicBezTo>
                    <a:cubicBezTo>
                      <a:pt x="34" y="21"/>
                      <a:pt x="34" y="21"/>
                      <a:pt x="34"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67" name="Freeform 218">
                <a:extLst>
                  <a:ext uri="{FF2B5EF4-FFF2-40B4-BE49-F238E27FC236}">
                    <a16:creationId xmlns:a16="http://schemas.microsoft.com/office/drawing/2014/main" id="{4410C821-CB40-EF89-0CF7-70DFC0140843}"/>
                  </a:ext>
                </a:extLst>
              </p:cNvPr>
              <p:cNvSpPr>
                <a:spLocks/>
              </p:cNvSpPr>
              <p:nvPr/>
            </p:nvSpPr>
            <p:spPr bwMode="auto">
              <a:xfrm>
                <a:off x="4833938" y="5276850"/>
                <a:ext cx="131763" cy="134938"/>
              </a:xfrm>
              <a:custGeom>
                <a:avLst/>
                <a:gdLst>
                  <a:gd name="T0" fmla="*/ 12 w 35"/>
                  <a:gd name="T1" fmla="*/ 0 h 36"/>
                  <a:gd name="T2" fmla="*/ 0 w 35"/>
                  <a:gd name="T3" fmla="*/ 21 h 36"/>
                  <a:gd name="T4" fmla="*/ 0 w 35"/>
                  <a:gd name="T5" fmla="*/ 23 h 36"/>
                  <a:gd name="T6" fmla="*/ 2 w 35"/>
                  <a:gd name="T7" fmla="*/ 24 h 36"/>
                  <a:gd name="T8" fmla="*/ 16 w 35"/>
                  <a:gd name="T9" fmla="*/ 22 h 36"/>
                  <a:gd name="T10" fmla="*/ 21 w 35"/>
                  <a:gd name="T11" fmla="*/ 35 h 36"/>
                  <a:gd name="T12" fmla="*/ 23 w 35"/>
                  <a:gd name="T13" fmla="*/ 36 h 36"/>
                  <a:gd name="T14" fmla="*/ 23 w 35"/>
                  <a:gd name="T15" fmla="*/ 36 h 36"/>
                  <a:gd name="T16" fmla="*/ 24 w 35"/>
                  <a:gd name="T17" fmla="*/ 35 h 36"/>
                  <a:gd name="T18" fmla="*/ 35 w 35"/>
                  <a:gd name="T19" fmla="*/ 18 h 36"/>
                  <a:gd name="T20" fmla="*/ 12 w 35"/>
                  <a:gd name="T21"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 h="36">
                    <a:moveTo>
                      <a:pt x="12" y="0"/>
                    </a:moveTo>
                    <a:cubicBezTo>
                      <a:pt x="0" y="21"/>
                      <a:pt x="0" y="21"/>
                      <a:pt x="0" y="21"/>
                    </a:cubicBezTo>
                    <a:cubicBezTo>
                      <a:pt x="0" y="22"/>
                      <a:pt x="0" y="22"/>
                      <a:pt x="0" y="23"/>
                    </a:cubicBezTo>
                    <a:cubicBezTo>
                      <a:pt x="1" y="24"/>
                      <a:pt x="2" y="24"/>
                      <a:pt x="2" y="24"/>
                    </a:cubicBezTo>
                    <a:cubicBezTo>
                      <a:pt x="16" y="22"/>
                      <a:pt x="16" y="22"/>
                      <a:pt x="16" y="22"/>
                    </a:cubicBezTo>
                    <a:cubicBezTo>
                      <a:pt x="21" y="35"/>
                      <a:pt x="21" y="35"/>
                      <a:pt x="21" y="35"/>
                    </a:cubicBezTo>
                    <a:cubicBezTo>
                      <a:pt x="21" y="35"/>
                      <a:pt x="22" y="36"/>
                      <a:pt x="23" y="36"/>
                    </a:cubicBezTo>
                    <a:cubicBezTo>
                      <a:pt x="23" y="36"/>
                      <a:pt x="23" y="36"/>
                      <a:pt x="23" y="36"/>
                    </a:cubicBezTo>
                    <a:cubicBezTo>
                      <a:pt x="23" y="36"/>
                      <a:pt x="24" y="36"/>
                      <a:pt x="24" y="35"/>
                    </a:cubicBezTo>
                    <a:cubicBezTo>
                      <a:pt x="35" y="18"/>
                      <a:pt x="35" y="18"/>
                      <a:pt x="35" y="18"/>
                    </a:cubicBezTo>
                    <a:cubicBezTo>
                      <a:pt x="25" y="15"/>
                      <a:pt x="17" y="8"/>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68" name="Freeform 219">
                <a:extLst>
                  <a:ext uri="{FF2B5EF4-FFF2-40B4-BE49-F238E27FC236}">
                    <a16:creationId xmlns:a16="http://schemas.microsoft.com/office/drawing/2014/main" id="{53B4DAE6-BAAB-0B40-3A50-7690DE4F7583}"/>
                  </a:ext>
                </a:extLst>
              </p:cNvPr>
              <p:cNvSpPr>
                <a:spLocks noEditPoints="1"/>
              </p:cNvSpPr>
              <p:nvPr/>
            </p:nvSpPr>
            <p:spPr bwMode="auto">
              <a:xfrm>
                <a:off x="4872038" y="5051425"/>
                <a:ext cx="285750" cy="285750"/>
              </a:xfrm>
              <a:custGeom>
                <a:avLst/>
                <a:gdLst>
                  <a:gd name="T0" fmla="*/ 38 w 76"/>
                  <a:gd name="T1" fmla="*/ 0 h 76"/>
                  <a:gd name="T2" fmla="*/ 0 w 76"/>
                  <a:gd name="T3" fmla="*/ 38 h 76"/>
                  <a:gd name="T4" fmla="*/ 38 w 76"/>
                  <a:gd name="T5" fmla="*/ 76 h 76"/>
                  <a:gd name="T6" fmla="*/ 76 w 76"/>
                  <a:gd name="T7" fmla="*/ 38 h 76"/>
                  <a:gd name="T8" fmla="*/ 38 w 76"/>
                  <a:gd name="T9" fmla="*/ 0 h 76"/>
                  <a:gd name="T10" fmla="*/ 55 w 76"/>
                  <a:gd name="T11" fmla="*/ 27 h 76"/>
                  <a:gd name="T12" fmla="*/ 35 w 76"/>
                  <a:gd name="T13" fmla="*/ 52 h 76"/>
                  <a:gd name="T14" fmla="*/ 34 w 76"/>
                  <a:gd name="T15" fmla="*/ 53 h 76"/>
                  <a:gd name="T16" fmla="*/ 33 w 76"/>
                  <a:gd name="T17" fmla="*/ 53 h 76"/>
                  <a:gd name="T18" fmla="*/ 32 w 76"/>
                  <a:gd name="T19" fmla="*/ 52 h 76"/>
                  <a:gd name="T20" fmla="*/ 21 w 76"/>
                  <a:gd name="T21" fmla="*/ 41 h 76"/>
                  <a:gd name="T22" fmla="*/ 21 w 76"/>
                  <a:gd name="T23" fmla="*/ 39 h 76"/>
                  <a:gd name="T24" fmla="*/ 24 w 76"/>
                  <a:gd name="T25" fmla="*/ 39 h 76"/>
                  <a:gd name="T26" fmla="*/ 33 w 76"/>
                  <a:gd name="T27" fmla="*/ 48 h 76"/>
                  <a:gd name="T28" fmla="*/ 52 w 76"/>
                  <a:gd name="T29" fmla="*/ 24 h 76"/>
                  <a:gd name="T30" fmla="*/ 54 w 76"/>
                  <a:gd name="T31" fmla="*/ 24 h 76"/>
                  <a:gd name="T32" fmla="*/ 55 w 76"/>
                  <a:gd name="T33" fmla="*/ 27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6" h="76">
                    <a:moveTo>
                      <a:pt x="38" y="0"/>
                    </a:moveTo>
                    <a:cubicBezTo>
                      <a:pt x="17" y="0"/>
                      <a:pt x="0" y="17"/>
                      <a:pt x="0" y="38"/>
                    </a:cubicBezTo>
                    <a:cubicBezTo>
                      <a:pt x="0" y="59"/>
                      <a:pt x="17" y="76"/>
                      <a:pt x="38" y="76"/>
                    </a:cubicBezTo>
                    <a:cubicBezTo>
                      <a:pt x="59" y="76"/>
                      <a:pt x="76" y="59"/>
                      <a:pt x="76" y="38"/>
                    </a:cubicBezTo>
                    <a:cubicBezTo>
                      <a:pt x="76" y="17"/>
                      <a:pt x="59" y="0"/>
                      <a:pt x="38" y="0"/>
                    </a:cubicBezTo>
                    <a:close/>
                    <a:moveTo>
                      <a:pt x="55" y="27"/>
                    </a:moveTo>
                    <a:cubicBezTo>
                      <a:pt x="35" y="52"/>
                      <a:pt x="35" y="52"/>
                      <a:pt x="35" y="52"/>
                    </a:cubicBezTo>
                    <a:cubicBezTo>
                      <a:pt x="35" y="52"/>
                      <a:pt x="34" y="53"/>
                      <a:pt x="34" y="53"/>
                    </a:cubicBezTo>
                    <a:cubicBezTo>
                      <a:pt x="33" y="53"/>
                      <a:pt x="33" y="53"/>
                      <a:pt x="33" y="53"/>
                    </a:cubicBezTo>
                    <a:cubicBezTo>
                      <a:pt x="33" y="53"/>
                      <a:pt x="32" y="52"/>
                      <a:pt x="32" y="52"/>
                    </a:cubicBezTo>
                    <a:cubicBezTo>
                      <a:pt x="21" y="41"/>
                      <a:pt x="21" y="41"/>
                      <a:pt x="21" y="41"/>
                    </a:cubicBezTo>
                    <a:cubicBezTo>
                      <a:pt x="21" y="41"/>
                      <a:pt x="21" y="39"/>
                      <a:pt x="21" y="39"/>
                    </a:cubicBezTo>
                    <a:cubicBezTo>
                      <a:pt x="22" y="38"/>
                      <a:pt x="23" y="38"/>
                      <a:pt x="24" y="39"/>
                    </a:cubicBezTo>
                    <a:cubicBezTo>
                      <a:pt x="33" y="48"/>
                      <a:pt x="33" y="48"/>
                      <a:pt x="33" y="48"/>
                    </a:cubicBezTo>
                    <a:cubicBezTo>
                      <a:pt x="52" y="24"/>
                      <a:pt x="52" y="24"/>
                      <a:pt x="52" y="24"/>
                    </a:cubicBezTo>
                    <a:cubicBezTo>
                      <a:pt x="52" y="23"/>
                      <a:pt x="54" y="23"/>
                      <a:pt x="54" y="24"/>
                    </a:cubicBezTo>
                    <a:cubicBezTo>
                      <a:pt x="55" y="25"/>
                      <a:pt x="55" y="26"/>
                      <a:pt x="55"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grpSp>
        <p:nvGrpSpPr>
          <p:cNvPr id="471" name="Group 470">
            <a:extLst>
              <a:ext uri="{FF2B5EF4-FFF2-40B4-BE49-F238E27FC236}">
                <a16:creationId xmlns:a16="http://schemas.microsoft.com/office/drawing/2014/main" id="{6BCB4E72-0F6F-52FB-CB67-BAD87B1DCB93}"/>
              </a:ext>
            </a:extLst>
          </p:cNvPr>
          <p:cNvGrpSpPr/>
          <p:nvPr/>
        </p:nvGrpSpPr>
        <p:grpSpPr>
          <a:xfrm>
            <a:off x="8079057" y="5819895"/>
            <a:ext cx="530255" cy="482050"/>
            <a:chOff x="3772535" y="4883547"/>
            <a:chExt cx="1136650" cy="1136650"/>
          </a:xfrm>
        </p:grpSpPr>
        <p:grpSp>
          <p:nvGrpSpPr>
            <p:cNvPr id="472" name="Group 471">
              <a:extLst>
                <a:ext uri="{FF2B5EF4-FFF2-40B4-BE49-F238E27FC236}">
                  <a16:creationId xmlns:a16="http://schemas.microsoft.com/office/drawing/2014/main" id="{AFF1E929-643F-5D8D-2435-B96C9479EAFA}"/>
                </a:ext>
              </a:extLst>
            </p:cNvPr>
            <p:cNvGrpSpPr/>
            <p:nvPr/>
          </p:nvGrpSpPr>
          <p:grpSpPr>
            <a:xfrm flipV="1">
              <a:off x="3772535" y="4883547"/>
              <a:ext cx="1136650" cy="1136650"/>
              <a:chOff x="3944620" y="1307126"/>
              <a:chExt cx="1021080" cy="1021080"/>
            </a:xfrm>
          </p:grpSpPr>
          <p:sp>
            <p:nvSpPr>
              <p:cNvPr id="474" name="Oval 473">
                <a:extLst>
                  <a:ext uri="{FF2B5EF4-FFF2-40B4-BE49-F238E27FC236}">
                    <a16:creationId xmlns:a16="http://schemas.microsoft.com/office/drawing/2014/main" id="{FBDEEE8E-2008-3C75-F600-16909C28B628}"/>
                  </a:ext>
                </a:extLst>
              </p:cNvPr>
              <p:cNvSpPr/>
              <p:nvPr/>
            </p:nvSpPr>
            <p:spPr>
              <a:xfrm>
                <a:off x="3944620" y="1307126"/>
                <a:ext cx="1021080" cy="1021080"/>
              </a:xfrm>
              <a:prstGeom prst="ellipse">
                <a:avLst/>
              </a:prstGeom>
              <a:solidFill>
                <a:schemeClr val="accent3"/>
              </a:solidFill>
              <a:ln>
                <a:noFill/>
              </a:ln>
              <a:effectLst>
                <a:outerShdw blurRad="1016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Oval 474">
                <a:extLst>
                  <a:ext uri="{FF2B5EF4-FFF2-40B4-BE49-F238E27FC236}">
                    <a16:creationId xmlns:a16="http://schemas.microsoft.com/office/drawing/2014/main" id="{CB053D82-8116-3E0D-E88E-097CBC213C5F}"/>
                  </a:ext>
                </a:extLst>
              </p:cNvPr>
              <p:cNvSpPr/>
              <p:nvPr/>
            </p:nvSpPr>
            <p:spPr>
              <a:xfrm>
                <a:off x="4071313" y="1433819"/>
                <a:ext cx="767694" cy="767694"/>
              </a:xfrm>
              <a:prstGeom prst="ellipse">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3" name="Freeform 26">
              <a:extLst>
                <a:ext uri="{FF2B5EF4-FFF2-40B4-BE49-F238E27FC236}">
                  <a16:creationId xmlns:a16="http://schemas.microsoft.com/office/drawing/2014/main" id="{89051A40-1BB8-506B-0B6B-DD2C1BD6D0A4}"/>
                </a:ext>
              </a:extLst>
            </p:cNvPr>
            <p:cNvSpPr>
              <a:spLocks noEditPoints="1"/>
            </p:cNvSpPr>
            <p:nvPr/>
          </p:nvSpPr>
          <p:spPr bwMode="auto">
            <a:xfrm>
              <a:off x="4114291" y="5220223"/>
              <a:ext cx="453139" cy="463299"/>
            </a:xfrm>
            <a:custGeom>
              <a:avLst/>
              <a:gdLst>
                <a:gd name="T0" fmla="*/ 88 w 94"/>
                <a:gd name="T1" fmla="*/ 31 h 96"/>
                <a:gd name="T2" fmla="*/ 92 w 94"/>
                <a:gd name="T3" fmla="*/ 22 h 96"/>
                <a:gd name="T4" fmla="*/ 93 w 94"/>
                <a:gd name="T5" fmla="*/ 19 h 96"/>
                <a:gd name="T6" fmla="*/ 86 w 94"/>
                <a:gd name="T7" fmla="*/ 8 h 96"/>
                <a:gd name="T8" fmla="*/ 80 w 94"/>
                <a:gd name="T9" fmla="*/ 11 h 96"/>
                <a:gd name="T10" fmla="*/ 74 w 94"/>
                <a:gd name="T11" fmla="*/ 2 h 96"/>
                <a:gd name="T12" fmla="*/ 60 w 94"/>
                <a:gd name="T13" fmla="*/ 0 h 96"/>
                <a:gd name="T14" fmla="*/ 58 w 94"/>
                <a:gd name="T15" fmla="*/ 7 h 96"/>
                <a:gd name="T16" fmla="*/ 48 w 94"/>
                <a:gd name="T17" fmla="*/ 8 h 96"/>
                <a:gd name="T18" fmla="*/ 39 w 94"/>
                <a:gd name="T19" fmla="*/ 19 h 96"/>
                <a:gd name="T20" fmla="*/ 40 w 94"/>
                <a:gd name="T21" fmla="*/ 22 h 96"/>
                <a:gd name="T22" fmla="*/ 44 w 94"/>
                <a:gd name="T23" fmla="*/ 31 h 96"/>
                <a:gd name="T24" fmla="*/ 39 w 94"/>
                <a:gd name="T25" fmla="*/ 35 h 96"/>
                <a:gd name="T26" fmla="*/ 45 w 94"/>
                <a:gd name="T27" fmla="*/ 47 h 96"/>
                <a:gd name="T28" fmla="*/ 42 w 94"/>
                <a:gd name="T29" fmla="*/ 51 h 96"/>
                <a:gd name="T30" fmla="*/ 36 w 94"/>
                <a:gd name="T31" fmla="*/ 42 h 96"/>
                <a:gd name="T32" fmla="*/ 22 w 94"/>
                <a:gd name="T33" fmla="*/ 40 h 96"/>
                <a:gd name="T34" fmla="*/ 20 w 94"/>
                <a:gd name="T35" fmla="*/ 47 h 96"/>
                <a:gd name="T36" fmla="*/ 10 w 94"/>
                <a:gd name="T37" fmla="*/ 48 h 96"/>
                <a:gd name="T38" fmla="*/ 1 w 94"/>
                <a:gd name="T39" fmla="*/ 59 h 96"/>
                <a:gd name="T40" fmla="*/ 2 w 94"/>
                <a:gd name="T41" fmla="*/ 62 h 96"/>
                <a:gd name="T42" fmla="*/ 6 w 94"/>
                <a:gd name="T43" fmla="*/ 71 h 96"/>
                <a:gd name="T44" fmla="*/ 1 w 94"/>
                <a:gd name="T45" fmla="*/ 75 h 96"/>
                <a:gd name="T46" fmla="*/ 7 w 94"/>
                <a:gd name="T47" fmla="*/ 87 h 96"/>
                <a:gd name="T48" fmla="*/ 14 w 94"/>
                <a:gd name="T49" fmla="*/ 85 h 96"/>
                <a:gd name="T50" fmla="*/ 20 w 94"/>
                <a:gd name="T51" fmla="*/ 94 h 96"/>
                <a:gd name="T52" fmla="*/ 34 w 94"/>
                <a:gd name="T53" fmla="*/ 96 h 96"/>
                <a:gd name="T54" fmla="*/ 36 w 94"/>
                <a:gd name="T55" fmla="*/ 88 h 96"/>
                <a:gd name="T56" fmla="*/ 46 w 94"/>
                <a:gd name="T57" fmla="*/ 88 h 96"/>
                <a:gd name="T58" fmla="*/ 49 w 94"/>
                <a:gd name="T59" fmla="*/ 87 h 96"/>
                <a:gd name="T60" fmla="*/ 54 w 94"/>
                <a:gd name="T61" fmla="*/ 74 h 96"/>
                <a:gd name="T62" fmla="*/ 50 w 94"/>
                <a:gd name="T63" fmla="*/ 65 h 96"/>
                <a:gd name="T64" fmla="*/ 55 w 94"/>
                <a:gd name="T65" fmla="*/ 61 h 96"/>
                <a:gd name="T66" fmla="*/ 49 w 94"/>
                <a:gd name="T67" fmla="*/ 49 h 96"/>
                <a:gd name="T68" fmla="*/ 48 w 94"/>
                <a:gd name="T69" fmla="*/ 48 h 96"/>
                <a:gd name="T70" fmla="*/ 58 w 94"/>
                <a:gd name="T71" fmla="*/ 49 h 96"/>
                <a:gd name="T72" fmla="*/ 60 w 94"/>
                <a:gd name="T73" fmla="*/ 56 h 96"/>
                <a:gd name="T74" fmla="*/ 74 w 94"/>
                <a:gd name="T75" fmla="*/ 54 h 96"/>
                <a:gd name="T76" fmla="*/ 80 w 94"/>
                <a:gd name="T77" fmla="*/ 45 h 96"/>
                <a:gd name="T78" fmla="*/ 86 w 94"/>
                <a:gd name="T79" fmla="*/ 48 h 96"/>
                <a:gd name="T80" fmla="*/ 93 w 94"/>
                <a:gd name="T81" fmla="*/ 37 h 96"/>
                <a:gd name="T82" fmla="*/ 28 w 94"/>
                <a:gd name="T83" fmla="*/ 78 h 96"/>
                <a:gd name="T84" fmla="*/ 28 w 94"/>
                <a:gd name="T85" fmla="*/ 58 h 96"/>
                <a:gd name="T86" fmla="*/ 28 w 94"/>
                <a:gd name="T87" fmla="*/ 78 h 96"/>
                <a:gd name="T88" fmla="*/ 56 w 94"/>
                <a:gd name="T89" fmla="*/ 28 h 96"/>
                <a:gd name="T90" fmla="*/ 76 w 94"/>
                <a:gd name="T91" fmla="*/ 2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4" h="96">
                  <a:moveTo>
                    <a:pt x="92" y="34"/>
                  </a:moveTo>
                  <a:cubicBezTo>
                    <a:pt x="88" y="31"/>
                    <a:pt x="88" y="31"/>
                    <a:pt x="88" y="31"/>
                  </a:cubicBezTo>
                  <a:cubicBezTo>
                    <a:pt x="88" y="29"/>
                    <a:pt x="88" y="27"/>
                    <a:pt x="88" y="25"/>
                  </a:cubicBezTo>
                  <a:cubicBezTo>
                    <a:pt x="92" y="22"/>
                    <a:pt x="92" y="22"/>
                    <a:pt x="92" y="22"/>
                  </a:cubicBezTo>
                  <a:cubicBezTo>
                    <a:pt x="93" y="22"/>
                    <a:pt x="93" y="21"/>
                    <a:pt x="93" y="21"/>
                  </a:cubicBezTo>
                  <a:cubicBezTo>
                    <a:pt x="94" y="20"/>
                    <a:pt x="93" y="20"/>
                    <a:pt x="93" y="19"/>
                  </a:cubicBezTo>
                  <a:cubicBezTo>
                    <a:pt x="87" y="9"/>
                    <a:pt x="87" y="9"/>
                    <a:pt x="87" y="9"/>
                  </a:cubicBezTo>
                  <a:cubicBezTo>
                    <a:pt x="87" y="8"/>
                    <a:pt x="87" y="8"/>
                    <a:pt x="86" y="8"/>
                  </a:cubicBezTo>
                  <a:cubicBezTo>
                    <a:pt x="85" y="8"/>
                    <a:pt x="85" y="8"/>
                    <a:pt x="84" y="8"/>
                  </a:cubicBezTo>
                  <a:cubicBezTo>
                    <a:pt x="80" y="11"/>
                    <a:pt x="80" y="11"/>
                    <a:pt x="80" y="11"/>
                  </a:cubicBezTo>
                  <a:cubicBezTo>
                    <a:pt x="78" y="10"/>
                    <a:pt x="77" y="9"/>
                    <a:pt x="74" y="8"/>
                  </a:cubicBezTo>
                  <a:cubicBezTo>
                    <a:pt x="74" y="2"/>
                    <a:pt x="74" y="2"/>
                    <a:pt x="74" y="2"/>
                  </a:cubicBezTo>
                  <a:cubicBezTo>
                    <a:pt x="74" y="1"/>
                    <a:pt x="74" y="0"/>
                    <a:pt x="72" y="0"/>
                  </a:cubicBezTo>
                  <a:cubicBezTo>
                    <a:pt x="60" y="0"/>
                    <a:pt x="60" y="0"/>
                    <a:pt x="60" y="0"/>
                  </a:cubicBezTo>
                  <a:cubicBezTo>
                    <a:pt x="59" y="0"/>
                    <a:pt x="58" y="1"/>
                    <a:pt x="58" y="2"/>
                  </a:cubicBezTo>
                  <a:cubicBezTo>
                    <a:pt x="58" y="7"/>
                    <a:pt x="58" y="7"/>
                    <a:pt x="58" y="7"/>
                  </a:cubicBezTo>
                  <a:cubicBezTo>
                    <a:pt x="56" y="8"/>
                    <a:pt x="54" y="9"/>
                    <a:pt x="52" y="11"/>
                  </a:cubicBezTo>
                  <a:cubicBezTo>
                    <a:pt x="48" y="8"/>
                    <a:pt x="48" y="8"/>
                    <a:pt x="48" y="8"/>
                  </a:cubicBezTo>
                  <a:cubicBezTo>
                    <a:pt x="47" y="8"/>
                    <a:pt x="45" y="8"/>
                    <a:pt x="45" y="9"/>
                  </a:cubicBezTo>
                  <a:cubicBezTo>
                    <a:pt x="39" y="19"/>
                    <a:pt x="39" y="19"/>
                    <a:pt x="39" y="19"/>
                  </a:cubicBezTo>
                  <a:cubicBezTo>
                    <a:pt x="39" y="20"/>
                    <a:pt x="38" y="20"/>
                    <a:pt x="39" y="21"/>
                  </a:cubicBezTo>
                  <a:cubicBezTo>
                    <a:pt x="39" y="21"/>
                    <a:pt x="39" y="22"/>
                    <a:pt x="40" y="22"/>
                  </a:cubicBezTo>
                  <a:cubicBezTo>
                    <a:pt x="44" y="25"/>
                    <a:pt x="44" y="25"/>
                    <a:pt x="44" y="25"/>
                  </a:cubicBezTo>
                  <a:cubicBezTo>
                    <a:pt x="44" y="27"/>
                    <a:pt x="44" y="29"/>
                    <a:pt x="44" y="31"/>
                  </a:cubicBezTo>
                  <a:cubicBezTo>
                    <a:pt x="39" y="34"/>
                    <a:pt x="39" y="34"/>
                    <a:pt x="39" y="34"/>
                  </a:cubicBezTo>
                  <a:cubicBezTo>
                    <a:pt x="39" y="34"/>
                    <a:pt x="39" y="35"/>
                    <a:pt x="39" y="35"/>
                  </a:cubicBezTo>
                  <a:cubicBezTo>
                    <a:pt x="38" y="36"/>
                    <a:pt x="38" y="36"/>
                    <a:pt x="39" y="37"/>
                  </a:cubicBezTo>
                  <a:cubicBezTo>
                    <a:pt x="45" y="47"/>
                    <a:pt x="45" y="47"/>
                    <a:pt x="45" y="47"/>
                  </a:cubicBezTo>
                  <a:cubicBezTo>
                    <a:pt x="45" y="48"/>
                    <a:pt x="46" y="48"/>
                    <a:pt x="46" y="48"/>
                  </a:cubicBezTo>
                  <a:cubicBezTo>
                    <a:pt x="42" y="51"/>
                    <a:pt x="42" y="51"/>
                    <a:pt x="42" y="51"/>
                  </a:cubicBezTo>
                  <a:cubicBezTo>
                    <a:pt x="40" y="50"/>
                    <a:pt x="39" y="49"/>
                    <a:pt x="36" y="48"/>
                  </a:cubicBezTo>
                  <a:cubicBezTo>
                    <a:pt x="36" y="42"/>
                    <a:pt x="36" y="42"/>
                    <a:pt x="36" y="42"/>
                  </a:cubicBezTo>
                  <a:cubicBezTo>
                    <a:pt x="36" y="41"/>
                    <a:pt x="36" y="40"/>
                    <a:pt x="34" y="40"/>
                  </a:cubicBezTo>
                  <a:cubicBezTo>
                    <a:pt x="22" y="40"/>
                    <a:pt x="22" y="40"/>
                    <a:pt x="22" y="40"/>
                  </a:cubicBezTo>
                  <a:cubicBezTo>
                    <a:pt x="21" y="40"/>
                    <a:pt x="20" y="41"/>
                    <a:pt x="20" y="42"/>
                  </a:cubicBezTo>
                  <a:cubicBezTo>
                    <a:pt x="20" y="47"/>
                    <a:pt x="20" y="47"/>
                    <a:pt x="20" y="47"/>
                  </a:cubicBezTo>
                  <a:cubicBezTo>
                    <a:pt x="18" y="48"/>
                    <a:pt x="16" y="49"/>
                    <a:pt x="14" y="51"/>
                  </a:cubicBezTo>
                  <a:cubicBezTo>
                    <a:pt x="10" y="48"/>
                    <a:pt x="10" y="48"/>
                    <a:pt x="10" y="48"/>
                  </a:cubicBezTo>
                  <a:cubicBezTo>
                    <a:pt x="9" y="48"/>
                    <a:pt x="7" y="48"/>
                    <a:pt x="7" y="49"/>
                  </a:cubicBezTo>
                  <a:cubicBezTo>
                    <a:pt x="1" y="59"/>
                    <a:pt x="1" y="59"/>
                    <a:pt x="1" y="59"/>
                  </a:cubicBezTo>
                  <a:cubicBezTo>
                    <a:pt x="1" y="60"/>
                    <a:pt x="0" y="60"/>
                    <a:pt x="1" y="61"/>
                  </a:cubicBezTo>
                  <a:cubicBezTo>
                    <a:pt x="1" y="61"/>
                    <a:pt x="1" y="62"/>
                    <a:pt x="2" y="62"/>
                  </a:cubicBezTo>
                  <a:cubicBezTo>
                    <a:pt x="6" y="65"/>
                    <a:pt x="6" y="65"/>
                    <a:pt x="6" y="65"/>
                  </a:cubicBezTo>
                  <a:cubicBezTo>
                    <a:pt x="6" y="67"/>
                    <a:pt x="6" y="69"/>
                    <a:pt x="6" y="71"/>
                  </a:cubicBezTo>
                  <a:cubicBezTo>
                    <a:pt x="1" y="74"/>
                    <a:pt x="1" y="74"/>
                    <a:pt x="1" y="74"/>
                  </a:cubicBezTo>
                  <a:cubicBezTo>
                    <a:pt x="1" y="74"/>
                    <a:pt x="1" y="75"/>
                    <a:pt x="1" y="75"/>
                  </a:cubicBezTo>
                  <a:cubicBezTo>
                    <a:pt x="0" y="76"/>
                    <a:pt x="0" y="76"/>
                    <a:pt x="1" y="77"/>
                  </a:cubicBezTo>
                  <a:cubicBezTo>
                    <a:pt x="7" y="87"/>
                    <a:pt x="7" y="87"/>
                    <a:pt x="7" y="87"/>
                  </a:cubicBezTo>
                  <a:cubicBezTo>
                    <a:pt x="7" y="88"/>
                    <a:pt x="8" y="88"/>
                    <a:pt x="9" y="88"/>
                  </a:cubicBezTo>
                  <a:cubicBezTo>
                    <a:pt x="14" y="85"/>
                    <a:pt x="14" y="85"/>
                    <a:pt x="14" y="85"/>
                  </a:cubicBezTo>
                  <a:cubicBezTo>
                    <a:pt x="16" y="87"/>
                    <a:pt x="18" y="88"/>
                    <a:pt x="20" y="89"/>
                  </a:cubicBezTo>
                  <a:cubicBezTo>
                    <a:pt x="20" y="94"/>
                    <a:pt x="20" y="94"/>
                    <a:pt x="20" y="94"/>
                  </a:cubicBezTo>
                  <a:cubicBezTo>
                    <a:pt x="20" y="95"/>
                    <a:pt x="21" y="96"/>
                    <a:pt x="22" y="96"/>
                  </a:cubicBezTo>
                  <a:cubicBezTo>
                    <a:pt x="34" y="96"/>
                    <a:pt x="34" y="96"/>
                    <a:pt x="34" y="96"/>
                  </a:cubicBezTo>
                  <a:cubicBezTo>
                    <a:pt x="36" y="96"/>
                    <a:pt x="36" y="95"/>
                    <a:pt x="36" y="94"/>
                  </a:cubicBezTo>
                  <a:cubicBezTo>
                    <a:pt x="36" y="88"/>
                    <a:pt x="36" y="88"/>
                    <a:pt x="36" y="88"/>
                  </a:cubicBezTo>
                  <a:cubicBezTo>
                    <a:pt x="39" y="87"/>
                    <a:pt x="40" y="86"/>
                    <a:pt x="42" y="85"/>
                  </a:cubicBezTo>
                  <a:cubicBezTo>
                    <a:pt x="46" y="88"/>
                    <a:pt x="46" y="88"/>
                    <a:pt x="46" y="88"/>
                  </a:cubicBezTo>
                  <a:cubicBezTo>
                    <a:pt x="47" y="88"/>
                    <a:pt x="47" y="88"/>
                    <a:pt x="48" y="88"/>
                  </a:cubicBezTo>
                  <a:cubicBezTo>
                    <a:pt x="49" y="88"/>
                    <a:pt x="49" y="88"/>
                    <a:pt x="49" y="87"/>
                  </a:cubicBezTo>
                  <a:cubicBezTo>
                    <a:pt x="55" y="77"/>
                    <a:pt x="55" y="77"/>
                    <a:pt x="55" y="77"/>
                  </a:cubicBezTo>
                  <a:cubicBezTo>
                    <a:pt x="56" y="76"/>
                    <a:pt x="55" y="75"/>
                    <a:pt x="54" y="74"/>
                  </a:cubicBezTo>
                  <a:cubicBezTo>
                    <a:pt x="50" y="71"/>
                    <a:pt x="50" y="71"/>
                    <a:pt x="50" y="71"/>
                  </a:cubicBezTo>
                  <a:cubicBezTo>
                    <a:pt x="50" y="69"/>
                    <a:pt x="50" y="67"/>
                    <a:pt x="50" y="65"/>
                  </a:cubicBezTo>
                  <a:cubicBezTo>
                    <a:pt x="54" y="62"/>
                    <a:pt x="54" y="62"/>
                    <a:pt x="54" y="62"/>
                  </a:cubicBezTo>
                  <a:cubicBezTo>
                    <a:pt x="55" y="62"/>
                    <a:pt x="55" y="61"/>
                    <a:pt x="55" y="61"/>
                  </a:cubicBezTo>
                  <a:cubicBezTo>
                    <a:pt x="56" y="60"/>
                    <a:pt x="55" y="60"/>
                    <a:pt x="55" y="59"/>
                  </a:cubicBezTo>
                  <a:cubicBezTo>
                    <a:pt x="49" y="49"/>
                    <a:pt x="49" y="49"/>
                    <a:pt x="49" y="49"/>
                  </a:cubicBezTo>
                  <a:cubicBezTo>
                    <a:pt x="49" y="48"/>
                    <a:pt x="49" y="48"/>
                    <a:pt x="48" y="48"/>
                  </a:cubicBezTo>
                  <a:cubicBezTo>
                    <a:pt x="48" y="48"/>
                    <a:pt x="48" y="48"/>
                    <a:pt x="48" y="48"/>
                  </a:cubicBezTo>
                  <a:cubicBezTo>
                    <a:pt x="52" y="45"/>
                    <a:pt x="52" y="45"/>
                    <a:pt x="52" y="45"/>
                  </a:cubicBezTo>
                  <a:cubicBezTo>
                    <a:pt x="54" y="47"/>
                    <a:pt x="56" y="48"/>
                    <a:pt x="58" y="49"/>
                  </a:cubicBezTo>
                  <a:cubicBezTo>
                    <a:pt x="58" y="54"/>
                    <a:pt x="58" y="54"/>
                    <a:pt x="58" y="54"/>
                  </a:cubicBezTo>
                  <a:cubicBezTo>
                    <a:pt x="58" y="55"/>
                    <a:pt x="59" y="56"/>
                    <a:pt x="60" y="56"/>
                  </a:cubicBezTo>
                  <a:cubicBezTo>
                    <a:pt x="72" y="56"/>
                    <a:pt x="72" y="56"/>
                    <a:pt x="72" y="56"/>
                  </a:cubicBezTo>
                  <a:cubicBezTo>
                    <a:pt x="74" y="56"/>
                    <a:pt x="74" y="55"/>
                    <a:pt x="74" y="54"/>
                  </a:cubicBezTo>
                  <a:cubicBezTo>
                    <a:pt x="74" y="48"/>
                    <a:pt x="74" y="48"/>
                    <a:pt x="74" y="48"/>
                  </a:cubicBezTo>
                  <a:cubicBezTo>
                    <a:pt x="77" y="47"/>
                    <a:pt x="78" y="46"/>
                    <a:pt x="80" y="45"/>
                  </a:cubicBezTo>
                  <a:cubicBezTo>
                    <a:pt x="84" y="48"/>
                    <a:pt x="84" y="48"/>
                    <a:pt x="84" y="48"/>
                  </a:cubicBezTo>
                  <a:cubicBezTo>
                    <a:pt x="85" y="48"/>
                    <a:pt x="85" y="48"/>
                    <a:pt x="86" y="48"/>
                  </a:cubicBezTo>
                  <a:cubicBezTo>
                    <a:pt x="87" y="48"/>
                    <a:pt x="87" y="48"/>
                    <a:pt x="87" y="47"/>
                  </a:cubicBezTo>
                  <a:cubicBezTo>
                    <a:pt x="93" y="37"/>
                    <a:pt x="93" y="37"/>
                    <a:pt x="93" y="37"/>
                  </a:cubicBezTo>
                  <a:cubicBezTo>
                    <a:pt x="94" y="36"/>
                    <a:pt x="93" y="35"/>
                    <a:pt x="92" y="34"/>
                  </a:cubicBezTo>
                  <a:close/>
                  <a:moveTo>
                    <a:pt x="28" y="78"/>
                  </a:moveTo>
                  <a:cubicBezTo>
                    <a:pt x="22" y="78"/>
                    <a:pt x="18" y="74"/>
                    <a:pt x="18" y="68"/>
                  </a:cubicBezTo>
                  <a:cubicBezTo>
                    <a:pt x="18" y="62"/>
                    <a:pt x="22" y="58"/>
                    <a:pt x="28" y="58"/>
                  </a:cubicBezTo>
                  <a:cubicBezTo>
                    <a:pt x="33" y="58"/>
                    <a:pt x="38" y="62"/>
                    <a:pt x="38" y="68"/>
                  </a:cubicBezTo>
                  <a:cubicBezTo>
                    <a:pt x="38" y="74"/>
                    <a:pt x="33" y="78"/>
                    <a:pt x="28" y="78"/>
                  </a:cubicBezTo>
                  <a:close/>
                  <a:moveTo>
                    <a:pt x="66" y="38"/>
                  </a:moveTo>
                  <a:cubicBezTo>
                    <a:pt x="60" y="38"/>
                    <a:pt x="56" y="34"/>
                    <a:pt x="56" y="28"/>
                  </a:cubicBezTo>
                  <a:cubicBezTo>
                    <a:pt x="56" y="22"/>
                    <a:pt x="60" y="18"/>
                    <a:pt x="66" y="18"/>
                  </a:cubicBezTo>
                  <a:cubicBezTo>
                    <a:pt x="71" y="18"/>
                    <a:pt x="76" y="22"/>
                    <a:pt x="76" y="28"/>
                  </a:cubicBezTo>
                  <a:cubicBezTo>
                    <a:pt x="76" y="34"/>
                    <a:pt x="71" y="38"/>
                    <a:pt x="66" y="38"/>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id-ID"/>
            </a:p>
          </p:txBody>
        </p:sp>
      </p:grpSp>
      <p:sp>
        <p:nvSpPr>
          <p:cNvPr id="476" name="TextBox 475">
            <a:extLst>
              <a:ext uri="{FF2B5EF4-FFF2-40B4-BE49-F238E27FC236}">
                <a16:creationId xmlns:a16="http://schemas.microsoft.com/office/drawing/2014/main" id="{4186B81B-306B-90A2-DB9D-0B8E766E8A77}"/>
              </a:ext>
            </a:extLst>
          </p:cNvPr>
          <p:cNvSpPr txBox="1"/>
          <p:nvPr/>
        </p:nvSpPr>
        <p:spPr>
          <a:xfrm flipH="1">
            <a:off x="10239346" y="3890143"/>
            <a:ext cx="1459664" cy="276999"/>
          </a:xfrm>
          <a:prstGeom prst="rect">
            <a:avLst/>
          </a:prstGeom>
          <a:noFill/>
        </p:spPr>
        <p:txBody>
          <a:bodyPr wrap="square" lIns="0" tIns="0" rIns="0" bIns="0" rtlCol="0">
            <a:spAutoFit/>
          </a:bodyPr>
          <a:lstStyle/>
          <a:p>
            <a:pPr algn="ctr"/>
            <a:r>
              <a:rPr lang="en-US" b="1">
                <a:latin typeface="Century Gothic" panose="020B0502020202020204" pitchFamily="34" charset="0"/>
              </a:rPr>
              <a:t>Annual</a:t>
            </a:r>
          </a:p>
        </p:txBody>
      </p:sp>
      <p:sp>
        <p:nvSpPr>
          <p:cNvPr id="477" name="TextBox 476">
            <a:extLst>
              <a:ext uri="{FF2B5EF4-FFF2-40B4-BE49-F238E27FC236}">
                <a16:creationId xmlns:a16="http://schemas.microsoft.com/office/drawing/2014/main" id="{7A581AC2-74D7-481A-92C0-C99D44865838}"/>
              </a:ext>
            </a:extLst>
          </p:cNvPr>
          <p:cNvSpPr txBox="1"/>
          <p:nvPr/>
        </p:nvSpPr>
        <p:spPr>
          <a:xfrm flipH="1">
            <a:off x="8216170" y="4399619"/>
            <a:ext cx="1717988" cy="1246495"/>
          </a:xfrm>
          <a:prstGeom prst="rect">
            <a:avLst/>
          </a:prstGeom>
          <a:noFill/>
        </p:spPr>
        <p:txBody>
          <a:bodyPr wrap="square" lIns="0" tIns="0" rIns="0" bIns="0" rtlCol="0">
            <a:spAutoFit/>
          </a:bodyPr>
          <a:lstStyle/>
          <a:p>
            <a:pPr marL="244602" indent="-171450" algn="l" rtl="0" eaLnBrk="1" fontAlgn="b" latinLnBrk="0" hangingPunct="1">
              <a:buFont typeface="Arial" panose="020B0604020202020204" pitchFamily="34" charset="0"/>
              <a:buChar char="•"/>
            </a:pPr>
            <a:r>
              <a:rPr lang="en-IN" sz="900" i="0" u="none" strike="noStrike" kern="1200">
                <a:solidFill>
                  <a:srgbClr val="000000"/>
                </a:solidFill>
                <a:effectLst/>
                <a:latin typeface="Calibri" panose="020F0502020204030204" pitchFamily="34" charset="0"/>
              </a:rPr>
              <a:t>EY Audit Requirements - Seriatim level cashflows</a:t>
            </a:r>
            <a:endParaRPr lang="en-IN" sz="90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IN" sz="900" b="0" i="0" u="none" strike="noStrike" kern="1200">
                <a:solidFill>
                  <a:srgbClr val="000000"/>
                </a:solidFill>
                <a:effectLst/>
                <a:latin typeface="Calibri" panose="020F0502020204030204" pitchFamily="34" charset="0"/>
              </a:rPr>
              <a:t>Reinsurance (NETINFO) SQL Query Update</a:t>
            </a:r>
            <a:endParaRPr lang="en-IN" sz="900" b="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IN" sz="900" b="0" i="0" u="none" strike="noStrike" kern="1200">
                <a:solidFill>
                  <a:srgbClr val="000000"/>
                </a:solidFill>
                <a:effectLst/>
                <a:latin typeface="Calibri" panose="020F0502020204030204" pitchFamily="34" charset="0"/>
              </a:rPr>
              <a:t>Data Check Model</a:t>
            </a:r>
            <a:endParaRPr lang="en-IN" sz="900">
              <a:latin typeface="Arial" panose="020B0604020202020204" pitchFamily="34" charset="0"/>
            </a:endParaRPr>
          </a:p>
          <a:p>
            <a:pPr marL="244602" indent="-171450" algn="l" rtl="0" eaLnBrk="1" fontAlgn="b" latinLnBrk="0" hangingPunct="1">
              <a:buFont typeface="Arial" panose="020B0604020202020204" pitchFamily="34" charset="0"/>
              <a:buChar char="•"/>
            </a:pPr>
            <a:r>
              <a:rPr lang="en-IN" sz="900" b="0" i="0" u="none" strike="noStrike" kern="1200">
                <a:solidFill>
                  <a:srgbClr val="000000"/>
                </a:solidFill>
                <a:effectLst/>
                <a:latin typeface="Calibri" panose="020F0502020204030204" pitchFamily="34" charset="0"/>
              </a:rPr>
              <a:t>Reserve Recalculation Model (Work in progress)</a:t>
            </a:r>
            <a:endParaRPr lang="en-IN" sz="900">
              <a:latin typeface="Arial" panose="020B0604020202020204" pitchFamily="34" charset="0"/>
            </a:endParaRPr>
          </a:p>
          <a:p>
            <a:pPr marL="244602" indent="-171450" algn="l" rtl="0" eaLnBrk="1" fontAlgn="b" latinLnBrk="0" hangingPunct="1">
              <a:buFont typeface="Arial" panose="020B0604020202020204" pitchFamily="34" charset="0"/>
              <a:buChar char="•"/>
            </a:pPr>
            <a:r>
              <a:rPr lang="en-IN" sz="900" b="0" i="0" u="none" strike="noStrike" kern="1200">
                <a:solidFill>
                  <a:srgbClr val="000000"/>
                </a:solidFill>
                <a:effectLst/>
                <a:latin typeface="Calibri" panose="020F0502020204030204" pitchFamily="34" charset="0"/>
              </a:rPr>
              <a:t>Documentation Creation/Refinement</a:t>
            </a:r>
            <a:endParaRPr lang="en-IN" sz="900" b="0" i="0" u="none" strike="noStrike">
              <a:effectLst/>
              <a:latin typeface="Arial" panose="020B0604020202020204" pitchFamily="34" charset="0"/>
            </a:endParaRPr>
          </a:p>
        </p:txBody>
      </p:sp>
      <p:sp>
        <p:nvSpPr>
          <p:cNvPr id="478" name="TextBox 477">
            <a:extLst>
              <a:ext uri="{FF2B5EF4-FFF2-40B4-BE49-F238E27FC236}">
                <a16:creationId xmlns:a16="http://schemas.microsoft.com/office/drawing/2014/main" id="{F40912B2-A7E9-A383-A053-8E04C6A0A43F}"/>
              </a:ext>
            </a:extLst>
          </p:cNvPr>
          <p:cNvSpPr txBox="1"/>
          <p:nvPr/>
        </p:nvSpPr>
        <p:spPr>
          <a:xfrm flipH="1">
            <a:off x="8392393" y="3890143"/>
            <a:ext cx="1459664" cy="276999"/>
          </a:xfrm>
          <a:prstGeom prst="rect">
            <a:avLst/>
          </a:prstGeom>
          <a:noFill/>
        </p:spPr>
        <p:txBody>
          <a:bodyPr wrap="square" lIns="0" tIns="0" rIns="0" bIns="0" rtlCol="0">
            <a:spAutoFit/>
          </a:bodyPr>
          <a:lstStyle/>
          <a:p>
            <a:pPr algn="ctr"/>
            <a:r>
              <a:rPr lang="en-US" b="1" err="1">
                <a:latin typeface="Century Gothic" panose="020B0502020202020204" pitchFamily="34" charset="0"/>
              </a:rPr>
              <a:t>Adhoc</a:t>
            </a:r>
            <a:endParaRPr lang="en-US" b="1">
              <a:latin typeface="Century Gothic" panose="020B0502020202020204" pitchFamily="34" charset="0"/>
            </a:endParaRPr>
          </a:p>
        </p:txBody>
      </p:sp>
      <p:sp>
        <p:nvSpPr>
          <p:cNvPr id="479" name="TextBox 478">
            <a:extLst>
              <a:ext uri="{FF2B5EF4-FFF2-40B4-BE49-F238E27FC236}">
                <a16:creationId xmlns:a16="http://schemas.microsoft.com/office/drawing/2014/main" id="{91EE609E-7321-9105-99E7-6DDBB01E5BB0}"/>
              </a:ext>
            </a:extLst>
          </p:cNvPr>
          <p:cNvSpPr txBox="1"/>
          <p:nvPr/>
        </p:nvSpPr>
        <p:spPr>
          <a:xfrm flipH="1">
            <a:off x="8410706" y="1518263"/>
            <a:ext cx="1459664" cy="276999"/>
          </a:xfrm>
          <a:prstGeom prst="rect">
            <a:avLst/>
          </a:prstGeom>
          <a:noFill/>
        </p:spPr>
        <p:txBody>
          <a:bodyPr wrap="square" lIns="0" tIns="0" rIns="0" bIns="0" rtlCol="0">
            <a:spAutoFit/>
          </a:bodyPr>
          <a:lstStyle/>
          <a:p>
            <a:pPr algn="ctr"/>
            <a:r>
              <a:rPr lang="en-US" b="1">
                <a:latin typeface="Century Gothic" panose="020B0502020202020204" pitchFamily="34" charset="0"/>
              </a:rPr>
              <a:t>Monthly</a:t>
            </a:r>
          </a:p>
        </p:txBody>
      </p:sp>
      <p:sp>
        <p:nvSpPr>
          <p:cNvPr id="480" name="TextBox 479">
            <a:extLst>
              <a:ext uri="{FF2B5EF4-FFF2-40B4-BE49-F238E27FC236}">
                <a16:creationId xmlns:a16="http://schemas.microsoft.com/office/drawing/2014/main" id="{46604520-CA83-6F85-EAF7-A1DA7C10D5D9}"/>
              </a:ext>
            </a:extLst>
          </p:cNvPr>
          <p:cNvSpPr txBox="1"/>
          <p:nvPr/>
        </p:nvSpPr>
        <p:spPr>
          <a:xfrm flipH="1">
            <a:off x="10134691" y="1518263"/>
            <a:ext cx="1459664" cy="276999"/>
          </a:xfrm>
          <a:prstGeom prst="rect">
            <a:avLst/>
          </a:prstGeom>
          <a:noFill/>
        </p:spPr>
        <p:txBody>
          <a:bodyPr wrap="square" lIns="0" tIns="0" rIns="0" bIns="0" rtlCol="0">
            <a:spAutoFit/>
          </a:bodyPr>
          <a:lstStyle/>
          <a:p>
            <a:pPr algn="ctr"/>
            <a:r>
              <a:rPr lang="en-US" b="1">
                <a:latin typeface="Century Gothic" panose="020B0502020202020204" pitchFamily="34" charset="0"/>
              </a:rPr>
              <a:t>Quarterly</a:t>
            </a:r>
          </a:p>
        </p:txBody>
      </p:sp>
      <p:sp>
        <p:nvSpPr>
          <p:cNvPr id="481" name="TextBox 480">
            <a:extLst>
              <a:ext uri="{FF2B5EF4-FFF2-40B4-BE49-F238E27FC236}">
                <a16:creationId xmlns:a16="http://schemas.microsoft.com/office/drawing/2014/main" id="{F5567805-F35D-3DDA-C286-66E63F0F5978}"/>
              </a:ext>
            </a:extLst>
          </p:cNvPr>
          <p:cNvSpPr txBox="1"/>
          <p:nvPr/>
        </p:nvSpPr>
        <p:spPr>
          <a:xfrm flipH="1">
            <a:off x="8177635" y="1951992"/>
            <a:ext cx="1918942" cy="1384995"/>
          </a:xfrm>
          <a:prstGeom prst="rect">
            <a:avLst/>
          </a:prstGeom>
          <a:noFill/>
        </p:spPr>
        <p:txBody>
          <a:bodyPr wrap="square" lIns="0" tIns="0" rIns="0" bIns="0" rtlCol="0">
            <a:spAutoFit/>
          </a:bodyPr>
          <a:lstStyle/>
          <a:p>
            <a:pPr marL="244602" indent="-171450" algn="l" rtl="0" eaLnBrk="1" fontAlgn="b" latinLnBrk="0" hangingPunct="1">
              <a:buFont typeface="Arial" panose="020B0604020202020204" pitchFamily="34" charset="0"/>
              <a:buChar char="•"/>
            </a:pPr>
            <a:r>
              <a:rPr lang="en-IN" sz="900" i="0" u="none" strike="noStrike" kern="1200">
                <a:solidFill>
                  <a:srgbClr val="000000"/>
                </a:solidFill>
                <a:effectLst/>
                <a:latin typeface="Calibri" panose="020F0502020204030204" pitchFamily="34" charset="0"/>
              </a:rPr>
              <a:t>Death Claims Summary</a:t>
            </a:r>
            <a:endParaRPr lang="en-IN" sz="90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IN" sz="900" b="0" i="0" u="none" strike="noStrike" kern="1200">
                <a:solidFill>
                  <a:srgbClr val="000000"/>
                </a:solidFill>
                <a:effectLst/>
                <a:latin typeface="Calibri" panose="020F0502020204030204" pitchFamily="34" charset="0"/>
              </a:rPr>
              <a:t>Surrenders Summary</a:t>
            </a:r>
            <a:endParaRPr lang="en-IN" sz="900" b="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IN" sz="900" b="0" i="0" u="none" strike="noStrike" kern="1200">
                <a:solidFill>
                  <a:srgbClr val="000000"/>
                </a:solidFill>
                <a:effectLst/>
                <a:latin typeface="Calibri" panose="020F0502020204030204" pitchFamily="34" charset="0"/>
              </a:rPr>
              <a:t>Legal Entity level Cash Value summary</a:t>
            </a:r>
            <a:endParaRPr lang="en-IN" sz="900" b="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IN" sz="900" b="0" i="0" u="none" strike="noStrike" kern="1200">
                <a:solidFill>
                  <a:srgbClr val="000000"/>
                </a:solidFill>
                <a:effectLst/>
                <a:latin typeface="Calibri" panose="020F0502020204030204" pitchFamily="34" charset="0"/>
              </a:rPr>
              <a:t>Premiums past due summary by past due age in days</a:t>
            </a:r>
            <a:endParaRPr lang="en-IN" sz="900" b="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IN" sz="900" b="0" i="0" u="none" strike="noStrike" kern="1200">
                <a:solidFill>
                  <a:srgbClr val="000000"/>
                </a:solidFill>
                <a:effectLst/>
                <a:latin typeface="Calibri" panose="020F0502020204030204" pitchFamily="34" charset="0"/>
              </a:rPr>
              <a:t>Statistics Report – Includes Fund Value, Face Amount etc</a:t>
            </a:r>
            <a:endParaRPr lang="en-IN" sz="900" b="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US" sz="900" b="0" i="0" u="none" strike="noStrike" kern="1200">
                <a:solidFill>
                  <a:srgbClr val="000000"/>
                </a:solidFill>
                <a:effectLst/>
                <a:latin typeface="Calibri" panose="020F0502020204030204" pitchFamily="34" charset="0"/>
              </a:rPr>
              <a:t>Reserve Report</a:t>
            </a:r>
            <a:endParaRPr lang="en-IN" sz="900" b="0" i="0" u="none" strike="noStrike">
              <a:effectLst/>
              <a:latin typeface="Arial" panose="020B0604020202020204" pitchFamily="34" charset="0"/>
            </a:endParaRPr>
          </a:p>
          <a:p>
            <a:pPr marL="244602" indent="-171450" algn="l" rtl="0" eaLnBrk="1" fontAlgn="ctr" latinLnBrk="0" hangingPunct="1">
              <a:buFont typeface="Arial" panose="020B0604020202020204" pitchFamily="34" charset="0"/>
              <a:buChar char="•"/>
            </a:pPr>
            <a:r>
              <a:rPr lang="en-US" sz="900" b="0" i="0" u="none" strike="noStrike" kern="1200">
                <a:solidFill>
                  <a:srgbClr val="000000"/>
                </a:solidFill>
                <a:effectLst/>
                <a:latin typeface="Calibri" panose="020F0502020204030204" pitchFamily="34" charset="0"/>
              </a:rPr>
              <a:t>Policy In-force Count</a:t>
            </a:r>
            <a:endParaRPr lang="en-IN" sz="900" b="0" i="0" u="none" strike="noStrike">
              <a:effectLst/>
              <a:latin typeface="Arial" panose="020B0604020202020204" pitchFamily="34" charset="0"/>
            </a:endParaRPr>
          </a:p>
        </p:txBody>
      </p:sp>
      <p:sp>
        <p:nvSpPr>
          <p:cNvPr id="482" name="TextBox 481">
            <a:extLst>
              <a:ext uri="{FF2B5EF4-FFF2-40B4-BE49-F238E27FC236}">
                <a16:creationId xmlns:a16="http://schemas.microsoft.com/office/drawing/2014/main" id="{24F18D15-4C74-C50A-D849-380BCF2922DF}"/>
              </a:ext>
            </a:extLst>
          </p:cNvPr>
          <p:cNvSpPr txBox="1"/>
          <p:nvPr/>
        </p:nvSpPr>
        <p:spPr>
          <a:xfrm flipH="1">
            <a:off x="10128318" y="1909377"/>
            <a:ext cx="1880435" cy="1800493"/>
          </a:xfrm>
          <a:prstGeom prst="rect">
            <a:avLst/>
          </a:prstGeom>
          <a:noFill/>
        </p:spPr>
        <p:txBody>
          <a:bodyPr wrap="square" lIns="0" tIns="0" rIns="0" bIns="0" rtlCol="0">
            <a:spAutoFit/>
          </a:bodyPr>
          <a:lstStyle/>
          <a:p>
            <a:pPr marL="244602" indent="-171450" algn="l" rtl="0" eaLnBrk="1" fontAlgn="b" latinLnBrk="0" hangingPunct="1">
              <a:buFont typeface="Arial" panose="020B0604020202020204" pitchFamily="34" charset="0"/>
              <a:buChar char="•"/>
            </a:pPr>
            <a:r>
              <a:rPr lang="en-IN" sz="900" i="0" u="none" strike="noStrike" kern="1200">
                <a:solidFill>
                  <a:srgbClr val="000000"/>
                </a:solidFill>
                <a:effectLst/>
                <a:latin typeface="Calibri" panose="020F0502020204030204" pitchFamily="34" charset="0"/>
              </a:rPr>
              <a:t>Tax Reserves</a:t>
            </a:r>
            <a:endParaRPr lang="en-IN" sz="90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IN" sz="900" b="0" i="0" u="none" strike="noStrike" kern="1200">
                <a:solidFill>
                  <a:srgbClr val="000000"/>
                </a:solidFill>
                <a:effectLst/>
                <a:latin typeface="Calibri" panose="020F0502020204030204" pitchFamily="34" charset="0"/>
              </a:rPr>
              <a:t>GAAP Files – DAC, VOBA (Value of Business Acquired)</a:t>
            </a:r>
            <a:endParaRPr lang="en-IN" sz="900" b="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IN" sz="900" b="0" i="0" u="none" strike="noStrike" kern="1200">
                <a:solidFill>
                  <a:srgbClr val="000000"/>
                </a:solidFill>
                <a:effectLst/>
                <a:latin typeface="Calibri" panose="020F0502020204030204" pitchFamily="34" charset="0"/>
              </a:rPr>
              <a:t>Reserves Released on Termination</a:t>
            </a:r>
            <a:endParaRPr lang="en-IN" sz="900" b="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US" sz="900" b="0" i="0" u="none" strike="noStrike" kern="1200">
                <a:solidFill>
                  <a:srgbClr val="000000"/>
                </a:solidFill>
                <a:effectLst/>
                <a:latin typeface="Calibri" panose="020F0502020204030204" pitchFamily="34" charset="0"/>
              </a:rPr>
              <a:t>Reserve Reconciliation between ledger and triton output</a:t>
            </a:r>
            <a:endParaRPr lang="en-IN" sz="900" b="0" i="0" u="none" strike="noStrike">
              <a:effectLst/>
              <a:latin typeface="Arial" panose="020B0604020202020204" pitchFamily="34" charset="0"/>
            </a:endParaRPr>
          </a:p>
          <a:p>
            <a:pPr marL="244602" indent="-171450" algn="l" rtl="0" eaLnBrk="1" fontAlgn="b" latinLnBrk="0" hangingPunct="1">
              <a:buFont typeface="Arial" panose="020B0604020202020204" pitchFamily="34" charset="0"/>
              <a:buChar char="•"/>
            </a:pPr>
            <a:r>
              <a:rPr lang="en-US" sz="900" b="0" i="0" u="none" strike="noStrike" kern="1200">
                <a:solidFill>
                  <a:srgbClr val="000000"/>
                </a:solidFill>
                <a:effectLst/>
                <a:latin typeface="Calibri" panose="020F0502020204030204" pitchFamily="34" charset="0"/>
              </a:rPr>
              <a:t>Reserves report for ALM team</a:t>
            </a:r>
            <a:endParaRPr lang="en-IN" sz="900">
              <a:latin typeface="Arial" panose="020B0604020202020204" pitchFamily="34" charset="0"/>
            </a:endParaRPr>
          </a:p>
          <a:p>
            <a:pPr marL="244602" indent="-171450" algn="l" rtl="0" eaLnBrk="1" fontAlgn="b" latinLnBrk="0" hangingPunct="1">
              <a:buFont typeface="Arial" panose="020B0604020202020204" pitchFamily="34" charset="0"/>
              <a:buChar char="•"/>
            </a:pPr>
            <a:r>
              <a:rPr lang="en-IN" sz="900" b="0" i="0" u="none" strike="noStrike" kern="1200">
                <a:solidFill>
                  <a:srgbClr val="000000"/>
                </a:solidFill>
                <a:effectLst/>
                <a:latin typeface="Calibri" panose="020F0502020204030204" pitchFamily="34" charset="0"/>
              </a:rPr>
              <a:t>Seriatim level premium information for Auditor (EY)</a:t>
            </a:r>
            <a:endParaRPr lang="en-IN" sz="900">
              <a:latin typeface="Arial" panose="020B0604020202020204" pitchFamily="34" charset="0"/>
            </a:endParaRPr>
          </a:p>
          <a:p>
            <a:pPr marL="244602" indent="-171450" algn="l" rtl="0" eaLnBrk="1" fontAlgn="b" latinLnBrk="0" hangingPunct="1">
              <a:buFont typeface="Arial" panose="020B0604020202020204" pitchFamily="34" charset="0"/>
              <a:buChar char="•"/>
            </a:pPr>
            <a:r>
              <a:rPr lang="en-IN" sz="900" b="0" i="0" u="none" strike="noStrike" kern="1200">
                <a:solidFill>
                  <a:srgbClr val="000000"/>
                </a:solidFill>
                <a:effectLst/>
                <a:latin typeface="Calibri" panose="020F0502020204030204" pitchFamily="34" charset="0"/>
              </a:rPr>
              <a:t>SOX Controls</a:t>
            </a:r>
            <a:endParaRPr lang="en-IN" sz="900">
              <a:latin typeface="Arial" panose="020B0604020202020204" pitchFamily="34" charset="0"/>
            </a:endParaRPr>
          </a:p>
          <a:p>
            <a:pPr marL="244602" indent="-171450" algn="l" rtl="0" eaLnBrk="1" fontAlgn="b" latinLnBrk="0" hangingPunct="1">
              <a:buFont typeface="Arial" panose="020B0604020202020204" pitchFamily="34" charset="0"/>
              <a:buChar char="•"/>
            </a:pPr>
            <a:r>
              <a:rPr lang="en-IN" sz="900" b="0" i="0" u="none" strike="noStrike" kern="1200">
                <a:solidFill>
                  <a:srgbClr val="000000"/>
                </a:solidFill>
                <a:effectLst/>
                <a:latin typeface="Calibri" panose="020F0502020204030204" pitchFamily="34" charset="0"/>
              </a:rPr>
              <a:t>Footnote 1 - Net income &amp; surplus for UL reserves calculated on Indiana method</a:t>
            </a:r>
            <a:endParaRPr lang="en-IN" sz="900" b="0" i="0" u="none" strike="noStrike">
              <a:effectLst/>
              <a:latin typeface="Arial" panose="020B0604020202020204" pitchFamily="34" charset="0"/>
            </a:endParaRPr>
          </a:p>
        </p:txBody>
      </p:sp>
      <p:sp>
        <p:nvSpPr>
          <p:cNvPr id="483" name="Rectangle 482">
            <a:extLst>
              <a:ext uri="{FF2B5EF4-FFF2-40B4-BE49-F238E27FC236}">
                <a16:creationId xmlns:a16="http://schemas.microsoft.com/office/drawing/2014/main" id="{A598245A-3C33-F692-5410-6D5D48BBF957}"/>
              </a:ext>
            </a:extLst>
          </p:cNvPr>
          <p:cNvSpPr/>
          <p:nvPr/>
        </p:nvSpPr>
        <p:spPr>
          <a:xfrm rot="5400000">
            <a:off x="9915646" y="-832741"/>
            <a:ext cx="289385" cy="3939235"/>
          </a:xfrm>
          <a:prstGeom prst="rect">
            <a:avLst/>
          </a:prstGeom>
          <a:solidFill>
            <a:srgbClr val="20486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ea typeface="+mn-ea"/>
                <a:cs typeface="+mn-cs"/>
              </a:rPr>
              <a:t>Key Deliverables</a:t>
            </a:r>
          </a:p>
        </p:txBody>
      </p:sp>
      <p:sp>
        <p:nvSpPr>
          <p:cNvPr id="10" name="Title 1">
            <a:extLst>
              <a:ext uri="{FF2B5EF4-FFF2-40B4-BE49-F238E27FC236}">
                <a16:creationId xmlns:a16="http://schemas.microsoft.com/office/drawing/2014/main" id="{D7B83B61-FFFA-287A-FB20-0AC65ECF7C46}"/>
              </a:ext>
            </a:extLst>
          </p:cNvPr>
          <p:cNvSpPr txBox="1">
            <a:spLocks/>
          </p:cNvSpPr>
          <p:nvPr/>
        </p:nvSpPr>
        <p:spPr>
          <a:xfrm>
            <a:off x="251010" y="105378"/>
            <a:ext cx="11277600" cy="669925"/>
          </a:xfrm>
          <a:prstGeom prst="rect">
            <a:avLst/>
          </a:prstGeom>
        </p:spPr>
        <p:txBody>
          <a:bodyPr vert="horz" lIns="0" tIns="0" rIns="0" bIns="0" rtlCol="0" anchor="t" anchorCtr="0">
            <a:noAutofit/>
          </a:bodyPr>
          <a:lstStyle>
            <a:lvl1pPr algn="l" defTabSz="914400" rtl="0" eaLnBrk="1" latinLnBrk="0" hangingPunct="1">
              <a:lnSpc>
                <a:spcPct val="80000"/>
              </a:lnSpc>
              <a:spcBef>
                <a:spcPct val="0"/>
              </a:spcBef>
              <a:buNone/>
              <a:defRPr sz="3200" kern="1200">
                <a:solidFill>
                  <a:schemeClr val="tx2"/>
                </a:solidFill>
                <a:latin typeface="+mj-lt"/>
                <a:ea typeface="+mj-ea"/>
                <a:cs typeface="+mj-cs"/>
              </a:defRPr>
            </a:lvl1pPr>
          </a:lstStyle>
          <a:p>
            <a:pPr>
              <a:lnSpc>
                <a:spcPct val="90000"/>
              </a:lnSpc>
            </a:pPr>
            <a:r>
              <a:rPr lang="en-US" sz="3600" b="1"/>
              <a:t>Life Valuation - Workflow &amp; Key Deliverables - WLEC</a:t>
            </a:r>
          </a:p>
          <a:p>
            <a:pPr>
              <a:lnSpc>
                <a:spcPct val="90000"/>
              </a:lnSpc>
            </a:pPr>
            <a:r>
              <a:rPr lang="en-US" sz="1400" b="1">
                <a:solidFill>
                  <a:schemeClr val="accent3"/>
                </a:solidFill>
                <a:latin typeface="+mn-lt"/>
                <a:ea typeface="+mn-ea"/>
                <a:cs typeface="+mn-cs"/>
              </a:rPr>
              <a:t>End-to-end process for WLEC valuation, including data preparation, model runs, reporting, and key deliverables across monthly, quarterly, annual cycles and </a:t>
            </a:r>
            <a:r>
              <a:rPr lang="en-US" sz="1400" b="1" err="1">
                <a:solidFill>
                  <a:schemeClr val="accent3"/>
                </a:solidFill>
                <a:latin typeface="+mn-lt"/>
                <a:ea typeface="+mn-ea"/>
                <a:cs typeface="+mn-cs"/>
              </a:rPr>
              <a:t>adhoc</a:t>
            </a:r>
            <a:r>
              <a:rPr lang="en-US" sz="1400" b="1">
                <a:solidFill>
                  <a:schemeClr val="accent3"/>
                </a:solidFill>
                <a:latin typeface="+mn-lt"/>
                <a:ea typeface="+mn-ea"/>
                <a:cs typeface="+mn-cs"/>
              </a:rPr>
              <a:t> processes</a:t>
            </a:r>
          </a:p>
        </p:txBody>
      </p:sp>
      <p:sp>
        <p:nvSpPr>
          <p:cNvPr id="484" name="Rectangle 483">
            <a:extLst>
              <a:ext uri="{FF2B5EF4-FFF2-40B4-BE49-F238E27FC236}">
                <a16:creationId xmlns:a16="http://schemas.microsoft.com/office/drawing/2014/main" id="{8048D896-BAD3-9756-9C9A-8276A47ACD84}"/>
              </a:ext>
            </a:extLst>
          </p:cNvPr>
          <p:cNvSpPr/>
          <p:nvPr/>
        </p:nvSpPr>
        <p:spPr>
          <a:xfrm>
            <a:off x="314960" y="1124132"/>
            <a:ext cx="7598954" cy="5076077"/>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cxnSp>
        <p:nvCxnSpPr>
          <p:cNvPr id="485" name="Straight Connector 484">
            <a:extLst>
              <a:ext uri="{FF2B5EF4-FFF2-40B4-BE49-F238E27FC236}">
                <a16:creationId xmlns:a16="http://schemas.microsoft.com/office/drawing/2014/main" id="{DE148F6B-D3C5-4179-0E29-B0FECDE419CA}"/>
              </a:ext>
            </a:extLst>
          </p:cNvPr>
          <p:cNvCxnSpPr>
            <a:cxnSpLocks/>
          </p:cNvCxnSpPr>
          <p:nvPr/>
        </p:nvCxnSpPr>
        <p:spPr>
          <a:xfrm>
            <a:off x="435768" y="3651412"/>
            <a:ext cx="7458604" cy="0"/>
          </a:xfrm>
          <a:prstGeom prst="line">
            <a:avLst/>
          </a:prstGeom>
          <a:ln>
            <a:solidFill>
              <a:schemeClr val="tx1">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488" name="Footer Placeholder 3">
            <a:extLst>
              <a:ext uri="{FF2B5EF4-FFF2-40B4-BE49-F238E27FC236}">
                <a16:creationId xmlns:a16="http://schemas.microsoft.com/office/drawing/2014/main" id="{5E5C537A-5501-0F1C-B8EC-805E74CD08D4}"/>
              </a:ext>
            </a:extLst>
          </p:cNvPr>
          <p:cNvSpPr>
            <a:spLocks noGrp="1"/>
          </p:cNvSpPr>
          <p:nvPr>
            <p:ph type="ftr" sz="quarter" idx="11"/>
          </p:nvPr>
        </p:nvSpPr>
        <p:spPr>
          <a:xfrm>
            <a:off x="5013105" y="6505585"/>
            <a:ext cx="5398374" cy="182358"/>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©2025 </a:t>
            </a:r>
            <a:r>
              <a:rPr kumimoji="0" lang="en-US" sz="800" b="0" i="0" u="none" strike="noStrike" kern="1200" cap="none" spc="0" normalizeH="0" baseline="0" noProof="0" err="1">
                <a:ln>
                  <a:noFill/>
                </a:ln>
                <a:solidFill>
                  <a:srgbClr val="000000"/>
                </a:solidFill>
                <a:effectLst/>
                <a:uLnTx/>
                <a:uFillTx/>
                <a:latin typeface="Calibri" panose="020F0502020204030204"/>
                <a:ea typeface="+mn-ea"/>
                <a:cs typeface="+mn-cs"/>
              </a:rPr>
              <a:t>Exl</a:t>
            </a: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 Service Holdings, Inc. All rights reserved.</a:t>
            </a:r>
          </a:p>
        </p:txBody>
      </p:sp>
    </p:spTree>
    <p:extLst>
      <p:ext uri="{BB962C8B-B14F-4D97-AF65-F5344CB8AC3E}">
        <p14:creationId xmlns:p14="http://schemas.microsoft.com/office/powerpoint/2010/main" val="11599379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82A9A-AEDA-63FF-1832-99A8FB5A9DDE}"/>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12748564-C26C-3902-784A-FF5102EF38B3}"/>
              </a:ext>
            </a:extLst>
          </p:cNvPr>
          <p:cNvSpPr/>
          <p:nvPr/>
        </p:nvSpPr>
        <p:spPr>
          <a:xfrm>
            <a:off x="460732" y="1811162"/>
            <a:ext cx="11499278" cy="4296331"/>
          </a:xfrm>
          <a:prstGeom prst="rect">
            <a:avLst/>
          </a:prstGeom>
          <a:solidFill>
            <a:schemeClr val="bg2">
              <a:lumMod val="95000"/>
            </a:schemeClr>
          </a:solidFill>
          <a:ln>
            <a:solidFill>
              <a:schemeClr val="tx1">
                <a:lumMod val="65000"/>
                <a:lumOff val="3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itle 12">
            <a:extLst>
              <a:ext uri="{FF2B5EF4-FFF2-40B4-BE49-F238E27FC236}">
                <a16:creationId xmlns:a16="http://schemas.microsoft.com/office/drawing/2014/main" id="{691EC6CC-083E-8B05-8D95-A1C2D11BAB63}"/>
              </a:ext>
            </a:extLst>
          </p:cNvPr>
          <p:cNvSpPr>
            <a:spLocks noGrp="1"/>
          </p:cNvSpPr>
          <p:nvPr>
            <p:ph type="ctrTitle"/>
          </p:nvPr>
        </p:nvSpPr>
        <p:spPr>
          <a:xfrm>
            <a:off x="457200" y="394901"/>
            <a:ext cx="11277600" cy="672567"/>
          </a:xfrm>
        </p:spPr>
        <p:txBody>
          <a:bodyPr>
            <a:normAutofit fontScale="90000"/>
          </a:bodyPr>
          <a:lstStyle/>
          <a:p>
            <a:r>
              <a:rPr lang="en-US"/>
              <a:t>Life Modeling </a:t>
            </a:r>
            <a:br>
              <a:rPr lang="en-US"/>
            </a:br>
            <a:endParaRPr lang="en-US"/>
          </a:p>
        </p:txBody>
      </p:sp>
      <p:sp>
        <p:nvSpPr>
          <p:cNvPr id="3" name="TextBox 2">
            <a:extLst>
              <a:ext uri="{FF2B5EF4-FFF2-40B4-BE49-F238E27FC236}">
                <a16:creationId xmlns:a16="http://schemas.microsoft.com/office/drawing/2014/main" id="{AF806873-684A-08BA-055F-769ADE43B18C}"/>
              </a:ext>
            </a:extLst>
          </p:cNvPr>
          <p:cNvSpPr txBox="1"/>
          <p:nvPr/>
        </p:nvSpPr>
        <p:spPr>
          <a:xfrm>
            <a:off x="450000" y="775204"/>
            <a:ext cx="10241280" cy="369332"/>
          </a:xfrm>
          <a:prstGeom prst="rect">
            <a:avLst/>
          </a:prstGeom>
          <a:noFill/>
        </p:spPr>
        <p:txBody>
          <a:bodyPr wrap="square" rtlCol="0">
            <a:spAutoFit/>
          </a:bodyPr>
          <a:lstStyle/>
          <a:p>
            <a:r>
              <a:rPr lang="en-US">
                <a:solidFill>
                  <a:schemeClr val="tx2"/>
                </a:solidFill>
              </a:rPr>
              <a:t>Account Value Roll Forward (AVRF) Project – MG-ALFA</a:t>
            </a:r>
            <a:endParaRPr lang="en-IN">
              <a:solidFill>
                <a:schemeClr val="tx2"/>
              </a:solidFill>
            </a:endParaRPr>
          </a:p>
        </p:txBody>
      </p:sp>
      <p:sp>
        <p:nvSpPr>
          <p:cNvPr id="4" name="TextBox 3">
            <a:extLst>
              <a:ext uri="{FF2B5EF4-FFF2-40B4-BE49-F238E27FC236}">
                <a16:creationId xmlns:a16="http://schemas.microsoft.com/office/drawing/2014/main" id="{ABA81956-073F-A5A5-838D-4F45309EA0C0}"/>
              </a:ext>
            </a:extLst>
          </p:cNvPr>
          <p:cNvSpPr txBox="1"/>
          <p:nvPr/>
        </p:nvSpPr>
        <p:spPr>
          <a:xfrm>
            <a:off x="450000" y="1117081"/>
            <a:ext cx="11510010" cy="1384995"/>
          </a:xfrm>
          <a:prstGeom prst="rect">
            <a:avLst/>
          </a:prstGeom>
          <a:solidFill>
            <a:schemeClr val="accent6"/>
          </a:solidFill>
          <a:ln>
            <a:solidFill>
              <a:schemeClr val="accent3"/>
            </a:solidFill>
          </a:ln>
        </p:spPr>
        <p:txBody>
          <a:bodyPr wrap="square" lIns="91440" tIns="45720" rIns="91440" bIns="45720" rtlCol="0" anchor="t">
            <a:spAutoFit/>
          </a:bodyPr>
          <a:lstStyle/>
          <a:p>
            <a:r>
              <a:rPr lang="en-US" sz="1400" b="1">
                <a:solidFill>
                  <a:schemeClr val="accent3"/>
                </a:solidFill>
              </a:rPr>
              <a:t>Objective</a:t>
            </a:r>
            <a:endParaRPr lang="en-US" sz="1400"/>
          </a:p>
          <a:p>
            <a:r>
              <a:rPr lang="en-US" sz="1400" b="1">
                <a:ea typeface="+mn-lt"/>
                <a:cs typeface="+mn-lt"/>
              </a:rPr>
              <a:t>Account Value Roll Forward Excel Replication</a:t>
            </a:r>
            <a:endParaRPr lang="en-US"/>
          </a:p>
          <a:p>
            <a:pPr marL="285750" indent="-285750">
              <a:buFont typeface="Arial"/>
              <a:buChar char="•"/>
            </a:pPr>
            <a:r>
              <a:rPr lang="en-US" sz="1400">
                <a:ea typeface="+mn-lt"/>
                <a:cs typeface="+mn-lt"/>
              </a:rPr>
              <a:t>Replicated and automated Account Value roll forward (AVRF) calculation in excel to enable reporting post integrate update.</a:t>
            </a:r>
            <a:endParaRPr lang="en-US"/>
          </a:p>
          <a:p>
            <a:r>
              <a:rPr lang="en-US" sz="1400" b="1">
                <a:ea typeface="+mn-lt"/>
                <a:cs typeface="+mn-lt"/>
              </a:rPr>
              <a:t>Account Value Roll Forward Reconciliation</a:t>
            </a:r>
            <a:endParaRPr lang="en-US"/>
          </a:p>
          <a:p>
            <a:pPr marL="285750" indent="-285750">
              <a:buFont typeface="Arial"/>
              <a:buChar char="•"/>
            </a:pPr>
            <a:r>
              <a:rPr lang="en-US" sz="1400">
                <a:ea typeface="+mn-lt"/>
                <a:cs typeface="+mn-lt"/>
              </a:rPr>
              <a:t>Working on identifying and reconciling gaps in AVRF to resolve any breaks and leakages. </a:t>
            </a:r>
            <a:endParaRPr lang="en-US"/>
          </a:p>
          <a:p>
            <a:pPr marL="285750" indent="-285750">
              <a:buFont typeface="Arial"/>
              <a:buChar char="•"/>
            </a:pPr>
            <a:r>
              <a:rPr lang="en-US" sz="1400">
                <a:ea typeface="+mn-lt"/>
                <a:cs typeface="+mn-lt"/>
              </a:rPr>
              <a:t>Key validations ensured General and Separate Account values reconciled with Total Account Value, and balancing items remained minimal.</a:t>
            </a:r>
            <a:endParaRPr lang="en-US">
              <a:ea typeface="+mn-lt"/>
              <a:cs typeface="+mn-lt"/>
            </a:endParaRPr>
          </a:p>
        </p:txBody>
      </p:sp>
      <p:graphicFrame>
        <p:nvGraphicFramePr>
          <p:cNvPr id="7" name="Table 6">
            <a:extLst>
              <a:ext uri="{FF2B5EF4-FFF2-40B4-BE49-F238E27FC236}">
                <a16:creationId xmlns:a16="http://schemas.microsoft.com/office/drawing/2014/main" id="{4D4BC11C-7717-7816-4458-68EDDC8FC15C}"/>
              </a:ext>
            </a:extLst>
          </p:cNvPr>
          <p:cNvGraphicFramePr>
            <a:graphicFrameLocks noGrp="1"/>
          </p:cNvGraphicFramePr>
          <p:nvPr/>
        </p:nvGraphicFramePr>
        <p:xfrm>
          <a:off x="472225" y="2758224"/>
          <a:ext cx="6103619" cy="3640141"/>
        </p:xfrm>
        <a:graphic>
          <a:graphicData uri="http://schemas.openxmlformats.org/drawingml/2006/table">
            <a:tbl>
              <a:tblPr>
                <a:tableStyleId>{5C22544A-7EE6-4342-B048-85BDC9FD1C3A}</a:tableStyleId>
              </a:tblPr>
              <a:tblGrid>
                <a:gridCol w="2446019">
                  <a:extLst>
                    <a:ext uri="{9D8B030D-6E8A-4147-A177-3AD203B41FA5}">
                      <a16:colId xmlns:a16="http://schemas.microsoft.com/office/drawing/2014/main" val="1941553048"/>
                    </a:ext>
                  </a:extLst>
                </a:gridCol>
                <a:gridCol w="731520">
                  <a:extLst>
                    <a:ext uri="{9D8B030D-6E8A-4147-A177-3AD203B41FA5}">
                      <a16:colId xmlns:a16="http://schemas.microsoft.com/office/drawing/2014/main" val="3670429005"/>
                    </a:ext>
                  </a:extLst>
                </a:gridCol>
                <a:gridCol w="731520">
                  <a:extLst>
                    <a:ext uri="{9D8B030D-6E8A-4147-A177-3AD203B41FA5}">
                      <a16:colId xmlns:a16="http://schemas.microsoft.com/office/drawing/2014/main" val="3363056098"/>
                    </a:ext>
                  </a:extLst>
                </a:gridCol>
                <a:gridCol w="731520">
                  <a:extLst>
                    <a:ext uri="{9D8B030D-6E8A-4147-A177-3AD203B41FA5}">
                      <a16:colId xmlns:a16="http://schemas.microsoft.com/office/drawing/2014/main" val="2361193489"/>
                    </a:ext>
                  </a:extLst>
                </a:gridCol>
                <a:gridCol w="731520">
                  <a:extLst>
                    <a:ext uri="{9D8B030D-6E8A-4147-A177-3AD203B41FA5}">
                      <a16:colId xmlns:a16="http://schemas.microsoft.com/office/drawing/2014/main" val="1677394821"/>
                    </a:ext>
                  </a:extLst>
                </a:gridCol>
                <a:gridCol w="731520">
                  <a:extLst>
                    <a:ext uri="{9D8B030D-6E8A-4147-A177-3AD203B41FA5}">
                      <a16:colId xmlns:a16="http://schemas.microsoft.com/office/drawing/2014/main" val="1342897067"/>
                    </a:ext>
                  </a:extLst>
                </a:gridCol>
              </a:tblGrid>
              <a:tr h="146044">
                <a:tc rowSpan="2">
                  <a:txBody>
                    <a:bodyPr/>
                    <a:lstStyle/>
                    <a:p>
                      <a:pPr algn="ctr" fontAlgn="ctr">
                        <a:buNone/>
                      </a:pPr>
                      <a:r>
                        <a:rPr lang="en-IN" sz="1000" b="1" u="none" strike="noStrike">
                          <a:solidFill>
                            <a:schemeClr val="bg1"/>
                          </a:solidFill>
                          <a:effectLst/>
                        </a:rPr>
                        <a:t>PV Values in Millions</a:t>
                      </a:r>
                      <a:endParaRPr lang="en-IN" sz="1000" b="1" i="0" u="none" strike="noStrike">
                        <a:solidFill>
                          <a:schemeClr val="bg1"/>
                        </a:solidFill>
                        <a:effectLst/>
                        <a:latin typeface="Tahoma" panose="020B0604030504040204" pitchFamily="34" charset="0"/>
                      </a:endParaRPr>
                    </a:p>
                  </a:txBody>
                  <a:tcPr marL="5867" marR="5867" marT="5867"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005071"/>
                    </a:solidFill>
                  </a:tcPr>
                </a:tc>
                <a:tc gridSpan="3">
                  <a:txBody>
                    <a:bodyPr/>
                    <a:lstStyle/>
                    <a:p>
                      <a:pPr algn="ctr" fontAlgn="b">
                        <a:buNone/>
                      </a:pPr>
                      <a:r>
                        <a:rPr lang="en-IN" sz="1000" b="1" u="none" strike="noStrike">
                          <a:solidFill>
                            <a:schemeClr val="bg1"/>
                          </a:solidFill>
                          <a:effectLst/>
                        </a:rPr>
                        <a:t> Values </a:t>
                      </a:r>
                      <a:endParaRPr lang="en-IN" sz="1000" b="1" i="0" u="none" strike="noStrike">
                        <a:solidFill>
                          <a:schemeClr val="bg1"/>
                        </a:solidFill>
                        <a:effectLst/>
                        <a:latin typeface="Tahoma" panose="020B0604030504040204" pitchFamily="34" charset="0"/>
                      </a:endParaRPr>
                    </a:p>
                  </a:txBody>
                  <a:tcPr marL="5867" marR="5867" marT="5867" marB="0" anchor="ctr">
                    <a:lnT w="12700" cap="flat" cmpd="sng" algn="ctr">
                      <a:solidFill>
                        <a:schemeClr val="tx1"/>
                      </a:solidFill>
                      <a:prstDash val="solid"/>
                      <a:round/>
                      <a:headEnd type="none" w="med" len="med"/>
                      <a:tailEnd type="none" w="med" len="med"/>
                    </a:lnT>
                    <a:solidFill>
                      <a:srgbClr val="005071"/>
                    </a:solidFill>
                  </a:tcPr>
                </a:tc>
                <a:tc hMerge="1">
                  <a:txBody>
                    <a:bodyPr/>
                    <a:lstStyle/>
                    <a:p>
                      <a:endParaRPr lang="en-IN"/>
                    </a:p>
                  </a:txBody>
                  <a:tcPr/>
                </a:tc>
                <a:tc hMerge="1">
                  <a:txBody>
                    <a:bodyPr/>
                    <a:lstStyle/>
                    <a:p>
                      <a:endParaRPr lang="en-IN"/>
                    </a:p>
                  </a:txBody>
                  <a:tcPr/>
                </a:tc>
                <a:tc gridSpan="2">
                  <a:txBody>
                    <a:bodyPr/>
                    <a:lstStyle/>
                    <a:p>
                      <a:pPr algn="ctr" fontAlgn="b">
                        <a:buNone/>
                      </a:pPr>
                      <a:r>
                        <a:rPr lang="en-IN" sz="1000" b="1" u="none" strike="noStrike">
                          <a:solidFill>
                            <a:schemeClr val="bg1"/>
                          </a:solidFill>
                          <a:effectLst/>
                        </a:rPr>
                        <a:t>Differences</a:t>
                      </a:r>
                      <a:endParaRPr lang="en-IN" sz="1000" b="1" i="0" u="none" strike="noStrike">
                        <a:solidFill>
                          <a:schemeClr val="bg1"/>
                        </a:solidFill>
                        <a:effectLst/>
                        <a:latin typeface="Tahoma" panose="020B0604030504040204" pitchFamily="34" charset="0"/>
                      </a:endParaRPr>
                    </a:p>
                  </a:txBody>
                  <a:tcPr marL="5867" marR="5867" marT="5867"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005071"/>
                    </a:solidFill>
                  </a:tcPr>
                </a:tc>
                <a:tc hMerge="1">
                  <a:txBody>
                    <a:bodyPr/>
                    <a:lstStyle/>
                    <a:p>
                      <a:endParaRPr lang="en-IN"/>
                    </a:p>
                  </a:txBody>
                  <a:tcPr/>
                </a:tc>
                <a:extLst>
                  <a:ext uri="{0D108BD9-81ED-4DB2-BD59-A6C34878D82A}">
                    <a16:rowId xmlns:a16="http://schemas.microsoft.com/office/drawing/2014/main" val="42799607"/>
                  </a:ext>
                </a:extLst>
              </a:tr>
              <a:tr h="146044">
                <a:tc vMerge="1">
                  <a:txBody>
                    <a:bodyPr/>
                    <a:lstStyle/>
                    <a:p>
                      <a:endParaRPr lang="en-IN"/>
                    </a:p>
                  </a:txBody>
                  <a:tcPr/>
                </a:tc>
                <a:tc>
                  <a:txBody>
                    <a:bodyPr/>
                    <a:lstStyle/>
                    <a:p>
                      <a:pPr algn="ctr" fontAlgn="b">
                        <a:buNone/>
                      </a:pPr>
                      <a:r>
                        <a:rPr lang="en-IN" sz="1000" b="1" u="none" strike="noStrike">
                          <a:solidFill>
                            <a:schemeClr val="bg1"/>
                          </a:solidFill>
                          <a:effectLst/>
                        </a:rPr>
                        <a:t> Step 1 </a:t>
                      </a:r>
                      <a:endParaRPr lang="en-IN" sz="1000" b="1" i="0" u="none" strike="noStrike">
                        <a:solidFill>
                          <a:schemeClr val="bg1"/>
                        </a:solidFill>
                        <a:effectLst/>
                        <a:latin typeface="Tahoma" panose="020B0604030504040204" pitchFamily="34" charset="0"/>
                      </a:endParaRPr>
                    </a:p>
                  </a:txBody>
                  <a:tcPr marL="5867" marR="5867" marT="5867" marB="0" anchor="ctr">
                    <a:solidFill>
                      <a:srgbClr val="005071"/>
                    </a:solidFill>
                  </a:tcPr>
                </a:tc>
                <a:tc>
                  <a:txBody>
                    <a:bodyPr/>
                    <a:lstStyle/>
                    <a:p>
                      <a:pPr algn="ctr" fontAlgn="b">
                        <a:buNone/>
                      </a:pPr>
                      <a:r>
                        <a:rPr lang="en-IN" sz="1000" b="1" u="none" strike="noStrike">
                          <a:solidFill>
                            <a:schemeClr val="bg1"/>
                          </a:solidFill>
                          <a:effectLst/>
                        </a:rPr>
                        <a:t> Step 2 </a:t>
                      </a:r>
                      <a:endParaRPr lang="en-IN" sz="1000" b="1" i="0" u="none" strike="noStrike">
                        <a:solidFill>
                          <a:schemeClr val="bg1"/>
                        </a:solidFill>
                        <a:effectLst/>
                        <a:latin typeface="Tahoma" panose="020B0604030504040204" pitchFamily="34" charset="0"/>
                      </a:endParaRPr>
                    </a:p>
                  </a:txBody>
                  <a:tcPr marL="5867" marR="5867" marT="5867" marB="0" anchor="ctr">
                    <a:solidFill>
                      <a:srgbClr val="005071"/>
                    </a:solidFill>
                  </a:tcPr>
                </a:tc>
                <a:tc>
                  <a:txBody>
                    <a:bodyPr/>
                    <a:lstStyle/>
                    <a:p>
                      <a:pPr algn="ctr" fontAlgn="b">
                        <a:buNone/>
                      </a:pPr>
                      <a:r>
                        <a:rPr lang="en-IN" sz="1000" b="1" u="none" strike="noStrike">
                          <a:solidFill>
                            <a:schemeClr val="bg1"/>
                          </a:solidFill>
                          <a:effectLst/>
                        </a:rPr>
                        <a:t> Step 3 </a:t>
                      </a:r>
                      <a:endParaRPr lang="en-IN" sz="1000" b="1" i="0" u="none" strike="noStrike">
                        <a:solidFill>
                          <a:schemeClr val="bg1"/>
                        </a:solidFill>
                        <a:effectLst/>
                        <a:latin typeface="Tahoma" panose="020B0604030504040204" pitchFamily="34" charset="0"/>
                      </a:endParaRPr>
                    </a:p>
                  </a:txBody>
                  <a:tcPr marL="5867" marR="5867" marT="5867" marB="0" anchor="ctr">
                    <a:solidFill>
                      <a:srgbClr val="005071"/>
                    </a:solidFill>
                  </a:tcPr>
                </a:tc>
                <a:tc>
                  <a:txBody>
                    <a:bodyPr/>
                    <a:lstStyle/>
                    <a:p>
                      <a:pPr algn="ctr" fontAlgn="b">
                        <a:buNone/>
                      </a:pPr>
                      <a:r>
                        <a:rPr lang="en-IN" sz="1000" b="1" u="none" strike="noStrike">
                          <a:solidFill>
                            <a:schemeClr val="bg1"/>
                          </a:solidFill>
                          <a:effectLst/>
                        </a:rPr>
                        <a:t>Step 2</a:t>
                      </a:r>
                      <a:endParaRPr lang="en-IN" sz="1000" b="1" i="0" u="none" strike="noStrike">
                        <a:solidFill>
                          <a:schemeClr val="bg1"/>
                        </a:solidFill>
                        <a:effectLst/>
                        <a:latin typeface="Tahoma" panose="020B0604030504040204" pitchFamily="34" charset="0"/>
                      </a:endParaRPr>
                    </a:p>
                  </a:txBody>
                  <a:tcPr marL="5867" marR="5867" marT="5867" marB="0" anchor="ctr">
                    <a:solidFill>
                      <a:srgbClr val="005071"/>
                    </a:solidFill>
                  </a:tcPr>
                </a:tc>
                <a:tc>
                  <a:txBody>
                    <a:bodyPr/>
                    <a:lstStyle/>
                    <a:p>
                      <a:pPr algn="l" fontAlgn="b">
                        <a:buNone/>
                      </a:pPr>
                      <a:r>
                        <a:rPr lang="en-IN" sz="1000" b="1" u="none" strike="noStrike">
                          <a:solidFill>
                            <a:schemeClr val="bg1"/>
                          </a:solidFill>
                          <a:effectLst/>
                        </a:rPr>
                        <a:t>Step 3</a:t>
                      </a:r>
                      <a:endParaRPr lang="en-IN" sz="1000" b="1" i="0" u="none" strike="noStrike">
                        <a:solidFill>
                          <a:schemeClr val="bg1"/>
                        </a:solidFill>
                        <a:effectLst/>
                        <a:latin typeface="Tahoma" panose="020B0604030504040204" pitchFamily="34" charset="0"/>
                      </a:endParaRPr>
                    </a:p>
                  </a:txBody>
                  <a:tcPr marL="5867" marR="5867" marT="5867" marB="0" anchor="ctr">
                    <a:lnR w="12700" cap="flat" cmpd="sng" algn="ctr">
                      <a:solidFill>
                        <a:schemeClr val="tx1"/>
                      </a:solidFill>
                      <a:prstDash val="solid"/>
                      <a:round/>
                      <a:headEnd type="none" w="med" len="med"/>
                      <a:tailEnd type="none" w="med" len="med"/>
                    </a:lnR>
                    <a:solidFill>
                      <a:srgbClr val="005071"/>
                    </a:solidFill>
                  </a:tcPr>
                </a:tc>
                <a:extLst>
                  <a:ext uri="{0D108BD9-81ED-4DB2-BD59-A6C34878D82A}">
                    <a16:rowId xmlns:a16="http://schemas.microsoft.com/office/drawing/2014/main" val="3228706809"/>
                  </a:ext>
                </a:extLst>
              </a:tr>
              <a:tr h="146044">
                <a:tc gridSpan="6">
                  <a:txBody>
                    <a:bodyPr/>
                    <a:lstStyle/>
                    <a:p>
                      <a:pPr algn="ctr" fontAlgn="b">
                        <a:buNone/>
                      </a:pPr>
                      <a:r>
                        <a:rPr lang="en-IN" sz="1000" b="1" u="none" strike="noStrike">
                          <a:effectLst/>
                        </a:rPr>
                        <a:t>Separate Account</a:t>
                      </a:r>
                      <a:endParaRPr lang="en-IN" sz="1000" b="1" i="0" u="none" strike="noStrike">
                        <a:solidFill>
                          <a:srgbClr val="000000"/>
                        </a:solidFill>
                        <a:effectLst/>
                        <a:latin typeface="Tahoma" panose="020B0604030504040204" pitchFamily="34" charset="0"/>
                      </a:endParaRPr>
                    </a:p>
                  </a:txBody>
                  <a:tcPr marL="5867" marR="5867" marT="586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6">
                        <a:lumMod val="90000"/>
                      </a:schemeClr>
                    </a:solidFill>
                  </a:tcPr>
                </a:tc>
                <a:tc hMerge="1">
                  <a:txBody>
                    <a:bodyPr/>
                    <a:lstStyle/>
                    <a:p>
                      <a:endParaRPr lang="en-IN"/>
                    </a:p>
                  </a:txBody>
                  <a:tcPr>
                    <a:lnL w="12700" cap="flat" cmpd="sng" algn="ctr">
                      <a:solidFill>
                        <a:schemeClr val="tx1"/>
                      </a:solidFill>
                      <a:prstDash val="solid"/>
                      <a:round/>
                      <a:headEnd type="none" w="med" len="med"/>
                      <a:tailEnd type="none" w="med" len="med"/>
                    </a:ln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909878792"/>
                  </a:ext>
                </a:extLst>
              </a:tr>
              <a:tr h="146044">
                <a:tc>
                  <a:txBody>
                    <a:bodyPr/>
                    <a:lstStyle/>
                    <a:p>
                      <a:pPr algn="l" fontAlgn="b">
                        <a:buNone/>
                      </a:pPr>
                      <a:r>
                        <a:rPr lang="en-IN" sz="1000" u="none" strike="noStrike">
                          <a:effectLst/>
                        </a:rPr>
                        <a:t>  BOP Value</a:t>
                      </a:r>
                      <a:endParaRPr lang="en-IN" sz="1000" b="0" i="0" u="none" strike="noStrike">
                        <a:solidFill>
                          <a:srgbClr val="000000"/>
                        </a:solidFill>
                        <a:effectLst/>
                        <a:latin typeface="Tahoma" panose="020B0604030504040204" pitchFamily="34" charset="0"/>
                      </a:endParaRPr>
                    </a:p>
                  </a:txBody>
                  <a:tcPr marL="5867" marR="5867" marT="5867" marB="0" anchor="ctr">
                    <a:lnL w="12700" cap="flat" cmpd="sng" algn="ctr">
                      <a:solidFill>
                        <a:schemeClr val="tx1"/>
                      </a:solidFill>
                      <a:prstDash val="solid"/>
                      <a:round/>
                      <a:headEnd type="none" w="med" len="med"/>
                      <a:tailEnd type="none" w="med" len="med"/>
                    </a:lnL>
                    <a:solidFill>
                      <a:schemeClr val="accent6"/>
                    </a:solidFill>
                  </a:tcPr>
                </a:tc>
                <a:tc>
                  <a:txBody>
                    <a:bodyPr/>
                    <a:lstStyle/>
                    <a:p>
                      <a:pPr algn="l" fontAlgn="b">
                        <a:buNone/>
                      </a:pPr>
                      <a:r>
                        <a:rPr lang="en-IN" sz="1000" u="none" strike="noStrike">
                          <a:effectLst/>
                        </a:rPr>
                        <a:t>             12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12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12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lnR w="12700" cap="flat" cmpd="sng" algn="ctr">
                      <a:solidFill>
                        <a:schemeClr val="tx1"/>
                      </a:solidFill>
                      <a:prstDash val="solid"/>
                      <a:round/>
                      <a:headEnd type="none" w="med" len="med"/>
                      <a:tailEnd type="none" w="med" len="med"/>
                    </a:lnR>
                    <a:solidFill>
                      <a:schemeClr val="accent6"/>
                    </a:solidFill>
                  </a:tcPr>
                </a:tc>
                <a:extLst>
                  <a:ext uri="{0D108BD9-81ED-4DB2-BD59-A6C34878D82A}">
                    <a16:rowId xmlns:a16="http://schemas.microsoft.com/office/drawing/2014/main" val="1253146692"/>
                  </a:ext>
                </a:extLst>
              </a:tr>
              <a:tr h="146044">
                <a:tc>
                  <a:txBody>
                    <a:bodyPr/>
                    <a:lstStyle/>
                    <a:p>
                      <a:pPr algn="l" fontAlgn="b">
                        <a:buNone/>
                      </a:pPr>
                      <a:r>
                        <a:rPr lang="en-IN" sz="1000" u="none" strike="noStrike">
                          <a:effectLst/>
                        </a:rPr>
                        <a:t>  + Premiums Collected</a:t>
                      </a:r>
                      <a:endParaRPr lang="en-IN" sz="1000" b="0" i="0" u="none" strike="noStrike">
                        <a:solidFill>
                          <a:srgbClr val="000000"/>
                        </a:solidFill>
                        <a:effectLst/>
                        <a:latin typeface="Tahoma" panose="020B0604030504040204" pitchFamily="34" charset="0"/>
                      </a:endParaRPr>
                    </a:p>
                  </a:txBody>
                  <a:tcPr marL="5867" marR="5867" marT="5867" marB="0" anchor="ctr">
                    <a:lnL w="12700" cap="flat" cmpd="sng" algn="ctr">
                      <a:solidFill>
                        <a:schemeClr val="tx1"/>
                      </a:solidFill>
                      <a:prstDash val="solid"/>
                      <a:round/>
                      <a:headEnd type="none" w="med" len="med"/>
                      <a:tailEnd type="none" w="med" len="med"/>
                    </a:lnL>
                    <a:solidFill>
                      <a:schemeClr val="accent6"/>
                    </a:solidFill>
                  </a:tcPr>
                </a:tc>
                <a:tc>
                  <a:txBody>
                    <a:bodyPr/>
                    <a:lstStyle/>
                    <a:p>
                      <a:pPr algn="l" fontAlgn="b">
                        <a:buNone/>
                      </a:pPr>
                      <a:r>
                        <a:rPr lang="en-IN" sz="1000" u="none" strike="noStrike">
                          <a:effectLst/>
                        </a:rPr>
                        <a:t>               1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1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1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lnR w="12700" cap="flat" cmpd="sng" algn="ctr">
                      <a:solidFill>
                        <a:schemeClr val="tx1"/>
                      </a:solidFill>
                      <a:prstDash val="solid"/>
                      <a:round/>
                      <a:headEnd type="none" w="med" len="med"/>
                      <a:tailEnd type="none" w="med" len="med"/>
                    </a:lnR>
                    <a:solidFill>
                      <a:schemeClr val="accent6"/>
                    </a:solidFill>
                  </a:tcPr>
                </a:tc>
                <a:extLst>
                  <a:ext uri="{0D108BD9-81ED-4DB2-BD59-A6C34878D82A}">
                    <a16:rowId xmlns:a16="http://schemas.microsoft.com/office/drawing/2014/main" val="335352606"/>
                  </a:ext>
                </a:extLst>
              </a:tr>
              <a:tr h="146044">
                <a:tc>
                  <a:txBody>
                    <a:bodyPr/>
                    <a:lstStyle/>
                    <a:p>
                      <a:pPr algn="l" fontAlgn="b">
                        <a:buNone/>
                      </a:pPr>
                      <a:r>
                        <a:rPr lang="en-IN" sz="1000" u="none" strike="noStrike">
                          <a:effectLst/>
                        </a:rPr>
                        <a:t>  - Mortality Charges</a:t>
                      </a:r>
                      <a:endParaRPr lang="en-IN" sz="1000" b="0" i="0" u="none" strike="noStrike">
                        <a:solidFill>
                          <a:srgbClr val="000000"/>
                        </a:solidFill>
                        <a:effectLst/>
                        <a:latin typeface="Tahoma" panose="020B0604030504040204" pitchFamily="34" charset="0"/>
                      </a:endParaRPr>
                    </a:p>
                  </a:txBody>
                  <a:tcPr marL="5867" marR="5867" marT="5867" marB="0" anchor="ctr">
                    <a:lnL w="12700" cap="flat" cmpd="sng" algn="ctr">
                      <a:solidFill>
                        <a:schemeClr val="tx1"/>
                      </a:solidFill>
                      <a:prstDash val="solid"/>
                      <a:round/>
                      <a:headEnd type="none" w="med" len="med"/>
                      <a:tailEnd type="none" w="med" len="med"/>
                    </a:lnL>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lnR w="12700" cap="flat" cmpd="sng" algn="ctr">
                      <a:solidFill>
                        <a:schemeClr val="tx1"/>
                      </a:solidFill>
                      <a:prstDash val="solid"/>
                      <a:round/>
                      <a:headEnd type="none" w="med" len="med"/>
                      <a:tailEnd type="none" w="med" len="med"/>
                    </a:lnR>
                    <a:solidFill>
                      <a:schemeClr val="accent6"/>
                    </a:solidFill>
                  </a:tcPr>
                </a:tc>
                <a:extLst>
                  <a:ext uri="{0D108BD9-81ED-4DB2-BD59-A6C34878D82A}">
                    <a16:rowId xmlns:a16="http://schemas.microsoft.com/office/drawing/2014/main" val="3509269100"/>
                  </a:ext>
                </a:extLst>
              </a:tr>
              <a:tr h="146044">
                <a:tc>
                  <a:txBody>
                    <a:bodyPr/>
                    <a:lstStyle/>
                    <a:p>
                      <a:pPr algn="l" fontAlgn="b">
                        <a:buNone/>
                      </a:pPr>
                      <a:r>
                        <a:rPr lang="en-IN" sz="1000" u="none" strike="noStrike">
                          <a:effectLst/>
                        </a:rPr>
                        <a:t>  - Expenses</a:t>
                      </a:r>
                      <a:endParaRPr lang="en-IN" sz="1000" b="0" i="0" u="none" strike="noStrike">
                        <a:solidFill>
                          <a:srgbClr val="000000"/>
                        </a:solidFill>
                        <a:effectLst/>
                        <a:latin typeface="Tahoma" panose="020B0604030504040204" pitchFamily="34" charset="0"/>
                      </a:endParaRPr>
                    </a:p>
                  </a:txBody>
                  <a:tcPr marL="5867" marR="5867" marT="5867" marB="0" anchor="ctr">
                    <a:lnL w="12700" cap="flat" cmpd="sng" algn="ctr">
                      <a:solidFill>
                        <a:schemeClr val="tx1"/>
                      </a:solidFill>
                      <a:prstDash val="solid"/>
                      <a:round/>
                      <a:headEnd type="none" w="med" len="med"/>
                      <a:tailEnd type="none" w="med" len="med"/>
                    </a:lnL>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lnR w="12700" cap="flat" cmpd="sng" algn="ctr">
                      <a:solidFill>
                        <a:schemeClr val="tx1"/>
                      </a:solidFill>
                      <a:prstDash val="solid"/>
                      <a:round/>
                      <a:headEnd type="none" w="med" len="med"/>
                      <a:tailEnd type="none" w="med" len="med"/>
                    </a:lnR>
                    <a:solidFill>
                      <a:schemeClr val="accent6"/>
                    </a:solidFill>
                  </a:tcPr>
                </a:tc>
                <a:extLst>
                  <a:ext uri="{0D108BD9-81ED-4DB2-BD59-A6C34878D82A}">
                    <a16:rowId xmlns:a16="http://schemas.microsoft.com/office/drawing/2014/main" val="1693127856"/>
                  </a:ext>
                </a:extLst>
              </a:tr>
              <a:tr h="146044">
                <a:tc>
                  <a:txBody>
                    <a:bodyPr/>
                    <a:lstStyle/>
                    <a:p>
                      <a:pPr algn="l" fontAlgn="b">
                        <a:buNone/>
                      </a:pPr>
                      <a:r>
                        <a:rPr lang="en-IN" sz="1000" u="none" strike="noStrike">
                          <a:effectLst/>
                        </a:rPr>
                        <a:t>  Unexplained Variance</a:t>
                      </a:r>
                      <a:endParaRPr lang="en-IN" sz="1000" b="0" i="0" u="none" strike="noStrike">
                        <a:solidFill>
                          <a:srgbClr val="000000"/>
                        </a:solidFill>
                        <a:effectLst/>
                        <a:latin typeface="Tahoma" panose="020B0604030504040204" pitchFamily="34" charset="0"/>
                      </a:endParaRPr>
                    </a:p>
                  </a:txBody>
                  <a:tcPr marL="5867" marR="5867" marT="5867" marB="0" anchor="ctr">
                    <a:lnL w="12700" cap="flat" cmpd="sng" algn="ctr">
                      <a:solidFill>
                        <a:schemeClr val="tx1"/>
                      </a:solidFill>
                      <a:prstDash val="solid"/>
                      <a:round/>
                      <a:headEnd type="none" w="med" len="med"/>
                      <a:tailEnd type="none" w="med" len="med"/>
                    </a:lnL>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lnR w="12700" cap="flat" cmpd="sng" algn="ctr">
                      <a:solidFill>
                        <a:schemeClr val="tx1"/>
                      </a:solidFill>
                      <a:prstDash val="solid"/>
                      <a:round/>
                      <a:headEnd type="none" w="med" len="med"/>
                      <a:tailEnd type="none" w="med" len="med"/>
                    </a:lnR>
                    <a:solidFill>
                      <a:schemeClr val="accent6"/>
                    </a:solidFill>
                  </a:tcPr>
                </a:tc>
                <a:extLst>
                  <a:ext uri="{0D108BD9-81ED-4DB2-BD59-A6C34878D82A}">
                    <a16:rowId xmlns:a16="http://schemas.microsoft.com/office/drawing/2014/main" val="2158498033"/>
                  </a:ext>
                </a:extLst>
              </a:tr>
              <a:tr h="146044">
                <a:tc>
                  <a:txBody>
                    <a:bodyPr/>
                    <a:lstStyle/>
                    <a:p>
                      <a:pPr algn="l" fontAlgn="b">
                        <a:buNone/>
                      </a:pPr>
                      <a:r>
                        <a:rPr lang="en-IN" sz="1000" u="none" strike="noStrike">
                          <a:effectLst/>
                        </a:rPr>
                        <a:t>  EOP Value</a:t>
                      </a:r>
                      <a:endParaRPr lang="en-IN" sz="1000" b="0" i="0" u="none" strike="noStrike">
                        <a:solidFill>
                          <a:srgbClr val="000000"/>
                        </a:solidFill>
                        <a:effectLst/>
                        <a:latin typeface="Tahoma" panose="020B0604030504040204" pitchFamily="34" charset="0"/>
                      </a:endParaRPr>
                    </a:p>
                  </a:txBody>
                  <a:tcPr marL="5867" marR="5867" marT="5867" marB="0" anchor="ctr">
                    <a:lnL w="12700" cap="flat" cmpd="sng" algn="ctr">
                      <a:solidFill>
                        <a:schemeClr val="tx1"/>
                      </a:solidFill>
                      <a:prstDash val="solid"/>
                      <a:round/>
                      <a:headEnd type="none" w="med" len="med"/>
                      <a:tailEnd type="none" w="med" len="med"/>
                    </a:lnL>
                    <a:solidFill>
                      <a:schemeClr val="accent6"/>
                    </a:solidFill>
                  </a:tcPr>
                </a:tc>
                <a:tc>
                  <a:txBody>
                    <a:bodyPr/>
                    <a:lstStyle/>
                    <a:p>
                      <a:pPr algn="l" fontAlgn="b">
                        <a:buNone/>
                      </a:pPr>
                      <a:r>
                        <a:rPr lang="en-IN" sz="1000" u="none" strike="noStrike">
                          <a:effectLst/>
                        </a:rPr>
                        <a:t>             13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13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13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lnR w="12700" cap="flat" cmpd="sng" algn="ctr">
                      <a:solidFill>
                        <a:schemeClr val="tx1"/>
                      </a:solidFill>
                      <a:prstDash val="solid"/>
                      <a:round/>
                      <a:headEnd type="none" w="med" len="med"/>
                      <a:tailEnd type="none" w="med" len="med"/>
                    </a:lnR>
                    <a:solidFill>
                      <a:schemeClr val="accent6"/>
                    </a:solidFill>
                  </a:tcPr>
                </a:tc>
                <a:extLst>
                  <a:ext uri="{0D108BD9-81ED-4DB2-BD59-A6C34878D82A}">
                    <a16:rowId xmlns:a16="http://schemas.microsoft.com/office/drawing/2014/main" val="608088022"/>
                  </a:ext>
                </a:extLst>
              </a:tr>
              <a:tr h="146044">
                <a:tc gridSpan="6">
                  <a:txBody>
                    <a:bodyPr/>
                    <a:lstStyle/>
                    <a:p>
                      <a:pPr algn="ctr" fontAlgn="b">
                        <a:buNone/>
                      </a:pPr>
                      <a:r>
                        <a:rPr lang="en-IN" sz="1000" b="1" u="none" strike="noStrike">
                          <a:effectLst/>
                        </a:rPr>
                        <a:t>General Account</a:t>
                      </a:r>
                      <a:endParaRPr lang="en-IN" sz="1000" b="1" i="0" u="none" strike="noStrike">
                        <a:solidFill>
                          <a:srgbClr val="000000"/>
                        </a:solidFill>
                        <a:effectLst/>
                        <a:latin typeface="Tahoma" panose="020B0604030504040204" pitchFamily="34" charset="0"/>
                      </a:endParaRPr>
                    </a:p>
                  </a:txBody>
                  <a:tcPr marL="5867" marR="5867" marT="586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6">
                        <a:lumMod val="90000"/>
                      </a:schemeClr>
                    </a:solidFill>
                  </a:tcPr>
                </a:tc>
                <a:tc hMerge="1">
                  <a:txBody>
                    <a:bodyPr/>
                    <a:lstStyle/>
                    <a:p>
                      <a:endParaRPr lang="en-IN"/>
                    </a:p>
                  </a:txBody>
                  <a:tcPr>
                    <a:lnL w="12700" cap="flat" cmpd="sng" algn="ctr">
                      <a:solidFill>
                        <a:schemeClr val="tx1"/>
                      </a:solidFill>
                      <a:prstDash val="solid"/>
                      <a:round/>
                      <a:headEnd type="none" w="med" len="med"/>
                      <a:tailEnd type="none" w="med" len="med"/>
                    </a:ln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254168506"/>
                  </a:ext>
                </a:extLst>
              </a:tr>
              <a:tr h="146044">
                <a:tc>
                  <a:txBody>
                    <a:bodyPr/>
                    <a:lstStyle/>
                    <a:p>
                      <a:pPr algn="l" fontAlgn="b">
                        <a:buNone/>
                      </a:pPr>
                      <a:r>
                        <a:rPr lang="en-IN" sz="1000" u="none" strike="noStrike">
                          <a:effectLst/>
                        </a:rPr>
                        <a:t>  BOP Value</a:t>
                      </a:r>
                      <a:endParaRPr lang="en-IN" sz="1000" b="0" i="0" u="none" strike="noStrike">
                        <a:solidFill>
                          <a:srgbClr val="000000"/>
                        </a:solidFill>
                        <a:effectLst/>
                        <a:latin typeface="Tahoma" panose="020B0604030504040204" pitchFamily="34" charset="0"/>
                      </a:endParaRPr>
                    </a:p>
                  </a:txBody>
                  <a:tcPr marL="5867" marR="5867" marT="5867" marB="0" anchor="ctr">
                    <a:lnL w="12700" cap="flat" cmpd="sng" algn="ctr">
                      <a:solidFill>
                        <a:schemeClr val="tx1"/>
                      </a:solidFill>
                      <a:prstDash val="solid"/>
                      <a:round/>
                      <a:headEnd type="none" w="med" len="med"/>
                      <a:tailEnd type="none" w="med" len="med"/>
                    </a:lnL>
                    <a:solidFill>
                      <a:schemeClr val="accent6"/>
                    </a:solidFill>
                  </a:tcPr>
                </a:tc>
                <a:tc>
                  <a:txBody>
                    <a:bodyPr/>
                    <a:lstStyle/>
                    <a:p>
                      <a:pPr algn="l" fontAlgn="b">
                        <a:buNone/>
                      </a:pPr>
                      <a:r>
                        <a:rPr lang="en-IN" sz="1000" u="none" strike="noStrike">
                          <a:effectLst/>
                        </a:rPr>
                        <a:t>             51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51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51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lnR w="12700" cap="flat" cmpd="sng" algn="ctr">
                      <a:solidFill>
                        <a:schemeClr val="tx1"/>
                      </a:solidFill>
                      <a:prstDash val="solid"/>
                      <a:round/>
                      <a:headEnd type="none" w="med" len="med"/>
                      <a:tailEnd type="none" w="med" len="med"/>
                    </a:lnR>
                    <a:solidFill>
                      <a:schemeClr val="accent6"/>
                    </a:solidFill>
                  </a:tcPr>
                </a:tc>
                <a:extLst>
                  <a:ext uri="{0D108BD9-81ED-4DB2-BD59-A6C34878D82A}">
                    <a16:rowId xmlns:a16="http://schemas.microsoft.com/office/drawing/2014/main" val="3139282871"/>
                  </a:ext>
                </a:extLst>
              </a:tr>
              <a:tr h="146044">
                <a:tc>
                  <a:txBody>
                    <a:bodyPr/>
                    <a:lstStyle/>
                    <a:p>
                      <a:pPr algn="l" fontAlgn="b">
                        <a:buNone/>
                      </a:pPr>
                      <a:r>
                        <a:rPr lang="en-IN" sz="1000" u="none" strike="noStrike">
                          <a:effectLst/>
                        </a:rPr>
                        <a:t>  + Premiums Collected</a:t>
                      </a:r>
                      <a:endParaRPr lang="en-IN" sz="1000" b="0" i="0" u="none" strike="noStrike">
                        <a:solidFill>
                          <a:srgbClr val="000000"/>
                        </a:solidFill>
                        <a:effectLst/>
                        <a:latin typeface="Tahoma" panose="020B0604030504040204" pitchFamily="34" charset="0"/>
                      </a:endParaRPr>
                    </a:p>
                  </a:txBody>
                  <a:tcPr marL="5867" marR="5867" marT="5867" marB="0" anchor="ctr">
                    <a:lnL w="12700" cap="flat" cmpd="sng" algn="ctr">
                      <a:solidFill>
                        <a:schemeClr val="tx1"/>
                      </a:solidFill>
                      <a:prstDash val="solid"/>
                      <a:round/>
                      <a:headEnd type="none" w="med" len="med"/>
                      <a:tailEnd type="none" w="med" len="med"/>
                    </a:lnL>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1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1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1 </a:t>
                      </a:r>
                      <a:endParaRPr lang="en-IN" sz="1000" b="0" i="0" u="none" strike="noStrike">
                        <a:solidFill>
                          <a:srgbClr val="0061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lnR w="12700" cap="flat" cmpd="sng" algn="ctr">
                      <a:solidFill>
                        <a:schemeClr val="tx1"/>
                      </a:solidFill>
                      <a:prstDash val="solid"/>
                      <a:round/>
                      <a:headEnd type="none" w="med" len="med"/>
                      <a:tailEnd type="none" w="med" len="med"/>
                    </a:lnR>
                    <a:solidFill>
                      <a:schemeClr val="accent6"/>
                    </a:solidFill>
                  </a:tcPr>
                </a:tc>
                <a:extLst>
                  <a:ext uri="{0D108BD9-81ED-4DB2-BD59-A6C34878D82A}">
                    <a16:rowId xmlns:a16="http://schemas.microsoft.com/office/drawing/2014/main" val="3388533233"/>
                  </a:ext>
                </a:extLst>
              </a:tr>
              <a:tr h="146044">
                <a:tc>
                  <a:txBody>
                    <a:bodyPr/>
                    <a:lstStyle/>
                    <a:p>
                      <a:pPr algn="l" fontAlgn="b">
                        <a:buNone/>
                      </a:pPr>
                      <a:r>
                        <a:rPr lang="en-IN" sz="1000" u="none" strike="noStrike">
                          <a:effectLst/>
                        </a:rPr>
                        <a:t>  - Mortality Charges</a:t>
                      </a:r>
                      <a:endParaRPr lang="en-IN" sz="1000" b="0" i="0" u="none" strike="noStrike">
                        <a:solidFill>
                          <a:srgbClr val="000000"/>
                        </a:solidFill>
                        <a:effectLst/>
                        <a:latin typeface="Tahoma" panose="020B0604030504040204" pitchFamily="34" charset="0"/>
                      </a:endParaRPr>
                    </a:p>
                  </a:txBody>
                  <a:tcPr marL="5867" marR="5867" marT="5867" marB="0" anchor="ctr">
                    <a:lnL w="12700" cap="flat" cmpd="sng" algn="ctr">
                      <a:solidFill>
                        <a:schemeClr val="tx1"/>
                      </a:solidFill>
                      <a:prstDash val="solid"/>
                      <a:round/>
                      <a:headEnd type="none" w="med" len="med"/>
                      <a:tailEnd type="none" w="med" len="med"/>
                    </a:lnL>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-2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-2 </a:t>
                      </a:r>
                      <a:endParaRPr lang="en-IN" sz="1000" b="0" i="0" u="none" strike="noStrike">
                        <a:solidFill>
                          <a:srgbClr val="9C0006"/>
                        </a:solidFill>
                        <a:effectLst/>
                        <a:latin typeface="Tahoma" panose="020B0604030504040204" pitchFamily="34" charset="0"/>
                      </a:endParaRPr>
                    </a:p>
                  </a:txBody>
                  <a:tcPr marL="5867" marR="5867" marT="5867" marB="0" anchor="ctr">
                    <a:lnR w="12700" cap="flat" cmpd="sng" algn="ctr">
                      <a:solidFill>
                        <a:schemeClr val="tx1"/>
                      </a:solidFill>
                      <a:prstDash val="solid"/>
                      <a:round/>
                      <a:headEnd type="none" w="med" len="med"/>
                      <a:tailEnd type="none" w="med" len="med"/>
                    </a:lnR>
                    <a:solidFill>
                      <a:schemeClr val="accent6"/>
                    </a:solidFill>
                  </a:tcPr>
                </a:tc>
                <a:extLst>
                  <a:ext uri="{0D108BD9-81ED-4DB2-BD59-A6C34878D82A}">
                    <a16:rowId xmlns:a16="http://schemas.microsoft.com/office/drawing/2014/main" val="102325372"/>
                  </a:ext>
                </a:extLst>
              </a:tr>
              <a:tr h="146044">
                <a:tc>
                  <a:txBody>
                    <a:bodyPr/>
                    <a:lstStyle/>
                    <a:p>
                      <a:pPr algn="l" fontAlgn="b">
                        <a:buNone/>
                      </a:pPr>
                      <a:r>
                        <a:rPr lang="en-IN" sz="1000" u="none" strike="noStrike">
                          <a:effectLst/>
                        </a:rPr>
                        <a:t>  - Expenses</a:t>
                      </a:r>
                      <a:endParaRPr lang="en-IN" sz="1000" b="0" i="0" u="none" strike="noStrike">
                        <a:solidFill>
                          <a:srgbClr val="000000"/>
                        </a:solidFill>
                        <a:effectLst/>
                        <a:latin typeface="Tahoma" panose="020B0604030504040204" pitchFamily="34" charset="0"/>
                      </a:endParaRPr>
                    </a:p>
                  </a:txBody>
                  <a:tcPr marL="5867" marR="5867" marT="5867" marB="0" anchor="ctr">
                    <a:lnL w="12700" cap="flat" cmpd="sng" algn="ctr">
                      <a:solidFill>
                        <a:schemeClr val="tx1"/>
                      </a:solidFill>
                      <a:prstDash val="solid"/>
                      <a:round/>
                      <a:headEnd type="none" w="med" len="med"/>
                      <a:tailEnd type="none" w="med" len="med"/>
                    </a:lnL>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-1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-1 </a:t>
                      </a:r>
                      <a:endParaRPr lang="en-IN" sz="1000" b="0" i="0" u="none" strike="noStrike">
                        <a:solidFill>
                          <a:srgbClr val="9C0006"/>
                        </a:solidFill>
                        <a:effectLst/>
                        <a:latin typeface="Tahoma" panose="020B0604030504040204" pitchFamily="34" charset="0"/>
                      </a:endParaRPr>
                    </a:p>
                  </a:txBody>
                  <a:tcPr marL="5867" marR="5867" marT="5867" marB="0" anchor="ctr">
                    <a:lnR w="12700" cap="flat" cmpd="sng" algn="ctr">
                      <a:solidFill>
                        <a:schemeClr val="tx1"/>
                      </a:solidFill>
                      <a:prstDash val="solid"/>
                      <a:round/>
                      <a:headEnd type="none" w="med" len="med"/>
                      <a:tailEnd type="none" w="med" len="med"/>
                    </a:lnR>
                    <a:solidFill>
                      <a:schemeClr val="accent6"/>
                    </a:solidFill>
                  </a:tcPr>
                </a:tc>
                <a:extLst>
                  <a:ext uri="{0D108BD9-81ED-4DB2-BD59-A6C34878D82A}">
                    <a16:rowId xmlns:a16="http://schemas.microsoft.com/office/drawing/2014/main" val="2075342634"/>
                  </a:ext>
                </a:extLst>
              </a:tr>
              <a:tr h="146044">
                <a:tc>
                  <a:txBody>
                    <a:bodyPr/>
                    <a:lstStyle/>
                    <a:p>
                      <a:pPr algn="l" fontAlgn="b">
                        <a:buNone/>
                      </a:pPr>
                      <a:r>
                        <a:rPr lang="en-IN" sz="1000" u="none" strike="noStrike">
                          <a:effectLst/>
                        </a:rPr>
                        <a:t>  Unexplained Variance</a:t>
                      </a:r>
                      <a:endParaRPr lang="en-IN" sz="1000" b="0" i="0" u="none" strike="noStrike">
                        <a:solidFill>
                          <a:srgbClr val="000000"/>
                        </a:solidFill>
                        <a:effectLst/>
                        <a:latin typeface="Tahoma" panose="020B0604030504040204" pitchFamily="34" charset="0"/>
                      </a:endParaRPr>
                    </a:p>
                  </a:txBody>
                  <a:tcPr marL="5867" marR="5867" marT="5867" marB="0" anchor="ctr">
                    <a:lnL w="12700" cap="flat" cmpd="sng" algn="ctr">
                      <a:solidFill>
                        <a:schemeClr val="tx1"/>
                      </a:solidFill>
                      <a:prstDash val="solid"/>
                      <a:round/>
                      <a:headEnd type="none" w="med" len="med"/>
                      <a:tailEnd type="none" w="med" len="med"/>
                    </a:lnL>
                    <a:solidFill>
                      <a:schemeClr val="accent6"/>
                    </a:solidFill>
                  </a:tcPr>
                </a:tc>
                <a:tc>
                  <a:txBody>
                    <a:bodyPr/>
                    <a:lstStyle/>
                    <a:p>
                      <a:pPr algn="l" fontAlgn="b">
                        <a:buNone/>
                      </a:pPr>
                      <a:r>
                        <a:rPr lang="en-IN" sz="1000" u="none" strike="noStrike">
                          <a:effectLst/>
                        </a:rPr>
                        <a:t>             -4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-5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-2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-1 </a:t>
                      </a:r>
                      <a:endParaRPr lang="en-IN" sz="1000" b="0" i="0" u="none" strike="noStrike">
                        <a:solidFill>
                          <a:srgbClr val="9C0006"/>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3 </a:t>
                      </a:r>
                      <a:endParaRPr lang="en-IN" sz="1000" b="0" i="0" u="none" strike="noStrike">
                        <a:solidFill>
                          <a:srgbClr val="006100"/>
                        </a:solidFill>
                        <a:effectLst/>
                        <a:latin typeface="Tahoma" panose="020B0604030504040204" pitchFamily="34" charset="0"/>
                      </a:endParaRPr>
                    </a:p>
                  </a:txBody>
                  <a:tcPr marL="5867" marR="5867" marT="5867" marB="0" anchor="ctr">
                    <a:lnR w="12700" cap="flat" cmpd="sng" algn="ctr">
                      <a:solidFill>
                        <a:schemeClr val="tx1"/>
                      </a:solidFill>
                      <a:prstDash val="solid"/>
                      <a:round/>
                      <a:headEnd type="none" w="med" len="med"/>
                      <a:tailEnd type="none" w="med" len="med"/>
                    </a:lnR>
                    <a:solidFill>
                      <a:schemeClr val="accent6"/>
                    </a:solidFill>
                  </a:tcPr>
                </a:tc>
                <a:extLst>
                  <a:ext uri="{0D108BD9-81ED-4DB2-BD59-A6C34878D82A}">
                    <a16:rowId xmlns:a16="http://schemas.microsoft.com/office/drawing/2014/main" val="568178567"/>
                  </a:ext>
                </a:extLst>
              </a:tr>
              <a:tr h="146044">
                <a:tc>
                  <a:txBody>
                    <a:bodyPr/>
                    <a:lstStyle/>
                    <a:p>
                      <a:pPr algn="l" fontAlgn="b">
                        <a:buNone/>
                      </a:pPr>
                      <a:r>
                        <a:rPr lang="en-IN" sz="1000" u="none" strike="noStrike">
                          <a:effectLst/>
                        </a:rPr>
                        <a:t>  EOP Value</a:t>
                      </a:r>
                      <a:endParaRPr lang="en-IN" sz="1000" b="0" i="0" u="none" strike="noStrike">
                        <a:solidFill>
                          <a:srgbClr val="000000"/>
                        </a:solidFill>
                        <a:effectLst/>
                        <a:latin typeface="Tahoma" panose="020B0604030504040204" pitchFamily="34" charset="0"/>
                      </a:endParaRPr>
                    </a:p>
                  </a:txBody>
                  <a:tcPr marL="5867" marR="5867" marT="5867" marB="0" anchor="ctr">
                    <a:lnL w="12700" cap="flat" cmpd="sng" algn="ctr">
                      <a:solidFill>
                        <a:schemeClr val="tx1"/>
                      </a:solidFill>
                      <a:prstDash val="solid"/>
                      <a:round/>
                      <a:headEnd type="none" w="med" len="med"/>
                      <a:tailEnd type="none" w="med" len="med"/>
                    </a:lnL>
                    <a:solidFill>
                      <a:schemeClr val="accent6"/>
                    </a:solidFill>
                  </a:tcPr>
                </a:tc>
                <a:tc>
                  <a:txBody>
                    <a:bodyPr/>
                    <a:lstStyle/>
                    <a:p>
                      <a:pPr algn="l" fontAlgn="b">
                        <a:buNone/>
                      </a:pPr>
                      <a:r>
                        <a:rPr lang="en-IN" sz="1000" u="none" strike="noStrike">
                          <a:effectLst/>
                        </a:rPr>
                        <a:t>             47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47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47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lnR w="12700" cap="flat" cmpd="sng" algn="ctr">
                      <a:solidFill>
                        <a:schemeClr val="tx1"/>
                      </a:solidFill>
                      <a:prstDash val="solid"/>
                      <a:round/>
                      <a:headEnd type="none" w="med" len="med"/>
                      <a:tailEnd type="none" w="med" len="med"/>
                    </a:lnR>
                    <a:solidFill>
                      <a:schemeClr val="accent6"/>
                    </a:solidFill>
                  </a:tcPr>
                </a:tc>
                <a:extLst>
                  <a:ext uri="{0D108BD9-81ED-4DB2-BD59-A6C34878D82A}">
                    <a16:rowId xmlns:a16="http://schemas.microsoft.com/office/drawing/2014/main" val="3602267930"/>
                  </a:ext>
                </a:extLst>
              </a:tr>
              <a:tr h="146044">
                <a:tc gridSpan="6">
                  <a:txBody>
                    <a:bodyPr/>
                    <a:lstStyle/>
                    <a:p>
                      <a:pPr algn="ctr" fontAlgn="b">
                        <a:buNone/>
                      </a:pPr>
                      <a:r>
                        <a:rPr lang="en-IN" sz="1000" b="1" u="none" strike="noStrike">
                          <a:effectLst/>
                        </a:rPr>
                        <a:t>Total Account</a:t>
                      </a:r>
                      <a:endParaRPr lang="en-IN" sz="1000" b="1" i="0" u="none" strike="noStrike">
                        <a:solidFill>
                          <a:srgbClr val="000000"/>
                        </a:solidFill>
                        <a:effectLst/>
                        <a:latin typeface="Tahoma" panose="020B0604030504040204" pitchFamily="34" charset="0"/>
                      </a:endParaRPr>
                    </a:p>
                  </a:txBody>
                  <a:tcPr marL="5867" marR="5867" marT="586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6">
                        <a:lumMod val="90000"/>
                      </a:schemeClr>
                    </a:solidFill>
                  </a:tcPr>
                </a:tc>
                <a:tc hMerge="1">
                  <a:txBody>
                    <a:bodyPr/>
                    <a:lstStyle/>
                    <a:p>
                      <a:endParaRPr lang="en-IN"/>
                    </a:p>
                  </a:txBody>
                  <a:tcPr>
                    <a:lnL w="12700" cap="flat" cmpd="sng" algn="ctr">
                      <a:solidFill>
                        <a:schemeClr val="tx1"/>
                      </a:solidFill>
                      <a:prstDash val="solid"/>
                      <a:round/>
                      <a:headEnd type="none" w="med" len="med"/>
                      <a:tailEnd type="none" w="med" len="med"/>
                    </a:ln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39207135"/>
                  </a:ext>
                </a:extLst>
              </a:tr>
              <a:tr h="146044">
                <a:tc>
                  <a:txBody>
                    <a:bodyPr/>
                    <a:lstStyle/>
                    <a:p>
                      <a:pPr algn="l" fontAlgn="b">
                        <a:buNone/>
                      </a:pPr>
                      <a:r>
                        <a:rPr lang="en-IN" sz="1000" u="none" strike="noStrike">
                          <a:effectLst/>
                        </a:rPr>
                        <a:t>  BOP Value</a:t>
                      </a:r>
                      <a:endParaRPr lang="en-IN" sz="1000" b="0" i="0" u="none" strike="noStrike">
                        <a:solidFill>
                          <a:srgbClr val="000000"/>
                        </a:solidFill>
                        <a:effectLst/>
                        <a:latin typeface="Tahoma" panose="020B0604030504040204" pitchFamily="34" charset="0"/>
                      </a:endParaRPr>
                    </a:p>
                  </a:txBody>
                  <a:tcPr marL="5867" marR="5867" marT="5867" marB="0" anchor="ctr">
                    <a:lnL w="12700" cap="flat" cmpd="sng" algn="ctr">
                      <a:solidFill>
                        <a:schemeClr val="tx1"/>
                      </a:solidFill>
                      <a:prstDash val="solid"/>
                      <a:round/>
                      <a:headEnd type="none" w="med" len="med"/>
                      <a:tailEnd type="none" w="med" len="med"/>
                    </a:lnL>
                    <a:solidFill>
                      <a:schemeClr val="accent6"/>
                    </a:solidFill>
                  </a:tcPr>
                </a:tc>
                <a:tc>
                  <a:txBody>
                    <a:bodyPr/>
                    <a:lstStyle/>
                    <a:p>
                      <a:pPr algn="l" fontAlgn="b">
                        <a:buNone/>
                      </a:pPr>
                      <a:r>
                        <a:rPr lang="en-IN" sz="1000" u="none" strike="noStrike">
                          <a:effectLst/>
                        </a:rPr>
                        <a:t>             63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63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63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lnR w="12700" cap="flat" cmpd="sng" algn="ctr">
                      <a:solidFill>
                        <a:schemeClr val="tx1"/>
                      </a:solidFill>
                      <a:prstDash val="solid"/>
                      <a:round/>
                      <a:headEnd type="none" w="med" len="med"/>
                      <a:tailEnd type="none" w="med" len="med"/>
                    </a:lnR>
                    <a:solidFill>
                      <a:schemeClr val="accent6"/>
                    </a:solidFill>
                  </a:tcPr>
                </a:tc>
                <a:extLst>
                  <a:ext uri="{0D108BD9-81ED-4DB2-BD59-A6C34878D82A}">
                    <a16:rowId xmlns:a16="http://schemas.microsoft.com/office/drawing/2014/main" val="3454164194"/>
                  </a:ext>
                </a:extLst>
              </a:tr>
              <a:tr h="146044">
                <a:tc>
                  <a:txBody>
                    <a:bodyPr/>
                    <a:lstStyle/>
                    <a:p>
                      <a:pPr algn="l" fontAlgn="b">
                        <a:buNone/>
                      </a:pPr>
                      <a:r>
                        <a:rPr lang="en-IN" sz="1000" u="none" strike="noStrike">
                          <a:effectLst/>
                        </a:rPr>
                        <a:t>  + Premiums Collected</a:t>
                      </a:r>
                      <a:endParaRPr lang="en-IN" sz="1000" b="0" i="0" u="none" strike="noStrike">
                        <a:solidFill>
                          <a:srgbClr val="000000"/>
                        </a:solidFill>
                        <a:effectLst/>
                        <a:latin typeface="Tahoma" panose="020B0604030504040204" pitchFamily="34" charset="0"/>
                      </a:endParaRPr>
                    </a:p>
                  </a:txBody>
                  <a:tcPr marL="5867" marR="5867" marT="5867" marB="0" anchor="ctr">
                    <a:lnL w="12700" cap="flat" cmpd="sng" algn="ctr">
                      <a:solidFill>
                        <a:schemeClr val="tx1"/>
                      </a:solidFill>
                      <a:prstDash val="solid"/>
                      <a:round/>
                      <a:headEnd type="none" w="med" len="med"/>
                      <a:tailEnd type="none" w="med" len="med"/>
                    </a:lnL>
                    <a:solidFill>
                      <a:schemeClr val="accent6"/>
                    </a:solidFill>
                  </a:tcPr>
                </a:tc>
                <a:tc>
                  <a:txBody>
                    <a:bodyPr/>
                    <a:lstStyle/>
                    <a:p>
                      <a:pPr algn="l" fontAlgn="b">
                        <a:buNone/>
                      </a:pPr>
                      <a:r>
                        <a:rPr lang="en-IN" sz="1000" u="none" strike="noStrike">
                          <a:effectLst/>
                        </a:rPr>
                        <a:t>               2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2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2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lnR w="12700" cap="flat" cmpd="sng" algn="ctr">
                      <a:solidFill>
                        <a:schemeClr val="tx1"/>
                      </a:solidFill>
                      <a:prstDash val="solid"/>
                      <a:round/>
                      <a:headEnd type="none" w="med" len="med"/>
                      <a:tailEnd type="none" w="med" len="med"/>
                    </a:lnR>
                    <a:solidFill>
                      <a:schemeClr val="accent6"/>
                    </a:solidFill>
                  </a:tcPr>
                </a:tc>
                <a:extLst>
                  <a:ext uri="{0D108BD9-81ED-4DB2-BD59-A6C34878D82A}">
                    <a16:rowId xmlns:a16="http://schemas.microsoft.com/office/drawing/2014/main" val="1715838037"/>
                  </a:ext>
                </a:extLst>
              </a:tr>
              <a:tr h="146044">
                <a:tc>
                  <a:txBody>
                    <a:bodyPr/>
                    <a:lstStyle/>
                    <a:p>
                      <a:pPr algn="l" fontAlgn="b">
                        <a:buNone/>
                      </a:pPr>
                      <a:r>
                        <a:rPr lang="en-IN" sz="1000" u="none" strike="noStrike">
                          <a:effectLst/>
                        </a:rPr>
                        <a:t>  - Mortality Charges</a:t>
                      </a:r>
                      <a:endParaRPr lang="en-IN" sz="1000" b="0" i="0" u="none" strike="noStrike">
                        <a:solidFill>
                          <a:srgbClr val="000000"/>
                        </a:solidFill>
                        <a:effectLst/>
                        <a:latin typeface="Tahoma" panose="020B0604030504040204" pitchFamily="34" charset="0"/>
                      </a:endParaRPr>
                    </a:p>
                  </a:txBody>
                  <a:tcPr marL="5867" marR="5867" marT="5867" marB="0" anchor="ctr">
                    <a:lnL w="12700" cap="flat" cmpd="sng" algn="ctr">
                      <a:solidFill>
                        <a:schemeClr val="tx1"/>
                      </a:solidFill>
                      <a:prstDash val="solid"/>
                      <a:round/>
                      <a:headEnd type="none" w="med" len="med"/>
                      <a:tailEnd type="none" w="med" len="med"/>
                    </a:lnL>
                    <a:solidFill>
                      <a:schemeClr val="accent6"/>
                    </a:solidFill>
                  </a:tcPr>
                </a:tc>
                <a:tc>
                  <a:txBody>
                    <a:bodyPr/>
                    <a:lstStyle/>
                    <a:p>
                      <a:pPr algn="l" fontAlgn="b">
                        <a:buNone/>
                      </a:pPr>
                      <a:r>
                        <a:rPr lang="en-IN" sz="1000" u="none" strike="noStrike">
                          <a:effectLst/>
                        </a:rPr>
                        <a:t>             -2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-2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-2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lnR w="12700" cap="flat" cmpd="sng" algn="ctr">
                      <a:solidFill>
                        <a:schemeClr val="tx1"/>
                      </a:solidFill>
                      <a:prstDash val="solid"/>
                      <a:round/>
                      <a:headEnd type="none" w="med" len="med"/>
                      <a:tailEnd type="none" w="med" len="med"/>
                    </a:lnR>
                    <a:solidFill>
                      <a:schemeClr val="accent6"/>
                    </a:solidFill>
                  </a:tcPr>
                </a:tc>
                <a:extLst>
                  <a:ext uri="{0D108BD9-81ED-4DB2-BD59-A6C34878D82A}">
                    <a16:rowId xmlns:a16="http://schemas.microsoft.com/office/drawing/2014/main" val="781408824"/>
                  </a:ext>
                </a:extLst>
              </a:tr>
              <a:tr h="146044">
                <a:tc>
                  <a:txBody>
                    <a:bodyPr/>
                    <a:lstStyle/>
                    <a:p>
                      <a:pPr algn="l" fontAlgn="b">
                        <a:buNone/>
                      </a:pPr>
                      <a:r>
                        <a:rPr lang="en-IN" sz="1000" u="none" strike="noStrike">
                          <a:effectLst/>
                        </a:rPr>
                        <a:t>  - Expenses</a:t>
                      </a:r>
                      <a:endParaRPr lang="en-IN" sz="1000" b="0" i="0" u="none" strike="noStrike">
                        <a:solidFill>
                          <a:srgbClr val="000000"/>
                        </a:solidFill>
                        <a:effectLst/>
                        <a:latin typeface="Tahoma" panose="020B0604030504040204" pitchFamily="34" charset="0"/>
                      </a:endParaRPr>
                    </a:p>
                  </a:txBody>
                  <a:tcPr marL="5867" marR="5867" marT="5867" marB="0" anchor="ctr">
                    <a:lnL w="12700" cap="flat" cmpd="sng" algn="ctr">
                      <a:solidFill>
                        <a:schemeClr val="tx1"/>
                      </a:solidFill>
                      <a:prstDash val="solid"/>
                      <a:round/>
                      <a:headEnd type="none" w="med" len="med"/>
                      <a:tailEnd type="none" w="med" len="med"/>
                    </a:lnL>
                    <a:solidFill>
                      <a:schemeClr val="accent6"/>
                    </a:solidFill>
                  </a:tcPr>
                </a:tc>
                <a:tc>
                  <a:txBody>
                    <a:bodyPr/>
                    <a:lstStyle/>
                    <a:p>
                      <a:pPr algn="l" fontAlgn="b">
                        <a:buNone/>
                      </a:pPr>
                      <a:r>
                        <a:rPr lang="en-IN" sz="1000" u="none" strike="noStrike">
                          <a:effectLst/>
                        </a:rPr>
                        <a:t>             -1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-1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-1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lnR w="12700" cap="flat" cmpd="sng" algn="ctr">
                      <a:solidFill>
                        <a:schemeClr val="tx1"/>
                      </a:solidFill>
                      <a:prstDash val="solid"/>
                      <a:round/>
                      <a:headEnd type="none" w="med" len="med"/>
                      <a:tailEnd type="none" w="med" len="med"/>
                    </a:lnR>
                    <a:solidFill>
                      <a:schemeClr val="accent6"/>
                    </a:solidFill>
                  </a:tcPr>
                </a:tc>
                <a:extLst>
                  <a:ext uri="{0D108BD9-81ED-4DB2-BD59-A6C34878D82A}">
                    <a16:rowId xmlns:a16="http://schemas.microsoft.com/office/drawing/2014/main" val="1779663633"/>
                  </a:ext>
                </a:extLst>
              </a:tr>
              <a:tr h="146044">
                <a:tc>
                  <a:txBody>
                    <a:bodyPr/>
                    <a:lstStyle/>
                    <a:p>
                      <a:pPr algn="l" fontAlgn="b">
                        <a:buNone/>
                      </a:pPr>
                      <a:r>
                        <a:rPr lang="en-IN" sz="1000" u="none" strike="noStrike">
                          <a:effectLst/>
                        </a:rPr>
                        <a:t>  Unexplained Variance</a:t>
                      </a:r>
                      <a:endParaRPr lang="en-IN" sz="1000" b="0" i="0" u="none" strike="noStrike">
                        <a:solidFill>
                          <a:srgbClr val="000000"/>
                        </a:solidFill>
                        <a:effectLst/>
                        <a:latin typeface="Tahoma" panose="020B0604030504040204" pitchFamily="34" charset="0"/>
                      </a:endParaRPr>
                    </a:p>
                  </a:txBody>
                  <a:tcPr marL="5867" marR="5867" marT="5867" marB="0" anchor="ctr">
                    <a:lnL w="12700" cap="flat" cmpd="sng" algn="ctr">
                      <a:solidFill>
                        <a:schemeClr val="tx1"/>
                      </a:solidFill>
                      <a:prstDash val="solid"/>
                      <a:round/>
                      <a:headEnd type="none" w="med" len="med"/>
                      <a:tailEnd type="none" w="med" len="med"/>
                    </a:lnL>
                    <a:solidFill>
                      <a:schemeClr val="accent6"/>
                    </a:solidFill>
                  </a:tcPr>
                </a:tc>
                <a:tc>
                  <a:txBody>
                    <a:bodyPr/>
                    <a:lstStyle/>
                    <a:p>
                      <a:pPr algn="l" fontAlgn="b">
                        <a:buNone/>
                      </a:pPr>
                      <a:r>
                        <a:rPr lang="en-IN" sz="1000" u="none" strike="noStrike">
                          <a:effectLst/>
                        </a:rPr>
                        <a:t>             -2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-2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-2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lnR w="12700" cap="flat" cmpd="sng" algn="ctr">
                      <a:solidFill>
                        <a:schemeClr val="tx1"/>
                      </a:solidFill>
                      <a:prstDash val="solid"/>
                      <a:round/>
                      <a:headEnd type="none" w="med" len="med"/>
                      <a:tailEnd type="none" w="med" len="med"/>
                    </a:lnR>
                    <a:solidFill>
                      <a:schemeClr val="accent6"/>
                    </a:solidFill>
                  </a:tcPr>
                </a:tc>
                <a:extLst>
                  <a:ext uri="{0D108BD9-81ED-4DB2-BD59-A6C34878D82A}">
                    <a16:rowId xmlns:a16="http://schemas.microsoft.com/office/drawing/2014/main" val="4239842318"/>
                  </a:ext>
                </a:extLst>
              </a:tr>
              <a:tr h="146044">
                <a:tc>
                  <a:txBody>
                    <a:bodyPr/>
                    <a:lstStyle/>
                    <a:p>
                      <a:pPr algn="l" fontAlgn="b">
                        <a:buNone/>
                      </a:pPr>
                      <a:r>
                        <a:rPr lang="en-IN" sz="1000" u="none" strike="noStrike">
                          <a:effectLst/>
                        </a:rPr>
                        <a:t>  EOP Value</a:t>
                      </a:r>
                      <a:endParaRPr lang="en-IN" sz="1000" b="0" i="0" u="none" strike="noStrike">
                        <a:solidFill>
                          <a:srgbClr val="000000"/>
                        </a:solidFill>
                        <a:effectLst/>
                        <a:latin typeface="Tahoma" panose="020B0604030504040204" pitchFamily="34" charset="0"/>
                      </a:endParaRPr>
                    </a:p>
                  </a:txBody>
                  <a:tcPr marL="5867" marR="5867" marT="5867"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6"/>
                    </a:solidFill>
                  </a:tcPr>
                </a:tc>
                <a:tc>
                  <a:txBody>
                    <a:bodyPr/>
                    <a:lstStyle/>
                    <a:p>
                      <a:pPr algn="l" fontAlgn="b">
                        <a:buNone/>
                      </a:pPr>
                      <a:r>
                        <a:rPr lang="en-IN" sz="1000" u="none" strike="noStrike">
                          <a:effectLst/>
                        </a:rPr>
                        <a:t>             60 </a:t>
                      </a:r>
                      <a:endParaRPr lang="en-IN" sz="1000" b="0" i="0" u="none" strike="noStrike">
                        <a:solidFill>
                          <a:srgbClr val="000000"/>
                        </a:solidFill>
                        <a:effectLst/>
                        <a:latin typeface="Tahoma" panose="020B0604030504040204" pitchFamily="34" charset="0"/>
                      </a:endParaRPr>
                    </a:p>
                  </a:txBody>
                  <a:tcPr marL="5867" marR="5867" marT="5867" marB="0" anchor="ctr">
                    <a:lnB w="12700" cap="flat" cmpd="sng" algn="ctr">
                      <a:solidFill>
                        <a:schemeClr val="tx1"/>
                      </a:solidFill>
                      <a:prstDash val="solid"/>
                      <a:round/>
                      <a:headEnd type="none" w="med" len="med"/>
                      <a:tailEnd type="none" w="med" len="med"/>
                    </a:lnB>
                    <a:solidFill>
                      <a:schemeClr val="accent6"/>
                    </a:solidFill>
                  </a:tcPr>
                </a:tc>
                <a:tc>
                  <a:txBody>
                    <a:bodyPr/>
                    <a:lstStyle/>
                    <a:p>
                      <a:pPr algn="l" fontAlgn="b">
                        <a:buNone/>
                      </a:pPr>
                      <a:r>
                        <a:rPr lang="en-IN" sz="1000" u="none" strike="noStrike">
                          <a:effectLst/>
                        </a:rPr>
                        <a:t>             60 </a:t>
                      </a:r>
                      <a:endParaRPr lang="en-IN" sz="1000" b="0" i="0" u="none" strike="noStrike">
                        <a:solidFill>
                          <a:srgbClr val="000000"/>
                        </a:solidFill>
                        <a:effectLst/>
                        <a:latin typeface="Tahoma" panose="020B0604030504040204" pitchFamily="34" charset="0"/>
                      </a:endParaRPr>
                    </a:p>
                  </a:txBody>
                  <a:tcPr marL="5867" marR="5867" marT="5867" marB="0" anchor="ctr">
                    <a:lnB w="12700" cap="flat" cmpd="sng" algn="ctr">
                      <a:solidFill>
                        <a:schemeClr val="tx1"/>
                      </a:solidFill>
                      <a:prstDash val="solid"/>
                      <a:round/>
                      <a:headEnd type="none" w="med" len="med"/>
                      <a:tailEnd type="none" w="med" len="med"/>
                    </a:lnB>
                    <a:solidFill>
                      <a:schemeClr val="accent6"/>
                    </a:solidFill>
                  </a:tcPr>
                </a:tc>
                <a:tc>
                  <a:txBody>
                    <a:bodyPr/>
                    <a:lstStyle/>
                    <a:p>
                      <a:pPr algn="l" fontAlgn="b">
                        <a:buNone/>
                      </a:pPr>
                      <a:r>
                        <a:rPr lang="en-IN" sz="1000" u="none" strike="noStrike">
                          <a:effectLst/>
                        </a:rPr>
                        <a:t>             60 </a:t>
                      </a:r>
                      <a:endParaRPr lang="en-IN" sz="1000" b="0" i="0" u="none" strike="noStrike">
                        <a:solidFill>
                          <a:srgbClr val="000000"/>
                        </a:solidFill>
                        <a:effectLst/>
                        <a:latin typeface="Tahoma" panose="020B0604030504040204" pitchFamily="34" charset="0"/>
                      </a:endParaRPr>
                    </a:p>
                  </a:txBody>
                  <a:tcPr marL="5867" marR="5867" marT="5867" marB="0" anchor="ctr">
                    <a:lnB w="12700" cap="flat" cmpd="sng" algn="ctr">
                      <a:solidFill>
                        <a:schemeClr val="tx1"/>
                      </a:solidFill>
                      <a:prstDash val="solid"/>
                      <a:round/>
                      <a:headEnd type="none" w="med" len="med"/>
                      <a:tailEnd type="none" w="med" len="med"/>
                    </a:lnB>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lnB w="12700" cap="flat" cmpd="sng" algn="ctr">
                      <a:solidFill>
                        <a:schemeClr val="tx1"/>
                      </a:solidFill>
                      <a:prstDash val="solid"/>
                      <a:round/>
                      <a:headEnd type="none" w="med" len="med"/>
                      <a:tailEnd type="none" w="med" len="med"/>
                    </a:lnB>
                    <a:solidFill>
                      <a:schemeClr val="accent6"/>
                    </a:solidFill>
                  </a:tcPr>
                </a:tc>
                <a:tc>
                  <a:txBody>
                    <a:bodyPr/>
                    <a:lstStyle/>
                    <a:p>
                      <a:pPr algn="l" fontAlgn="b">
                        <a:buNone/>
                      </a:pPr>
                      <a:r>
                        <a:rPr lang="en-IN" sz="1000" u="none" strike="noStrike">
                          <a:effectLst/>
                        </a:rPr>
                        <a:t>             -   </a:t>
                      </a:r>
                      <a:endParaRPr lang="en-IN" sz="1000" b="0" i="0" u="none" strike="noStrike">
                        <a:solidFill>
                          <a:srgbClr val="000000"/>
                        </a:solidFill>
                        <a:effectLst/>
                        <a:latin typeface="Tahoma" panose="020B0604030504040204" pitchFamily="34" charset="0"/>
                      </a:endParaRPr>
                    </a:p>
                  </a:txBody>
                  <a:tcPr marL="5867" marR="5867" marT="5867"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603105760"/>
                  </a:ext>
                </a:extLst>
              </a:tr>
            </a:tbl>
          </a:graphicData>
        </a:graphic>
      </p:graphicFrame>
      <p:sp>
        <p:nvSpPr>
          <p:cNvPr id="9" name="TextBox 8">
            <a:extLst>
              <a:ext uri="{FF2B5EF4-FFF2-40B4-BE49-F238E27FC236}">
                <a16:creationId xmlns:a16="http://schemas.microsoft.com/office/drawing/2014/main" id="{AF396270-FCD0-C4F3-2DA3-127F0F615E91}"/>
              </a:ext>
            </a:extLst>
          </p:cNvPr>
          <p:cNvSpPr txBox="1"/>
          <p:nvPr/>
        </p:nvSpPr>
        <p:spPr>
          <a:xfrm>
            <a:off x="6740843" y="2912684"/>
            <a:ext cx="5212146" cy="3202209"/>
          </a:xfrm>
          <a:prstGeom prst="rect">
            <a:avLst/>
          </a:prstGeom>
          <a:noFill/>
          <a:ln>
            <a:solidFill>
              <a:schemeClr val="tx1"/>
            </a:solidFill>
          </a:ln>
        </p:spPr>
        <p:txBody>
          <a:bodyPr wrap="square" lIns="216000" tIns="108000" rIns="144000" bIns="45720" anchor="t">
            <a:spAutoFit/>
          </a:bodyPr>
          <a:lstStyle/>
          <a:p>
            <a:pPr>
              <a:buNone/>
            </a:pPr>
            <a:r>
              <a:rPr lang="en-US" sz="1600" b="1"/>
              <a:t>Step 1 – </a:t>
            </a:r>
            <a:r>
              <a:rPr lang="en-US" sz="1500" b="1"/>
              <a:t>Baseline</a:t>
            </a:r>
            <a:endParaRPr lang="en-US" sz="1500"/>
          </a:p>
          <a:p>
            <a:pPr marL="285750" indent="-285750">
              <a:buFont typeface="Arial" panose="020B0604020202020204" pitchFamily="34" charset="0"/>
              <a:buChar char="•"/>
            </a:pPr>
            <a:r>
              <a:rPr lang="en-US" sz="1500"/>
              <a:t>Roll forward generated separately for Separate, General, and Total Accounts</a:t>
            </a:r>
          </a:p>
          <a:p>
            <a:pPr marL="285750" indent="-285750">
              <a:buFont typeface="Arial" panose="020B0604020202020204" pitchFamily="34" charset="0"/>
              <a:buChar char="•"/>
            </a:pPr>
            <a:r>
              <a:rPr lang="en-US" sz="1500"/>
              <a:t>Initial unexplained variance identified</a:t>
            </a:r>
            <a:endParaRPr lang="en-US" sz="1500">
              <a:ea typeface="Calibri"/>
              <a:cs typeface="Calibri"/>
            </a:endParaRPr>
          </a:p>
          <a:p>
            <a:pPr>
              <a:buNone/>
            </a:pPr>
            <a:r>
              <a:rPr lang="en-US" sz="1600" b="1"/>
              <a:t>Step 2 – </a:t>
            </a:r>
            <a:r>
              <a:rPr lang="en-US" sz="1500" b="1"/>
              <a:t>Attribution</a:t>
            </a:r>
            <a:endParaRPr lang="en-US" sz="1500"/>
          </a:p>
          <a:p>
            <a:pPr marL="285750" indent="-285750">
              <a:buFont typeface="Arial" panose="020B0604020202020204" pitchFamily="34" charset="0"/>
              <a:buChar char="•"/>
            </a:pPr>
            <a:r>
              <a:rPr lang="en-US" sz="1500"/>
              <a:t>Separate Account validated as stable</a:t>
            </a:r>
            <a:endParaRPr lang="en-US" sz="1500">
              <a:ea typeface="Calibri"/>
              <a:cs typeface="Calibri"/>
            </a:endParaRPr>
          </a:p>
          <a:p>
            <a:pPr marL="285750" indent="-285750">
              <a:buFont typeface="Arial" panose="020B0604020202020204" pitchFamily="34" charset="0"/>
              <a:buChar char="•"/>
            </a:pPr>
            <a:r>
              <a:rPr lang="en-US" sz="1500"/>
              <a:t>Variance traced to General Account by line item</a:t>
            </a:r>
          </a:p>
          <a:p>
            <a:pPr>
              <a:buNone/>
            </a:pPr>
            <a:r>
              <a:rPr lang="en-US" sz="1600" b="1"/>
              <a:t>Step 3 – </a:t>
            </a:r>
            <a:r>
              <a:rPr lang="en-US" sz="1500" b="1"/>
              <a:t>Alignment</a:t>
            </a:r>
            <a:endParaRPr lang="en-US" sz="1500"/>
          </a:p>
          <a:p>
            <a:pPr marL="285750" indent="-285750">
              <a:buFont typeface="Arial" panose="020B0604020202020204" pitchFamily="34" charset="0"/>
              <a:buChar char="•"/>
            </a:pPr>
            <a:r>
              <a:rPr lang="en-US" sz="1500"/>
              <a:t>Model logic updated in General Account</a:t>
            </a:r>
          </a:p>
          <a:p>
            <a:pPr marL="285750" indent="-285750">
              <a:buFont typeface="Arial" panose="020B0604020202020204" pitchFamily="34" charset="0"/>
              <a:buChar char="•"/>
            </a:pPr>
            <a:r>
              <a:rPr lang="en-US" sz="1500"/>
              <a:t>Variance shifts from unexplained to explained line items</a:t>
            </a:r>
          </a:p>
          <a:p>
            <a:pPr>
              <a:buNone/>
            </a:pPr>
            <a:r>
              <a:rPr lang="en-US" sz="1500" b="1"/>
              <a:t>Final Check</a:t>
            </a:r>
            <a:endParaRPr lang="en-US" sz="1500"/>
          </a:p>
          <a:p>
            <a:pPr marL="285750" indent="-285750">
              <a:buFont typeface="Arial" panose="020B0604020202020204" pitchFamily="34" charset="0"/>
              <a:buChar char="•"/>
            </a:pPr>
            <a:r>
              <a:rPr lang="en-US" sz="1500"/>
              <a:t>Unexplained variance in Total Account</a:t>
            </a:r>
            <a:br>
              <a:rPr lang="en-US" sz="1500"/>
            </a:br>
            <a:r>
              <a:rPr lang="en-US" sz="1500"/>
              <a:t>= General Account variance + Separate Account variance</a:t>
            </a:r>
          </a:p>
        </p:txBody>
      </p:sp>
      <p:sp>
        <p:nvSpPr>
          <p:cNvPr id="5" name="TextBox 4">
            <a:extLst>
              <a:ext uri="{FF2B5EF4-FFF2-40B4-BE49-F238E27FC236}">
                <a16:creationId xmlns:a16="http://schemas.microsoft.com/office/drawing/2014/main" id="{F83616F8-595E-C6A5-3231-2B4CC11494A4}"/>
              </a:ext>
            </a:extLst>
          </p:cNvPr>
          <p:cNvSpPr txBox="1"/>
          <p:nvPr/>
        </p:nvSpPr>
        <p:spPr>
          <a:xfrm>
            <a:off x="4799332" y="2487302"/>
            <a:ext cx="2876172" cy="307777"/>
          </a:xfrm>
          <a:prstGeom prst="rect">
            <a:avLst/>
          </a:prstGeom>
          <a:noFill/>
        </p:spPr>
        <p:txBody>
          <a:bodyPr wrap="none" lIns="91440" tIns="45720" rIns="91440" bIns="45720" rtlCol="0" anchor="t">
            <a:spAutoFit/>
          </a:bodyPr>
          <a:lstStyle/>
          <a:p>
            <a:r>
              <a:rPr lang="en-US" sz="1400" b="1" u="sng"/>
              <a:t>Simplistic  Example explained below</a:t>
            </a:r>
            <a:endParaRPr lang="en-IN" sz="1400" b="1" u="sng">
              <a:ea typeface="Calibri"/>
              <a:cs typeface="Calibri"/>
            </a:endParaRPr>
          </a:p>
        </p:txBody>
      </p:sp>
    </p:spTree>
    <p:extLst>
      <p:ext uri="{BB962C8B-B14F-4D97-AF65-F5344CB8AC3E}">
        <p14:creationId xmlns:p14="http://schemas.microsoft.com/office/powerpoint/2010/main" val="29787890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457200" y="543491"/>
            <a:ext cx="11277600" cy="370909"/>
          </a:xfrm>
          <a:noFill/>
          <a:ln>
            <a:noFill/>
          </a:ln>
        </p:spPr>
        <p:txBody>
          <a:bodyPr spcFirstLastPara="1" vert="horz" wrap="square" lIns="0" tIns="0" rIns="0" bIns="0" rtlCol="0" anchor="t" anchorCtr="0">
            <a:noAutofit/>
          </a:bodyPr>
          <a:lstStyle/>
          <a:p>
            <a:pPr>
              <a:buClr>
                <a:schemeClr val="dk1"/>
              </a:buClr>
              <a:buSzPts val="3200"/>
              <a:buFont typeface="Calibri"/>
            </a:pPr>
            <a:r>
              <a:rPr lang="en-US" sz="2800"/>
              <a:t>Group Rater Modeling - Short Term Disability / Long Term Disability</a:t>
            </a:r>
          </a:p>
        </p:txBody>
      </p:sp>
      <p:sp>
        <p:nvSpPr>
          <p:cNvPr id="4" name="Text Placeholder 3"/>
          <p:cNvSpPr>
            <a:spLocks noGrp="1"/>
          </p:cNvSpPr>
          <p:nvPr>
            <p:ph type="body" sz="quarter" idx="15"/>
          </p:nvPr>
        </p:nvSpPr>
        <p:spPr/>
        <p:txBody>
          <a:bodyPr/>
          <a:lstStyle/>
          <a:p>
            <a:r>
              <a:rPr lang="en-US">
                <a:solidFill>
                  <a:srgbClr val="005071"/>
                </a:solidFill>
              </a:rPr>
              <a:t>Case Example:  Group Rater Modeling Process</a:t>
            </a:r>
          </a:p>
        </p:txBody>
      </p:sp>
      <p:sp>
        <p:nvSpPr>
          <p:cNvPr id="181" name="Rectangle 180">
            <a:extLst>
              <a:ext uri="{FF2B5EF4-FFF2-40B4-BE49-F238E27FC236}">
                <a16:creationId xmlns:a16="http://schemas.microsoft.com/office/drawing/2014/main" id="{2E697B93-042E-4A2C-9981-1BDE8CDEDC73}"/>
              </a:ext>
            </a:extLst>
          </p:cNvPr>
          <p:cNvSpPr/>
          <p:nvPr/>
        </p:nvSpPr>
        <p:spPr>
          <a:xfrm>
            <a:off x="268070" y="885444"/>
            <a:ext cx="11657229" cy="307777"/>
          </a:xfrm>
          <a:prstGeom prst="rect">
            <a:avLst/>
          </a:prstGeom>
        </p:spPr>
        <p:txBody>
          <a:bodyPr wrap="square">
            <a:spAutoFit/>
          </a:bodyPr>
          <a:lstStyle/>
          <a:p>
            <a:pPr lvl="0">
              <a:defRPr/>
            </a:pPr>
            <a:r>
              <a:rPr kumimoji="0" lang="en-US" sz="1400" b="1" i="0" u="none" strike="noStrike" kern="0" cap="none" spc="0" normalizeH="0" baseline="0" noProof="0">
                <a:ln>
                  <a:noFill/>
                </a:ln>
                <a:solidFill>
                  <a:srgbClr val="005071"/>
                </a:solidFill>
                <a:effectLst/>
                <a:uLnTx/>
                <a:uFillTx/>
                <a:latin typeface="Calibri" panose="020F0502020204030204"/>
                <a:ea typeface="+mn-ea"/>
                <a:cs typeface="+mn-cs"/>
              </a:rPr>
              <a:t>Modelling Team </a:t>
            </a:r>
            <a:r>
              <a:rPr lang="en-US" sz="1400" b="1" kern="0">
                <a:solidFill>
                  <a:srgbClr val="005071"/>
                </a:solidFill>
                <a:latin typeface="Calibri" panose="020F0502020204030204"/>
              </a:rPr>
              <a:t>developed an integrated and user-friendly system </a:t>
            </a:r>
            <a:r>
              <a:rPr lang="en-US" sz="1400" b="1" kern="0">
                <a:solidFill>
                  <a:srgbClr val="005071"/>
                </a:solidFill>
              </a:rPr>
              <a:t>to enable Sales team to provide instant quotations and increase client conversion rates.</a:t>
            </a:r>
          </a:p>
        </p:txBody>
      </p:sp>
      <p:graphicFrame>
        <p:nvGraphicFramePr>
          <p:cNvPr id="182" name="Table 181">
            <a:extLst>
              <a:ext uri="{FF2B5EF4-FFF2-40B4-BE49-F238E27FC236}">
                <a16:creationId xmlns:a16="http://schemas.microsoft.com/office/drawing/2014/main" id="{7057D141-95FC-4D2B-AA5E-62A10FDB16DF}"/>
              </a:ext>
            </a:extLst>
          </p:cNvPr>
          <p:cNvGraphicFramePr>
            <a:graphicFrameLocks noGrp="1"/>
          </p:cNvGraphicFramePr>
          <p:nvPr/>
        </p:nvGraphicFramePr>
        <p:xfrm>
          <a:off x="321286" y="1200402"/>
          <a:ext cx="1425850" cy="370840"/>
        </p:xfrm>
        <a:graphic>
          <a:graphicData uri="http://schemas.openxmlformats.org/drawingml/2006/table">
            <a:tbl>
              <a:tblPr firstRow="1" bandRow="1"/>
              <a:tblGrid>
                <a:gridCol w="1425850">
                  <a:extLst>
                    <a:ext uri="{9D8B030D-6E8A-4147-A177-3AD203B41FA5}">
                      <a16:colId xmlns:a16="http://schemas.microsoft.com/office/drawing/2014/main" val="20000"/>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r>
                        <a:rPr lang="en-US" sz="1600" b="1">
                          <a:solidFill>
                            <a:srgbClr val="005071"/>
                          </a:solidFill>
                        </a:rPr>
                        <a:t>Background</a:t>
                      </a:r>
                      <a:endParaRPr lang="en-US" sz="2000" b="1">
                        <a:solidFill>
                          <a:srgbClr val="005071"/>
                        </a:solidFill>
                      </a:endParaRPr>
                    </a:p>
                  </a:txBody>
                  <a:tcPr marL="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183" name="Table 182">
            <a:extLst>
              <a:ext uri="{FF2B5EF4-FFF2-40B4-BE49-F238E27FC236}">
                <a16:creationId xmlns:a16="http://schemas.microsoft.com/office/drawing/2014/main" id="{3CC89FCE-B057-42AE-8EDE-AA7E1C197606}"/>
              </a:ext>
            </a:extLst>
          </p:cNvPr>
          <p:cNvGraphicFramePr>
            <a:graphicFrameLocks noGrp="1"/>
          </p:cNvGraphicFramePr>
          <p:nvPr/>
        </p:nvGraphicFramePr>
        <p:xfrm>
          <a:off x="3534693" y="1189929"/>
          <a:ext cx="2482088" cy="370840"/>
        </p:xfrm>
        <a:graphic>
          <a:graphicData uri="http://schemas.openxmlformats.org/drawingml/2006/table">
            <a:tbl>
              <a:tblPr firstRow="1" bandRow="1"/>
              <a:tblGrid>
                <a:gridCol w="2482088">
                  <a:extLst>
                    <a:ext uri="{9D8B030D-6E8A-4147-A177-3AD203B41FA5}">
                      <a16:colId xmlns:a16="http://schemas.microsoft.com/office/drawing/2014/main" val="20000"/>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r>
                        <a:rPr lang="en-US" sz="1600" b="1">
                          <a:solidFill>
                            <a:srgbClr val="005071"/>
                          </a:solidFill>
                        </a:rPr>
                        <a:t>Application Process Flow</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cxnSp>
        <p:nvCxnSpPr>
          <p:cNvPr id="184" name="Straight Connector 183">
            <a:extLst>
              <a:ext uri="{FF2B5EF4-FFF2-40B4-BE49-F238E27FC236}">
                <a16:creationId xmlns:a16="http://schemas.microsoft.com/office/drawing/2014/main" id="{9F6AFDD4-E350-4693-A38E-D87C0D1C721E}"/>
              </a:ext>
            </a:extLst>
          </p:cNvPr>
          <p:cNvCxnSpPr/>
          <p:nvPr/>
        </p:nvCxnSpPr>
        <p:spPr>
          <a:xfrm>
            <a:off x="3427558" y="1560981"/>
            <a:ext cx="0" cy="4781620"/>
          </a:xfrm>
          <a:prstGeom prst="line">
            <a:avLst/>
          </a:prstGeom>
          <a:noFill/>
          <a:ln w="6350" cap="flat" cmpd="sng" algn="ctr">
            <a:solidFill>
              <a:srgbClr val="DBDBDB"/>
            </a:solidFill>
            <a:prstDash val="solid"/>
            <a:miter lim="800000"/>
          </a:ln>
          <a:effectLst/>
        </p:spPr>
      </p:cxnSp>
      <p:graphicFrame>
        <p:nvGraphicFramePr>
          <p:cNvPr id="185" name="Table 184">
            <a:extLst>
              <a:ext uri="{FF2B5EF4-FFF2-40B4-BE49-F238E27FC236}">
                <a16:creationId xmlns:a16="http://schemas.microsoft.com/office/drawing/2014/main" id="{26992B89-63E8-44F1-9DE4-267C547D1803}"/>
              </a:ext>
            </a:extLst>
          </p:cNvPr>
          <p:cNvGraphicFramePr>
            <a:graphicFrameLocks noGrp="1"/>
          </p:cNvGraphicFramePr>
          <p:nvPr/>
        </p:nvGraphicFramePr>
        <p:xfrm>
          <a:off x="10355124" y="1218716"/>
          <a:ext cx="1176742" cy="370840"/>
        </p:xfrm>
        <a:graphic>
          <a:graphicData uri="http://schemas.openxmlformats.org/drawingml/2006/table">
            <a:tbl>
              <a:tblPr firstRow="1" bandRow="1"/>
              <a:tblGrid>
                <a:gridCol w="1176742">
                  <a:extLst>
                    <a:ext uri="{9D8B030D-6E8A-4147-A177-3AD203B41FA5}">
                      <a16:colId xmlns:a16="http://schemas.microsoft.com/office/drawing/2014/main" val="20000"/>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r>
                        <a:rPr lang="en-US" sz="1600" b="1">
                          <a:solidFill>
                            <a:srgbClr val="005071"/>
                          </a:solidFill>
                        </a:rPr>
                        <a:t>Technology</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186" name="Rectangle 37">
            <a:extLst>
              <a:ext uri="{FF2B5EF4-FFF2-40B4-BE49-F238E27FC236}">
                <a16:creationId xmlns:a16="http://schemas.microsoft.com/office/drawing/2014/main" id="{6B67F419-3520-43E5-9F8F-5F6771E88297}"/>
              </a:ext>
            </a:extLst>
          </p:cNvPr>
          <p:cNvSpPr>
            <a:spLocks noChangeArrowheads="1"/>
          </p:cNvSpPr>
          <p:nvPr/>
        </p:nvSpPr>
        <p:spPr bwMode="gray">
          <a:xfrm>
            <a:off x="321286" y="1584165"/>
            <a:ext cx="3045368" cy="2429459"/>
          </a:xfrm>
          <a:prstGeom prst="rect">
            <a:avLst/>
          </a:prstGeom>
          <a:solidFill>
            <a:srgbClr val="FFFFFF"/>
          </a:solidFill>
          <a:ln w="9525">
            <a:noFill/>
            <a:miter lim="800000"/>
            <a:headEnd/>
            <a:tailEnd/>
          </a:ln>
          <a:effectLst/>
        </p:spPr>
        <p:txBody>
          <a:bodyPr lIns="0" tIns="45714" rIns="45714" bIns="45714"/>
          <a:lstStyle/>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US" sz="1100" kern="0">
                <a:solidFill>
                  <a:prstClr val="black"/>
                </a:solidFill>
                <a:latin typeface="Calibri" panose="020F0502020204030204"/>
                <a:cs typeface="Arial" panose="020B0604020202020204" pitchFamily="34" charset="0"/>
              </a:rPr>
              <a:t>Old system was based on VBA and had higher dependency on production team. Model Run time to provide premium quotes was in weeks and it does not provide intermediate calculations for STAT OFFSET plans.</a:t>
            </a: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endParaRPr kumimoji="0" lang="en-US" sz="1100" b="0" i="0" u="none" strike="noStrike" kern="0" cap="none" spc="0" normalizeH="0" baseline="0" noProof="0">
              <a:ln>
                <a:noFill/>
              </a:ln>
              <a:solidFill>
                <a:prstClr val="black"/>
              </a:solidFill>
              <a:effectLst/>
              <a:uLnTx/>
              <a:uFillTx/>
              <a:latin typeface="Calibri" panose="020F0502020204030204"/>
              <a:ea typeface="+mn-ea"/>
              <a:cs typeface="Arial" panose="020B0604020202020204" pitchFamily="34" charset="0"/>
            </a:endParaRPr>
          </a:p>
          <a:p>
            <a:pPr marL="0" marR="0" lvl="1" indent="0" algn="l" defTabSz="914400" rtl="0" eaLnBrk="1" fontAlgn="auto" latinLnBrk="0" hangingPunct="1">
              <a:lnSpc>
                <a:spcPct val="100000"/>
              </a:lnSpc>
              <a:spcBef>
                <a:spcPts val="0"/>
              </a:spcBef>
              <a:spcAft>
                <a:spcPts val="0"/>
              </a:spcAft>
              <a:buClr>
                <a:srgbClr val="676767"/>
              </a:buClr>
              <a:buSzPct val="100000"/>
              <a:buFontTx/>
              <a:buNone/>
              <a:tabLst/>
              <a:defRPr/>
            </a:pPr>
            <a:r>
              <a:rPr kumimoji="0" lang="en-US" sz="1600" b="1" i="0" u="none" strike="noStrike" kern="0" cap="none" spc="0" normalizeH="0" baseline="0" noProof="0">
                <a:ln>
                  <a:noFill/>
                </a:ln>
                <a:solidFill>
                  <a:srgbClr val="005071"/>
                </a:solidFill>
                <a:effectLst/>
                <a:uLnTx/>
                <a:uFillTx/>
                <a:latin typeface="Calibri" panose="020F0502020204030204"/>
                <a:ea typeface="+mn-ea"/>
                <a:cs typeface="Arial" panose="020B0604020202020204" pitchFamily="34" charset="0"/>
              </a:rPr>
              <a:t>Key Objectives</a:t>
            </a:r>
            <a:r>
              <a:rPr kumimoji="0" lang="en-US" sz="1600" b="0" i="0" u="none" strike="noStrike" kern="0" cap="none" spc="0" normalizeH="0" baseline="0" noProof="0">
                <a:ln>
                  <a:noFill/>
                </a:ln>
                <a:solidFill>
                  <a:srgbClr val="005071"/>
                </a:solidFill>
                <a:effectLst/>
                <a:uLnTx/>
                <a:uFillTx/>
                <a:latin typeface="Calibri" panose="020F0502020204030204"/>
                <a:ea typeface="+mn-ea"/>
                <a:cs typeface="Arial" panose="020B0604020202020204" pitchFamily="34" charset="0"/>
              </a:rPr>
              <a:t>:</a:t>
            </a:r>
          </a:p>
          <a:p>
            <a:pPr marL="182880" marR="0" lvl="0" indent="-182880" algn="l" defTabSz="914400" rtl="0" eaLnBrk="1" fontAlgn="auto" latinLnBrk="0" hangingPunct="1">
              <a:lnSpc>
                <a:spcPct val="100000"/>
              </a:lnSpc>
              <a:spcBef>
                <a:spcPts val="300"/>
              </a:spcBef>
              <a:spcAft>
                <a:spcPts val="0"/>
              </a:spcAft>
              <a:buClr>
                <a:srgbClr val="FB4D0A"/>
              </a:buClr>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Calibri" panose="020F0502020204030204"/>
                <a:ea typeface="+mn-ea"/>
                <a:cs typeface="Arial" panose="020B0604020202020204" pitchFamily="34" charset="0"/>
              </a:rPr>
              <a:t>Develop easy to use/modifiable application.</a:t>
            </a:r>
          </a:p>
          <a:p>
            <a:pPr marL="182880" marR="0" lvl="0" indent="-182880" algn="l" defTabSz="914400" rtl="0" eaLnBrk="1" fontAlgn="auto" latinLnBrk="0" hangingPunct="1">
              <a:lnSpc>
                <a:spcPct val="100000"/>
              </a:lnSpc>
              <a:spcBef>
                <a:spcPts val="300"/>
              </a:spcBef>
              <a:spcAft>
                <a:spcPts val="0"/>
              </a:spcAft>
              <a:buClr>
                <a:srgbClr val="FB4D0A"/>
              </a:buClr>
              <a:buSzTx/>
              <a:buFont typeface="Arial" panose="020B0604020202020204" pitchFamily="34" charset="0"/>
              <a:buChar char="•"/>
              <a:tabLst/>
              <a:defRPr/>
            </a:pPr>
            <a:r>
              <a:rPr lang="en-US" sz="1100" kern="0">
                <a:solidFill>
                  <a:prstClr val="black"/>
                </a:solidFill>
                <a:latin typeface="Calibri" panose="020F0502020204030204"/>
                <a:cs typeface="Arial" panose="020B0604020202020204" pitchFamily="34" charset="0"/>
              </a:rPr>
              <a:t>Reduce the run time significantly.</a:t>
            </a:r>
          </a:p>
          <a:p>
            <a:pPr marL="182880" marR="0" lvl="0" indent="-182880" algn="l" defTabSz="914400" rtl="0" eaLnBrk="1" fontAlgn="auto" latinLnBrk="0" hangingPunct="1">
              <a:lnSpc>
                <a:spcPct val="100000"/>
              </a:lnSpc>
              <a:spcBef>
                <a:spcPts val="300"/>
              </a:spcBef>
              <a:spcAft>
                <a:spcPts val="0"/>
              </a:spcAft>
              <a:buClr>
                <a:srgbClr val="FB4D0A"/>
              </a:buClr>
              <a:buSzTx/>
              <a:buFont typeface="Arial" panose="020B0604020202020204" pitchFamily="34" charset="0"/>
              <a:buChar char="•"/>
              <a:tabLst/>
              <a:defRPr/>
            </a:pPr>
            <a:r>
              <a:rPr lang="en-US" sz="1100" kern="0">
                <a:solidFill>
                  <a:prstClr val="black"/>
                </a:solidFill>
                <a:latin typeface="Calibri" panose="020F0502020204030204"/>
                <a:cs typeface="Arial" panose="020B0604020202020204" pitchFamily="34" charset="0"/>
              </a:rPr>
              <a:t>Develop proper documentation for future use/updates.</a:t>
            </a:r>
          </a:p>
          <a:p>
            <a:pPr marL="182880" marR="0" lvl="0" indent="-182880" algn="l" defTabSz="914400" rtl="0" eaLnBrk="1" fontAlgn="auto" latinLnBrk="0" hangingPunct="1">
              <a:lnSpc>
                <a:spcPct val="100000"/>
              </a:lnSpc>
              <a:spcBef>
                <a:spcPts val="300"/>
              </a:spcBef>
              <a:spcAft>
                <a:spcPts val="0"/>
              </a:spcAft>
              <a:buClr>
                <a:srgbClr val="FB4D0A"/>
              </a:buClr>
              <a:buSzTx/>
              <a:buFont typeface="Arial" panose="020B0604020202020204" pitchFamily="34" charset="0"/>
              <a:buChar char="•"/>
              <a:tabLst/>
              <a:defRPr/>
            </a:pPr>
            <a:r>
              <a:rPr lang="en-US" sz="1100" kern="0">
                <a:solidFill>
                  <a:prstClr val="black"/>
                </a:solidFill>
                <a:latin typeface="Calibri" panose="020F0502020204030204"/>
                <a:cs typeface="Arial" panose="020B0604020202020204" pitchFamily="34" charset="0"/>
              </a:rPr>
              <a:t>Provide standardized reports and dashboards for real-time insights.</a:t>
            </a:r>
          </a:p>
        </p:txBody>
      </p:sp>
      <p:pic>
        <p:nvPicPr>
          <p:cNvPr id="188" name="Picture 187">
            <a:extLst>
              <a:ext uri="{FF2B5EF4-FFF2-40B4-BE49-F238E27FC236}">
                <a16:creationId xmlns:a16="http://schemas.microsoft.com/office/drawing/2014/main" id="{6417E362-3BAF-46B0-879F-00366C409A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09667" y="1761337"/>
            <a:ext cx="957155" cy="292989"/>
          </a:xfrm>
          <a:prstGeom prst="rect">
            <a:avLst/>
          </a:prstGeom>
        </p:spPr>
      </p:pic>
      <p:pic>
        <p:nvPicPr>
          <p:cNvPr id="196" name="Picture 195">
            <a:extLst>
              <a:ext uri="{FF2B5EF4-FFF2-40B4-BE49-F238E27FC236}">
                <a16:creationId xmlns:a16="http://schemas.microsoft.com/office/drawing/2014/main" id="{E4858B54-35D0-4585-9916-C576A61DA15C}"/>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0591775" y="3122374"/>
            <a:ext cx="557784" cy="585216"/>
          </a:xfrm>
          <a:prstGeom prst="rect">
            <a:avLst/>
          </a:prstGeom>
        </p:spPr>
      </p:pic>
      <p:graphicFrame>
        <p:nvGraphicFramePr>
          <p:cNvPr id="197" name="Table 196">
            <a:extLst>
              <a:ext uri="{FF2B5EF4-FFF2-40B4-BE49-F238E27FC236}">
                <a16:creationId xmlns:a16="http://schemas.microsoft.com/office/drawing/2014/main" id="{96AA6AA1-362A-49EC-9574-65916370760F}"/>
              </a:ext>
            </a:extLst>
          </p:cNvPr>
          <p:cNvGraphicFramePr>
            <a:graphicFrameLocks noGrp="1"/>
          </p:cNvGraphicFramePr>
          <p:nvPr/>
        </p:nvGraphicFramePr>
        <p:xfrm>
          <a:off x="10169510" y="3918813"/>
          <a:ext cx="1554429" cy="370840"/>
        </p:xfrm>
        <a:graphic>
          <a:graphicData uri="http://schemas.openxmlformats.org/drawingml/2006/table">
            <a:tbl>
              <a:tblPr firstRow="1" bandRow="1"/>
              <a:tblGrid>
                <a:gridCol w="1554429">
                  <a:extLst>
                    <a:ext uri="{9D8B030D-6E8A-4147-A177-3AD203B41FA5}">
                      <a16:colId xmlns:a16="http://schemas.microsoft.com/office/drawing/2014/main" val="20000"/>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r>
                        <a:rPr lang="en-US" sz="1400" b="1">
                          <a:solidFill>
                            <a:schemeClr val="accent1"/>
                          </a:solidFill>
                        </a:rPr>
                        <a:t>Value Proposition</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198" name="TextBox 197">
            <a:extLst>
              <a:ext uri="{FF2B5EF4-FFF2-40B4-BE49-F238E27FC236}">
                <a16:creationId xmlns:a16="http://schemas.microsoft.com/office/drawing/2014/main" id="{D6032BF2-2A1D-40D6-AB04-BAC6158DF2C2}"/>
              </a:ext>
            </a:extLst>
          </p:cNvPr>
          <p:cNvSpPr txBox="1"/>
          <p:nvPr/>
        </p:nvSpPr>
        <p:spPr>
          <a:xfrm>
            <a:off x="9774386" y="4286955"/>
            <a:ext cx="2196995" cy="1679947"/>
          </a:xfrm>
          <a:prstGeom prst="rect">
            <a:avLst/>
          </a:prstGeom>
          <a:noFill/>
          <a:ln>
            <a:noFill/>
          </a:ln>
        </p:spPr>
        <p:txBody>
          <a:bodyPr wrap="square" rtlCol="0">
            <a:spAutoFit/>
          </a:bodyPr>
          <a:lstStyle/>
          <a:p>
            <a:pPr marL="171450" marR="0" lvl="1" indent="-171450" algn="l" defTabSz="914400" rtl="0" eaLnBrk="1" fontAlgn="base" latinLnBrk="0" hangingPunct="1">
              <a:lnSpc>
                <a:spcPct val="100000"/>
              </a:lnSpc>
              <a:spcBef>
                <a:spcPts val="0"/>
              </a:spcBef>
              <a:spcAft>
                <a:spcPts val="100"/>
              </a:spcAft>
              <a:buClr>
                <a:srgbClr val="FF6503"/>
              </a:buClr>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a:t>
            </a:r>
            <a:r>
              <a:rPr lang="en-US" sz="1100">
                <a:solidFill>
                  <a:prstClr val="black"/>
                </a:solidFill>
                <a:latin typeface="Calibri" panose="020F0502020204030204"/>
                <a:cs typeface="Arial" panose="020B0604020202020204" pitchFamily="34" charset="0"/>
              </a:rPr>
              <a:t>90</a:t>
            </a:r>
            <a:r>
              <a:rPr kumimoji="0" lang="en-US" sz="11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-95% reduction in runtime with higher accuracy</a:t>
            </a:r>
          </a:p>
          <a:p>
            <a:pPr marL="171450" marR="0" lvl="1" indent="-171450" algn="l" defTabSz="914400" rtl="0" eaLnBrk="1" fontAlgn="base" latinLnBrk="0" hangingPunct="1">
              <a:lnSpc>
                <a:spcPct val="100000"/>
              </a:lnSpc>
              <a:spcBef>
                <a:spcPts val="0"/>
              </a:spcBef>
              <a:spcAft>
                <a:spcPts val="100"/>
              </a:spcAft>
              <a:buClr>
                <a:srgbClr val="FF6503"/>
              </a:buClr>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Develop easy to use API</a:t>
            </a:r>
          </a:p>
          <a:p>
            <a:pPr marL="171450" marR="0" lvl="1" indent="-171450" algn="l" defTabSz="914400" rtl="0" eaLnBrk="1" fontAlgn="base" latinLnBrk="0" hangingPunct="1">
              <a:lnSpc>
                <a:spcPct val="100000"/>
              </a:lnSpc>
              <a:spcBef>
                <a:spcPts val="0"/>
              </a:spcBef>
              <a:spcAft>
                <a:spcPts val="100"/>
              </a:spcAft>
              <a:buClr>
                <a:srgbClr val="FF6503"/>
              </a:buClr>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Easy integration </a:t>
            </a:r>
            <a:r>
              <a:rPr lang="en-US" sz="1100">
                <a:solidFill>
                  <a:prstClr val="black"/>
                </a:solidFill>
                <a:latin typeface="Calibri" panose="020F0502020204030204"/>
                <a:cs typeface="Arial" panose="020B0604020202020204" pitchFamily="34" charset="0"/>
              </a:rPr>
              <a:t>with tools like Power BI</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a:p>
            <a:pPr marL="171450" marR="0" lvl="1" indent="-171450" algn="l" defTabSz="914400" rtl="0" eaLnBrk="1" fontAlgn="base" latinLnBrk="0" hangingPunct="1">
              <a:lnSpc>
                <a:spcPct val="100000"/>
              </a:lnSpc>
              <a:spcBef>
                <a:spcPts val="0"/>
              </a:spcBef>
              <a:spcAft>
                <a:spcPts val="100"/>
              </a:spcAft>
              <a:buClr>
                <a:srgbClr val="FF6503"/>
              </a:buClr>
              <a:buSzPct val="100000"/>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Calibri" panose="020F0502020204030204"/>
                <a:ea typeface="+mn-ea"/>
                <a:cs typeface="+mn-cs"/>
              </a:rPr>
              <a:t>Scalable framework</a:t>
            </a:r>
          </a:p>
          <a:p>
            <a:pPr marL="171450" marR="0" lvl="1" indent="-171450" algn="l" defTabSz="914400" rtl="0" eaLnBrk="1" fontAlgn="base" latinLnBrk="0" hangingPunct="1">
              <a:lnSpc>
                <a:spcPct val="100000"/>
              </a:lnSpc>
              <a:spcBef>
                <a:spcPts val="0"/>
              </a:spcBef>
              <a:spcAft>
                <a:spcPts val="100"/>
              </a:spcAft>
              <a:buClr>
                <a:srgbClr val="FF6503"/>
              </a:buClr>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Optimized &amp; leaner code</a:t>
            </a:r>
          </a:p>
          <a:p>
            <a:pPr marL="171450" marR="0" lvl="1" indent="-171450" algn="l" defTabSz="914400" rtl="0" eaLnBrk="1" fontAlgn="base" latinLnBrk="0" hangingPunct="1">
              <a:lnSpc>
                <a:spcPct val="100000"/>
              </a:lnSpc>
              <a:spcBef>
                <a:spcPts val="0"/>
              </a:spcBef>
              <a:spcAft>
                <a:spcPts val="100"/>
              </a:spcAft>
              <a:buClr>
                <a:srgbClr val="FF6503"/>
              </a:buClr>
              <a:buSzPct val="10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Feasible model/assumption updates</a:t>
            </a:r>
            <a:endParaRPr kumimoji="0" lang="en-US" sz="11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99" name="TextBox 198">
            <a:extLst>
              <a:ext uri="{FF2B5EF4-FFF2-40B4-BE49-F238E27FC236}">
                <a16:creationId xmlns:a16="http://schemas.microsoft.com/office/drawing/2014/main" id="{541BC989-B3C3-43E0-BEC6-81B96A1E47FA}"/>
              </a:ext>
            </a:extLst>
          </p:cNvPr>
          <p:cNvSpPr txBox="1"/>
          <p:nvPr/>
        </p:nvSpPr>
        <p:spPr>
          <a:xfrm>
            <a:off x="3789624" y="1769501"/>
            <a:ext cx="1907534" cy="507831"/>
          </a:xfrm>
          <a:prstGeom prst="rect">
            <a:avLst/>
          </a:prstGeom>
          <a:noFill/>
        </p:spPr>
        <p:txBody>
          <a:bodyPr wrap="square" rtlCol="0">
            <a:spAutoFit/>
          </a:bodyPr>
          <a:lstStyle/>
          <a:p>
            <a:pPr lvl="0" algn="ctr">
              <a:defRPr/>
            </a:pPr>
            <a:r>
              <a:rPr lang="en-US" sz="900">
                <a:solidFill>
                  <a:srgbClr val="000000"/>
                </a:solidFill>
              </a:rPr>
              <a:t>Dataiku (using SQL queries) is used to fetch and integrate data from other database systems.</a:t>
            </a:r>
          </a:p>
        </p:txBody>
      </p:sp>
      <p:sp>
        <p:nvSpPr>
          <p:cNvPr id="200" name="Rectangle: Top Corners Rounded 5">
            <a:extLst>
              <a:ext uri="{FF2B5EF4-FFF2-40B4-BE49-F238E27FC236}">
                <a16:creationId xmlns:a16="http://schemas.microsoft.com/office/drawing/2014/main" id="{C7A72754-9786-4F8B-8447-3B4D2162827B}"/>
              </a:ext>
            </a:extLst>
          </p:cNvPr>
          <p:cNvSpPr/>
          <p:nvPr/>
        </p:nvSpPr>
        <p:spPr>
          <a:xfrm>
            <a:off x="3788767" y="2386914"/>
            <a:ext cx="1951630" cy="597594"/>
          </a:xfrm>
          <a:prstGeom prst="roundRect">
            <a:avLst>
              <a:gd name="adj" fmla="val 12232"/>
            </a:avLst>
          </a:prstGeom>
          <a:solidFill>
            <a:schemeClr val="tx2">
              <a:lumMod val="40000"/>
              <a:lumOff val="6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01" name="TextBox 200">
            <a:extLst>
              <a:ext uri="{FF2B5EF4-FFF2-40B4-BE49-F238E27FC236}">
                <a16:creationId xmlns:a16="http://schemas.microsoft.com/office/drawing/2014/main" id="{14647703-ED09-4CEC-A4C7-69A4FE24F3BD}"/>
              </a:ext>
            </a:extLst>
          </p:cNvPr>
          <p:cNvSpPr txBox="1"/>
          <p:nvPr/>
        </p:nvSpPr>
        <p:spPr>
          <a:xfrm>
            <a:off x="3984495" y="2538314"/>
            <a:ext cx="1582484"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effectLst/>
                <a:uLnTx/>
                <a:uFillTx/>
                <a:latin typeface="Calibri" panose="020F0502020204030204"/>
                <a:ea typeface="+mn-ea"/>
                <a:cs typeface="+mn-cs"/>
              </a:rPr>
              <a:t>Database system 1</a:t>
            </a:r>
          </a:p>
        </p:txBody>
      </p:sp>
      <p:sp>
        <p:nvSpPr>
          <p:cNvPr id="202" name="Rectangle: Top Corners Rounded 26">
            <a:extLst>
              <a:ext uri="{FF2B5EF4-FFF2-40B4-BE49-F238E27FC236}">
                <a16:creationId xmlns:a16="http://schemas.microsoft.com/office/drawing/2014/main" id="{48CADED7-5E08-430F-8C35-DEA16E1FD45F}"/>
              </a:ext>
            </a:extLst>
          </p:cNvPr>
          <p:cNvSpPr/>
          <p:nvPr/>
        </p:nvSpPr>
        <p:spPr>
          <a:xfrm>
            <a:off x="3792644" y="3668390"/>
            <a:ext cx="1951630" cy="597594"/>
          </a:xfrm>
          <a:prstGeom prst="roundRect">
            <a:avLst>
              <a:gd name="adj" fmla="val 7797"/>
            </a:avLst>
          </a:prstGeom>
          <a:solidFill>
            <a:schemeClr val="tx2">
              <a:lumMod val="40000"/>
              <a:lumOff val="6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05" name="Rectangle: Top Corners Rounded 44">
            <a:extLst>
              <a:ext uri="{FF2B5EF4-FFF2-40B4-BE49-F238E27FC236}">
                <a16:creationId xmlns:a16="http://schemas.microsoft.com/office/drawing/2014/main" id="{8CD1F221-878A-460D-B47F-B93F016034A9}"/>
              </a:ext>
            </a:extLst>
          </p:cNvPr>
          <p:cNvSpPr/>
          <p:nvPr/>
        </p:nvSpPr>
        <p:spPr>
          <a:xfrm>
            <a:off x="3792644" y="4951441"/>
            <a:ext cx="1951630" cy="597594"/>
          </a:xfrm>
          <a:prstGeom prst="roundRect">
            <a:avLst>
              <a:gd name="adj" fmla="val 12232"/>
            </a:avLst>
          </a:prstGeom>
          <a:solidFill>
            <a:schemeClr val="tx2">
              <a:lumMod val="40000"/>
              <a:lumOff val="6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2"/>
              </a:solidFill>
              <a:effectLst/>
              <a:uLnTx/>
              <a:uFillTx/>
              <a:latin typeface="Calibri" panose="020F0502020204030204"/>
              <a:ea typeface="+mn-ea"/>
              <a:cs typeface="+mn-cs"/>
            </a:endParaRPr>
          </a:p>
        </p:txBody>
      </p:sp>
      <p:sp>
        <p:nvSpPr>
          <p:cNvPr id="206" name="TextBox 205">
            <a:extLst>
              <a:ext uri="{FF2B5EF4-FFF2-40B4-BE49-F238E27FC236}">
                <a16:creationId xmlns:a16="http://schemas.microsoft.com/office/drawing/2014/main" id="{37F4DC6E-5FA9-4993-A2BE-87AFED0EACF9}"/>
              </a:ext>
            </a:extLst>
          </p:cNvPr>
          <p:cNvSpPr txBox="1"/>
          <p:nvPr/>
        </p:nvSpPr>
        <p:spPr>
          <a:xfrm>
            <a:off x="3939204" y="5085440"/>
            <a:ext cx="1595309"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effectLst/>
                <a:uLnTx/>
                <a:uFillTx/>
                <a:latin typeface="Calibri" panose="020F0502020204030204"/>
                <a:ea typeface="+mn-ea"/>
                <a:cs typeface="+mn-cs"/>
              </a:rPr>
              <a:t>Database System 3</a:t>
            </a:r>
          </a:p>
        </p:txBody>
      </p:sp>
      <p:sp>
        <p:nvSpPr>
          <p:cNvPr id="208" name="Rectangle: Top Corners Rounded 47">
            <a:extLst>
              <a:ext uri="{FF2B5EF4-FFF2-40B4-BE49-F238E27FC236}">
                <a16:creationId xmlns:a16="http://schemas.microsoft.com/office/drawing/2014/main" id="{3AF8FBD0-67B7-49BC-B061-D9E8CE5ACD4A}"/>
              </a:ext>
            </a:extLst>
          </p:cNvPr>
          <p:cNvSpPr/>
          <p:nvPr/>
        </p:nvSpPr>
        <p:spPr>
          <a:xfrm>
            <a:off x="6491189" y="2263908"/>
            <a:ext cx="1825909" cy="839015"/>
          </a:xfrm>
          <a:prstGeom prst="roundRect">
            <a:avLst>
              <a:gd name="adj" fmla="val 10349"/>
            </a:avLst>
          </a:prstGeom>
          <a:solidFill>
            <a:srgbClr val="80808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09" name="TextBox 208">
            <a:extLst>
              <a:ext uri="{FF2B5EF4-FFF2-40B4-BE49-F238E27FC236}">
                <a16:creationId xmlns:a16="http://schemas.microsoft.com/office/drawing/2014/main" id="{FA5779D1-E7A0-4907-ACB7-851105966899}"/>
              </a:ext>
            </a:extLst>
          </p:cNvPr>
          <p:cNvSpPr txBox="1"/>
          <p:nvPr/>
        </p:nvSpPr>
        <p:spPr>
          <a:xfrm>
            <a:off x="7032984" y="2527368"/>
            <a:ext cx="764953"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FFFFFF"/>
                </a:solidFill>
                <a:effectLst/>
                <a:uLnTx/>
                <a:uFillTx/>
                <a:latin typeface="Calibri" panose="020F0502020204030204"/>
                <a:ea typeface="+mn-ea"/>
                <a:cs typeface="+mn-cs"/>
              </a:rPr>
              <a:t>Dataiku</a:t>
            </a:r>
          </a:p>
        </p:txBody>
      </p:sp>
      <p:sp>
        <p:nvSpPr>
          <p:cNvPr id="210" name="Rectangle: Top Corners Rounded 50">
            <a:extLst>
              <a:ext uri="{FF2B5EF4-FFF2-40B4-BE49-F238E27FC236}">
                <a16:creationId xmlns:a16="http://schemas.microsoft.com/office/drawing/2014/main" id="{1D213BE5-E475-477A-9744-79DF2AB8850B}"/>
              </a:ext>
            </a:extLst>
          </p:cNvPr>
          <p:cNvSpPr/>
          <p:nvPr/>
        </p:nvSpPr>
        <p:spPr>
          <a:xfrm>
            <a:off x="6502507" y="3572526"/>
            <a:ext cx="1825909" cy="666021"/>
          </a:xfrm>
          <a:prstGeom prst="roundRect">
            <a:avLst>
              <a:gd name="adj" fmla="val 8708"/>
            </a:avLst>
          </a:prstGeom>
          <a:solidFill>
            <a:srgbClr val="DBDBD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11" name="TextBox 210">
            <a:extLst>
              <a:ext uri="{FF2B5EF4-FFF2-40B4-BE49-F238E27FC236}">
                <a16:creationId xmlns:a16="http://schemas.microsoft.com/office/drawing/2014/main" id="{3B6D22A6-0DFE-4532-818F-009D82F0569C}"/>
              </a:ext>
            </a:extLst>
          </p:cNvPr>
          <p:cNvSpPr txBox="1"/>
          <p:nvPr/>
        </p:nvSpPr>
        <p:spPr>
          <a:xfrm>
            <a:off x="6789517" y="3577193"/>
            <a:ext cx="1234393" cy="646331"/>
          </a:xfrm>
          <a:prstGeom prst="rect">
            <a:avLst/>
          </a:prstGeom>
          <a:noFill/>
        </p:spPr>
        <p:txBody>
          <a:bodyPr wrap="square" rtlCol="0">
            <a:spAutoFit/>
          </a:bodyPr>
          <a:lstStyle/>
          <a:p>
            <a:pPr lvl="0" algn="ctr">
              <a:defRPr/>
            </a:pPr>
            <a:r>
              <a:rPr lang="en-US" sz="1200" b="1" kern="0">
                <a:solidFill>
                  <a:srgbClr val="000000"/>
                </a:solidFill>
              </a:rPr>
              <a:t>Dataiku</a:t>
            </a:r>
          </a:p>
          <a:p>
            <a:pPr lvl="0" algn="ctr">
              <a:defRPr/>
            </a:pPr>
            <a:r>
              <a:rPr lang="en-US" sz="1200" b="1" kern="0">
                <a:solidFill>
                  <a:srgbClr val="000000"/>
                </a:solidFill>
              </a:rPr>
              <a:t>(STAT OFFSET calculation)</a:t>
            </a:r>
          </a:p>
        </p:txBody>
      </p:sp>
      <p:sp>
        <p:nvSpPr>
          <p:cNvPr id="212" name="Rectangle: Top Corners Rounded 53">
            <a:extLst>
              <a:ext uri="{FF2B5EF4-FFF2-40B4-BE49-F238E27FC236}">
                <a16:creationId xmlns:a16="http://schemas.microsoft.com/office/drawing/2014/main" id="{32452DE9-3385-4E93-80AD-7CA4973E71E9}"/>
              </a:ext>
            </a:extLst>
          </p:cNvPr>
          <p:cNvSpPr/>
          <p:nvPr/>
        </p:nvSpPr>
        <p:spPr>
          <a:xfrm>
            <a:off x="6502507" y="4770576"/>
            <a:ext cx="1825909" cy="801039"/>
          </a:xfrm>
          <a:prstGeom prst="roundRect">
            <a:avLst>
              <a:gd name="adj" fmla="val 8395"/>
            </a:avLst>
          </a:prstGeom>
          <a:solidFill>
            <a:srgbClr val="41414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13" name="TextBox 212">
            <a:extLst>
              <a:ext uri="{FF2B5EF4-FFF2-40B4-BE49-F238E27FC236}">
                <a16:creationId xmlns:a16="http://schemas.microsoft.com/office/drawing/2014/main" id="{C202CEDD-D494-437B-9BE4-F8939817D839}"/>
              </a:ext>
            </a:extLst>
          </p:cNvPr>
          <p:cNvSpPr txBox="1"/>
          <p:nvPr/>
        </p:nvSpPr>
        <p:spPr>
          <a:xfrm>
            <a:off x="6712268" y="4938451"/>
            <a:ext cx="1364476" cy="461665"/>
          </a:xfrm>
          <a:prstGeom prst="rect">
            <a:avLst/>
          </a:prstGeom>
          <a:noFill/>
        </p:spPr>
        <p:txBody>
          <a:bodyPr wrap="none" rtlCol="0">
            <a:spAutoFit/>
          </a:bodyPr>
          <a:lstStyle/>
          <a:p>
            <a:pPr lvl="0" algn="ctr">
              <a:defRPr/>
            </a:pPr>
            <a:r>
              <a:rPr lang="en-US" sz="1200" b="1" kern="0">
                <a:solidFill>
                  <a:srgbClr val="FFFFFF"/>
                </a:solidFill>
              </a:rPr>
              <a:t>Dataiku</a:t>
            </a:r>
          </a:p>
          <a:p>
            <a:pPr lvl="0" algn="ctr">
              <a:defRPr/>
            </a:pPr>
            <a:r>
              <a:rPr lang="en-US" sz="1200" b="1" kern="0">
                <a:solidFill>
                  <a:srgbClr val="FFFFFF"/>
                </a:solidFill>
              </a:rPr>
              <a:t>(Premium Quotes)</a:t>
            </a:r>
          </a:p>
        </p:txBody>
      </p:sp>
      <p:sp>
        <p:nvSpPr>
          <p:cNvPr id="215" name="TextBox 214">
            <a:extLst>
              <a:ext uri="{FF2B5EF4-FFF2-40B4-BE49-F238E27FC236}">
                <a16:creationId xmlns:a16="http://schemas.microsoft.com/office/drawing/2014/main" id="{C5FE1C6F-C675-417F-AA94-50FE6DB7A8B8}"/>
              </a:ext>
            </a:extLst>
          </p:cNvPr>
          <p:cNvSpPr txBox="1"/>
          <p:nvPr/>
        </p:nvSpPr>
        <p:spPr>
          <a:xfrm>
            <a:off x="8542061" y="5513123"/>
            <a:ext cx="1177190" cy="461665"/>
          </a:xfrm>
          <a:prstGeom prst="rect">
            <a:avLst/>
          </a:prstGeom>
          <a:noFill/>
        </p:spPr>
        <p:txBody>
          <a:bodyPr wrap="square" rtlCol="0">
            <a:spAutoFit/>
          </a:bodyPr>
          <a:lstStyle>
            <a:defPPr>
              <a:defRPr lang="en-US"/>
            </a:defPPr>
            <a:lvl1pPr algn="ctr">
              <a:defRPr sz="1400" b="1">
                <a:solidFill>
                  <a:srgbClr val="FD956D"/>
                </a:solidFill>
                <a:latin typeface="+mj-lt"/>
              </a:defRPr>
            </a:lvl1pPr>
          </a:lstStyle>
          <a:p>
            <a:pPr lvl="0">
              <a:defRPr/>
            </a:pPr>
            <a:r>
              <a:rPr lang="en-US" sz="1200" kern="0">
                <a:solidFill>
                  <a:srgbClr val="000000"/>
                </a:solidFill>
                <a:latin typeface="Calibri" panose="020F0502020204030204"/>
              </a:rPr>
              <a:t>Final Reports</a:t>
            </a:r>
          </a:p>
          <a:p>
            <a:pPr lvl="0">
              <a:defRPr/>
            </a:pPr>
            <a:r>
              <a:rPr lang="en-US" sz="1200" kern="0">
                <a:solidFill>
                  <a:srgbClr val="000000"/>
                </a:solidFill>
                <a:latin typeface="Calibri" panose="020F0502020204030204"/>
              </a:rPr>
              <a:t>/ Dashboards</a:t>
            </a:r>
          </a:p>
        </p:txBody>
      </p:sp>
      <p:cxnSp>
        <p:nvCxnSpPr>
          <p:cNvPr id="216" name="Straight Arrow Connector 215">
            <a:extLst>
              <a:ext uri="{FF2B5EF4-FFF2-40B4-BE49-F238E27FC236}">
                <a16:creationId xmlns:a16="http://schemas.microsoft.com/office/drawing/2014/main" id="{BD46EC26-C597-44EC-B6BF-94641AAEEE34}"/>
              </a:ext>
            </a:extLst>
          </p:cNvPr>
          <p:cNvCxnSpPr>
            <a:cxnSpLocks/>
            <a:stCxn id="200" idx="3"/>
          </p:cNvCxnSpPr>
          <p:nvPr/>
        </p:nvCxnSpPr>
        <p:spPr>
          <a:xfrm>
            <a:off x="5740397" y="2685711"/>
            <a:ext cx="665838" cy="0"/>
          </a:xfrm>
          <a:prstGeom prst="straightConnector1">
            <a:avLst/>
          </a:prstGeom>
          <a:noFill/>
          <a:ln w="6350" cap="flat" cmpd="sng" algn="ctr">
            <a:solidFill>
              <a:srgbClr val="FB4E0B"/>
            </a:solidFill>
            <a:prstDash val="solid"/>
            <a:miter lim="800000"/>
            <a:tailEnd type="triangle"/>
          </a:ln>
          <a:effectLst/>
        </p:spPr>
      </p:cxnSp>
      <p:cxnSp>
        <p:nvCxnSpPr>
          <p:cNvPr id="217" name="Straight Arrow Connector 216">
            <a:extLst>
              <a:ext uri="{FF2B5EF4-FFF2-40B4-BE49-F238E27FC236}">
                <a16:creationId xmlns:a16="http://schemas.microsoft.com/office/drawing/2014/main" id="{34A83938-474A-4E7C-BD3F-4B439DD45943}"/>
              </a:ext>
            </a:extLst>
          </p:cNvPr>
          <p:cNvCxnSpPr>
            <a:cxnSpLocks/>
            <a:stCxn id="208" idx="2"/>
            <a:endCxn id="211" idx="0"/>
          </p:cNvCxnSpPr>
          <p:nvPr/>
        </p:nvCxnSpPr>
        <p:spPr>
          <a:xfrm>
            <a:off x="7404144" y="3102923"/>
            <a:ext cx="2570" cy="474270"/>
          </a:xfrm>
          <a:prstGeom prst="straightConnector1">
            <a:avLst/>
          </a:prstGeom>
          <a:noFill/>
          <a:ln w="6350" cap="flat" cmpd="sng" algn="ctr">
            <a:solidFill>
              <a:srgbClr val="FB4E0B"/>
            </a:solidFill>
            <a:prstDash val="solid"/>
            <a:miter lim="800000"/>
            <a:tailEnd type="triangle"/>
          </a:ln>
          <a:effectLst/>
        </p:spPr>
      </p:cxnSp>
      <p:cxnSp>
        <p:nvCxnSpPr>
          <p:cNvPr id="218" name="Straight Arrow Connector 217">
            <a:extLst>
              <a:ext uri="{FF2B5EF4-FFF2-40B4-BE49-F238E27FC236}">
                <a16:creationId xmlns:a16="http://schemas.microsoft.com/office/drawing/2014/main" id="{B0146515-154E-47B0-A207-8BEF299EF6E0}"/>
              </a:ext>
            </a:extLst>
          </p:cNvPr>
          <p:cNvCxnSpPr>
            <a:cxnSpLocks/>
            <a:stCxn id="210" idx="2"/>
            <a:endCxn id="212" idx="0"/>
          </p:cNvCxnSpPr>
          <p:nvPr/>
        </p:nvCxnSpPr>
        <p:spPr>
          <a:xfrm>
            <a:off x="7415462" y="4238547"/>
            <a:ext cx="0" cy="532029"/>
          </a:xfrm>
          <a:prstGeom prst="straightConnector1">
            <a:avLst/>
          </a:prstGeom>
          <a:noFill/>
          <a:ln w="6350" cap="flat" cmpd="sng" algn="ctr">
            <a:solidFill>
              <a:srgbClr val="FB4E0B"/>
            </a:solidFill>
            <a:prstDash val="solid"/>
            <a:miter lim="800000"/>
            <a:tailEnd type="triangle"/>
          </a:ln>
          <a:effectLst/>
        </p:spPr>
      </p:cxnSp>
      <p:cxnSp>
        <p:nvCxnSpPr>
          <p:cNvPr id="223" name="Straight Arrow Connector 222">
            <a:extLst>
              <a:ext uri="{FF2B5EF4-FFF2-40B4-BE49-F238E27FC236}">
                <a16:creationId xmlns:a16="http://schemas.microsoft.com/office/drawing/2014/main" id="{DE5248A2-F5CD-498E-AB02-A4980DFCEAF0}"/>
              </a:ext>
            </a:extLst>
          </p:cNvPr>
          <p:cNvCxnSpPr>
            <a:cxnSpLocks/>
            <a:stCxn id="205" idx="3"/>
          </p:cNvCxnSpPr>
          <p:nvPr/>
        </p:nvCxnSpPr>
        <p:spPr>
          <a:xfrm flipV="1">
            <a:off x="5744274" y="3189610"/>
            <a:ext cx="758233" cy="2060628"/>
          </a:xfrm>
          <a:prstGeom prst="straightConnector1">
            <a:avLst/>
          </a:prstGeom>
          <a:noFill/>
          <a:ln w="6350" cap="flat" cmpd="sng" algn="ctr">
            <a:solidFill>
              <a:srgbClr val="FB4E0B"/>
            </a:solidFill>
            <a:prstDash val="solid"/>
            <a:miter lim="800000"/>
            <a:tailEnd type="triangle"/>
          </a:ln>
          <a:effectLst/>
        </p:spPr>
      </p:cxnSp>
      <p:cxnSp>
        <p:nvCxnSpPr>
          <p:cNvPr id="224" name="Straight Arrow Connector 223">
            <a:extLst>
              <a:ext uri="{FF2B5EF4-FFF2-40B4-BE49-F238E27FC236}">
                <a16:creationId xmlns:a16="http://schemas.microsoft.com/office/drawing/2014/main" id="{8E1FD052-8F58-4725-8127-C605B3BC2066}"/>
              </a:ext>
            </a:extLst>
          </p:cNvPr>
          <p:cNvCxnSpPr>
            <a:cxnSpLocks/>
            <a:stCxn id="202" idx="3"/>
          </p:cNvCxnSpPr>
          <p:nvPr/>
        </p:nvCxnSpPr>
        <p:spPr>
          <a:xfrm flipV="1">
            <a:off x="5744274" y="2837217"/>
            <a:ext cx="665838" cy="1129970"/>
          </a:xfrm>
          <a:prstGeom prst="straightConnector1">
            <a:avLst/>
          </a:prstGeom>
          <a:noFill/>
          <a:ln w="6350" cap="flat" cmpd="sng" algn="ctr">
            <a:solidFill>
              <a:srgbClr val="FB4E0B"/>
            </a:solidFill>
            <a:prstDash val="solid"/>
            <a:miter lim="800000"/>
            <a:tailEnd type="triangle"/>
          </a:ln>
          <a:effectLst/>
        </p:spPr>
      </p:cxnSp>
      <p:sp>
        <p:nvSpPr>
          <p:cNvPr id="225" name="Rectangle 224">
            <a:extLst>
              <a:ext uri="{FF2B5EF4-FFF2-40B4-BE49-F238E27FC236}">
                <a16:creationId xmlns:a16="http://schemas.microsoft.com/office/drawing/2014/main" id="{708A916F-806D-47DB-B4F3-8F05F8FC6353}"/>
              </a:ext>
            </a:extLst>
          </p:cNvPr>
          <p:cNvSpPr/>
          <p:nvPr/>
        </p:nvSpPr>
        <p:spPr>
          <a:xfrm>
            <a:off x="3495997" y="3860094"/>
            <a:ext cx="507548" cy="244336"/>
          </a:xfrm>
          <a:prstGeom prst="rect">
            <a:avLst/>
          </a:prstGeom>
          <a:solidFill>
            <a:srgbClr val="414141"/>
          </a:solid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26" name="TextBox 225">
            <a:extLst>
              <a:ext uri="{FF2B5EF4-FFF2-40B4-BE49-F238E27FC236}">
                <a16:creationId xmlns:a16="http://schemas.microsoft.com/office/drawing/2014/main" id="{FE2ED5C4-EB2D-4A98-9511-3A7A39CA215F}"/>
              </a:ext>
            </a:extLst>
          </p:cNvPr>
          <p:cNvSpPr txBox="1"/>
          <p:nvPr/>
        </p:nvSpPr>
        <p:spPr>
          <a:xfrm>
            <a:off x="3511452" y="3832359"/>
            <a:ext cx="48256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Calibri" panose="020F0502020204030204"/>
                <a:ea typeface="+mn-ea"/>
                <a:cs typeface="+mn-cs"/>
              </a:rPr>
              <a:t>Start</a:t>
            </a:r>
          </a:p>
        </p:txBody>
      </p:sp>
      <p:grpSp>
        <p:nvGrpSpPr>
          <p:cNvPr id="228" name="Group 227">
            <a:extLst>
              <a:ext uri="{FF2B5EF4-FFF2-40B4-BE49-F238E27FC236}">
                <a16:creationId xmlns:a16="http://schemas.microsoft.com/office/drawing/2014/main" id="{D140B254-B6B8-48D3-8455-87592C19E063}"/>
              </a:ext>
            </a:extLst>
          </p:cNvPr>
          <p:cNvGrpSpPr/>
          <p:nvPr/>
        </p:nvGrpSpPr>
        <p:grpSpPr>
          <a:xfrm>
            <a:off x="8778903" y="4828983"/>
            <a:ext cx="703506" cy="684223"/>
            <a:chOff x="6502507" y="5872937"/>
            <a:chExt cx="703506" cy="780277"/>
          </a:xfrm>
        </p:grpSpPr>
        <p:sp>
          <p:nvSpPr>
            <p:cNvPr id="229" name="Flowchart: Magnetic Disk 228">
              <a:extLst>
                <a:ext uri="{FF2B5EF4-FFF2-40B4-BE49-F238E27FC236}">
                  <a16:creationId xmlns:a16="http://schemas.microsoft.com/office/drawing/2014/main" id="{295D54EB-C0E2-4C2B-B664-ED2B3D57CF68}"/>
                </a:ext>
              </a:extLst>
            </p:cNvPr>
            <p:cNvSpPr/>
            <p:nvPr/>
          </p:nvSpPr>
          <p:spPr>
            <a:xfrm>
              <a:off x="6502507" y="6328315"/>
              <a:ext cx="703506" cy="324899"/>
            </a:xfrm>
            <a:prstGeom prst="flowChartMagneticDisk">
              <a:avLst/>
            </a:prstGeom>
            <a:solidFill>
              <a:srgbClr val="FFFFFF">
                <a:lumMod val="50000"/>
              </a:srgbClr>
            </a:solid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30" name="Flowchart: Magnetic Disk 229">
              <a:extLst>
                <a:ext uri="{FF2B5EF4-FFF2-40B4-BE49-F238E27FC236}">
                  <a16:creationId xmlns:a16="http://schemas.microsoft.com/office/drawing/2014/main" id="{0C04A5AC-8EEE-4099-8105-69047FA96DAF}"/>
                </a:ext>
              </a:extLst>
            </p:cNvPr>
            <p:cNvSpPr/>
            <p:nvPr/>
          </p:nvSpPr>
          <p:spPr>
            <a:xfrm>
              <a:off x="6502507" y="6101817"/>
              <a:ext cx="703506" cy="324899"/>
            </a:xfrm>
            <a:prstGeom prst="flowChartMagneticDisk">
              <a:avLst/>
            </a:prstGeom>
            <a:solidFill>
              <a:srgbClr val="FFFFFF">
                <a:lumMod val="50000"/>
              </a:srgbClr>
            </a:solid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31" name="Flowchart: Magnetic Disk 230">
              <a:extLst>
                <a:ext uri="{FF2B5EF4-FFF2-40B4-BE49-F238E27FC236}">
                  <a16:creationId xmlns:a16="http://schemas.microsoft.com/office/drawing/2014/main" id="{11C30FC0-FC40-4E1B-A07D-1CC0CBAEE8D0}"/>
                </a:ext>
              </a:extLst>
            </p:cNvPr>
            <p:cNvSpPr/>
            <p:nvPr/>
          </p:nvSpPr>
          <p:spPr>
            <a:xfrm>
              <a:off x="6502507" y="5872937"/>
              <a:ext cx="703506" cy="324899"/>
            </a:xfrm>
            <a:prstGeom prst="flowChartMagneticDisk">
              <a:avLst/>
            </a:prstGeom>
            <a:solidFill>
              <a:srgbClr val="FFFFFF">
                <a:lumMod val="50000"/>
              </a:srgbClr>
            </a:solid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cxnSp>
        <p:nvCxnSpPr>
          <p:cNvPr id="238" name="Straight Connector 237">
            <a:extLst>
              <a:ext uri="{FF2B5EF4-FFF2-40B4-BE49-F238E27FC236}">
                <a16:creationId xmlns:a16="http://schemas.microsoft.com/office/drawing/2014/main" id="{7BFEB09D-5E0B-4AC5-8A6B-FBBC56EB4C72}"/>
              </a:ext>
            </a:extLst>
          </p:cNvPr>
          <p:cNvCxnSpPr/>
          <p:nvPr/>
        </p:nvCxnSpPr>
        <p:spPr>
          <a:xfrm>
            <a:off x="9721552" y="1609733"/>
            <a:ext cx="0" cy="4732868"/>
          </a:xfrm>
          <a:prstGeom prst="line">
            <a:avLst/>
          </a:prstGeom>
          <a:noFill/>
          <a:ln w="6350" cap="flat" cmpd="sng" algn="ctr">
            <a:solidFill>
              <a:srgbClr val="DBDBDB"/>
            </a:solidFill>
            <a:prstDash val="solid"/>
            <a:miter lim="800000"/>
          </a:ln>
          <a:effectLst/>
        </p:spPr>
      </p:cxnSp>
      <p:graphicFrame>
        <p:nvGraphicFramePr>
          <p:cNvPr id="239" name="Table 238">
            <a:extLst>
              <a:ext uri="{FF2B5EF4-FFF2-40B4-BE49-F238E27FC236}">
                <a16:creationId xmlns:a16="http://schemas.microsoft.com/office/drawing/2014/main" id="{82535B66-65CA-4514-816B-7B6BD0071C53}"/>
              </a:ext>
            </a:extLst>
          </p:cNvPr>
          <p:cNvGraphicFramePr>
            <a:graphicFrameLocks noGrp="1"/>
          </p:cNvGraphicFramePr>
          <p:nvPr/>
        </p:nvGraphicFramePr>
        <p:xfrm>
          <a:off x="321286" y="4077320"/>
          <a:ext cx="1425850" cy="370840"/>
        </p:xfrm>
        <a:graphic>
          <a:graphicData uri="http://schemas.openxmlformats.org/drawingml/2006/table">
            <a:tbl>
              <a:tblPr firstRow="1" bandRow="1"/>
              <a:tblGrid>
                <a:gridCol w="1425850">
                  <a:extLst>
                    <a:ext uri="{9D8B030D-6E8A-4147-A177-3AD203B41FA5}">
                      <a16:colId xmlns:a16="http://schemas.microsoft.com/office/drawing/2014/main" val="20000"/>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r>
                        <a:rPr lang="en-US" sz="1600" b="1">
                          <a:solidFill>
                            <a:srgbClr val="005071"/>
                          </a:solidFill>
                        </a:rPr>
                        <a:t>Challenges</a:t>
                      </a:r>
                      <a:endParaRPr lang="en-US" sz="2000" b="1">
                        <a:solidFill>
                          <a:srgbClr val="005071"/>
                        </a:solidFill>
                      </a:endParaRPr>
                    </a:p>
                  </a:txBody>
                  <a:tcPr marL="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240" name="TextBox 239">
            <a:extLst>
              <a:ext uri="{FF2B5EF4-FFF2-40B4-BE49-F238E27FC236}">
                <a16:creationId xmlns:a16="http://schemas.microsoft.com/office/drawing/2014/main" id="{5E2878C3-604E-46E0-B243-3A8F9009BA1F}"/>
              </a:ext>
            </a:extLst>
          </p:cNvPr>
          <p:cNvSpPr txBox="1"/>
          <p:nvPr/>
        </p:nvSpPr>
        <p:spPr>
          <a:xfrm>
            <a:off x="313752" y="4440702"/>
            <a:ext cx="3113805" cy="441078"/>
          </a:xfrm>
          <a:prstGeom prst="rect">
            <a:avLst/>
          </a:prstGeom>
          <a:solidFill>
            <a:srgbClr val="FFFFFF"/>
          </a:solidFill>
          <a:ln w="9525">
            <a:noFill/>
            <a:miter lim="800000"/>
            <a:headEnd/>
            <a:tailEnd/>
          </a:ln>
          <a:effectLst/>
        </p:spPr>
        <p:txBody>
          <a:bodyPr lIns="0" tIns="45714" rIns="45714" bIns="45714"/>
          <a:lstStyle>
            <a:defPPr>
              <a:defRPr lang="en-US"/>
            </a:defPPr>
            <a:lvl1pPr marR="0" lvl="0" indent="0" fontAlgn="auto">
              <a:lnSpc>
                <a:spcPct val="100000"/>
              </a:lnSpc>
              <a:spcBef>
                <a:spcPts val="0"/>
              </a:spcBef>
              <a:spcAft>
                <a:spcPts val="0"/>
              </a:spcAft>
              <a:buClrTx/>
              <a:buSzTx/>
              <a:buFontTx/>
              <a:buNone/>
              <a:tabLst/>
              <a:defRPr kumimoji="0" sz="1100" b="0" u="none" strike="noStrike" cap="none" spc="0" normalizeH="0" baseline="0">
                <a:ln>
                  <a:noFill/>
                </a:ln>
                <a:solidFill>
                  <a:prstClr val="black"/>
                </a:solidFill>
                <a:effectLst/>
                <a:uLnTx/>
                <a:uFillTx/>
                <a:latin typeface="+mj-lt"/>
                <a:cs typeface="Arial" panose="020B0604020202020204" pitchFamily="34" charset="0"/>
              </a:defRPr>
            </a:lvl1pPr>
            <a:lvl2pPr marL="0" marR="0" lvl="1" indent="0" fontAlgn="base">
              <a:lnSpc>
                <a:spcPct val="100000"/>
              </a:lnSpc>
              <a:spcBef>
                <a:spcPts val="0"/>
              </a:spcBef>
              <a:spcAft>
                <a:spcPts val="100"/>
              </a:spcAft>
              <a:buClr>
                <a:srgbClr val="FF6503"/>
              </a:buClr>
              <a:buSzPct val="100000"/>
              <a:buFontTx/>
              <a:buNone/>
              <a:tabLst/>
              <a:defRPr kumimoji="0" sz="1200" b="1" u="none" strike="noStrike" cap="none" spc="0" normalizeH="0" baseline="0">
                <a:ln>
                  <a:noFill/>
                </a:ln>
                <a:solidFill>
                  <a:prstClr val="black"/>
                </a:solidFill>
                <a:effectLst/>
                <a:uLnTx/>
                <a:uFillTx/>
                <a:latin typeface="+mj-lt"/>
                <a:cs typeface="Arial" panose="020B0604020202020204" pitchFamily="34" charset="0"/>
              </a:defRPr>
            </a:lvl2pPr>
          </a:lstStyle>
          <a:p>
            <a:pPr marL="182880" lvl="0" indent="-182880">
              <a:spcBef>
                <a:spcPts val="300"/>
              </a:spcBef>
              <a:buClr>
                <a:srgbClr val="FB4D0A"/>
              </a:buClr>
              <a:buFont typeface="Arial" panose="020B0604020202020204" pitchFamily="34" charset="0"/>
              <a:buChar char="•"/>
              <a:defRPr/>
            </a:pPr>
            <a:r>
              <a:rPr lang="en-US" sz="1050" kern="0">
                <a:latin typeface="Calibri" panose="020F0502020204030204"/>
              </a:rPr>
              <a:t>Lack of model documentation.</a:t>
            </a:r>
          </a:p>
          <a:p>
            <a:pPr marL="182880" lvl="0" indent="-182880">
              <a:spcBef>
                <a:spcPts val="300"/>
              </a:spcBef>
              <a:buClr>
                <a:srgbClr val="FB4D0A"/>
              </a:buClr>
              <a:buFont typeface="Arial" panose="020B0604020202020204" pitchFamily="34" charset="0"/>
              <a:buChar char="•"/>
              <a:defRPr/>
            </a:pPr>
            <a:r>
              <a:rPr lang="en-US" sz="1050" kern="0">
                <a:latin typeface="Calibri" panose="020F0502020204030204"/>
              </a:rPr>
              <a:t>Dependency on Production team for model updates.</a:t>
            </a:r>
          </a:p>
          <a:p>
            <a:pPr marL="182880" lvl="0" indent="-182880">
              <a:spcBef>
                <a:spcPts val="300"/>
              </a:spcBef>
              <a:buClr>
                <a:srgbClr val="FB4D0A"/>
              </a:buClr>
              <a:buFont typeface="Arial" panose="020B0604020202020204" pitchFamily="34" charset="0"/>
              <a:buChar char="•"/>
              <a:defRPr/>
            </a:pPr>
            <a:r>
              <a:rPr lang="en-US" sz="1050" kern="0">
                <a:latin typeface="Calibri" panose="020F0502020204030204"/>
              </a:rPr>
              <a:t>Manually run single quote through MS-access.</a:t>
            </a:r>
          </a:p>
          <a:p>
            <a:pPr marL="182880" lvl="0" indent="-182880">
              <a:spcBef>
                <a:spcPts val="300"/>
              </a:spcBef>
              <a:buClr>
                <a:srgbClr val="FB4D0A"/>
              </a:buClr>
              <a:buFont typeface="Arial" panose="020B0604020202020204" pitchFamily="34" charset="0"/>
              <a:buChar char="•"/>
              <a:defRPr/>
            </a:pPr>
            <a:r>
              <a:rPr lang="en-US" sz="1050" kern="0">
                <a:latin typeface="Calibri" panose="020F0502020204030204"/>
              </a:rPr>
              <a:t>Rating Batch takes multiple weeks of time to run. </a:t>
            </a:r>
          </a:p>
          <a:p>
            <a:pPr marL="182880" lvl="0" indent="-182880">
              <a:spcBef>
                <a:spcPts val="300"/>
              </a:spcBef>
              <a:buClr>
                <a:srgbClr val="FB4D0A"/>
              </a:buClr>
              <a:buFont typeface="Arial" panose="020B0604020202020204" pitchFamily="34" charset="0"/>
              <a:buChar char="•"/>
              <a:defRPr/>
            </a:pPr>
            <a:r>
              <a:rPr lang="en-US" sz="1050" kern="0">
                <a:latin typeface="Calibri" panose="020F0502020204030204"/>
              </a:rPr>
              <a:t>Existing system had few bugs.</a:t>
            </a:r>
          </a:p>
          <a:p>
            <a:pPr marL="182880" lvl="0" indent="-182880">
              <a:spcBef>
                <a:spcPts val="300"/>
              </a:spcBef>
              <a:buClr>
                <a:srgbClr val="FB4D0A"/>
              </a:buClr>
              <a:buFont typeface="Arial" panose="020B0604020202020204" pitchFamily="34" charset="0"/>
              <a:buChar char="•"/>
              <a:defRPr/>
            </a:pPr>
            <a:r>
              <a:rPr lang="en-US" sz="1050" kern="0">
                <a:latin typeface="Calibri" panose="020F0502020204030204"/>
              </a:rPr>
              <a:t>Team does not had access to the intermediate calculations / outputs of STAT OFFSET plans.</a:t>
            </a:r>
          </a:p>
          <a:p>
            <a:pPr marL="182880" lvl="0" indent="-182880">
              <a:spcBef>
                <a:spcPts val="300"/>
              </a:spcBef>
              <a:buClr>
                <a:srgbClr val="FB4D0A"/>
              </a:buClr>
              <a:buFont typeface="Arial" panose="020B0604020202020204" pitchFamily="34" charset="0"/>
              <a:buChar char="•"/>
              <a:defRPr/>
            </a:pPr>
            <a:r>
              <a:rPr lang="en-US" sz="1050" kern="0">
                <a:latin typeface="Calibri" panose="020F0502020204030204"/>
              </a:rPr>
              <a:t>Lack of Standardized results format.</a:t>
            </a:r>
          </a:p>
          <a:p>
            <a:pPr marL="182880" lvl="0" indent="-182880">
              <a:spcBef>
                <a:spcPts val="300"/>
              </a:spcBef>
              <a:buClr>
                <a:srgbClr val="FB4D0A"/>
              </a:buClr>
              <a:buFont typeface="Arial" panose="020B0604020202020204" pitchFamily="34" charset="0"/>
              <a:buChar char="•"/>
              <a:defRPr/>
            </a:pPr>
            <a:r>
              <a:rPr lang="en-US" sz="1050" kern="0">
                <a:latin typeface="Calibri" panose="020F0502020204030204"/>
              </a:rPr>
              <a:t>Manual intervention is required by an underwriter, which is prone to human error, and leads to governance/auditing issues as well. </a:t>
            </a:r>
          </a:p>
          <a:p>
            <a:pPr marL="182880" lvl="0" indent="-182880">
              <a:spcBef>
                <a:spcPts val="300"/>
              </a:spcBef>
              <a:buClr>
                <a:srgbClr val="FB4D0A"/>
              </a:buClr>
              <a:buFont typeface="Arial" panose="020B0604020202020204" pitchFamily="34" charset="0"/>
              <a:buChar char="•"/>
              <a:defRPr/>
            </a:pPr>
            <a:endParaRPr lang="en-US" sz="1050" kern="0">
              <a:latin typeface="Calibri" panose="020F0502020204030204"/>
            </a:endParaRPr>
          </a:p>
          <a:p>
            <a:pPr marL="182880" lvl="0" indent="-182880">
              <a:spcBef>
                <a:spcPts val="300"/>
              </a:spcBef>
              <a:buClr>
                <a:srgbClr val="FB4D0A"/>
              </a:buClr>
              <a:buFont typeface="Arial" panose="020B0604020202020204" pitchFamily="34" charset="0"/>
              <a:buChar char="•"/>
              <a:defRPr/>
            </a:pPr>
            <a:endParaRPr lang="en-US" sz="1050" kern="0">
              <a:latin typeface="Calibri" panose="020F0502020204030204"/>
            </a:endParaRPr>
          </a:p>
          <a:p>
            <a:pPr marL="182880" lvl="0" indent="-182880">
              <a:spcBef>
                <a:spcPts val="300"/>
              </a:spcBef>
              <a:buClr>
                <a:srgbClr val="FB4D0A"/>
              </a:buClr>
              <a:buFont typeface="Arial" panose="020B0604020202020204" pitchFamily="34" charset="0"/>
              <a:buChar char="•"/>
              <a:defRPr/>
            </a:pPr>
            <a:endParaRPr lang="en-US" sz="1050" kern="0">
              <a:latin typeface="Calibri" panose="020F0502020204030204"/>
            </a:endParaRPr>
          </a:p>
          <a:p>
            <a:pPr marL="182880" lvl="0" indent="-182880">
              <a:spcBef>
                <a:spcPts val="300"/>
              </a:spcBef>
              <a:buClr>
                <a:srgbClr val="FB4D0A"/>
              </a:buClr>
              <a:buFont typeface="Arial" panose="020B0604020202020204" pitchFamily="34" charset="0"/>
              <a:buChar char="•"/>
              <a:defRPr/>
            </a:pPr>
            <a:endParaRPr lang="en-US" sz="1050" kern="0">
              <a:latin typeface="Calibri" panose="020F0502020204030204"/>
            </a:endParaRPr>
          </a:p>
        </p:txBody>
      </p:sp>
      <p:sp>
        <p:nvSpPr>
          <p:cNvPr id="2" name="Rectangle 1">
            <a:extLst>
              <a:ext uri="{FF2B5EF4-FFF2-40B4-BE49-F238E27FC236}">
                <a16:creationId xmlns:a16="http://schemas.microsoft.com/office/drawing/2014/main" id="{C8B13EF6-4AA2-EAF1-A505-C8A2E91A9712}"/>
              </a:ext>
            </a:extLst>
          </p:cNvPr>
          <p:cNvSpPr/>
          <p:nvPr/>
        </p:nvSpPr>
        <p:spPr>
          <a:xfrm>
            <a:off x="10367037" y="223168"/>
            <a:ext cx="1824963" cy="253417"/>
          </a:xfrm>
          <a:prstGeom prst="rect">
            <a:avLst/>
          </a:prstGeom>
          <a:solidFill>
            <a:srgbClr val="0050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rPr>
              <a:t>Modeling </a:t>
            </a:r>
          </a:p>
        </p:txBody>
      </p:sp>
      <p:sp>
        <p:nvSpPr>
          <p:cNvPr id="69" name="TextBox 68">
            <a:extLst>
              <a:ext uri="{FF2B5EF4-FFF2-40B4-BE49-F238E27FC236}">
                <a16:creationId xmlns:a16="http://schemas.microsoft.com/office/drawing/2014/main" id="{F3454575-6A1E-4084-A55D-BA48BEE223BF}"/>
              </a:ext>
            </a:extLst>
          </p:cNvPr>
          <p:cNvSpPr txBox="1"/>
          <p:nvPr/>
        </p:nvSpPr>
        <p:spPr>
          <a:xfrm>
            <a:off x="3974981" y="3797902"/>
            <a:ext cx="1582484"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effectLst/>
                <a:uLnTx/>
                <a:uFillTx/>
                <a:latin typeface="Calibri" panose="020F0502020204030204"/>
                <a:ea typeface="+mn-ea"/>
                <a:cs typeface="+mn-cs"/>
              </a:rPr>
              <a:t>Database system 2</a:t>
            </a:r>
          </a:p>
        </p:txBody>
      </p:sp>
      <p:cxnSp>
        <p:nvCxnSpPr>
          <p:cNvPr id="89" name="Straight Arrow Connector 88">
            <a:extLst>
              <a:ext uri="{FF2B5EF4-FFF2-40B4-BE49-F238E27FC236}">
                <a16:creationId xmlns:a16="http://schemas.microsoft.com/office/drawing/2014/main" id="{242C5203-E24F-43D1-A997-6225486AA75D}"/>
              </a:ext>
            </a:extLst>
          </p:cNvPr>
          <p:cNvCxnSpPr>
            <a:cxnSpLocks/>
            <a:stCxn id="212" idx="3"/>
            <a:endCxn id="230" idx="2"/>
          </p:cNvCxnSpPr>
          <p:nvPr/>
        </p:nvCxnSpPr>
        <p:spPr>
          <a:xfrm>
            <a:off x="8328416" y="5171096"/>
            <a:ext cx="450487" cy="1043"/>
          </a:xfrm>
          <a:prstGeom prst="straightConnector1">
            <a:avLst/>
          </a:prstGeom>
          <a:noFill/>
          <a:ln w="6350" cap="flat" cmpd="sng" algn="ctr">
            <a:solidFill>
              <a:srgbClr val="FB4E0B"/>
            </a:solidFill>
            <a:prstDash val="solid"/>
            <a:miter lim="800000"/>
            <a:tailEnd type="triangle"/>
          </a:ln>
          <a:effectLst/>
        </p:spPr>
      </p:cxnSp>
      <p:sp>
        <p:nvSpPr>
          <p:cNvPr id="92" name="Rectangle 91">
            <a:extLst>
              <a:ext uri="{FF2B5EF4-FFF2-40B4-BE49-F238E27FC236}">
                <a16:creationId xmlns:a16="http://schemas.microsoft.com/office/drawing/2014/main" id="{C1339115-A987-4FB9-A336-98EF6D3BF327}"/>
              </a:ext>
            </a:extLst>
          </p:cNvPr>
          <p:cNvSpPr/>
          <p:nvPr/>
        </p:nvSpPr>
        <p:spPr>
          <a:xfrm>
            <a:off x="6464303" y="1740923"/>
            <a:ext cx="2077757" cy="57636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a:lstStyle/>
          <a:p>
            <a:pPr lvl="0" defTabSz="712788" eaLnBrk="0" fontAlgn="base" hangingPunct="0">
              <a:spcBef>
                <a:spcPct val="0"/>
              </a:spcBef>
              <a:spcAft>
                <a:spcPts val="600"/>
              </a:spcAft>
              <a:defRPr/>
            </a:pPr>
            <a:r>
              <a:rPr lang="en-US" sz="900" dirty="0">
                <a:solidFill>
                  <a:schemeClr val="tx1"/>
                </a:solidFill>
              </a:rPr>
              <a:t>Discrete and Organized SQL queries for </a:t>
            </a:r>
            <a:r>
              <a:rPr lang="en-US" sz="900">
                <a:solidFill>
                  <a:schemeClr val="tx1"/>
                </a:solidFill>
              </a:rPr>
              <a:t>stepwise STAT </a:t>
            </a:r>
            <a:r>
              <a:rPr lang="en-US" sz="900" dirty="0">
                <a:solidFill>
                  <a:schemeClr val="tx1"/>
                </a:solidFill>
              </a:rPr>
              <a:t>OFFSET calculation being visible and editable.</a:t>
            </a:r>
          </a:p>
        </p:txBody>
      </p:sp>
      <p:sp>
        <p:nvSpPr>
          <p:cNvPr id="93" name="Rectangle 92">
            <a:extLst>
              <a:ext uri="{FF2B5EF4-FFF2-40B4-BE49-F238E27FC236}">
                <a16:creationId xmlns:a16="http://schemas.microsoft.com/office/drawing/2014/main" id="{510FC5DE-C140-41DE-9000-3862687B1A9C}"/>
              </a:ext>
            </a:extLst>
          </p:cNvPr>
          <p:cNvSpPr/>
          <p:nvPr/>
        </p:nvSpPr>
        <p:spPr>
          <a:xfrm>
            <a:off x="8398723" y="3638368"/>
            <a:ext cx="1139253" cy="44573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a:lstStyle/>
          <a:p>
            <a:pPr lvl="0" defTabSz="712788" eaLnBrk="0" fontAlgn="base" hangingPunct="0">
              <a:spcBef>
                <a:spcPct val="0"/>
              </a:spcBef>
              <a:spcAft>
                <a:spcPts val="600"/>
              </a:spcAft>
              <a:defRPr/>
            </a:pPr>
            <a:r>
              <a:rPr lang="en-US" sz="900">
                <a:solidFill>
                  <a:schemeClr val="tx1"/>
                </a:solidFill>
              </a:rPr>
              <a:t>SQL queries are used to perform the final premium quotes calculations.</a:t>
            </a:r>
          </a:p>
        </p:txBody>
      </p:sp>
      <p:sp>
        <p:nvSpPr>
          <p:cNvPr id="94" name="Rectangle 93">
            <a:extLst>
              <a:ext uri="{FF2B5EF4-FFF2-40B4-BE49-F238E27FC236}">
                <a16:creationId xmlns:a16="http://schemas.microsoft.com/office/drawing/2014/main" id="{977B1A8C-0C19-47D1-BE5C-B50210DA86B4}"/>
              </a:ext>
            </a:extLst>
          </p:cNvPr>
          <p:cNvSpPr/>
          <p:nvPr/>
        </p:nvSpPr>
        <p:spPr>
          <a:xfrm>
            <a:off x="6541366" y="5578059"/>
            <a:ext cx="1744512" cy="57636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a:lstStyle/>
          <a:p>
            <a:pPr lvl="0" defTabSz="712788" eaLnBrk="0" fontAlgn="base" hangingPunct="0">
              <a:spcBef>
                <a:spcPct val="0"/>
              </a:spcBef>
              <a:spcAft>
                <a:spcPts val="600"/>
              </a:spcAft>
              <a:defRPr/>
            </a:pPr>
            <a:r>
              <a:rPr lang="en-US" sz="900">
                <a:solidFill>
                  <a:schemeClr val="tx1"/>
                </a:solidFill>
              </a:rPr>
              <a:t>Dataiku can interface with reporting tools (like Power BI) to extract the standardized reports and allows for real-time insights</a:t>
            </a:r>
          </a:p>
        </p:txBody>
      </p:sp>
      <p:pic>
        <p:nvPicPr>
          <p:cNvPr id="105" name="Picture 6" descr="Image result for dataiku icon">
            <a:extLst>
              <a:ext uri="{FF2B5EF4-FFF2-40B4-BE49-F238E27FC236}">
                <a16:creationId xmlns:a16="http://schemas.microsoft.com/office/drawing/2014/main" id="{505C2E0F-B440-466C-9D4E-D130FFA94C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55135" y="2132421"/>
            <a:ext cx="861635" cy="484670"/>
          </a:xfrm>
          <a:prstGeom prst="rect">
            <a:avLst/>
          </a:prstGeom>
          <a:noFill/>
          <a:extLst>
            <a:ext uri="{909E8E84-426E-40DD-AFC4-6F175D3DCCD1}">
              <a14:hiddenFill xmlns:a14="http://schemas.microsoft.com/office/drawing/2010/main">
                <a:solidFill>
                  <a:srgbClr val="FFFFFF"/>
                </a:solidFill>
              </a14:hiddenFill>
            </a:ext>
          </a:extLst>
        </p:spPr>
      </p:pic>
      <p:pic>
        <p:nvPicPr>
          <p:cNvPr id="106" name="Picture 105">
            <a:extLst>
              <a:ext uri="{FF2B5EF4-FFF2-40B4-BE49-F238E27FC236}">
                <a16:creationId xmlns:a16="http://schemas.microsoft.com/office/drawing/2014/main" id="{BFBCF18B-BEA1-4683-9EBE-DF281D313418}"/>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a:stretch/>
        </p:blipFill>
        <p:spPr>
          <a:xfrm>
            <a:off x="10284722" y="2695109"/>
            <a:ext cx="1092046" cy="271228"/>
          </a:xfrm>
          <a:prstGeom prst="rect">
            <a:avLst/>
          </a:prstGeom>
        </p:spPr>
      </p:pic>
      <p:pic>
        <p:nvPicPr>
          <p:cNvPr id="107" name="Picture 10" descr="Image result for ms excel">
            <a:extLst>
              <a:ext uri="{FF2B5EF4-FFF2-40B4-BE49-F238E27FC236}">
                <a16:creationId xmlns:a16="http://schemas.microsoft.com/office/drawing/2014/main" id="{AE28876E-FBFE-4E90-8700-1F7327918CD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45933" y="3196965"/>
            <a:ext cx="446308" cy="441403"/>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14" descr="Image result for ms doc">
            <a:extLst>
              <a:ext uri="{FF2B5EF4-FFF2-40B4-BE49-F238E27FC236}">
                <a16:creationId xmlns:a16="http://schemas.microsoft.com/office/drawing/2014/main" id="{84EEC876-FC4D-4BE3-874F-353EF82D06F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213214" y="3176553"/>
            <a:ext cx="404769" cy="461815"/>
          </a:xfrm>
          <a:prstGeom prst="rect">
            <a:avLst/>
          </a:prstGeom>
          <a:noFill/>
          <a:extLst>
            <a:ext uri="{909E8E84-426E-40DD-AFC4-6F175D3DCCD1}">
              <a14:hiddenFill xmlns:a14="http://schemas.microsoft.com/office/drawing/2010/main">
                <a:solidFill>
                  <a:srgbClr val="FFFFFF"/>
                </a:solidFill>
              </a14:hiddenFill>
            </a:ext>
          </a:extLst>
        </p:spPr>
      </p:pic>
      <p:pic>
        <p:nvPicPr>
          <p:cNvPr id="109" name="Picture 4" descr="Microsoft Access Symbols">
            <a:extLst>
              <a:ext uri="{FF2B5EF4-FFF2-40B4-BE49-F238E27FC236}">
                <a16:creationId xmlns:a16="http://schemas.microsoft.com/office/drawing/2014/main" id="{A3317FAC-6F0D-4BB3-9E47-14745A4F694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80618" y="2129819"/>
            <a:ext cx="684448" cy="48162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3FE3BCE-8307-606C-C49D-755A2A06E940}"/>
              </a:ext>
            </a:extLst>
          </p:cNvPr>
          <p:cNvSpPr txBox="1"/>
          <p:nvPr/>
        </p:nvSpPr>
        <p:spPr>
          <a:xfrm>
            <a:off x="6595014" y="93225"/>
            <a:ext cx="2887395" cy="369332"/>
          </a:xfrm>
          <a:prstGeom prst="rect">
            <a:avLst/>
          </a:prstGeom>
          <a:solidFill>
            <a:srgbClr val="FFFF00"/>
          </a:solidFill>
        </p:spPr>
        <p:txBody>
          <a:bodyPr wrap="square" rtlCol="0">
            <a:spAutoFit/>
          </a:bodyPr>
          <a:lstStyle/>
          <a:p>
            <a:r>
              <a:rPr lang="en-US"/>
              <a:t>Group STD/LTD Rater model</a:t>
            </a:r>
            <a:endParaRPr lang="en-IN"/>
          </a:p>
        </p:txBody>
      </p:sp>
    </p:spTree>
    <p:extLst>
      <p:ext uri="{BB962C8B-B14F-4D97-AF65-F5344CB8AC3E}">
        <p14:creationId xmlns:p14="http://schemas.microsoft.com/office/powerpoint/2010/main" val="30225846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457200" y="543491"/>
            <a:ext cx="11277600" cy="370909"/>
          </a:xfrm>
          <a:noFill/>
          <a:ln>
            <a:noFill/>
          </a:ln>
        </p:spPr>
        <p:txBody>
          <a:bodyPr spcFirstLastPara="1" vert="horz" wrap="square" lIns="0" tIns="0" rIns="0" bIns="0" rtlCol="0" anchor="t" anchorCtr="0">
            <a:noAutofit/>
          </a:bodyPr>
          <a:lstStyle/>
          <a:p>
            <a:pPr>
              <a:buClr>
                <a:schemeClr val="dk1"/>
              </a:buClr>
              <a:buSzPts val="3200"/>
              <a:buFont typeface="Calibri"/>
            </a:pPr>
            <a:r>
              <a:rPr lang="en-US" sz="2800"/>
              <a:t>Annuity Pricing Rate Monitor and Adjustments</a:t>
            </a:r>
          </a:p>
        </p:txBody>
      </p:sp>
      <p:sp>
        <p:nvSpPr>
          <p:cNvPr id="4" name="Text Placeholder 3"/>
          <p:cNvSpPr>
            <a:spLocks noGrp="1"/>
          </p:cNvSpPr>
          <p:nvPr>
            <p:ph type="body" sz="quarter" idx="15"/>
          </p:nvPr>
        </p:nvSpPr>
        <p:spPr/>
        <p:txBody>
          <a:bodyPr/>
          <a:lstStyle/>
          <a:p>
            <a:r>
              <a:rPr lang="en-US">
                <a:solidFill>
                  <a:srgbClr val="005071"/>
                </a:solidFill>
              </a:rPr>
              <a:t>Case Example</a:t>
            </a:r>
          </a:p>
        </p:txBody>
      </p:sp>
      <p:sp>
        <p:nvSpPr>
          <p:cNvPr id="181" name="Rectangle 180">
            <a:extLst>
              <a:ext uri="{FF2B5EF4-FFF2-40B4-BE49-F238E27FC236}">
                <a16:creationId xmlns:a16="http://schemas.microsoft.com/office/drawing/2014/main" id="{2E697B93-042E-4A2C-9981-1BDE8CDEDC73}"/>
              </a:ext>
            </a:extLst>
          </p:cNvPr>
          <p:cNvSpPr/>
          <p:nvPr/>
        </p:nvSpPr>
        <p:spPr>
          <a:xfrm>
            <a:off x="391896" y="894969"/>
            <a:ext cx="11406402" cy="30777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5071"/>
                </a:solidFill>
                <a:effectLst/>
                <a:uLnTx/>
                <a:uFillTx/>
                <a:latin typeface="Calibri" panose="020F0502020204030204"/>
                <a:ea typeface="+mn-ea"/>
                <a:cs typeface="+mn-cs"/>
              </a:rPr>
              <a:t>Purpose is to calculate profitability and other product metrics </a:t>
            </a:r>
            <a:r>
              <a:rPr lang="en-US" sz="1400" b="1" kern="0">
                <a:solidFill>
                  <a:srgbClr val="005071"/>
                </a:solidFill>
                <a:latin typeface="Calibri" panose="020F0502020204030204"/>
              </a:rPr>
              <a:t>that are used both in making pricing decisions and financial planning &amp; analysis.</a:t>
            </a:r>
            <a:endParaRPr kumimoji="0" lang="en-US" sz="1400" b="1" i="0" u="none" strike="noStrike" kern="0" cap="none" spc="0" normalizeH="0" baseline="0" noProof="0">
              <a:ln>
                <a:noFill/>
              </a:ln>
              <a:solidFill>
                <a:srgbClr val="005071"/>
              </a:solidFill>
              <a:effectLst/>
              <a:uLnTx/>
              <a:uFillTx/>
              <a:latin typeface="Calibri" panose="020F0502020204030204"/>
              <a:ea typeface="+mn-ea"/>
              <a:cs typeface="+mn-cs"/>
            </a:endParaRPr>
          </a:p>
        </p:txBody>
      </p:sp>
      <p:graphicFrame>
        <p:nvGraphicFramePr>
          <p:cNvPr id="182" name="Table 181">
            <a:extLst>
              <a:ext uri="{FF2B5EF4-FFF2-40B4-BE49-F238E27FC236}">
                <a16:creationId xmlns:a16="http://schemas.microsoft.com/office/drawing/2014/main" id="{7057D141-95FC-4D2B-AA5E-62A10FDB16DF}"/>
              </a:ext>
            </a:extLst>
          </p:cNvPr>
          <p:cNvGraphicFramePr>
            <a:graphicFrameLocks noGrp="1"/>
          </p:cNvGraphicFramePr>
          <p:nvPr/>
        </p:nvGraphicFramePr>
        <p:xfrm>
          <a:off x="442707" y="1190141"/>
          <a:ext cx="1425850" cy="370840"/>
        </p:xfrm>
        <a:graphic>
          <a:graphicData uri="http://schemas.openxmlformats.org/drawingml/2006/table">
            <a:tbl>
              <a:tblPr firstRow="1" bandRow="1"/>
              <a:tblGrid>
                <a:gridCol w="1425850">
                  <a:extLst>
                    <a:ext uri="{9D8B030D-6E8A-4147-A177-3AD203B41FA5}">
                      <a16:colId xmlns:a16="http://schemas.microsoft.com/office/drawing/2014/main" val="20000"/>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r>
                        <a:rPr lang="en-US" sz="1600" b="1">
                          <a:solidFill>
                            <a:schemeClr val="accent3"/>
                          </a:solidFill>
                        </a:rPr>
                        <a:t>Background</a:t>
                      </a:r>
                      <a:endParaRPr lang="en-US" sz="2000" b="1">
                        <a:solidFill>
                          <a:schemeClr val="accent3"/>
                        </a:solidFill>
                      </a:endParaRPr>
                    </a:p>
                  </a:txBody>
                  <a:tcPr marL="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183" name="Table 182">
            <a:extLst>
              <a:ext uri="{FF2B5EF4-FFF2-40B4-BE49-F238E27FC236}">
                <a16:creationId xmlns:a16="http://schemas.microsoft.com/office/drawing/2014/main" id="{3CC89FCE-B057-42AE-8EDE-AA7E1C197606}"/>
              </a:ext>
            </a:extLst>
          </p:cNvPr>
          <p:cNvGraphicFramePr>
            <a:graphicFrameLocks noGrp="1"/>
          </p:cNvGraphicFramePr>
          <p:nvPr/>
        </p:nvGraphicFramePr>
        <p:xfrm>
          <a:off x="3035952" y="1190141"/>
          <a:ext cx="2984697" cy="370840"/>
        </p:xfrm>
        <a:graphic>
          <a:graphicData uri="http://schemas.openxmlformats.org/drawingml/2006/table">
            <a:tbl>
              <a:tblPr firstRow="1" bandRow="1"/>
              <a:tblGrid>
                <a:gridCol w="2984697">
                  <a:extLst>
                    <a:ext uri="{9D8B030D-6E8A-4147-A177-3AD203B41FA5}">
                      <a16:colId xmlns:a16="http://schemas.microsoft.com/office/drawing/2014/main" val="20000"/>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r>
                        <a:rPr lang="en-US" sz="1600" b="1">
                          <a:solidFill>
                            <a:schemeClr val="accent3"/>
                          </a:solidFill>
                        </a:rPr>
                        <a:t>Pricing Validation Process Flow</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cxnSp>
        <p:nvCxnSpPr>
          <p:cNvPr id="184" name="Straight Connector 183">
            <a:extLst>
              <a:ext uri="{FF2B5EF4-FFF2-40B4-BE49-F238E27FC236}">
                <a16:creationId xmlns:a16="http://schemas.microsoft.com/office/drawing/2014/main" id="{9F6AFDD4-E350-4693-A38E-D87C0D1C721E}"/>
              </a:ext>
            </a:extLst>
          </p:cNvPr>
          <p:cNvCxnSpPr/>
          <p:nvPr/>
        </p:nvCxnSpPr>
        <p:spPr>
          <a:xfrm>
            <a:off x="2941783" y="1560981"/>
            <a:ext cx="0" cy="4781620"/>
          </a:xfrm>
          <a:prstGeom prst="line">
            <a:avLst/>
          </a:prstGeom>
          <a:noFill/>
          <a:ln w="6350" cap="flat" cmpd="sng" algn="ctr">
            <a:solidFill>
              <a:srgbClr val="DBDBDB"/>
            </a:solidFill>
            <a:prstDash val="solid"/>
            <a:miter lim="800000"/>
          </a:ln>
          <a:effectLst/>
        </p:spPr>
      </p:cxnSp>
      <p:graphicFrame>
        <p:nvGraphicFramePr>
          <p:cNvPr id="185" name="Table 184">
            <a:extLst>
              <a:ext uri="{FF2B5EF4-FFF2-40B4-BE49-F238E27FC236}">
                <a16:creationId xmlns:a16="http://schemas.microsoft.com/office/drawing/2014/main" id="{26992B89-63E8-44F1-9DE4-267C547D1803}"/>
              </a:ext>
            </a:extLst>
          </p:cNvPr>
          <p:cNvGraphicFramePr>
            <a:graphicFrameLocks noGrp="1"/>
          </p:cNvGraphicFramePr>
          <p:nvPr/>
        </p:nvGraphicFramePr>
        <p:xfrm>
          <a:off x="10002699" y="1231237"/>
          <a:ext cx="1176742" cy="370840"/>
        </p:xfrm>
        <a:graphic>
          <a:graphicData uri="http://schemas.openxmlformats.org/drawingml/2006/table">
            <a:tbl>
              <a:tblPr firstRow="1" bandRow="1"/>
              <a:tblGrid>
                <a:gridCol w="1176742">
                  <a:extLst>
                    <a:ext uri="{9D8B030D-6E8A-4147-A177-3AD203B41FA5}">
                      <a16:colId xmlns:a16="http://schemas.microsoft.com/office/drawing/2014/main" val="20000"/>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r>
                        <a:rPr lang="en-US" sz="1600" b="1">
                          <a:solidFill>
                            <a:schemeClr val="accent3"/>
                          </a:solidFill>
                        </a:rPr>
                        <a:t>Technology</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186" name="Rectangle 37">
            <a:extLst>
              <a:ext uri="{FF2B5EF4-FFF2-40B4-BE49-F238E27FC236}">
                <a16:creationId xmlns:a16="http://schemas.microsoft.com/office/drawing/2014/main" id="{6B67F419-3520-43E5-9F8F-5F6771E88297}"/>
              </a:ext>
            </a:extLst>
          </p:cNvPr>
          <p:cNvSpPr>
            <a:spLocks noChangeArrowheads="1"/>
          </p:cNvSpPr>
          <p:nvPr/>
        </p:nvSpPr>
        <p:spPr bwMode="gray">
          <a:xfrm>
            <a:off x="446274" y="1491836"/>
            <a:ext cx="2340591" cy="3626045"/>
          </a:xfrm>
          <a:prstGeom prst="rect">
            <a:avLst/>
          </a:prstGeom>
          <a:solidFill>
            <a:srgbClr val="FFFFFF"/>
          </a:solidFill>
          <a:ln w="9525">
            <a:noFill/>
            <a:miter lim="800000"/>
            <a:headEnd/>
            <a:tailEnd/>
          </a:ln>
          <a:effectLst/>
        </p:spPr>
        <p:txBody>
          <a:bodyPr lIns="0" tIns="45714" rIns="45714" bIns="45714"/>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prstClr val="black"/>
                </a:solidFill>
                <a:effectLst/>
                <a:uLnTx/>
                <a:uFillTx/>
                <a:latin typeface="Calibri" panose="020F0502020204030204"/>
                <a:ea typeface="+mn-ea"/>
                <a:cs typeface="Arial" panose="020B0604020202020204" pitchFamily="34" charset="0"/>
              </a:rPr>
              <a:t>In the existing process workflow, FIA, ForeCare, RILA and ForeCertain annuity products are covered. Pricing team needs updated results on weekly basis after incorporating latest option rates, asset spread yields, policy sales data etc.</a:t>
            </a:r>
          </a:p>
          <a:p>
            <a:pPr marL="0" marR="0" lvl="1" indent="0" algn="l" defTabSz="914400" rtl="0" eaLnBrk="1" fontAlgn="auto" latinLnBrk="0" hangingPunct="1">
              <a:lnSpc>
                <a:spcPct val="100000"/>
              </a:lnSpc>
              <a:spcBef>
                <a:spcPts val="0"/>
              </a:spcBef>
              <a:spcAft>
                <a:spcPts val="0"/>
              </a:spcAft>
              <a:buClr>
                <a:srgbClr val="676767"/>
              </a:buClr>
              <a:buSzPct val="100000"/>
              <a:buFontTx/>
              <a:buNone/>
              <a:tabLst/>
              <a:defRPr/>
            </a:pPr>
            <a:endParaRPr kumimoji="0" lang="en-US" sz="1100" b="0" i="0" u="none" strike="noStrike" kern="0" cap="none" spc="0" normalizeH="0" baseline="0" noProof="0">
              <a:ln>
                <a:noFill/>
              </a:ln>
              <a:solidFill>
                <a:prstClr val="black"/>
              </a:solidFill>
              <a:effectLst/>
              <a:uLnTx/>
              <a:uFillTx/>
              <a:latin typeface="Calibri" panose="020F0502020204030204"/>
              <a:ea typeface="+mn-ea"/>
              <a:cs typeface="Arial" panose="020B0604020202020204" pitchFamily="34" charset="0"/>
            </a:endParaRPr>
          </a:p>
          <a:p>
            <a:pPr marL="0" marR="0" lvl="1" indent="0" algn="l" defTabSz="914400" rtl="0" eaLnBrk="1" fontAlgn="auto" latinLnBrk="0" hangingPunct="1">
              <a:lnSpc>
                <a:spcPct val="100000"/>
              </a:lnSpc>
              <a:spcBef>
                <a:spcPts val="0"/>
              </a:spcBef>
              <a:spcAft>
                <a:spcPts val="0"/>
              </a:spcAft>
              <a:buClr>
                <a:srgbClr val="676767"/>
              </a:buClr>
              <a:buSzPct val="100000"/>
              <a:buFontTx/>
              <a:buNone/>
              <a:tabLst/>
              <a:defRPr/>
            </a:pPr>
            <a:r>
              <a:rPr kumimoji="0" lang="en-US" sz="1600" b="1" i="0" u="none" strike="noStrike" kern="0" cap="none" spc="0" normalizeH="0" baseline="0" noProof="0">
                <a:ln>
                  <a:noFill/>
                </a:ln>
                <a:solidFill>
                  <a:srgbClr val="005071"/>
                </a:solidFill>
                <a:effectLst/>
                <a:uLnTx/>
                <a:uFillTx/>
                <a:latin typeface="Calibri" panose="020F0502020204030204"/>
                <a:ea typeface="+mn-ea"/>
                <a:cs typeface="Arial" panose="020B0604020202020204" pitchFamily="34" charset="0"/>
              </a:rPr>
              <a:t>Key Objectives</a:t>
            </a:r>
            <a:r>
              <a:rPr kumimoji="0" lang="en-US" sz="1600" b="0" i="0" u="none" strike="noStrike" kern="0" cap="none" spc="0" normalizeH="0" baseline="0" noProof="0">
                <a:ln>
                  <a:noFill/>
                </a:ln>
                <a:solidFill>
                  <a:srgbClr val="005071"/>
                </a:solidFill>
                <a:effectLst/>
                <a:uLnTx/>
                <a:uFillTx/>
                <a:latin typeface="Calibri" panose="020F0502020204030204"/>
                <a:ea typeface="+mn-ea"/>
                <a:cs typeface="Arial" panose="020B0604020202020204" pitchFamily="34" charset="0"/>
              </a:rPr>
              <a:t>:</a:t>
            </a:r>
            <a:endParaRPr kumimoji="0" lang="en-US" sz="1200" b="0" i="0" u="none" strike="noStrike" kern="0" cap="none" spc="0" normalizeH="0" baseline="0" noProof="0">
              <a:ln>
                <a:noFill/>
              </a:ln>
              <a:solidFill>
                <a:prstClr val="black"/>
              </a:solidFill>
              <a:effectLst/>
              <a:uLnTx/>
              <a:uFillTx/>
              <a:latin typeface="Calibri" panose="020F0502020204030204"/>
              <a:ea typeface="+mn-ea"/>
              <a:cs typeface="Arial" panose="020B0604020202020204" pitchFamily="34" charset="0"/>
            </a:endParaRPr>
          </a:p>
          <a:p>
            <a:pPr marL="182880" lvl="0" indent="-182880">
              <a:spcBef>
                <a:spcPts val="300"/>
              </a:spcBef>
              <a:buClr>
                <a:srgbClr val="FB4D0A"/>
              </a:buClr>
              <a:buFont typeface="Arial" panose="020B0604020202020204" pitchFamily="34" charset="0"/>
              <a:buChar char="•"/>
              <a:defRPr/>
            </a:pPr>
            <a:r>
              <a:rPr lang="en-US" sz="1100" kern="0">
                <a:solidFill>
                  <a:prstClr val="black"/>
                </a:solidFill>
                <a:cs typeface="Arial" panose="020B0604020202020204" pitchFamily="34" charset="0"/>
              </a:rPr>
              <a:t>Provide extensive support to pricing team in monitoring annuity pricing experience and update rates (if required).</a:t>
            </a:r>
          </a:p>
          <a:p>
            <a:pPr marL="182880" lvl="0" indent="-182880">
              <a:spcBef>
                <a:spcPts val="300"/>
              </a:spcBef>
              <a:buClr>
                <a:srgbClr val="FB4D0A"/>
              </a:buClr>
              <a:buFont typeface="Arial" panose="020B0604020202020204" pitchFamily="34" charset="0"/>
              <a:buChar char="•"/>
              <a:defRPr/>
            </a:pPr>
            <a:r>
              <a:rPr kumimoji="0" lang="en-US" sz="1100" b="0" i="0" u="none" strike="noStrike" kern="0" cap="none" spc="0" normalizeH="0" baseline="0" noProof="0">
                <a:ln>
                  <a:noFill/>
                </a:ln>
                <a:solidFill>
                  <a:prstClr val="black"/>
                </a:solidFill>
                <a:effectLst/>
                <a:uLnTx/>
                <a:uFillTx/>
                <a:latin typeface="Calibri" panose="020F0502020204030204"/>
                <a:ea typeface="+mn-ea"/>
                <a:cs typeface="Arial" panose="020B0604020202020204" pitchFamily="34" charset="0"/>
              </a:rPr>
              <a:t>Calculate profitability and various other product metrics for pricing team to help in decision making and financial planning &amp; analysis.</a:t>
            </a:r>
          </a:p>
          <a:p>
            <a:pPr marL="182880" lvl="0" indent="-182880">
              <a:spcBef>
                <a:spcPts val="300"/>
              </a:spcBef>
              <a:buClr>
                <a:srgbClr val="FB4D0A"/>
              </a:buClr>
              <a:buFont typeface="Arial" panose="020B0604020202020204" pitchFamily="34" charset="0"/>
              <a:buChar char="•"/>
              <a:defRPr/>
            </a:pPr>
            <a:r>
              <a:rPr lang="en-US" sz="1100" kern="0">
                <a:solidFill>
                  <a:prstClr val="black"/>
                </a:solidFill>
                <a:latin typeface="Calibri" panose="020F0502020204030204"/>
                <a:cs typeface="Arial" panose="020B0604020202020204" pitchFamily="34" charset="0"/>
              </a:rPr>
              <a:t>Adhere timelines and maintain filing structure for audit purposes.</a:t>
            </a:r>
            <a:endParaRPr kumimoji="0" lang="en-US" sz="1100" b="0" i="0" u="none" strike="noStrike" kern="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graphicFrame>
        <p:nvGraphicFramePr>
          <p:cNvPr id="197" name="Table 196">
            <a:extLst>
              <a:ext uri="{FF2B5EF4-FFF2-40B4-BE49-F238E27FC236}">
                <a16:creationId xmlns:a16="http://schemas.microsoft.com/office/drawing/2014/main" id="{96AA6AA1-362A-49EC-9574-65916370760F}"/>
              </a:ext>
            </a:extLst>
          </p:cNvPr>
          <p:cNvGraphicFramePr>
            <a:graphicFrameLocks noGrp="1"/>
          </p:cNvGraphicFramePr>
          <p:nvPr/>
        </p:nvGraphicFramePr>
        <p:xfrm>
          <a:off x="10231413" y="2973434"/>
          <a:ext cx="1554429" cy="370840"/>
        </p:xfrm>
        <a:graphic>
          <a:graphicData uri="http://schemas.openxmlformats.org/drawingml/2006/table">
            <a:tbl>
              <a:tblPr firstRow="1" bandRow="1"/>
              <a:tblGrid>
                <a:gridCol w="1554429">
                  <a:extLst>
                    <a:ext uri="{9D8B030D-6E8A-4147-A177-3AD203B41FA5}">
                      <a16:colId xmlns:a16="http://schemas.microsoft.com/office/drawing/2014/main" val="20000"/>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r>
                        <a:rPr lang="en-US" sz="1400" b="1">
                          <a:solidFill>
                            <a:schemeClr val="tx2"/>
                          </a:solidFill>
                        </a:rPr>
                        <a:t>Value Proposition</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198" name="TextBox 197">
            <a:extLst>
              <a:ext uri="{FF2B5EF4-FFF2-40B4-BE49-F238E27FC236}">
                <a16:creationId xmlns:a16="http://schemas.microsoft.com/office/drawing/2014/main" id="{D6032BF2-2A1D-40D6-AB04-BAC6158DF2C2}"/>
              </a:ext>
            </a:extLst>
          </p:cNvPr>
          <p:cNvSpPr txBox="1"/>
          <p:nvPr/>
        </p:nvSpPr>
        <p:spPr>
          <a:xfrm>
            <a:off x="10057863" y="3439120"/>
            <a:ext cx="1864333" cy="1980029"/>
          </a:xfrm>
          <a:prstGeom prst="rect">
            <a:avLst/>
          </a:prstGeom>
          <a:noFill/>
          <a:ln>
            <a:noFill/>
          </a:ln>
        </p:spPr>
        <p:txBody>
          <a:bodyPr wrap="square" rtlCol="0">
            <a:spAutoFit/>
          </a:bodyPr>
          <a:lstStyle/>
          <a:p>
            <a:pPr marL="171450" marR="0" lvl="1" indent="-171450" algn="l" defTabSz="914400" rtl="0" eaLnBrk="1" fontAlgn="base" latinLnBrk="0" hangingPunct="1">
              <a:lnSpc>
                <a:spcPct val="100000"/>
              </a:lnSpc>
              <a:spcBef>
                <a:spcPts val="0"/>
              </a:spcBef>
              <a:spcAft>
                <a:spcPts val="100"/>
              </a:spcAft>
              <a:buClr>
                <a:srgbClr val="FF6503"/>
              </a:buClr>
              <a:buSzPct val="100000"/>
              <a:buFont typeface="Arial" panose="020B0604020202020204" pitchFamily="34" charset="0"/>
              <a:buChar char="•"/>
              <a:tabLst/>
              <a:defRPr/>
            </a:pPr>
            <a:r>
              <a:rPr lang="en-US" sz="1100">
                <a:solidFill>
                  <a:prstClr val="black"/>
                </a:solidFill>
                <a:latin typeface="Calibri" panose="020F0502020204030204"/>
                <a:cs typeface="Arial" panose="020B0604020202020204" pitchFamily="34" charset="0"/>
              </a:rPr>
              <a:t>Created detail documentation and checklist to standardized process and remove in between gaps</a:t>
            </a:r>
          </a:p>
          <a:p>
            <a:pPr marL="171450" marR="0" lvl="1" indent="-171450" algn="l" defTabSz="914400" rtl="0" eaLnBrk="1" fontAlgn="base" latinLnBrk="0" hangingPunct="1">
              <a:lnSpc>
                <a:spcPct val="100000"/>
              </a:lnSpc>
              <a:spcBef>
                <a:spcPts val="0"/>
              </a:spcBef>
              <a:spcAft>
                <a:spcPts val="100"/>
              </a:spcAft>
              <a:buClr>
                <a:srgbClr val="FF6503"/>
              </a:buClr>
              <a:buSzPct val="100000"/>
              <a:buFont typeface="Arial" panose="020B0604020202020204" pitchFamily="34" charset="0"/>
              <a:buChar char="•"/>
              <a:tabLst/>
              <a:defRPr/>
            </a:pPr>
            <a:r>
              <a:rPr lang="en-US" sz="1100">
                <a:solidFill>
                  <a:prstClr val="black"/>
                </a:solidFill>
                <a:latin typeface="Calibri" panose="020F0502020204030204"/>
                <a:cs typeface="Arial" panose="020B0604020202020204" pitchFamily="34" charset="0"/>
              </a:rPr>
              <a:t>Developed few macros to remove manual intervention and hence reducing the possibility of errors</a:t>
            </a:r>
          </a:p>
          <a:p>
            <a:pPr marL="171450" marR="0" lvl="1" indent="-171450" algn="l" defTabSz="914400" rtl="0" eaLnBrk="1" fontAlgn="base" latinLnBrk="0" hangingPunct="1">
              <a:lnSpc>
                <a:spcPct val="100000"/>
              </a:lnSpc>
              <a:spcBef>
                <a:spcPts val="0"/>
              </a:spcBef>
              <a:spcAft>
                <a:spcPts val="100"/>
              </a:spcAft>
              <a:buClr>
                <a:srgbClr val="FF6503"/>
              </a:buClr>
              <a:buSzPct val="100000"/>
              <a:buFont typeface="Arial" panose="020B0604020202020204" pitchFamily="34" charset="0"/>
              <a:buChar char="•"/>
              <a:tabLst/>
              <a:defRPr/>
            </a:pPr>
            <a:endParaRPr lang="en-US" sz="1100">
              <a:solidFill>
                <a:prstClr val="black"/>
              </a:solidFill>
              <a:latin typeface="Calibri" panose="020F0502020204030204"/>
              <a:cs typeface="Arial" panose="020B0604020202020204" pitchFamily="34" charset="0"/>
            </a:endParaRPr>
          </a:p>
        </p:txBody>
      </p:sp>
      <p:sp>
        <p:nvSpPr>
          <p:cNvPr id="199" name="TextBox 198">
            <a:extLst>
              <a:ext uri="{FF2B5EF4-FFF2-40B4-BE49-F238E27FC236}">
                <a16:creationId xmlns:a16="http://schemas.microsoft.com/office/drawing/2014/main" id="{541BC989-B3C3-43E0-BEC6-81B96A1E47FA}"/>
              </a:ext>
            </a:extLst>
          </p:cNvPr>
          <p:cNvSpPr txBox="1"/>
          <p:nvPr/>
        </p:nvSpPr>
        <p:spPr>
          <a:xfrm>
            <a:off x="3056182" y="1615978"/>
            <a:ext cx="1021304" cy="769441"/>
          </a:xfrm>
          <a:prstGeom prst="rect">
            <a:avLst/>
          </a:prstGeom>
          <a:noFill/>
        </p:spPr>
        <p:txBody>
          <a:bodyPr wrap="square" rtlCol="0">
            <a:spAutoFit/>
          </a:bodyPr>
          <a:lstStyle/>
          <a:p>
            <a:pPr lvl="0" algn="ctr">
              <a:defRPr/>
            </a:pPr>
            <a:r>
              <a:rPr lang="en-US" sz="1100">
                <a:solidFill>
                  <a:srgbClr val="000000"/>
                </a:solidFill>
              </a:rPr>
              <a:t>Model Reconciliation with Previous Week Results</a:t>
            </a:r>
          </a:p>
        </p:txBody>
      </p:sp>
      <p:sp>
        <p:nvSpPr>
          <p:cNvPr id="200" name="Rectangle: Top Corners Rounded 5">
            <a:extLst>
              <a:ext uri="{FF2B5EF4-FFF2-40B4-BE49-F238E27FC236}">
                <a16:creationId xmlns:a16="http://schemas.microsoft.com/office/drawing/2014/main" id="{C7A72754-9786-4F8B-8447-3B4D2162827B}"/>
              </a:ext>
            </a:extLst>
          </p:cNvPr>
          <p:cNvSpPr/>
          <p:nvPr/>
        </p:nvSpPr>
        <p:spPr>
          <a:xfrm>
            <a:off x="3131489" y="2361062"/>
            <a:ext cx="1951630" cy="597594"/>
          </a:xfrm>
          <a:prstGeom prst="roundRect">
            <a:avLst>
              <a:gd name="adj" fmla="val 12232"/>
            </a:avLst>
          </a:prstGeom>
          <a:solidFill>
            <a:schemeClr val="accent3"/>
          </a:solidFill>
          <a:ln w="12700" cap="flat" cmpd="sng" algn="ctr">
            <a:noFill/>
            <a:prstDash val="solid"/>
            <a:miter lim="800000"/>
          </a:ln>
          <a:effectLst/>
        </p:spPr>
        <p:txBody>
          <a:bodyPr rtlCol="0" anchor="ctr"/>
          <a:lstStyle/>
          <a:p>
            <a:pPr lvl="0" algn="ctr">
              <a:defRPr/>
            </a:pPr>
            <a:r>
              <a:rPr lang="en-US" sz="1300" kern="0">
                <a:solidFill>
                  <a:srgbClr val="FFFFFF"/>
                </a:solidFill>
              </a:rPr>
              <a:t>Results Comparison</a:t>
            </a:r>
          </a:p>
        </p:txBody>
      </p:sp>
      <p:sp>
        <p:nvSpPr>
          <p:cNvPr id="202" name="Rectangle: Top Corners Rounded 26">
            <a:extLst>
              <a:ext uri="{FF2B5EF4-FFF2-40B4-BE49-F238E27FC236}">
                <a16:creationId xmlns:a16="http://schemas.microsoft.com/office/drawing/2014/main" id="{48CADED7-5E08-430F-8C35-DEA16E1FD45F}"/>
              </a:ext>
            </a:extLst>
          </p:cNvPr>
          <p:cNvSpPr/>
          <p:nvPr/>
        </p:nvSpPr>
        <p:spPr>
          <a:xfrm>
            <a:off x="3126111" y="3830458"/>
            <a:ext cx="1951630" cy="597594"/>
          </a:xfrm>
          <a:prstGeom prst="roundRect">
            <a:avLst>
              <a:gd name="adj" fmla="val 7797"/>
            </a:avLst>
          </a:prstGeom>
          <a:solidFill>
            <a:schemeClr val="accent3"/>
          </a:solidFill>
          <a:ln w="12700" cap="flat" cmpd="sng" algn="ctr">
            <a:noFill/>
            <a:prstDash val="solid"/>
            <a:miter lim="800000"/>
          </a:ln>
          <a:effectLst/>
        </p:spPr>
        <p:txBody>
          <a:bodyPr rtlCol="0" anchor="ctr"/>
          <a:lstStyle/>
          <a:p>
            <a:pPr algn="ctr">
              <a:defRPr/>
            </a:pPr>
            <a:r>
              <a:rPr lang="en-US" sz="1300" kern="0">
                <a:solidFill>
                  <a:srgbClr val="FFFFFF"/>
                </a:solidFill>
              </a:rPr>
              <a:t>Production Model Run (MG-ALFA)</a:t>
            </a:r>
          </a:p>
        </p:txBody>
      </p:sp>
      <p:sp>
        <p:nvSpPr>
          <p:cNvPr id="205" name="Rectangle: Top Corners Rounded 44">
            <a:extLst>
              <a:ext uri="{FF2B5EF4-FFF2-40B4-BE49-F238E27FC236}">
                <a16:creationId xmlns:a16="http://schemas.microsoft.com/office/drawing/2014/main" id="{8CD1F221-878A-460D-B47F-B93F016034A9}"/>
              </a:ext>
            </a:extLst>
          </p:cNvPr>
          <p:cNvSpPr/>
          <p:nvPr/>
        </p:nvSpPr>
        <p:spPr>
          <a:xfrm>
            <a:off x="3126111" y="5541293"/>
            <a:ext cx="1951630" cy="597594"/>
          </a:xfrm>
          <a:prstGeom prst="roundRect">
            <a:avLst>
              <a:gd name="adj" fmla="val 12232"/>
            </a:avLst>
          </a:prstGeom>
          <a:solidFill>
            <a:schemeClr val="accent3"/>
          </a:solidFill>
          <a:ln w="12700" cap="flat" cmpd="sng" algn="ctr">
            <a:noFill/>
            <a:prstDash val="solid"/>
            <a:miter lim="800000"/>
          </a:ln>
          <a:effectLst/>
        </p:spPr>
        <p:txBody>
          <a:bodyPr rtlCol="0" anchor="ctr"/>
          <a:lstStyle/>
          <a:p>
            <a:pPr algn="ctr">
              <a:defRPr/>
            </a:pPr>
            <a:r>
              <a:rPr lang="en-US" sz="1300" kern="0">
                <a:solidFill>
                  <a:srgbClr val="FFFFFF"/>
                </a:solidFill>
              </a:rPr>
              <a:t>Prepare build files for MG-ALFA Run</a:t>
            </a:r>
          </a:p>
        </p:txBody>
      </p:sp>
      <p:sp>
        <p:nvSpPr>
          <p:cNvPr id="207" name="TextBox 206">
            <a:extLst>
              <a:ext uri="{FF2B5EF4-FFF2-40B4-BE49-F238E27FC236}">
                <a16:creationId xmlns:a16="http://schemas.microsoft.com/office/drawing/2014/main" id="{6EE4BA25-4103-49A9-B84D-8AA8F12E88A1}"/>
              </a:ext>
            </a:extLst>
          </p:cNvPr>
          <p:cNvSpPr txBox="1"/>
          <p:nvPr/>
        </p:nvSpPr>
        <p:spPr>
          <a:xfrm>
            <a:off x="5060939" y="5926587"/>
            <a:ext cx="2713946" cy="6001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a:ea typeface="+mn-ea"/>
                <a:cs typeface="+mn-cs"/>
              </a:rPr>
              <a:t>Build files contains for various pricing inputs like commission rates, crediting rates, scenarios etc.</a:t>
            </a:r>
          </a:p>
        </p:txBody>
      </p:sp>
      <p:sp>
        <p:nvSpPr>
          <p:cNvPr id="208" name="Rectangle: Top Corners Rounded 47">
            <a:extLst>
              <a:ext uri="{FF2B5EF4-FFF2-40B4-BE49-F238E27FC236}">
                <a16:creationId xmlns:a16="http://schemas.microsoft.com/office/drawing/2014/main" id="{3AF8FBD0-67B7-49BC-B061-D9E8CE5ACD4A}"/>
              </a:ext>
            </a:extLst>
          </p:cNvPr>
          <p:cNvSpPr/>
          <p:nvPr/>
        </p:nvSpPr>
        <p:spPr>
          <a:xfrm>
            <a:off x="7775698" y="2672227"/>
            <a:ext cx="1825909" cy="839015"/>
          </a:xfrm>
          <a:prstGeom prst="roundRect">
            <a:avLst>
              <a:gd name="adj" fmla="val 10349"/>
            </a:avLst>
          </a:prstGeom>
          <a:solidFill>
            <a:srgbClr val="808080"/>
          </a:solidFill>
          <a:ln w="12700" cap="flat" cmpd="sng" algn="ctr">
            <a:noFill/>
            <a:prstDash val="solid"/>
            <a:miter lim="800000"/>
          </a:ln>
          <a:effectLst/>
        </p:spPr>
        <p:txBody>
          <a:bodyPr rtlCol="0" anchor="ctr"/>
          <a:lstStyle/>
          <a:p>
            <a:pPr algn="ctr">
              <a:defRPr/>
            </a:pPr>
            <a:r>
              <a:rPr lang="en-US" sz="1300" kern="0">
                <a:solidFill>
                  <a:srgbClr val="FFFFFF"/>
                </a:solidFill>
              </a:rPr>
              <a:t>Estimate cost of crediting/crediting rates based on new rates</a:t>
            </a:r>
          </a:p>
        </p:txBody>
      </p:sp>
      <p:sp>
        <p:nvSpPr>
          <p:cNvPr id="209" name="TextBox 208">
            <a:extLst>
              <a:ext uri="{FF2B5EF4-FFF2-40B4-BE49-F238E27FC236}">
                <a16:creationId xmlns:a16="http://schemas.microsoft.com/office/drawing/2014/main" id="{FA5779D1-E7A0-4907-ACB7-851105966899}"/>
              </a:ext>
            </a:extLst>
          </p:cNvPr>
          <p:cNvSpPr txBox="1"/>
          <p:nvPr/>
        </p:nvSpPr>
        <p:spPr>
          <a:xfrm>
            <a:off x="7322956" y="1346475"/>
            <a:ext cx="2184960" cy="600164"/>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100" kern="0">
                <a:latin typeface="Calibri" panose="020F0502020204030204"/>
              </a:rPr>
              <a:t>Weekly option rates, SOFR rates, </a:t>
            </a:r>
          </a:p>
          <a:p>
            <a:pPr marL="0" marR="0" lvl="0" indent="0" defTabSz="914400" rtl="0" eaLnBrk="1" fontAlgn="auto" latinLnBrk="0" hangingPunct="1">
              <a:lnSpc>
                <a:spcPct val="100000"/>
              </a:lnSpc>
              <a:spcBef>
                <a:spcPts val="0"/>
              </a:spcBef>
              <a:spcAft>
                <a:spcPts val="0"/>
              </a:spcAft>
              <a:buClrTx/>
              <a:buSzTx/>
              <a:buFontTx/>
              <a:buNone/>
              <a:tabLst/>
              <a:defRPr/>
            </a:pPr>
            <a:r>
              <a:rPr lang="en-US" sz="1100" kern="0">
                <a:latin typeface="Calibri" panose="020F0502020204030204"/>
              </a:rPr>
              <a:t>Liability discount rate curve, asset yield spreads, policy sales data</a:t>
            </a:r>
            <a:endParaRPr kumimoji="0" lang="en-US" sz="1100" i="0" u="none" strike="noStrike" kern="0" cap="none" spc="0" normalizeH="0" baseline="0" noProof="0">
              <a:ln>
                <a:noFill/>
              </a:ln>
              <a:effectLst/>
              <a:uLnTx/>
              <a:uFillTx/>
              <a:latin typeface="Calibri" panose="020F0502020204030204"/>
              <a:ea typeface="+mn-ea"/>
              <a:cs typeface="+mn-cs"/>
            </a:endParaRPr>
          </a:p>
        </p:txBody>
      </p:sp>
      <p:sp>
        <p:nvSpPr>
          <p:cNvPr id="210" name="Rectangle: Top Corners Rounded 50">
            <a:extLst>
              <a:ext uri="{FF2B5EF4-FFF2-40B4-BE49-F238E27FC236}">
                <a16:creationId xmlns:a16="http://schemas.microsoft.com/office/drawing/2014/main" id="{1D213BE5-E475-477A-9744-79DF2AB8850B}"/>
              </a:ext>
            </a:extLst>
          </p:cNvPr>
          <p:cNvSpPr/>
          <p:nvPr/>
        </p:nvSpPr>
        <p:spPr>
          <a:xfrm>
            <a:off x="7781617" y="5507080"/>
            <a:ext cx="1825909" cy="666021"/>
          </a:xfrm>
          <a:prstGeom prst="roundRect">
            <a:avLst>
              <a:gd name="adj" fmla="val 8708"/>
            </a:avLst>
          </a:prstGeom>
          <a:solidFill>
            <a:srgbClr val="DBDBDB"/>
          </a:solidFill>
          <a:ln w="12700" cap="flat" cmpd="sng" algn="ctr">
            <a:noFill/>
            <a:prstDash val="solid"/>
            <a:miter lim="800000"/>
          </a:ln>
          <a:effectLst/>
        </p:spPr>
        <p:txBody>
          <a:bodyPr rtlCol="0" anchor="ctr"/>
          <a:lstStyle/>
          <a:p>
            <a:pPr lvl="0" algn="ctr">
              <a:defRPr/>
            </a:pPr>
            <a:r>
              <a:rPr lang="en-US" sz="1300" kern="0"/>
              <a:t>Investment out-performance adjustment</a:t>
            </a:r>
          </a:p>
        </p:txBody>
      </p:sp>
      <p:cxnSp>
        <p:nvCxnSpPr>
          <p:cNvPr id="216" name="Straight Arrow Connector 215">
            <a:extLst>
              <a:ext uri="{FF2B5EF4-FFF2-40B4-BE49-F238E27FC236}">
                <a16:creationId xmlns:a16="http://schemas.microsoft.com/office/drawing/2014/main" id="{BD46EC26-C597-44EC-B6BF-94641AAEEE34}"/>
              </a:ext>
            </a:extLst>
          </p:cNvPr>
          <p:cNvCxnSpPr>
            <a:cxnSpLocks/>
          </p:cNvCxnSpPr>
          <p:nvPr/>
        </p:nvCxnSpPr>
        <p:spPr>
          <a:xfrm>
            <a:off x="4171309" y="1981548"/>
            <a:ext cx="1226987" cy="0"/>
          </a:xfrm>
          <a:prstGeom prst="straightConnector1">
            <a:avLst/>
          </a:prstGeom>
          <a:noFill/>
          <a:ln w="6350" cap="flat" cmpd="sng" algn="ctr">
            <a:solidFill>
              <a:srgbClr val="FB4E0B"/>
            </a:solidFill>
            <a:prstDash val="solid"/>
            <a:miter lim="800000"/>
            <a:tailEnd type="triangle"/>
          </a:ln>
          <a:effectLst/>
        </p:spPr>
      </p:cxnSp>
      <p:cxnSp>
        <p:nvCxnSpPr>
          <p:cNvPr id="217" name="Straight Arrow Connector 216">
            <a:extLst>
              <a:ext uri="{FF2B5EF4-FFF2-40B4-BE49-F238E27FC236}">
                <a16:creationId xmlns:a16="http://schemas.microsoft.com/office/drawing/2014/main" id="{34A83938-474A-4E7C-BD3F-4B439DD45943}"/>
              </a:ext>
            </a:extLst>
          </p:cNvPr>
          <p:cNvCxnSpPr>
            <a:cxnSpLocks/>
            <a:stCxn id="208" idx="2"/>
            <a:endCxn id="210" idx="0"/>
          </p:cNvCxnSpPr>
          <p:nvPr/>
        </p:nvCxnSpPr>
        <p:spPr>
          <a:xfrm>
            <a:off x="8688653" y="3511242"/>
            <a:ext cx="5919" cy="1995838"/>
          </a:xfrm>
          <a:prstGeom prst="straightConnector1">
            <a:avLst/>
          </a:prstGeom>
          <a:noFill/>
          <a:ln w="6350" cap="flat" cmpd="sng" algn="ctr">
            <a:solidFill>
              <a:srgbClr val="FB4E0B"/>
            </a:solidFill>
            <a:prstDash val="solid"/>
            <a:miter lim="800000"/>
            <a:tailEnd type="triangle"/>
          </a:ln>
          <a:effectLst/>
        </p:spPr>
      </p:cxnSp>
      <p:cxnSp>
        <p:nvCxnSpPr>
          <p:cNvPr id="220" name="Straight Arrow Connector 219">
            <a:extLst>
              <a:ext uri="{FF2B5EF4-FFF2-40B4-BE49-F238E27FC236}">
                <a16:creationId xmlns:a16="http://schemas.microsoft.com/office/drawing/2014/main" id="{10DFF63F-CC0E-4939-AE1C-7DD7D7E7AFA0}"/>
              </a:ext>
            </a:extLst>
          </p:cNvPr>
          <p:cNvCxnSpPr>
            <a:cxnSpLocks/>
            <a:stCxn id="202" idx="3"/>
            <a:endCxn id="155" idx="1"/>
          </p:cNvCxnSpPr>
          <p:nvPr/>
        </p:nvCxnSpPr>
        <p:spPr>
          <a:xfrm>
            <a:off x="5077741" y="4129255"/>
            <a:ext cx="475490" cy="1716"/>
          </a:xfrm>
          <a:prstGeom prst="straightConnector1">
            <a:avLst/>
          </a:prstGeom>
          <a:noFill/>
          <a:ln w="6350" cap="flat" cmpd="sng" algn="ctr">
            <a:solidFill>
              <a:srgbClr val="FB4E0B"/>
            </a:solidFill>
            <a:prstDash val="solid"/>
            <a:miter lim="800000"/>
            <a:tailEnd type="triangle"/>
          </a:ln>
          <a:effectLst/>
        </p:spPr>
      </p:cxnSp>
      <p:cxnSp>
        <p:nvCxnSpPr>
          <p:cNvPr id="221" name="Straight Arrow Connector 220">
            <a:extLst>
              <a:ext uri="{FF2B5EF4-FFF2-40B4-BE49-F238E27FC236}">
                <a16:creationId xmlns:a16="http://schemas.microsoft.com/office/drawing/2014/main" id="{204B5AC9-4EF5-4711-9FE2-E19055224EB1}"/>
              </a:ext>
            </a:extLst>
          </p:cNvPr>
          <p:cNvCxnSpPr>
            <a:cxnSpLocks/>
            <a:stCxn id="210" idx="1"/>
            <a:endCxn id="205" idx="3"/>
          </p:cNvCxnSpPr>
          <p:nvPr/>
        </p:nvCxnSpPr>
        <p:spPr>
          <a:xfrm flipH="1" flipV="1">
            <a:off x="5077741" y="5840090"/>
            <a:ext cx="2703876" cy="1"/>
          </a:xfrm>
          <a:prstGeom prst="straightConnector1">
            <a:avLst/>
          </a:prstGeom>
          <a:noFill/>
          <a:ln w="6350" cap="flat" cmpd="sng" algn="ctr">
            <a:solidFill>
              <a:srgbClr val="FB4E0B"/>
            </a:solidFill>
            <a:prstDash val="solid"/>
            <a:miter lim="800000"/>
            <a:tailEnd type="triangle"/>
          </a:ln>
          <a:effectLst/>
        </p:spPr>
      </p:cxnSp>
      <p:cxnSp>
        <p:nvCxnSpPr>
          <p:cNvPr id="222" name="Straight Connector 221">
            <a:extLst>
              <a:ext uri="{FF2B5EF4-FFF2-40B4-BE49-F238E27FC236}">
                <a16:creationId xmlns:a16="http://schemas.microsoft.com/office/drawing/2014/main" id="{42815022-6C25-411D-BDB9-318B31E94C4A}"/>
              </a:ext>
            </a:extLst>
          </p:cNvPr>
          <p:cNvCxnSpPr>
            <a:cxnSpLocks/>
          </p:cNvCxnSpPr>
          <p:nvPr/>
        </p:nvCxnSpPr>
        <p:spPr>
          <a:xfrm flipV="1">
            <a:off x="4168636" y="1981548"/>
            <a:ext cx="0" cy="359147"/>
          </a:xfrm>
          <a:prstGeom prst="line">
            <a:avLst/>
          </a:prstGeom>
          <a:noFill/>
          <a:ln w="6350" cap="flat" cmpd="sng" algn="ctr">
            <a:solidFill>
              <a:srgbClr val="FB4E0B"/>
            </a:solidFill>
            <a:prstDash val="solid"/>
            <a:miter lim="800000"/>
          </a:ln>
          <a:effectLst/>
        </p:spPr>
      </p:cxnSp>
      <p:cxnSp>
        <p:nvCxnSpPr>
          <p:cNvPr id="223" name="Straight Arrow Connector 222">
            <a:extLst>
              <a:ext uri="{FF2B5EF4-FFF2-40B4-BE49-F238E27FC236}">
                <a16:creationId xmlns:a16="http://schemas.microsoft.com/office/drawing/2014/main" id="{DE5248A2-F5CD-498E-AB02-A4980DFCEAF0}"/>
              </a:ext>
            </a:extLst>
          </p:cNvPr>
          <p:cNvCxnSpPr>
            <a:cxnSpLocks/>
            <a:stCxn id="205" idx="0"/>
          </p:cNvCxnSpPr>
          <p:nvPr/>
        </p:nvCxnSpPr>
        <p:spPr>
          <a:xfrm flipV="1">
            <a:off x="4101926" y="4417833"/>
            <a:ext cx="5378" cy="1123460"/>
          </a:xfrm>
          <a:prstGeom prst="straightConnector1">
            <a:avLst/>
          </a:prstGeom>
          <a:noFill/>
          <a:ln w="6350" cap="flat" cmpd="sng" algn="ctr">
            <a:solidFill>
              <a:srgbClr val="FB4E0B"/>
            </a:solidFill>
            <a:prstDash val="solid"/>
            <a:miter lim="800000"/>
            <a:tailEnd type="triangle"/>
          </a:ln>
          <a:effectLst/>
        </p:spPr>
      </p:cxnSp>
      <p:cxnSp>
        <p:nvCxnSpPr>
          <p:cNvPr id="224" name="Straight Arrow Connector 223">
            <a:extLst>
              <a:ext uri="{FF2B5EF4-FFF2-40B4-BE49-F238E27FC236}">
                <a16:creationId xmlns:a16="http://schemas.microsoft.com/office/drawing/2014/main" id="{8E1FD052-8F58-4725-8127-C605B3BC2066}"/>
              </a:ext>
            </a:extLst>
          </p:cNvPr>
          <p:cNvCxnSpPr>
            <a:cxnSpLocks/>
            <a:stCxn id="202" idx="0"/>
            <a:endCxn id="200" idx="2"/>
          </p:cNvCxnSpPr>
          <p:nvPr/>
        </p:nvCxnSpPr>
        <p:spPr>
          <a:xfrm flipV="1">
            <a:off x="4101926" y="2958656"/>
            <a:ext cx="5378" cy="871802"/>
          </a:xfrm>
          <a:prstGeom prst="straightConnector1">
            <a:avLst/>
          </a:prstGeom>
          <a:noFill/>
          <a:ln w="6350" cap="flat" cmpd="sng" algn="ctr">
            <a:solidFill>
              <a:srgbClr val="FB4E0B"/>
            </a:solidFill>
            <a:prstDash val="solid"/>
            <a:miter lim="800000"/>
            <a:tailEnd type="triangle"/>
          </a:ln>
          <a:effectLst/>
        </p:spPr>
      </p:cxnSp>
      <p:sp>
        <p:nvSpPr>
          <p:cNvPr id="225" name="Rectangle 224">
            <a:extLst>
              <a:ext uri="{FF2B5EF4-FFF2-40B4-BE49-F238E27FC236}">
                <a16:creationId xmlns:a16="http://schemas.microsoft.com/office/drawing/2014/main" id="{708A916F-806D-47DB-B4F3-8F05F8FC6353}"/>
              </a:ext>
            </a:extLst>
          </p:cNvPr>
          <p:cNvSpPr/>
          <p:nvPr/>
        </p:nvSpPr>
        <p:spPr>
          <a:xfrm>
            <a:off x="2862306" y="4134512"/>
            <a:ext cx="650597" cy="256558"/>
          </a:xfrm>
          <a:prstGeom prst="rect">
            <a:avLst/>
          </a:prstGeom>
          <a:solidFill>
            <a:srgbClr val="414141"/>
          </a:solid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26" name="TextBox 225">
            <a:extLst>
              <a:ext uri="{FF2B5EF4-FFF2-40B4-BE49-F238E27FC236}">
                <a16:creationId xmlns:a16="http://schemas.microsoft.com/office/drawing/2014/main" id="{FE2ED5C4-EB2D-4A98-9511-3A7A39CA215F}"/>
              </a:ext>
            </a:extLst>
          </p:cNvPr>
          <p:cNvSpPr txBox="1"/>
          <p:nvPr/>
        </p:nvSpPr>
        <p:spPr>
          <a:xfrm>
            <a:off x="2934225" y="4114071"/>
            <a:ext cx="48256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Calibri" panose="020F0502020204030204"/>
                <a:ea typeface="+mn-ea"/>
                <a:cs typeface="+mn-cs"/>
              </a:rPr>
              <a:t>Start</a:t>
            </a:r>
          </a:p>
        </p:txBody>
      </p:sp>
      <p:grpSp>
        <p:nvGrpSpPr>
          <p:cNvPr id="232" name="Group 231">
            <a:extLst>
              <a:ext uri="{FF2B5EF4-FFF2-40B4-BE49-F238E27FC236}">
                <a16:creationId xmlns:a16="http://schemas.microsoft.com/office/drawing/2014/main" id="{C5C6DAFB-5EE4-467B-A760-8B3DA4291880}"/>
              </a:ext>
            </a:extLst>
          </p:cNvPr>
          <p:cNvGrpSpPr/>
          <p:nvPr/>
        </p:nvGrpSpPr>
        <p:grpSpPr>
          <a:xfrm>
            <a:off x="5683748" y="4895629"/>
            <a:ext cx="703506" cy="684223"/>
            <a:chOff x="6502507" y="5872937"/>
            <a:chExt cx="703506" cy="780277"/>
          </a:xfrm>
          <a:solidFill>
            <a:srgbClr val="FD956D"/>
          </a:solidFill>
        </p:grpSpPr>
        <p:sp>
          <p:nvSpPr>
            <p:cNvPr id="233" name="Flowchart: Magnetic Disk 232">
              <a:extLst>
                <a:ext uri="{FF2B5EF4-FFF2-40B4-BE49-F238E27FC236}">
                  <a16:creationId xmlns:a16="http://schemas.microsoft.com/office/drawing/2014/main" id="{AF737C7E-8AFD-42D6-BADC-FDF42821946A}"/>
                </a:ext>
              </a:extLst>
            </p:cNvPr>
            <p:cNvSpPr/>
            <p:nvPr/>
          </p:nvSpPr>
          <p:spPr>
            <a:xfrm>
              <a:off x="6502507" y="6328315"/>
              <a:ext cx="703506" cy="324899"/>
            </a:xfrm>
            <a:prstGeom prst="flowChartMagneticDisk">
              <a:avLst/>
            </a:prstGeom>
            <a:grp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34" name="Flowchart: Magnetic Disk 233">
              <a:extLst>
                <a:ext uri="{FF2B5EF4-FFF2-40B4-BE49-F238E27FC236}">
                  <a16:creationId xmlns:a16="http://schemas.microsoft.com/office/drawing/2014/main" id="{8134FBC2-F1D0-4271-A846-CC2D221ACC60}"/>
                </a:ext>
              </a:extLst>
            </p:cNvPr>
            <p:cNvSpPr/>
            <p:nvPr/>
          </p:nvSpPr>
          <p:spPr>
            <a:xfrm>
              <a:off x="6502507" y="6101817"/>
              <a:ext cx="703506" cy="324899"/>
            </a:xfrm>
            <a:prstGeom prst="flowChartMagneticDisk">
              <a:avLst/>
            </a:prstGeom>
            <a:grp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35" name="Flowchart: Magnetic Disk 234">
              <a:extLst>
                <a:ext uri="{FF2B5EF4-FFF2-40B4-BE49-F238E27FC236}">
                  <a16:creationId xmlns:a16="http://schemas.microsoft.com/office/drawing/2014/main" id="{C967C99B-FC28-4511-AB6C-F26C433C4FAC}"/>
                </a:ext>
              </a:extLst>
            </p:cNvPr>
            <p:cNvSpPr/>
            <p:nvPr/>
          </p:nvSpPr>
          <p:spPr>
            <a:xfrm>
              <a:off x="6502507" y="5872937"/>
              <a:ext cx="703506" cy="324899"/>
            </a:xfrm>
            <a:prstGeom prst="flowChartMagneticDisk">
              <a:avLst/>
            </a:prstGeom>
            <a:grp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cxnSp>
        <p:nvCxnSpPr>
          <p:cNvPr id="238" name="Straight Connector 237">
            <a:extLst>
              <a:ext uri="{FF2B5EF4-FFF2-40B4-BE49-F238E27FC236}">
                <a16:creationId xmlns:a16="http://schemas.microsoft.com/office/drawing/2014/main" id="{7BFEB09D-5E0B-4AC5-8A6B-FBBC56EB4C72}"/>
              </a:ext>
            </a:extLst>
          </p:cNvPr>
          <p:cNvCxnSpPr/>
          <p:nvPr/>
        </p:nvCxnSpPr>
        <p:spPr>
          <a:xfrm>
            <a:off x="9921577" y="1609733"/>
            <a:ext cx="0" cy="4732868"/>
          </a:xfrm>
          <a:prstGeom prst="line">
            <a:avLst/>
          </a:prstGeom>
          <a:noFill/>
          <a:ln w="6350" cap="flat" cmpd="sng" algn="ctr">
            <a:solidFill>
              <a:srgbClr val="DBDBDB"/>
            </a:solidFill>
            <a:prstDash val="solid"/>
            <a:miter lim="800000"/>
          </a:ln>
          <a:effectLst/>
        </p:spPr>
      </p:cxnSp>
      <p:graphicFrame>
        <p:nvGraphicFramePr>
          <p:cNvPr id="239" name="Table 238">
            <a:extLst>
              <a:ext uri="{FF2B5EF4-FFF2-40B4-BE49-F238E27FC236}">
                <a16:creationId xmlns:a16="http://schemas.microsoft.com/office/drawing/2014/main" id="{82535B66-65CA-4514-816B-7B6BD0071C53}"/>
              </a:ext>
            </a:extLst>
          </p:cNvPr>
          <p:cNvGraphicFramePr>
            <a:graphicFrameLocks noGrp="1"/>
          </p:cNvGraphicFramePr>
          <p:nvPr/>
        </p:nvGraphicFramePr>
        <p:xfrm>
          <a:off x="442707" y="5024790"/>
          <a:ext cx="1425850" cy="370840"/>
        </p:xfrm>
        <a:graphic>
          <a:graphicData uri="http://schemas.openxmlformats.org/drawingml/2006/table">
            <a:tbl>
              <a:tblPr firstRow="1" bandRow="1"/>
              <a:tblGrid>
                <a:gridCol w="1425850">
                  <a:extLst>
                    <a:ext uri="{9D8B030D-6E8A-4147-A177-3AD203B41FA5}">
                      <a16:colId xmlns:a16="http://schemas.microsoft.com/office/drawing/2014/main" val="20000"/>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r>
                        <a:rPr lang="en-US" sz="1600" b="1">
                          <a:solidFill>
                            <a:schemeClr val="accent3"/>
                          </a:solidFill>
                        </a:rPr>
                        <a:t>Challenges</a:t>
                      </a:r>
                      <a:endParaRPr lang="en-US" sz="2000" b="1">
                        <a:solidFill>
                          <a:schemeClr val="accent3"/>
                        </a:solidFill>
                      </a:endParaRPr>
                    </a:p>
                  </a:txBody>
                  <a:tcPr marL="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240" name="TextBox 239">
            <a:extLst>
              <a:ext uri="{FF2B5EF4-FFF2-40B4-BE49-F238E27FC236}">
                <a16:creationId xmlns:a16="http://schemas.microsoft.com/office/drawing/2014/main" id="{5E2878C3-604E-46E0-B243-3A8F9009BA1F}"/>
              </a:ext>
            </a:extLst>
          </p:cNvPr>
          <p:cNvSpPr txBox="1"/>
          <p:nvPr/>
        </p:nvSpPr>
        <p:spPr>
          <a:xfrm>
            <a:off x="447555" y="5403401"/>
            <a:ext cx="1147876" cy="441078"/>
          </a:xfrm>
          <a:prstGeom prst="rect">
            <a:avLst/>
          </a:prstGeom>
          <a:solidFill>
            <a:srgbClr val="FFFFFF"/>
          </a:solidFill>
          <a:ln w="9525">
            <a:noFill/>
            <a:miter lim="800000"/>
            <a:headEnd/>
            <a:tailEnd/>
          </a:ln>
          <a:effectLst/>
        </p:spPr>
        <p:txBody>
          <a:bodyPr lIns="0" tIns="45714" rIns="45714" bIns="45714"/>
          <a:lstStyle>
            <a:defPPr>
              <a:defRPr lang="en-US"/>
            </a:defPPr>
            <a:lvl1pPr marR="0" lvl="0" indent="0" fontAlgn="auto">
              <a:lnSpc>
                <a:spcPct val="100000"/>
              </a:lnSpc>
              <a:spcBef>
                <a:spcPts val="0"/>
              </a:spcBef>
              <a:spcAft>
                <a:spcPts val="0"/>
              </a:spcAft>
              <a:buClrTx/>
              <a:buSzTx/>
              <a:buFontTx/>
              <a:buNone/>
              <a:tabLst/>
              <a:defRPr kumimoji="0" sz="1100" b="0" u="none" strike="noStrike" cap="none" spc="0" normalizeH="0" baseline="0">
                <a:ln>
                  <a:noFill/>
                </a:ln>
                <a:solidFill>
                  <a:prstClr val="black"/>
                </a:solidFill>
                <a:effectLst/>
                <a:uLnTx/>
                <a:uFillTx/>
                <a:latin typeface="+mj-lt"/>
                <a:cs typeface="Arial" panose="020B0604020202020204" pitchFamily="34" charset="0"/>
              </a:defRPr>
            </a:lvl1pPr>
            <a:lvl2pPr marL="0" marR="0" lvl="1" indent="0" fontAlgn="base">
              <a:lnSpc>
                <a:spcPct val="100000"/>
              </a:lnSpc>
              <a:spcBef>
                <a:spcPts val="0"/>
              </a:spcBef>
              <a:spcAft>
                <a:spcPts val="100"/>
              </a:spcAft>
              <a:buClr>
                <a:srgbClr val="FF6503"/>
              </a:buClr>
              <a:buSzPct val="100000"/>
              <a:buFontTx/>
              <a:buNone/>
              <a:tabLst/>
              <a:defRPr kumimoji="0" sz="1200" b="1" u="none" strike="noStrike" cap="none" spc="0" normalizeH="0" baseline="0">
                <a:ln>
                  <a:noFill/>
                </a:ln>
                <a:solidFill>
                  <a:prstClr val="black"/>
                </a:solidFill>
                <a:effectLst/>
                <a:uLnTx/>
                <a:uFillTx/>
                <a:latin typeface="+mj-lt"/>
                <a:cs typeface="Arial" panose="020B0604020202020204" pitchFamily="34" charset="0"/>
              </a:defRPr>
            </a:lvl2pPr>
          </a:lstStyle>
          <a:p>
            <a:pPr marL="182880" marR="0" lvl="0" indent="-182880" algn="l" defTabSz="914400" rtl="0" eaLnBrk="1" fontAlgn="auto" latinLnBrk="0" hangingPunct="1">
              <a:lnSpc>
                <a:spcPct val="100000"/>
              </a:lnSpc>
              <a:spcBef>
                <a:spcPts val="300"/>
              </a:spcBef>
              <a:spcAft>
                <a:spcPts val="0"/>
              </a:spcAft>
              <a:buClr>
                <a:srgbClr val="FB4D0A"/>
              </a:buClr>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Calibri" panose="020F0502020204030204"/>
                <a:ea typeface="+mn-ea"/>
                <a:cs typeface="Arial" panose="020B0604020202020204" pitchFamily="34" charset="0"/>
              </a:rPr>
              <a:t>Process Gaps</a:t>
            </a:r>
          </a:p>
        </p:txBody>
      </p:sp>
      <p:sp>
        <p:nvSpPr>
          <p:cNvPr id="241" name="TextBox 240">
            <a:extLst>
              <a:ext uri="{FF2B5EF4-FFF2-40B4-BE49-F238E27FC236}">
                <a16:creationId xmlns:a16="http://schemas.microsoft.com/office/drawing/2014/main" id="{F0F70543-5C57-4497-B7E9-F2ABD17F3DFC}"/>
              </a:ext>
            </a:extLst>
          </p:cNvPr>
          <p:cNvSpPr txBox="1"/>
          <p:nvPr/>
        </p:nvSpPr>
        <p:spPr>
          <a:xfrm>
            <a:off x="1679636" y="5403401"/>
            <a:ext cx="1167476" cy="441078"/>
          </a:xfrm>
          <a:prstGeom prst="rect">
            <a:avLst/>
          </a:prstGeom>
          <a:solidFill>
            <a:srgbClr val="FFFFFF"/>
          </a:solidFill>
          <a:ln w="9525">
            <a:noFill/>
            <a:miter lim="800000"/>
            <a:headEnd/>
            <a:tailEnd/>
          </a:ln>
          <a:effectLst/>
        </p:spPr>
        <p:txBody>
          <a:bodyPr lIns="91429" tIns="45714" rIns="45714" bIns="45714"/>
          <a:lstStyle>
            <a:defPPr>
              <a:defRPr lang="en-US"/>
            </a:defPPr>
            <a:lvl1pPr marR="0" lvl="0" indent="0" fontAlgn="auto">
              <a:lnSpc>
                <a:spcPct val="100000"/>
              </a:lnSpc>
              <a:spcBef>
                <a:spcPts val="0"/>
              </a:spcBef>
              <a:spcAft>
                <a:spcPts val="0"/>
              </a:spcAft>
              <a:buClrTx/>
              <a:buSzTx/>
              <a:buFontTx/>
              <a:buNone/>
              <a:tabLst/>
              <a:defRPr kumimoji="0" sz="1100" b="0" u="none" strike="noStrike" cap="none" spc="0" normalizeH="0" baseline="0">
                <a:ln>
                  <a:noFill/>
                </a:ln>
                <a:solidFill>
                  <a:prstClr val="black"/>
                </a:solidFill>
                <a:effectLst/>
                <a:uLnTx/>
                <a:uFillTx/>
                <a:latin typeface="+mj-lt"/>
                <a:cs typeface="Arial" panose="020B0604020202020204" pitchFamily="34" charset="0"/>
              </a:defRPr>
            </a:lvl1pPr>
            <a:lvl2pPr marL="0" marR="0" lvl="1" indent="0" fontAlgn="base">
              <a:lnSpc>
                <a:spcPct val="100000"/>
              </a:lnSpc>
              <a:spcBef>
                <a:spcPts val="0"/>
              </a:spcBef>
              <a:spcAft>
                <a:spcPts val="100"/>
              </a:spcAft>
              <a:buClr>
                <a:srgbClr val="FF6503"/>
              </a:buClr>
              <a:buSzPct val="100000"/>
              <a:buFontTx/>
              <a:buNone/>
              <a:tabLst/>
              <a:defRPr kumimoji="0" sz="1200" b="1" u="none" strike="noStrike" cap="none" spc="0" normalizeH="0" baseline="0">
                <a:ln>
                  <a:noFill/>
                </a:ln>
                <a:solidFill>
                  <a:prstClr val="black"/>
                </a:solidFill>
                <a:effectLst/>
                <a:uLnTx/>
                <a:uFillTx/>
                <a:latin typeface="+mj-lt"/>
                <a:cs typeface="Arial" panose="020B0604020202020204" pitchFamily="34" charset="0"/>
              </a:defRPr>
            </a:lvl2pPr>
          </a:lstStyle>
          <a:p>
            <a:pPr marL="182880" marR="0" lvl="0" indent="-182880" algn="l" defTabSz="914400" rtl="0" eaLnBrk="1" fontAlgn="auto" latinLnBrk="0" hangingPunct="1">
              <a:lnSpc>
                <a:spcPct val="100000"/>
              </a:lnSpc>
              <a:spcBef>
                <a:spcPts val="300"/>
              </a:spcBef>
              <a:spcAft>
                <a:spcPts val="0"/>
              </a:spcAft>
              <a:buClr>
                <a:srgbClr val="FB4D0A"/>
              </a:buClr>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Calibri" panose="020F0502020204030204"/>
                <a:ea typeface="+mn-ea"/>
                <a:cs typeface="Arial" panose="020B0604020202020204" pitchFamily="34" charset="0"/>
              </a:rPr>
              <a:t>Partial Process automations</a:t>
            </a:r>
          </a:p>
        </p:txBody>
      </p:sp>
      <p:sp>
        <p:nvSpPr>
          <p:cNvPr id="242" name="TextBox 241">
            <a:extLst>
              <a:ext uri="{FF2B5EF4-FFF2-40B4-BE49-F238E27FC236}">
                <a16:creationId xmlns:a16="http://schemas.microsoft.com/office/drawing/2014/main" id="{07BF95FC-BDF4-4C1A-A263-C142C4E8E607}"/>
              </a:ext>
            </a:extLst>
          </p:cNvPr>
          <p:cNvSpPr txBox="1"/>
          <p:nvPr/>
        </p:nvSpPr>
        <p:spPr>
          <a:xfrm>
            <a:off x="452431" y="5867960"/>
            <a:ext cx="1143000" cy="246888"/>
          </a:xfrm>
          <a:prstGeom prst="rect">
            <a:avLst/>
          </a:prstGeom>
          <a:solidFill>
            <a:srgbClr val="FFFFFF"/>
          </a:solidFill>
          <a:ln w="9525">
            <a:noFill/>
            <a:miter lim="800000"/>
            <a:headEnd/>
            <a:tailEnd/>
          </a:ln>
          <a:effectLst/>
        </p:spPr>
        <p:txBody>
          <a:bodyPr lIns="0" tIns="45714" rIns="45714" bIns="45714" anchor="ctr"/>
          <a:lstStyle>
            <a:defPPr>
              <a:defRPr lang="en-US"/>
            </a:defPPr>
            <a:lvl1pPr marR="0" lvl="0" indent="0" fontAlgn="auto">
              <a:lnSpc>
                <a:spcPct val="100000"/>
              </a:lnSpc>
              <a:spcBef>
                <a:spcPts val="0"/>
              </a:spcBef>
              <a:spcAft>
                <a:spcPts val="0"/>
              </a:spcAft>
              <a:buClrTx/>
              <a:buSzTx/>
              <a:buFontTx/>
              <a:buNone/>
              <a:tabLst/>
              <a:defRPr kumimoji="0" sz="1100" b="0" u="none" strike="noStrike" cap="none" spc="0" normalizeH="0" baseline="0">
                <a:ln>
                  <a:noFill/>
                </a:ln>
                <a:solidFill>
                  <a:prstClr val="black"/>
                </a:solidFill>
                <a:effectLst/>
                <a:uLnTx/>
                <a:uFillTx/>
                <a:latin typeface="+mj-lt"/>
                <a:cs typeface="Arial" panose="020B0604020202020204" pitchFamily="34" charset="0"/>
              </a:defRPr>
            </a:lvl1pPr>
            <a:lvl2pPr marL="0" marR="0" lvl="1" indent="0" fontAlgn="base">
              <a:lnSpc>
                <a:spcPct val="100000"/>
              </a:lnSpc>
              <a:spcBef>
                <a:spcPts val="0"/>
              </a:spcBef>
              <a:spcAft>
                <a:spcPts val="100"/>
              </a:spcAft>
              <a:buClr>
                <a:srgbClr val="FF6503"/>
              </a:buClr>
              <a:buSzPct val="100000"/>
              <a:buFontTx/>
              <a:buNone/>
              <a:tabLst/>
              <a:defRPr kumimoji="0" sz="1200" b="1" u="none" strike="noStrike" cap="none" spc="0" normalizeH="0" baseline="0">
                <a:ln>
                  <a:noFill/>
                </a:ln>
                <a:solidFill>
                  <a:prstClr val="black"/>
                </a:solidFill>
                <a:effectLst/>
                <a:uLnTx/>
                <a:uFillTx/>
                <a:latin typeface="+mj-lt"/>
                <a:cs typeface="Arial" panose="020B0604020202020204" pitchFamily="34" charset="0"/>
              </a:defRPr>
            </a:lvl2pPr>
          </a:lstStyle>
          <a:p>
            <a:pPr marL="182880" marR="0" lvl="0" indent="-182880" algn="l" defTabSz="914400" rtl="0" eaLnBrk="1" fontAlgn="auto" latinLnBrk="0" hangingPunct="1">
              <a:lnSpc>
                <a:spcPct val="100000"/>
              </a:lnSpc>
              <a:spcBef>
                <a:spcPts val="300"/>
              </a:spcBef>
              <a:spcAft>
                <a:spcPts val="0"/>
              </a:spcAft>
              <a:buClr>
                <a:srgbClr val="FB4D0A"/>
              </a:buClr>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Calibri" panose="020F0502020204030204"/>
                <a:ea typeface="+mn-ea"/>
                <a:cs typeface="Arial" panose="020B0604020202020204" pitchFamily="34" charset="0"/>
              </a:rPr>
              <a:t>Short Timelines</a:t>
            </a:r>
          </a:p>
        </p:txBody>
      </p:sp>
      <p:sp>
        <p:nvSpPr>
          <p:cNvPr id="243" name="TextBox 242">
            <a:extLst>
              <a:ext uri="{FF2B5EF4-FFF2-40B4-BE49-F238E27FC236}">
                <a16:creationId xmlns:a16="http://schemas.microsoft.com/office/drawing/2014/main" id="{266A6FB4-F96F-4D9F-90A4-26F6E9250432}"/>
              </a:ext>
            </a:extLst>
          </p:cNvPr>
          <p:cNvSpPr txBox="1"/>
          <p:nvPr/>
        </p:nvSpPr>
        <p:spPr>
          <a:xfrm>
            <a:off x="1679636" y="6114848"/>
            <a:ext cx="1143000" cy="246888"/>
          </a:xfrm>
          <a:prstGeom prst="rect">
            <a:avLst/>
          </a:prstGeom>
          <a:solidFill>
            <a:srgbClr val="FFFFFF"/>
          </a:solidFill>
          <a:ln w="9525">
            <a:noFill/>
            <a:miter lim="800000"/>
            <a:headEnd/>
            <a:tailEnd/>
          </a:ln>
          <a:effectLst/>
        </p:spPr>
        <p:txBody>
          <a:bodyPr lIns="91429" tIns="45714" rIns="45714" bIns="45714" anchor="ctr"/>
          <a:lstStyle>
            <a:defPPr>
              <a:defRPr lang="en-US"/>
            </a:defPPr>
            <a:lvl1pPr marR="0" lvl="0" indent="0" fontAlgn="auto">
              <a:lnSpc>
                <a:spcPct val="100000"/>
              </a:lnSpc>
              <a:spcBef>
                <a:spcPts val="0"/>
              </a:spcBef>
              <a:spcAft>
                <a:spcPts val="0"/>
              </a:spcAft>
              <a:buClrTx/>
              <a:buSzTx/>
              <a:buFontTx/>
              <a:buNone/>
              <a:tabLst/>
              <a:defRPr kumimoji="0" sz="1100" b="0" u="none" strike="noStrike" cap="none" spc="0" normalizeH="0" baseline="0">
                <a:ln>
                  <a:noFill/>
                </a:ln>
                <a:solidFill>
                  <a:prstClr val="black"/>
                </a:solidFill>
                <a:effectLst/>
                <a:uLnTx/>
                <a:uFillTx/>
                <a:latin typeface="+mj-lt"/>
                <a:cs typeface="Arial" panose="020B0604020202020204" pitchFamily="34" charset="0"/>
              </a:defRPr>
            </a:lvl1pPr>
            <a:lvl2pPr marL="0" marR="0" lvl="1" indent="0" fontAlgn="base">
              <a:lnSpc>
                <a:spcPct val="100000"/>
              </a:lnSpc>
              <a:spcBef>
                <a:spcPts val="0"/>
              </a:spcBef>
              <a:spcAft>
                <a:spcPts val="100"/>
              </a:spcAft>
              <a:buClr>
                <a:srgbClr val="FF6503"/>
              </a:buClr>
              <a:buSzPct val="100000"/>
              <a:buFontTx/>
              <a:buNone/>
              <a:tabLst/>
              <a:defRPr kumimoji="0" sz="1200" b="1" u="none" strike="noStrike" cap="none" spc="0" normalizeH="0" baseline="0">
                <a:ln>
                  <a:noFill/>
                </a:ln>
                <a:solidFill>
                  <a:prstClr val="black"/>
                </a:solidFill>
                <a:effectLst/>
                <a:uLnTx/>
                <a:uFillTx/>
                <a:latin typeface="+mj-lt"/>
                <a:cs typeface="Arial" panose="020B0604020202020204" pitchFamily="34" charset="0"/>
              </a:defRPr>
            </a:lvl2pPr>
          </a:lstStyle>
          <a:p>
            <a:pPr marL="182880" marR="0" lvl="0" indent="-182880" algn="l" defTabSz="914400" rtl="0" eaLnBrk="1" fontAlgn="auto" latinLnBrk="0" hangingPunct="1">
              <a:lnSpc>
                <a:spcPct val="100000"/>
              </a:lnSpc>
              <a:spcBef>
                <a:spcPts val="300"/>
              </a:spcBef>
              <a:spcAft>
                <a:spcPts val="0"/>
              </a:spcAft>
              <a:buClr>
                <a:srgbClr val="FB4D0A"/>
              </a:buClr>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Calibri" panose="020F0502020204030204"/>
                <a:ea typeface="+mn-ea"/>
                <a:cs typeface="Arial" panose="020B0604020202020204" pitchFamily="34" charset="0"/>
              </a:rPr>
              <a:t>Input dependencies on different teams</a:t>
            </a:r>
          </a:p>
        </p:txBody>
      </p:sp>
      <p:pic>
        <p:nvPicPr>
          <p:cNvPr id="68" name="Picture 8" descr="MG-ALFA Compute for Windows Azure - YouTube">
            <a:extLst>
              <a:ext uri="{FF2B5EF4-FFF2-40B4-BE49-F238E27FC236}">
                <a16:creationId xmlns:a16="http://schemas.microsoft.com/office/drawing/2014/main" id="{6AC1D191-075E-40E6-A3CE-D7DC8B9052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7863" y="2121401"/>
            <a:ext cx="663484" cy="345912"/>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10" descr="Image result for ms excel">
            <a:extLst>
              <a:ext uri="{FF2B5EF4-FFF2-40B4-BE49-F238E27FC236}">
                <a16:creationId xmlns:a16="http://schemas.microsoft.com/office/drawing/2014/main" id="{680D4EE7-CA38-4A94-A0B6-55F3242626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35005" y="2079025"/>
            <a:ext cx="379734" cy="375561"/>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69">
            <a:extLst>
              <a:ext uri="{FF2B5EF4-FFF2-40B4-BE49-F238E27FC236}">
                <a16:creationId xmlns:a16="http://schemas.microsoft.com/office/drawing/2014/main" id="{3D87341F-2252-4EE4-837B-2A36B0242AC8}"/>
              </a:ext>
            </a:extLst>
          </p:cNvPr>
          <p:cNvPicPr>
            <a:picLocks noGrp="1"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424244" y="1630996"/>
            <a:ext cx="1090495" cy="306467"/>
          </a:xfrm>
          <a:prstGeom prst="rect">
            <a:avLst/>
          </a:prstGeom>
          <a:ln>
            <a:noFill/>
          </a:ln>
        </p:spPr>
      </p:pic>
      <p:cxnSp>
        <p:nvCxnSpPr>
          <p:cNvPr id="71" name="Straight Connector 70">
            <a:extLst>
              <a:ext uri="{FF2B5EF4-FFF2-40B4-BE49-F238E27FC236}">
                <a16:creationId xmlns:a16="http://schemas.microsoft.com/office/drawing/2014/main" id="{5E2D221E-8CC7-4684-8739-2E5745B2FBBA}"/>
              </a:ext>
            </a:extLst>
          </p:cNvPr>
          <p:cNvCxnSpPr>
            <a:cxnSpLocks/>
          </p:cNvCxnSpPr>
          <p:nvPr/>
        </p:nvCxnSpPr>
        <p:spPr>
          <a:xfrm flipH="1">
            <a:off x="10057863" y="2797519"/>
            <a:ext cx="1864338" cy="0"/>
          </a:xfrm>
          <a:prstGeom prst="line">
            <a:avLst/>
          </a:prstGeom>
          <a:noFill/>
          <a:ln w="6350" cap="flat" cmpd="sng" algn="ctr">
            <a:solidFill>
              <a:srgbClr val="FFFFFF">
                <a:lumMod val="65000"/>
              </a:srgbClr>
            </a:solidFill>
            <a:prstDash val="solid"/>
            <a:miter lim="800000"/>
          </a:ln>
          <a:effectLst/>
        </p:spPr>
      </p:cxnSp>
      <p:sp>
        <p:nvSpPr>
          <p:cNvPr id="74" name="Rectangle: Top Corners Rounded 47">
            <a:extLst>
              <a:ext uri="{FF2B5EF4-FFF2-40B4-BE49-F238E27FC236}">
                <a16:creationId xmlns:a16="http://schemas.microsoft.com/office/drawing/2014/main" id="{8C99ACF5-53DD-4028-8266-E0B3135BB274}"/>
              </a:ext>
            </a:extLst>
          </p:cNvPr>
          <p:cNvSpPr/>
          <p:nvPr/>
        </p:nvSpPr>
        <p:spPr>
          <a:xfrm>
            <a:off x="5423876" y="1691208"/>
            <a:ext cx="1825909" cy="794678"/>
          </a:xfrm>
          <a:prstGeom prst="roundRect">
            <a:avLst>
              <a:gd name="adj" fmla="val 10349"/>
            </a:avLst>
          </a:prstGeom>
          <a:solidFill>
            <a:srgbClr val="808080"/>
          </a:solidFill>
          <a:ln w="12700" cap="flat" cmpd="sng" algn="ctr">
            <a:noFill/>
            <a:prstDash val="solid"/>
            <a:miter lim="800000"/>
          </a:ln>
          <a:effectLst/>
        </p:spPr>
        <p:txBody>
          <a:bodyPr rtlCol="0" anchor="ctr"/>
          <a:lstStyle/>
          <a:p>
            <a:pPr lvl="0" algn="ctr">
              <a:defRPr/>
            </a:pPr>
            <a:r>
              <a:rPr lang="en-US" sz="1400" kern="0">
                <a:solidFill>
                  <a:srgbClr val="FFFFFF"/>
                </a:solidFill>
              </a:rPr>
              <a:t>Create new week folder structure and Save new files </a:t>
            </a:r>
          </a:p>
        </p:txBody>
      </p:sp>
      <p:cxnSp>
        <p:nvCxnSpPr>
          <p:cNvPr id="81" name="Straight Arrow Connector 80">
            <a:extLst>
              <a:ext uri="{FF2B5EF4-FFF2-40B4-BE49-F238E27FC236}">
                <a16:creationId xmlns:a16="http://schemas.microsoft.com/office/drawing/2014/main" id="{26A92026-8C51-4745-BFE3-340E80F2F556}"/>
              </a:ext>
            </a:extLst>
          </p:cNvPr>
          <p:cNvCxnSpPr>
            <a:cxnSpLocks/>
          </p:cNvCxnSpPr>
          <p:nvPr/>
        </p:nvCxnSpPr>
        <p:spPr>
          <a:xfrm>
            <a:off x="8652601" y="2062870"/>
            <a:ext cx="0" cy="586715"/>
          </a:xfrm>
          <a:prstGeom prst="straightConnector1">
            <a:avLst/>
          </a:prstGeom>
          <a:noFill/>
          <a:ln w="6350" cap="flat" cmpd="sng" algn="ctr">
            <a:solidFill>
              <a:srgbClr val="FB4E0B"/>
            </a:solidFill>
            <a:prstDash val="solid"/>
            <a:miter lim="800000"/>
            <a:tailEnd type="triangle"/>
          </a:ln>
          <a:effectLst/>
        </p:spPr>
      </p:cxnSp>
      <p:cxnSp>
        <p:nvCxnSpPr>
          <p:cNvPr id="92" name="Straight Connector 91">
            <a:extLst>
              <a:ext uri="{FF2B5EF4-FFF2-40B4-BE49-F238E27FC236}">
                <a16:creationId xmlns:a16="http://schemas.microsoft.com/office/drawing/2014/main" id="{24FE9BEA-83E0-410E-9385-29A24BDE62C5}"/>
              </a:ext>
            </a:extLst>
          </p:cNvPr>
          <p:cNvCxnSpPr>
            <a:cxnSpLocks/>
          </p:cNvCxnSpPr>
          <p:nvPr/>
        </p:nvCxnSpPr>
        <p:spPr>
          <a:xfrm flipH="1">
            <a:off x="7228562" y="2054361"/>
            <a:ext cx="1422399" cy="3612"/>
          </a:xfrm>
          <a:prstGeom prst="line">
            <a:avLst/>
          </a:prstGeom>
          <a:noFill/>
          <a:ln w="6350" cap="flat" cmpd="sng" algn="ctr">
            <a:solidFill>
              <a:srgbClr val="FB4E0B"/>
            </a:solidFill>
            <a:prstDash val="solid"/>
            <a:miter lim="800000"/>
          </a:ln>
          <a:effectLst/>
        </p:spPr>
      </p:cxnSp>
      <p:sp>
        <p:nvSpPr>
          <p:cNvPr id="155" name="Rectangle: Top Corners Rounded 47">
            <a:extLst>
              <a:ext uri="{FF2B5EF4-FFF2-40B4-BE49-F238E27FC236}">
                <a16:creationId xmlns:a16="http://schemas.microsoft.com/office/drawing/2014/main" id="{54D93BA3-D695-4922-98B0-CA44AB2584E0}"/>
              </a:ext>
            </a:extLst>
          </p:cNvPr>
          <p:cNvSpPr/>
          <p:nvPr/>
        </p:nvSpPr>
        <p:spPr>
          <a:xfrm>
            <a:off x="5553231" y="3711463"/>
            <a:ext cx="1825909" cy="839015"/>
          </a:xfrm>
          <a:prstGeom prst="roundRect">
            <a:avLst>
              <a:gd name="adj" fmla="val 10349"/>
            </a:avLst>
          </a:prstGeom>
          <a:solidFill>
            <a:srgbClr val="808080"/>
          </a:solidFill>
          <a:ln w="12700" cap="flat" cmpd="sng" algn="ctr">
            <a:noFill/>
            <a:prstDash val="solid"/>
            <a:miter lim="800000"/>
          </a:ln>
          <a:effectLst/>
        </p:spPr>
        <p:txBody>
          <a:bodyPr rtlCol="0" anchor="ctr"/>
          <a:lstStyle/>
          <a:p>
            <a:pPr algn="ctr">
              <a:defRPr/>
            </a:pPr>
            <a:r>
              <a:rPr lang="en-US" sz="1300" kern="0">
                <a:solidFill>
                  <a:srgbClr val="FFFFFF"/>
                </a:solidFill>
              </a:rPr>
              <a:t>Communicate final results to stakeholders</a:t>
            </a:r>
          </a:p>
        </p:txBody>
      </p:sp>
      <p:cxnSp>
        <p:nvCxnSpPr>
          <p:cNvPr id="166" name="Straight Arrow Connector 165">
            <a:extLst>
              <a:ext uri="{FF2B5EF4-FFF2-40B4-BE49-F238E27FC236}">
                <a16:creationId xmlns:a16="http://schemas.microsoft.com/office/drawing/2014/main" id="{523169E6-FE7A-4475-88D6-24D6F8228076}"/>
              </a:ext>
            </a:extLst>
          </p:cNvPr>
          <p:cNvCxnSpPr>
            <a:cxnSpLocks/>
            <a:stCxn id="155" idx="3"/>
          </p:cNvCxnSpPr>
          <p:nvPr/>
        </p:nvCxnSpPr>
        <p:spPr>
          <a:xfrm flipV="1">
            <a:off x="7379140" y="3531594"/>
            <a:ext cx="414644" cy="599377"/>
          </a:xfrm>
          <a:prstGeom prst="straightConnector1">
            <a:avLst/>
          </a:prstGeom>
          <a:noFill/>
          <a:ln w="6350" cap="flat" cmpd="sng" algn="ctr">
            <a:solidFill>
              <a:srgbClr val="FB4E0B"/>
            </a:solidFill>
            <a:prstDash val="solid"/>
            <a:miter lim="800000"/>
            <a:tailEnd type="triangle"/>
          </a:ln>
          <a:effectLst/>
        </p:spPr>
      </p:cxnSp>
      <p:sp>
        <p:nvSpPr>
          <p:cNvPr id="174" name="TextBox 173">
            <a:extLst>
              <a:ext uri="{FF2B5EF4-FFF2-40B4-BE49-F238E27FC236}">
                <a16:creationId xmlns:a16="http://schemas.microsoft.com/office/drawing/2014/main" id="{9CE64B95-4B43-4A3B-A356-3B57963EFF39}"/>
              </a:ext>
            </a:extLst>
          </p:cNvPr>
          <p:cNvSpPr txBox="1"/>
          <p:nvPr/>
        </p:nvSpPr>
        <p:spPr>
          <a:xfrm>
            <a:off x="5365612" y="2668012"/>
            <a:ext cx="2168603"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Calibri" panose="020F0502020204030204"/>
                <a:ea typeface="+mn-ea"/>
                <a:cs typeface="+mn-cs"/>
              </a:rPr>
              <a:t>Based on latest results, stakeholders decide to keep same pricing rates or propose new rates (to be implemented from next </a:t>
            </a:r>
            <a:r>
              <a:rPr lang="en-US" sz="1000" b="1" kern="0">
                <a:solidFill>
                  <a:srgbClr val="000000"/>
                </a:solidFill>
                <a:latin typeface="Calibri" panose="020F0502020204030204"/>
              </a:rPr>
              <a:t>week onwards) </a:t>
            </a:r>
            <a:r>
              <a:rPr kumimoji="0" lang="en-US" sz="1000" b="1" i="0" u="none" strike="noStrike" kern="0" cap="none" spc="0" normalizeH="0" baseline="0" noProof="0">
                <a:ln>
                  <a:noFill/>
                </a:ln>
                <a:solidFill>
                  <a:srgbClr val="000000"/>
                </a:solidFill>
                <a:effectLst/>
                <a:uLnTx/>
                <a:uFillTx/>
                <a:latin typeface="Calibri" panose="020F0502020204030204"/>
                <a:ea typeface="+mn-ea"/>
                <a:cs typeface="+mn-cs"/>
              </a:rPr>
              <a:t>and may ask to provide some sensitivity results as well</a:t>
            </a:r>
          </a:p>
        </p:txBody>
      </p:sp>
      <p:cxnSp>
        <p:nvCxnSpPr>
          <p:cNvPr id="244" name="Straight Arrow Connector 243">
            <a:extLst>
              <a:ext uri="{FF2B5EF4-FFF2-40B4-BE49-F238E27FC236}">
                <a16:creationId xmlns:a16="http://schemas.microsoft.com/office/drawing/2014/main" id="{C58ECC57-A72F-4E5F-9104-3D653A2C8190}"/>
              </a:ext>
            </a:extLst>
          </p:cNvPr>
          <p:cNvCxnSpPr>
            <a:cxnSpLocks/>
          </p:cNvCxnSpPr>
          <p:nvPr/>
        </p:nvCxnSpPr>
        <p:spPr>
          <a:xfrm>
            <a:off x="4981503" y="4414182"/>
            <a:ext cx="720654" cy="481447"/>
          </a:xfrm>
          <a:prstGeom prst="straightConnector1">
            <a:avLst/>
          </a:prstGeom>
          <a:noFill/>
          <a:ln w="6350" cap="flat" cmpd="sng" algn="ctr">
            <a:solidFill>
              <a:srgbClr val="FB4E0B"/>
            </a:solidFill>
            <a:prstDash val="solid"/>
            <a:miter lim="800000"/>
            <a:tailEnd type="triangle"/>
          </a:ln>
          <a:effectLst/>
        </p:spPr>
      </p:cxnSp>
      <p:sp>
        <p:nvSpPr>
          <p:cNvPr id="245" name="TextBox 244">
            <a:extLst>
              <a:ext uri="{FF2B5EF4-FFF2-40B4-BE49-F238E27FC236}">
                <a16:creationId xmlns:a16="http://schemas.microsoft.com/office/drawing/2014/main" id="{D93817E7-BB12-4548-BE05-4CD40CD550C2}"/>
              </a:ext>
            </a:extLst>
          </p:cNvPr>
          <p:cNvSpPr txBox="1"/>
          <p:nvPr/>
        </p:nvSpPr>
        <p:spPr>
          <a:xfrm>
            <a:off x="6310569" y="4849275"/>
            <a:ext cx="127212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a:ea typeface="+mn-ea"/>
                <a:cs typeface="+mn-cs"/>
              </a:rPr>
              <a:t>Archive Results into master template for future reference</a:t>
            </a:r>
          </a:p>
        </p:txBody>
      </p:sp>
      <p:sp>
        <p:nvSpPr>
          <p:cNvPr id="2" name="TextBox 1">
            <a:extLst>
              <a:ext uri="{FF2B5EF4-FFF2-40B4-BE49-F238E27FC236}">
                <a16:creationId xmlns:a16="http://schemas.microsoft.com/office/drawing/2014/main" id="{529CCF71-1555-F934-BB94-15E53BEAF143}"/>
              </a:ext>
            </a:extLst>
          </p:cNvPr>
          <p:cNvSpPr txBox="1"/>
          <p:nvPr/>
        </p:nvSpPr>
        <p:spPr>
          <a:xfrm>
            <a:off x="7774884" y="260512"/>
            <a:ext cx="4269631" cy="369332"/>
          </a:xfrm>
          <a:prstGeom prst="rect">
            <a:avLst/>
          </a:prstGeom>
          <a:solidFill>
            <a:srgbClr val="FFFF00"/>
          </a:solidFill>
        </p:spPr>
        <p:txBody>
          <a:bodyPr wrap="square" rtlCol="0">
            <a:spAutoFit/>
          </a:bodyPr>
          <a:lstStyle/>
          <a:p>
            <a:r>
              <a:rPr lang="en-US"/>
              <a:t>Annuity Pricing Monitoring work – version 1</a:t>
            </a:r>
            <a:endParaRPr lang="en-IN"/>
          </a:p>
        </p:txBody>
      </p:sp>
    </p:spTree>
    <p:extLst>
      <p:ext uri="{BB962C8B-B14F-4D97-AF65-F5344CB8AC3E}">
        <p14:creationId xmlns:p14="http://schemas.microsoft.com/office/powerpoint/2010/main" val="9021250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959CC-0899-3DE6-D791-81483632717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7A74A5F-14C6-9187-28D3-4F440F276BE5}"/>
              </a:ext>
            </a:extLst>
          </p:cNvPr>
          <p:cNvSpPr>
            <a:spLocks noGrp="1"/>
          </p:cNvSpPr>
          <p:nvPr>
            <p:ph type="ctrTitle"/>
          </p:nvPr>
        </p:nvSpPr>
        <p:spPr>
          <a:xfrm>
            <a:off x="457200" y="543491"/>
            <a:ext cx="11277600" cy="370909"/>
          </a:xfrm>
          <a:noFill/>
          <a:ln>
            <a:noFill/>
          </a:ln>
        </p:spPr>
        <p:txBody>
          <a:bodyPr spcFirstLastPara="1" vert="horz" wrap="square" lIns="0" tIns="0" rIns="0" bIns="0" rtlCol="0" anchor="t" anchorCtr="0">
            <a:noAutofit/>
          </a:bodyPr>
          <a:lstStyle/>
          <a:p>
            <a:pPr>
              <a:buClr>
                <a:schemeClr val="dk1"/>
              </a:buClr>
              <a:buSzPts val="3200"/>
              <a:buFont typeface="Calibri"/>
            </a:pPr>
            <a:r>
              <a:rPr lang="en-US" sz="2800"/>
              <a:t>Annuity Pricing Rate Monitor and Adjustments</a:t>
            </a:r>
          </a:p>
        </p:txBody>
      </p:sp>
      <p:sp>
        <p:nvSpPr>
          <p:cNvPr id="4" name="Text Placeholder 3">
            <a:extLst>
              <a:ext uri="{FF2B5EF4-FFF2-40B4-BE49-F238E27FC236}">
                <a16:creationId xmlns:a16="http://schemas.microsoft.com/office/drawing/2014/main" id="{DBB20822-2418-515A-677F-CBB008BA9B7F}"/>
              </a:ext>
            </a:extLst>
          </p:cNvPr>
          <p:cNvSpPr>
            <a:spLocks noGrp="1"/>
          </p:cNvSpPr>
          <p:nvPr>
            <p:ph type="body" sz="quarter" idx="15"/>
          </p:nvPr>
        </p:nvSpPr>
        <p:spPr/>
        <p:txBody>
          <a:bodyPr/>
          <a:lstStyle/>
          <a:p>
            <a:r>
              <a:rPr lang="en-US">
                <a:solidFill>
                  <a:srgbClr val="005071"/>
                </a:solidFill>
              </a:rPr>
              <a:t>Case Example</a:t>
            </a:r>
          </a:p>
        </p:txBody>
      </p:sp>
      <p:sp>
        <p:nvSpPr>
          <p:cNvPr id="181" name="Rectangle 180">
            <a:extLst>
              <a:ext uri="{FF2B5EF4-FFF2-40B4-BE49-F238E27FC236}">
                <a16:creationId xmlns:a16="http://schemas.microsoft.com/office/drawing/2014/main" id="{5F6522A9-A02B-45B0-CBEC-ADB708AA4CDC}"/>
              </a:ext>
            </a:extLst>
          </p:cNvPr>
          <p:cNvSpPr/>
          <p:nvPr/>
        </p:nvSpPr>
        <p:spPr>
          <a:xfrm>
            <a:off x="391896" y="894969"/>
            <a:ext cx="11406402" cy="30777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5071"/>
                </a:solidFill>
                <a:effectLst/>
                <a:uLnTx/>
                <a:uFillTx/>
                <a:latin typeface="Calibri" panose="020F0502020204030204"/>
                <a:ea typeface="+mn-ea"/>
                <a:cs typeface="+mn-cs"/>
              </a:rPr>
              <a:t>Purpose is to calculate profitability and other product metrics </a:t>
            </a:r>
            <a:r>
              <a:rPr lang="en-US" sz="1400" b="1" kern="0">
                <a:solidFill>
                  <a:srgbClr val="005071"/>
                </a:solidFill>
                <a:latin typeface="Calibri" panose="020F0502020204030204"/>
              </a:rPr>
              <a:t>that are used both in making pricing decisions and financial planning &amp; analysis.</a:t>
            </a:r>
            <a:endParaRPr kumimoji="0" lang="en-US" sz="1400" b="1" i="0" u="none" strike="noStrike" kern="0" cap="none" spc="0" normalizeH="0" baseline="0" noProof="0">
              <a:ln>
                <a:noFill/>
              </a:ln>
              <a:solidFill>
                <a:srgbClr val="005071"/>
              </a:solidFill>
              <a:effectLst/>
              <a:uLnTx/>
              <a:uFillTx/>
              <a:latin typeface="Calibri" panose="020F0502020204030204"/>
              <a:ea typeface="+mn-ea"/>
              <a:cs typeface="+mn-cs"/>
            </a:endParaRPr>
          </a:p>
        </p:txBody>
      </p:sp>
      <p:graphicFrame>
        <p:nvGraphicFramePr>
          <p:cNvPr id="182" name="Table 181">
            <a:extLst>
              <a:ext uri="{FF2B5EF4-FFF2-40B4-BE49-F238E27FC236}">
                <a16:creationId xmlns:a16="http://schemas.microsoft.com/office/drawing/2014/main" id="{CA8C9940-7B47-787D-1BAE-2BE1D81B4B9F}"/>
              </a:ext>
            </a:extLst>
          </p:cNvPr>
          <p:cNvGraphicFramePr>
            <a:graphicFrameLocks noGrp="1"/>
          </p:cNvGraphicFramePr>
          <p:nvPr/>
        </p:nvGraphicFramePr>
        <p:xfrm>
          <a:off x="442707" y="1190141"/>
          <a:ext cx="1425850" cy="370840"/>
        </p:xfrm>
        <a:graphic>
          <a:graphicData uri="http://schemas.openxmlformats.org/drawingml/2006/table">
            <a:tbl>
              <a:tblPr firstRow="1" bandRow="1"/>
              <a:tblGrid>
                <a:gridCol w="1425850">
                  <a:extLst>
                    <a:ext uri="{9D8B030D-6E8A-4147-A177-3AD203B41FA5}">
                      <a16:colId xmlns:a16="http://schemas.microsoft.com/office/drawing/2014/main" val="20000"/>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r>
                        <a:rPr lang="en-US" sz="1600" b="1">
                          <a:solidFill>
                            <a:schemeClr val="accent3"/>
                          </a:solidFill>
                        </a:rPr>
                        <a:t>Background</a:t>
                      </a:r>
                      <a:endParaRPr lang="en-US" sz="2000" b="1">
                        <a:solidFill>
                          <a:schemeClr val="accent3"/>
                        </a:solidFill>
                      </a:endParaRPr>
                    </a:p>
                  </a:txBody>
                  <a:tcPr marL="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183" name="Table 182">
            <a:extLst>
              <a:ext uri="{FF2B5EF4-FFF2-40B4-BE49-F238E27FC236}">
                <a16:creationId xmlns:a16="http://schemas.microsoft.com/office/drawing/2014/main" id="{3295C1EA-17A7-4438-7FE8-5273A7CA3F9B}"/>
              </a:ext>
            </a:extLst>
          </p:cNvPr>
          <p:cNvGraphicFramePr>
            <a:graphicFrameLocks noGrp="1"/>
          </p:cNvGraphicFramePr>
          <p:nvPr/>
        </p:nvGraphicFramePr>
        <p:xfrm>
          <a:off x="3035952" y="1190141"/>
          <a:ext cx="2984697" cy="370840"/>
        </p:xfrm>
        <a:graphic>
          <a:graphicData uri="http://schemas.openxmlformats.org/drawingml/2006/table">
            <a:tbl>
              <a:tblPr firstRow="1" bandRow="1"/>
              <a:tblGrid>
                <a:gridCol w="2984697">
                  <a:extLst>
                    <a:ext uri="{9D8B030D-6E8A-4147-A177-3AD203B41FA5}">
                      <a16:colId xmlns:a16="http://schemas.microsoft.com/office/drawing/2014/main" val="20000"/>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r>
                        <a:rPr lang="en-US" sz="1600" b="1">
                          <a:solidFill>
                            <a:schemeClr val="accent3"/>
                          </a:solidFill>
                        </a:rPr>
                        <a:t>Pricing Validation Process Flow</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cxnSp>
        <p:nvCxnSpPr>
          <p:cNvPr id="184" name="Straight Connector 183">
            <a:extLst>
              <a:ext uri="{FF2B5EF4-FFF2-40B4-BE49-F238E27FC236}">
                <a16:creationId xmlns:a16="http://schemas.microsoft.com/office/drawing/2014/main" id="{B632743E-2D1A-628F-986B-4D627C3EFDB1}"/>
              </a:ext>
            </a:extLst>
          </p:cNvPr>
          <p:cNvCxnSpPr/>
          <p:nvPr/>
        </p:nvCxnSpPr>
        <p:spPr>
          <a:xfrm>
            <a:off x="2941783" y="1560981"/>
            <a:ext cx="0" cy="4781620"/>
          </a:xfrm>
          <a:prstGeom prst="line">
            <a:avLst/>
          </a:prstGeom>
          <a:noFill/>
          <a:ln w="6350" cap="flat" cmpd="sng" algn="ctr">
            <a:solidFill>
              <a:srgbClr val="DBDBDB"/>
            </a:solidFill>
            <a:prstDash val="solid"/>
            <a:miter lim="800000"/>
          </a:ln>
          <a:effectLst/>
        </p:spPr>
      </p:cxnSp>
      <p:graphicFrame>
        <p:nvGraphicFramePr>
          <p:cNvPr id="185" name="Table 184">
            <a:extLst>
              <a:ext uri="{FF2B5EF4-FFF2-40B4-BE49-F238E27FC236}">
                <a16:creationId xmlns:a16="http://schemas.microsoft.com/office/drawing/2014/main" id="{9E1B296F-DF0A-17D6-1071-4CA434EE6F62}"/>
              </a:ext>
            </a:extLst>
          </p:cNvPr>
          <p:cNvGraphicFramePr>
            <a:graphicFrameLocks noGrp="1"/>
          </p:cNvGraphicFramePr>
          <p:nvPr/>
        </p:nvGraphicFramePr>
        <p:xfrm>
          <a:off x="10002699" y="1231237"/>
          <a:ext cx="1176742" cy="370840"/>
        </p:xfrm>
        <a:graphic>
          <a:graphicData uri="http://schemas.openxmlformats.org/drawingml/2006/table">
            <a:tbl>
              <a:tblPr firstRow="1" bandRow="1"/>
              <a:tblGrid>
                <a:gridCol w="1176742">
                  <a:extLst>
                    <a:ext uri="{9D8B030D-6E8A-4147-A177-3AD203B41FA5}">
                      <a16:colId xmlns:a16="http://schemas.microsoft.com/office/drawing/2014/main" val="20000"/>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r>
                        <a:rPr lang="en-US" sz="1600" b="1">
                          <a:solidFill>
                            <a:schemeClr val="accent3"/>
                          </a:solidFill>
                        </a:rPr>
                        <a:t>Technology</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186" name="Rectangle 37">
            <a:extLst>
              <a:ext uri="{FF2B5EF4-FFF2-40B4-BE49-F238E27FC236}">
                <a16:creationId xmlns:a16="http://schemas.microsoft.com/office/drawing/2014/main" id="{937739AB-8B5B-6518-2B12-B43D1D10ADBE}"/>
              </a:ext>
            </a:extLst>
          </p:cNvPr>
          <p:cNvSpPr>
            <a:spLocks noChangeArrowheads="1"/>
          </p:cNvSpPr>
          <p:nvPr/>
        </p:nvSpPr>
        <p:spPr bwMode="gray">
          <a:xfrm>
            <a:off x="446274" y="1491836"/>
            <a:ext cx="2340591" cy="3626045"/>
          </a:xfrm>
          <a:prstGeom prst="rect">
            <a:avLst/>
          </a:prstGeom>
          <a:solidFill>
            <a:srgbClr val="FFFFFF"/>
          </a:solidFill>
          <a:ln w="9525">
            <a:noFill/>
            <a:miter lim="800000"/>
            <a:headEnd/>
            <a:tailEnd/>
          </a:ln>
          <a:effectLst/>
        </p:spPr>
        <p:txBody>
          <a:bodyPr lIns="0" tIns="45714" rIns="45714" bIns="45714"/>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prstClr val="black"/>
                </a:solidFill>
                <a:effectLst/>
                <a:uLnTx/>
                <a:uFillTx/>
                <a:latin typeface="Calibri" panose="020F0502020204030204"/>
                <a:ea typeface="+mn-ea"/>
                <a:cs typeface="Arial" panose="020B0604020202020204" pitchFamily="34" charset="0"/>
              </a:rPr>
              <a:t>In the existing process workflow, FIA, ForeCare, RILA and ForeCertain annuity products are covered. Pricing team needs updated results on weekly basis after incorporating latest option rates, asset spread yields, policy sales data etc.</a:t>
            </a:r>
          </a:p>
          <a:p>
            <a:pPr marL="0" marR="0" lvl="1" indent="0" algn="l" defTabSz="914400" rtl="0" eaLnBrk="1" fontAlgn="auto" latinLnBrk="0" hangingPunct="1">
              <a:lnSpc>
                <a:spcPct val="100000"/>
              </a:lnSpc>
              <a:spcBef>
                <a:spcPts val="0"/>
              </a:spcBef>
              <a:spcAft>
                <a:spcPts val="0"/>
              </a:spcAft>
              <a:buClr>
                <a:srgbClr val="676767"/>
              </a:buClr>
              <a:buSzPct val="100000"/>
              <a:buFontTx/>
              <a:buNone/>
              <a:tabLst/>
              <a:defRPr/>
            </a:pPr>
            <a:endParaRPr kumimoji="0" lang="en-US" sz="1100" b="0" i="0" u="none" strike="noStrike" kern="0" cap="none" spc="0" normalizeH="0" baseline="0" noProof="0">
              <a:ln>
                <a:noFill/>
              </a:ln>
              <a:solidFill>
                <a:prstClr val="black"/>
              </a:solidFill>
              <a:effectLst/>
              <a:uLnTx/>
              <a:uFillTx/>
              <a:latin typeface="Calibri" panose="020F0502020204030204"/>
              <a:ea typeface="+mn-ea"/>
              <a:cs typeface="Arial" panose="020B0604020202020204" pitchFamily="34" charset="0"/>
            </a:endParaRPr>
          </a:p>
          <a:p>
            <a:pPr marL="0" marR="0" lvl="1" indent="0" algn="l" defTabSz="914400" rtl="0" eaLnBrk="1" fontAlgn="auto" latinLnBrk="0" hangingPunct="1">
              <a:lnSpc>
                <a:spcPct val="100000"/>
              </a:lnSpc>
              <a:spcBef>
                <a:spcPts val="0"/>
              </a:spcBef>
              <a:spcAft>
                <a:spcPts val="0"/>
              </a:spcAft>
              <a:buClr>
                <a:srgbClr val="676767"/>
              </a:buClr>
              <a:buSzPct val="100000"/>
              <a:buFontTx/>
              <a:buNone/>
              <a:tabLst/>
              <a:defRPr/>
            </a:pPr>
            <a:r>
              <a:rPr kumimoji="0" lang="en-US" sz="1600" b="1" i="0" u="none" strike="noStrike" kern="0" cap="none" spc="0" normalizeH="0" baseline="0" noProof="0">
                <a:ln>
                  <a:noFill/>
                </a:ln>
                <a:solidFill>
                  <a:srgbClr val="005071"/>
                </a:solidFill>
                <a:effectLst/>
                <a:uLnTx/>
                <a:uFillTx/>
                <a:latin typeface="Calibri" panose="020F0502020204030204"/>
                <a:ea typeface="+mn-ea"/>
                <a:cs typeface="Arial" panose="020B0604020202020204" pitchFamily="34" charset="0"/>
              </a:rPr>
              <a:t>Key Objectives</a:t>
            </a:r>
            <a:r>
              <a:rPr kumimoji="0" lang="en-US" sz="1600" b="0" i="0" u="none" strike="noStrike" kern="0" cap="none" spc="0" normalizeH="0" baseline="0" noProof="0">
                <a:ln>
                  <a:noFill/>
                </a:ln>
                <a:solidFill>
                  <a:srgbClr val="005071"/>
                </a:solidFill>
                <a:effectLst/>
                <a:uLnTx/>
                <a:uFillTx/>
                <a:latin typeface="Calibri" panose="020F0502020204030204"/>
                <a:ea typeface="+mn-ea"/>
                <a:cs typeface="Arial" panose="020B0604020202020204" pitchFamily="34" charset="0"/>
              </a:rPr>
              <a:t>:</a:t>
            </a:r>
            <a:endParaRPr kumimoji="0" lang="en-US" sz="1200" b="0" i="0" u="none" strike="noStrike" kern="0" cap="none" spc="0" normalizeH="0" baseline="0" noProof="0">
              <a:ln>
                <a:noFill/>
              </a:ln>
              <a:solidFill>
                <a:prstClr val="black"/>
              </a:solidFill>
              <a:effectLst/>
              <a:uLnTx/>
              <a:uFillTx/>
              <a:latin typeface="Calibri" panose="020F0502020204030204"/>
              <a:ea typeface="+mn-ea"/>
              <a:cs typeface="Arial" panose="020B0604020202020204" pitchFamily="34" charset="0"/>
            </a:endParaRPr>
          </a:p>
          <a:p>
            <a:pPr marL="182880" lvl="0" indent="-182880">
              <a:spcBef>
                <a:spcPts val="300"/>
              </a:spcBef>
              <a:buClr>
                <a:srgbClr val="FB4D0A"/>
              </a:buClr>
              <a:buFont typeface="Arial" panose="020B0604020202020204" pitchFamily="34" charset="0"/>
              <a:buChar char="•"/>
              <a:defRPr/>
            </a:pPr>
            <a:r>
              <a:rPr lang="en-US" sz="1100" kern="0">
                <a:solidFill>
                  <a:prstClr val="black"/>
                </a:solidFill>
                <a:cs typeface="Arial" panose="020B0604020202020204" pitchFamily="34" charset="0"/>
              </a:rPr>
              <a:t>Provide extensive support to pricing team in monitoring annuity pricing experience and update rates (if required).</a:t>
            </a:r>
          </a:p>
          <a:p>
            <a:pPr marL="182880" lvl="0" indent="-182880">
              <a:spcBef>
                <a:spcPts val="300"/>
              </a:spcBef>
              <a:buClr>
                <a:srgbClr val="FB4D0A"/>
              </a:buClr>
              <a:buFont typeface="Arial" panose="020B0604020202020204" pitchFamily="34" charset="0"/>
              <a:buChar char="•"/>
              <a:defRPr/>
            </a:pPr>
            <a:r>
              <a:rPr kumimoji="0" lang="en-US" sz="1100" b="0" i="0" u="none" strike="noStrike" kern="0" cap="none" spc="0" normalizeH="0" baseline="0" noProof="0">
                <a:ln>
                  <a:noFill/>
                </a:ln>
                <a:solidFill>
                  <a:prstClr val="black"/>
                </a:solidFill>
                <a:effectLst/>
                <a:uLnTx/>
                <a:uFillTx/>
                <a:latin typeface="Calibri" panose="020F0502020204030204"/>
                <a:ea typeface="+mn-ea"/>
                <a:cs typeface="Arial" panose="020B0604020202020204" pitchFamily="34" charset="0"/>
              </a:rPr>
              <a:t>Calculate profitability and various other product metrics for pricing team to help in decision making and financial planning &amp; analysis.</a:t>
            </a:r>
          </a:p>
          <a:p>
            <a:pPr marL="182880" lvl="0" indent="-182880">
              <a:spcBef>
                <a:spcPts val="300"/>
              </a:spcBef>
              <a:buClr>
                <a:srgbClr val="FB4D0A"/>
              </a:buClr>
              <a:buFont typeface="Arial" panose="020B0604020202020204" pitchFamily="34" charset="0"/>
              <a:buChar char="•"/>
              <a:defRPr/>
            </a:pPr>
            <a:r>
              <a:rPr lang="en-US" sz="1100" kern="0">
                <a:solidFill>
                  <a:prstClr val="black"/>
                </a:solidFill>
                <a:latin typeface="Calibri" panose="020F0502020204030204"/>
                <a:cs typeface="Arial" panose="020B0604020202020204" pitchFamily="34" charset="0"/>
              </a:rPr>
              <a:t>Adhere timelines and maintain filing structure for audit purposes.</a:t>
            </a:r>
            <a:endParaRPr kumimoji="0" lang="en-US" sz="1100" b="0" i="0" u="none" strike="noStrike" kern="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graphicFrame>
        <p:nvGraphicFramePr>
          <p:cNvPr id="197" name="Table 196">
            <a:extLst>
              <a:ext uri="{FF2B5EF4-FFF2-40B4-BE49-F238E27FC236}">
                <a16:creationId xmlns:a16="http://schemas.microsoft.com/office/drawing/2014/main" id="{88263E42-3442-BCC5-7976-3496BE2FD900}"/>
              </a:ext>
            </a:extLst>
          </p:cNvPr>
          <p:cNvGraphicFramePr>
            <a:graphicFrameLocks noGrp="1"/>
          </p:cNvGraphicFramePr>
          <p:nvPr/>
        </p:nvGraphicFramePr>
        <p:xfrm>
          <a:off x="10231413" y="2973434"/>
          <a:ext cx="1554429" cy="370840"/>
        </p:xfrm>
        <a:graphic>
          <a:graphicData uri="http://schemas.openxmlformats.org/drawingml/2006/table">
            <a:tbl>
              <a:tblPr firstRow="1" bandRow="1"/>
              <a:tblGrid>
                <a:gridCol w="1554429">
                  <a:extLst>
                    <a:ext uri="{9D8B030D-6E8A-4147-A177-3AD203B41FA5}">
                      <a16:colId xmlns:a16="http://schemas.microsoft.com/office/drawing/2014/main" val="20000"/>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r>
                        <a:rPr lang="en-US" sz="1400" b="1">
                          <a:solidFill>
                            <a:schemeClr val="tx2"/>
                          </a:solidFill>
                        </a:rPr>
                        <a:t>Value Proposition</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198" name="TextBox 197">
            <a:extLst>
              <a:ext uri="{FF2B5EF4-FFF2-40B4-BE49-F238E27FC236}">
                <a16:creationId xmlns:a16="http://schemas.microsoft.com/office/drawing/2014/main" id="{9131BF1D-EB84-A1D8-C35B-1CAB3DE713A7}"/>
              </a:ext>
            </a:extLst>
          </p:cNvPr>
          <p:cNvSpPr txBox="1"/>
          <p:nvPr/>
        </p:nvSpPr>
        <p:spPr>
          <a:xfrm>
            <a:off x="10057863" y="3439120"/>
            <a:ext cx="1864333" cy="1980029"/>
          </a:xfrm>
          <a:prstGeom prst="rect">
            <a:avLst/>
          </a:prstGeom>
          <a:noFill/>
          <a:ln>
            <a:noFill/>
          </a:ln>
        </p:spPr>
        <p:txBody>
          <a:bodyPr wrap="square" rtlCol="0">
            <a:spAutoFit/>
          </a:bodyPr>
          <a:lstStyle/>
          <a:p>
            <a:pPr marL="171450" marR="0" lvl="1" indent="-171450" algn="l" defTabSz="914400" rtl="0" eaLnBrk="1" fontAlgn="base" latinLnBrk="0" hangingPunct="1">
              <a:lnSpc>
                <a:spcPct val="100000"/>
              </a:lnSpc>
              <a:spcBef>
                <a:spcPts val="0"/>
              </a:spcBef>
              <a:spcAft>
                <a:spcPts val="100"/>
              </a:spcAft>
              <a:buClr>
                <a:srgbClr val="FF6503"/>
              </a:buClr>
              <a:buSzPct val="100000"/>
              <a:buFont typeface="Arial" panose="020B0604020202020204" pitchFamily="34" charset="0"/>
              <a:buChar char="•"/>
              <a:tabLst/>
              <a:defRPr/>
            </a:pPr>
            <a:r>
              <a:rPr lang="en-US" sz="1100">
                <a:solidFill>
                  <a:prstClr val="black"/>
                </a:solidFill>
                <a:latin typeface="Calibri" panose="020F0502020204030204"/>
                <a:cs typeface="Arial" panose="020B0604020202020204" pitchFamily="34" charset="0"/>
              </a:rPr>
              <a:t>Created detail documentation and checklist to standardized process and remove in between gaps</a:t>
            </a:r>
          </a:p>
          <a:p>
            <a:pPr marL="171450" marR="0" lvl="1" indent="-171450" algn="l" defTabSz="914400" rtl="0" eaLnBrk="1" fontAlgn="base" latinLnBrk="0" hangingPunct="1">
              <a:lnSpc>
                <a:spcPct val="100000"/>
              </a:lnSpc>
              <a:spcBef>
                <a:spcPts val="0"/>
              </a:spcBef>
              <a:spcAft>
                <a:spcPts val="100"/>
              </a:spcAft>
              <a:buClr>
                <a:srgbClr val="FF6503"/>
              </a:buClr>
              <a:buSzPct val="100000"/>
              <a:buFont typeface="Arial" panose="020B0604020202020204" pitchFamily="34" charset="0"/>
              <a:buChar char="•"/>
              <a:tabLst/>
              <a:defRPr/>
            </a:pPr>
            <a:r>
              <a:rPr lang="en-US" sz="1100">
                <a:solidFill>
                  <a:prstClr val="black"/>
                </a:solidFill>
                <a:latin typeface="Calibri" panose="020F0502020204030204"/>
                <a:cs typeface="Arial" panose="020B0604020202020204" pitchFamily="34" charset="0"/>
              </a:rPr>
              <a:t>Developed few macros to remove manual intervention and hence reducing the possibility of errors</a:t>
            </a:r>
          </a:p>
          <a:p>
            <a:pPr marL="171450" marR="0" lvl="1" indent="-171450" algn="l" defTabSz="914400" rtl="0" eaLnBrk="1" fontAlgn="base" latinLnBrk="0" hangingPunct="1">
              <a:lnSpc>
                <a:spcPct val="100000"/>
              </a:lnSpc>
              <a:spcBef>
                <a:spcPts val="0"/>
              </a:spcBef>
              <a:spcAft>
                <a:spcPts val="100"/>
              </a:spcAft>
              <a:buClr>
                <a:srgbClr val="FF6503"/>
              </a:buClr>
              <a:buSzPct val="100000"/>
              <a:buFont typeface="Arial" panose="020B0604020202020204" pitchFamily="34" charset="0"/>
              <a:buChar char="•"/>
              <a:tabLst/>
              <a:defRPr/>
            </a:pPr>
            <a:endParaRPr lang="en-US" sz="1100">
              <a:solidFill>
                <a:prstClr val="black"/>
              </a:solidFill>
              <a:latin typeface="Calibri" panose="020F0502020204030204"/>
              <a:cs typeface="Arial" panose="020B0604020202020204" pitchFamily="34" charset="0"/>
            </a:endParaRPr>
          </a:p>
        </p:txBody>
      </p:sp>
      <p:sp>
        <p:nvSpPr>
          <p:cNvPr id="199" name="TextBox 198">
            <a:extLst>
              <a:ext uri="{FF2B5EF4-FFF2-40B4-BE49-F238E27FC236}">
                <a16:creationId xmlns:a16="http://schemas.microsoft.com/office/drawing/2014/main" id="{57CC3651-44A2-D6F5-D15F-5479AE84E7F5}"/>
              </a:ext>
            </a:extLst>
          </p:cNvPr>
          <p:cNvSpPr txBox="1"/>
          <p:nvPr/>
        </p:nvSpPr>
        <p:spPr>
          <a:xfrm>
            <a:off x="3056182" y="1615978"/>
            <a:ext cx="1021304" cy="769441"/>
          </a:xfrm>
          <a:prstGeom prst="rect">
            <a:avLst/>
          </a:prstGeom>
          <a:noFill/>
        </p:spPr>
        <p:txBody>
          <a:bodyPr wrap="square" rtlCol="0">
            <a:spAutoFit/>
          </a:bodyPr>
          <a:lstStyle/>
          <a:p>
            <a:pPr lvl="0" algn="ctr">
              <a:defRPr/>
            </a:pPr>
            <a:r>
              <a:rPr lang="en-US" sz="1100">
                <a:solidFill>
                  <a:srgbClr val="000000"/>
                </a:solidFill>
              </a:rPr>
              <a:t>Model Reconciliation with Previous Week Results</a:t>
            </a:r>
          </a:p>
        </p:txBody>
      </p:sp>
      <p:sp>
        <p:nvSpPr>
          <p:cNvPr id="200" name="Rectangle: Top Corners Rounded 5">
            <a:extLst>
              <a:ext uri="{FF2B5EF4-FFF2-40B4-BE49-F238E27FC236}">
                <a16:creationId xmlns:a16="http://schemas.microsoft.com/office/drawing/2014/main" id="{CF875AA4-1034-2E3C-DCF9-42C9B04CCD7C}"/>
              </a:ext>
            </a:extLst>
          </p:cNvPr>
          <p:cNvSpPr/>
          <p:nvPr/>
        </p:nvSpPr>
        <p:spPr>
          <a:xfrm>
            <a:off x="3131489" y="2361062"/>
            <a:ext cx="1951630" cy="597594"/>
          </a:xfrm>
          <a:prstGeom prst="roundRect">
            <a:avLst>
              <a:gd name="adj" fmla="val 12232"/>
            </a:avLst>
          </a:prstGeom>
          <a:solidFill>
            <a:schemeClr val="accent3"/>
          </a:solidFill>
          <a:ln w="12700" cap="flat" cmpd="sng" algn="ctr">
            <a:noFill/>
            <a:prstDash val="solid"/>
            <a:miter lim="800000"/>
          </a:ln>
          <a:effectLst/>
        </p:spPr>
        <p:txBody>
          <a:bodyPr rtlCol="0" anchor="ctr"/>
          <a:lstStyle/>
          <a:p>
            <a:pPr lvl="0" algn="ctr">
              <a:defRPr/>
            </a:pPr>
            <a:r>
              <a:rPr lang="en-US" sz="1300" kern="0">
                <a:solidFill>
                  <a:srgbClr val="FFFFFF"/>
                </a:solidFill>
              </a:rPr>
              <a:t>Results Comparison</a:t>
            </a:r>
          </a:p>
        </p:txBody>
      </p:sp>
      <p:sp>
        <p:nvSpPr>
          <p:cNvPr id="202" name="Rectangle: Top Corners Rounded 26">
            <a:extLst>
              <a:ext uri="{FF2B5EF4-FFF2-40B4-BE49-F238E27FC236}">
                <a16:creationId xmlns:a16="http://schemas.microsoft.com/office/drawing/2014/main" id="{4377D5A9-69C4-67D3-E644-12CE3070333D}"/>
              </a:ext>
            </a:extLst>
          </p:cNvPr>
          <p:cNvSpPr/>
          <p:nvPr/>
        </p:nvSpPr>
        <p:spPr>
          <a:xfrm>
            <a:off x="3126111" y="3830458"/>
            <a:ext cx="1951630" cy="597594"/>
          </a:xfrm>
          <a:prstGeom prst="roundRect">
            <a:avLst>
              <a:gd name="adj" fmla="val 7797"/>
            </a:avLst>
          </a:prstGeom>
          <a:solidFill>
            <a:schemeClr val="accent3"/>
          </a:solidFill>
          <a:ln w="12700" cap="flat" cmpd="sng" algn="ctr">
            <a:noFill/>
            <a:prstDash val="solid"/>
            <a:miter lim="800000"/>
          </a:ln>
          <a:effectLst/>
        </p:spPr>
        <p:txBody>
          <a:bodyPr rtlCol="0" anchor="ctr"/>
          <a:lstStyle/>
          <a:p>
            <a:pPr algn="ctr">
              <a:defRPr/>
            </a:pPr>
            <a:r>
              <a:rPr lang="en-US" sz="1300" kern="0">
                <a:solidFill>
                  <a:srgbClr val="FFFFFF"/>
                </a:solidFill>
              </a:rPr>
              <a:t>Production Model Run (MG-ALFA)</a:t>
            </a:r>
          </a:p>
        </p:txBody>
      </p:sp>
      <p:sp>
        <p:nvSpPr>
          <p:cNvPr id="205" name="Rectangle: Top Corners Rounded 44">
            <a:extLst>
              <a:ext uri="{FF2B5EF4-FFF2-40B4-BE49-F238E27FC236}">
                <a16:creationId xmlns:a16="http://schemas.microsoft.com/office/drawing/2014/main" id="{B538BE13-290F-DD5D-7D3E-97F28B133B9C}"/>
              </a:ext>
            </a:extLst>
          </p:cNvPr>
          <p:cNvSpPr/>
          <p:nvPr/>
        </p:nvSpPr>
        <p:spPr>
          <a:xfrm>
            <a:off x="3126111" y="5541293"/>
            <a:ext cx="1951630" cy="597594"/>
          </a:xfrm>
          <a:prstGeom prst="roundRect">
            <a:avLst>
              <a:gd name="adj" fmla="val 12232"/>
            </a:avLst>
          </a:prstGeom>
          <a:solidFill>
            <a:schemeClr val="accent3"/>
          </a:solidFill>
          <a:ln w="12700" cap="flat" cmpd="sng" algn="ctr">
            <a:noFill/>
            <a:prstDash val="solid"/>
            <a:miter lim="800000"/>
          </a:ln>
          <a:effectLst/>
        </p:spPr>
        <p:txBody>
          <a:bodyPr rtlCol="0" anchor="ctr"/>
          <a:lstStyle/>
          <a:p>
            <a:pPr algn="ctr">
              <a:defRPr/>
            </a:pPr>
            <a:r>
              <a:rPr lang="en-US" sz="1300" kern="0">
                <a:solidFill>
                  <a:srgbClr val="FFFFFF"/>
                </a:solidFill>
              </a:rPr>
              <a:t>Prepare build files for MG-ALFA Run</a:t>
            </a:r>
          </a:p>
        </p:txBody>
      </p:sp>
      <p:sp>
        <p:nvSpPr>
          <p:cNvPr id="207" name="TextBox 206">
            <a:extLst>
              <a:ext uri="{FF2B5EF4-FFF2-40B4-BE49-F238E27FC236}">
                <a16:creationId xmlns:a16="http://schemas.microsoft.com/office/drawing/2014/main" id="{971D1DD1-E84B-779D-3A42-7969195F66EA}"/>
              </a:ext>
            </a:extLst>
          </p:cNvPr>
          <p:cNvSpPr txBox="1"/>
          <p:nvPr/>
        </p:nvSpPr>
        <p:spPr>
          <a:xfrm>
            <a:off x="5060939" y="5926587"/>
            <a:ext cx="2713946" cy="6001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a:ea typeface="+mn-ea"/>
                <a:cs typeface="+mn-cs"/>
              </a:rPr>
              <a:t>Build files contains for various pricing inputs like commission rates, crediting rates, scenarios etc.</a:t>
            </a:r>
          </a:p>
        </p:txBody>
      </p:sp>
      <p:sp>
        <p:nvSpPr>
          <p:cNvPr id="208" name="Rectangle: Top Corners Rounded 47">
            <a:extLst>
              <a:ext uri="{FF2B5EF4-FFF2-40B4-BE49-F238E27FC236}">
                <a16:creationId xmlns:a16="http://schemas.microsoft.com/office/drawing/2014/main" id="{B73B3C43-313F-CDAE-A88F-2160FE5CD882}"/>
              </a:ext>
            </a:extLst>
          </p:cNvPr>
          <p:cNvSpPr/>
          <p:nvPr/>
        </p:nvSpPr>
        <p:spPr>
          <a:xfrm>
            <a:off x="7775698" y="2672227"/>
            <a:ext cx="1825909" cy="839015"/>
          </a:xfrm>
          <a:prstGeom prst="roundRect">
            <a:avLst>
              <a:gd name="adj" fmla="val 10349"/>
            </a:avLst>
          </a:prstGeom>
          <a:solidFill>
            <a:srgbClr val="808080"/>
          </a:solidFill>
          <a:ln w="12700" cap="flat" cmpd="sng" algn="ctr">
            <a:noFill/>
            <a:prstDash val="solid"/>
            <a:miter lim="800000"/>
          </a:ln>
          <a:effectLst/>
        </p:spPr>
        <p:txBody>
          <a:bodyPr rtlCol="0" anchor="ctr"/>
          <a:lstStyle/>
          <a:p>
            <a:pPr algn="ctr">
              <a:defRPr/>
            </a:pPr>
            <a:r>
              <a:rPr lang="en-US" sz="1300" kern="0">
                <a:solidFill>
                  <a:srgbClr val="FFFFFF"/>
                </a:solidFill>
              </a:rPr>
              <a:t>Estimate cost of crediting/crediting rates based on new rates</a:t>
            </a:r>
          </a:p>
        </p:txBody>
      </p:sp>
      <p:sp>
        <p:nvSpPr>
          <p:cNvPr id="209" name="TextBox 208">
            <a:extLst>
              <a:ext uri="{FF2B5EF4-FFF2-40B4-BE49-F238E27FC236}">
                <a16:creationId xmlns:a16="http://schemas.microsoft.com/office/drawing/2014/main" id="{1D88D807-D825-B724-014D-91F8C0BDD1C5}"/>
              </a:ext>
            </a:extLst>
          </p:cNvPr>
          <p:cNvSpPr txBox="1"/>
          <p:nvPr/>
        </p:nvSpPr>
        <p:spPr>
          <a:xfrm>
            <a:off x="7322956" y="1346475"/>
            <a:ext cx="2184960" cy="600164"/>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100" kern="0">
                <a:latin typeface="Calibri" panose="020F0502020204030204"/>
              </a:rPr>
              <a:t>Weekly option rates, SOFR rates, </a:t>
            </a:r>
          </a:p>
          <a:p>
            <a:pPr marL="0" marR="0" lvl="0" indent="0" defTabSz="914400" rtl="0" eaLnBrk="1" fontAlgn="auto" latinLnBrk="0" hangingPunct="1">
              <a:lnSpc>
                <a:spcPct val="100000"/>
              </a:lnSpc>
              <a:spcBef>
                <a:spcPts val="0"/>
              </a:spcBef>
              <a:spcAft>
                <a:spcPts val="0"/>
              </a:spcAft>
              <a:buClrTx/>
              <a:buSzTx/>
              <a:buFontTx/>
              <a:buNone/>
              <a:tabLst/>
              <a:defRPr/>
            </a:pPr>
            <a:r>
              <a:rPr lang="en-US" sz="1100" kern="0">
                <a:latin typeface="Calibri" panose="020F0502020204030204"/>
              </a:rPr>
              <a:t>Liability discount rate curve, asset yield spreads, policy sales data</a:t>
            </a:r>
            <a:endParaRPr kumimoji="0" lang="en-US" sz="1100" i="0" u="none" strike="noStrike" kern="0" cap="none" spc="0" normalizeH="0" baseline="0" noProof="0">
              <a:ln>
                <a:noFill/>
              </a:ln>
              <a:effectLst/>
              <a:uLnTx/>
              <a:uFillTx/>
              <a:latin typeface="Calibri" panose="020F0502020204030204"/>
              <a:ea typeface="+mn-ea"/>
              <a:cs typeface="+mn-cs"/>
            </a:endParaRPr>
          </a:p>
        </p:txBody>
      </p:sp>
      <p:sp>
        <p:nvSpPr>
          <p:cNvPr id="210" name="Rectangle: Top Corners Rounded 50">
            <a:extLst>
              <a:ext uri="{FF2B5EF4-FFF2-40B4-BE49-F238E27FC236}">
                <a16:creationId xmlns:a16="http://schemas.microsoft.com/office/drawing/2014/main" id="{5246D23A-31C8-1E61-E21C-2FCD7542612A}"/>
              </a:ext>
            </a:extLst>
          </p:cNvPr>
          <p:cNvSpPr/>
          <p:nvPr/>
        </p:nvSpPr>
        <p:spPr>
          <a:xfrm>
            <a:off x="7781617" y="5507080"/>
            <a:ext cx="1825909" cy="666021"/>
          </a:xfrm>
          <a:prstGeom prst="roundRect">
            <a:avLst>
              <a:gd name="adj" fmla="val 8708"/>
            </a:avLst>
          </a:prstGeom>
          <a:solidFill>
            <a:srgbClr val="DBDBDB"/>
          </a:solidFill>
          <a:ln w="12700" cap="flat" cmpd="sng" algn="ctr">
            <a:noFill/>
            <a:prstDash val="solid"/>
            <a:miter lim="800000"/>
          </a:ln>
          <a:effectLst/>
        </p:spPr>
        <p:txBody>
          <a:bodyPr rtlCol="0" anchor="ctr"/>
          <a:lstStyle/>
          <a:p>
            <a:pPr lvl="0" algn="ctr">
              <a:defRPr/>
            </a:pPr>
            <a:r>
              <a:rPr lang="en-US" sz="1300" kern="0"/>
              <a:t>Investment out-performance adjustment</a:t>
            </a:r>
          </a:p>
        </p:txBody>
      </p:sp>
      <p:cxnSp>
        <p:nvCxnSpPr>
          <p:cNvPr id="216" name="Straight Arrow Connector 215">
            <a:extLst>
              <a:ext uri="{FF2B5EF4-FFF2-40B4-BE49-F238E27FC236}">
                <a16:creationId xmlns:a16="http://schemas.microsoft.com/office/drawing/2014/main" id="{9937107D-4EBD-2BA9-C27A-4594D59E1291}"/>
              </a:ext>
            </a:extLst>
          </p:cNvPr>
          <p:cNvCxnSpPr>
            <a:cxnSpLocks/>
          </p:cNvCxnSpPr>
          <p:nvPr/>
        </p:nvCxnSpPr>
        <p:spPr>
          <a:xfrm>
            <a:off x="4171309" y="1981548"/>
            <a:ext cx="1226987" cy="0"/>
          </a:xfrm>
          <a:prstGeom prst="straightConnector1">
            <a:avLst/>
          </a:prstGeom>
          <a:noFill/>
          <a:ln w="6350" cap="flat" cmpd="sng" algn="ctr">
            <a:solidFill>
              <a:srgbClr val="FB4E0B"/>
            </a:solidFill>
            <a:prstDash val="solid"/>
            <a:miter lim="800000"/>
            <a:tailEnd type="triangle"/>
          </a:ln>
          <a:effectLst/>
        </p:spPr>
      </p:cxnSp>
      <p:cxnSp>
        <p:nvCxnSpPr>
          <p:cNvPr id="217" name="Straight Arrow Connector 216">
            <a:extLst>
              <a:ext uri="{FF2B5EF4-FFF2-40B4-BE49-F238E27FC236}">
                <a16:creationId xmlns:a16="http://schemas.microsoft.com/office/drawing/2014/main" id="{19057945-5F49-D633-76B0-88F3A29C5786}"/>
              </a:ext>
            </a:extLst>
          </p:cNvPr>
          <p:cNvCxnSpPr>
            <a:cxnSpLocks/>
            <a:stCxn id="208" idx="2"/>
            <a:endCxn id="210" idx="0"/>
          </p:cNvCxnSpPr>
          <p:nvPr/>
        </p:nvCxnSpPr>
        <p:spPr>
          <a:xfrm>
            <a:off x="8688653" y="3511242"/>
            <a:ext cx="5919" cy="1995838"/>
          </a:xfrm>
          <a:prstGeom prst="straightConnector1">
            <a:avLst/>
          </a:prstGeom>
          <a:noFill/>
          <a:ln w="6350" cap="flat" cmpd="sng" algn="ctr">
            <a:solidFill>
              <a:srgbClr val="FB4E0B"/>
            </a:solidFill>
            <a:prstDash val="solid"/>
            <a:miter lim="800000"/>
            <a:tailEnd type="triangle"/>
          </a:ln>
          <a:effectLst/>
        </p:spPr>
      </p:cxnSp>
      <p:cxnSp>
        <p:nvCxnSpPr>
          <p:cNvPr id="220" name="Straight Arrow Connector 219">
            <a:extLst>
              <a:ext uri="{FF2B5EF4-FFF2-40B4-BE49-F238E27FC236}">
                <a16:creationId xmlns:a16="http://schemas.microsoft.com/office/drawing/2014/main" id="{54C1851E-4CAA-E35A-B334-A350A631ED33}"/>
              </a:ext>
            </a:extLst>
          </p:cNvPr>
          <p:cNvCxnSpPr>
            <a:cxnSpLocks/>
            <a:stCxn id="202" idx="3"/>
            <a:endCxn id="155" idx="1"/>
          </p:cNvCxnSpPr>
          <p:nvPr/>
        </p:nvCxnSpPr>
        <p:spPr>
          <a:xfrm>
            <a:off x="5077741" y="4129255"/>
            <a:ext cx="475490" cy="1716"/>
          </a:xfrm>
          <a:prstGeom prst="straightConnector1">
            <a:avLst/>
          </a:prstGeom>
          <a:noFill/>
          <a:ln w="6350" cap="flat" cmpd="sng" algn="ctr">
            <a:solidFill>
              <a:srgbClr val="FB4E0B"/>
            </a:solidFill>
            <a:prstDash val="solid"/>
            <a:miter lim="800000"/>
            <a:tailEnd type="triangle"/>
          </a:ln>
          <a:effectLst/>
        </p:spPr>
      </p:cxnSp>
      <p:cxnSp>
        <p:nvCxnSpPr>
          <p:cNvPr id="221" name="Straight Arrow Connector 220">
            <a:extLst>
              <a:ext uri="{FF2B5EF4-FFF2-40B4-BE49-F238E27FC236}">
                <a16:creationId xmlns:a16="http://schemas.microsoft.com/office/drawing/2014/main" id="{B0611BD5-1C26-7734-3699-8C662C918A5A}"/>
              </a:ext>
            </a:extLst>
          </p:cNvPr>
          <p:cNvCxnSpPr>
            <a:cxnSpLocks/>
            <a:stCxn id="210" idx="1"/>
            <a:endCxn id="205" idx="3"/>
          </p:cNvCxnSpPr>
          <p:nvPr/>
        </p:nvCxnSpPr>
        <p:spPr>
          <a:xfrm flipH="1" flipV="1">
            <a:off x="5077741" y="5840090"/>
            <a:ext cx="2703876" cy="1"/>
          </a:xfrm>
          <a:prstGeom prst="straightConnector1">
            <a:avLst/>
          </a:prstGeom>
          <a:noFill/>
          <a:ln w="6350" cap="flat" cmpd="sng" algn="ctr">
            <a:solidFill>
              <a:srgbClr val="FB4E0B"/>
            </a:solidFill>
            <a:prstDash val="solid"/>
            <a:miter lim="800000"/>
            <a:tailEnd type="triangle"/>
          </a:ln>
          <a:effectLst/>
        </p:spPr>
      </p:cxnSp>
      <p:cxnSp>
        <p:nvCxnSpPr>
          <p:cNvPr id="222" name="Straight Connector 221">
            <a:extLst>
              <a:ext uri="{FF2B5EF4-FFF2-40B4-BE49-F238E27FC236}">
                <a16:creationId xmlns:a16="http://schemas.microsoft.com/office/drawing/2014/main" id="{75CA99DC-3378-1F85-D85E-32C917A52229}"/>
              </a:ext>
            </a:extLst>
          </p:cNvPr>
          <p:cNvCxnSpPr>
            <a:cxnSpLocks/>
          </p:cNvCxnSpPr>
          <p:nvPr/>
        </p:nvCxnSpPr>
        <p:spPr>
          <a:xfrm flipV="1">
            <a:off x="4168636" y="1981548"/>
            <a:ext cx="0" cy="359147"/>
          </a:xfrm>
          <a:prstGeom prst="line">
            <a:avLst/>
          </a:prstGeom>
          <a:noFill/>
          <a:ln w="6350" cap="flat" cmpd="sng" algn="ctr">
            <a:solidFill>
              <a:srgbClr val="FB4E0B"/>
            </a:solidFill>
            <a:prstDash val="solid"/>
            <a:miter lim="800000"/>
          </a:ln>
          <a:effectLst/>
        </p:spPr>
      </p:cxnSp>
      <p:cxnSp>
        <p:nvCxnSpPr>
          <p:cNvPr id="223" name="Straight Arrow Connector 222">
            <a:extLst>
              <a:ext uri="{FF2B5EF4-FFF2-40B4-BE49-F238E27FC236}">
                <a16:creationId xmlns:a16="http://schemas.microsoft.com/office/drawing/2014/main" id="{601BF858-3B24-5B64-8B6B-9A5DA70AFAFC}"/>
              </a:ext>
            </a:extLst>
          </p:cNvPr>
          <p:cNvCxnSpPr>
            <a:cxnSpLocks/>
            <a:stCxn id="205" idx="0"/>
          </p:cNvCxnSpPr>
          <p:nvPr/>
        </p:nvCxnSpPr>
        <p:spPr>
          <a:xfrm flipV="1">
            <a:off x="4101926" y="4417833"/>
            <a:ext cx="5378" cy="1123460"/>
          </a:xfrm>
          <a:prstGeom prst="straightConnector1">
            <a:avLst/>
          </a:prstGeom>
          <a:noFill/>
          <a:ln w="6350" cap="flat" cmpd="sng" algn="ctr">
            <a:solidFill>
              <a:srgbClr val="FB4E0B"/>
            </a:solidFill>
            <a:prstDash val="solid"/>
            <a:miter lim="800000"/>
            <a:tailEnd type="triangle"/>
          </a:ln>
          <a:effectLst/>
        </p:spPr>
      </p:cxnSp>
      <p:cxnSp>
        <p:nvCxnSpPr>
          <p:cNvPr id="224" name="Straight Arrow Connector 223">
            <a:extLst>
              <a:ext uri="{FF2B5EF4-FFF2-40B4-BE49-F238E27FC236}">
                <a16:creationId xmlns:a16="http://schemas.microsoft.com/office/drawing/2014/main" id="{B05EB7B7-3D25-1C8B-A1F1-754A871DF587}"/>
              </a:ext>
            </a:extLst>
          </p:cNvPr>
          <p:cNvCxnSpPr>
            <a:cxnSpLocks/>
            <a:stCxn id="202" idx="0"/>
            <a:endCxn id="200" idx="2"/>
          </p:cNvCxnSpPr>
          <p:nvPr/>
        </p:nvCxnSpPr>
        <p:spPr>
          <a:xfrm flipV="1">
            <a:off x="4101926" y="2958656"/>
            <a:ext cx="5378" cy="871802"/>
          </a:xfrm>
          <a:prstGeom prst="straightConnector1">
            <a:avLst/>
          </a:prstGeom>
          <a:noFill/>
          <a:ln w="6350" cap="flat" cmpd="sng" algn="ctr">
            <a:solidFill>
              <a:srgbClr val="FB4E0B"/>
            </a:solidFill>
            <a:prstDash val="solid"/>
            <a:miter lim="800000"/>
            <a:tailEnd type="triangle"/>
          </a:ln>
          <a:effectLst/>
        </p:spPr>
      </p:cxnSp>
      <p:sp>
        <p:nvSpPr>
          <p:cNvPr id="225" name="Rectangle 224">
            <a:extLst>
              <a:ext uri="{FF2B5EF4-FFF2-40B4-BE49-F238E27FC236}">
                <a16:creationId xmlns:a16="http://schemas.microsoft.com/office/drawing/2014/main" id="{E01116C6-0901-E304-61E6-DB24EA1A87FC}"/>
              </a:ext>
            </a:extLst>
          </p:cNvPr>
          <p:cNvSpPr/>
          <p:nvPr/>
        </p:nvSpPr>
        <p:spPr>
          <a:xfrm>
            <a:off x="2862306" y="4134512"/>
            <a:ext cx="650597" cy="256558"/>
          </a:xfrm>
          <a:prstGeom prst="rect">
            <a:avLst/>
          </a:prstGeom>
          <a:solidFill>
            <a:srgbClr val="414141"/>
          </a:solid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26" name="TextBox 225">
            <a:extLst>
              <a:ext uri="{FF2B5EF4-FFF2-40B4-BE49-F238E27FC236}">
                <a16:creationId xmlns:a16="http://schemas.microsoft.com/office/drawing/2014/main" id="{051D5A12-B330-528E-57BF-17149FD561B0}"/>
              </a:ext>
            </a:extLst>
          </p:cNvPr>
          <p:cNvSpPr txBox="1"/>
          <p:nvPr/>
        </p:nvSpPr>
        <p:spPr>
          <a:xfrm>
            <a:off x="2934225" y="4114071"/>
            <a:ext cx="48256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Calibri" panose="020F0502020204030204"/>
                <a:ea typeface="+mn-ea"/>
                <a:cs typeface="+mn-cs"/>
              </a:rPr>
              <a:t>Start</a:t>
            </a:r>
          </a:p>
        </p:txBody>
      </p:sp>
      <p:grpSp>
        <p:nvGrpSpPr>
          <p:cNvPr id="232" name="Group 231">
            <a:extLst>
              <a:ext uri="{FF2B5EF4-FFF2-40B4-BE49-F238E27FC236}">
                <a16:creationId xmlns:a16="http://schemas.microsoft.com/office/drawing/2014/main" id="{CABA3769-2EAF-D944-E9F2-41592D70E02D}"/>
              </a:ext>
            </a:extLst>
          </p:cNvPr>
          <p:cNvGrpSpPr/>
          <p:nvPr/>
        </p:nvGrpSpPr>
        <p:grpSpPr>
          <a:xfrm>
            <a:off x="5683748" y="4895629"/>
            <a:ext cx="703506" cy="684223"/>
            <a:chOff x="6502507" y="5872937"/>
            <a:chExt cx="703506" cy="780277"/>
          </a:xfrm>
          <a:solidFill>
            <a:srgbClr val="FD956D"/>
          </a:solidFill>
        </p:grpSpPr>
        <p:sp>
          <p:nvSpPr>
            <p:cNvPr id="233" name="Flowchart: Magnetic Disk 232">
              <a:extLst>
                <a:ext uri="{FF2B5EF4-FFF2-40B4-BE49-F238E27FC236}">
                  <a16:creationId xmlns:a16="http://schemas.microsoft.com/office/drawing/2014/main" id="{FA668773-A647-FC51-F0E1-340958C2CF0A}"/>
                </a:ext>
              </a:extLst>
            </p:cNvPr>
            <p:cNvSpPr/>
            <p:nvPr/>
          </p:nvSpPr>
          <p:spPr>
            <a:xfrm>
              <a:off x="6502507" y="6328315"/>
              <a:ext cx="703506" cy="324899"/>
            </a:xfrm>
            <a:prstGeom prst="flowChartMagneticDisk">
              <a:avLst/>
            </a:prstGeom>
            <a:grp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34" name="Flowchart: Magnetic Disk 233">
              <a:extLst>
                <a:ext uri="{FF2B5EF4-FFF2-40B4-BE49-F238E27FC236}">
                  <a16:creationId xmlns:a16="http://schemas.microsoft.com/office/drawing/2014/main" id="{0E6F9B63-10D5-F918-3E50-A9E60A1C1E2C}"/>
                </a:ext>
              </a:extLst>
            </p:cNvPr>
            <p:cNvSpPr/>
            <p:nvPr/>
          </p:nvSpPr>
          <p:spPr>
            <a:xfrm>
              <a:off x="6502507" y="6101817"/>
              <a:ext cx="703506" cy="324899"/>
            </a:xfrm>
            <a:prstGeom prst="flowChartMagneticDisk">
              <a:avLst/>
            </a:prstGeom>
            <a:grp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35" name="Flowchart: Magnetic Disk 234">
              <a:extLst>
                <a:ext uri="{FF2B5EF4-FFF2-40B4-BE49-F238E27FC236}">
                  <a16:creationId xmlns:a16="http://schemas.microsoft.com/office/drawing/2014/main" id="{C1414A1A-19DE-F9B0-FDFF-FBFA5BF55675}"/>
                </a:ext>
              </a:extLst>
            </p:cNvPr>
            <p:cNvSpPr/>
            <p:nvPr/>
          </p:nvSpPr>
          <p:spPr>
            <a:xfrm>
              <a:off x="6502507" y="5872937"/>
              <a:ext cx="703506" cy="324899"/>
            </a:xfrm>
            <a:prstGeom prst="flowChartMagneticDisk">
              <a:avLst/>
            </a:prstGeom>
            <a:grp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cxnSp>
        <p:nvCxnSpPr>
          <p:cNvPr id="238" name="Straight Connector 237">
            <a:extLst>
              <a:ext uri="{FF2B5EF4-FFF2-40B4-BE49-F238E27FC236}">
                <a16:creationId xmlns:a16="http://schemas.microsoft.com/office/drawing/2014/main" id="{8F40F059-AC51-A166-54DA-4647ED36EE52}"/>
              </a:ext>
            </a:extLst>
          </p:cNvPr>
          <p:cNvCxnSpPr/>
          <p:nvPr/>
        </p:nvCxnSpPr>
        <p:spPr>
          <a:xfrm>
            <a:off x="9921577" y="1609733"/>
            <a:ext cx="0" cy="4732868"/>
          </a:xfrm>
          <a:prstGeom prst="line">
            <a:avLst/>
          </a:prstGeom>
          <a:noFill/>
          <a:ln w="6350" cap="flat" cmpd="sng" algn="ctr">
            <a:solidFill>
              <a:srgbClr val="DBDBDB"/>
            </a:solidFill>
            <a:prstDash val="solid"/>
            <a:miter lim="800000"/>
          </a:ln>
          <a:effectLst/>
        </p:spPr>
      </p:cxnSp>
      <p:graphicFrame>
        <p:nvGraphicFramePr>
          <p:cNvPr id="239" name="Table 238">
            <a:extLst>
              <a:ext uri="{FF2B5EF4-FFF2-40B4-BE49-F238E27FC236}">
                <a16:creationId xmlns:a16="http://schemas.microsoft.com/office/drawing/2014/main" id="{7C071234-E051-5643-623E-58B793F4B3C6}"/>
              </a:ext>
            </a:extLst>
          </p:cNvPr>
          <p:cNvGraphicFramePr>
            <a:graphicFrameLocks noGrp="1"/>
          </p:cNvGraphicFramePr>
          <p:nvPr/>
        </p:nvGraphicFramePr>
        <p:xfrm>
          <a:off x="442707" y="5024790"/>
          <a:ext cx="1425850" cy="370840"/>
        </p:xfrm>
        <a:graphic>
          <a:graphicData uri="http://schemas.openxmlformats.org/drawingml/2006/table">
            <a:tbl>
              <a:tblPr firstRow="1" bandRow="1"/>
              <a:tblGrid>
                <a:gridCol w="1425850">
                  <a:extLst>
                    <a:ext uri="{9D8B030D-6E8A-4147-A177-3AD203B41FA5}">
                      <a16:colId xmlns:a16="http://schemas.microsoft.com/office/drawing/2014/main" val="20000"/>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r>
                        <a:rPr lang="en-US" sz="1600" b="1">
                          <a:solidFill>
                            <a:schemeClr val="accent3"/>
                          </a:solidFill>
                        </a:rPr>
                        <a:t>Challenges</a:t>
                      </a:r>
                      <a:endParaRPr lang="en-US" sz="2000" b="1">
                        <a:solidFill>
                          <a:schemeClr val="accent3"/>
                        </a:solidFill>
                      </a:endParaRPr>
                    </a:p>
                  </a:txBody>
                  <a:tcPr marL="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240" name="TextBox 239">
            <a:extLst>
              <a:ext uri="{FF2B5EF4-FFF2-40B4-BE49-F238E27FC236}">
                <a16:creationId xmlns:a16="http://schemas.microsoft.com/office/drawing/2014/main" id="{9C09E233-A564-6020-BBC0-78B745DD571D}"/>
              </a:ext>
            </a:extLst>
          </p:cNvPr>
          <p:cNvSpPr txBox="1"/>
          <p:nvPr/>
        </p:nvSpPr>
        <p:spPr>
          <a:xfrm>
            <a:off x="447555" y="5403401"/>
            <a:ext cx="1147876" cy="441078"/>
          </a:xfrm>
          <a:prstGeom prst="rect">
            <a:avLst/>
          </a:prstGeom>
          <a:solidFill>
            <a:srgbClr val="FFFFFF"/>
          </a:solidFill>
          <a:ln w="9525">
            <a:noFill/>
            <a:miter lim="800000"/>
            <a:headEnd/>
            <a:tailEnd/>
          </a:ln>
          <a:effectLst/>
        </p:spPr>
        <p:txBody>
          <a:bodyPr lIns="0" tIns="45714" rIns="45714" bIns="45714"/>
          <a:lstStyle>
            <a:defPPr>
              <a:defRPr lang="en-US"/>
            </a:defPPr>
            <a:lvl1pPr marR="0" lvl="0" indent="0" fontAlgn="auto">
              <a:lnSpc>
                <a:spcPct val="100000"/>
              </a:lnSpc>
              <a:spcBef>
                <a:spcPts val="0"/>
              </a:spcBef>
              <a:spcAft>
                <a:spcPts val="0"/>
              </a:spcAft>
              <a:buClrTx/>
              <a:buSzTx/>
              <a:buFontTx/>
              <a:buNone/>
              <a:tabLst/>
              <a:defRPr kumimoji="0" sz="1100" b="0" u="none" strike="noStrike" cap="none" spc="0" normalizeH="0" baseline="0">
                <a:ln>
                  <a:noFill/>
                </a:ln>
                <a:solidFill>
                  <a:prstClr val="black"/>
                </a:solidFill>
                <a:effectLst/>
                <a:uLnTx/>
                <a:uFillTx/>
                <a:latin typeface="+mj-lt"/>
                <a:cs typeface="Arial" panose="020B0604020202020204" pitchFamily="34" charset="0"/>
              </a:defRPr>
            </a:lvl1pPr>
            <a:lvl2pPr marL="0" marR="0" lvl="1" indent="0" fontAlgn="base">
              <a:lnSpc>
                <a:spcPct val="100000"/>
              </a:lnSpc>
              <a:spcBef>
                <a:spcPts val="0"/>
              </a:spcBef>
              <a:spcAft>
                <a:spcPts val="100"/>
              </a:spcAft>
              <a:buClr>
                <a:srgbClr val="FF6503"/>
              </a:buClr>
              <a:buSzPct val="100000"/>
              <a:buFontTx/>
              <a:buNone/>
              <a:tabLst/>
              <a:defRPr kumimoji="0" sz="1200" b="1" u="none" strike="noStrike" cap="none" spc="0" normalizeH="0" baseline="0">
                <a:ln>
                  <a:noFill/>
                </a:ln>
                <a:solidFill>
                  <a:prstClr val="black"/>
                </a:solidFill>
                <a:effectLst/>
                <a:uLnTx/>
                <a:uFillTx/>
                <a:latin typeface="+mj-lt"/>
                <a:cs typeface="Arial" panose="020B0604020202020204" pitchFamily="34" charset="0"/>
              </a:defRPr>
            </a:lvl2pPr>
          </a:lstStyle>
          <a:p>
            <a:pPr marL="182880" marR="0" lvl="0" indent="-182880" algn="l" defTabSz="914400" rtl="0" eaLnBrk="1" fontAlgn="auto" latinLnBrk="0" hangingPunct="1">
              <a:lnSpc>
                <a:spcPct val="100000"/>
              </a:lnSpc>
              <a:spcBef>
                <a:spcPts val="300"/>
              </a:spcBef>
              <a:spcAft>
                <a:spcPts val="0"/>
              </a:spcAft>
              <a:buClr>
                <a:srgbClr val="FB4D0A"/>
              </a:buClr>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Calibri" panose="020F0502020204030204"/>
                <a:ea typeface="+mn-ea"/>
                <a:cs typeface="Arial" panose="020B0604020202020204" pitchFamily="34" charset="0"/>
              </a:rPr>
              <a:t>Process Gaps</a:t>
            </a:r>
          </a:p>
        </p:txBody>
      </p:sp>
      <p:sp>
        <p:nvSpPr>
          <p:cNvPr id="241" name="TextBox 240">
            <a:extLst>
              <a:ext uri="{FF2B5EF4-FFF2-40B4-BE49-F238E27FC236}">
                <a16:creationId xmlns:a16="http://schemas.microsoft.com/office/drawing/2014/main" id="{0A19C4F4-29A2-2BAE-A79D-36C979D1ED12}"/>
              </a:ext>
            </a:extLst>
          </p:cNvPr>
          <p:cNvSpPr txBox="1"/>
          <p:nvPr/>
        </p:nvSpPr>
        <p:spPr>
          <a:xfrm>
            <a:off x="1679636" y="5403401"/>
            <a:ext cx="1167476" cy="441078"/>
          </a:xfrm>
          <a:prstGeom prst="rect">
            <a:avLst/>
          </a:prstGeom>
          <a:solidFill>
            <a:srgbClr val="FFFFFF"/>
          </a:solidFill>
          <a:ln w="9525">
            <a:noFill/>
            <a:miter lim="800000"/>
            <a:headEnd/>
            <a:tailEnd/>
          </a:ln>
          <a:effectLst/>
        </p:spPr>
        <p:txBody>
          <a:bodyPr lIns="91429" tIns="45714" rIns="45714" bIns="45714"/>
          <a:lstStyle>
            <a:defPPr>
              <a:defRPr lang="en-US"/>
            </a:defPPr>
            <a:lvl1pPr marR="0" lvl="0" indent="0" fontAlgn="auto">
              <a:lnSpc>
                <a:spcPct val="100000"/>
              </a:lnSpc>
              <a:spcBef>
                <a:spcPts val="0"/>
              </a:spcBef>
              <a:spcAft>
                <a:spcPts val="0"/>
              </a:spcAft>
              <a:buClrTx/>
              <a:buSzTx/>
              <a:buFontTx/>
              <a:buNone/>
              <a:tabLst/>
              <a:defRPr kumimoji="0" sz="1100" b="0" u="none" strike="noStrike" cap="none" spc="0" normalizeH="0" baseline="0">
                <a:ln>
                  <a:noFill/>
                </a:ln>
                <a:solidFill>
                  <a:prstClr val="black"/>
                </a:solidFill>
                <a:effectLst/>
                <a:uLnTx/>
                <a:uFillTx/>
                <a:latin typeface="+mj-lt"/>
                <a:cs typeface="Arial" panose="020B0604020202020204" pitchFamily="34" charset="0"/>
              </a:defRPr>
            </a:lvl1pPr>
            <a:lvl2pPr marL="0" marR="0" lvl="1" indent="0" fontAlgn="base">
              <a:lnSpc>
                <a:spcPct val="100000"/>
              </a:lnSpc>
              <a:spcBef>
                <a:spcPts val="0"/>
              </a:spcBef>
              <a:spcAft>
                <a:spcPts val="100"/>
              </a:spcAft>
              <a:buClr>
                <a:srgbClr val="FF6503"/>
              </a:buClr>
              <a:buSzPct val="100000"/>
              <a:buFontTx/>
              <a:buNone/>
              <a:tabLst/>
              <a:defRPr kumimoji="0" sz="1200" b="1" u="none" strike="noStrike" cap="none" spc="0" normalizeH="0" baseline="0">
                <a:ln>
                  <a:noFill/>
                </a:ln>
                <a:solidFill>
                  <a:prstClr val="black"/>
                </a:solidFill>
                <a:effectLst/>
                <a:uLnTx/>
                <a:uFillTx/>
                <a:latin typeface="+mj-lt"/>
                <a:cs typeface="Arial" panose="020B0604020202020204" pitchFamily="34" charset="0"/>
              </a:defRPr>
            </a:lvl2pPr>
          </a:lstStyle>
          <a:p>
            <a:pPr marL="182880" marR="0" lvl="0" indent="-182880" algn="l" defTabSz="914400" rtl="0" eaLnBrk="1" fontAlgn="auto" latinLnBrk="0" hangingPunct="1">
              <a:lnSpc>
                <a:spcPct val="100000"/>
              </a:lnSpc>
              <a:spcBef>
                <a:spcPts val="300"/>
              </a:spcBef>
              <a:spcAft>
                <a:spcPts val="0"/>
              </a:spcAft>
              <a:buClr>
                <a:srgbClr val="FB4D0A"/>
              </a:buClr>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Calibri" panose="020F0502020204030204"/>
                <a:ea typeface="+mn-ea"/>
                <a:cs typeface="Arial" panose="020B0604020202020204" pitchFamily="34" charset="0"/>
              </a:rPr>
              <a:t>Partial Process automations</a:t>
            </a:r>
          </a:p>
        </p:txBody>
      </p:sp>
      <p:sp>
        <p:nvSpPr>
          <p:cNvPr id="242" name="TextBox 241">
            <a:extLst>
              <a:ext uri="{FF2B5EF4-FFF2-40B4-BE49-F238E27FC236}">
                <a16:creationId xmlns:a16="http://schemas.microsoft.com/office/drawing/2014/main" id="{DF619C0C-B190-8B0F-3F64-55AC1A3D2BC0}"/>
              </a:ext>
            </a:extLst>
          </p:cNvPr>
          <p:cNvSpPr txBox="1"/>
          <p:nvPr/>
        </p:nvSpPr>
        <p:spPr>
          <a:xfrm>
            <a:off x="452431" y="5867960"/>
            <a:ext cx="1143000" cy="246888"/>
          </a:xfrm>
          <a:prstGeom prst="rect">
            <a:avLst/>
          </a:prstGeom>
          <a:solidFill>
            <a:srgbClr val="FFFFFF"/>
          </a:solidFill>
          <a:ln w="9525">
            <a:noFill/>
            <a:miter lim="800000"/>
            <a:headEnd/>
            <a:tailEnd/>
          </a:ln>
          <a:effectLst/>
        </p:spPr>
        <p:txBody>
          <a:bodyPr lIns="0" tIns="45714" rIns="45714" bIns="45714" anchor="ctr"/>
          <a:lstStyle>
            <a:defPPr>
              <a:defRPr lang="en-US"/>
            </a:defPPr>
            <a:lvl1pPr marR="0" lvl="0" indent="0" fontAlgn="auto">
              <a:lnSpc>
                <a:spcPct val="100000"/>
              </a:lnSpc>
              <a:spcBef>
                <a:spcPts val="0"/>
              </a:spcBef>
              <a:spcAft>
                <a:spcPts val="0"/>
              </a:spcAft>
              <a:buClrTx/>
              <a:buSzTx/>
              <a:buFontTx/>
              <a:buNone/>
              <a:tabLst/>
              <a:defRPr kumimoji="0" sz="1100" b="0" u="none" strike="noStrike" cap="none" spc="0" normalizeH="0" baseline="0">
                <a:ln>
                  <a:noFill/>
                </a:ln>
                <a:solidFill>
                  <a:prstClr val="black"/>
                </a:solidFill>
                <a:effectLst/>
                <a:uLnTx/>
                <a:uFillTx/>
                <a:latin typeface="+mj-lt"/>
                <a:cs typeface="Arial" panose="020B0604020202020204" pitchFamily="34" charset="0"/>
              </a:defRPr>
            </a:lvl1pPr>
            <a:lvl2pPr marL="0" marR="0" lvl="1" indent="0" fontAlgn="base">
              <a:lnSpc>
                <a:spcPct val="100000"/>
              </a:lnSpc>
              <a:spcBef>
                <a:spcPts val="0"/>
              </a:spcBef>
              <a:spcAft>
                <a:spcPts val="100"/>
              </a:spcAft>
              <a:buClr>
                <a:srgbClr val="FF6503"/>
              </a:buClr>
              <a:buSzPct val="100000"/>
              <a:buFontTx/>
              <a:buNone/>
              <a:tabLst/>
              <a:defRPr kumimoji="0" sz="1200" b="1" u="none" strike="noStrike" cap="none" spc="0" normalizeH="0" baseline="0">
                <a:ln>
                  <a:noFill/>
                </a:ln>
                <a:solidFill>
                  <a:prstClr val="black"/>
                </a:solidFill>
                <a:effectLst/>
                <a:uLnTx/>
                <a:uFillTx/>
                <a:latin typeface="+mj-lt"/>
                <a:cs typeface="Arial" panose="020B0604020202020204" pitchFamily="34" charset="0"/>
              </a:defRPr>
            </a:lvl2pPr>
          </a:lstStyle>
          <a:p>
            <a:pPr marL="182880" marR="0" lvl="0" indent="-182880" algn="l" defTabSz="914400" rtl="0" eaLnBrk="1" fontAlgn="auto" latinLnBrk="0" hangingPunct="1">
              <a:lnSpc>
                <a:spcPct val="100000"/>
              </a:lnSpc>
              <a:spcBef>
                <a:spcPts val="300"/>
              </a:spcBef>
              <a:spcAft>
                <a:spcPts val="0"/>
              </a:spcAft>
              <a:buClr>
                <a:srgbClr val="FB4D0A"/>
              </a:buClr>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Calibri" panose="020F0502020204030204"/>
                <a:ea typeface="+mn-ea"/>
                <a:cs typeface="Arial" panose="020B0604020202020204" pitchFamily="34" charset="0"/>
              </a:rPr>
              <a:t>Short Timelines</a:t>
            </a:r>
          </a:p>
        </p:txBody>
      </p:sp>
      <p:sp>
        <p:nvSpPr>
          <p:cNvPr id="243" name="TextBox 242">
            <a:extLst>
              <a:ext uri="{FF2B5EF4-FFF2-40B4-BE49-F238E27FC236}">
                <a16:creationId xmlns:a16="http://schemas.microsoft.com/office/drawing/2014/main" id="{A8202DF3-CAA2-F29B-D0F7-0B42444B359B}"/>
              </a:ext>
            </a:extLst>
          </p:cNvPr>
          <p:cNvSpPr txBox="1"/>
          <p:nvPr/>
        </p:nvSpPr>
        <p:spPr>
          <a:xfrm>
            <a:off x="1679636" y="6114848"/>
            <a:ext cx="1143000" cy="246888"/>
          </a:xfrm>
          <a:prstGeom prst="rect">
            <a:avLst/>
          </a:prstGeom>
          <a:solidFill>
            <a:srgbClr val="FFFFFF"/>
          </a:solidFill>
          <a:ln w="9525">
            <a:noFill/>
            <a:miter lim="800000"/>
            <a:headEnd/>
            <a:tailEnd/>
          </a:ln>
          <a:effectLst/>
        </p:spPr>
        <p:txBody>
          <a:bodyPr lIns="91429" tIns="45714" rIns="45714" bIns="45714" anchor="ctr"/>
          <a:lstStyle>
            <a:defPPr>
              <a:defRPr lang="en-US"/>
            </a:defPPr>
            <a:lvl1pPr marR="0" lvl="0" indent="0" fontAlgn="auto">
              <a:lnSpc>
                <a:spcPct val="100000"/>
              </a:lnSpc>
              <a:spcBef>
                <a:spcPts val="0"/>
              </a:spcBef>
              <a:spcAft>
                <a:spcPts val="0"/>
              </a:spcAft>
              <a:buClrTx/>
              <a:buSzTx/>
              <a:buFontTx/>
              <a:buNone/>
              <a:tabLst/>
              <a:defRPr kumimoji="0" sz="1100" b="0" u="none" strike="noStrike" cap="none" spc="0" normalizeH="0" baseline="0">
                <a:ln>
                  <a:noFill/>
                </a:ln>
                <a:solidFill>
                  <a:prstClr val="black"/>
                </a:solidFill>
                <a:effectLst/>
                <a:uLnTx/>
                <a:uFillTx/>
                <a:latin typeface="+mj-lt"/>
                <a:cs typeface="Arial" panose="020B0604020202020204" pitchFamily="34" charset="0"/>
              </a:defRPr>
            </a:lvl1pPr>
            <a:lvl2pPr marL="0" marR="0" lvl="1" indent="0" fontAlgn="base">
              <a:lnSpc>
                <a:spcPct val="100000"/>
              </a:lnSpc>
              <a:spcBef>
                <a:spcPts val="0"/>
              </a:spcBef>
              <a:spcAft>
                <a:spcPts val="100"/>
              </a:spcAft>
              <a:buClr>
                <a:srgbClr val="FF6503"/>
              </a:buClr>
              <a:buSzPct val="100000"/>
              <a:buFontTx/>
              <a:buNone/>
              <a:tabLst/>
              <a:defRPr kumimoji="0" sz="1200" b="1" u="none" strike="noStrike" cap="none" spc="0" normalizeH="0" baseline="0">
                <a:ln>
                  <a:noFill/>
                </a:ln>
                <a:solidFill>
                  <a:prstClr val="black"/>
                </a:solidFill>
                <a:effectLst/>
                <a:uLnTx/>
                <a:uFillTx/>
                <a:latin typeface="+mj-lt"/>
                <a:cs typeface="Arial" panose="020B0604020202020204" pitchFamily="34" charset="0"/>
              </a:defRPr>
            </a:lvl2pPr>
          </a:lstStyle>
          <a:p>
            <a:pPr marL="182880" marR="0" lvl="0" indent="-182880" algn="l" defTabSz="914400" rtl="0" eaLnBrk="1" fontAlgn="auto" latinLnBrk="0" hangingPunct="1">
              <a:lnSpc>
                <a:spcPct val="100000"/>
              </a:lnSpc>
              <a:spcBef>
                <a:spcPts val="300"/>
              </a:spcBef>
              <a:spcAft>
                <a:spcPts val="0"/>
              </a:spcAft>
              <a:buClr>
                <a:srgbClr val="FB4D0A"/>
              </a:buClr>
              <a:buSzTx/>
              <a:buFont typeface="Arial" panose="020B0604020202020204" pitchFamily="34" charset="0"/>
              <a:buChar char="•"/>
              <a:tabLst/>
              <a:defRPr/>
            </a:pPr>
            <a:r>
              <a:rPr kumimoji="0" lang="en-US" sz="1100" b="0" i="0" u="none" strike="noStrike" kern="0" cap="none" spc="0" normalizeH="0" baseline="0" noProof="0">
                <a:ln>
                  <a:noFill/>
                </a:ln>
                <a:solidFill>
                  <a:prstClr val="black"/>
                </a:solidFill>
                <a:effectLst/>
                <a:uLnTx/>
                <a:uFillTx/>
                <a:latin typeface="Calibri" panose="020F0502020204030204"/>
                <a:ea typeface="+mn-ea"/>
                <a:cs typeface="Arial" panose="020B0604020202020204" pitchFamily="34" charset="0"/>
              </a:rPr>
              <a:t>Input dependencies on different teams</a:t>
            </a:r>
          </a:p>
        </p:txBody>
      </p:sp>
      <p:pic>
        <p:nvPicPr>
          <p:cNvPr id="68" name="Picture 8" descr="MG-ALFA Compute for Windows Azure - YouTube">
            <a:extLst>
              <a:ext uri="{FF2B5EF4-FFF2-40B4-BE49-F238E27FC236}">
                <a16:creationId xmlns:a16="http://schemas.microsoft.com/office/drawing/2014/main" id="{2E68DC29-872D-6373-5EE6-203C81AC92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7863" y="2121401"/>
            <a:ext cx="663484" cy="345912"/>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10" descr="Image result for ms excel">
            <a:extLst>
              <a:ext uri="{FF2B5EF4-FFF2-40B4-BE49-F238E27FC236}">
                <a16:creationId xmlns:a16="http://schemas.microsoft.com/office/drawing/2014/main" id="{694F1392-72EB-CB9C-B14B-6C342DAC1D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35005" y="2079025"/>
            <a:ext cx="379734" cy="375561"/>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69">
            <a:extLst>
              <a:ext uri="{FF2B5EF4-FFF2-40B4-BE49-F238E27FC236}">
                <a16:creationId xmlns:a16="http://schemas.microsoft.com/office/drawing/2014/main" id="{3664A62D-0FDF-4464-A134-45906CE12040}"/>
              </a:ext>
            </a:extLst>
          </p:cNvPr>
          <p:cNvPicPr>
            <a:picLocks noGrp="1"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424244" y="1630996"/>
            <a:ext cx="1090495" cy="306467"/>
          </a:xfrm>
          <a:prstGeom prst="rect">
            <a:avLst/>
          </a:prstGeom>
          <a:ln>
            <a:noFill/>
          </a:ln>
        </p:spPr>
      </p:pic>
      <p:cxnSp>
        <p:nvCxnSpPr>
          <p:cNvPr id="71" name="Straight Connector 70">
            <a:extLst>
              <a:ext uri="{FF2B5EF4-FFF2-40B4-BE49-F238E27FC236}">
                <a16:creationId xmlns:a16="http://schemas.microsoft.com/office/drawing/2014/main" id="{9DAA8E1D-FA0F-F8F8-0CC1-B5F24AA1554A}"/>
              </a:ext>
            </a:extLst>
          </p:cNvPr>
          <p:cNvCxnSpPr>
            <a:cxnSpLocks/>
          </p:cNvCxnSpPr>
          <p:nvPr/>
        </p:nvCxnSpPr>
        <p:spPr>
          <a:xfrm flipH="1">
            <a:off x="10057863" y="2797519"/>
            <a:ext cx="1864338" cy="0"/>
          </a:xfrm>
          <a:prstGeom prst="line">
            <a:avLst/>
          </a:prstGeom>
          <a:noFill/>
          <a:ln w="6350" cap="flat" cmpd="sng" algn="ctr">
            <a:solidFill>
              <a:srgbClr val="FFFFFF">
                <a:lumMod val="65000"/>
              </a:srgbClr>
            </a:solidFill>
            <a:prstDash val="solid"/>
            <a:miter lim="800000"/>
          </a:ln>
          <a:effectLst/>
        </p:spPr>
      </p:cxnSp>
      <p:sp>
        <p:nvSpPr>
          <p:cNvPr id="74" name="Rectangle: Top Corners Rounded 47">
            <a:extLst>
              <a:ext uri="{FF2B5EF4-FFF2-40B4-BE49-F238E27FC236}">
                <a16:creationId xmlns:a16="http://schemas.microsoft.com/office/drawing/2014/main" id="{88BB46A4-01B2-BC60-743E-E15A205FC233}"/>
              </a:ext>
            </a:extLst>
          </p:cNvPr>
          <p:cNvSpPr/>
          <p:nvPr/>
        </p:nvSpPr>
        <p:spPr>
          <a:xfrm>
            <a:off x="5423876" y="1691208"/>
            <a:ext cx="1825909" cy="794678"/>
          </a:xfrm>
          <a:prstGeom prst="roundRect">
            <a:avLst>
              <a:gd name="adj" fmla="val 10349"/>
            </a:avLst>
          </a:prstGeom>
          <a:solidFill>
            <a:srgbClr val="808080"/>
          </a:solidFill>
          <a:ln w="12700" cap="flat" cmpd="sng" algn="ctr">
            <a:noFill/>
            <a:prstDash val="solid"/>
            <a:miter lim="800000"/>
          </a:ln>
          <a:effectLst/>
        </p:spPr>
        <p:txBody>
          <a:bodyPr rtlCol="0" anchor="ctr"/>
          <a:lstStyle/>
          <a:p>
            <a:pPr lvl="0" algn="ctr">
              <a:defRPr/>
            </a:pPr>
            <a:r>
              <a:rPr lang="en-US" sz="1400" kern="0">
                <a:solidFill>
                  <a:srgbClr val="FFFFFF"/>
                </a:solidFill>
              </a:rPr>
              <a:t>Create new week folder structure and Save new files </a:t>
            </a:r>
          </a:p>
        </p:txBody>
      </p:sp>
      <p:cxnSp>
        <p:nvCxnSpPr>
          <p:cNvPr id="81" name="Straight Arrow Connector 80">
            <a:extLst>
              <a:ext uri="{FF2B5EF4-FFF2-40B4-BE49-F238E27FC236}">
                <a16:creationId xmlns:a16="http://schemas.microsoft.com/office/drawing/2014/main" id="{2B1392D8-C4F4-47CB-5893-A9FF989B8CD3}"/>
              </a:ext>
            </a:extLst>
          </p:cNvPr>
          <p:cNvCxnSpPr>
            <a:cxnSpLocks/>
          </p:cNvCxnSpPr>
          <p:nvPr/>
        </p:nvCxnSpPr>
        <p:spPr>
          <a:xfrm>
            <a:off x="8652601" y="2062870"/>
            <a:ext cx="0" cy="586715"/>
          </a:xfrm>
          <a:prstGeom prst="straightConnector1">
            <a:avLst/>
          </a:prstGeom>
          <a:noFill/>
          <a:ln w="6350" cap="flat" cmpd="sng" algn="ctr">
            <a:solidFill>
              <a:srgbClr val="FB4E0B"/>
            </a:solidFill>
            <a:prstDash val="solid"/>
            <a:miter lim="800000"/>
            <a:tailEnd type="triangle"/>
          </a:ln>
          <a:effectLst/>
        </p:spPr>
      </p:cxnSp>
      <p:cxnSp>
        <p:nvCxnSpPr>
          <p:cNvPr id="92" name="Straight Connector 91">
            <a:extLst>
              <a:ext uri="{FF2B5EF4-FFF2-40B4-BE49-F238E27FC236}">
                <a16:creationId xmlns:a16="http://schemas.microsoft.com/office/drawing/2014/main" id="{BD220035-E876-270A-2565-73F7CBC55AF1}"/>
              </a:ext>
            </a:extLst>
          </p:cNvPr>
          <p:cNvCxnSpPr>
            <a:cxnSpLocks/>
          </p:cNvCxnSpPr>
          <p:nvPr/>
        </p:nvCxnSpPr>
        <p:spPr>
          <a:xfrm flipH="1">
            <a:off x="7228562" y="2054361"/>
            <a:ext cx="1422399" cy="3612"/>
          </a:xfrm>
          <a:prstGeom prst="line">
            <a:avLst/>
          </a:prstGeom>
          <a:noFill/>
          <a:ln w="6350" cap="flat" cmpd="sng" algn="ctr">
            <a:solidFill>
              <a:srgbClr val="FB4E0B"/>
            </a:solidFill>
            <a:prstDash val="solid"/>
            <a:miter lim="800000"/>
          </a:ln>
          <a:effectLst/>
        </p:spPr>
      </p:cxnSp>
      <p:sp>
        <p:nvSpPr>
          <p:cNvPr id="155" name="Rectangle: Top Corners Rounded 47">
            <a:extLst>
              <a:ext uri="{FF2B5EF4-FFF2-40B4-BE49-F238E27FC236}">
                <a16:creationId xmlns:a16="http://schemas.microsoft.com/office/drawing/2014/main" id="{79EC8CAC-440E-484F-814F-EB00BA19DAAC}"/>
              </a:ext>
            </a:extLst>
          </p:cNvPr>
          <p:cNvSpPr/>
          <p:nvPr/>
        </p:nvSpPr>
        <p:spPr>
          <a:xfrm>
            <a:off x="5553231" y="3711463"/>
            <a:ext cx="1825909" cy="839015"/>
          </a:xfrm>
          <a:prstGeom prst="roundRect">
            <a:avLst>
              <a:gd name="adj" fmla="val 10349"/>
            </a:avLst>
          </a:prstGeom>
          <a:solidFill>
            <a:srgbClr val="808080"/>
          </a:solidFill>
          <a:ln w="12700" cap="flat" cmpd="sng" algn="ctr">
            <a:noFill/>
            <a:prstDash val="solid"/>
            <a:miter lim="800000"/>
          </a:ln>
          <a:effectLst/>
        </p:spPr>
        <p:txBody>
          <a:bodyPr rtlCol="0" anchor="ctr"/>
          <a:lstStyle/>
          <a:p>
            <a:pPr algn="ctr">
              <a:defRPr/>
            </a:pPr>
            <a:r>
              <a:rPr lang="en-US" sz="1300" kern="0">
                <a:solidFill>
                  <a:srgbClr val="FFFFFF"/>
                </a:solidFill>
              </a:rPr>
              <a:t>Communicate final results to stakeholders</a:t>
            </a:r>
          </a:p>
        </p:txBody>
      </p:sp>
      <p:cxnSp>
        <p:nvCxnSpPr>
          <p:cNvPr id="166" name="Straight Arrow Connector 165">
            <a:extLst>
              <a:ext uri="{FF2B5EF4-FFF2-40B4-BE49-F238E27FC236}">
                <a16:creationId xmlns:a16="http://schemas.microsoft.com/office/drawing/2014/main" id="{F053FCF5-40F4-507D-7B7B-F0CD1CB7D65A}"/>
              </a:ext>
            </a:extLst>
          </p:cNvPr>
          <p:cNvCxnSpPr>
            <a:cxnSpLocks/>
            <a:stCxn id="155" idx="3"/>
          </p:cNvCxnSpPr>
          <p:nvPr/>
        </p:nvCxnSpPr>
        <p:spPr>
          <a:xfrm flipV="1">
            <a:off x="7379140" y="3531594"/>
            <a:ext cx="414644" cy="599377"/>
          </a:xfrm>
          <a:prstGeom prst="straightConnector1">
            <a:avLst/>
          </a:prstGeom>
          <a:noFill/>
          <a:ln w="6350" cap="flat" cmpd="sng" algn="ctr">
            <a:solidFill>
              <a:srgbClr val="FB4E0B"/>
            </a:solidFill>
            <a:prstDash val="solid"/>
            <a:miter lim="800000"/>
            <a:tailEnd type="triangle"/>
          </a:ln>
          <a:effectLst/>
        </p:spPr>
      </p:cxnSp>
      <p:sp>
        <p:nvSpPr>
          <p:cNvPr id="174" name="TextBox 173">
            <a:extLst>
              <a:ext uri="{FF2B5EF4-FFF2-40B4-BE49-F238E27FC236}">
                <a16:creationId xmlns:a16="http://schemas.microsoft.com/office/drawing/2014/main" id="{AC777951-84A2-8290-1995-46739A3D074B}"/>
              </a:ext>
            </a:extLst>
          </p:cNvPr>
          <p:cNvSpPr txBox="1"/>
          <p:nvPr/>
        </p:nvSpPr>
        <p:spPr>
          <a:xfrm>
            <a:off x="5365612" y="2668012"/>
            <a:ext cx="2168603"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Calibri" panose="020F0502020204030204"/>
                <a:ea typeface="+mn-ea"/>
                <a:cs typeface="+mn-cs"/>
              </a:rPr>
              <a:t>Based on latest results, stakeholders decide to keep same pricing rates or propose new rates (to be implemented from next </a:t>
            </a:r>
            <a:r>
              <a:rPr lang="en-US" sz="1000" b="1" kern="0">
                <a:solidFill>
                  <a:srgbClr val="000000"/>
                </a:solidFill>
                <a:latin typeface="Calibri" panose="020F0502020204030204"/>
              </a:rPr>
              <a:t>week onwards) </a:t>
            </a:r>
            <a:r>
              <a:rPr kumimoji="0" lang="en-US" sz="1000" b="1" i="0" u="none" strike="noStrike" kern="0" cap="none" spc="0" normalizeH="0" baseline="0" noProof="0">
                <a:ln>
                  <a:noFill/>
                </a:ln>
                <a:solidFill>
                  <a:srgbClr val="000000"/>
                </a:solidFill>
                <a:effectLst/>
                <a:uLnTx/>
                <a:uFillTx/>
                <a:latin typeface="Calibri" panose="020F0502020204030204"/>
                <a:ea typeface="+mn-ea"/>
                <a:cs typeface="+mn-cs"/>
              </a:rPr>
              <a:t>and may ask to provide some sensitivity results as well</a:t>
            </a:r>
          </a:p>
        </p:txBody>
      </p:sp>
      <p:cxnSp>
        <p:nvCxnSpPr>
          <p:cNvPr id="244" name="Straight Arrow Connector 243">
            <a:extLst>
              <a:ext uri="{FF2B5EF4-FFF2-40B4-BE49-F238E27FC236}">
                <a16:creationId xmlns:a16="http://schemas.microsoft.com/office/drawing/2014/main" id="{B3DA08F4-466E-8CED-9032-A4BA74C1E315}"/>
              </a:ext>
            </a:extLst>
          </p:cNvPr>
          <p:cNvCxnSpPr>
            <a:cxnSpLocks/>
          </p:cNvCxnSpPr>
          <p:nvPr/>
        </p:nvCxnSpPr>
        <p:spPr>
          <a:xfrm>
            <a:off x="4981503" y="4414182"/>
            <a:ext cx="720654" cy="481447"/>
          </a:xfrm>
          <a:prstGeom prst="straightConnector1">
            <a:avLst/>
          </a:prstGeom>
          <a:noFill/>
          <a:ln w="6350" cap="flat" cmpd="sng" algn="ctr">
            <a:solidFill>
              <a:srgbClr val="FB4E0B"/>
            </a:solidFill>
            <a:prstDash val="solid"/>
            <a:miter lim="800000"/>
            <a:tailEnd type="triangle"/>
          </a:ln>
          <a:effectLst/>
        </p:spPr>
      </p:cxnSp>
      <p:sp>
        <p:nvSpPr>
          <p:cNvPr id="245" name="TextBox 244">
            <a:extLst>
              <a:ext uri="{FF2B5EF4-FFF2-40B4-BE49-F238E27FC236}">
                <a16:creationId xmlns:a16="http://schemas.microsoft.com/office/drawing/2014/main" id="{D9DFA8F6-6C38-B37B-AB06-299DAD22AEB8}"/>
              </a:ext>
            </a:extLst>
          </p:cNvPr>
          <p:cNvSpPr txBox="1"/>
          <p:nvPr/>
        </p:nvSpPr>
        <p:spPr>
          <a:xfrm>
            <a:off x="6310569" y="4849275"/>
            <a:ext cx="1272123"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a:ea typeface="+mn-ea"/>
                <a:cs typeface="+mn-cs"/>
              </a:rPr>
              <a:t>Archive Results into master template for future reference</a:t>
            </a:r>
          </a:p>
        </p:txBody>
      </p:sp>
      <p:sp>
        <p:nvSpPr>
          <p:cNvPr id="2" name="TextBox 1">
            <a:extLst>
              <a:ext uri="{FF2B5EF4-FFF2-40B4-BE49-F238E27FC236}">
                <a16:creationId xmlns:a16="http://schemas.microsoft.com/office/drawing/2014/main" id="{BC157EB3-8E95-9804-5AE9-D4D33CE2FE46}"/>
              </a:ext>
            </a:extLst>
          </p:cNvPr>
          <p:cNvSpPr txBox="1"/>
          <p:nvPr/>
        </p:nvSpPr>
        <p:spPr>
          <a:xfrm>
            <a:off x="7774884" y="260512"/>
            <a:ext cx="4269631" cy="369332"/>
          </a:xfrm>
          <a:prstGeom prst="rect">
            <a:avLst/>
          </a:prstGeom>
          <a:solidFill>
            <a:srgbClr val="FFFF00"/>
          </a:solidFill>
        </p:spPr>
        <p:txBody>
          <a:bodyPr wrap="square" rtlCol="0">
            <a:spAutoFit/>
          </a:bodyPr>
          <a:lstStyle/>
          <a:p>
            <a:r>
              <a:rPr lang="en-US"/>
              <a:t>Annuity Pricing Monitoring work – version 1</a:t>
            </a:r>
            <a:endParaRPr lang="en-IN"/>
          </a:p>
        </p:txBody>
      </p:sp>
    </p:spTree>
    <p:extLst>
      <p:ext uri="{BB962C8B-B14F-4D97-AF65-F5344CB8AC3E}">
        <p14:creationId xmlns:p14="http://schemas.microsoft.com/office/powerpoint/2010/main" val="13054863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097CE3F-F26A-BEF9-29CB-31809B480A7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10" name="Object 9" hidden="1">
                        <a:extLst>
                          <a:ext uri="{FF2B5EF4-FFF2-40B4-BE49-F238E27FC236}">
                            <a16:creationId xmlns:a16="http://schemas.microsoft.com/office/drawing/2014/main" id="{8097CE3F-F26A-BEF9-29CB-31809B480A7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09" name="Rectangle 208">
            <a:extLst>
              <a:ext uri="{FF2B5EF4-FFF2-40B4-BE49-F238E27FC236}">
                <a16:creationId xmlns:a16="http://schemas.microsoft.com/office/drawing/2014/main" id="{10876803-03DA-8744-F650-70F2419A5512}"/>
              </a:ext>
            </a:extLst>
          </p:cNvPr>
          <p:cNvSpPr/>
          <p:nvPr/>
        </p:nvSpPr>
        <p:spPr>
          <a:xfrm>
            <a:off x="231469" y="2717961"/>
            <a:ext cx="1209209" cy="2805526"/>
          </a:xfrm>
          <a:prstGeom prst="rect">
            <a:avLst/>
          </a:prstGeom>
          <a:noFill/>
          <a:ln w="6350" cap="flat" cmpd="sng" algn="ctr">
            <a:noFill/>
            <a:prstDash val="solid"/>
            <a:miter lim="800000"/>
          </a:ln>
          <a:effectLst/>
        </p:spPr>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Model Run</a:t>
            </a:r>
            <a:endParaRPr kumimoji="0" lang="en-US" sz="11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a:p>
            <a:pPr lvl="0">
              <a:defRPr/>
            </a:pPr>
            <a:r>
              <a:rPr lang="en-US" sz="1100" kern="0">
                <a:solidFill>
                  <a:srgbClr val="000000"/>
                </a:solidFill>
                <a:latin typeface="Calibri" panose="020F0502020204030204" pitchFamily="34" charset="0"/>
                <a:cs typeface="Calibri" panose="020F0502020204030204" pitchFamily="34" charset="0"/>
              </a:rPr>
              <a:t>Execute MG-ALFA production model from last week.</a:t>
            </a:r>
          </a:p>
          <a:p>
            <a:pPr lvl="0">
              <a:defRPr/>
            </a:pPr>
            <a:endParaRPr lang="en-US" sz="1100" kern="0">
              <a:solidFill>
                <a:srgbClr val="000000"/>
              </a:solidFill>
              <a:latin typeface="Calibri" panose="020F0502020204030204" pitchFamily="34" charset="0"/>
              <a:cs typeface="Calibri" panose="020F0502020204030204" pitchFamily="34" charset="0"/>
            </a:endParaRPr>
          </a:p>
          <a:p>
            <a:pPr lvl="0">
              <a:defRPr/>
            </a:pPr>
            <a:r>
              <a:rPr lang="en-US" sz="1100" kern="0">
                <a:solidFill>
                  <a:srgbClr val="000000"/>
                </a:solidFill>
                <a:latin typeface="Calibri" panose="020F0502020204030204" pitchFamily="34" charset="0"/>
                <a:cs typeface="Calibri" panose="020F0502020204030204" pitchFamily="34" charset="0"/>
              </a:rPr>
              <a:t>Perform results reconciliation from prior week summary files to make sure there are no uninformed changes with in the production model.</a:t>
            </a:r>
          </a:p>
        </p:txBody>
      </p:sp>
      <p:sp>
        <p:nvSpPr>
          <p:cNvPr id="210" name="Rectangle 209">
            <a:extLst>
              <a:ext uri="{FF2B5EF4-FFF2-40B4-BE49-F238E27FC236}">
                <a16:creationId xmlns:a16="http://schemas.microsoft.com/office/drawing/2014/main" id="{2F5FFEEA-4E55-38A8-3652-2CC2DE7633FD}"/>
              </a:ext>
            </a:extLst>
          </p:cNvPr>
          <p:cNvSpPr/>
          <p:nvPr/>
        </p:nvSpPr>
        <p:spPr>
          <a:xfrm>
            <a:off x="1544932" y="2716658"/>
            <a:ext cx="1441762" cy="2361890"/>
          </a:xfrm>
          <a:prstGeom prst="rect">
            <a:avLst/>
          </a:prstGeom>
          <a:noFill/>
          <a:ln w="6350" cap="flat" cmpd="sng" algn="ctr">
            <a:noFill/>
            <a:prstDash val="solid"/>
            <a:miter lim="800000"/>
          </a:ln>
          <a:effectLst/>
        </p:spPr>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New Folder Structure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0">
                <a:solidFill>
                  <a:srgbClr val="000000"/>
                </a:solidFill>
                <a:latin typeface="Calibri" panose="020F0502020204030204" pitchFamily="34" charset="0"/>
                <a:cs typeface="Calibri" panose="020F0502020204030204" pitchFamily="34" charset="0"/>
              </a:rPr>
              <a:t>Create new week folder structure and save the following input files in it.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a:p>
            <a:pPr marL="171450" lvl="0" indent="-171450">
              <a:buFont typeface="Arial" panose="020B0604020202020204" pitchFamily="34" charset="0"/>
              <a:buChar char="•"/>
              <a:defRPr/>
            </a:pPr>
            <a:r>
              <a:rPr lang="en-US" sz="1100" kern="0"/>
              <a:t>Weekly option rates</a:t>
            </a:r>
          </a:p>
          <a:p>
            <a:pPr marL="171450" lvl="0" indent="-171450">
              <a:buFont typeface="Arial" panose="020B0604020202020204" pitchFamily="34" charset="0"/>
              <a:buChar char="•"/>
              <a:defRPr/>
            </a:pPr>
            <a:r>
              <a:rPr lang="en-US" sz="1100" kern="0"/>
              <a:t>SOFR rates</a:t>
            </a:r>
          </a:p>
          <a:p>
            <a:pPr marL="171450" lvl="0" indent="-171450">
              <a:buFont typeface="Arial" panose="020B0604020202020204" pitchFamily="34" charset="0"/>
              <a:buChar char="•"/>
              <a:defRPr/>
            </a:pPr>
            <a:r>
              <a:rPr lang="en-US" sz="1100" kern="0"/>
              <a:t>Liability discount rate curve</a:t>
            </a:r>
          </a:p>
          <a:p>
            <a:pPr marL="171450" lvl="0" indent="-171450">
              <a:buFont typeface="Arial" panose="020B0604020202020204" pitchFamily="34" charset="0"/>
              <a:buChar char="•"/>
              <a:defRPr/>
            </a:pPr>
            <a:r>
              <a:rPr lang="en-US" sz="1100" kern="0"/>
              <a:t>Asset yield spreads</a:t>
            </a:r>
          </a:p>
          <a:p>
            <a:pPr marL="171450" lvl="0" indent="-171450">
              <a:buFont typeface="Arial" panose="020B0604020202020204" pitchFamily="34" charset="0"/>
              <a:buChar char="•"/>
              <a:defRPr/>
            </a:pPr>
            <a:r>
              <a:rPr lang="en-US" sz="1100" kern="0"/>
              <a:t>Policy sales data etc.</a:t>
            </a:r>
            <a:endParaRPr kumimoji="0" lang="en-US" sz="1100" b="1"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220" name="Rectangle 219">
            <a:extLst>
              <a:ext uri="{FF2B5EF4-FFF2-40B4-BE49-F238E27FC236}">
                <a16:creationId xmlns:a16="http://schemas.microsoft.com/office/drawing/2014/main" id="{E7A64DE5-11E8-B3B0-C48D-E116500D172E}"/>
              </a:ext>
            </a:extLst>
          </p:cNvPr>
          <p:cNvSpPr/>
          <p:nvPr/>
        </p:nvSpPr>
        <p:spPr>
          <a:xfrm>
            <a:off x="3126374" y="2716658"/>
            <a:ext cx="1441762" cy="2031690"/>
          </a:xfrm>
          <a:prstGeom prst="rect">
            <a:avLst/>
          </a:prstGeom>
          <a:noFill/>
          <a:ln w="6350" cap="flat" cmpd="sng" algn="ctr">
            <a:noFill/>
            <a:prstDash val="solid"/>
            <a:miter lim="800000"/>
          </a:ln>
          <a:effectLst/>
        </p:spPr>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Cost of Crediting </a:t>
            </a:r>
            <a:r>
              <a:rPr lang="en-US" sz="1100" kern="0">
                <a:solidFill>
                  <a:srgbClr val="000000"/>
                </a:solidFill>
                <a:latin typeface="Calibri" panose="020F0502020204030204" pitchFamily="34" charset="0"/>
                <a:cs typeface="Calibri" panose="020F0502020204030204" pitchFamily="34" charset="0"/>
              </a:rPr>
              <a:t>Estimate cost of crediting/crediting rates for various annuity products based on latest asset spread yields, weekly options etc.</a:t>
            </a:r>
            <a:endParaRPr kumimoji="0" lang="en-US" sz="11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221" name="Rectangle 220">
            <a:extLst>
              <a:ext uri="{FF2B5EF4-FFF2-40B4-BE49-F238E27FC236}">
                <a16:creationId xmlns:a16="http://schemas.microsoft.com/office/drawing/2014/main" id="{62836CD9-65D4-4B84-5895-C0E3DB0EC178}"/>
              </a:ext>
            </a:extLst>
          </p:cNvPr>
          <p:cNvSpPr/>
          <p:nvPr/>
        </p:nvSpPr>
        <p:spPr>
          <a:xfrm>
            <a:off x="4639945" y="2716658"/>
            <a:ext cx="1441762" cy="1904690"/>
          </a:xfrm>
          <a:prstGeom prst="rect">
            <a:avLst/>
          </a:prstGeom>
          <a:noFill/>
          <a:ln w="6350" cap="flat" cmpd="sng" algn="ctr">
            <a:noFill/>
            <a:prstDash val="solid"/>
            <a:miter lim="800000"/>
          </a:ln>
          <a:effectLst/>
        </p:spPr>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Out-performance adjustment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0">
                <a:solidFill>
                  <a:srgbClr val="000000"/>
                </a:solidFill>
                <a:latin typeface="Calibri" panose="020F0502020204030204" pitchFamily="34" charset="0"/>
                <a:cs typeface="Calibri" panose="020F0502020204030204" pitchFamily="34" charset="0"/>
              </a:rPr>
              <a:t>Adjust the cost of crediting/crediting rates estimated in previous step to incorporate investment out-performances.</a:t>
            </a:r>
            <a:endParaRPr kumimoji="0" lang="en-US" sz="110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222" name="Rectangle 221">
            <a:extLst>
              <a:ext uri="{FF2B5EF4-FFF2-40B4-BE49-F238E27FC236}">
                <a16:creationId xmlns:a16="http://schemas.microsoft.com/office/drawing/2014/main" id="{3AD18347-49AE-997C-5C75-42FBAE895D86}"/>
              </a:ext>
            </a:extLst>
          </p:cNvPr>
          <p:cNvSpPr/>
          <p:nvPr/>
        </p:nvSpPr>
        <p:spPr>
          <a:xfrm>
            <a:off x="6153378" y="2716658"/>
            <a:ext cx="1441762" cy="2619994"/>
          </a:xfrm>
          <a:prstGeom prst="rect">
            <a:avLst/>
          </a:prstGeom>
          <a:noFill/>
          <a:ln w="6350" cap="flat" cmpd="sng" algn="ctr">
            <a:noFill/>
            <a:prstDash val="solid"/>
            <a:miter lim="800000"/>
          </a:ln>
          <a:effectLst/>
        </p:spPr>
        <p:txBody>
          <a:bodyPr rtlCol="0" anchor="t"/>
          <a:lstStyle/>
          <a:p>
            <a:pPr lvl="0">
              <a:defRPr/>
            </a:pPr>
            <a:r>
              <a:rPr lang="en-US" sz="1100" b="1" kern="0">
                <a:solidFill>
                  <a:srgbClr val="000000"/>
                </a:solidFill>
                <a:latin typeface="Calibri" panose="020F0502020204030204" pitchFamily="34" charset="0"/>
                <a:cs typeface="Calibri" panose="020F0502020204030204" pitchFamily="34" charset="0"/>
              </a:rPr>
              <a:t>Build Files</a:t>
            </a:r>
          </a:p>
          <a:p>
            <a:pPr lvl="0">
              <a:defRPr/>
            </a:pPr>
            <a:r>
              <a:rPr lang="en-US" sz="1100" kern="0">
                <a:solidFill>
                  <a:srgbClr val="000000"/>
                </a:solidFill>
                <a:latin typeface="Calibri" panose="020F0502020204030204" pitchFamily="34" charset="0"/>
                <a:cs typeface="Calibri" panose="020F0502020204030204" pitchFamily="34" charset="0"/>
              </a:rPr>
              <a:t>Build files are input files for MG-ALFA model.</a:t>
            </a:r>
          </a:p>
          <a:p>
            <a:pPr lvl="0">
              <a:defRPr/>
            </a:pPr>
            <a:endParaRPr lang="en-US" sz="1100" kern="0">
              <a:solidFill>
                <a:srgbClr val="000000"/>
              </a:solidFill>
              <a:latin typeface="Calibri" panose="020F0502020204030204" pitchFamily="34" charset="0"/>
              <a:cs typeface="Calibri" panose="020F0502020204030204" pitchFamily="34" charset="0"/>
            </a:endParaRPr>
          </a:p>
          <a:p>
            <a:pPr lvl="0">
              <a:defRPr/>
            </a:pPr>
            <a:r>
              <a:rPr lang="en-US" sz="1100" kern="0">
                <a:solidFill>
                  <a:srgbClr val="000000"/>
                </a:solidFill>
                <a:latin typeface="Calibri" panose="020F0502020204030204" pitchFamily="34" charset="0"/>
                <a:cs typeface="Calibri" panose="020F0502020204030204" pitchFamily="34" charset="0"/>
              </a:rPr>
              <a:t>Build files contain various pricing inputs like commission rates, crediting rates, scenarios etc.</a:t>
            </a:r>
          </a:p>
        </p:txBody>
      </p:sp>
      <p:sp>
        <p:nvSpPr>
          <p:cNvPr id="223" name="Rectangle 222">
            <a:extLst>
              <a:ext uri="{FF2B5EF4-FFF2-40B4-BE49-F238E27FC236}">
                <a16:creationId xmlns:a16="http://schemas.microsoft.com/office/drawing/2014/main" id="{C14E5670-4A17-663B-12DB-3C1F8202BECE}"/>
              </a:ext>
            </a:extLst>
          </p:cNvPr>
          <p:cNvSpPr/>
          <p:nvPr/>
        </p:nvSpPr>
        <p:spPr>
          <a:xfrm>
            <a:off x="7706697" y="2723191"/>
            <a:ext cx="1441762" cy="2528442"/>
          </a:xfrm>
          <a:prstGeom prst="rect">
            <a:avLst/>
          </a:prstGeom>
          <a:noFill/>
          <a:ln w="6350" cap="flat" cmpd="sng" algn="ctr">
            <a:noFill/>
            <a:prstDash val="solid"/>
            <a:miter lim="800000"/>
          </a:ln>
          <a:effectLst/>
        </p:spPr>
        <p:txBody>
          <a:bodyPr rtlCol="0" anchor="t"/>
          <a:lstStyle/>
          <a:p>
            <a:pPr lvl="0">
              <a:defRPr/>
            </a:pPr>
            <a:r>
              <a:rPr lang="en-US" sz="1100" b="1" kern="0">
                <a:solidFill>
                  <a:srgbClr val="000000"/>
                </a:solidFill>
                <a:latin typeface="Calibri" panose="020F0502020204030204" pitchFamily="34" charset="0"/>
                <a:cs typeface="Calibri" panose="020F0502020204030204" pitchFamily="34" charset="0"/>
              </a:rPr>
              <a:t>Results Summary</a:t>
            </a:r>
          </a:p>
          <a:p>
            <a:pPr lvl="0">
              <a:defRPr/>
            </a:pPr>
            <a:r>
              <a:rPr lang="en-US" sz="1100" kern="0">
                <a:solidFill>
                  <a:srgbClr val="000000"/>
                </a:solidFill>
                <a:latin typeface="Calibri" panose="020F0502020204030204" pitchFamily="34" charset="0"/>
                <a:cs typeface="Calibri" panose="020F0502020204030204" pitchFamily="34" charset="0"/>
              </a:rPr>
              <a:t>Prepare summary files for all annuity products and share it with stakeholders.</a:t>
            </a:r>
          </a:p>
          <a:p>
            <a:pPr lvl="0">
              <a:defRPr/>
            </a:pPr>
            <a:endParaRPr lang="en-US" sz="1100" kern="0">
              <a:solidFill>
                <a:srgbClr val="000000"/>
              </a:solidFill>
              <a:latin typeface="Calibri" panose="020F0502020204030204" pitchFamily="34" charset="0"/>
              <a:cs typeface="Calibri" panose="020F0502020204030204" pitchFamily="34" charset="0"/>
            </a:endParaRPr>
          </a:p>
          <a:p>
            <a:pPr lvl="0">
              <a:defRPr/>
            </a:pPr>
            <a:r>
              <a:rPr lang="en-US" sz="1100" kern="0">
                <a:solidFill>
                  <a:srgbClr val="000000"/>
                </a:solidFill>
                <a:latin typeface="Calibri" panose="020F0502020204030204" pitchFamily="34" charset="0"/>
                <a:cs typeface="Calibri" panose="020F0502020204030204" pitchFamily="34" charset="0"/>
              </a:rPr>
              <a:t>Stakeholders may ask to provide sensitivity results as well.</a:t>
            </a:r>
          </a:p>
        </p:txBody>
      </p:sp>
      <p:sp>
        <p:nvSpPr>
          <p:cNvPr id="224" name="Rectangle 223">
            <a:extLst>
              <a:ext uri="{FF2B5EF4-FFF2-40B4-BE49-F238E27FC236}">
                <a16:creationId xmlns:a16="http://schemas.microsoft.com/office/drawing/2014/main" id="{28BA7EDD-476C-5C04-21B7-DF05CEE067B1}"/>
              </a:ext>
            </a:extLst>
          </p:cNvPr>
          <p:cNvSpPr/>
          <p:nvPr/>
        </p:nvSpPr>
        <p:spPr>
          <a:xfrm>
            <a:off x="9260016" y="2716658"/>
            <a:ext cx="1230184" cy="2120590"/>
          </a:xfrm>
          <a:prstGeom prst="rect">
            <a:avLst/>
          </a:prstGeom>
          <a:noFill/>
          <a:ln w="6350" cap="flat" cmpd="sng" algn="ctr">
            <a:noFill/>
            <a:prstDash val="solid"/>
            <a:miter lim="800000"/>
          </a:ln>
          <a:effectLst/>
        </p:spPr>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Archive Results</a:t>
            </a:r>
          </a:p>
          <a:p>
            <a:pPr lvl="0">
              <a:defRPr/>
            </a:pPr>
            <a:r>
              <a:rPr lang="en-US" sz="1100" kern="0">
                <a:solidFill>
                  <a:srgbClr val="000000"/>
                </a:solidFill>
                <a:latin typeface="Calibri" panose="020F0502020204030204" pitchFamily="34" charset="0"/>
                <a:cs typeface="Calibri" panose="020F0502020204030204" pitchFamily="34" charset="0"/>
              </a:rPr>
              <a:t>Archive the latest Results into master template for future reference.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cxnSp>
        <p:nvCxnSpPr>
          <p:cNvPr id="247" name="Straight Connector 246">
            <a:extLst>
              <a:ext uri="{FF2B5EF4-FFF2-40B4-BE49-F238E27FC236}">
                <a16:creationId xmlns:a16="http://schemas.microsoft.com/office/drawing/2014/main" id="{F651917C-15A1-DC80-6722-AFD18E884C98}"/>
              </a:ext>
            </a:extLst>
          </p:cNvPr>
          <p:cNvCxnSpPr/>
          <p:nvPr/>
        </p:nvCxnSpPr>
        <p:spPr>
          <a:xfrm>
            <a:off x="1495041" y="2917015"/>
            <a:ext cx="0" cy="2949810"/>
          </a:xfrm>
          <a:prstGeom prst="line">
            <a:avLst/>
          </a:prstGeom>
          <a:noFill/>
          <a:ln w="6350" cap="flat" cmpd="sng" algn="ctr">
            <a:solidFill>
              <a:srgbClr val="FFFFFF">
                <a:lumMod val="65000"/>
              </a:srgbClr>
            </a:solidFill>
            <a:prstDash val="solid"/>
            <a:miter lim="800000"/>
          </a:ln>
          <a:effectLst/>
        </p:spPr>
      </p:cxnSp>
      <p:cxnSp>
        <p:nvCxnSpPr>
          <p:cNvPr id="248" name="Straight Connector 247">
            <a:extLst>
              <a:ext uri="{FF2B5EF4-FFF2-40B4-BE49-F238E27FC236}">
                <a16:creationId xmlns:a16="http://schemas.microsoft.com/office/drawing/2014/main" id="{6B6D2FEF-5A16-E6B5-9B80-9B9406CFFA30}"/>
              </a:ext>
            </a:extLst>
          </p:cNvPr>
          <p:cNvCxnSpPr/>
          <p:nvPr/>
        </p:nvCxnSpPr>
        <p:spPr>
          <a:xfrm>
            <a:off x="3037483" y="2917015"/>
            <a:ext cx="0" cy="2949810"/>
          </a:xfrm>
          <a:prstGeom prst="line">
            <a:avLst/>
          </a:prstGeom>
          <a:noFill/>
          <a:ln w="6350" cap="flat" cmpd="sng" algn="ctr">
            <a:solidFill>
              <a:srgbClr val="FFFFFF">
                <a:lumMod val="65000"/>
              </a:srgbClr>
            </a:solidFill>
            <a:prstDash val="solid"/>
            <a:miter lim="800000"/>
          </a:ln>
          <a:effectLst/>
        </p:spPr>
      </p:cxnSp>
      <p:cxnSp>
        <p:nvCxnSpPr>
          <p:cNvPr id="249" name="Straight Connector 248">
            <a:extLst>
              <a:ext uri="{FF2B5EF4-FFF2-40B4-BE49-F238E27FC236}">
                <a16:creationId xmlns:a16="http://schemas.microsoft.com/office/drawing/2014/main" id="{4F5A006E-8DAA-FF8C-DCAD-969762F1B96F}"/>
              </a:ext>
            </a:extLst>
          </p:cNvPr>
          <p:cNvCxnSpPr/>
          <p:nvPr/>
        </p:nvCxnSpPr>
        <p:spPr>
          <a:xfrm flipH="1">
            <a:off x="4544092" y="2887028"/>
            <a:ext cx="22868" cy="2949810"/>
          </a:xfrm>
          <a:prstGeom prst="line">
            <a:avLst/>
          </a:prstGeom>
          <a:noFill/>
          <a:ln w="6350" cap="flat" cmpd="sng" algn="ctr">
            <a:solidFill>
              <a:srgbClr val="FFFFFF">
                <a:lumMod val="65000"/>
              </a:srgbClr>
            </a:solidFill>
            <a:prstDash val="solid"/>
            <a:miter lim="800000"/>
          </a:ln>
          <a:effectLst/>
        </p:spPr>
      </p:cxnSp>
      <p:cxnSp>
        <p:nvCxnSpPr>
          <p:cNvPr id="250" name="Straight Connector 249">
            <a:extLst>
              <a:ext uri="{FF2B5EF4-FFF2-40B4-BE49-F238E27FC236}">
                <a16:creationId xmlns:a16="http://schemas.microsoft.com/office/drawing/2014/main" id="{4A8AE938-73DC-5895-1307-C3795C331827}"/>
              </a:ext>
            </a:extLst>
          </p:cNvPr>
          <p:cNvCxnSpPr/>
          <p:nvPr/>
        </p:nvCxnSpPr>
        <p:spPr>
          <a:xfrm>
            <a:off x="6110294" y="2917015"/>
            <a:ext cx="0" cy="2949810"/>
          </a:xfrm>
          <a:prstGeom prst="line">
            <a:avLst/>
          </a:prstGeom>
          <a:noFill/>
          <a:ln w="6350" cap="flat" cmpd="sng" algn="ctr">
            <a:solidFill>
              <a:srgbClr val="FFFFFF">
                <a:lumMod val="65000"/>
              </a:srgbClr>
            </a:solidFill>
            <a:prstDash val="solid"/>
            <a:miter lim="800000"/>
          </a:ln>
          <a:effectLst/>
        </p:spPr>
      </p:cxnSp>
      <p:cxnSp>
        <p:nvCxnSpPr>
          <p:cNvPr id="251" name="Straight Connector 250">
            <a:extLst>
              <a:ext uri="{FF2B5EF4-FFF2-40B4-BE49-F238E27FC236}">
                <a16:creationId xmlns:a16="http://schemas.microsoft.com/office/drawing/2014/main" id="{5A4B3DBB-9C3F-C593-103F-BA60F0EDEB06}"/>
              </a:ext>
            </a:extLst>
          </p:cNvPr>
          <p:cNvCxnSpPr/>
          <p:nvPr/>
        </p:nvCxnSpPr>
        <p:spPr>
          <a:xfrm>
            <a:off x="7653629" y="2917015"/>
            <a:ext cx="0" cy="2949810"/>
          </a:xfrm>
          <a:prstGeom prst="line">
            <a:avLst/>
          </a:prstGeom>
          <a:noFill/>
          <a:ln w="6350" cap="flat" cmpd="sng" algn="ctr">
            <a:solidFill>
              <a:srgbClr val="FFFFFF">
                <a:lumMod val="65000"/>
              </a:srgbClr>
            </a:solidFill>
            <a:prstDash val="solid"/>
            <a:miter lim="800000"/>
          </a:ln>
          <a:effectLst/>
        </p:spPr>
      </p:cxnSp>
      <p:cxnSp>
        <p:nvCxnSpPr>
          <p:cNvPr id="252" name="Straight Connector 251">
            <a:extLst>
              <a:ext uri="{FF2B5EF4-FFF2-40B4-BE49-F238E27FC236}">
                <a16:creationId xmlns:a16="http://schemas.microsoft.com/office/drawing/2014/main" id="{F6A18F99-1CC7-B3EB-32B3-1299CEFFA691}"/>
              </a:ext>
            </a:extLst>
          </p:cNvPr>
          <p:cNvCxnSpPr/>
          <p:nvPr/>
        </p:nvCxnSpPr>
        <p:spPr>
          <a:xfrm flipH="1">
            <a:off x="9146178" y="2917015"/>
            <a:ext cx="0" cy="2949810"/>
          </a:xfrm>
          <a:prstGeom prst="line">
            <a:avLst/>
          </a:prstGeom>
          <a:noFill/>
          <a:ln w="6350" cap="flat" cmpd="sng" algn="ctr">
            <a:solidFill>
              <a:srgbClr val="FFFFFF">
                <a:lumMod val="65000"/>
              </a:srgbClr>
            </a:solidFill>
            <a:prstDash val="solid"/>
            <a:miter lim="800000"/>
          </a:ln>
          <a:effectLst/>
        </p:spPr>
      </p:cxnSp>
      <p:grpSp>
        <p:nvGrpSpPr>
          <p:cNvPr id="253" name="Group 4">
            <a:extLst>
              <a:ext uri="{FF2B5EF4-FFF2-40B4-BE49-F238E27FC236}">
                <a16:creationId xmlns:a16="http://schemas.microsoft.com/office/drawing/2014/main" id="{C9E18A93-213D-3374-14B7-04D3D882C299}"/>
              </a:ext>
            </a:extLst>
          </p:cNvPr>
          <p:cNvGrpSpPr>
            <a:grpSpLocks noChangeAspect="1"/>
          </p:cNvGrpSpPr>
          <p:nvPr/>
        </p:nvGrpSpPr>
        <p:grpSpPr bwMode="auto">
          <a:xfrm>
            <a:off x="591956" y="1339823"/>
            <a:ext cx="374256" cy="410624"/>
            <a:chOff x="303" y="2399"/>
            <a:chExt cx="591" cy="639"/>
          </a:xfrm>
          <a:solidFill>
            <a:schemeClr val="tx1"/>
          </a:solidFill>
        </p:grpSpPr>
        <p:sp>
          <p:nvSpPr>
            <p:cNvPr id="254" name="Freeform 5">
              <a:extLst>
                <a:ext uri="{FF2B5EF4-FFF2-40B4-BE49-F238E27FC236}">
                  <a16:creationId xmlns:a16="http://schemas.microsoft.com/office/drawing/2014/main" id="{FC58B47C-DA77-1E53-36D7-0F3773D77D16}"/>
                </a:ext>
              </a:extLst>
            </p:cNvPr>
            <p:cNvSpPr>
              <a:spLocks/>
            </p:cNvSpPr>
            <p:nvPr/>
          </p:nvSpPr>
          <p:spPr bwMode="auto">
            <a:xfrm>
              <a:off x="303" y="2399"/>
              <a:ext cx="591" cy="639"/>
            </a:xfrm>
            <a:custGeom>
              <a:avLst/>
              <a:gdLst>
                <a:gd name="T0" fmla="*/ 1639 w 1892"/>
                <a:gd name="T1" fmla="*/ 253 h 2048"/>
                <a:gd name="T2" fmla="*/ 1028 w 1892"/>
                <a:gd name="T3" fmla="*/ 0 h 2048"/>
                <a:gd name="T4" fmla="*/ 417 w 1892"/>
                <a:gd name="T5" fmla="*/ 253 h 2048"/>
                <a:gd name="T6" fmla="*/ 165 w 1892"/>
                <a:gd name="T7" fmla="*/ 857 h 2048"/>
                <a:gd name="T8" fmla="*/ 7 w 1892"/>
                <a:gd name="T9" fmla="*/ 1171 h 2048"/>
                <a:gd name="T10" fmla="*/ 19 w 1892"/>
                <a:gd name="T11" fmla="*/ 1210 h 2048"/>
                <a:gd name="T12" fmla="*/ 164 w 1892"/>
                <a:gd name="T13" fmla="*/ 1298 h 2048"/>
                <a:gd name="T14" fmla="*/ 164 w 1892"/>
                <a:gd name="T15" fmla="*/ 1761 h 2048"/>
                <a:gd name="T16" fmla="*/ 195 w 1892"/>
                <a:gd name="T17" fmla="*/ 1791 h 2048"/>
                <a:gd name="T18" fmla="*/ 485 w 1892"/>
                <a:gd name="T19" fmla="*/ 1791 h 2048"/>
                <a:gd name="T20" fmla="*/ 485 w 1892"/>
                <a:gd name="T21" fmla="*/ 2018 h 2048"/>
                <a:gd name="T22" fmla="*/ 515 w 1892"/>
                <a:gd name="T23" fmla="*/ 2048 h 2048"/>
                <a:gd name="T24" fmla="*/ 545 w 1892"/>
                <a:gd name="T25" fmla="*/ 2018 h 2048"/>
                <a:gd name="T26" fmla="*/ 545 w 1892"/>
                <a:gd name="T27" fmla="*/ 1761 h 2048"/>
                <a:gd name="T28" fmla="*/ 515 w 1892"/>
                <a:gd name="T29" fmla="*/ 1731 h 2048"/>
                <a:gd name="T30" fmla="*/ 225 w 1892"/>
                <a:gd name="T31" fmla="*/ 1731 h 2048"/>
                <a:gd name="T32" fmla="*/ 225 w 1892"/>
                <a:gd name="T33" fmla="*/ 1281 h 2048"/>
                <a:gd name="T34" fmla="*/ 210 w 1892"/>
                <a:gd name="T35" fmla="*/ 1255 h 2048"/>
                <a:gd name="T36" fmla="*/ 74 w 1892"/>
                <a:gd name="T37" fmla="*/ 1173 h 2048"/>
                <a:gd name="T38" fmla="*/ 221 w 1892"/>
                <a:gd name="T39" fmla="*/ 877 h 2048"/>
                <a:gd name="T40" fmla="*/ 225 w 1892"/>
                <a:gd name="T41" fmla="*/ 864 h 2048"/>
                <a:gd name="T42" fmla="*/ 1028 w 1892"/>
                <a:gd name="T43" fmla="*/ 60 h 2048"/>
                <a:gd name="T44" fmla="*/ 1832 w 1892"/>
                <a:gd name="T45" fmla="*/ 864 h 2048"/>
                <a:gd name="T46" fmla="*/ 1523 w 1892"/>
                <a:gd name="T47" fmla="*/ 1497 h 2048"/>
                <a:gd name="T48" fmla="*/ 1511 w 1892"/>
                <a:gd name="T49" fmla="*/ 1521 h 2048"/>
                <a:gd name="T50" fmla="*/ 1511 w 1892"/>
                <a:gd name="T51" fmla="*/ 2018 h 2048"/>
                <a:gd name="T52" fmla="*/ 1541 w 1892"/>
                <a:gd name="T53" fmla="*/ 2048 h 2048"/>
                <a:gd name="T54" fmla="*/ 1571 w 1892"/>
                <a:gd name="T55" fmla="*/ 2018 h 2048"/>
                <a:gd name="T56" fmla="*/ 1571 w 1892"/>
                <a:gd name="T57" fmla="*/ 1535 h 2048"/>
                <a:gd name="T58" fmla="*/ 1892 w 1892"/>
                <a:gd name="T59" fmla="*/ 864 h 2048"/>
                <a:gd name="T60" fmla="*/ 1639 w 1892"/>
                <a:gd name="T61" fmla="*/ 253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92" h="2048">
                  <a:moveTo>
                    <a:pt x="1639" y="253"/>
                  </a:moveTo>
                  <a:cubicBezTo>
                    <a:pt x="1476" y="90"/>
                    <a:pt x="1259" y="0"/>
                    <a:pt x="1028" y="0"/>
                  </a:cubicBezTo>
                  <a:cubicBezTo>
                    <a:pt x="797" y="0"/>
                    <a:pt x="581" y="90"/>
                    <a:pt x="417" y="253"/>
                  </a:cubicBezTo>
                  <a:cubicBezTo>
                    <a:pt x="256" y="414"/>
                    <a:pt x="166" y="629"/>
                    <a:pt x="165" y="857"/>
                  </a:cubicBezTo>
                  <a:cubicBezTo>
                    <a:pt x="7" y="1171"/>
                    <a:pt x="7" y="1171"/>
                    <a:pt x="7" y="1171"/>
                  </a:cubicBezTo>
                  <a:cubicBezTo>
                    <a:pt x="0" y="1185"/>
                    <a:pt x="5" y="1202"/>
                    <a:pt x="19" y="1210"/>
                  </a:cubicBezTo>
                  <a:cubicBezTo>
                    <a:pt x="164" y="1298"/>
                    <a:pt x="164" y="1298"/>
                    <a:pt x="164" y="1298"/>
                  </a:cubicBezTo>
                  <a:cubicBezTo>
                    <a:pt x="164" y="1761"/>
                    <a:pt x="164" y="1761"/>
                    <a:pt x="164" y="1761"/>
                  </a:cubicBezTo>
                  <a:cubicBezTo>
                    <a:pt x="164" y="1778"/>
                    <a:pt x="178" y="1791"/>
                    <a:pt x="195" y="1791"/>
                  </a:cubicBezTo>
                  <a:cubicBezTo>
                    <a:pt x="485" y="1791"/>
                    <a:pt x="485" y="1791"/>
                    <a:pt x="485" y="1791"/>
                  </a:cubicBezTo>
                  <a:cubicBezTo>
                    <a:pt x="485" y="2018"/>
                    <a:pt x="485" y="2018"/>
                    <a:pt x="485" y="2018"/>
                  </a:cubicBezTo>
                  <a:cubicBezTo>
                    <a:pt x="485" y="2035"/>
                    <a:pt x="499" y="2048"/>
                    <a:pt x="515" y="2048"/>
                  </a:cubicBezTo>
                  <a:cubicBezTo>
                    <a:pt x="532" y="2048"/>
                    <a:pt x="545" y="2035"/>
                    <a:pt x="545" y="2018"/>
                  </a:cubicBezTo>
                  <a:cubicBezTo>
                    <a:pt x="545" y="1761"/>
                    <a:pt x="545" y="1761"/>
                    <a:pt x="545" y="1761"/>
                  </a:cubicBezTo>
                  <a:cubicBezTo>
                    <a:pt x="545" y="1745"/>
                    <a:pt x="532" y="1731"/>
                    <a:pt x="515" y="1731"/>
                  </a:cubicBezTo>
                  <a:cubicBezTo>
                    <a:pt x="225" y="1731"/>
                    <a:pt x="225" y="1731"/>
                    <a:pt x="225" y="1731"/>
                  </a:cubicBezTo>
                  <a:cubicBezTo>
                    <a:pt x="225" y="1281"/>
                    <a:pt x="225" y="1281"/>
                    <a:pt x="225" y="1281"/>
                  </a:cubicBezTo>
                  <a:cubicBezTo>
                    <a:pt x="225" y="1270"/>
                    <a:pt x="219" y="1260"/>
                    <a:pt x="210" y="1255"/>
                  </a:cubicBezTo>
                  <a:cubicBezTo>
                    <a:pt x="74" y="1173"/>
                    <a:pt x="74" y="1173"/>
                    <a:pt x="74" y="1173"/>
                  </a:cubicBezTo>
                  <a:cubicBezTo>
                    <a:pt x="221" y="877"/>
                    <a:pt x="221" y="877"/>
                    <a:pt x="221" y="877"/>
                  </a:cubicBezTo>
                  <a:cubicBezTo>
                    <a:pt x="224" y="873"/>
                    <a:pt x="225" y="868"/>
                    <a:pt x="225" y="864"/>
                  </a:cubicBezTo>
                  <a:cubicBezTo>
                    <a:pt x="225" y="421"/>
                    <a:pt x="585" y="60"/>
                    <a:pt x="1028" y="60"/>
                  </a:cubicBezTo>
                  <a:cubicBezTo>
                    <a:pt x="1471" y="60"/>
                    <a:pt x="1832" y="421"/>
                    <a:pt x="1832" y="864"/>
                  </a:cubicBezTo>
                  <a:cubicBezTo>
                    <a:pt x="1832" y="1113"/>
                    <a:pt x="1719" y="1344"/>
                    <a:pt x="1523" y="1497"/>
                  </a:cubicBezTo>
                  <a:cubicBezTo>
                    <a:pt x="1515" y="1503"/>
                    <a:pt x="1511" y="1512"/>
                    <a:pt x="1511" y="1521"/>
                  </a:cubicBezTo>
                  <a:cubicBezTo>
                    <a:pt x="1511" y="2018"/>
                    <a:pt x="1511" y="2018"/>
                    <a:pt x="1511" y="2018"/>
                  </a:cubicBezTo>
                  <a:cubicBezTo>
                    <a:pt x="1511" y="2035"/>
                    <a:pt x="1525" y="2048"/>
                    <a:pt x="1541" y="2048"/>
                  </a:cubicBezTo>
                  <a:cubicBezTo>
                    <a:pt x="1558" y="2048"/>
                    <a:pt x="1571" y="2035"/>
                    <a:pt x="1571" y="2018"/>
                  </a:cubicBezTo>
                  <a:cubicBezTo>
                    <a:pt x="1571" y="1535"/>
                    <a:pt x="1571" y="1535"/>
                    <a:pt x="1571" y="1535"/>
                  </a:cubicBezTo>
                  <a:cubicBezTo>
                    <a:pt x="1775" y="1370"/>
                    <a:pt x="1892" y="1126"/>
                    <a:pt x="1892" y="864"/>
                  </a:cubicBezTo>
                  <a:cubicBezTo>
                    <a:pt x="1892" y="633"/>
                    <a:pt x="1802" y="416"/>
                    <a:pt x="1639" y="2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255" name="Freeform 6">
              <a:extLst>
                <a:ext uri="{FF2B5EF4-FFF2-40B4-BE49-F238E27FC236}">
                  <a16:creationId xmlns:a16="http://schemas.microsoft.com/office/drawing/2014/main" id="{B00FF5F4-1CCA-58FB-056C-C2F4A35A4641}"/>
                </a:ext>
              </a:extLst>
            </p:cNvPr>
            <p:cNvSpPr>
              <a:spLocks noEditPoints="1"/>
            </p:cNvSpPr>
            <p:nvPr/>
          </p:nvSpPr>
          <p:spPr bwMode="auto">
            <a:xfrm>
              <a:off x="495" y="2509"/>
              <a:ext cx="259" cy="399"/>
            </a:xfrm>
            <a:custGeom>
              <a:avLst/>
              <a:gdLst>
                <a:gd name="T0" fmla="*/ 752 w 830"/>
                <a:gd name="T1" fmla="*/ 656 h 1278"/>
                <a:gd name="T2" fmla="*/ 745 w 830"/>
                <a:gd name="T3" fmla="*/ 615 h 1278"/>
                <a:gd name="T4" fmla="*/ 703 w 830"/>
                <a:gd name="T5" fmla="*/ 621 h 1278"/>
                <a:gd name="T6" fmla="*/ 533 w 830"/>
                <a:gd name="T7" fmla="*/ 749 h 1278"/>
                <a:gd name="T8" fmla="*/ 513 w 830"/>
                <a:gd name="T9" fmla="*/ 777 h 1278"/>
                <a:gd name="T10" fmla="*/ 513 w 830"/>
                <a:gd name="T11" fmla="*/ 865 h 1278"/>
                <a:gd name="T12" fmla="*/ 317 w 830"/>
                <a:gd name="T13" fmla="*/ 865 h 1278"/>
                <a:gd name="T14" fmla="*/ 317 w 830"/>
                <a:gd name="T15" fmla="*/ 777 h 1278"/>
                <a:gd name="T16" fmla="*/ 297 w 830"/>
                <a:gd name="T17" fmla="*/ 749 h 1278"/>
                <a:gd name="T18" fmla="*/ 60 w 830"/>
                <a:gd name="T19" fmla="*/ 415 h 1278"/>
                <a:gd name="T20" fmla="*/ 415 w 830"/>
                <a:gd name="T21" fmla="*/ 60 h 1278"/>
                <a:gd name="T22" fmla="*/ 770 w 830"/>
                <a:gd name="T23" fmla="*/ 415 h 1278"/>
                <a:gd name="T24" fmla="*/ 759 w 830"/>
                <a:gd name="T25" fmla="*/ 503 h 1278"/>
                <a:gd name="T26" fmla="*/ 780 w 830"/>
                <a:gd name="T27" fmla="*/ 540 h 1278"/>
                <a:gd name="T28" fmla="*/ 817 w 830"/>
                <a:gd name="T29" fmla="*/ 518 h 1278"/>
                <a:gd name="T30" fmla="*/ 830 w 830"/>
                <a:gd name="T31" fmla="*/ 415 h 1278"/>
                <a:gd name="T32" fmla="*/ 415 w 830"/>
                <a:gd name="T33" fmla="*/ 0 h 1278"/>
                <a:gd name="T34" fmla="*/ 0 w 830"/>
                <a:gd name="T35" fmla="*/ 415 h 1278"/>
                <a:gd name="T36" fmla="*/ 257 w 830"/>
                <a:gd name="T37" fmla="*/ 798 h 1278"/>
                <a:gd name="T38" fmla="*/ 257 w 830"/>
                <a:gd name="T39" fmla="*/ 865 h 1278"/>
                <a:gd name="T40" fmla="*/ 223 w 830"/>
                <a:gd name="T41" fmla="*/ 865 h 1278"/>
                <a:gd name="T42" fmla="*/ 193 w 830"/>
                <a:gd name="T43" fmla="*/ 895 h 1278"/>
                <a:gd name="T44" fmla="*/ 193 w 830"/>
                <a:gd name="T45" fmla="*/ 1120 h 1278"/>
                <a:gd name="T46" fmla="*/ 351 w 830"/>
                <a:gd name="T47" fmla="*/ 1278 h 1278"/>
                <a:gd name="T48" fmla="*/ 479 w 830"/>
                <a:gd name="T49" fmla="*/ 1278 h 1278"/>
                <a:gd name="T50" fmla="*/ 638 w 830"/>
                <a:gd name="T51" fmla="*/ 1120 h 1278"/>
                <a:gd name="T52" fmla="*/ 638 w 830"/>
                <a:gd name="T53" fmla="*/ 895 h 1278"/>
                <a:gd name="T54" fmla="*/ 608 w 830"/>
                <a:gd name="T55" fmla="*/ 865 h 1278"/>
                <a:gd name="T56" fmla="*/ 573 w 830"/>
                <a:gd name="T57" fmla="*/ 865 h 1278"/>
                <a:gd name="T58" fmla="*/ 573 w 830"/>
                <a:gd name="T59" fmla="*/ 798 h 1278"/>
                <a:gd name="T60" fmla="*/ 752 w 830"/>
                <a:gd name="T61" fmla="*/ 656 h 1278"/>
                <a:gd name="T62" fmla="*/ 577 w 830"/>
                <a:gd name="T63" fmla="*/ 1058 h 1278"/>
                <a:gd name="T64" fmla="*/ 255 w 830"/>
                <a:gd name="T65" fmla="*/ 1058 h 1278"/>
                <a:gd name="T66" fmla="*/ 253 w 830"/>
                <a:gd name="T67" fmla="*/ 1058 h 1278"/>
                <a:gd name="T68" fmla="*/ 253 w 830"/>
                <a:gd name="T69" fmla="*/ 1022 h 1278"/>
                <a:gd name="T70" fmla="*/ 577 w 830"/>
                <a:gd name="T71" fmla="*/ 1022 h 1278"/>
                <a:gd name="T72" fmla="*/ 577 w 830"/>
                <a:gd name="T73" fmla="*/ 1058 h 1278"/>
                <a:gd name="T74" fmla="*/ 479 w 830"/>
                <a:gd name="T75" fmla="*/ 1218 h 1278"/>
                <a:gd name="T76" fmla="*/ 351 w 830"/>
                <a:gd name="T77" fmla="*/ 1218 h 1278"/>
                <a:gd name="T78" fmla="*/ 253 w 830"/>
                <a:gd name="T79" fmla="*/ 1120 h 1278"/>
                <a:gd name="T80" fmla="*/ 253 w 830"/>
                <a:gd name="T81" fmla="*/ 1118 h 1278"/>
                <a:gd name="T82" fmla="*/ 255 w 830"/>
                <a:gd name="T83" fmla="*/ 1118 h 1278"/>
                <a:gd name="T84" fmla="*/ 577 w 830"/>
                <a:gd name="T85" fmla="*/ 1118 h 1278"/>
                <a:gd name="T86" fmla="*/ 577 w 830"/>
                <a:gd name="T87" fmla="*/ 1120 h 1278"/>
                <a:gd name="T88" fmla="*/ 479 w 830"/>
                <a:gd name="T89" fmla="*/ 1218 h 1278"/>
                <a:gd name="T90" fmla="*/ 577 w 830"/>
                <a:gd name="T91" fmla="*/ 962 h 1278"/>
                <a:gd name="T92" fmla="*/ 253 w 830"/>
                <a:gd name="T93" fmla="*/ 962 h 1278"/>
                <a:gd name="T94" fmla="*/ 253 w 830"/>
                <a:gd name="T95" fmla="*/ 925 h 1278"/>
                <a:gd name="T96" fmla="*/ 287 w 830"/>
                <a:gd name="T97" fmla="*/ 925 h 1278"/>
                <a:gd name="T98" fmla="*/ 543 w 830"/>
                <a:gd name="T99" fmla="*/ 925 h 1278"/>
                <a:gd name="T100" fmla="*/ 577 w 830"/>
                <a:gd name="T101" fmla="*/ 925 h 1278"/>
                <a:gd name="T102" fmla="*/ 577 w 830"/>
                <a:gd name="T103" fmla="*/ 962 h 1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30" h="1278">
                  <a:moveTo>
                    <a:pt x="752" y="656"/>
                  </a:moveTo>
                  <a:cubicBezTo>
                    <a:pt x="762" y="643"/>
                    <a:pt x="759" y="624"/>
                    <a:pt x="745" y="615"/>
                  </a:cubicBezTo>
                  <a:cubicBezTo>
                    <a:pt x="732" y="605"/>
                    <a:pt x="713" y="608"/>
                    <a:pt x="703" y="621"/>
                  </a:cubicBezTo>
                  <a:cubicBezTo>
                    <a:pt x="661" y="681"/>
                    <a:pt x="602" y="725"/>
                    <a:pt x="533" y="749"/>
                  </a:cubicBezTo>
                  <a:cubicBezTo>
                    <a:pt x="521" y="753"/>
                    <a:pt x="513" y="765"/>
                    <a:pt x="513" y="777"/>
                  </a:cubicBezTo>
                  <a:cubicBezTo>
                    <a:pt x="513" y="865"/>
                    <a:pt x="513" y="865"/>
                    <a:pt x="513" y="865"/>
                  </a:cubicBezTo>
                  <a:cubicBezTo>
                    <a:pt x="317" y="865"/>
                    <a:pt x="317" y="865"/>
                    <a:pt x="317" y="865"/>
                  </a:cubicBezTo>
                  <a:cubicBezTo>
                    <a:pt x="317" y="777"/>
                    <a:pt x="317" y="777"/>
                    <a:pt x="317" y="777"/>
                  </a:cubicBezTo>
                  <a:cubicBezTo>
                    <a:pt x="317" y="765"/>
                    <a:pt x="309" y="753"/>
                    <a:pt x="297" y="749"/>
                  </a:cubicBezTo>
                  <a:cubicBezTo>
                    <a:pt x="155" y="699"/>
                    <a:pt x="60" y="565"/>
                    <a:pt x="60" y="415"/>
                  </a:cubicBezTo>
                  <a:cubicBezTo>
                    <a:pt x="60" y="219"/>
                    <a:pt x="220" y="60"/>
                    <a:pt x="415" y="60"/>
                  </a:cubicBezTo>
                  <a:cubicBezTo>
                    <a:pt x="611" y="60"/>
                    <a:pt x="770" y="219"/>
                    <a:pt x="770" y="415"/>
                  </a:cubicBezTo>
                  <a:cubicBezTo>
                    <a:pt x="770" y="445"/>
                    <a:pt x="766" y="474"/>
                    <a:pt x="759" y="503"/>
                  </a:cubicBezTo>
                  <a:cubicBezTo>
                    <a:pt x="755" y="519"/>
                    <a:pt x="764" y="536"/>
                    <a:pt x="780" y="540"/>
                  </a:cubicBezTo>
                  <a:cubicBezTo>
                    <a:pt x="796" y="544"/>
                    <a:pt x="813" y="534"/>
                    <a:pt x="817" y="518"/>
                  </a:cubicBezTo>
                  <a:cubicBezTo>
                    <a:pt x="826" y="484"/>
                    <a:pt x="830" y="450"/>
                    <a:pt x="830" y="415"/>
                  </a:cubicBezTo>
                  <a:cubicBezTo>
                    <a:pt x="830" y="186"/>
                    <a:pt x="644" y="0"/>
                    <a:pt x="415" y="0"/>
                  </a:cubicBezTo>
                  <a:cubicBezTo>
                    <a:pt x="186" y="0"/>
                    <a:pt x="0" y="186"/>
                    <a:pt x="0" y="415"/>
                  </a:cubicBezTo>
                  <a:cubicBezTo>
                    <a:pt x="0" y="583"/>
                    <a:pt x="103" y="734"/>
                    <a:pt x="257" y="798"/>
                  </a:cubicBezTo>
                  <a:cubicBezTo>
                    <a:pt x="257" y="865"/>
                    <a:pt x="257" y="865"/>
                    <a:pt x="257" y="865"/>
                  </a:cubicBezTo>
                  <a:cubicBezTo>
                    <a:pt x="223" y="865"/>
                    <a:pt x="223" y="865"/>
                    <a:pt x="223" y="865"/>
                  </a:cubicBezTo>
                  <a:cubicBezTo>
                    <a:pt x="206" y="865"/>
                    <a:pt x="193" y="879"/>
                    <a:pt x="193" y="895"/>
                  </a:cubicBezTo>
                  <a:cubicBezTo>
                    <a:pt x="193" y="1120"/>
                    <a:pt x="193" y="1120"/>
                    <a:pt x="193" y="1120"/>
                  </a:cubicBezTo>
                  <a:cubicBezTo>
                    <a:pt x="193" y="1207"/>
                    <a:pt x="264" y="1278"/>
                    <a:pt x="351" y="1278"/>
                  </a:cubicBezTo>
                  <a:cubicBezTo>
                    <a:pt x="479" y="1278"/>
                    <a:pt x="479" y="1278"/>
                    <a:pt x="479" y="1278"/>
                  </a:cubicBezTo>
                  <a:cubicBezTo>
                    <a:pt x="567" y="1278"/>
                    <a:pt x="638" y="1207"/>
                    <a:pt x="638" y="1120"/>
                  </a:cubicBezTo>
                  <a:cubicBezTo>
                    <a:pt x="638" y="895"/>
                    <a:pt x="638" y="895"/>
                    <a:pt x="638" y="895"/>
                  </a:cubicBezTo>
                  <a:cubicBezTo>
                    <a:pt x="638" y="879"/>
                    <a:pt x="624" y="865"/>
                    <a:pt x="608" y="865"/>
                  </a:cubicBezTo>
                  <a:cubicBezTo>
                    <a:pt x="573" y="865"/>
                    <a:pt x="573" y="865"/>
                    <a:pt x="573" y="865"/>
                  </a:cubicBezTo>
                  <a:cubicBezTo>
                    <a:pt x="573" y="798"/>
                    <a:pt x="573" y="798"/>
                    <a:pt x="573" y="798"/>
                  </a:cubicBezTo>
                  <a:cubicBezTo>
                    <a:pt x="645" y="769"/>
                    <a:pt x="706" y="720"/>
                    <a:pt x="752" y="656"/>
                  </a:cubicBezTo>
                  <a:close/>
                  <a:moveTo>
                    <a:pt x="577" y="1058"/>
                  </a:moveTo>
                  <a:cubicBezTo>
                    <a:pt x="255" y="1058"/>
                    <a:pt x="255" y="1058"/>
                    <a:pt x="255" y="1058"/>
                  </a:cubicBezTo>
                  <a:cubicBezTo>
                    <a:pt x="254" y="1058"/>
                    <a:pt x="254" y="1058"/>
                    <a:pt x="253" y="1058"/>
                  </a:cubicBezTo>
                  <a:cubicBezTo>
                    <a:pt x="253" y="1022"/>
                    <a:pt x="253" y="1022"/>
                    <a:pt x="253" y="1022"/>
                  </a:cubicBezTo>
                  <a:cubicBezTo>
                    <a:pt x="577" y="1022"/>
                    <a:pt x="577" y="1022"/>
                    <a:pt x="577" y="1022"/>
                  </a:cubicBezTo>
                  <a:lnTo>
                    <a:pt x="577" y="1058"/>
                  </a:lnTo>
                  <a:close/>
                  <a:moveTo>
                    <a:pt x="479" y="1218"/>
                  </a:moveTo>
                  <a:cubicBezTo>
                    <a:pt x="351" y="1218"/>
                    <a:pt x="351" y="1218"/>
                    <a:pt x="351" y="1218"/>
                  </a:cubicBezTo>
                  <a:cubicBezTo>
                    <a:pt x="297" y="1218"/>
                    <a:pt x="253" y="1174"/>
                    <a:pt x="253" y="1120"/>
                  </a:cubicBezTo>
                  <a:cubicBezTo>
                    <a:pt x="253" y="1118"/>
                    <a:pt x="253" y="1118"/>
                    <a:pt x="253" y="1118"/>
                  </a:cubicBezTo>
                  <a:cubicBezTo>
                    <a:pt x="254" y="1118"/>
                    <a:pt x="254" y="1118"/>
                    <a:pt x="255" y="1118"/>
                  </a:cubicBezTo>
                  <a:cubicBezTo>
                    <a:pt x="577" y="1118"/>
                    <a:pt x="577" y="1118"/>
                    <a:pt x="577" y="1118"/>
                  </a:cubicBezTo>
                  <a:cubicBezTo>
                    <a:pt x="577" y="1120"/>
                    <a:pt x="577" y="1120"/>
                    <a:pt x="577" y="1120"/>
                  </a:cubicBezTo>
                  <a:cubicBezTo>
                    <a:pt x="577" y="1174"/>
                    <a:pt x="533" y="1218"/>
                    <a:pt x="479" y="1218"/>
                  </a:cubicBezTo>
                  <a:close/>
                  <a:moveTo>
                    <a:pt x="577" y="962"/>
                  </a:moveTo>
                  <a:cubicBezTo>
                    <a:pt x="253" y="962"/>
                    <a:pt x="253" y="962"/>
                    <a:pt x="253" y="962"/>
                  </a:cubicBezTo>
                  <a:cubicBezTo>
                    <a:pt x="253" y="925"/>
                    <a:pt x="253" y="925"/>
                    <a:pt x="253" y="925"/>
                  </a:cubicBezTo>
                  <a:cubicBezTo>
                    <a:pt x="287" y="925"/>
                    <a:pt x="287" y="925"/>
                    <a:pt x="287" y="925"/>
                  </a:cubicBezTo>
                  <a:cubicBezTo>
                    <a:pt x="543" y="925"/>
                    <a:pt x="543" y="925"/>
                    <a:pt x="543" y="925"/>
                  </a:cubicBezTo>
                  <a:cubicBezTo>
                    <a:pt x="577" y="925"/>
                    <a:pt x="577" y="925"/>
                    <a:pt x="577" y="925"/>
                  </a:cubicBezTo>
                  <a:lnTo>
                    <a:pt x="577" y="9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256" name="Freeform 7">
              <a:extLst>
                <a:ext uri="{FF2B5EF4-FFF2-40B4-BE49-F238E27FC236}">
                  <a16:creationId xmlns:a16="http://schemas.microsoft.com/office/drawing/2014/main" id="{70707A09-B596-E2CA-B9B3-51D4D0E8D8E8}"/>
                </a:ext>
              </a:extLst>
            </p:cNvPr>
            <p:cNvSpPr>
              <a:spLocks noEditPoints="1"/>
            </p:cNvSpPr>
            <p:nvPr/>
          </p:nvSpPr>
          <p:spPr bwMode="auto">
            <a:xfrm>
              <a:off x="552" y="2556"/>
              <a:ext cx="145" cy="163"/>
            </a:xfrm>
            <a:custGeom>
              <a:avLst/>
              <a:gdLst>
                <a:gd name="T0" fmla="*/ 190 w 464"/>
                <a:gd name="T1" fmla="*/ 517 h 521"/>
                <a:gd name="T2" fmla="*/ 223 w 464"/>
                <a:gd name="T3" fmla="*/ 509 h 521"/>
                <a:gd name="T4" fmla="*/ 447 w 464"/>
                <a:gd name="T5" fmla="*/ 252 h 521"/>
                <a:gd name="T6" fmla="*/ 425 w 464"/>
                <a:gd name="T7" fmla="*/ 202 h 521"/>
                <a:gd name="T8" fmla="*/ 294 w 464"/>
                <a:gd name="T9" fmla="*/ 202 h 521"/>
                <a:gd name="T10" fmla="*/ 294 w 464"/>
                <a:gd name="T11" fmla="*/ 40 h 521"/>
                <a:gd name="T12" fmla="*/ 242 w 464"/>
                <a:gd name="T13" fmla="*/ 20 h 521"/>
                <a:gd name="T14" fmla="*/ 17 w 464"/>
                <a:gd name="T15" fmla="*/ 277 h 521"/>
                <a:gd name="T16" fmla="*/ 40 w 464"/>
                <a:gd name="T17" fmla="*/ 327 h 521"/>
                <a:gd name="T18" fmla="*/ 170 w 464"/>
                <a:gd name="T19" fmla="*/ 327 h 521"/>
                <a:gd name="T20" fmla="*/ 170 w 464"/>
                <a:gd name="T21" fmla="*/ 489 h 521"/>
                <a:gd name="T22" fmla="*/ 190 w 464"/>
                <a:gd name="T23" fmla="*/ 517 h 521"/>
                <a:gd name="T24" fmla="*/ 106 w 464"/>
                <a:gd name="T25" fmla="*/ 267 h 521"/>
                <a:gd name="T26" fmla="*/ 234 w 464"/>
                <a:gd name="T27" fmla="*/ 120 h 521"/>
                <a:gd name="T28" fmla="*/ 234 w 464"/>
                <a:gd name="T29" fmla="*/ 232 h 521"/>
                <a:gd name="T30" fmla="*/ 264 w 464"/>
                <a:gd name="T31" fmla="*/ 262 h 521"/>
                <a:gd name="T32" fmla="*/ 358 w 464"/>
                <a:gd name="T33" fmla="*/ 262 h 521"/>
                <a:gd name="T34" fmla="*/ 230 w 464"/>
                <a:gd name="T35" fmla="*/ 409 h 521"/>
                <a:gd name="T36" fmla="*/ 230 w 464"/>
                <a:gd name="T37" fmla="*/ 297 h 521"/>
                <a:gd name="T38" fmla="*/ 200 w 464"/>
                <a:gd name="T39" fmla="*/ 267 h 521"/>
                <a:gd name="T40" fmla="*/ 106 w 464"/>
                <a:gd name="T41" fmla="*/ 267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64" h="521">
                  <a:moveTo>
                    <a:pt x="190" y="517"/>
                  </a:moveTo>
                  <a:cubicBezTo>
                    <a:pt x="201" y="521"/>
                    <a:pt x="215" y="518"/>
                    <a:pt x="223" y="509"/>
                  </a:cubicBezTo>
                  <a:cubicBezTo>
                    <a:pt x="447" y="252"/>
                    <a:pt x="447" y="252"/>
                    <a:pt x="447" y="252"/>
                  </a:cubicBezTo>
                  <a:cubicBezTo>
                    <a:pt x="464" y="233"/>
                    <a:pt x="450" y="202"/>
                    <a:pt x="425" y="202"/>
                  </a:cubicBezTo>
                  <a:cubicBezTo>
                    <a:pt x="294" y="202"/>
                    <a:pt x="294" y="202"/>
                    <a:pt x="294" y="202"/>
                  </a:cubicBezTo>
                  <a:cubicBezTo>
                    <a:pt x="294" y="40"/>
                    <a:pt x="294" y="40"/>
                    <a:pt x="294" y="40"/>
                  </a:cubicBezTo>
                  <a:cubicBezTo>
                    <a:pt x="294" y="13"/>
                    <a:pt x="260" y="0"/>
                    <a:pt x="242" y="20"/>
                  </a:cubicBezTo>
                  <a:cubicBezTo>
                    <a:pt x="17" y="277"/>
                    <a:pt x="17" y="277"/>
                    <a:pt x="17" y="277"/>
                  </a:cubicBezTo>
                  <a:cubicBezTo>
                    <a:pt x="0" y="296"/>
                    <a:pt x="15" y="327"/>
                    <a:pt x="40" y="327"/>
                  </a:cubicBezTo>
                  <a:cubicBezTo>
                    <a:pt x="170" y="327"/>
                    <a:pt x="170" y="327"/>
                    <a:pt x="170" y="327"/>
                  </a:cubicBezTo>
                  <a:cubicBezTo>
                    <a:pt x="170" y="489"/>
                    <a:pt x="170" y="489"/>
                    <a:pt x="170" y="489"/>
                  </a:cubicBezTo>
                  <a:cubicBezTo>
                    <a:pt x="170" y="501"/>
                    <a:pt x="178" y="513"/>
                    <a:pt x="190" y="517"/>
                  </a:cubicBezTo>
                  <a:close/>
                  <a:moveTo>
                    <a:pt x="106" y="267"/>
                  </a:moveTo>
                  <a:cubicBezTo>
                    <a:pt x="234" y="120"/>
                    <a:pt x="234" y="120"/>
                    <a:pt x="234" y="120"/>
                  </a:cubicBezTo>
                  <a:cubicBezTo>
                    <a:pt x="234" y="232"/>
                    <a:pt x="234" y="232"/>
                    <a:pt x="234" y="232"/>
                  </a:cubicBezTo>
                  <a:cubicBezTo>
                    <a:pt x="234" y="249"/>
                    <a:pt x="248" y="262"/>
                    <a:pt x="264" y="262"/>
                  </a:cubicBezTo>
                  <a:cubicBezTo>
                    <a:pt x="358" y="262"/>
                    <a:pt x="358" y="262"/>
                    <a:pt x="358" y="262"/>
                  </a:cubicBezTo>
                  <a:cubicBezTo>
                    <a:pt x="230" y="409"/>
                    <a:pt x="230" y="409"/>
                    <a:pt x="230" y="409"/>
                  </a:cubicBezTo>
                  <a:cubicBezTo>
                    <a:pt x="230" y="297"/>
                    <a:pt x="230" y="297"/>
                    <a:pt x="230" y="297"/>
                  </a:cubicBezTo>
                  <a:cubicBezTo>
                    <a:pt x="230" y="280"/>
                    <a:pt x="217" y="267"/>
                    <a:pt x="200" y="267"/>
                  </a:cubicBezTo>
                  <a:lnTo>
                    <a:pt x="106" y="2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257" name="Freeform 8">
              <a:extLst>
                <a:ext uri="{FF2B5EF4-FFF2-40B4-BE49-F238E27FC236}">
                  <a16:creationId xmlns:a16="http://schemas.microsoft.com/office/drawing/2014/main" id="{EDF2AD4A-CA86-0147-13BB-81D555557C4E}"/>
                </a:ext>
              </a:extLst>
            </p:cNvPr>
            <p:cNvSpPr>
              <a:spLocks/>
            </p:cNvSpPr>
            <p:nvPr/>
          </p:nvSpPr>
          <p:spPr bwMode="auto">
            <a:xfrm>
              <a:off x="615" y="2459"/>
              <a:ext cx="19" cy="39"/>
            </a:xfrm>
            <a:custGeom>
              <a:avLst/>
              <a:gdLst>
                <a:gd name="T0" fmla="*/ 60 w 60"/>
                <a:gd name="T1" fmla="*/ 95 h 125"/>
                <a:gd name="T2" fmla="*/ 60 w 60"/>
                <a:gd name="T3" fmla="*/ 30 h 125"/>
                <a:gd name="T4" fmla="*/ 30 w 60"/>
                <a:gd name="T5" fmla="*/ 0 h 125"/>
                <a:gd name="T6" fmla="*/ 0 w 60"/>
                <a:gd name="T7" fmla="*/ 30 h 125"/>
                <a:gd name="T8" fmla="*/ 0 w 60"/>
                <a:gd name="T9" fmla="*/ 95 h 125"/>
                <a:gd name="T10" fmla="*/ 30 w 60"/>
                <a:gd name="T11" fmla="*/ 125 h 125"/>
                <a:gd name="T12" fmla="*/ 60 w 60"/>
                <a:gd name="T13" fmla="*/ 95 h 125"/>
              </a:gdLst>
              <a:ahLst/>
              <a:cxnLst>
                <a:cxn ang="0">
                  <a:pos x="T0" y="T1"/>
                </a:cxn>
                <a:cxn ang="0">
                  <a:pos x="T2" y="T3"/>
                </a:cxn>
                <a:cxn ang="0">
                  <a:pos x="T4" y="T5"/>
                </a:cxn>
                <a:cxn ang="0">
                  <a:pos x="T6" y="T7"/>
                </a:cxn>
                <a:cxn ang="0">
                  <a:pos x="T8" y="T9"/>
                </a:cxn>
                <a:cxn ang="0">
                  <a:pos x="T10" y="T11"/>
                </a:cxn>
                <a:cxn ang="0">
                  <a:pos x="T12" y="T13"/>
                </a:cxn>
              </a:cxnLst>
              <a:rect l="0" t="0" r="r" b="b"/>
              <a:pathLst>
                <a:path w="60" h="125">
                  <a:moveTo>
                    <a:pt x="60" y="95"/>
                  </a:moveTo>
                  <a:cubicBezTo>
                    <a:pt x="60" y="30"/>
                    <a:pt x="60" y="30"/>
                    <a:pt x="60" y="30"/>
                  </a:cubicBezTo>
                  <a:cubicBezTo>
                    <a:pt x="60" y="14"/>
                    <a:pt x="47" y="0"/>
                    <a:pt x="30" y="0"/>
                  </a:cubicBezTo>
                  <a:cubicBezTo>
                    <a:pt x="14" y="0"/>
                    <a:pt x="0" y="14"/>
                    <a:pt x="0" y="30"/>
                  </a:cubicBezTo>
                  <a:cubicBezTo>
                    <a:pt x="0" y="95"/>
                    <a:pt x="0" y="95"/>
                    <a:pt x="0" y="95"/>
                  </a:cubicBezTo>
                  <a:cubicBezTo>
                    <a:pt x="0" y="111"/>
                    <a:pt x="14" y="125"/>
                    <a:pt x="30" y="125"/>
                  </a:cubicBezTo>
                  <a:cubicBezTo>
                    <a:pt x="47" y="125"/>
                    <a:pt x="60" y="111"/>
                    <a:pt x="60" y="9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258" name="Freeform 9">
              <a:extLst>
                <a:ext uri="{FF2B5EF4-FFF2-40B4-BE49-F238E27FC236}">
                  <a16:creationId xmlns:a16="http://schemas.microsoft.com/office/drawing/2014/main" id="{91A542C2-D354-4531-0874-F6EEE0C0FF17}"/>
                </a:ext>
              </a:extLst>
            </p:cNvPr>
            <p:cNvSpPr>
              <a:spLocks/>
            </p:cNvSpPr>
            <p:nvPr/>
          </p:nvSpPr>
          <p:spPr bwMode="auto">
            <a:xfrm>
              <a:off x="494" y="2508"/>
              <a:ext cx="34" cy="35"/>
            </a:xfrm>
            <a:custGeom>
              <a:avLst/>
              <a:gdLst>
                <a:gd name="T0" fmla="*/ 57 w 111"/>
                <a:gd name="T1" fmla="*/ 100 h 112"/>
                <a:gd name="T2" fmla="*/ 101 w 111"/>
                <a:gd name="T3" fmla="*/ 98 h 112"/>
                <a:gd name="T4" fmla="*/ 99 w 111"/>
                <a:gd name="T5" fmla="*/ 57 h 112"/>
                <a:gd name="T6" fmla="*/ 54 w 111"/>
                <a:gd name="T7" fmla="*/ 12 h 112"/>
                <a:gd name="T8" fmla="*/ 11 w 111"/>
                <a:gd name="T9" fmla="*/ 12 h 112"/>
                <a:gd name="T10" fmla="*/ 11 w 111"/>
                <a:gd name="T11" fmla="*/ 54 h 112"/>
                <a:gd name="T12" fmla="*/ 57 w 111"/>
                <a:gd name="T13" fmla="*/ 100 h 112"/>
              </a:gdLst>
              <a:ahLst/>
              <a:cxnLst>
                <a:cxn ang="0">
                  <a:pos x="T0" y="T1"/>
                </a:cxn>
                <a:cxn ang="0">
                  <a:pos x="T2" y="T3"/>
                </a:cxn>
                <a:cxn ang="0">
                  <a:pos x="T4" y="T5"/>
                </a:cxn>
                <a:cxn ang="0">
                  <a:pos x="T6" y="T7"/>
                </a:cxn>
                <a:cxn ang="0">
                  <a:pos x="T8" y="T9"/>
                </a:cxn>
                <a:cxn ang="0">
                  <a:pos x="T10" y="T11"/>
                </a:cxn>
                <a:cxn ang="0">
                  <a:pos x="T12" y="T13"/>
                </a:cxn>
              </a:cxnLst>
              <a:rect l="0" t="0" r="r" b="b"/>
              <a:pathLst>
                <a:path w="111" h="112">
                  <a:moveTo>
                    <a:pt x="57" y="100"/>
                  </a:moveTo>
                  <a:cubicBezTo>
                    <a:pt x="69" y="112"/>
                    <a:pt x="90" y="111"/>
                    <a:pt x="101" y="98"/>
                  </a:cubicBezTo>
                  <a:cubicBezTo>
                    <a:pt x="111" y="86"/>
                    <a:pt x="110" y="68"/>
                    <a:pt x="99" y="57"/>
                  </a:cubicBezTo>
                  <a:cubicBezTo>
                    <a:pt x="54" y="12"/>
                    <a:pt x="54" y="12"/>
                    <a:pt x="54" y="12"/>
                  </a:cubicBezTo>
                  <a:cubicBezTo>
                    <a:pt x="42" y="0"/>
                    <a:pt x="23" y="0"/>
                    <a:pt x="11" y="12"/>
                  </a:cubicBezTo>
                  <a:cubicBezTo>
                    <a:pt x="0" y="24"/>
                    <a:pt x="0" y="43"/>
                    <a:pt x="11" y="54"/>
                  </a:cubicBezTo>
                  <a:lnTo>
                    <a:pt x="57" y="1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259" name="Freeform 10">
              <a:extLst>
                <a:ext uri="{FF2B5EF4-FFF2-40B4-BE49-F238E27FC236}">
                  <a16:creationId xmlns:a16="http://schemas.microsoft.com/office/drawing/2014/main" id="{499E5560-F359-5518-40F0-71CE729ED016}"/>
                </a:ext>
              </a:extLst>
            </p:cNvPr>
            <p:cNvSpPr>
              <a:spLocks/>
            </p:cNvSpPr>
            <p:nvPr/>
          </p:nvSpPr>
          <p:spPr bwMode="auto">
            <a:xfrm>
              <a:off x="445" y="2629"/>
              <a:ext cx="39" cy="19"/>
            </a:xfrm>
            <a:custGeom>
              <a:avLst/>
              <a:gdLst>
                <a:gd name="T0" fmla="*/ 94 w 124"/>
                <a:gd name="T1" fmla="*/ 0 h 61"/>
                <a:gd name="T2" fmla="*/ 30 w 124"/>
                <a:gd name="T3" fmla="*/ 0 h 61"/>
                <a:gd name="T4" fmla="*/ 0 w 124"/>
                <a:gd name="T5" fmla="*/ 30 h 61"/>
                <a:gd name="T6" fmla="*/ 30 w 124"/>
                <a:gd name="T7" fmla="*/ 61 h 61"/>
                <a:gd name="T8" fmla="*/ 94 w 124"/>
                <a:gd name="T9" fmla="*/ 61 h 61"/>
                <a:gd name="T10" fmla="*/ 124 w 124"/>
                <a:gd name="T11" fmla="*/ 30 h 61"/>
                <a:gd name="T12" fmla="*/ 94 w 124"/>
                <a:gd name="T13" fmla="*/ 0 h 61"/>
              </a:gdLst>
              <a:ahLst/>
              <a:cxnLst>
                <a:cxn ang="0">
                  <a:pos x="T0" y="T1"/>
                </a:cxn>
                <a:cxn ang="0">
                  <a:pos x="T2" y="T3"/>
                </a:cxn>
                <a:cxn ang="0">
                  <a:pos x="T4" y="T5"/>
                </a:cxn>
                <a:cxn ang="0">
                  <a:pos x="T6" y="T7"/>
                </a:cxn>
                <a:cxn ang="0">
                  <a:pos x="T8" y="T9"/>
                </a:cxn>
                <a:cxn ang="0">
                  <a:pos x="T10" y="T11"/>
                </a:cxn>
                <a:cxn ang="0">
                  <a:pos x="T12" y="T13"/>
                </a:cxn>
              </a:cxnLst>
              <a:rect l="0" t="0" r="r" b="b"/>
              <a:pathLst>
                <a:path w="124" h="61">
                  <a:moveTo>
                    <a:pt x="94" y="0"/>
                  </a:moveTo>
                  <a:cubicBezTo>
                    <a:pt x="30" y="0"/>
                    <a:pt x="30" y="0"/>
                    <a:pt x="30" y="0"/>
                  </a:cubicBezTo>
                  <a:cubicBezTo>
                    <a:pt x="13" y="0"/>
                    <a:pt x="0" y="14"/>
                    <a:pt x="0" y="30"/>
                  </a:cubicBezTo>
                  <a:cubicBezTo>
                    <a:pt x="0" y="47"/>
                    <a:pt x="13" y="61"/>
                    <a:pt x="30" y="61"/>
                  </a:cubicBezTo>
                  <a:cubicBezTo>
                    <a:pt x="94" y="61"/>
                    <a:pt x="94" y="61"/>
                    <a:pt x="94" y="61"/>
                  </a:cubicBezTo>
                  <a:cubicBezTo>
                    <a:pt x="111" y="61"/>
                    <a:pt x="124" y="47"/>
                    <a:pt x="124" y="30"/>
                  </a:cubicBezTo>
                  <a:cubicBezTo>
                    <a:pt x="124" y="14"/>
                    <a:pt x="111" y="0"/>
                    <a:pt x="9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260" name="Freeform 11">
              <a:extLst>
                <a:ext uri="{FF2B5EF4-FFF2-40B4-BE49-F238E27FC236}">
                  <a16:creationId xmlns:a16="http://schemas.microsoft.com/office/drawing/2014/main" id="{16B4FD22-3CE8-56B5-777E-8418D0E3483D}"/>
                </a:ext>
              </a:extLst>
            </p:cNvPr>
            <p:cNvSpPr>
              <a:spLocks/>
            </p:cNvSpPr>
            <p:nvPr/>
          </p:nvSpPr>
          <p:spPr bwMode="auto">
            <a:xfrm>
              <a:off x="494" y="2735"/>
              <a:ext cx="34" cy="34"/>
            </a:xfrm>
            <a:custGeom>
              <a:avLst/>
              <a:gdLst>
                <a:gd name="T0" fmla="*/ 57 w 111"/>
                <a:gd name="T1" fmla="*/ 11 h 111"/>
                <a:gd name="T2" fmla="*/ 11 w 111"/>
                <a:gd name="T3" fmla="*/ 57 h 111"/>
                <a:gd name="T4" fmla="*/ 10 w 111"/>
                <a:gd name="T5" fmla="*/ 97 h 111"/>
                <a:gd name="T6" fmla="*/ 54 w 111"/>
                <a:gd name="T7" fmla="*/ 99 h 111"/>
                <a:gd name="T8" fmla="*/ 99 w 111"/>
                <a:gd name="T9" fmla="*/ 54 h 111"/>
                <a:gd name="T10" fmla="*/ 99 w 111"/>
                <a:gd name="T11" fmla="*/ 11 h 111"/>
                <a:gd name="T12" fmla="*/ 57 w 111"/>
                <a:gd name="T13" fmla="*/ 11 h 111"/>
              </a:gdLst>
              <a:ahLst/>
              <a:cxnLst>
                <a:cxn ang="0">
                  <a:pos x="T0" y="T1"/>
                </a:cxn>
                <a:cxn ang="0">
                  <a:pos x="T2" y="T3"/>
                </a:cxn>
                <a:cxn ang="0">
                  <a:pos x="T4" y="T5"/>
                </a:cxn>
                <a:cxn ang="0">
                  <a:pos x="T6" y="T7"/>
                </a:cxn>
                <a:cxn ang="0">
                  <a:pos x="T8" y="T9"/>
                </a:cxn>
                <a:cxn ang="0">
                  <a:pos x="T10" y="T11"/>
                </a:cxn>
                <a:cxn ang="0">
                  <a:pos x="T12" y="T13"/>
                </a:cxn>
              </a:cxnLst>
              <a:rect l="0" t="0" r="r" b="b"/>
              <a:pathLst>
                <a:path w="111" h="111">
                  <a:moveTo>
                    <a:pt x="57" y="11"/>
                  </a:moveTo>
                  <a:cubicBezTo>
                    <a:pt x="11" y="57"/>
                    <a:pt x="11" y="57"/>
                    <a:pt x="11" y="57"/>
                  </a:cubicBezTo>
                  <a:cubicBezTo>
                    <a:pt x="1" y="68"/>
                    <a:pt x="0" y="86"/>
                    <a:pt x="10" y="97"/>
                  </a:cubicBezTo>
                  <a:cubicBezTo>
                    <a:pt x="21" y="111"/>
                    <a:pt x="42" y="111"/>
                    <a:pt x="54" y="99"/>
                  </a:cubicBezTo>
                  <a:cubicBezTo>
                    <a:pt x="99" y="54"/>
                    <a:pt x="99" y="54"/>
                    <a:pt x="99" y="54"/>
                  </a:cubicBezTo>
                  <a:cubicBezTo>
                    <a:pt x="111" y="42"/>
                    <a:pt x="111" y="23"/>
                    <a:pt x="99" y="11"/>
                  </a:cubicBezTo>
                  <a:cubicBezTo>
                    <a:pt x="88" y="0"/>
                    <a:pt x="69" y="0"/>
                    <a:pt x="5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261" name="Freeform 12">
              <a:extLst>
                <a:ext uri="{FF2B5EF4-FFF2-40B4-BE49-F238E27FC236}">
                  <a16:creationId xmlns:a16="http://schemas.microsoft.com/office/drawing/2014/main" id="{60381FC2-45DD-4ABD-2946-12E374284802}"/>
                </a:ext>
              </a:extLst>
            </p:cNvPr>
            <p:cNvSpPr>
              <a:spLocks/>
            </p:cNvSpPr>
            <p:nvPr/>
          </p:nvSpPr>
          <p:spPr bwMode="auto">
            <a:xfrm>
              <a:off x="720" y="2735"/>
              <a:ext cx="35" cy="34"/>
            </a:xfrm>
            <a:custGeom>
              <a:avLst/>
              <a:gdLst>
                <a:gd name="T0" fmla="*/ 54 w 111"/>
                <a:gd name="T1" fmla="*/ 11 h 112"/>
                <a:gd name="T2" fmla="*/ 12 w 111"/>
                <a:gd name="T3" fmla="*/ 11 h 112"/>
                <a:gd name="T4" fmla="*/ 12 w 111"/>
                <a:gd name="T5" fmla="*/ 54 h 112"/>
                <a:gd name="T6" fmla="*/ 57 w 111"/>
                <a:gd name="T7" fmla="*/ 99 h 112"/>
                <a:gd name="T8" fmla="*/ 102 w 111"/>
                <a:gd name="T9" fmla="*/ 96 h 112"/>
                <a:gd name="T10" fmla="*/ 100 w 111"/>
                <a:gd name="T11" fmla="*/ 57 h 112"/>
                <a:gd name="T12" fmla="*/ 54 w 111"/>
                <a:gd name="T13" fmla="*/ 11 h 112"/>
              </a:gdLst>
              <a:ahLst/>
              <a:cxnLst>
                <a:cxn ang="0">
                  <a:pos x="T0" y="T1"/>
                </a:cxn>
                <a:cxn ang="0">
                  <a:pos x="T2" y="T3"/>
                </a:cxn>
                <a:cxn ang="0">
                  <a:pos x="T4" y="T5"/>
                </a:cxn>
                <a:cxn ang="0">
                  <a:pos x="T6" y="T7"/>
                </a:cxn>
                <a:cxn ang="0">
                  <a:pos x="T8" y="T9"/>
                </a:cxn>
                <a:cxn ang="0">
                  <a:pos x="T10" y="T11"/>
                </a:cxn>
                <a:cxn ang="0">
                  <a:pos x="T12" y="T13"/>
                </a:cxn>
              </a:cxnLst>
              <a:rect l="0" t="0" r="r" b="b"/>
              <a:pathLst>
                <a:path w="111" h="112">
                  <a:moveTo>
                    <a:pt x="54" y="11"/>
                  </a:moveTo>
                  <a:cubicBezTo>
                    <a:pt x="43" y="0"/>
                    <a:pt x="24" y="0"/>
                    <a:pt x="12" y="11"/>
                  </a:cubicBezTo>
                  <a:cubicBezTo>
                    <a:pt x="0" y="23"/>
                    <a:pt x="0" y="42"/>
                    <a:pt x="12" y="54"/>
                  </a:cubicBezTo>
                  <a:cubicBezTo>
                    <a:pt x="57" y="99"/>
                    <a:pt x="57" y="99"/>
                    <a:pt x="57" y="99"/>
                  </a:cubicBezTo>
                  <a:cubicBezTo>
                    <a:pt x="70" y="112"/>
                    <a:pt x="91" y="110"/>
                    <a:pt x="102" y="96"/>
                  </a:cubicBezTo>
                  <a:cubicBezTo>
                    <a:pt x="111" y="85"/>
                    <a:pt x="111" y="67"/>
                    <a:pt x="100" y="57"/>
                  </a:cubicBezTo>
                  <a:lnTo>
                    <a:pt x="54"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262" name="Freeform 13">
              <a:extLst>
                <a:ext uri="{FF2B5EF4-FFF2-40B4-BE49-F238E27FC236}">
                  <a16:creationId xmlns:a16="http://schemas.microsoft.com/office/drawing/2014/main" id="{957AADE7-613A-4997-EC34-532797ECDC61}"/>
                </a:ext>
              </a:extLst>
            </p:cNvPr>
            <p:cNvSpPr>
              <a:spLocks/>
            </p:cNvSpPr>
            <p:nvPr/>
          </p:nvSpPr>
          <p:spPr bwMode="auto">
            <a:xfrm>
              <a:off x="765" y="2629"/>
              <a:ext cx="39" cy="19"/>
            </a:xfrm>
            <a:custGeom>
              <a:avLst/>
              <a:gdLst>
                <a:gd name="T0" fmla="*/ 124 w 124"/>
                <a:gd name="T1" fmla="*/ 30 h 61"/>
                <a:gd name="T2" fmla="*/ 94 w 124"/>
                <a:gd name="T3" fmla="*/ 0 h 61"/>
                <a:gd name="T4" fmla="*/ 30 w 124"/>
                <a:gd name="T5" fmla="*/ 0 h 61"/>
                <a:gd name="T6" fmla="*/ 0 w 124"/>
                <a:gd name="T7" fmla="*/ 30 h 61"/>
                <a:gd name="T8" fmla="*/ 30 w 124"/>
                <a:gd name="T9" fmla="*/ 61 h 61"/>
                <a:gd name="T10" fmla="*/ 94 w 124"/>
                <a:gd name="T11" fmla="*/ 61 h 61"/>
                <a:gd name="T12" fmla="*/ 124 w 124"/>
                <a:gd name="T13" fmla="*/ 30 h 61"/>
              </a:gdLst>
              <a:ahLst/>
              <a:cxnLst>
                <a:cxn ang="0">
                  <a:pos x="T0" y="T1"/>
                </a:cxn>
                <a:cxn ang="0">
                  <a:pos x="T2" y="T3"/>
                </a:cxn>
                <a:cxn ang="0">
                  <a:pos x="T4" y="T5"/>
                </a:cxn>
                <a:cxn ang="0">
                  <a:pos x="T6" y="T7"/>
                </a:cxn>
                <a:cxn ang="0">
                  <a:pos x="T8" y="T9"/>
                </a:cxn>
                <a:cxn ang="0">
                  <a:pos x="T10" y="T11"/>
                </a:cxn>
                <a:cxn ang="0">
                  <a:pos x="T12" y="T13"/>
                </a:cxn>
              </a:cxnLst>
              <a:rect l="0" t="0" r="r" b="b"/>
              <a:pathLst>
                <a:path w="124" h="61">
                  <a:moveTo>
                    <a:pt x="124" y="30"/>
                  </a:moveTo>
                  <a:cubicBezTo>
                    <a:pt x="124" y="14"/>
                    <a:pt x="111" y="0"/>
                    <a:pt x="94" y="0"/>
                  </a:cubicBezTo>
                  <a:cubicBezTo>
                    <a:pt x="30" y="0"/>
                    <a:pt x="30" y="0"/>
                    <a:pt x="30" y="0"/>
                  </a:cubicBezTo>
                  <a:cubicBezTo>
                    <a:pt x="13" y="0"/>
                    <a:pt x="0" y="14"/>
                    <a:pt x="0" y="30"/>
                  </a:cubicBezTo>
                  <a:cubicBezTo>
                    <a:pt x="0" y="47"/>
                    <a:pt x="13" y="61"/>
                    <a:pt x="30" y="61"/>
                  </a:cubicBezTo>
                  <a:cubicBezTo>
                    <a:pt x="94" y="61"/>
                    <a:pt x="94" y="61"/>
                    <a:pt x="94" y="61"/>
                  </a:cubicBezTo>
                  <a:cubicBezTo>
                    <a:pt x="111" y="61"/>
                    <a:pt x="124" y="47"/>
                    <a:pt x="124"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263" name="Freeform 14">
              <a:extLst>
                <a:ext uri="{FF2B5EF4-FFF2-40B4-BE49-F238E27FC236}">
                  <a16:creationId xmlns:a16="http://schemas.microsoft.com/office/drawing/2014/main" id="{CE31533C-A1E2-CCAE-EA5E-C6C4E93122E1}"/>
                </a:ext>
              </a:extLst>
            </p:cNvPr>
            <p:cNvSpPr>
              <a:spLocks/>
            </p:cNvSpPr>
            <p:nvPr/>
          </p:nvSpPr>
          <p:spPr bwMode="auto">
            <a:xfrm>
              <a:off x="720" y="2508"/>
              <a:ext cx="35" cy="35"/>
            </a:xfrm>
            <a:custGeom>
              <a:avLst/>
              <a:gdLst>
                <a:gd name="T0" fmla="*/ 56 w 111"/>
                <a:gd name="T1" fmla="*/ 12 h 112"/>
                <a:gd name="T2" fmla="*/ 11 w 111"/>
                <a:gd name="T3" fmla="*/ 57 h 112"/>
                <a:gd name="T4" fmla="*/ 9 w 111"/>
                <a:gd name="T5" fmla="*/ 97 h 112"/>
                <a:gd name="T6" fmla="*/ 53 w 111"/>
                <a:gd name="T7" fmla="*/ 100 h 112"/>
                <a:gd name="T8" fmla="*/ 99 w 111"/>
                <a:gd name="T9" fmla="*/ 54 h 112"/>
                <a:gd name="T10" fmla="*/ 99 w 111"/>
                <a:gd name="T11" fmla="*/ 12 h 112"/>
                <a:gd name="T12" fmla="*/ 56 w 111"/>
                <a:gd name="T13" fmla="*/ 12 h 112"/>
              </a:gdLst>
              <a:ahLst/>
              <a:cxnLst>
                <a:cxn ang="0">
                  <a:pos x="T0" y="T1"/>
                </a:cxn>
                <a:cxn ang="0">
                  <a:pos x="T2" y="T3"/>
                </a:cxn>
                <a:cxn ang="0">
                  <a:pos x="T4" y="T5"/>
                </a:cxn>
                <a:cxn ang="0">
                  <a:pos x="T6" y="T7"/>
                </a:cxn>
                <a:cxn ang="0">
                  <a:pos x="T8" y="T9"/>
                </a:cxn>
                <a:cxn ang="0">
                  <a:pos x="T10" y="T11"/>
                </a:cxn>
                <a:cxn ang="0">
                  <a:pos x="T12" y="T13"/>
                </a:cxn>
              </a:cxnLst>
              <a:rect l="0" t="0" r="r" b="b"/>
              <a:pathLst>
                <a:path w="111" h="112">
                  <a:moveTo>
                    <a:pt x="56" y="12"/>
                  </a:moveTo>
                  <a:cubicBezTo>
                    <a:pt x="11" y="57"/>
                    <a:pt x="11" y="57"/>
                    <a:pt x="11" y="57"/>
                  </a:cubicBezTo>
                  <a:cubicBezTo>
                    <a:pt x="0" y="68"/>
                    <a:pt x="0" y="85"/>
                    <a:pt x="9" y="97"/>
                  </a:cubicBezTo>
                  <a:cubicBezTo>
                    <a:pt x="20" y="111"/>
                    <a:pt x="41" y="112"/>
                    <a:pt x="53" y="100"/>
                  </a:cubicBezTo>
                  <a:cubicBezTo>
                    <a:pt x="99" y="54"/>
                    <a:pt x="99" y="54"/>
                    <a:pt x="99" y="54"/>
                  </a:cubicBezTo>
                  <a:cubicBezTo>
                    <a:pt x="111" y="43"/>
                    <a:pt x="111" y="24"/>
                    <a:pt x="99" y="12"/>
                  </a:cubicBezTo>
                  <a:cubicBezTo>
                    <a:pt x="87" y="0"/>
                    <a:pt x="68" y="0"/>
                    <a:pt x="5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grpSp>
      <p:grpSp>
        <p:nvGrpSpPr>
          <p:cNvPr id="264" name="Group 4">
            <a:extLst>
              <a:ext uri="{FF2B5EF4-FFF2-40B4-BE49-F238E27FC236}">
                <a16:creationId xmlns:a16="http://schemas.microsoft.com/office/drawing/2014/main" id="{89EA4486-077C-18D7-51C4-04DA0C024153}"/>
              </a:ext>
            </a:extLst>
          </p:cNvPr>
          <p:cNvGrpSpPr>
            <a:grpSpLocks noChangeAspect="1"/>
          </p:cNvGrpSpPr>
          <p:nvPr/>
        </p:nvGrpSpPr>
        <p:grpSpPr bwMode="auto">
          <a:xfrm>
            <a:off x="2111764" y="1321796"/>
            <a:ext cx="425792" cy="446679"/>
            <a:chOff x="3709" y="1629"/>
            <a:chExt cx="503" cy="520"/>
          </a:xfrm>
          <a:solidFill>
            <a:schemeClr val="tx1"/>
          </a:solidFill>
        </p:grpSpPr>
        <p:sp>
          <p:nvSpPr>
            <p:cNvPr id="265" name="Freeform 5">
              <a:extLst>
                <a:ext uri="{FF2B5EF4-FFF2-40B4-BE49-F238E27FC236}">
                  <a16:creationId xmlns:a16="http://schemas.microsoft.com/office/drawing/2014/main" id="{A4545183-C01C-5182-230D-3749B594DC07}"/>
                </a:ext>
              </a:extLst>
            </p:cNvPr>
            <p:cNvSpPr>
              <a:spLocks noEditPoints="1"/>
            </p:cNvSpPr>
            <p:nvPr/>
          </p:nvSpPr>
          <p:spPr bwMode="auto">
            <a:xfrm>
              <a:off x="3975" y="1912"/>
              <a:ext cx="237" cy="237"/>
            </a:xfrm>
            <a:custGeom>
              <a:avLst/>
              <a:gdLst>
                <a:gd name="T0" fmla="*/ 76 w 83"/>
                <a:gd name="T1" fmla="*/ 34 h 83"/>
                <a:gd name="T2" fmla="*/ 72 w 83"/>
                <a:gd name="T3" fmla="*/ 24 h 83"/>
                <a:gd name="T4" fmla="*/ 74 w 83"/>
                <a:gd name="T5" fmla="*/ 16 h 83"/>
                <a:gd name="T6" fmla="*/ 64 w 83"/>
                <a:gd name="T7" fmla="*/ 9 h 83"/>
                <a:gd name="T8" fmla="*/ 54 w 83"/>
                <a:gd name="T9" fmla="*/ 13 h 83"/>
                <a:gd name="T10" fmla="*/ 50 w 83"/>
                <a:gd name="T11" fmla="*/ 3 h 83"/>
                <a:gd name="T12" fmla="*/ 38 w 83"/>
                <a:gd name="T13" fmla="*/ 0 h 83"/>
                <a:gd name="T14" fmla="*/ 33 w 83"/>
                <a:gd name="T15" fmla="*/ 9 h 83"/>
                <a:gd name="T16" fmla="*/ 24 w 83"/>
                <a:gd name="T17" fmla="*/ 13 h 83"/>
                <a:gd name="T18" fmla="*/ 15 w 83"/>
                <a:gd name="T19" fmla="*/ 10 h 83"/>
                <a:gd name="T20" fmla="*/ 8 w 83"/>
                <a:gd name="T21" fmla="*/ 20 h 83"/>
                <a:gd name="T22" fmla="*/ 12 w 83"/>
                <a:gd name="T23" fmla="*/ 30 h 83"/>
                <a:gd name="T24" fmla="*/ 2 w 83"/>
                <a:gd name="T25" fmla="*/ 35 h 83"/>
                <a:gd name="T26" fmla="*/ 0 w 83"/>
                <a:gd name="T27" fmla="*/ 47 h 83"/>
                <a:gd name="T28" fmla="*/ 7 w 83"/>
                <a:gd name="T29" fmla="*/ 51 h 83"/>
                <a:gd name="T30" fmla="*/ 12 w 83"/>
                <a:gd name="T31" fmla="*/ 61 h 83"/>
                <a:gd name="T32" fmla="*/ 9 w 83"/>
                <a:gd name="T33" fmla="*/ 69 h 83"/>
                <a:gd name="T34" fmla="*/ 20 w 83"/>
                <a:gd name="T35" fmla="*/ 75 h 83"/>
                <a:gd name="T36" fmla="*/ 30 w 83"/>
                <a:gd name="T37" fmla="*/ 71 h 83"/>
                <a:gd name="T38" fmla="*/ 35 w 83"/>
                <a:gd name="T39" fmla="*/ 81 h 83"/>
                <a:gd name="T40" fmla="*/ 47 w 83"/>
                <a:gd name="T41" fmla="*/ 83 h 83"/>
                <a:gd name="T42" fmla="*/ 50 w 83"/>
                <a:gd name="T43" fmla="*/ 77 h 83"/>
                <a:gd name="T44" fmla="*/ 60 w 83"/>
                <a:gd name="T45" fmla="*/ 73 h 83"/>
                <a:gd name="T46" fmla="*/ 67 w 83"/>
                <a:gd name="T47" fmla="*/ 75 h 83"/>
                <a:gd name="T48" fmla="*/ 74 w 83"/>
                <a:gd name="T49" fmla="*/ 65 h 83"/>
                <a:gd name="T50" fmla="*/ 71 w 83"/>
                <a:gd name="T51" fmla="*/ 55 h 83"/>
                <a:gd name="T52" fmla="*/ 80 w 83"/>
                <a:gd name="T53" fmla="*/ 50 h 83"/>
                <a:gd name="T54" fmla="*/ 83 w 83"/>
                <a:gd name="T55" fmla="*/ 38 h 83"/>
                <a:gd name="T56" fmla="*/ 77 w 83"/>
                <a:gd name="T57" fmla="*/ 44 h 83"/>
                <a:gd name="T58" fmla="*/ 65 w 83"/>
                <a:gd name="T59" fmla="*/ 52 h 83"/>
                <a:gd name="T60" fmla="*/ 67 w 83"/>
                <a:gd name="T61" fmla="*/ 66 h 83"/>
                <a:gd name="T62" fmla="*/ 64 w 83"/>
                <a:gd name="T63" fmla="*/ 68 h 83"/>
                <a:gd name="T64" fmla="*/ 44 w 83"/>
                <a:gd name="T65" fmla="*/ 76 h 83"/>
                <a:gd name="T66" fmla="*/ 40 w 83"/>
                <a:gd name="T67" fmla="*/ 77 h 83"/>
                <a:gd name="T68" fmla="*/ 32 w 83"/>
                <a:gd name="T69" fmla="*/ 66 h 83"/>
                <a:gd name="T70" fmla="*/ 18 w 83"/>
                <a:gd name="T71" fmla="*/ 68 h 83"/>
                <a:gd name="T72" fmla="*/ 17 w 83"/>
                <a:gd name="T73" fmla="*/ 64 h 83"/>
                <a:gd name="T74" fmla="*/ 8 w 83"/>
                <a:gd name="T75" fmla="*/ 45 h 83"/>
                <a:gd name="T76" fmla="*/ 6 w 83"/>
                <a:gd name="T77" fmla="*/ 41 h 83"/>
                <a:gd name="T78" fmla="*/ 18 w 83"/>
                <a:gd name="T79" fmla="*/ 32 h 83"/>
                <a:gd name="T80" fmla="*/ 15 w 83"/>
                <a:gd name="T81" fmla="*/ 19 h 83"/>
                <a:gd name="T82" fmla="*/ 20 w 83"/>
                <a:gd name="T83" fmla="*/ 18 h 83"/>
                <a:gd name="T84" fmla="*/ 40 w 83"/>
                <a:gd name="T85" fmla="*/ 10 h 83"/>
                <a:gd name="T86" fmla="*/ 44 w 83"/>
                <a:gd name="T87" fmla="*/ 7 h 83"/>
                <a:gd name="T88" fmla="*/ 52 w 83"/>
                <a:gd name="T89" fmla="*/ 18 h 83"/>
                <a:gd name="T90" fmla="*/ 66 w 83"/>
                <a:gd name="T91" fmla="*/ 16 h 83"/>
                <a:gd name="T92" fmla="*/ 67 w 83"/>
                <a:gd name="T93" fmla="*/ 20 h 83"/>
                <a:gd name="T94" fmla="*/ 75 w 83"/>
                <a:gd name="T95" fmla="*/ 40 h 83"/>
                <a:gd name="T96" fmla="*/ 77 w 83"/>
                <a:gd name="T97" fmla="*/ 44 h 83"/>
                <a:gd name="T98" fmla="*/ 77 w 83"/>
                <a:gd name="T99" fmla="*/ 44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3" h="83">
                  <a:moveTo>
                    <a:pt x="80" y="35"/>
                  </a:moveTo>
                  <a:cubicBezTo>
                    <a:pt x="76" y="34"/>
                    <a:pt x="76" y="34"/>
                    <a:pt x="76" y="34"/>
                  </a:cubicBezTo>
                  <a:cubicBezTo>
                    <a:pt x="74" y="34"/>
                    <a:pt x="72" y="32"/>
                    <a:pt x="71" y="30"/>
                  </a:cubicBezTo>
                  <a:cubicBezTo>
                    <a:pt x="70" y="28"/>
                    <a:pt x="71" y="26"/>
                    <a:pt x="72" y="24"/>
                  </a:cubicBezTo>
                  <a:cubicBezTo>
                    <a:pt x="75" y="20"/>
                    <a:pt x="75" y="20"/>
                    <a:pt x="75" y="20"/>
                  </a:cubicBezTo>
                  <a:cubicBezTo>
                    <a:pt x="76" y="19"/>
                    <a:pt x="76" y="17"/>
                    <a:pt x="74" y="16"/>
                  </a:cubicBezTo>
                  <a:cubicBezTo>
                    <a:pt x="68" y="10"/>
                    <a:pt x="68" y="10"/>
                    <a:pt x="68" y="10"/>
                  </a:cubicBezTo>
                  <a:cubicBezTo>
                    <a:pt x="67" y="9"/>
                    <a:pt x="65" y="8"/>
                    <a:pt x="64" y="9"/>
                  </a:cubicBezTo>
                  <a:cubicBezTo>
                    <a:pt x="60" y="12"/>
                    <a:pt x="60" y="12"/>
                    <a:pt x="60" y="12"/>
                  </a:cubicBezTo>
                  <a:cubicBezTo>
                    <a:pt x="58" y="13"/>
                    <a:pt x="56" y="13"/>
                    <a:pt x="54" y="13"/>
                  </a:cubicBezTo>
                  <a:cubicBezTo>
                    <a:pt x="52" y="12"/>
                    <a:pt x="51" y="10"/>
                    <a:pt x="50" y="8"/>
                  </a:cubicBezTo>
                  <a:cubicBezTo>
                    <a:pt x="50" y="3"/>
                    <a:pt x="50" y="3"/>
                    <a:pt x="50" y="3"/>
                  </a:cubicBezTo>
                  <a:cubicBezTo>
                    <a:pt x="49" y="1"/>
                    <a:pt x="48" y="0"/>
                    <a:pt x="47" y="0"/>
                  </a:cubicBezTo>
                  <a:cubicBezTo>
                    <a:pt x="38" y="0"/>
                    <a:pt x="38" y="0"/>
                    <a:pt x="38" y="0"/>
                  </a:cubicBezTo>
                  <a:cubicBezTo>
                    <a:pt x="36" y="0"/>
                    <a:pt x="35" y="1"/>
                    <a:pt x="35" y="3"/>
                  </a:cubicBezTo>
                  <a:cubicBezTo>
                    <a:pt x="33" y="9"/>
                    <a:pt x="33" y="9"/>
                    <a:pt x="33" y="9"/>
                  </a:cubicBezTo>
                  <a:cubicBezTo>
                    <a:pt x="33" y="11"/>
                    <a:pt x="32" y="13"/>
                    <a:pt x="30" y="13"/>
                  </a:cubicBezTo>
                  <a:cubicBezTo>
                    <a:pt x="28" y="14"/>
                    <a:pt x="25" y="14"/>
                    <a:pt x="24" y="13"/>
                  </a:cubicBezTo>
                  <a:cubicBezTo>
                    <a:pt x="19" y="9"/>
                    <a:pt x="19" y="9"/>
                    <a:pt x="19" y="9"/>
                  </a:cubicBezTo>
                  <a:cubicBezTo>
                    <a:pt x="17" y="8"/>
                    <a:pt x="16" y="9"/>
                    <a:pt x="15" y="10"/>
                  </a:cubicBezTo>
                  <a:cubicBezTo>
                    <a:pt x="8" y="16"/>
                    <a:pt x="8" y="16"/>
                    <a:pt x="8" y="16"/>
                  </a:cubicBezTo>
                  <a:cubicBezTo>
                    <a:pt x="7" y="17"/>
                    <a:pt x="7" y="19"/>
                    <a:pt x="8" y="20"/>
                  </a:cubicBezTo>
                  <a:cubicBezTo>
                    <a:pt x="11" y="24"/>
                    <a:pt x="11" y="24"/>
                    <a:pt x="11" y="24"/>
                  </a:cubicBezTo>
                  <a:cubicBezTo>
                    <a:pt x="12" y="26"/>
                    <a:pt x="13" y="28"/>
                    <a:pt x="12" y="30"/>
                  </a:cubicBezTo>
                  <a:cubicBezTo>
                    <a:pt x="11" y="32"/>
                    <a:pt x="9" y="34"/>
                    <a:pt x="7" y="34"/>
                  </a:cubicBezTo>
                  <a:cubicBezTo>
                    <a:pt x="2" y="35"/>
                    <a:pt x="2" y="35"/>
                    <a:pt x="2" y="35"/>
                  </a:cubicBezTo>
                  <a:cubicBezTo>
                    <a:pt x="1" y="35"/>
                    <a:pt x="0" y="37"/>
                    <a:pt x="0" y="38"/>
                  </a:cubicBezTo>
                  <a:cubicBezTo>
                    <a:pt x="0" y="47"/>
                    <a:pt x="0" y="47"/>
                    <a:pt x="0" y="47"/>
                  </a:cubicBezTo>
                  <a:cubicBezTo>
                    <a:pt x="0" y="49"/>
                    <a:pt x="1" y="50"/>
                    <a:pt x="3" y="50"/>
                  </a:cubicBezTo>
                  <a:cubicBezTo>
                    <a:pt x="7" y="51"/>
                    <a:pt x="7" y="51"/>
                    <a:pt x="7" y="51"/>
                  </a:cubicBezTo>
                  <a:cubicBezTo>
                    <a:pt x="10" y="51"/>
                    <a:pt x="11" y="53"/>
                    <a:pt x="12" y="55"/>
                  </a:cubicBezTo>
                  <a:cubicBezTo>
                    <a:pt x="13" y="57"/>
                    <a:pt x="13" y="59"/>
                    <a:pt x="12" y="61"/>
                  </a:cubicBezTo>
                  <a:cubicBezTo>
                    <a:pt x="9" y="65"/>
                    <a:pt x="9" y="65"/>
                    <a:pt x="9" y="65"/>
                  </a:cubicBezTo>
                  <a:cubicBezTo>
                    <a:pt x="8" y="66"/>
                    <a:pt x="8" y="67"/>
                    <a:pt x="9" y="69"/>
                  </a:cubicBezTo>
                  <a:cubicBezTo>
                    <a:pt x="16" y="75"/>
                    <a:pt x="16" y="75"/>
                    <a:pt x="16" y="75"/>
                  </a:cubicBezTo>
                  <a:cubicBezTo>
                    <a:pt x="17" y="76"/>
                    <a:pt x="19" y="76"/>
                    <a:pt x="20" y="75"/>
                  </a:cubicBezTo>
                  <a:cubicBezTo>
                    <a:pt x="24" y="72"/>
                    <a:pt x="24" y="72"/>
                    <a:pt x="24" y="72"/>
                  </a:cubicBezTo>
                  <a:cubicBezTo>
                    <a:pt x="26" y="71"/>
                    <a:pt x="28" y="71"/>
                    <a:pt x="30" y="71"/>
                  </a:cubicBezTo>
                  <a:cubicBezTo>
                    <a:pt x="32" y="72"/>
                    <a:pt x="33" y="74"/>
                    <a:pt x="34" y="76"/>
                  </a:cubicBezTo>
                  <a:cubicBezTo>
                    <a:pt x="35" y="81"/>
                    <a:pt x="35" y="81"/>
                    <a:pt x="35" y="81"/>
                  </a:cubicBezTo>
                  <a:cubicBezTo>
                    <a:pt x="35" y="82"/>
                    <a:pt x="36" y="83"/>
                    <a:pt x="38" y="83"/>
                  </a:cubicBezTo>
                  <a:cubicBezTo>
                    <a:pt x="47" y="83"/>
                    <a:pt x="47" y="83"/>
                    <a:pt x="47" y="83"/>
                  </a:cubicBezTo>
                  <a:cubicBezTo>
                    <a:pt x="48" y="83"/>
                    <a:pt x="50" y="82"/>
                    <a:pt x="50" y="81"/>
                  </a:cubicBezTo>
                  <a:cubicBezTo>
                    <a:pt x="50" y="77"/>
                    <a:pt x="50" y="77"/>
                    <a:pt x="50" y="77"/>
                  </a:cubicBezTo>
                  <a:cubicBezTo>
                    <a:pt x="51" y="75"/>
                    <a:pt x="52" y="73"/>
                    <a:pt x="54" y="72"/>
                  </a:cubicBezTo>
                  <a:cubicBezTo>
                    <a:pt x="56" y="72"/>
                    <a:pt x="58" y="72"/>
                    <a:pt x="60" y="73"/>
                  </a:cubicBezTo>
                  <a:cubicBezTo>
                    <a:pt x="63" y="75"/>
                    <a:pt x="63" y="75"/>
                    <a:pt x="63" y="75"/>
                  </a:cubicBezTo>
                  <a:cubicBezTo>
                    <a:pt x="64" y="76"/>
                    <a:pt x="66" y="76"/>
                    <a:pt x="67" y="75"/>
                  </a:cubicBezTo>
                  <a:cubicBezTo>
                    <a:pt x="73" y="69"/>
                    <a:pt x="73" y="69"/>
                    <a:pt x="73" y="69"/>
                  </a:cubicBezTo>
                  <a:cubicBezTo>
                    <a:pt x="75" y="67"/>
                    <a:pt x="75" y="66"/>
                    <a:pt x="74" y="65"/>
                  </a:cubicBezTo>
                  <a:cubicBezTo>
                    <a:pt x="71" y="61"/>
                    <a:pt x="71" y="61"/>
                    <a:pt x="71" y="61"/>
                  </a:cubicBezTo>
                  <a:cubicBezTo>
                    <a:pt x="70" y="59"/>
                    <a:pt x="70" y="57"/>
                    <a:pt x="71" y="55"/>
                  </a:cubicBezTo>
                  <a:cubicBezTo>
                    <a:pt x="71" y="53"/>
                    <a:pt x="73" y="51"/>
                    <a:pt x="75" y="51"/>
                  </a:cubicBezTo>
                  <a:cubicBezTo>
                    <a:pt x="80" y="50"/>
                    <a:pt x="80" y="50"/>
                    <a:pt x="80" y="50"/>
                  </a:cubicBezTo>
                  <a:cubicBezTo>
                    <a:pt x="82" y="50"/>
                    <a:pt x="83" y="49"/>
                    <a:pt x="83" y="47"/>
                  </a:cubicBezTo>
                  <a:cubicBezTo>
                    <a:pt x="83" y="38"/>
                    <a:pt x="83" y="38"/>
                    <a:pt x="83" y="38"/>
                  </a:cubicBezTo>
                  <a:cubicBezTo>
                    <a:pt x="83" y="37"/>
                    <a:pt x="82" y="35"/>
                    <a:pt x="80" y="35"/>
                  </a:cubicBezTo>
                  <a:close/>
                  <a:moveTo>
                    <a:pt x="77" y="44"/>
                  </a:moveTo>
                  <a:cubicBezTo>
                    <a:pt x="74" y="45"/>
                    <a:pt x="74" y="45"/>
                    <a:pt x="74" y="45"/>
                  </a:cubicBezTo>
                  <a:cubicBezTo>
                    <a:pt x="70" y="45"/>
                    <a:pt x="67" y="48"/>
                    <a:pt x="65" y="52"/>
                  </a:cubicBezTo>
                  <a:cubicBezTo>
                    <a:pt x="63" y="56"/>
                    <a:pt x="63" y="61"/>
                    <a:pt x="66" y="64"/>
                  </a:cubicBezTo>
                  <a:cubicBezTo>
                    <a:pt x="67" y="66"/>
                    <a:pt x="67" y="66"/>
                    <a:pt x="67" y="66"/>
                  </a:cubicBezTo>
                  <a:cubicBezTo>
                    <a:pt x="65" y="68"/>
                    <a:pt x="65" y="68"/>
                    <a:pt x="65" y="68"/>
                  </a:cubicBezTo>
                  <a:cubicBezTo>
                    <a:pt x="64" y="68"/>
                    <a:pt x="64" y="68"/>
                    <a:pt x="64" y="68"/>
                  </a:cubicBezTo>
                  <a:cubicBezTo>
                    <a:pt x="60" y="65"/>
                    <a:pt x="56" y="65"/>
                    <a:pt x="52" y="66"/>
                  </a:cubicBezTo>
                  <a:cubicBezTo>
                    <a:pt x="47" y="68"/>
                    <a:pt x="45" y="72"/>
                    <a:pt x="44" y="76"/>
                  </a:cubicBezTo>
                  <a:cubicBezTo>
                    <a:pt x="44" y="77"/>
                    <a:pt x="44" y="77"/>
                    <a:pt x="44" y="77"/>
                  </a:cubicBezTo>
                  <a:cubicBezTo>
                    <a:pt x="40" y="77"/>
                    <a:pt x="40" y="77"/>
                    <a:pt x="40" y="77"/>
                  </a:cubicBezTo>
                  <a:cubicBezTo>
                    <a:pt x="40" y="75"/>
                    <a:pt x="40" y="75"/>
                    <a:pt x="40" y="75"/>
                  </a:cubicBezTo>
                  <a:cubicBezTo>
                    <a:pt x="39" y="71"/>
                    <a:pt x="36" y="67"/>
                    <a:pt x="32" y="66"/>
                  </a:cubicBezTo>
                  <a:cubicBezTo>
                    <a:pt x="28" y="64"/>
                    <a:pt x="23" y="65"/>
                    <a:pt x="20" y="67"/>
                  </a:cubicBezTo>
                  <a:cubicBezTo>
                    <a:pt x="18" y="68"/>
                    <a:pt x="18" y="68"/>
                    <a:pt x="18" y="68"/>
                  </a:cubicBezTo>
                  <a:cubicBezTo>
                    <a:pt x="16" y="66"/>
                    <a:pt x="16" y="66"/>
                    <a:pt x="16" y="66"/>
                  </a:cubicBezTo>
                  <a:cubicBezTo>
                    <a:pt x="17" y="64"/>
                    <a:pt x="17" y="64"/>
                    <a:pt x="17" y="64"/>
                  </a:cubicBezTo>
                  <a:cubicBezTo>
                    <a:pt x="19" y="61"/>
                    <a:pt x="20" y="56"/>
                    <a:pt x="18" y="52"/>
                  </a:cubicBezTo>
                  <a:cubicBezTo>
                    <a:pt x="16" y="48"/>
                    <a:pt x="13" y="45"/>
                    <a:pt x="8" y="45"/>
                  </a:cubicBezTo>
                  <a:cubicBezTo>
                    <a:pt x="6" y="44"/>
                    <a:pt x="6" y="44"/>
                    <a:pt x="6" y="44"/>
                  </a:cubicBezTo>
                  <a:cubicBezTo>
                    <a:pt x="6" y="41"/>
                    <a:pt x="6" y="41"/>
                    <a:pt x="6" y="41"/>
                  </a:cubicBezTo>
                  <a:cubicBezTo>
                    <a:pt x="8" y="40"/>
                    <a:pt x="8" y="40"/>
                    <a:pt x="8" y="40"/>
                  </a:cubicBezTo>
                  <a:cubicBezTo>
                    <a:pt x="13" y="39"/>
                    <a:pt x="16" y="37"/>
                    <a:pt x="18" y="32"/>
                  </a:cubicBezTo>
                  <a:cubicBezTo>
                    <a:pt x="19" y="28"/>
                    <a:pt x="19" y="24"/>
                    <a:pt x="16" y="20"/>
                  </a:cubicBezTo>
                  <a:cubicBezTo>
                    <a:pt x="15" y="19"/>
                    <a:pt x="15" y="19"/>
                    <a:pt x="15" y="19"/>
                  </a:cubicBezTo>
                  <a:cubicBezTo>
                    <a:pt x="17" y="16"/>
                    <a:pt x="17" y="16"/>
                    <a:pt x="17" y="16"/>
                  </a:cubicBezTo>
                  <a:cubicBezTo>
                    <a:pt x="20" y="18"/>
                    <a:pt x="20" y="18"/>
                    <a:pt x="20" y="18"/>
                  </a:cubicBezTo>
                  <a:cubicBezTo>
                    <a:pt x="24" y="20"/>
                    <a:pt x="28" y="21"/>
                    <a:pt x="32" y="19"/>
                  </a:cubicBezTo>
                  <a:cubicBezTo>
                    <a:pt x="36" y="18"/>
                    <a:pt x="39" y="14"/>
                    <a:pt x="40" y="10"/>
                  </a:cubicBezTo>
                  <a:cubicBezTo>
                    <a:pt x="40" y="7"/>
                    <a:pt x="40" y="7"/>
                    <a:pt x="40" y="7"/>
                  </a:cubicBezTo>
                  <a:cubicBezTo>
                    <a:pt x="44" y="7"/>
                    <a:pt x="44" y="7"/>
                    <a:pt x="44" y="7"/>
                  </a:cubicBezTo>
                  <a:cubicBezTo>
                    <a:pt x="44" y="9"/>
                    <a:pt x="44" y="9"/>
                    <a:pt x="44" y="9"/>
                  </a:cubicBezTo>
                  <a:cubicBezTo>
                    <a:pt x="45" y="13"/>
                    <a:pt x="48" y="17"/>
                    <a:pt x="52" y="18"/>
                  </a:cubicBezTo>
                  <a:cubicBezTo>
                    <a:pt x="56" y="20"/>
                    <a:pt x="60" y="20"/>
                    <a:pt x="64" y="17"/>
                  </a:cubicBezTo>
                  <a:cubicBezTo>
                    <a:pt x="66" y="16"/>
                    <a:pt x="66" y="16"/>
                    <a:pt x="66" y="16"/>
                  </a:cubicBezTo>
                  <a:cubicBezTo>
                    <a:pt x="68" y="19"/>
                    <a:pt x="68" y="19"/>
                    <a:pt x="68" y="19"/>
                  </a:cubicBezTo>
                  <a:cubicBezTo>
                    <a:pt x="67" y="20"/>
                    <a:pt x="67" y="20"/>
                    <a:pt x="67" y="20"/>
                  </a:cubicBezTo>
                  <a:cubicBezTo>
                    <a:pt x="64" y="24"/>
                    <a:pt x="64" y="28"/>
                    <a:pt x="65" y="32"/>
                  </a:cubicBezTo>
                  <a:cubicBezTo>
                    <a:pt x="67" y="37"/>
                    <a:pt x="70" y="39"/>
                    <a:pt x="75" y="40"/>
                  </a:cubicBezTo>
                  <a:cubicBezTo>
                    <a:pt x="77" y="41"/>
                    <a:pt x="77" y="41"/>
                    <a:pt x="77" y="41"/>
                  </a:cubicBezTo>
                  <a:lnTo>
                    <a:pt x="77" y="44"/>
                  </a:lnTo>
                  <a:close/>
                  <a:moveTo>
                    <a:pt x="77" y="44"/>
                  </a:moveTo>
                  <a:cubicBezTo>
                    <a:pt x="77" y="44"/>
                    <a:pt x="77" y="44"/>
                    <a:pt x="77" y="4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266" name="Freeform 6">
              <a:extLst>
                <a:ext uri="{FF2B5EF4-FFF2-40B4-BE49-F238E27FC236}">
                  <a16:creationId xmlns:a16="http://schemas.microsoft.com/office/drawing/2014/main" id="{907C4FBA-E3EC-728E-3A26-5AA5BD94B113}"/>
                </a:ext>
              </a:extLst>
            </p:cNvPr>
            <p:cNvSpPr>
              <a:spLocks noEditPoints="1"/>
            </p:cNvSpPr>
            <p:nvPr/>
          </p:nvSpPr>
          <p:spPr bwMode="auto">
            <a:xfrm>
              <a:off x="4046" y="1986"/>
              <a:ext cx="92" cy="91"/>
            </a:xfrm>
            <a:custGeom>
              <a:avLst/>
              <a:gdLst>
                <a:gd name="T0" fmla="*/ 16 w 32"/>
                <a:gd name="T1" fmla="*/ 0 h 32"/>
                <a:gd name="T2" fmla="*/ 0 w 32"/>
                <a:gd name="T3" fmla="*/ 16 h 32"/>
                <a:gd name="T4" fmla="*/ 16 w 32"/>
                <a:gd name="T5" fmla="*/ 32 h 32"/>
                <a:gd name="T6" fmla="*/ 32 w 32"/>
                <a:gd name="T7" fmla="*/ 16 h 32"/>
                <a:gd name="T8" fmla="*/ 16 w 32"/>
                <a:gd name="T9" fmla="*/ 0 h 32"/>
                <a:gd name="T10" fmla="*/ 16 w 32"/>
                <a:gd name="T11" fmla="*/ 25 h 32"/>
                <a:gd name="T12" fmla="*/ 7 w 32"/>
                <a:gd name="T13" fmla="*/ 16 h 32"/>
                <a:gd name="T14" fmla="*/ 16 w 32"/>
                <a:gd name="T15" fmla="*/ 6 h 32"/>
                <a:gd name="T16" fmla="*/ 26 w 32"/>
                <a:gd name="T17" fmla="*/ 16 h 32"/>
                <a:gd name="T18" fmla="*/ 16 w 32"/>
                <a:gd name="T19" fmla="*/ 25 h 32"/>
                <a:gd name="T20" fmla="*/ 16 w 32"/>
                <a:gd name="T21" fmla="*/ 25 h 32"/>
                <a:gd name="T22" fmla="*/ 16 w 32"/>
                <a:gd name="T23" fmla="*/ 2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32">
                  <a:moveTo>
                    <a:pt x="16" y="0"/>
                  </a:moveTo>
                  <a:cubicBezTo>
                    <a:pt x="8" y="0"/>
                    <a:pt x="0" y="7"/>
                    <a:pt x="0" y="16"/>
                  </a:cubicBezTo>
                  <a:cubicBezTo>
                    <a:pt x="0" y="25"/>
                    <a:pt x="8" y="32"/>
                    <a:pt x="16" y="32"/>
                  </a:cubicBezTo>
                  <a:cubicBezTo>
                    <a:pt x="25" y="32"/>
                    <a:pt x="32" y="25"/>
                    <a:pt x="32" y="16"/>
                  </a:cubicBezTo>
                  <a:cubicBezTo>
                    <a:pt x="32" y="7"/>
                    <a:pt x="25" y="0"/>
                    <a:pt x="16" y="0"/>
                  </a:cubicBezTo>
                  <a:close/>
                  <a:moveTo>
                    <a:pt x="16" y="25"/>
                  </a:moveTo>
                  <a:cubicBezTo>
                    <a:pt x="11" y="25"/>
                    <a:pt x="7" y="21"/>
                    <a:pt x="7" y="16"/>
                  </a:cubicBezTo>
                  <a:cubicBezTo>
                    <a:pt x="7" y="10"/>
                    <a:pt x="11" y="6"/>
                    <a:pt x="16" y="6"/>
                  </a:cubicBezTo>
                  <a:cubicBezTo>
                    <a:pt x="22" y="6"/>
                    <a:pt x="26" y="10"/>
                    <a:pt x="26" y="16"/>
                  </a:cubicBezTo>
                  <a:cubicBezTo>
                    <a:pt x="26" y="21"/>
                    <a:pt x="22" y="25"/>
                    <a:pt x="16" y="25"/>
                  </a:cubicBezTo>
                  <a:close/>
                  <a:moveTo>
                    <a:pt x="16" y="25"/>
                  </a:moveTo>
                  <a:cubicBezTo>
                    <a:pt x="16" y="25"/>
                    <a:pt x="16" y="25"/>
                    <a:pt x="16" y="2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267" name="Freeform 7">
              <a:extLst>
                <a:ext uri="{FF2B5EF4-FFF2-40B4-BE49-F238E27FC236}">
                  <a16:creationId xmlns:a16="http://schemas.microsoft.com/office/drawing/2014/main" id="{4C47949E-45D7-A280-581C-9CF72578F8F4}"/>
                </a:ext>
              </a:extLst>
            </p:cNvPr>
            <p:cNvSpPr>
              <a:spLocks noEditPoints="1"/>
            </p:cNvSpPr>
            <p:nvPr/>
          </p:nvSpPr>
          <p:spPr bwMode="auto">
            <a:xfrm>
              <a:off x="3709" y="1629"/>
              <a:ext cx="457" cy="500"/>
            </a:xfrm>
            <a:custGeom>
              <a:avLst/>
              <a:gdLst>
                <a:gd name="T0" fmla="*/ 68 w 160"/>
                <a:gd name="T1" fmla="*/ 131 h 175"/>
                <a:gd name="T2" fmla="*/ 58 w 160"/>
                <a:gd name="T3" fmla="*/ 130 h 175"/>
                <a:gd name="T4" fmla="*/ 24 w 160"/>
                <a:gd name="T5" fmla="*/ 122 h 175"/>
                <a:gd name="T6" fmla="*/ 19 w 160"/>
                <a:gd name="T7" fmla="*/ 120 h 175"/>
                <a:gd name="T8" fmla="*/ 13 w 160"/>
                <a:gd name="T9" fmla="*/ 117 h 175"/>
                <a:gd name="T10" fmla="*/ 10 w 160"/>
                <a:gd name="T11" fmla="*/ 114 h 175"/>
                <a:gd name="T12" fmla="*/ 7 w 160"/>
                <a:gd name="T13" fmla="*/ 111 h 175"/>
                <a:gd name="T14" fmla="*/ 6 w 160"/>
                <a:gd name="T15" fmla="*/ 107 h 175"/>
                <a:gd name="T16" fmla="*/ 9 w 160"/>
                <a:gd name="T17" fmla="*/ 83 h 175"/>
                <a:gd name="T18" fmla="*/ 154 w 160"/>
                <a:gd name="T19" fmla="*/ 81 h 175"/>
                <a:gd name="T20" fmla="*/ 160 w 160"/>
                <a:gd name="T21" fmla="*/ 93 h 175"/>
                <a:gd name="T22" fmla="*/ 80 w 160"/>
                <a:gd name="T23" fmla="*/ 0 h 175"/>
                <a:gd name="T24" fmla="*/ 0 w 160"/>
                <a:gd name="T25" fmla="*/ 147 h 175"/>
                <a:gd name="T26" fmla="*/ 64 w 160"/>
                <a:gd name="T27" fmla="*/ 175 h 175"/>
                <a:gd name="T28" fmla="*/ 7 w 160"/>
                <a:gd name="T29" fmla="*/ 147 h 175"/>
                <a:gd name="T30" fmla="*/ 7 w 160"/>
                <a:gd name="T31" fmla="*/ 120 h 175"/>
                <a:gd name="T32" fmla="*/ 83 w 160"/>
                <a:gd name="T33" fmla="*/ 134 h 175"/>
                <a:gd name="T34" fmla="*/ 11 w 160"/>
                <a:gd name="T35" fmla="*/ 46 h 175"/>
                <a:gd name="T36" fmla="*/ 16 w 160"/>
                <a:gd name="T37" fmla="*/ 49 h 175"/>
                <a:gd name="T38" fmla="*/ 25 w 160"/>
                <a:gd name="T39" fmla="*/ 53 h 175"/>
                <a:gd name="T40" fmla="*/ 32 w 160"/>
                <a:gd name="T41" fmla="*/ 55 h 175"/>
                <a:gd name="T42" fmla="*/ 45 w 160"/>
                <a:gd name="T43" fmla="*/ 58 h 175"/>
                <a:gd name="T44" fmla="*/ 54 w 160"/>
                <a:gd name="T45" fmla="*/ 59 h 175"/>
                <a:gd name="T46" fmla="*/ 69 w 160"/>
                <a:gd name="T47" fmla="*/ 61 h 175"/>
                <a:gd name="T48" fmla="*/ 88 w 160"/>
                <a:gd name="T49" fmla="*/ 61 h 175"/>
                <a:gd name="T50" fmla="*/ 99 w 160"/>
                <a:gd name="T51" fmla="*/ 60 h 175"/>
                <a:gd name="T52" fmla="*/ 113 w 160"/>
                <a:gd name="T53" fmla="*/ 58 h 175"/>
                <a:gd name="T54" fmla="*/ 122 w 160"/>
                <a:gd name="T55" fmla="*/ 57 h 175"/>
                <a:gd name="T56" fmla="*/ 133 w 160"/>
                <a:gd name="T57" fmla="*/ 53 h 175"/>
                <a:gd name="T58" fmla="*/ 140 w 160"/>
                <a:gd name="T59" fmla="*/ 51 h 175"/>
                <a:gd name="T60" fmla="*/ 148 w 160"/>
                <a:gd name="T61" fmla="*/ 47 h 175"/>
                <a:gd name="T62" fmla="*/ 152 w 160"/>
                <a:gd name="T63" fmla="*/ 44 h 175"/>
                <a:gd name="T64" fmla="*/ 153 w 160"/>
                <a:gd name="T65" fmla="*/ 70 h 175"/>
                <a:gd name="T66" fmla="*/ 152 w 160"/>
                <a:gd name="T67" fmla="*/ 74 h 175"/>
                <a:gd name="T68" fmla="*/ 149 w 160"/>
                <a:gd name="T69" fmla="*/ 76 h 175"/>
                <a:gd name="T70" fmla="*/ 144 w 160"/>
                <a:gd name="T71" fmla="*/ 80 h 175"/>
                <a:gd name="T72" fmla="*/ 140 w 160"/>
                <a:gd name="T73" fmla="*/ 82 h 175"/>
                <a:gd name="T74" fmla="*/ 109 w 160"/>
                <a:gd name="T75" fmla="*/ 91 h 175"/>
                <a:gd name="T76" fmla="*/ 101 w 160"/>
                <a:gd name="T77" fmla="*/ 92 h 175"/>
                <a:gd name="T78" fmla="*/ 88 w 160"/>
                <a:gd name="T79" fmla="*/ 93 h 175"/>
                <a:gd name="T80" fmla="*/ 68 w 160"/>
                <a:gd name="T81" fmla="*/ 92 h 175"/>
                <a:gd name="T82" fmla="*/ 58 w 160"/>
                <a:gd name="T83" fmla="*/ 92 h 175"/>
                <a:gd name="T84" fmla="*/ 24 w 160"/>
                <a:gd name="T85" fmla="*/ 84 h 175"/>
                <a:gd name="T86" fmla="*/ 19 w 160"/>
                <a:gd name="T87" fmla="*/ 82 h 175"/>
                <a:gd name="T88" fmla="*/ 13 w 160"/>
                <a:gd name="T89" fmla="*/ 78 h 175"/>
                <a:gd name="T90" fmla="*/ 10 w 160"/>
                <a:gd name="T91" fmla="*/ 76 h 175"/>
                <a:gd name="T92" fmla="*/ 7 w 160"/>
                <a:gd name="T93" fmla="*/ 72 h 175"/>
                <a:gd name="T94" fmla="*/ 6 w 160"/>
                <a:gd name="T95" fmla="*/ 69 h 175"/>
                <a:gd name="T96" fmla="*/ 8 w 160"/>
                <a:gd name="T97" fmla="*/ 44 h 175"/>
                <a:gd name="T98" fmla="*/ 80 w 160"/>
                <a:gd name="T99" fmla="*/ 54 h 175"/>
                <a:gd name="T100" fmla="*/ 80 w 160"/>
                <a:gd name="T101" fmla="*/ 6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60" h="175">
                  <a:moveTo>
                    <a:pt x="80" y="131"/>
                  </a:moveTo>
                  <a:cubicBezTo>
                    <a:pt x="77" y="131"/>
                    <a:pt x="75" y="131"/>
                    <a:pt x="72" y="131"/>
                  </a:cubicBezTo>
                  <a:cubicBezTo>
                    <a:pt x="71" y="131"/>
                    <a:pt x="69" y="131"/>
                    <a:pt x="68" y="131"/>
                  </a:cubicBezTo>
                  <a:cubicBezTo>
                    <a:pt x="67" y="131"/>
                    <a:pt x="66" y="131"/>
                    <a:pt x="65" y="131"/>
                  </a:cubicBezTo>
                  <a:cubicBezTo>
                    <a:pt x="63" y="130"/>
                    <a:pt x="61" y="130"/>
                    <a:pt x="59" y="130"/>
                  </a:cubicBezTo>
                  <a:cubicBezTo>
                    <a:pt x="59" y="130"/>
                    <a:pt x="58" y="130"/>
                    <a:pt x="58" y="130"/>
                  </a:cubicBezTo>
                  <a:cubicBezTo>
                    <a:pt x="56" y="130"/>
                    <a:pt x="53" y="129"/>
                    <a:pt x="51" y="129"/>
                  </a:cubicBezTo>
                  <a:cubicBezTo>
                    <a:pt x="51" y="129"/>
                    <a:pt x="51" y="129"/>
                    <a:pt x="51" y="129"/>
                  </a:cubicBezTo>
                  <a:cubicBezTo>
                    <a:pt x="40" y="128"/>
                    <a:pt x="31" y="125"/>
                    <a:pt x="24" y="122"/>
                  </a:cubicBezTo>
                  <a:cubicBezTo>
                    <a:pt x="24" y="122"/>
                    <a:pt x="24" y="122"/>
                    <a:pt x="24" y="122"/>
                  </a:cubicBezTo>
                  <a:cubicBezTo>
                    <a:pt x="22" y="122"/>
                    <a:pt x="21" y="121"/>
                    <a:pt x="20" y="120"/>
                  </a:cubicBezTo>
                  <a:cubicBezTo>
                    <a:pt x="20" y="120"/>
                    <a:pt x="20" y="120"/>
                    <a:pt x="19" y="120"/>
                  </a:cubicBezTo>
                  <a:cubicBezTo>
                    <a:pt x="18" y="120"/>
                    <a:pt x="17" y="119"/>
                    <a:pt x="16" y="119"/>
                  </a:cubicBezTo>
                  <a:cubicBezTo>
                    <a:pt x="16" y="119"/>
                    <a:pt x="16" y="118"/>
                    <a:pt x="16" y="118"/>
                  </a:cubicBezTo>
                  <a:cubicBezTo>
                    <a:pt x="15" y="118"/>
                    <a:pt x="14" y="117"/>
                    <a:pt x="13" y="117"/>
                  </a:cubicBezTo>
                  <a:cubicBezTo>
                    <a:pt x="13" y="117"/>
                    <a:pt x="13" y="116"/>
                    <a:pt x="13" y="116"/>
                  </a:cubicBezTo>
                  <a:cubicBezTo>
                    <a:pt x="12" y="116"/>
                    <a:pt x="11" y="115"/>
                    <a:pt x="11" y="115"/>
                  </a:cubicBezTo>
                  <a:cubicBezTo>
                    <a:pt x="11" y="115"/>
                    <a:pt x="10" y="114"/>
                    <a:pt x="10" y="114"/>
                  </a:cubicBezTo>
                  <a:cubicBezTo>
                    <a:pt x="10" y="114"/>
                    <a:pt x="9" y="113"/>
                    <a:pt x="9" y="113"/>
                  </a:cubicBezTo>
                  <a:cubicBezTo>
                    <a:pt x="9" y="113"/>
                    <a:pt x="8" y="112"/>
                    <a:pt x="8" y="112"/>
                  </a:cubicBezTo>
                  <a:cubicBezTo>
                    <a:pt x="8" y="112"/>
                    <a:pt x="8" y="111"/>
                    <a:pt x="7" y="111"/>
                  </a:cubicBezTo>
                  <a:cubicBezTo>
                    <a:pt x="7" y="110"/>
                    <a:pt x="7" y="110"/>
                    <a:pt x="7" y="110"/>
                  </a:cubicBezTo>
                  <a:cubicBezTo>
                    <a:pt x="7" y="109"/>
                    <a:pt x="7" y="109"/>
                    <a:pt x="7" y="109"/>
                  </a:cubicBezTo>
                  <a:cubicBezTo>
                    <a:pt x="7" y="108"/>
                    <a:pt x="6" y="108"/>
                    <a:pt x="6" y="107"/>
                  </a:cubicBezTo>
                  <a:cubicBezTo>
                    <a:pt x="6" y="81"/>
                    <a:pt x="6" y="81"/>
                    <a:pt x="6" y="81"/>
                  </a:cubicBezTo>
                  <a:cubicBezTo>
                    <a:pt x="6" y="81"/>
                    <a:pt x="7" y="81"/>
                    <a:pt x="7" y="81"/>
                  </a:cubicBezTo>
                  <a:cubicBezTo>
                    <a:pt x="7" y="82"/>
                    <a:pt x="8" y="82"/>
                    <a:pt x="9" y="83"/>
                  </a:cubicBezTo>
                  <a:cubicBezTo>
                    <a:pt x="21" y="92"/>
                    <a:pt x="45" y="99"/>
                    <a:pt x="80" y="99"/>
                  </a:cubicBezTo>
                  <a:cubicBezTo>
                    <a:pt x="115" y="99"/>
                    <a:pt x="139" y="92"/>
                    <a:pt x="151" y="83"/>
                  </a:cubicBezTo>
                  <a:cubicBezTo>
                    <a:pt x="152" y="82"/>
                    <a:pt x="153" y="82"/>
                    <a:pt x="154" y="81"/>
                  </a:cubicBezTo>
                  <a:cubicBezTo>
                    <a:pt x="154" y="93"/>
                    <a:pt x="154" y="93"/>
                    <a:pt x="154" y="93"/>
                  </a:cubicBezTo>
                  <a:cubicBezTo>
                    <a:pt x="154" y="95"/>
                    <a:pt x="155" y="96"/>
                    <a:pt x="157" y="96"/>
                  </a:cubicBezTo>
                  <a:cubicBezTo>
                    <a:pt x="159" y="96"/>
                    <a:pt x="160" y="95"/>
                    <a:pt x="160" y="93"/>
                  </a:cubicBezTo>
                  <a:cubicBezTo>
                    <a:pt x="160" y="29"/>
                    <a:pt x="160" y="29"/>
                    <a:pt x="160" y="29"/>
                  </a:cubicBezTo>
                  <a:cubicBezTo>
                    <a:pt x="160" y="28"/>
                    <a:pt x="160" y="28"/>
                    <a:pt x="160" y="27"/>
                  </a:cubicBezTo>
                  <a:cubicBezTo>
                    <a:pt x="156" y="13"/>
                    <a:pt x="128" y="0"/>
                    <a:pt x="80" y="0"/>
                  </a:cubicBezTo>
                  <a:cubicBezTo>
                    <a:pt x="32" y="0"/>
                    <a:pt x="4" y="13"/>
                    <a:pt x="0" y="27"/>
                  </a:cubicBezTo>
                  <a:cubicBezTo>
                    <a:pt x="0" y="28"/>
                    <a:pt x="0" y="28"/>
                    <a:pt x="0" y="29"/>
                  </a:cubicBezTo>
                  <a:cubicBezTo>
                    <a:pt x="0" y="147"/>
                    <a:pt x="0" y="147"/>
                    <a:pt x="0" y="147"/>
                  </a:cubicBezTo>
                  <a:cubicBezTo>
                    <a:pt x="0" y="148"/>
                    <a:pt x="0" y="148"/>
                    <a:pt x="0" y="149"/>
                  </a:cubicBezTo>
                  <a:cubicBezTo>
                    <a:pt x="4" y="164"/>
                    <a:pt x="35" y="173"/>
                    <a:pt x="64" y="175"/>
                  </a:cubicBezTo>
                  <a:cubicBezTo>
                    <a:pt x="64" y="175"/>
                    <a:pt x="64" y="175"/>
                    <a:pt x="64" y="175"/>
                  </a:cubicBezTo>
                  <a:cubicBezTo>
                    <a:pt x="66" y="175"/>
                    <a:pt x="67" y="174"/>
                    <a:pt x="67" y="172"/>
                  </a:cubicBezTo>
                  <a:cubicBezTo>
                    <a:pt x="67" y="171"/>
                    <a:pt x="66" y="169"/>
                    <a:pt x="64" y="169"/>
                  </a:cubicBezTo>
                  <a:cubicBezTo>
                    <a:pt x="29" y="166"/>
                    <a:pt x="8" y="155"/>
                    <a:pt x="7" y="147"/>
                  </a:cubicBezTo>
                  <a:cubicBezTo>
                    <a:pt x="6" y="146"/>
                    <a:pt x="6" y="146"/>
                    <a:pt x="6" y="146"/>
                  </a:cubicBezTo>
                  <a:cubicBezTo>
                    <a:pt x="6" y="119"/>
                    <a:pt x="6" y="119"/>
                    <a:pt x="6" y="119"/>
                  </a:cubicBezTo>
                  <a:cubicBezTo>
                    <a:pt x="6" y="119"/>
                    <a:pt x="7" y="119"/>
                    <a:pt x="7" y="120"/>
                  </a:cubicBezTo>
                  <a:cubicBezTo>
                    <a:pt x="7" y="120"/>
                    <a:pt x="8" y="121"/>
                    <a:pt x="9" y="121"/>
                  </a:cubicBezTo>
                  <a:cubicBezTo>
                    <a:pt x="21" y="130"/>
                    <a:pt x="45" y="138"/>
                    <a:pt x="80" y="138"/>
                  </a:cubicBezTo>
                  <a:cubicBezTo>
                    <a:pt x="82" y="138"/>
                    <a:pt x="83" y="136"/>
                    <a:pt x="83" y="134"/>
                  </a:cubicBezTo>
                  <a:cubicBezTo>
                    <a:pt x="83" y="133"/>
                    <a:pt x="82" y="131"/>
                    <a:pt x="80" y="131"/>
                  </a:cubicBezTo>
                  <a:close/>
                  <a:moveTo>
                    <a:pt x="8" y="44"/>
                  </a:moveTo>
                  <a:cubicBezTo>
                    <a:pt x="9" y="45"/>
                    <a:pt x="10" y="46"/>
                    <a:pt x="11" y="46"/>
                  </a:cubicBezTo>
                  <a:cubicBezTo>
                    <a:pt x="12" y="46"/>
                    <a:pt x="12" y="47"/>
                    <a:pt x="12" y="47"/>
                  </a:cubicBezTo>
                  <a:cubicBezTo>
                    <a:pt x="13" y="47"/>
                    <a:pt x="14" y="48"/>
                    <a:pt x="15" y="49"/>
                  </a:cubicBezTo>
                  <a:cubicBezTo>
                    <a:pt x="16" y="49"/>
                    <a:pt x="16" y="49"/>
                    <a:pt x="16" y="49"/>
                  </a:cubicBezTo>
                  <a:cubicBezTo>
                    <a:pt x="18" y="50"/>
                    <a:pt x="19" y="50"/>
                    <a:pt x="20" y="51"/>
                  </a:cubicBezTo>
                  <a:cubicBezTo>
                    <a:pt x="20" y="51"/>
                    <a:pt x="20" y="51"/>
                    <a:pt x="21" y="51"/>
                  </a:cubicBezTo>
                  <a:cubicBezTo>
                    <a:pt x="22" y="52"/>
                    <a:pt x="24" y="52"/>
                    <a:pt x="25" y="53"/>
                  </a:cubicBezTo>
                  <a:cubicBezTo>
                    <a:pt x="26" y="53"/>
                    <a:pt x="26" y="53"/>
                    <a:pt x="27" y="53"/>
                  </a:cubicBezTo>
                  <a:cubicBezTo>
                    <a:pt x="28" y="54"/>
                    <a:pt x="29" y="54"/>
                    <a:pt x="31" y="55"/>
                  </a:cubicBezTo>
                  <a:cubicBezTo>
                    <a:pt x="31" y="55"/>
                    <a:pt x="32" y="55"/>
                    <a:pt x="32" y="55"/>
                  </a:cubicBezTo>
                  <a:cubicBezTo>
                    <a:pt x="34" y="56"/>
                    <a:pt x="36" y="56"/>
                    <a:pt x="38" y="57"/>
                  </a:cubicBezTo>
                  <a:cubicBezTo>
                    <a:pt x="39" y="57"/>
                    <a:pt x="39" y="57"/>
                    <a:pt x="39" y="57"/>
                  </a:cubicBezTo>
                  <a:cubicBezTo>
                    <a:pt x="41" y="57"/>
                    <a:pt x="43" y="58"/>
                    <a:pt x="45" y="58"/>
                  </a:cubicBezTo>
                  <a:cubicBezTo>
                    <a:pt x="45" y="58"/>
                    <a:pt x="46" y="58"/>
                    <a:pt x="47" y="58"/>
                  </a:cubicBezTo>
                  <a:cubicBezTo>
                    <a:pt x="48" y="59"/>
                    <a:pt x="50" y="59"/>
                    <a:pt x="52" y="59"/>
                  </a:cubicBezTo>
                  <a:cubicBezTo>
                    <a:pt x="53" y="59"/>
                    <a:pt x="53" y="59"/>
                    <a:pt x="54" y="59"/>
                  </a:cubicBezTo>
                  <a:cubicBezTo>
                    <a:pt x="56" y="60"/>
                    <a:pt x="59" y="60"/>
                    <a:pt x="61" y="60"/>
                  </a:cubicBezTo>
                  <a:cubicBezTo>
                    <a:pt x="62" y="60"/>
                    <a:pt x="62" y="60"/>
                    <a:pt x="63" y="60"/>
                  </a:cubicBezTo>
                  <a:cubicBezTo>
                    <a:pt x="65" y="60"/>
                    <a:pt x="67" y="60"/>
                    <a:pt x="69" y="61"/>
                  </a:cubicBezTo>
                  <a:cubicBezTo>
                    <a:pt x="70" y="61"/>
                    <a:pt x="71" y="61"/>
                    <a:pt x="72" y="61"/>
                  </a:cubicBezTo>
                  <a:cubicBezTo>
                    <a:pt x="74" y="61"/>
                    <a:pt x="77" y="61"/>
                    <a:pt x="80" y="61"/>
                  </a:cubicBezTo>
                  <a:cubicBezTo>
                    <a:pt x="83" y="61"/>
                    <a:pt x="86" y="61"/>
                    <a:pt x="88" y="61"/>
                  </a:cubicBezTo>
                  <a:cubicBezTo>
                    <a:pt x="89" y="61"/>
                    <a:pt x="90" y="61"/>
                    <a:pt x="91" y="61"/>
                  </a:cubicBezTo>
                  <a:cubicBezTo>
                    <a:pt x="93" y="60"/>
                    <a:pt x="95" y="60"/>
                    <a:pt x="97" y="60"/>
                  </a:cubicBezTo>
                  <a:cubicBezTo>
                    <a:pt x="98" y="60"/>
                    <a:pt x="98" y="60"/>
                    <a:pt x="99" y="60"/>
                  </a:cubicBezTo>
                  <a:cubicBezTo>
                    <a:pt x="101" y="60"/>
                    <a:pt x="104" y="60"/>
                    <a:pt x="106" y="59"/>
                  </a:cubicBezTo>
                  <a:cubicBezTo>
                    <a:pt x="107" y="59"/>
                    <a:pt x="107" y="59"/>
                    <a:pt x="108" y="59"/>
                  </a:cubicBezTo>
                  <a:cubicBezTo>
                    <a:pt x="110" y="59"/>
                    <a:pt x="112" y="59"/>
                    <a:pt x="113" y="58"/>
                  </a:cubicBezTo>
                  <a:cubicBezTo>
                    <a:pt x="114" y="58"/>
                    <a:pt x="115" y="58"/>
                    <a:pt x="115" y="58"/>
                  </a:cubicBezTo>
                  <a:cubicBezTo>
                    <a:pt x="117" y="58"/>
                    <a:pt x="119" y="57"/>
                    <a:pt x="121" y="57"/>
                  </a:cubicBezTo>
                  <a:cubicBezTo>
                    <a:pt x="121" y="57"/>
                    <a:pt x="121" y="57"/>
                    <a:pt x="122" y="57"/>
                  </a:cubicBezTo>
                  <a:cubicBezTo>
                    <a:pt x="124" y="56"/>
                    <a:pt x="126" y="56"/>
                    <a:pt x="128" y="55"/>
                  </a:cubicBezTo>
                  <a:cubicBezTo>
                    <a:pt x="128" y="55"/>
                    <a:pt x="129" y="55"/>
                    <a:pt x="129" y="55"/>
                  </a:cubicBezTo>
                  <a:cubicBezTo>
                    <a:pt x="131" y="54"/>
                    <a:pt x="132" y="54"/>
                    <a:pt x="133" y="53"/>
                  </a:cubicBezTo>
                  <a:cubicBezTo>
                    <a:pt x="134" y="53"/>
                    <a:pt x="134" y="53"/>
                    <a:pt x="135" y="53"/>
                  </a:cubicBezTo>
                  <a:cubicBezTo>
                    <a:pt x="136" y="52"/>
                    <a:pt x="138" y="52"/>
                    <a:pt x="139" y="51"/>
                  </a:cubicBezTo>
                  <a:cubicBezTo>
                    <a:pt x="140" y="51"/>
                    <a:pt x="140" y="51"/>
                    <a:pt x="140" y="51"/>
                  </a:cubicBezTo>
                  <a:cubicBezTo>
                    <a:pt x="141" y="50"/>
                    <a:pt x="142" y="50"/>
                    <a:pt x="144" y="49"/>
                  </a:cubicBezTo>
                  <a:cubicBezTo>
                    <a:pt x="144" y="49"/>
                    <a:pt x="144" y="49"/>
                    <a:pt x="145" y="49"/>
                  </a:cubicBezTo>
                  <a:cubicBezTo>
                    <a:pt x="146" y="48"/>
                    <a:pt x="147" y="47"/>
                    <a:pt x="148" y="47"/>
                  </a:cubicBezTo>
                  <a:cubicBezTo>
                    <a:pt x="148" y="47"/>
                    <a:pt x="148" y="46"/>
                    <a:pt x="149" y="46"/>
                  </a:cubicBezTo>
                  <a:cubicBezTo>
                    <a:pt x="150" y="46"/>
                    <a:pt x="151" y="45"/>
                    <a:pt x="152" y="44"/>
                  </a:cubicBezTo>
                  <a:cubicBezTo>
                    <a:pt x="152" y="44"/>
                    <a:pt x="152" y="44"/>
                    <a:pt x="152" y="44"/>
                  </a:cubicBezTo>
                  <a:cubicBezTo>
                    <a:pt x="153" y="43"/>
                    <a:pt x="153" y="43"/>
                    <a:pt x="154" y="42"/>
                  </a:cubicBezTo>
                  <a:cubicBezTo>
                    <a:pt x="154" y="69"/>
                    <a:pt x="154" y="69"/>
                    <a:pt x="154" y="69"/>
                  </a:cubicBezTo>
                  <a:cubicBezTo>
                    <a:pt x="154" y="69"/>
                    <a:pt x="153" y="70"/>
                    <a:pt x="153" y="70"/>
                  </a:cubicBezTo>
                  <a:cubicBezTo>
                    <a:pt x="153" y="71"/>
                    <a:pt x="153" y="71"/>
                    <a:pt x="153" y="71"/>
                  </a:cubicBezTo>
                  <a:cubicBezTo>
                    <a:pt x="153" y="72"/>
                    <a:pt x="153" y="72"/>
                    <a:pt x="153" y="72"/>
                  </a:cubicBezTo>
                  <a:cubicBezTo>
                    <a:pt x="152" y="73"/>
                    <a:pt x="152" y="73"/>
                    <a:pt x="152" y="74"/>
                  </a:cubicBezTo>
                  <a:cubicBezTo>
                    <a:pt x="152" y="74"/>
                    <a:pt x="151" y="74"/>
                    <a:pt x="151" y="74"/>
                  </a:cubicBezTo>
                  <a:cubicBezTo>
                    <a:pt x="151" y="75"/>
                    <a:pt x="150" y="75"/>
                    <a:pt x="150" y="76"/>
                  </a:cubicBezTo>
                  <a:cubicBezTo>
                    <a:pt x="150" y="76"/>
                    <a:pt x="149" y="76"/>
                    <a:pt x="149" y="76"/>
                  </a:cubicBezTo>
                  <a:cubicBezTo>
                    <a:pt x="149" y="77"/>
                    <a:pt x="148" y="77"/>
                    <a:pt x="147" y="78"/>
                  </a:cubicBezTo>
                  <a:cubicBezTo>
                    <a:pt x="147" y="78"/>
                    <a:pt x="147" y="78"/>
                    <a:pt x="147" y="78"/>
                  </a:cubicBezTo>
                  <a:cubicBezTo>
                    <a:pt x="146" y="79"/>
                    <a:pt x="145" y="79"/>
                    <a:pt x="144" y="80"/>
                  </a:cubicBezTo>
                  <a:cubicBezTo>
                    <a:pt x="144" y="80"/>
                    <a:pt x="144" y="80"/>
                    <a:pt x="144" y="80"/>
                  </a:cubicBezTo>
                  <a:cubicBezTo>
                    <a:pt x="143" y="81"/>
                    <a:pt x="142" y="81"/>
                    <a:pt x="141" y="82"/>
                  </a:cubicBezTo>
                  <a:cubicBezTo>
                    <a:pt x="140" y="82"/>
                    <a:pt x="140" y="82"/>
                    <a:pt x="140" y="82"/>
                  </a:cubicBezTo>
                  <a:cubicBezTo>
                    <a:pt x="139" y="83"/>
                    <a:pt x="138" y="83"/>
                    <a:pt x="136" y="84"/>
                  </a:cubicBezTo>
                  <a:cubicBezTo>
                    <a:pt x="136" y="84"/>
                    <a:pt x="136" y="84"/>
                    <a:pt x="136" y="84"/>
                  </a:cubicBezTo>
                  <a:cubicBezTo>
                    <a:pt x="129" y="87"/>
                    <a:pt x="120" y="89"/>
                    <a:pt x="109" y="91"/>
                  </a:cubicBezTo>
                  <a:cubicBezTo>
                    <a:pt x="109" y="91"/>
                    <a:pt x="109" y="91"/>
                    <a:pt x="109" y="91"/>
                  </a:cubicBezTo>
                  <a:cubicBezTo>
                    <a:pt x="107" y="91"/>
                    <a:pt x="104" y="91"/>
                    <a:pt x="102" y="92"/>
                  </a:cubicBezTo>
                  <a:cubicBezTo>
                    <a:pt x="102" y="92"/>
                    <a:pt x="101" y="92"/>
                    <a:pt x="101" y="92"/>
                  </a:cubicBezTo>
                  <a:cubicBezTo>
                    <a:pt x="99" y="92"/>
                    <a:pt x="97" y="92"/>
                    <a:pt x="95" y="92"/>
                  </a:cubicBezTo>
                  <a:cubicBezTo>
                    <a:pt x="94" y="92"/>
                    <a:pt x="93" y="92"/>
                    <a:pt x="92" y="92"/>
                  </a:cubicBezTo>
                  <a:cubicBezTo>
                    <a:pt x="91" y="92"/>
                    <a:pt x="89" y="93"/>
                    <a:pt x="88" y="93"/>
                  </a:cubicBezTo>
                  <a:cubicBezTo>
                    <a:pt x="85" y="93"/>
                    <a:pt x="83" y="93"/>
                    <a:pt x="80" y="93"/>
                  </a:cubicBezTo>
                  <a:cubicBezTo>
                    <a:pt x="77" y="93"/>
                    <a:pt x="75" y="93"/>
                    <a:pt x="72" y="93"/>
                  </a:cubicBezTo>
                  <a:cubicBezTo>
                    <a:pt x="71" y="93"/>
                    <a:pt x="69" y="92"/>
                    <a:pt x="68" y="92"/>
                  </a:cubicBezTo>
                  <a:cubicBezTo>
                    <a:pt x="67" y="92"/>
                    <a:pt x="66" y="92"/>
                    <a:pt x="65" y="92"/>
                  </a:cubicBezTo>
                  <a:cubicBezTo>
                    <a:pt x="63" y="92"/>
                    <a:pt x="61" y="92"/>
                    <a:pt x="59" y="92"/>
                  </a:cubicBezTo>
                  <a:cubicBezTo>
                    <a:pt x="59" y="92"/>
                    <a:pt x="58" y="92"/>
                    <a:pt x="58" y="92"/>
                  </a:cubicBezTo>
                  <a:cubicBezTo>
                    <a:pt x="56" y="91"/>
                    <a:pt x="53" y="91"/>
                    <a:pt x="51" y="91"/>
                  </a:cubicBezTo>
                  <a:cubicBezTo>
                    <a:pt x="51" y="91"/>
                    <a:pt x="51" y="91"/>
                    <a:pt x="51" y="91"/>
                  </a:cubicBezTo>
                  <a:cubicBezTo>
                    <a:pt x="40" y="89"/>
                    <a:pt x="31" y="87"/>
                    <a:pt x="24" y="84"/>
                  </a:cubicBezTo>
                  <a:cubicBezTo>
                    <a:pt x="24" y="84"/>
                    <a:pt x="24" y="84"/>
                    <a:pt x="24" y="84"/>
                  </a:cubicBezTo>
                  <a:cubicBezTo>
                    <a:pt x="22" y="83"/>
                    <a:pt x="21" y="83"/>
                    <a:pt x="20" y="82"/>
                  </a:cubicBezTo>
                  <a:cubicBezTo>
                    <a:pt x="20" y="82"/>
                    <a:pt x="20" y="82"/>
                    <a:pt x="19" y="82"/>
                  </a:cubicBezTo>
                  <a:cubicBezTo>
                    <a:pt x="18" y="81"/>
                    <a:pt x="17" y="81"/>
                    <a:pt x="16" y="80"/>
                  </a:cubicBezTo>
                  <a:cubicBezTo>
                    <a:pt x="16" y="80"/>
                    <a:pt x="16" y="80"/>
                    <a:pt x="16" y="80"/>
                  </a:cubicBezTo>
                  <a:cubicBezTo>
                    <a:pt x="15" y="79"/>
                    <a:pt x="14" y="79"/>
                    <a:pt x="13" y="78"/>
                  </a:cubicBezTo>
                  <a:cubicBezTo>
                    <a:pt x="13" y="78"/>
                    <a:pt x="13" y="78"/>
                    <a:pt x="13" y="78"/>
                  </a:cubicBezTo>
                  <a:cubicBezTo>
                    <a:pt x="12" y="77"/>
                    <a:pt x="11" y="77"/>
                    <a:pt x="11" y="76"/>
                  </a:cubicBezTo>
                  <a:cubicBezTo>
                    <a:pt x="11" y="76"/>
                    <a:pt x="10" y="76"/>
                    <a:pt x="10" y="76"/>
                  </a:cubicBezTo>
                  <a:cubicBezTo>
                    <a:pt x="10" y="75"/>
                    <a:pt x="9" y="75"/>
                    <a:pt x="9" y="74"/>
                  </a:cubicBezTo>
                  <a:cubicBezTo>
                    <a:pt x="9" y="74"/>
                    <a:pt x="8" y="74"/>
                    <a:pt x="8" y="74"/>
                  </a:cubicBezTo>
                  <a:cubicBezTo>
                    <a:pt x="8" y="73"/>
                    <a:pt x="8" y="73"/>
                    <a:pt x="7" y="72"/>
                  </a:cubicBezTo>
                  <a:cubicBezTo>
                    <a:pt x="7" y="72"/>
                    <a:pt x="7" y="72"/>
                    <a:pt x="7" y="71"/>
                  </a:cubicBezTo>
                  <a:cubicBezTo>
                    <a:pt x="7" y="71"/>
                    <a:pt x="7" y="71"/>
                    <a:pt x="7" y="70"/>
                  </a:cubicBezTo>
                  <a:cubicBezTo>
                    <a:pt x="7" y="70"/>
                    <a:pt x="6" y="69"/>
                    <a:pt x="6" y="69"/>
                  </a:cubicBezTo>
                  <a:cubicBezTo>
                    <a:pt x="6" y="42"/>
                    <a:pt x="6" y="42"/>
                    <a:pt x="6" y="42"/>
                  </a:cubicBezTo>
                  <a:cubicBezTo>
                    <a:pt x="7" y="43"/>
                    <a:pt x="7" y="43"/>
                    <a:pt x="8" y="44"/>
                  </a:cubicBezTo>
                  <a:cubicBezTo>
                    <a:pt x="8" y="44"/>
                    <a:pt x="8" y="44"/>
                    <a:pt x="8" y="44"/>
                  </a:cubicBezTo>
                  <a:close/>
                  <a:moveTo>
                    <a:pt x="80" y="6"/>
                  </a:moveTo>
                  <a:cubicBezTo>
                    <a:pt x="123" y="6"/>
                    <a:pt x="154" y="19"/>
                    <a:pt x="154" y="30"/>
                  </a:cubicBezTo>
                  <a:cubicBezTo>
                    <a:pt x="154" y="42"/>
                    <a:pt x="123" y="54"/>
                    <a:pt x="80" y="54"/>
                  </a:cubicBezTo>
                  <a:cubicBezTo>
                    <a:pt x="37" y="54"/>
                    <a:pt x="6" y="42"/>
                    <a:pt x="6" y="30"/>
                  </a:cubicBezTo>
                  <a:cubicBezTo>
                    <a:pt x="6" y="19"/>
                    <a:pt x="37" y="6"/>
                    <a:pt x="80" y="6"/>
                  </a:cubicBezTo>
                  <a:close/>
                  <a:moveTo>
                    <a:pt x="80" y="6"/>
                  </a:moveTo>
                  <a:cubicBezTo>
                    <a:pt x="80" y="6"/>
                    <a:pt x="80" y="6"/>
                    <a:pt x="80" y="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grpSp>
      <p:sp>
        <p:nvSpPr>
          <p:cNvPr id="268" name="Freeform 11">
            <a:extLst>
              <a:ext uri="{FF2B5EF4-FFF2-40B4-BE49-F238E27FC236}">
                <a16:creationId xmlns:a16="http://schemas.microsoft.com/office/drawing/2014/main" id="{C0F11368-02D8-0CA1-534F-95AC6A7B49DA}"/>
              </a:ext>
            </a:extLst>
          </p:cNvPr>
          <p:cNvSpPr>
            <a:spLocks noEditPoints="1"/>
          </p:cNvSpPr>
          <p:nvPr/>
        </p:nvSpPr>
        <p:spPr bwMode="auto">
          <a:xfrm>
            <a:off x="3567609" y="1358890"/>
            <a:ext cx="377918" cy="372490"/>
          </a:xfrm>
          <a:custGeom>
            <a:avLst/>
            <a:gdLst>
              <a:gd name="T0" fmla="*/ 1404 w 1689"/>
              <a:gd name="T1" fmla="*/ 1044 h 1640"/>
              <a:gd name="T2" fmla="*/ 1001 w 1689"/>
              <a:gd name="T3" fmla="*/ 780 h 1640"/>
              <a:gd name="T4" fmla="*/ 1474 w 1689"/>
              <a:gd name="T5" fmla="*/ 397 h 1640"/>
              <a:gd name="T6" fmla="*/ 1630 w 1689"/>
              <a:gd name="T7" fmla="*/ 164 h 1640"/>
              <a:gd name="T8" fmla="*/ 1513 w 1689"/>
              <a:gd name="T9" fmla="*/ 13 h 1640"/>
              <a:gd name="T10" fmla="*/ 1256 w 1689"/>
              <a:gd name="T11" fmla="*/ 138 h 1640"/>
              <a:gd name="T12" fmla="*/ 1238 w 1689"/>
              <a:gd name="T13" fmla="*/ 254 h 1640"/>
              <a:gd name="T14" fmla="*/ 595 w 1689"/>
              <a:gd name="T15" fmla="*/ 373 h 1640"/>
              <a:gd name="T16" fmla="*/ 144 w 1689"/>
              <a:gd name="T17" fmla="*/ 80 h 1640"/>
              <a:gd name="T18" fmla="*/ 146 w 1689"/>
              <a:gd name="T19" fmla="*/ 134 h 1640"/>
              <a:gd name="T20" fmla="*/ 304 w 1689"/>
              <a:gd name="T21" fmla="*/ 334 h 1640"/>
              <a:gd name="T22" fmla="*/ 61 w 1689"/>
              <a:gd name="T23" fmla="*/ 313 h 1640"/>
              <a:gd name="T24" fmla="*/ 14 w 1689"/>
              <a:gd name="T25" fmla="*/ 343 h 1640"/>
              <a:gd name="T26" fmla="*/ 421 w 1689"/>
              <a:gd name="T27" fmla="*/ 594 h 1640"/>
              <a:gd name="T28" fmla="*/ 556 w 1689"/>
              <a:gd name="T29" fmla="*/ 935 h 1640"/>
              <a:gd name="T30" fmla="*/ 441 w 1689"/>
              <a:gd name="T31" fmla="*/ 912 h 1640"/>
              <a:gd name="T32" fmla="*/ 405 w 1689"/>
              <a:gd name="T33" fmla="*/ 1032 h 1640"/>
              <a:gd name="T34" fmla="*/ 27 w 1689"/>
              <a:gd name="T35" fmla="*/ 1410 h 1640"/>
              <a:gd name="T36" fmla="*/ 27 w 1689"/>
              <a:gd name="T37" fmla="*/ 1502 h 1640"/>
              <a:gd name="T38" fmla="*/ 225 w 1689"/>
              <a:gd name="T39" fmla="*/ 1613 h 1640"/>
              <a:gd name="T40" fmla="*/ 606 w 1689"/>
              <a:gd name="T41" fmla="*/ 1232 h 1640"/>
              <a:gd name="T42" fmla="*/ 694 w 1689"/>
              <a:gd name="T43" fmla="*/ 1228 h 1640"/>
              <a:gd name="T44" fmla="*/ 728 w 1689"/>
              <a:gd name="T45" fmla="*/ 1106 h 1640"/>
              <a:gd name="T46" fmla="*/ 703 w 1689"/>
              <a:gd name="T47" fmla="*/ 1081 h 1640"/>
              <a:gd name="T48" fmla="*/ 1116 w 1689"/>
              <a:gd name="T49" fmla="*/ 1286 h 1640"/>
              <a:gd name="T50" fmla="*/ 1613 w 1689"/>
              <a:gd name="T51" fmla="*/ 1540 h 1640"/>
              <a:gd name="T52" fmla="*/ 1599 w 1689"/>
              <a:gd name="T53" fmla="*/ 1488 h 1640"/>
              <a:gd name="T54" fmla="*/ 1381 w 1689"/>
              <a:gd name="T55" fmla="*/ 1403 h 1640"/>
              <a:gd name="T56" fmla="*/ 1470 w 1689"/>
              <a:gd name="T57" fmla="*/ 1251 h 1640"/>
              <a:gd name="T58" fmla="*/ 1657 w 1689"/>
              <a:gd name="T59" fmla="*/ 1299 h 1640"/>
              <a:gd name="T60" fmla="*/ 1685 w 1689"/>
              <a:gd name="T61" fmla="*/ 1252 h 1640"/>
              <a:gd name="T62" fmla="*/ 1292 w 1689"/>
              <a:gd name="T63" fmla="*/ 290 h 1640"/>
              <a:gd name="T64" fmla="*/ 1303 w 1689"/>
              <a:gd name="T65" fmla="*/ 183 h 1640"/>
              <a:gd name="T66" fmla="*/ 1562 w 1689"/>
              <a:gd name="T67" fmla="*/ 152 h 1640"/>
              <a:gd name="T68" fmla="*/ 1369 w 1689"/>
              <a:gd name="T69" fmla="*/ 336 h 1640"/>
              <a:gd name="T70" fmla="*/ 957 w 1689"/>
              <a:gd name="T71" fmla="*/ 735 h 1640"/>
              <a:gd name="T72" fmla="*/ 1292 w 1689"/>
              <a:gd name="T73" fmla="*/ 290 h 1640"/>
              <a:gd name="T74" fmla="*/ 182 w 1689"/>
              <a:gd name="T75" fmla="*/ 1565 h 1640"/>
              <a:gd name="T76" fmla="*/ 452 w 1689"/>
              <a:gd name="T77" fmla="*/ 1076 h 1640"/>
              <a:gd name="T78" fmla="*/ 560 w 1689"/>
              <a:gd name="T79" fmla="*/ 1186 h 1640"/>
              <a:gd name="T80" fmla="*/ 650 w 1689"/>
              <a:gd name="T81" fmla="*/ 1181 h 1640"/>
              <a:gd name="T82" fmla="*/ 608 w 1689"/>
              <a:gd name="T83" fmla="*/ 1139 h 1640"/>
              <a:gd name="T84" fmla="*/ 591 w 1689"/>
              <a:gd name="T85" fmla="*/ 1122 h 1640"/>
              <a:gd name="T86" fmla="*/ 489 w 1689"/>
              <a:gd name="T87" fmla="*/ 955 h 1640"/>
              <a:gd name="T88" fmla="*/ 650 w 1689"/>
              <a:gd name="T89" fmla="*/ 1181 h 1640"/>
              <a:gd name="T90" fmla="*/ 601 w 1689"/>
              <a:gd name="T91" fmla="*/ 980 h 1640"/>
              <a:gd name="T92" fmla="*/ 759 w 1689"/>
              <a:gd name="T93" fmla="*/ 932 h 1640"/>
              <a:gd name="T94" fmla="*/ 1485 w 1689"/>
              <a:gd name="T95" fmla="*/ 1189 h 1640"/>
              <a:gd name="T96" fmla="*/ 1315 w 1689"/>
              <a:gd name="T97" fmla="*/ 1311 h 1640"/>
              <a:gd name="T98" fmla="*/ 1402 w 1689"/>
              <a:gd name="T99" fmla="*/ 1501 h 1640"/>
              <a:gd name="T100" fmla="*/ 1207 w 1689"/>
              <a:gd name="T101" fmla="*/ 1454 h 1640"/>
              <a:gd name="T102" fmla="*/ 1172 w 1689"/>
              <a:gd name="T103" fmla="*/ 1254 h 1640"/>
              <a:gd name="T104" fmla="*/ 413 w 1689"/>
              <a:gd name="T105" fmla="*/ 528 h 1640"/>
              <a:gd name="T106" fmla="*/ 91 w 1689"/>
              <a:gd name="T107" fmla="*/ 404 h 1640"/>
              <a:gd name="T108" fmla="*/ 220 w 1689"/>
              <a:gd name="T109" fmla="*/ 459 h 1640"/>
              <a:gd name="T110" fmla="*/ 321 w 1689"/>
              <a:gd name="T111" fmla="*/ 162 h 1640"/>
              <a:gd name="T112" fmla="*/ 521 w 1689"/>
              <a:gd name="T113" fmla="*/ 248 h 1640"/>
              <a:gd name="T114" fmla="*/ 537 w 1689"/>
              <a:gd name="T115" fmla="*/ 406 h 1640"/>
              <a:gd name="T116" fmla="*/ 1297 w 1689"/>
              <a:gd name="T117" fmla="*/ 1134 h 1640"/>
              <a:gd name="T118" fmla="*/ 1601 w 1689"/>
              <a:gd name="T119" fmla="*/ 1220 h 1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89" h="1640">
                <a:moveTo>
                  <a:pt x="1612" y="1130"/>
                </a:moveTo>
                <a:cubicBezTo>
                  <a:pt x="1557" y="1075"/>
                  <a:pt x="1482" y="1044"/>
                  <a:pt x="1404" y="1044"/>
                </a:cubicBezTo>
                <a:cubicBezTo>
                  <a:pt x="1365" y="1044"/>
                  <a:pt x="1325" y="1052"/>
                  <a:pt x="1289" y="1068"/>
                </a:cubicBezTo>
                <a:cubicBezTo>
                  <a:pt x="1001" y="780"/>
                  <a:pt x="1001" y="780"/>
                  <a:pt x="1001" y="780"/>
                </a:cubicBezTo>
                <a:cubicBezTo>
                  <a:pt x="1383" y="400"/>
                  <a:pt x="1383" y="400"/>
                  <a:pt x="1383" y="400"/>
                </a:cubicBezTo>
                <a:cubicBezTo>
                  <a:pt x="1474" y="397"/>
                  <a:pt x="1474" y="397"/>
                  <a:pt x="1474" y="397"/>
                </a:cubicBezTo>
                <a:cubicBezTo>
                  <a:pt x="1485" y="397"/>
                  <a:pt x="1495" y="391"/>
                  <a:pt x="1500" y="382"/>
                </a:cubicBezTo>
                <a:cubicBezTo>
                  <a:pt x="1630" y="164"/>
                  <a:pt x="1630" y="164"/>
                  <a:pt x="1630" y="164"/>
                </a:cubicBezTo>
                <a:cubicBezTo>
                  <a:pt x="1638" y="151"/>
                  <a:pt x="1636" y="135"/>
                  <a:pt x="1625" y="125"/>
                </a:cubicBezTo>
                <a:cubicBezTo>
                  <a:pt x="1513" y="13"/>
                  <a:pt x="1513" y="13"/>
                  <a:pt x="1513" y="13"/>
                </a:cubicBezTo>
                <a:cubicBezTo>
                  <a:pt x="1503" y="2"/>
                  <a:pt x="1487" y="0"/>
                  <a:pt x="1474" y="8"/>
                </a:cubicBezTo>
                <a:cubicBezTo>
                  <a:pt x="1256" y="138"/>
                  <a:pt x="1256" y="138"/>
                  <a:pt x="1256" y="138"/>
                </a:cubicBezTo>
                <a:cubicBezTo>
                  <a:pt x="1247" y="143"/>
                  <a:pt x="1241" y="153"/>
                  <a:pt x="1241" y="164"/>
                </a:cubicBezTo>
                <a:cubicBezTo>
                  <a:pt x="1238" y="254"/>
                  <a:pt x="1238" y="254"/>
                  <a:pt x="1238" y="254"/>
                </a:cubicBezTo>
                <a:cubicBezTo>
                  <a:pt x="857" y="635"/>
                  <a:pt x="857" y="635"/>
                  <a:pt x="857" y="635"/>
                </a:cubicBezTo>
                <a:cubicBezTo>
                  <a:pt x="595" y="373"/>
                  <a:pt x="595" y="373"/>
                  <a:pt x="595" y="373"/>
                </a:cubicBezTo>
                <a:cubicBezTo>
                  <a:pt x="622" y="214"/>
                  <a:pt x="515" y="63"/>
                  <a:pt x="356" y="35"/>
                </a:cubicBezTo>
                <a:cubicBezTo>
                  <a:pt x="282" y="22"/>
                  <a:pt x="206" y="38"/>
                  <a:pt x="144" y="80"/>
                </a:cubicBezTo>
                <a:cubicBezTo>
                  <a:pt x="129" y="90"/>
                  <a:pt x="126" y="110"/>
                  <a:pt x="135" y="124"/>
                </a:cubicBezTo>
                <a:cubicBezTo>
                  <a:pt x="138" y="129"/>
                  <a:pt x="142" y="132"/>
                  <a:pt x="146" y="134"/>
                </a:cubicBezTo>
                <a:cubicBezTo>
                  <a:pt x="292" y="215"/>
                  <a:pt x="292" y="215"/>
                  <a:pt x="292" y="215"/>
                </a:cubicBezTo>
                <a:cubicBezTo>
                  <a:pt x="324" y="234"/>
                  <a:pt x="330" y="288"/>
                  <a:pt x="304" y="334"/>
                </a:cubicBezTo>
                <a:cubicBezTo>
                  <a:pt x="278" y="380"/>
                  <a:pt x="228" y="404"/>
                  <a:pt x="196" y="386"/>
                </a:cubicBezTo>
                <a:cubicBezTo>
                  <a:pt x="61" y="313"/>
                  <a:pt x="61" y="313"/>
                  <a:pt x="61" y="313"/>
                </a:cubicBezTo>
                <a:cubicBezTo>
                  <a:pt x="46" y="304"/>
                  <a:pt x="26" y="310"/>
                  <a:pt x="18" y="326"/>
                </a:cubicBezTo>
                <a:cubicBezTo>
                  <a:pt x="15" y="331"/>
                  <a:pt x="14" y="337"/>
                  <a:pt x="14" y="343"/>
                </a:cubicBezTo>
                <a:cubicBezTo>
                  <a:pt x="24" y="504"/>
                  <a:pt x="163" y="627"/>
                  <a:pt x="325" y="617"/>
                </a:cubicBezTo>
                <a:cubicBezTo>
                  <a:pt x="358" y="615"/>
                  <a:pt x="391" y="607"/>
                  <a:pt x="421" y="594"/>
                </a:cubicBezTo>
                <a:cubicBezTo>
                  <a:pt x="660" y="832"/>
                  <a:pt x="660" y="832"/>
                  <a:pt x="660" y="832"/>
                </a:cubicBezTo>
                <a:cubicBezTo>
                  <a:pt x="556" y="935"/>
                  <a:pt x="556" y="935"/>
                  <a:pt x="556" y="935"/>
                </a:cubicBezTo>
                <a:cubicBezTo>
                  <a:pt x="533" y="912"/>
                  <a:pt x="533" y="912"/>
                  <a:pt x="533" y="912"/>
                </a:cubicBezTo>
                <a:cubicBezTo>
                  <a:pt x="507" y="887"/>
                  <a:pt x="467" y="887"/>
                  <a:pt x="441" y="912"/>
                </a:cubicBezTo>
                <a:cubicBezTo>
                  <a:pt x="409" y="944"/>
                  <a:pt x="409" y="944"/>
                  <a:pt x="409" y="944"/>
                </a:cubicBezTo>
                <a:cubicBezTo>
                  <a:pt x="384" y="968"/>
                  <a:pt x="383" y="1006"/>
                  <a:pt x="405" y="1032"/>
                </a:cubicBezTo>
                <a:cubicBezTo>
                  <a:pt x="405" y="1032"/>
                  <a:pt x="405" y="1032"/>
                  <a:pt x="405" y="1032"/>
                </a:cubicBezTo>
                <a:cubicBezTo>
                  <a:pt x="27" y="1410"/>
                  <a:pt x="27" y="1410"/>
                  <a:pt x="27" y="1410"/>
                </a:cubicBezTo>
                <a:cubicBezTo>
                  <a:pt x="1" y="1434"/>
                  <a:pt x="0" y="1475"/>
                  <a:pt x="25" y="1500"/>
                </a:cubicBezTo>
                <a:cubicBezTo>
                  <a:pt x="25" y="1501"/>
                  <a:pt x="26" y="1502"/>
                  <a:pt x="27" y="1502"/>
                </a:cubicBezTo>
                <a:cubicBezTo>
                  <a:pt x="135" y="1611"/>
                  <a:pt x="135" y="1611"/>
                  <a:pt x="135" y="1611"/>
                </a:cubicBezTo>
                <a:cubicBezTo>
                  <a:pt x="159" y="1636"/>
                  <a:pt x="200" y="1637"/>
                  <a:pt x="225" y="1613"/>
                </a:cubicBezTo>
                <a:cubicBezTo>
                  <a:pt x="226" y="1612"/>
                  <a:pt x="227" y="1611"/>
                  <a:pt x="227" y="1611"/>
                </a:cubicBezTo>
                <a:cubicBezTo>
                  <a:pt x="606" y="1232"/>
                  <a:pt x="606" y="1232"/>
                  <a:pt x="606" y="1232"/>
                </a:cubicBezTo>
                <a:cubicBezTo>
                  <a:pt x="606" y="1232"/>
                  <a:pt x="606" y="1232"/>
                  <a:pt x="606" y="1232"/>
                </a:cubicBezTo>
                <a:cubicBezTo>
                  <a:pt x="632" y="1254"/>
                  <a:pt x="670" y="1253"/>
                  <a:pt x="694" y="1228"/>
                </a:cubicBezTo>
                <a:cubicBezTo>
                  <a:pt x="726" y="1196"/>
                  <a:pt x="726" y="1196"/>
                  <a:pt x="726" y="1196"/>
                </a:cubicBezTo>
                <a:cubicBezTo>
                  <a:pt x="752" y="1172"/>
                  <a:pt x="753" y="1132"/>
                  <a:pt x="728" y="1106"/>
                </a:cubicBezTo>
                <a:cubicBezTo>
                  <a:pt x="727" y="1105"/>
                  <a:pt x="727" y="1105"/>
                  <a:pt x="726" y="1104"/>
                </a:cubicBezTo>
                <a:cubicBezTo>
                  <a:pt x="703" y="1081"/>
                  <a:pt x="703" y="1081"/>
                  <a:pt x="703" y="1081"/>
                </a:cubicBezTo>
                <a:cubicBezTo>
                  <a:pt x="805" y="976"/>
                  <a:pt x="805" y="976"/>
                  <a:pt x="805" y="976"/>
                </a:cubicBezTo>
                <a:cubicBezTo>
                  <a:pt x="1116" y="1286"/>
                  <a:pt x="1116" y="1286"/>
                  <a:pt x="1116" y="1286"/>
                </a:cubicBezTo>
                <a:cubicBezTo>
                  <a:pt x="1089" y="1446"/>
                  <a:pt x="1196" y="1597"/>
                  <a:pt x="1356" y="1624"/>
                </a:cubicBezTo>
                <a:cubicBezTo>
                  <a:pt x="1450" y="1640"/>
                  <a:pt x="1546" y="1608"/>
                  <a:pt x="1613" y="1540"/>
                </a:cubicBezTo>
                <a:cubicBezTo>
                  <a:pt x="1625" y="1527"/>
                  <a:pt x="1624" y="1506"/>
                  <a:pt x="1611" y="1495"/>
                </a:cubicBezTo>
                <a:cubicBezTo>
                  <a:pt x="1607" y="1492"/>
                  <a:pt x="1603" y="1489"/>
                  <a:pt x="1599" y="1488"/>
                </a:cubicBezTo>
                <a:cubicBezTo>
                  <a:pt x="1419" y="1440"/>
                  <a:pt x="1419" y="1440"/>
                  <a:pt x="1419" y="1440"/>
                </a:cubicBezTo>
                <a:cubicBezTo>
                  <a:pt x="1401" y="1434"/>
                  <a:pt x="1387" y="1420"/>
                  <a:pt x="1381" y="1403"/>
                </a:cubicBezTo>
                <a:cubicBezTo>
                  <a:pt x="1372" y="1379"/>
                  <a:pt x="1371" y="1352"/>
                  <a:pt x="1378" y="1327"/>
                </a:cubicBezTo>
                <a:cubicBezTo>
                  <a:pt x="1391" y="1277"/>
                  <a:pt x="1434" y="1241"/>
                  <a:pt x="1470" y="1251"/>
                </a:cubicBezTo>
                <a:cubicBezTo>
                  <a:pt x="1648" y="1299"/>
                  <a:pt x="1648" y="1299"/>
                  <a:pt x="1648" y="1299"/>
                </a:cubicBezTo>
                <a:cubicBezTo>
                  <a:pt x="1651" y="1299"/>
                  <a:pt x="1654" y="1299"/>
                  <a:pt x="1657" y="1299"/>
                </a:cubicBezTo>
                <a:cubicBezTo>
                  <a:pt x="1674" y="1299"/>
                  <a:pt x="1689" y="1285"/>
                  <a:pt x="1689" y="1267"/>
                </a:cubicBezTo>
                <a:cubicBezTo>
                  <a:pt x="1689" y="1262"/>
                  <a:pt x="1688" y="1257"/>
                  <a:pt x="1685" y="1252"/>
                </a:cubicBezTo>
                <a:cubicBezTo>
                  <a:pt x="1671" y="1206"/>
                  <a:pt x="1646" y="1164"/>
                  <a:pt x="1612" y="1130"/>
                </a:cubicBezTo>
                <a:close/>
                <a:moveTo>
                  <a:pt x="1292" y="290"/>
                </a:moveTo>
                <a:cubicBezTo>
                  <a:pt x="1297" y="284"/>
                  <a:pt x="1301" y="276"/>
                  <a:pt x="1301" y="268"/>
                </a:cubicBezTo>
                <a:cubicBezTo>
                  <a:pt x="1303" y="183"/>
                  <a:pt x="1303" y="183"/>
                  <a:pt x="1303" y="183"/>
                </a:cubicBezTo>
                <a:cubicBezTo>
                  <a:pt x="1485" y="75"/>
                  <a:pt x="1485" y="75"/>
                  <a:pt x="1485" y="75"/>
                </a:cubicBezTo>
                <a:cubicBezTo>
                  <a:pt x="1562" y="152"/>
                  <a:pt x="1562" y="152"/>
                  <a:pt x="1562" y="152"/>
                </a:cubicBezTo>
                <a:cubicBezTo>
                  <a:pt x="1456" y="333"/>
                  <a:pt x="1456" y="333"/>
                  <a:pt x="1456" y="333"/>
                </a:cubicBezTo>
                <a:cubicBezTo>
                  <a:pt x="1369" y="336"/>
                  <a:pt x="1369" y="336"/>
                  <a:pt x="1369" y="336"/>
                </a:cubicBezTo>
                <a:cubicBezTo>
                  <a:pt x="1361" y="336"/>
                  <a:pt x="1353" y="340"/>
                  <a:pt x="1347" y="345"/>
                </a:cubicBezTo>
                <a:cubicBezTo>
                  <a:pt x="957" y="735"/>
                  <a:pt x="957" y="735"/>
                  <a:pt x="957" y="735"/>
                </a:cubicBezTo>
                <a:cubicBezTo>
                  <a:pt x="902" y="680"/>
                  <a:pt x="902" y="680"/>
                  <a:pt x="902" y="680"/>
                </a:cubicBezTo>
                <a:lnTo>
                  <a:pt x="1292" y="290"/>
                </a:lnTo>
                <a:close/>
                <a:moveTo>
                  <a:pt x="182" y="1565"/>
                </a:moveTo>
                <a:cubicBezTo>
                  <a:pt x="182" y="1565"/>
                  <a:pt x="182" y="1565"/>
                  <a:pt x="182" y="1565"/>
                </a:cubicBezTo>
                <a:cubicBezTo>
                  <a:pt x="72" y="1456"/>
                  <a:pt x="72" y="1456"/>
                  <a:pt x="72" y="1456"/>
                </a:cubicBezTo>
                <a:cubicBezTo>
                  <a:pt x="452" y="1076"/>
                  <a:pt x="452" y="1076"/>
                  <a:pt x="452" y="1076"/>
                </a:cubicBezTo>
                <a:cubicBezTo>
                  <a:pt x="508" y="1132"/>
                  <a:pt x="508" y="1132"/>
                  <a:pt x="508" y="1132"/>
                </a:cubicBezTo>
                <a:cubicBezTo>
                  <a:pt x="560" y="1186"/>
                  <a:pt x="560" y="1186"/>
                  <a:pt x="560" y="1186"/>
                </a:cubicBezTo>
                <a:lnTo>
                  <a:pt x="182" y="1565"/>
                </a:lnTo>
                <a:close/>
                <a:moveTo>
                  <a:pt x="650" y="1181"/>
                </a:moveTo>
                <a:cubicBezTo>
                  <a:pt x="650" y="1181"/>
                  <a:pt x="650" y="1181"/>
                  <a:pt x="650" y="1181"/>
                </a:cubicBezTo>
                <a:cubicBezTo>
                  <a:pt x="608" y="1139"/>
                  <a:pt x="608" y="1139"/>
                  <a:pt x="608" y="1139"/>
                </a:cubicBezTo>
                <a:cubicBezTo>
                  <a:pt x="608" y="1139"/>
                  <a:pt x="608" y="1139"/>
                  <a:pt x="608" y="1139"/>
                </a:cubicBezTo>
                <a:cubicBezTo>
                  <a:pt x="591" y="1122"/>
                  <a:pt x="591" y="1122"/>
                  <a:pt x="591" y="1122"/>
                </a:cubicBezTo>
                <a:cubicBezTo>
                  <a:pt x="457" y="987"/>
                  <a:pt x="457" y="987"/>
                  <a:pt x="457" y="987"/>
                </a:cubicBezTo>
                <a:cubicBezTo>
                  <a:pt x="489" y="955"/>
                  <a:pt x="489" y="955"/>
                  <a:pt x="489" y="955"/>
                </a:cubicBezTo>
                <a:cubicBezTo>
                  <a:pt x="681" y="1149"/>
                  <a:pt x="681" y="1149"/>
                  <a:pt x="681" y="1149"/>
                </a:cubicBezTo>
                <a:lnTo>
                  <a:pt x="650" y="1181"/>
                </a:lnTo>
                <a:close/>
                <a:moveTo>
                  <a:pt x="656" y="1035"/>
                </a:moveTo>
                <a:cubicBezTo>
                  <a:pt x="601" y="980"/>
                  <a:pt x="601" y="980"/>
                  <a:pt x="601" y="980"/>
                </a:cubicBezTo>
                <a:cubicBezTo>
                  <a:pt x="704" y="877"/>
                  <a:pt x="704" y="877"/>
                  <a:pt x="704" y="877"/>
                </a:cubicBezTo>
                <a:cubicBezTo>
                  <a:pt x="759" y="932"/>
                  <a:pt x="759" y="932"/>
                  <a:pt x="759" y="932"/>
                </a:cubicBezTo>
                <a:lnTo>
                  <a:pt x="656" y="1035"/>
                </a:lnTo>
                <a:close/>
                <a:moveTo>
                  <a:pt x="1485" y="1189"/>
                </a:moveTo>
                <a:cubicBezTo>
                  <a:pt x="1476" y="1187"/>
                  <a:pt x="1466" y="1185"/>
                  <a:pt x="1456" y="1185"/>
                </a:cubicBezTo>
                <a:cubicBezTo>
                  <a:pt x="1387" y="1191"/>
                  <a:pt x="1329" y="1242"/>
                  <a:pt x="1315" y="1311"/>
                </a:cubicBezTo>
                <a:cubicBezTo>
                  <a:pt x="1304" y="1349"/>
                  <a:pt x="1306" y="1390"/>
                  <a:pt x="1321" y="1428"/>
                </a:cubicBezTo>
                <a:cubicBezTo>
                  <a:pt x="1335" y="1463"/>
                  <a:pt x="1365" y="1491"/>
                  <a:pt x="1402" y="1501"/>
                </a:cubicBezTo>
                <a:cubicBezTo>
                  <a:pt x="1521" y="1533"/>
                  <a:pt x="1521" y="1533"/>
                  <a:pt x="1521" y="1533"/>
                </a:cubicBezTo>
                <a:cubicBezTo>
                  <a:pt x="1412" y="1598"/>
                  <a:pt x="1272" y="1562"/>
                  <a:pt x="1207" y="1454"/>
                </a:cubicBezTo>
                <a:cubicBezTo>
                  <a:pt x="1177" y="1403"/>
                  <a:pt x="1167" y="1342"/>
                  <a:pt x="1181" y="1284"/>
                </a:cubicBezTo>
                <a:cubicBezTo>
                  <a:pt x="1183" y="1273"/>
                  <a:pt x="1180" y="1262"/>
                  <a:pt x="1172" y="1254"/>
                </a:cubicBezTo>
                <a:cubicBezTo>
                  <a:pt x="451" y="532"/>
                  <a:pt x="451" y="532"/>
                  <a:pt x="451" y="532"/>
                </a:cubicBezTo>
                <a:cubicBezTo>
                  <a:pt x="441" y="523"/>
                  <a:pt x="425" y="521"/>
                  <a:pt x="413" y="528"/>
                </a:cubicBezTo>
                <a:cubicBezTo>
                  <a:pt x="380" y="545"/>
                  <a:pt x="343" y="555"/>
                  <a:pt x="306" y="555"/>
                </a:cubicBezTo>
                <a:cubicBezTo>
                  <a:pt x="210" y="555"/>
                  <a:pt x="124" y="494"/>
                  <a:pt x="91" y="404"/>
                </a:cubicBezTo>
                <a:cubicBezTo>
                  <a:pt x="164" y="444"/>
                  <a:pt x="164" y="444"/>
                  <a:pt x="164" y="444"/>
                </a:cubicBezTo>
                <a:cubicBezTo>
                  <a:pt x="181" y="454"/>
                  <a:pt x="200" y="459"/>
                  <a:pt x="220" y="459"/>
                </a:cubicBezTo>
                <a:cubicBezTo>
                  <a:pt x="279" y="455"/>
                  <a:pt x="332" y="421"/>
                  <a:pt x="359" y="368"/>
                </a:cubicBezTo>
                <a:cubicBezTo>
                  <a:pt x="402" y="290"/>
                  <a:pt x="385" y="198"/>
                  <a:pt x="321" y="162"/>
                </a:cubicBezTo>
                <a:cubicBezTo>
                  <a:pt x="228" y="109"/>
                  <a:pt x="228" y="109"/>
                  <a:pt x="228" y="109"/>
                </a:cubicBezTo>
                <a:cubicBezTo>
                  <a:pt x="347" y="67"/>
                  <a:pt x="478" y="129"/>
                  <a:pt x="521" y="248"/>
                </a:cubicBezTo>
                <a:cubicBezTo>
                  <a:pt x="535" y="289"/>
                  <a:pt x="538" y="334"/>
                  <a:pt x="528" y="376"/>
                </a:cubicBezTo>
                <a:cubicBezTo>
                  <a:pt x="526" y="387"/>
                  <a:pt x="529" y="398"/>
                  <a:pt x="537" y="406"/>
                </a:cubicBezTo>
                <a:cubicBezTo>
                  <a:pt x="1260" y="1129"/>
                  <a:pt x="1260" y="1129"/>
                  <a:pt x="1260" y="1129"/>
                </a:cubicBezTo>
                <a:cubicBezTo>
                  <a:pt x="1269" y="1139"/>
                  <a:pt x="1285" y="1141"/>
                  <a:pt x="1297" y="1134"/>
                </a:cubicBezTo>
                <a:cubicBezTo>
                  <a:pt x="1330" y="1117"/>
                  <a:pt x="1367" y="1108"/>
                  <a:pt x="1404" y="1108"/>
                </a:cubicBezTo>
                <a:cubicBezTo>
                  <a:pt x="1485" y="1108"/>
                  <a:pt x="1560" y="1151"/>
                  <a:pt x="1601" y="1220"/>
                </a:cubicBezTo>
                <a:lnTo>
                  <a:pt x="1485" y="1189"/>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269" name="Freeform 67">
            <a:extLst>
              <a:ext uri="{FF2B5EF4-FFF2-40B4-BE49-F238E27FC236}">
                <a16:creationId xmlns:a16="http://schemas.microsoft.com/office/drawing/2014/main" id="{D42897C3-9AD5-FAC3-546D-23901AAB2545}"/>
              </a:ext>
            </a:extLst>
          </p:cNvPr>
          <p:cNvSpPr>
            <a:spLocks noEditPoints="1"/>
          </p:cNvSpPr>
          <p:nvPr/>
        </p:nvSpPr>
        <p:spPr bwMode="auto">
          <a:xfrm>
            <a:off x="5085991" y="1332885"/>
            <a:ext cx="417690" cy="424500"/>
          </a:xfrm>
          <a:custGeom>
            <a:avLst/>
            <a:gdLst>
              <a:gd name="T0" fmla="*/ 3226 w 3936"/>
              <a:gd name="T1" fmla="*/ 2984 h 3942"/>
              <a:gd name="T2" fmla="*/ 2880 w 3936"/>
              <a:gd name="T3" fmla="*/ 2704 h 3942"/>
              <a:gd name="T4" fmla="*/ 2880 w 3936"/>
              <a:gd name="T5" fmla="*/ 3145 h 3942"/>
              <a:gd name="T6" fmla="*/ 3145 w 3936"/>
              <a:gd name="T7" fmla="*/ 3189 h 3942"/>
              <a:gd name="T8" fmla="*/ 2576 w 3936"/>
              <a:gd name="T9" fmla="*/ 2977 h 3942"/>
              <a:gd name="T10" fmla="*/ 3037 w 3936"/>
              <a:gd name="T11" fmla="*/ 1921 h 3942"/>
              <a:gd name="T12" fmla="*/ 3597 w 3936"/>
              <a:gd name="T13" fmla="*/ 2165 h 3942"/>
              <a:gd name="T14" fmla="*/ 3911 w 3936"/>
              <a:gd name="T15" fmla="*/ 2783 h 3942"/>
              <a:gd name="T16" fmla="*/ 3713 w 3936"/>
              <a:gd name="T17" fmla="*/ 3440 h 3942"/>
              <a:gd name="T18" fmla="*/ 3210 w 3936"/>
              <a:gd name="T19" fmla="*/ 3624 h 3942"/>
              <a:gd name="T20" fmla="*/ 2725 w 3936"/>
              <a:gd name="T21" fmla="*/ 3851 h 3942"/>
              <a:gd name="T22" fmla="*/ 2121 w 3936"/>
              <a:gd name="T23" fmla="*/ 3526 h 3942"/>
              <a:gd name="T24" fmla="*/ 1906 w 3936"/>
              <a:gd name="T25" fmla="*/ 2867 h 3942"/>
              <a:gd name="T26" fmla="*/ 2097 w 3936"/>
              <a:gd name="T27" fmla="*/ 2820 h 3942"/>
              <a:gd name="T28" fmla="*/ 2329 w 3936"/>
              <a:gd name="T29" fmla="*/ 3144 h 3942"/>
              <a:gd name="T30" fmla="*/ 2562 w 3936"/>
              <a:gd name="T31" fmla="*/ 3471 h 3942"/>
              <a:gd name="T32" fmla="*/ 2990 w 3936"/>
              <a:gd name="T33" fmla="*/ 3815 h 3942"/>
              <a:gd name="T34" fmla="*/ 3489 w 3936"/>
              <a:gd name="T35" fmla="*/ 3605 h 3942"/>
              <a:gd name="T36" fmla="*/ 3546 w 3936"/>
              <a:gd name="T37" fmla="*/ 3068 h 3942"/>
              <a:gd name="T38" fmla="*/ 3513 w 3936"/>
              <a:gd name="T39" fmla="*/ 2707 h 3942"/>
              <a:gd name="T40" fmla="*/ 3280 w 3936"/>
              <a:gd name="T41" fmla="*/ 2380 h 3942"/>
              <a:gd name="T42" fmla="*/ 2851 w 3936"/>
              <a:gd name="T43" fmla="*/ 2036 h 3942"/>
              <a:gd name="T44" fmla="*/ 2353 w 3936"/>
              <a:gd name="T45" fmla="*/ 2246 h 3942"/>
              <a:gd name="T46" fmla="*/ 2292 w 3936"/>
              <a:gd name="T47" fmla="*/ 2787 h 3942"/>
              <a:gd name="T48" fmla="*/ 2129 w 3936"/>
              <a:gd name="T49" fmla="*/ 2297 h 3942"/>
              <a:gd name="T50" fmla="*/ 2739 w 3936"/>
              <a:gd name="T51" fmla="*/ 1975 h 3942"/>
              <a:gd name="T52" fmla="*/ 1258 w 3936"/>
              <a:gd name="T53" fmla="*/ 1515 h 3942"/>
              <a:gd name="T54" fmla="*/ 1718 w 3936"/>
              <a:gd name="T55" fmla="*/ 1665 h 3942"/>
              <a:gd name="T56" fmla="*/ 930 w 3936"/>
              <a:gd name="T57" fmla="*/ 1248 h 3942"/>
              <a:gd name="T58" fmla="*/ 1127 w 3936"/>
              <a:gd name="T59" fmla="*/ 1941 h 3942"/>
              <a:gd name="T60" fmla="*/ 1895 w 3936"/>
              <a:gd name="T61" fmla="*/ 1970 h 3942"/>
              <a:gd name="T62" fmla="*/ 1512 w 3936"/>
              <a:gd name="T63" fmla="*/ 2215 h 3942"/>
              <a:gd name="T64" fmla="*/ 813 w 3936"/>
              <a:gd name="T65" fmla="*/ 1515 h 3942"/>
              <a:gd name="T66" fmla="*/ 1812 w 3936"/>
              <a:gd name="T67" fmla="*/ 1283 h 3942"/>
              <a:gd name="T68" fmla="*/ 1564 w 3936"/>
              <a:gd name="T69" fmla="*/ 1890 h 3942"/>
              <a:gd name="T70" fmla="*/ 1163 w 3936"/>
              <a:gd name="T71" fmla="*/ 1367 h 3942"/>
              <a:gd name="T72" fmla="*/ 1902 w 3936"/>
              <a:gd name="T73" fmla="*/ 934 h 3942"/>
              <a:gd name="T74" fmla="*/ 2124 w 3936"/>
              <a:gd name="T75" fmla="*/ 1848 h 3942"/>
              <a:gd name="T76" fmla="*/ 2086 w 3936"/>
              <a:gd name="T77" fmla="*/ 1515 h 3942"/>
              <a:gd name="T78" fmla="*/ 1456 w 3936"/>
              <a:gd name="T79" fmla="*/ 942 h 3942"/>
              <a:gd name="T80" fmla="*/ 1013 w 3936"/>
              <a:gd name="T81" fmla="*/ 1030 h 3942"/>
              <a:gd name="T82" fmla="*/ 1749 w 3936"/>
              <a:gd name="T83" fmla="*/ 67 h 3942"/>
              <a:gd name="T84" fmla="*/ 2518 w 3936"/>
              <a:gd name="T85" fmla="*/ 380 h 3942"/>
              <a:gd name="T86" fmla="*/ 2931 w 3936"/>
              <a:gd name="T87" fmla="*/ 1259 h 3942"/>
              <a:gd name="T88" fmla="*/ 2576 w 3936"/>
              <a:gd name="T89" fmla="*/ 1854 h 3942"/>
              <a:gd name="T90" fmla="*/ 2451 w 3936"/>
              <a:gd name="T91" fmla="*/ 1837 h 3942"/>
              <a:gd name="T92" fmla="*/ 2863 w 3936"/>
              <a:gd name="T93" fmla="*/ 1363 h 3942"/>
              <a:gd name="T94" fmla="*/ 2577 w 3936"/>
              <a:gd name="T95" fmla="*/ 647 h 3942"/>
              <a:gd name="T96" fmla="*/ 1856 w 3936"/>
              <a:gd name="T97" fmla="*/ 582 h 3942"/>
              <a:gd name="T98" fmla="*/ 1361 w 3936"/>
              <a:gd name="T99" fmla="*/ 162 h 3942"/>
              <a:gd name="T100" fmla="*/ 646 w 3936"/>
              <a:gd name="T101" fmla="*/ 448 h 3942"/>
              <a:gd name="T102" fmla="*/ 581 w 3936"/>
              <a:gd name="T103" fmla="*/ 1171 h 3942"/>
              <a:gd name="T104" fmla="*/ 162 w 3936"/>
              <a:gd name="T105" fmla="*/ 1666 h 3942"/>
              <a:gd name="T106" fmla="*/ 447 w 3936"/>
              <a:gd name="T107" fmla="*/ 2382 h 3942"/>
              <a:gd name="T108" fmla="*/ 1169 w 3936"/>
              <a:gd name="T109" fmla="*/ 2448 h 3942"/>
              <a:gd name="T110" fmla="*/ 1664 w 3936"/>
              <a:gd name="T111" fmla="*/ 2867 h 3942"/>
              <a:gd name="T112" fmla="*/ 2025 w 3936"/>
              <a:gd name="T113" fmla="*/ 2458 h 3942"/>
              <a:gd name="T114" fmla="*/ 1602 w 3936"/>
              <a:gd name="T115" fmla="*/ 3029 h 3942"/>
              <a:gd name="T116" fmla="*/ 689 w 3936"/>
              <a:gd name="T117" fmla="*/ 2701 h 3942"/>
              <a:gd name="T118" fmla="*/ 520 w 3936"/>
              <a:gd name="T119" fmla="*/ 2028 h 3942"/>
              <a:gd name="T120" fmla="*/ 25 w 3936"/>
              <a:gd name="T121" fmla="*/ 1328 h 3942"/>
              <a:gd name="T122" fmla="*/ 341 w 3936"/>
              <a:gd name="T123" fmla="*/ 563 h 3942"/>
              <a:gd name="T124" fmla="*/ 1232 w 3936"/>
              <a:gd name="T125" fmla="*/ 156 h 39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936" h="3942">
                <a:moveTo>
                  <a:pt x="2921" y="2577"/>
                </a:moveTo>
                <a:lnTo>
                  <a:pt x="2972" y="2580"/>
                </a:lnTo>
                <a:lnTo>
                  <a:pt x="3021" y="2592"/>
                </a:lnTo>
                <a:lnTo>
                  <a:pt x="3068" y="2609"/>
                </a:lnTo>
                <a:lnTo>
                  <a:pt x="3111" y="2633"/>
                </a:lnTo>
                <a:lnTo>
                  <a:pt x="3149" y="2663"/>
                </a:lnTo>
                <a:lnTo>
                  <a:pt x="3183" y="2697"/>
                </a:lnTo>
                <a:lnTo>
                  <a:pt x="3213" y="2736"/>
                </a:lnTo>
                <a:lnTo>
                  <a:pt x="3237" y="2779"/>
                </a:lnTo>
                <a:lnTo>
                  <a:pt x="3254" y="2825"/>
                </a:lnTo>
                <a:lnTo>
                  <a:pt x="3266" y="2874"/>
                </a:lnTo>
                <a:lnTo>
                  <a:pt x="3269" y="2925"/>
                </a:lnTo>
                <a:lnTo>
                  <a:pt x="3266" y="2945"/>
                </a:lnTo>
                <a:lnTo>
                  <a:pt x="3257" y="2962"/>
                </a:lnTo>
                <a:lnTo>
                  <a:pt x="3243" y="2976"/>
                </a:lnTo>
                <a:lnTo>
                  <a:pt x="3226" y="2984"/>
                </a:lnTo>
                <a:lnTo>
                  <a:pt x="3207" y="2988"/>
                </a:lnTo>
                <a:lnTo>
                  <a:pt x="3187" y="2984"/>
                </a:lnTo>
                <a:lnTo>
                  <a:pt x="3170" y="2976"/>
                </a:lnTo>
                <a:lnTo>
                  <a:pt x="3157" y="2962"/>
                </a:lnTo>
                <a:lnTo>
                  <a:pt x="3148" y="2945"/>
                </a:lnTo>
                <a:lnTo>
                  <a:pt x="3145" y="2925"/>
                </a:lnTo>
                <a:lnTo>
                  <a:pt x="3140" y="2885"/>
                </a:lnTo>
                <a:lnTo>
                  <a:pt x="3131" y="2848"/>
                </a:lnTo>
                <a:lnTo>
                  <a:pt x="3114" y="2812"/>
                </a:lnTo>
                <a:lnTo>
                  <a:pt x="3092" y="2781"/>
                </a:lnTo>
                <a:lnTo>
                  <a:pt x="3065" y="2755"/>
                </a:lnTo>
                <a:lnTo>
                  <a:pt x="3034" y="2732"/>
                </a:lnTo>
                <a:lnTo>
                  <a:pt x="2999" y="2715"/>
                </a:lnTo>
                <a:lnTo>
                  <a:pt x="2962" y="2704"/>
                </a:lnTo>
                <a:lnTo>
                  <a:pt x="2921" y="2701"/>
                </a:lnTo>
                <a:lnTo>
                  <a:pt x="2880" y="2704"/>
                </a:lnTo>
                <a:lnTo>
                  <a:pt x="2843" y="2715"/>
                </a:lnTo>
                <a:lnTo>
                  <a:pt x="2808" y="2732"/>
                </a:lnTo>
                <a:lnTo>
                  <a:pt x="2777" y="2755"/>
                </a:lnTo>
                <a:lnTo>
                  <a:pt x="2750" y="2781"/>
                </a:lnTo>
                <a:lnTo>
                  <a:pt x="2728" y="2812"/>
                </a:lnTo>
                <a:lnTo>
                  <a:pt x="2711" y="2848"/>
                </a:lnTo>
                <a:lnTo>
                  <a:pt x="2700" y="2885"/>
                </a:lnTo>
                <a:lnTo>
                  <a:pt x="2697" y="2925"/>
                </a:lnTo>
                <a:lnTo>
                  <a:pt x="2700" y="2966"/>
                </a:lnTo>
                <a:lnTo>
                  <a:pt x="2711" y="3003"/>
                </a:lnTo>
                <a:lnTo>
                  <a:pt x="2728" y="3039"/>
                </a:lnTo>
                <a:lnTo>
                  <a:pt x="2750" y="3070"/>
                </a:lnTo>
                <a:lnTo>
                  <a:pt x="2777" y="3096"/>
                </a:lnTo>
                <a:lnTo>
                  <a:pt x="2808" y="3119"/>
                </a:lnTo>
                <a:lnTo>
                  <a:pt x="2843" y="3136"/>
                </a:lnTo>
                <a:lnTo>
                  <a:pt x="2880" y="3145"/>
                </a:lnTo>
                <a:lnTo>
                  <a:pt x="2921" y="3150"/>
                </a:lnTo>
                <a:lnTo>
                  <a:pt x="2958" y="3146"/>
                </a:lnTo>
                <a:lnTo>
                  <a:pt x="2994" y="3138"/>
                </a:lnTo>
                <a:lnTo>
                  <a:pt x="3027" y="3123"/>
                </a:lnTo>
                <a:lnTo>
                  <a:pt x="3058" y="3102"/>
                </a:lnTo>
                <a:lnTo>
                  <a:pt x="3072" y="3094"/>
                </a:lnTo>
                <a:lnTo>
                  <a:pt x="3088" y="3090"/>
                </a:lnTo>
                <a:lnTo>
                  <a:pt x="3103" y="3090"/>
                </a:lnTo>
                <a:lnTo>
                  <a:pt x="3119" y="3094"/>
                </a:lnTo>
                <a:lnTo>
                  <a:pt x="3133" y="3102"/>
                </a:lnTo>
                <a:lnTo>
                  <a:pt x="3145" y="3114"/>
                </a:lnTo>
                <a:lnTo>
                  <a:pt x="3154" y="3129"/>
                </a:lnTo>
                <a:lnTo>
                  <a:pt x="3157" y="3144"/>
                </a:lnTo>
                <a:lnTo>
                  <a:pt x="3157" y="3160"/>
                </a:lnTo>
                <a:lnTo>
                  <a:pt x="3154" y="3175"/>
                </a:lnTo>
                <a:lnTo>
                  <a:pt x="3145" y="3189"/>
                </a:lnTo>
                <a:lnTo>
                  <a:pt x="3133" y="3201"/>
                </a:lnTo>
                <a:lnTo>
                  <a:pt x="3095" y="3228"/>
                </a:lnTo>
                <a:lnTo>
                  <a:pt x="3055" y="3248"/>
                </a:lnTo>
                <a:lnTo>
                  <a:pt x="3012" y="3262"/>
                </a:lnTo>
                <a:lnTo>
                  <a:pt x="2968" y="3271"/>
                </a:lnTo>
                <a:lnTo>
                  <a:pt x="2921" y="3274"/>
                </a:lnTo>
                <a:lnTo>
                  <a:pt x="2870" y="3271"/>
                </a:lnTo>
                <a:lnTo>
                  <a:pt x="2821" y="3259"/>
                </a:lnTo>
                <a:lnTo>
                  <a:pt x="2774" y="3242"/>
                </a:lnTo>
                <a:lnTo>
                  <a:pt x="2731" y="3218"/>
                </a:lnTo>
                <a:lnTo>
                  <a:pt x="2693" y="3188"/>
                </a:lnTo>
                <a:lnTo>
                  <a:pt x="2659" y="3154"/>
                </a:lnTo>
                <a:lnTo>
                  <a:pt x="2629" y="3115"/>
                </a:lnTo>
                <a:lnTo>
                  <a:pt x="2605" y="3072"/>
                </a:lnTo>
                <a:lnTo>
                  <a:pt x="2588" y="3026"/>
                </a:lnTo>
                <a:lnTo>
                  <a:pt x="2576" y="2977"/>
                </a:lnTo>
                <a:lnTo>
                  <a:pt x="2573" y="2925"/>
                </a:lnTo>
                <a:lnTo>
                  <a:pt x="2576" y="2874"/>
                </a:lnTo>
                <a:lnTo>
                  <a:pt x="2588" y="2825"/>
                </a:lnTo>
                <a:lnTo>
                  <a:pt x="2605" y="2779"/>
                </a:lnTo>
                <a:lnTo>
                  <a:pt x="2629" y="2736"/>
                </a:lnTo>
                <a:lnTo>
                  <a:pt x="2659" y="2697"/>
                </a:lnTo>
                <a:lnTo>
                  <a:pt x="2693" y="2663"/>
                </a:lnTo>
                <a:lnTo>
                  <a:pt x="2731" y="2633"/>
                </a:lnTo>
                <a:lnTo>
                  <a:pt x="2774" y="2609"/>
                </a:lnTo>
                <a:lnTo>
                  <a:pt x="2821" y="2592"/>
                </a:lnTo>
                <a:lnTo>
                  <a:pt x="2870" y="2580"/>
                </a:lnTo>
                <a:lnTo>
                  <a:pt x="2921" y="2577"/>
                </a:lnTo>
                <a:close/>
                <a:moveTo>
                  <a:pt x="2863" y="1909"/>
                </a:moveTo>
                <a:lnTo>
                  <a:pt x="2979" y="1909"/>
                </a:lnTo>
                <a:lnTo>
                  <a:pt x="3009" y="1911"/>
                </a:lnTo>
                <a:lnTo>
                  <a:pt x="3037" y="1921"/>
                </a:lnTo>
                <a:lnTo>
                  <a:pt x="3063" y="1934"/>
                </a:lnTo>
                <a:lnTo>
                  <a:pt x="3084" y="1952"/>
                </a:lnTo>
                <a:lnTo>
                  <a:pt x="3103" y="1975"/>
                </a:lnTo>
                <a:lnTo>
                  <a:pt x="3117" y="2000"/>
                </a:lnTo>
                <a:lnTo>
                  <a:pt x="3126" y="2028"/>
                </a:lnTo>
                <a:lnTo>
                  <a:pt x="3162" y="2209"/>
                </a:lnTo>
                <a:lnTo>
                  <a:pt x="3210" y="2227"/>
                </a:lnTo>
                <a:lnTo>
                  <a:pt x="3257" y="2248"/>
                </a:lnTo>
                <a:lnTo>
                  <a:pt x="3409" y="2147"/>
                </a:lnTo>
                <a:lnTo>
                  <a:pt x="3435" y="2132"/>
                </a:lnTo>
                <a:lnTo>
                  <a:pt x="3464" y="2124"/>
                </a:lnTo>
                <a:lnTo>
                  <a:pt x="3492" y="2122"/>
                </a:lnTo>
                <a:lnTo>
                  <a:pt x="3521" y="2124"/>
                </a:lnTo>
                <a:lnTo>
                  <a:pt x="3548" y="2132"/>
                </a:lnTo>
                <a:lnTo>
                  <a:pt x="3573" y="2145"/>
                </a:lnTo>
                <a:lnTo>
                  <a:pt x="3597" y="2165"/>
                </a:lnTo>
                <a:lnTo>
                  <a:pt x="3681" y="2248"/>
                </a:lnTo>
                <a:lnTo>
                  <a:pt x="3699" y="2271"/>
                </a:lnTo>
                <a:lnTo>
                  <a:pt x="3713" y="2297"/>
                </a:lnTo>
                <a:lnTo>
                  <a:pt x="3721" y="2325"/>
                </a:lnTo>
                <a:lnTo>
                  <a:pt x="3724" y="2353"/>
                </a:lnTo>
                <a:lnTo>
                  <a:pt x="3721" y="2382"/>
                </a:lnTo>
                <a:lnTo>
                  <a:pt x="3713" y="2409"/>
                </a:lnTo>
                <a:lnTo>
                  <a:pt x="3699" y="2436"/>
                </a:lnTo>
                <a:lnTo>
                  <a:pt x="3597" y="2589"/>
                </a:lnTo>
                <a:lnTo>
                  <a:pt x="3619" y="2636"/>
                </a:lnTo>
                <a:lnTo>
                  <a:pt x="3637" y="2684"/>
                </a:lnTo>
                <a:lnTo>
                  <a:pt x="3817" y="2720"/>
                </a:lnTo>
                <a:lnTo>
                  <a:pt x="3845" y="2730"/>
                </a:lnTo>
                <a:lnTo>
                  <a:pt x="3870" y="2743"/>
                </a:lnTo>
                <a:lnTo>
                  <a:pt x="3893" y="2762"/>
                </a:lnTo>
                <a:lnTo>
                  <a:pt x="3911" y="2783"/>
                </a:lnTo>
                <a:lnTo>
                  <a:pt x="3924" y="2808"/>
                </a:lnTo>
                <a:lnTo>
                  <a:pt x="3932" y="2837"/>
                </a:lnTo>
                <a:lnTo>
                  <a:pt x="3936" y="2867"/>
                </a:lnTo>
                <a:lnTo>
                  <a:pt x="3936" y="2984"/>
                </a:lnTo>
                <a:lnTo>
                  <a:pt x="3932" y="3014"/>
                </a:lnTo>
                <a:lnTo>
                  <a:pt x="3924" y="3041"/>
                </a:lnTo>
                <a:lnTo>
                  <a:pt x="3911" y="3068"/>
                </a:lnTo>
                <a:lnTo>
                  <a:pt x="3893" y="3089"/>
                </a:lnTo>
                <a:lnTo>
                  <a:pt x="3870" y="3108"/>
                </a:lnTo>
                <a:lnTo>
                  <a:pt x="3845" y="3121"/>
                </a:lnTo>
                <a:lnTo>
                  <a:pt x="3817" y="3131"/>
                </a:lnTo>
                <a:lnTo>
                  <a:pt x="3637" y="3167"/>
                </a:lnTo>
                <a:lnTo>
                  <a:pt x="3619" y="3215"/>
                </a:lnTo>
                <a:lnTo>
                  <a:pt x="3597" y="3262"/>
                </a:lnTo>
                <a:lnTo>
                  <a:pt x="3699" y="3414"/>
                </a:lnTo>
                <a:lnTo>
                  <a:pt x="3713" y="3440"/>
                </a:lnTo>
                <a:lnTo>
                  <a:pt x="3721" y="3469"/>
                </a:lnTo>
                <a:lnTo>
                  <a:pt x="3724" y="3498"/>
                </a:lnTo>
                <a:lnTo>
                  <a:pt x="3721" y="3526"/>
                </a:lnTo>
                <a:lnTo>
                  <a:pt x="3713" y="3554"/>
                </a:lnTo>
                <a:lnTo>
                  <a:pt x="3699" y="3579"/>
                </a:lnTo>
                <a:lnTo>
                  <a:pt x="3681" y="3603"/>
                </a:lnTo>
                <a:lnTo>
                  <a:pt x="3597" y="3686"/>
                </a:lnTo>
                <a:lnTo>
                  <a:pt x="3573" y="3704"/>
                </a:lnTo>
                <a:lnTo>
                  <a:pt x="3548" y="3719"/>
                </a:lnTo>
                <a:lnTo>
                  <a:pt x="3521" y="3727"/>
                </a:lnTo>
                <a:lnTo>
                  <a:pt x="3492" y="3729"/>
                </a:lnTo>
                <a:lnTo>
                  <a:pt x="3464" y="3727"/>
                </a:lnTo>
                <a:lnTo>
                  <a:pt x="3435" y="3719"/>
                </a:lnTo>
                <a:lnTo>
                  <a:pt x="3409" y="3704"/>
                </a:lnTo>
                <a:lnTo>
                  <a:pt x="3257" y="3603"/>
                </a:lnTo>
                <a:lnTo>
                  <a:pt x="3210" y="3624"/>
                </a:lnTo>
                <a:lnTo>
                  <a:pt x="3162" y="3642"/>
                </a:lnTo>
                <a:lnTo>
                  <a:pt x="3126" y="3823"/>
                </a:lnTo>
                <a:lnTo>
                  <a:pt x="3117" y="3851"/>
                </a:lnTo>
                <a:lnTo>
                  <a:pt x="3103" y="3876"/>
                </a:lnTo>
                <a:lnTo>
                  <a:pt x="3084" y="3899"/>
                </a:lnTo>
                <a:lnTo>
                  <a:pt x="3063" y="3917"/>
                </a:lnTo>
                <a:lnTo>
                  <a:pt x="3037" y="3930"/>
                </a:lnTo>
                <a:lnTo>
                  <a:pt x="3009" y="3938"/>
                </a:lnTo>
                <a:lnTo>
                  <a:pt x="2979" y="3942"/>
                </a:lnTo>
                <a:lnTo>
                  <a:pt x="2863" y="3942"/>
                </a:lnTo>
                <a:lnTo>
                  <a:pt x="2833" y="3938"/>
                </a:lnTo>
                <a:lnTo>
                  <a:pt x="2804" y="3930"/>
                </a:lnTo>
                <a:lnTo>
                  <a:pt x="2779" y="3917"/>
                </a:lnTo>
                <a:lnTo>
                  <a:pt x="2758" y="3899"/>
                </a:lnTo>
                <a:lnTo>
                  <a:pt x="2739" y="3876"/>
                </a:lnTo>
                <a:lnTo>
                  <a:pt x="2725" y="3851"/>
                </a:lnTo>
                <a:lnTo>
                  <a:pt x="2716" y="3823"/>
                </a:lnTo>
                <a:lnTo>
                  <a:pt x="2680" y="3642"/>
                </a:lnTo>
                <a:lnTo>
                  <a:pt x="2632" y="3624"/>
                </a:lnTo>
                <a:lnTo>
                  <a:pt x="2585" y="3603"/>
                </a:lnTo>
                <a:lnTo>
                  <a:pt x="2432" y="3704"/>
                </a:lnTo>
                <a:lnTo>
                  <a:pt x="2406" y="3719"/>
                </a:lnTo>
                <a:lnTo>
                  <a:pt x="2378" y="3727"/>
                </a:lnTo>
                <a:lnTo>
                  <a:pt x="2350" y="3729"/>
                </a:lnTo>
                <a:lnTo>
                  <a:pt x="2321" y="3727"/>
                </a:lnTo>
                <a:lnTo>
                  <a:pt x="2294" y="3719"/>
                </a:lnTo>
                <a:lnTo>
                  <a:pt x="2267" y="3704"/>
                </a:lnTo>
                <a:lnTo>
                  <a:pt x="2245" y="3686"/>
                </a:lnTo>
                <a:lnTo>
                  <a:pt x="2161" y="3603"/>
                </a:lnTo>
                <a:lnTo>
                  <a:pt x="2142" y="3579"/>
                </a:lnTo>
                <a:lnTo>
                  <a:pt x="2129" y="3554"/>
                </a:lnTo>
                <a:lnTo>
                  <a:pt x="2121" y="3526"/>
                </a:lnTo>
                <a:lnTo>
                  <a:pt x="2118" y="3498"/>
                </a:lnTo>
                <a:lnTo>
                  <a:pt x="2121" y="3469"/>
                </a:lnTo>
                <a:lnTo>
                  <a:pt x="2129" y="3440"/>
                </a:lnTo>
                <a:lnTo>
                  <a:pt x="2143" y="3414"/>
                </a:lnTo>
                <a:lnTo>
                  <a:pt x="2245" y="3262"/>
                </a:lnTo>
                <a:lnTo>
                  <a:pt x="2223" y="3215"/>
                </a:lnTo>
                <a:lnTo>
                  <a:pt x="2205" y="3167"/>
                </a:lnTo>
                <a:lnTo>
                  <a:pt x="2025" y="3131"/>
                </a:lnTo>
                <a:lnTo>
                  <a:pt x="1997" y="3121"/>
                </a:lnTo>
                <a:lnTo>
                  <a:pt x="1972" y="3108"/>
                </a:lnTo>
                <a:lnTo>
                  <a:pt x="1949" y="3089"/>
                </a:lnTo>
                <a:lnTo>
                  <a:pt x="1931" y="3068"/>
                </a:lnTo>
                <a:lnTo>
                  <a:pt x="1918" y="3041"/>
                </a:lnTo>
                <a:lnTo>
                  <a:pt x="1908" y="3014"/>
                </a:lnTo>
                <a:lnTo>
                  <a:pt x="1906" y="2984"/>
                </a:lnTo>
                <a:lnTo>
                  <a:pt x="1906" y="2867"/>
                </a:lnTo>
                <a:lnTo>
                  <a:pt x="1908" y="2837"/>
                </a:lnTo>
                <a:lnTo>
                  <a:pt x="1918" y="2808"/>
                </a:lnTo>
                <a:lnTo>
                  <a:pt x="1931" y="2783"/>
                </a:lnTo>
                <a:lnTo>
                  <a:pt x="1949" y="2762"/>
                </a:lnTo>
                <a:lnTo>
                  <a:pt x="1972" y="2743"/>
                </a:lnTo>
                <a:lnTo>
                  <a:pt x="1997" y="2730"/>
                </a:lnTo>
                <a:lnTo>
                  <a:pt x="2025" y="2720"/>
                </a:lnTo>
                <a:lnTo>
                  <a:pt x="2038" y="2718"/>
                </a:lnTo>
                <a:lnTo>
                  <a:pt x="2059" y="2716"/>
                </a:lnTo>
                <a:lnTo>
                  <a:pt x="2077" y="2722"/>
                </a:lnTo>
                <a:lnTo>
                  <a:pt x="2093" y="2733"/>
                </a:lnTo>
                <a:lnTo>
                  <a:pt x="2105" y="2747"/>
                </a:lnTo>
                <a:lnTo>
                  <a:pt x="2112" y="2767"/>
                </a:lnTo>
                <a:lnTo>
                  <a:pt x="2112" y="2787"/>
                </a:lnTo>
                <a:lnTo>
                  <a:pt x="2108" y="2805"/>
                </a:lnTo>
                <a:lnTo>
                  <a:pt x="2097" y="2820"/>
                </a:lnTo>
                <a:lnTo>
                  <a:pt x="2081" y="2832"/>
                </a:lnTo>
                <a:lnTo>
                  <a:pt x="2063" y="2839"/>
                </a:lnTo>
                <a:lnTo>
                  <a:pt x="2050" y="2842"/>
                </a:lnTo>
                <a:lnTo>
                  <a:pt x="2040" y="2847"/>
                </a:lnTo>
                <a:lnTo>
                  <a:pt x="2032" y="2855"/>
                </a:lnTo>
                <a:lnTo>
                  <a:pt x="2030" y="2867"/>
                </a:lnTo>
                <a:lnTo>
                  <a:pt x="2030" y="2984"/>
                </a:lnTo>
                <a:lnTo>
                  <a:pt x="2032" y="2995"/>
                </a:lnTo>
                <a:lnTo>
                  <a:pt x="2040" y="3004"/>
                </a:lnTo>
                <a:lnTo>
                  <a:pt x="2050" y="3008"/>
                </a:lnTo>
                <a:lnTo>
                  <a:pt x="2266" y="3052"/>
                </a:lnTo>
                <a:lnTo>
                  <a:pt x="2282" y="3057"/>
                </a:lnTo>
                <a:lnTo>
                  <a:pt x="2296" y="3068"/>
                </a:lnTo>
                <a:lnTo>
                  <a:pt x="2307" y="3081"/>
                </a:lnTo>
                <a:lnTo>
                  <a:pt x="2314" y="3096"/>
                </a:lnTo>
                <a:lnTo>
                  <a:pt x="2329" y="3144"/>
                </a:lnTo>
                <a:lnTo>
                  <a:pt x="2348" y="3191"/>
                </a:lnTo>
                <a:lnTo>
                  <a:pt x="2371" y="3235"/>
                </a:lnTo>
                <a:lnTo>
                  <a:pt x="2377" y="3250"/>
                </a:lnTo>
                <a:lnTo>
                  <a:pt x="2379" y="3268"/>
                </a:lnTo>
                <a:lnTo>
                  <a:pt x="2376" y="3285"/>
                </a:lnTo>
                <a:lnTo>
                  <a:pt x="2369" y="3301"/>
                </a:lnTo>
                <a:lnTo>
                  <a:pt x="2246" y="3483"/>
                </a:lnTo>
                <a:lnTo>
                  <a:pt x="2242" y="3494"/>
                </a:lnTo>
                <a:lnTo>
                  <a:pt x="2244" y="3505"/>
                </a:lnTo>
                <a:lnTo>
                  <a:pt x="2249" y="3514"/>
                </a:lnTo>
                <a:lnTo>
                  <a:pt x="2333" y="3598"/>
                </a:lnTo>
                <a:lnTo>
                  <a:pt x="2343" y="3604"/>
                </a:lnTo>
                <a:lnTo>
                  <a:pt x="2353" y="3605"/>
                </a:lnTo>
                <a:lnTo>
                  <a:pt x="2364" y="3602"/>
                </a:lnTo>
                <a:lnTo>
                  <a:pt x="2546" y="3479"/>
                </a:lnTo>
                <a:lnTo>
                  <a:pt x="2562" y="3471"/>
                </a:lnTo>
                <a:lnTo>
                  <a:pt x="2579" y="3468"/>
                </a:lnTo>
                <a:lnTo>
                  <a:pt x="2595" y="3470"/>
                </a:lnTo>
                <a:lnTo>
                  <a:pt x="2612" y="3476"/>
                </a:lnTo>
                <a:lnTo>
                  <a:pt x="2656" y="3499"/>
                </a:lnTo>
                <a:lnTo>
                  <a:pt x="2703" y="3518"/>
                </a:lnTo>
                <a:lnTo>
                  <a:pt x="2750" y="3533"/>
                </a:lnTo>
                <a:lnTo>
                  <a:pt x="2766" y="3541"/>
                </a:lnTo>
                <a:lnTo>
                  <a:pt x="2779" y="3551"/>
                </a:lnTo>
                <a:lnTo>
                  <a:pt x="2789" y="3566"/>
                </a:lnTo>
                <a:lnTo>
                  <a:pt x="2795" y="3581"/>
                </a:lnTo>
                <a:lnTo>
                  <a:pt x="2837" y="3797"/>
                </a:lnTo>
                <a:lnTo>
                  <a:pt x="2842" y="3808"/>
                </a:lnTo>
                <a:lnTo>
                  <a:pt x="2851" y="3815"/>
                </a:lnTo>
                <a:lnTo>
                  <a:pt x="2863" y="3818"/>
                </a:lnTo>
                <a:lnTo>
                  <a:pt x="2979" y="3818"/>
                </a:lnTo>
                <a:lnTo>
                  <a:pt x="2990" y="3815"/>
                </a:lnTo>
                <a:lnTo>
                  <a:pt x="3000" y="3808"/>
                </a:lnTo>
                <a:lnTo>
                  <a:pt x="3003" y="3797"/>
                </a:lnTo>
                <a:lnTo>
                  <a:pt x="3047" y="3581"/>
                </a:lnTo>
                <a:lnTo>
                  <a:pt x="3052" y="3566"/>
                </a:lnTo>
                <a:lnTo>
                  <a:pt x="3063" y="3551"/>
                </a:lnTo>
                <a:lnTo>
                  <a:pt x="3076" y="3541"/>
                </a:lnTo>
                <a:lnTo>
                  <a:pt x="3092" y="3533"/>
                </a:lnTo>
                <a:lnTo>
                  <a:pt x="3139" y="3518"/>
                </a:lnTo>
                <a:lnTo>
                  <a:pt x="3186" y="3499"/>
                </a:lnTo>
                <a:lnTo>
                  <a:pt x="3230" y="3476"/>
                </a:lnTo>
                <a:lnTo>
                  <a:pt x="3245" y="3470"/>
                </a:lnTo>
                <a:lnTo>
                  <a:pt x="3263" y="3468"/>
                </a:lnTo>
                <a:lnTo>
                  <a:pt x="3280" y="3471"/>
                </a:lnTo>
                <a:lnTo>
                  <a:pt x="3296" y="3479"/>
                </a:lnTo>
                <a:lnTo>
                  <a:pt x="3478" y="3602"/>
                </a:lnTo>
                <a:lnTo>
                  <a:pt x="3489" y="3605"/>
                </a:lnTo>
                <a:lnTo>
                  <a:pt x="3499" y="3604"/>
                </a:lnTo>
                <a:lnTo>
                  <a:pt x="3509" y="3598"/>
                </a:lnTo>
                <a:lnTo>
                  <a:pt x="3592" y="3514"/>
                </a:lnTo>
                <a:lnTo>
                  <a:pt x="3598" y="3505"/>
                </a:lnTo>
                <a:lnTo>
                  <a:pt x="3600" y="3494"/>
                </a:lnTo>
                <a:lnTo>
                  <a:pt x="3596" y="3483"/>
                </a:lnTo>
                <a:lnTo>
                  <a:pt x="3473" y="3301"/>
                </a:lnTo>
                <a:lnTo>
                  <a:pt x="3466" y="3285"/>
                </a:lnTo>
                <a:lnTo>
                  <a:pt x="3462" y="3268"/>
                </a:lnTo>
                <a:lnTo>
                  <a:pt x="3465" y="3250"/>
                </a:lnTo>
                <a:lnTo>
                  <a:pt x="3471" y="3235"/>
                </a:lnTo>
                <a:lnTo>
                  <a:pt x="3493" y="3191"/>
                </a:lnTo>
                <a:lnTo>
                  <a:pt x="3513" y="3144"/>
                </a:lnTo>
                <a:lnTo>
                  <a:pt x="3528" y="3096"/>
                </a:lnTo>
                <a:lnTo>
                  <a:pt x="3535" y="3081"/>
                </a:lnTo>
                <a:lnTo>
                  <a:pt x="3546" y="3068"/>
                </a:lnTo>
                <a:lnTo>
                  <a:pt x="3560" y="3057"/>
                </a:lnTo>
                <a:lnTo>
                  <a:pt x="3576" y="3052"/>
                </a:lnTo>
                <a:lnTo>
                  <a:pt x="3792" y="3008"/>
                </a:lnTo>
                <a:lnTo>
                  <a:pt x="3802" y="3004"/>
                </a:lnTo>
                <a:lnTo>
                  <a:pt x="3810" y="2995"/>
                </a:lnTo>
                <a:lnTo>
                  <a:pt x="3812" y="2984"/>
                </a:lnTo>
                <a:lnTo>
                  <a:pt x="3812" y="2867"/>
                </a:lnTo>
                <a:lnTo>
                  <a:pt x="3810" y="2855"/>
                </a:lnTo>
                <a:lnTo>
                  <a:pt x="3802" y="2847"/>
                </a:lnTo>
                <a:lnTo>
                  <a:pt x="3792" y="2842"/>
                </a:lnTo>
                <a:lnTo>
                  <a:pt x="3576" y="2799"/>
                </a:lnTo>
                <a:lnTo>
                  <a:pt x="3560" y="2793"/>
                </a:lnTo>
                <a:lnTo>
                  <a:pt x="3546" y="2783"/>
                </a:lnTo>
                <a:lnTo>
                  <a:pt x="3535" y="2770"/>
                </a:lnTo>
                <a:lnTo>
                  <a:pt x="3528" y="2755"/>
                </a:lnTo>
                <a:lnTo>
                  <a:pt x="3513" y="2707"/>
                </a:lnTo>
                <a:lnTo>
                  <a:pt x="3493" y="2660"/>
                </a:lnTo>
                <a:lnTo>
                  <a:pt x="3471" y="2616"/>
                </a:lnTo>
                <a:lnTo>
                  <a:pt x="3465" y="2599"/>
                </a:lnTo>
                <a:lnTo>
                  <a:pt x="3462" y="2583"/>
                </a:lnTo>
                <a:lnTo>
                  <a:pt x="3466" y="2566"/>
                </a:lnTo>
                <a:lnTo>
                  <a:pt x="3473" y="2550"/>
                </a:lnTo>
                <a:lnTo>
                  <a:pt x="3596" y="2368"/>
                </a:lnTo>
                <a:lnTo>
                  <a:pt x="3600" y="2357"/>
                </a:lnTo>
                <a:lnTo>
                  <a:pt x="3598" y="2346"/>
                </a:lnTo>
                <a:lnTo>
                  <a:pt x="3592" y="2337"/>
                </a:lnTo>
                <a:lnTo>
                  <a:pt x="3509" y="2253"/>
                </a:lnTo>
                <a:lnTo>
                  <a:pt x="3499" y="2247"/>
                </a:lnTo>
                <a:lnTo>
                  <a:pt x="3489" y="2246"/>
                </a:lnTo>
                <a:lnTo>
                  <a:pt x="3478" y="2249"/>
                </a:lnTo>
                <a:lnTo>
                  <a:pt x="3296" y="2372"/>
                </a:lnTo>
                <a:lnTo>
                  <a:pt x="3280" y="2380"/>
                </a:lnTo>
                <a:lnTo>
                  <a:pt x="3263" y="2383"/>
                </a:lnTo>
                <a:lnTo>
                  <a:pt x="3245" y="2381"/>
                </a:lnTo>
                <a:lnTo>
                  <a:pt x="3230" y="2375"/>
                </a:lnTo>
                <a:lnTo>
                  <a:pt x="3186" y="2352"/>
                </a:lnTo>
                <a:lnTo>
                  <a:pt x="3139" y="2333"/>
                </a:lnTo>
                <a:lnTo>
                  <a:pt x="3092" y="2317"/>
                </a:lnTo>
                <a:lnTo>
                  <a:pt x="3076" y="2310"/>
                </a:lnTo>
                <a:lnTo>
                  <a:pt x="3063" y="2300"/>
                </a:lnTo>
                <a:lnTo>
                  <a:pt x="3052" y="2285"/>
                </a:lnTo>
                <a:lnTo>
                  <a:pt x="3047" y="2270"/>
                </a:lnTo>
                <a:lnTo>
                  <a:pt x="3003" y="2053"/>
                </a:lnTo>
                <a:lnTo>
                  <a:pt x="3000" y="2043"/>
                </a:lnTo>
                <a:lnTo>
                  <a:pt x="2990" y="2036"/>
                </a:lnTo>
                <a:lnTo>
                  <a:pt x="2979" y="2033"/>
                </a:lnTo>
                <a:lnTo>
                  <a:pt x="2863" y="2033"/>
                </a:lnTo>
                <a:lnTo>
                  <a:pt x="2851" y="2036"/>
                </a:lnTo>
                <a:lnTo>
                  <a:pt x="2842" y="2043"/>
                </a:lnTo>
                <a:lnTo>
                  <a:pt x="2837" y="2053"/>
                </a:lnTo>
                <a:lnTo>
                  <a:pt x="2795" y="2270"/>
                </a:lnTo>
                <a:lnTo>
                  <a:pt x="2789" y="2285"/>
                </a:lnTo>
                <a:lnTo>
                  <a:pt x="2779" y="2300"/>
                </a:lnTo>
                <a:lnTo>
                  <a:pt x="2766" y="2310"/>
                </a:lnTo>
                <a:lnTo>
                  <a:pt x="2750" y="2317"/>
                </a:lnTo>
                <a:lnTo>
                  <a:pt x="2703" y="2333"/>
                </a:lnTo>
                <a:lnTo>
                  <a:pt x="2656" y="2352"/>
                </a:lnTo>
                <a:lnTo>
                  <a:pt x="2612" y="2375"/>
                </a:lnTo>
                <a:lnTo>
                  <a:pt x="2595" y="2381"/>
                </a:lnTo>
                <a:lnTo>
                  <a:pt x="2579" y="2383"/>
                </a:lnTo>
                <a:lnTo>
                  <a:pt x="2562" y="2380"/>
                </a:lnTo>
                <a:lnTo>
                  <a:pt x="2546" y="2372"/>
                </a:lnTo>
                <a:lnTo>
                  <a:pt x="2364" y="2249"/>
                </a:lnTo>
                <a:lnTo>
                  <a:pt x="2353" y="2246"/>
                </a:lnTo>
                <a:lnTo>
                  <a:pt x="2343" y="2247"/>
                </a:lnTo>
                <a:lnTo>
                  <a:pt x="2333" y="2253"/>
                </a:lnTo>
                <a:lnTo>
                  <a:pt x="2249" y="2337"/>
                </a:lnTo>
                <a:lnTo>
                  <a:pt x="2244" y="2346"/>
                </a:lnTo>
                <a:lnTo>
                  <a:pt x="2242" y="2357"/>
                </a:lnTo>
                <a:lnTo>
                  <a:pt x="2246" y="2368"/>
                </a:lnTo>
                <a:lnTo>
                  <a:pt x="2369" y="2550"/>
                </a:lnTo>
                <a:lnTo>
                  <a:pt x="2376" y="2566"/>
                </a:lnTo>
                <a:lnTo>
                  <a:pt x="2379" y="2583"/>
                </a:lnTo>
                <a:lnTo>
                  <a:pt x="2377" y="2599"/>
                </a:lnTo>
                <a:lnTo>
                  <a:pt x="2371" y="2616"/>
                </a:lnTo>
                <a:lnTo>
                  <a:pt x="2348" y="2660"/>
                </a:lnTo>
                <a:lnTo>
                  <a:pt x="2329" y="2707"/>
                </a:lnTo>
                <a:lnTo>
                  <a:pt x="2314" y="2755"/>
                </a:lnTo>
                <a:lnTo>
                  <a:pt x="2306" y="2773"/>
                </a:lnTo>
                <a:lnTo>
                  <a:pt x="2292" y="2787"/>
                </a:lnTo>
                <a:lnTo>
                  <a:pt x="2276" y="2796"/>
                </a:lnTo>
                <a:lnTo>
                  <a:pt x="2257" y="2800"/>
                </a:lnTo>
                <a:lnTo>
                  <a:pt x="2236" y="2798"/>
                </a:lnTo>
                <a:lnTo>
                  <a:pt x="2218" y="2789"/>
                </a:lnTo>
                <a:lnTo>
                  <a:pt x="2205" y="2776"/>
                </a:lnTo>
                <a:lnTo>
                  <a:pt x="2196" y="2759"/>
                </a:lnTo>
                <a:lnTo>
                  <a:pt x="2191" y="2741"/>
                </a:lnTo>
                <a:lnTo>
                  <a:pt x="2193" y="2721"/>
                </a:lnTo>
                <a:lnTo>
                  <a:pt x="2216" y="2654"/>
                </a:lnTo>
                <a:lnTo>
                  <a:pt x="2245" y="2589"/>
                </a:lnTo>
                <a:lnTo>
                  <a:pt x="2143" y="2436"/>
                </a:lnTo>
                <a:lnTo>
                  <a:pt x="2129" y="2409"/>
                </a:lnTo>
                <a:lnTo>
                  <a:pt x="2121" y="2382"/>
                </a:lnTo>
                <a:lnTo>
                  <a:pt x="2118" y="2353"/>
                </a:lnTo>
                <a:lnTo>
                  <a:pt x="2121" y="2325"/>
                </a:lnTo>
                <a:lnTo>
                  <a:pt x="2129" y="2297"/>
                </a:lnTo>
                <a:lnTo>
                  <a:pt x="2142" y="2271"/>
                </a:lnTo>
                <a:lnTo>
                  <a:pt x="2161" y="2248"/>
                </a:lnTo>
                <a:lnTo>
                  <a:pt x="2245" y="2165"/>
                </a:lnTo>
                <a:lnTo>
                  <a:pt x="2267" y="2145"/>
                </a:lnTo>
                <a:lnTo>
                  <a:pt x="2294" y="2132"/>
                </a:lnTo>
                <a:lnTo>
                  <a:pt x="2321" y="2124"/>
                </a:lnTo>
                <a:lnTo>
                  <a:pt x="2350" y="2122"/>
                </a:lnTo>
                <a:lnTo>
                  <a:pt x="2378" y="2124"/>
                </a:lnTo>
                <a:lnTo>
                  <a:pt x="2406" y="2132"/>
                </a:lnTo>
                <a:lnTo>
                  <a:pt x="2432" y="2147"/>
                </a:lnTo>
                <a:lnTo>
                  <a:pt x="2585" y="2248"/>
                </a:lnTo>
                <a:lnTo>
                  <a:pt x="2632" y="2227"/>
                </a:lnTo>
                <a:lnTo>
                  <a:pt x="2680" y="2209"/>
                </a:lnTo>
                <a:lnTo>
                  <a:pt x="2716" y="2028"/>
                </a:lnTo>
                <a:lnTo>
                  <a:pt x="2725" y="2000"/>
                </a:lnTo>
                <a:lnTo>
                  <a:pt x="2739" y="1975"/>
                </a:lnTo>
                <a:lnTo>
                  <a:pt x="2758" y="1952"/>
                </a:lnTo>
                <a:lnTo>
                  <a:pt x="2779" y="1934"/>
                </a:lnTo>
                <a:lnTo>
                  <a:pt x="2804" y="1921"/>
                </a:lnTo>
                <a:lnTo>
                  <a:pt x="2833" y="1911"/>
                </a:lnTo>
                <a:lnTo>
                  <a:pt x="2863" y="1909"/>
                </a:lnTo>
                <a:close/>
                <a:moveTo>
                  <a:pt x="1512" y="1260"/>
                </a:moveTo>
                <a:lnTo>
                  <a:pt x="1471" y="1263"/>
                </a:lnTo>
                <a:lnTo>
                  <a:pt x="1432" y="1273"/>
                </a:lnTo>
                <a:lnTo>
                  <a:pt x="1395" y="1288"/>
                </a:lnTo>
                <a:lnTo>
                  <a:pt x="1362" y="1309"/>
                </a:lnTo>
                <a:lnTo>
                  <a:pt x="1332" y="1334"/>
                </a:lnTo>
                <a:lnTo>
                  <a:pt x="1307" y="1364"/>
                </a:lnTo>
                <a:lnTo>
                  <a:pt x="1286" y="1398"/>
                </a:lnTo>
                <a:lnTo>
                  <a:pt x="1271" y="1435"/>
                </a:lnTo>
                <a:lnTo>
                  <a:pt x="1261" y="1473"/>
                </a:lnTo>
                <a:lnTo>
                  <a:pt x="1258" y="1515"/>
                </a:lnTo>
                <a:lnTo>
                  <a:pt x="1261" y="1555"/>
                </a:lnTo>
                <a:lnTo>
                  <a:pt x="1271" y="1595"/>
                </a:lnTo>
                <a:lnTo>
                  <a:pt x="1286" y="1632"/>
                </a:lnTo>
                <a:lnTo>
                  <a:pt x="1307" y="1665"/>
                </a:lnTo>
                <a:lnTo>
                  <a:pt x="1332" y="1695"/>
                </a:lnTo>
                <a:lnTo>
                  <a:pt x="1362" y="1720"/>
                </a:lnTo>
                <a:lnTo>
                  <a:pt x="1395" y="1740"/>
                </a:lnTo>
                <a:lnTo>
                  <a:pt x="1432" y="1756"/>
                </a:lnTo>
                <a:lnTo>
                  <a:pt x="1471" y="1766"/>
                </a:lnTo>
                <a:lnTo>
                  <a:pt x="1512" y="1769"/>
                </a:lnTo>
                <a:lnTo>
                  <a:pt x="1553" y="1766"/>
                </a:lnTo>
                <a:lnTo>
                  <a:pt x="1592" y="1756"/>
                </a:lnTo>
                <a:lnTo>
                  <a:pt x="1629" y="1740"/>
                </a:lnTo>
                <a:lnTo>
                  <a:pt x="1663" y="1720"/>
                </a:lnTo>
                <a:lnTo>
                  <a:pt x="1692" y="1695"/>
                </a:lnTo>
                <a:lnTo>
                  <a:pt x="1718" y="1665"/>
                </a:lnTo>
                <a:lnTo>
                  <a:pt x="1738" y="1632"/>
                </a:lnTo>
                <a:lnTo>
                  <a:pt x="1753" y="1595"/>
                </a:lnTo>
                <a:lnTo>
                  <a:pt x="1763" y="1555"/>
                </a:lnTo>
                <a:lnTo>
                  <a:pt x="1766" y="1515"/>
                </a:lnTo>
                <a:lnTo>
                  <a:pt x="1763" y="1473"/>
                </a:lnTo>
                <a:lnTo>
                  <a:pt x="1753" y="1435"/>
                </a:lnTo>
                <a:lnTo>
                  <a:pt x="1738" y="1398"/>
                </a:lnTo>
                <a:lnTo>
                  <a:pt x="1718" y="1364"/>
                </a:lnTo>
                <a:lnTo>
                  <a:pt x="1692" y="1334"/>
                </a:lnTo>
                <a:lnTo>
                  <a:pt x="1663" y="1309"/>
                </a:lnTo>
                <a:lnTo>
                  <a:pt x="1629" y="1288"/>
                </a:lnTo>
                <a:lnTo>
                  <a:pt x="1592" y="1273"/>
                </a:lnTo>
                <a:lnTo>
                  <a:pt x="1553" y="1263"/>
                </a:lnTo>
                <a:lnTo>
                  <a:pt x="1512" y="1260"/>
                </a:lnTo>
                <a:close/>
                <a:moveTo>
                  <a:pt x="911" y="1245"/>
                </a:moveTo>
                <a:lnTo>
                  <a:pt x="930" y="1248"/>
                </a:lnTo>
                <a:lnTo>
                  <a:pt x="948" y="1258"/>
                </a:lnTo>
                <a:lnTo>
                  <a:pt x="961" y="1271"/>
                </a:lnTo>
                <a:lnTo>
                  <a:pt x="970" y="1289"/>
                </a:lnTo>
                <a:lnTo>
                  <a:pt x="972" y="1308"/>
                </a:lnTo>
                <a:lnTo>
                  <a:pt x="968" y="1327"/>
                </a:lnTo>
                <a:lnTo>
                  <a:pt x="952" y="1388"/>
                </a:lnTo>
                <a:lnTo>
                  <a:pt x="941" y="1451"/>
                </a:lnTo>
                <a:lnTo>
                  <a:pt x="937" y="1515"/>
                </a:lnTo>
                <a:lnTo>
                  <a:pt x="941" y="1577"/>
                </a:lnTo>
                <a:lnTo>
                  <a:pt x="952" y="1638"/>
                </a:lnTo>
                <a:lnTo>
                  <a:pt x="967" y="1696"/>
                </a:lnTo>
                <a:lnTo>
                  <a:pt x="989" y="1752"/>
                </a:lnTo>
                <a:lnTo>
                  <a:pt x="1016" y="1805"/>
                </a:lnTo>
                <a:lnTo>
                  <a:pt x="1048" y="1854"/>
                </a:lnTo>
                <a:lnTo>
                  <a:pt x="1087" y="1899"/>
                </a:lnTo>
                <a:lnTo>
                  <a:pt x="1127" y="1941"/>
                </a:lnTo>
                <a:lnTo>
                  <a:pt x="1174" y="1978"/>
                </a:lnTo>
                <a:lnTo>
                  <a:pt x="1223" y="2012"/>
                </a:lnTo>
                <a:lnTo>
                  <a:pt x="1275" y="2038"/>
                </a:lnTo>
                <a:lnTo>
                  <a:pt x="1331" y="2061"/>
                </a:lnTo>
                <a:lnTo>
                  <a:pt x="1390" y="2076"/>
                </a:lnTo>
                <a:lnTo>
                  <a:pt x="1450" y="2087"/>
                </a:lnTo>
                <a:lnTo>
                  <a:pt x="1512" y="2089"/>
                </a:lnTo>
                <a:lnTo>
                  <a:pt x="1573" y="2087"/>
                </a:lnTo>
                <a:lnTo>
                  <a:pt x="1632" y="2077"/>
                </a:lnTo>
                <a:lnTo>
                  <a:pt x="1689" y="2062"/>
                </a:lnTo>
                <a:lnTo>
                  <a:pt x="1745" y="2040"/>
                </a:lnTo>
                <a:lnTo>
                  <a:pt x="1799" y="2014"/>
                </a:lnTo>
                <a:lnTo>
                  <a:pt x="1849" y="1981"/>
                </a:lnTo>
                <a:lnTo>
                  <a:pt x="1863" y="1973"/>
                </a:lnTo>
                <a:lnTo>
                  <a:pt x="1879" y="1970"/>
                </a:lnTo>
                <a:lnTo>
                  <a:pt x="1895" y="1970"/>
                </a:lnTo>
                <a:lnTo>
                  <a:pt x="1911" y="1975"/>
                </a:lnTo>
                <a:lnTo>
                  <a:pt x="1924" y="1983"/>
                </a:lnTo>
                <a:lnTo>
                  <a:pt x="1936" y="1995"/>
                </a:lnTo>
                <a:lnTo>
                  <a:pt x="1943" y="2009"/>
                </a:lnTo>
                <a:lnTo>
                  <a:pt x="1947" y="2025"/>
                </a:lnTo>
                <a:lnTo>
                  <a:pt x="1947" y="2041"/>
                </a:lnTo>
                <a:lnTo>
                  <a:pt x="1942" y="2056"/>
                </a:lnTo>
                <a:lnTo>
                  <a:pt x="1933" y="2070"/>
                </a:lnTo>
                <a:lnTo>
                  <a:pt x="1921" y="2082"/>
                </a:lnTo>
                <a:lnTo>
                  <a:pt x="1869" y="2117"/>
                </a:lnTo>
                <a:lnTo>
                  <a:pt x="1814" y="2145"/>
                </a:lnTo>
                <a:lnTo>
                  <a:pt x="1757" y="2170"/>
                </a:lnTo>
                <a:lnTo>
                  <a:pt x="1698" y="2190"/>
                </a:lnTo>
                <a:lnTo>
                  <a:pt x="1638" y="2203"/>
                </a:lnTo>
                <a:lnTo>
                  <a:pt x="1576" y="2211"/>
                </a:lnTo>
                <a:lnTo>
                  <a:pt x="1512" y="2215"/>
                </a:lnTo>
                <a:lnTo>
                  <a:pt x="1441" y="2211"/>
                </a:lnTo>
                <a:lnTo>
                  <a:pt x="1372" y="2200"/>
                </a:lnTo>
                <a:lnTo>
                  <a:pt x="1305" y="2182"/>
                </a:lnTo>
                <a:lnTo>
                  <a:pt x="1240" y="2160"/>
                </a:lnTo>
                <a:lnTo>
                  <a:pt x="1180" y="2130"/>
                </a:lnTo>
                <a:lnTo>
                  <a:pt x="1122" y="2094"/>
                </a:lnTo>
                <a:lnTo>
                  <a:pt x="1069" y="2055"/>
                </a:lnTo>
                <a:lnTo>
                  <a:pt x="1019" y="2009"/>
                </a:lnTo>
                <a:lnTo>
                  <a:pt x="973" y="1959"/>
                </a:lnTo>
                <a:lnTo>
                  <a:pt x="933" y="1905"/>
                </a:lnTo>
                <a:lnTo>
                  <a:pt x="898" y="1848"/>
                </a:lnTo>
                <a:lnTo>
                  <a:pt x="868" y="1787"/>
                </a:lnTo>
                <a:lnTo>
                  <a:pt x="846" y="1723"/>
                </a:lnTo>
                <a:lnTo>
                  <a:pt x="828" y="1656"/>
                </a:lnTo>
                <a:lnTo>
                  <a:pt x="817" y="1586"/>
                </a:lnTo>
                <a:lnTo>
                  <a:pt x="813" y="1515"/>
                </a:lnTo>
                <a:lnTo>
                  <a:pt x="816" y="1456"/>
                </a:lnTo>
                <a:lnTo>
                  <a:pt x="823" y="1399"/>
                </a:lnTo>
                <a:lnTo>
                  <a:pt x="835" y="1343"/>
                </a:lnTo>
                <a:lnTo>
                  <a:pt x="852" y="1287"/>
                </a:lnTo>
                <a:lnTo>
                  <a:pt x="861" y="1270"/>
                </a:lnTo>
                <a:lnTo>
                  <a:pt x="874" y="1255"/>
                </a:lnTo>
                <a:lnTo>
                  <a:pt x="892" y="1247"/>
                </a:lnTo>
                <a:lnTo>
                  <a:pt x="911" y="1245"/>
                </a:lnTo>
                <a:close/>
                <a:moveTo>
                  <a:pt x="1512" y="1135"/>
                </a:moveTo>
                <a:lnTo>
                  <a:pt x="1564" y="1138"/>
                </a:lnTo>
                <a:lnTo>
                  <a:pt x="1613" y="1149"/>
                </a:lnTo>
                <a:lnTo>
                  <a:pt x="1659" y="1165"/>
                </a:lnTo>
                <a:lnTo>
                  <a:pt x="1703" y="1187"/>
                </a:lnTo>
                <a:lnTo>
                  <a:pt x="1744" y="1215"/>
                </a:lnTo>
                <a:lnTo>
                  <a:pt x="1780" y="1247"/>
                </a:lnTo>
                <a:lnTo>
                  <a:pt x="1812" y="1283"/>
                </a:lnTo>
                <a:lnTo>
                  <a:pt x="1839" y="1324"/>
                </a:lnTo>
                <a:lnTo>
                  <a:pt x="1861" y="1367"/>
                </a:lnTo>
                <a:lnTo>
                  <a:pt x="1877" y="1414"/>
                </a:lnTo>
                <a:lnTo>
                  <a:pt x="1887" y="1463"/>
                </a:lnTo>
                <a:lnTo>
                  <a:pt x="1890" y="1515"/>
                </a:lnTo>
                <a:lnTo>
                  <a:pt x="1887" y="1566"/>
                </a:lnTo>
                <a:lnTo>
                  <a:pt x="1877" y="1615"/>
                </a:lnTo>
                <a:lnTo>
                  <a:pt x="1861" y="1662"/>
                </a:lnTo>
                <a:lnTo>
                  <a:pt x="1839" y="1706"/>
                </a:lnTo>
                <a:lnTo>
                  <a:pt x="1812" y="1746"/>
                </a:lnTo>
                <a:lnTo>
                  <a:pt x="1780" y="1782"/>
                </a:lnTo>
                <a:lnTo>
                  <a:pt x="1744" y="1815"/>
                </a:lnTo>
                <a:lnTo>
                  <a:pt x="1703" y="1842"/>
                </a:lnTo>
                <a:lnTo>
                  <a:pt x="1659" y="1863"/>
                </a:lnTo>
                <a:lnTo>
                  <a:pt x="1613" y="1880"/>
                </a:lnTo>
                <a:lnTo>
                  <a:pt x="1564" y="1890"/>
                </a:lnTo>
                <a:lnTo>
                  <a:pt x="1512" y="1893"/>
                </a:lnTo>
                <a:lnTo>
                  <a:pt x="1461" y="1890"/>
                </a:lnTo>
                <a:lnTo>
                  <a:pt x="1412" y="1880"/>
                </a:lnTo>
                <a:lnTo>
                  <a:pt x="1364" y="1863"/>
                </a:lnTo>
                <a:lnTo>
                  <a:pt x="1322" y="1842"/>
                </a:lnTo>
                <a:lnTo>
                  <a:pt x="1281" y="1815"/>
                </a:lnTo>
                <a:lnTo>
                  <a:pt x="1245" y="1782"/>
                </a:lnTo>
                <a:lnTo>
                  <a:pt x="1213" y="1746"/>
                </a:lnTo>
                <a:lnTo>
                  <a:pt x="1186" y="1706"/>
                </a:lnTo>
                <a:lnTo>
                  <a:pt x="1163" y="1662"/>
                </a:lnTo>
                <a:lnTo>
                  <a:pt x="1147" y="1615"/>
                </a:lnTo>
                <a:lnTo>
                  <a:pt x="1137" y="1566"/>
                </a:lnTo>
                <a:lnTo>
                  <a:pt x="1133" y="1515"/>
                </a:lnTo>
                <a:lnTo>
                  <a:pt x="1137" y="1463"/>
                </a:lnTo>
                <a:lnTo>
                  <a:pt x="1147" y="1414"/>
                </a:lnTo>
                <a:lnTo>
                  <a:pt x="1163" y="1367"/>
                </a:lnTo>
                <a:lnTo>
                  <a:pt x="1186" y="1324"/>
                </a:lnTo>
                <a:lnTo>
                  <a:pt x="1213" y="1283"/>
                </a:lnTo>
                <a:lnTo>
                  <a:pt x="1245" y="1247"/>
                </a:lnTo>
                <a:lnTo>
                  <a:pt x="1281" y="1215"/>
                </a:lnTo>
                <a:lnTo>
                  <a:pt x="1322" y="1187"/>
                </a:lnTo>
                <a:lnTo>
                  <a:pt x="1364" y="1165"/>
                </a:lnTo>
                <a:lnTo>
                  <a:pt x="1412" y="1149"/>
                </a:lnTo>
                <a:lnTo>
                  <a:pt x="1461" y="1138"/>
                </a:lnTo>
                <a:lnTo>
                  <a:pt x="1512" y="1135"/>
                </a:lnTo>
                <a:close/>
                <a:moveTo>
                  <a:pt x="1512" y="815"/>
                </a:moveTo>
                <a:lnTo>
                  <a:pt x="1584" y="818"/>
                </a:lnTo>
                <a:lnTo>
                  <a:pt x="1653" y="829"/>
                </a:lnTo>
                <a:lnTo>
                  <a:pt x="1720" y="847"/>
                </a:lnTo>
                <a:lnTo>
                  <a:pt x="1784" y="870"/>
                </a:lnTo>
                <a:lnTo>
                  <a:pt x="1845" y="899"/>
                </a:lnTo>
                <a:lnTo>
                  <a:pt x="1902" y="934"/>
                </a:lnTo>
                <a:lnTo>
                  <a:pt x="1956" y="975"/>
                </a:lnTo>
                <a:lnTo>
                  <a:pt x="2006" y="1020"/>
                </a:lnTo>
                <a:lnTo>
                  <a:pt x="2051" y="1070"/>
                </a:lnTo>
                <a:lnTo>
                  <a:pt x="2091" y="1124"/>
                </a:lnTo>
                <a:lnTo>
                  <a:pt x="2127" y="1181"/>
                </a:lnTo>
                <a:lnTo>
                  <a:pt x="2156" y="1242"/>
                </a:lnTo>
                <a:lnTo>
                  <a:pt x="2179" y="1307"/>
                </a:lnTo>
                <a:lnTo>
                  <a:pt x="2197" y="1374"/>
                </a:lnTo>
                <a:lnTo>
                  <a:pt x="2208" y="1443"/>
                </a:lnTo>
                <a:lnTo>
                  <a:pt x="2211" y="1515"/>
                </a:lnTo>
                <a:lnTo>
                  <a:pt x="2208" y="1580"/>
                </a:lnTo>
                <a:lnTo>
                  <a:pt x="2198" y="1646"/>
                </a:lnTo>
                <a:lnTo>
                  <a:pt x="2183" y="1711"/>
                </a:lnTo>
                <a:lnTo>
                  <a:pt x="2161" y="1774"/>
                </a:lnTo>
                <a:lnTo>
                  <a:pt x="2134" y="1834"/>
                </a:lnTo>
                <a:lnTo>
                  <a:pt x="2124" y="1848"/>
                </a:lnTo>
                <a:lnTo>
                  <a:pt x="2111" y="1859"/>
                </a:lnTo>
                <a:lnTo>
                  <a:pt x="2096" y="1865"/>
                </a:lnTo>
                <a:lnTo>
                  <a:pt x="2079" y="1867"/>
                </a:lnTo>
                <a:lnTo>
                  <a:pt x="2065" y="1866"/>
                </a:lnTo>
                <a:lnTo>
                  <a:pt x="2050" y="1860"/>
                </a:lnTo>
                <a:lnTo>
                  <a:pt x="2037" y="1850"/>
                </a:lnTo>
                <a:lnTo>
                  <a:pt x="2026" y="1838"/>
                </a:lnTo>
                <a:lnTo>
                  <a:pt x="2019" y="1824"/>
                </a:lnTo>
                <a:lnTo>
                  <a:pt x="2017" y="1809"/>
                </a:lnTo>
                <a:lnTo>
                  <a:pt x="2018" y="1792"/>
                </a:lnTo>
                <a:lnTo>
                  <a:pt x="2024" y="1776"/>
                </a:lnTo>
                <a:lnTo>
                  <a:pt x="2047" y="1727"/>
                </a:lnTo>
                <a:lnTo>
                  <a:pt x="2063" y="1676"/>
                </a:lnTo>
                <a:lnTo>
                  <a:pt x="2077" y="1623"/>
                </a:lnTo>
                <a:lnTo>
                  <a:pt x="2084" y="1570"/>
                </a:lnTo>
                <a:lnTo>
                  <a:pt x="2086" y="1515"/>
                </a:lnTo>
                <a:lnTo>
                  <a:pt x="2084" y="1453"/>
                </a:lnTo>
                <a:lnTo>
                  <a:pt x="2073" y="1392"/>
                </a:lnTo>
                <a:lnTo>
                  <a:pt x="2057" y="1333"/>
                </a:lnTo>
                <a:lnTo>
                  <a:pt x="2035" y="1277"/>
                </a:lnTo>
                <a:lnTo>
                  <a:pt x="2009" y="1224"/>
                </a:lnTo>
                <a:lnTo>
                  <a:pt x="1975" y="1175"/>
                </a:lnTo>
                <a:lnTo>
                  <a:pt x="1938" y="1129"/>
                </a:lnTo>
                <a:lnTo>
                  <a:pt x="1896" y="1088"/>
                </a:lnTo>
                <a:lnTo>
                  <a:pt x="1851" y="1050"/>
                </a:lnTo>
                <a:lnTo>
                  <a:pt x="1802" y="1018"/>
                </a:lnTo>
                <a:lnTo>
                  <a:pt x="1750" y="990"/>
                </a:lnTo>
                <a:lnTo>
                  <a:pt x="1694" y="969"/>
                </a:lnTo>
                <a:lnTo>
                  <a:pt x="1635" y="953"/>
                </a:lnTo>
                <a:lnTo>
                  <a:pt x="1574" y="942"/>
                </a:lnTo>
                <a:lnTo>
                  <a:pt x="1512" y="939"/>
                </a:lnTo>
                <a:lnTo>
                  <a:pt x="1456" y="942"/>
                </a:lnTo>
                <a:lnTo>
                  <a:pt x="1401" y="950"/>
                </a:lnTo>
                <a:lnTo>
                  <a:pt x="1348" y="963"/>
                </a:lnTo>
                <a:lnTo>
                  <a:pt x="1295" y="982"/>
                </a:lnTo>
                <a:lnTo>
                  <a:pt x="1246" y="1005"/>
                </a:lnTo>
                <a:lnTo>
                  <a:pt x="1199" y="1033"/>
                </a:lnTo>
                <a:lnTo>
                  <a:pt x="1153" y="1066"/>
                </a:lnTo>
                <a:lnTo>
                  <a:pt x="1112" y="1103"/>
                </a:lnTo>
                <a:lnTo>
                  <a:pt x="1095" y="1115"/>
                </a:lnTo>
                <a:lnTo>
                  <a:pt x="1077" y="1119"/>
                </a:lnTo>
                <a:lnTo>
                  <a:pt x="1058" y="1119"/>
                </a:lnTo>
                <a:lnTo>
                  <a:pt x="1040" y="1113"/>
                </a:lnTo>
                <a:lnTo>
                  <a:pt x="1023" y="1101"/>
                </a:lnTo>
                <a:lnTo>
                  <a:pt x="1013" y="1086"/>
                </a:lnTo>
                <a:lnTo>
                  <a:pt x="1007" y="1067"/>
                </a:lnTo>
                <a:lnTo>
                  <a:pt x="1007" y="1048"/>
                </a:lnTo>
                <a:lnTo>
                  <a:pt x="1013" y="1030"/>
                </a:lnTo>
                <a:lnTo>
                  <a:pt x="1025" y="1013"/>
                </a:lnTo>
                <a:lnTo>
                  <a:pt x="1076" y="969"/>
                </a:lnTo>
                <a:lnTo>
                  <a:pt x="1131" y="928"/>
                </a:lnTo>
                <a:lnTo>
                  <a:pt x="1188" y="895"/>
                </a:lnTo>
                <a:lnTo>
                  <a:pt x="1249" y="866"/>
                </a:lnTo>
                <a:lnTo>
                  <a:pt x="1312" y="845"/>
                </a:lnTo>
                <a:lnTo>
                  <a:pt x="1378" y="828"/>
                </a:lnTo>
                <a:lnTo>
                  <a:pt x="1444" y="818"/>
                </a:lnTo>
                <a:lnTo>
                  <a:pt x="1512" y="815"/>
                </a:lnTo>
                <a:close/>
                <a:moveTo>
                  <a:pt x="1423" y="0"/>
                </a:moveTo>
                <a:lnTo>
                  <a:pt x="1602" y="0"/>
                </a:lnTo>
                <a:lnTo>
                  <a:pt x="1635" y="4"/>
                </a:lnTo>
                <a:lnTo>
                  <a:pt x="1667" y="12"/>
                </a:lnTo>
                <a:lnTo>
                  <a:pt x="1697" y="25"/>
                </a:lnTo>
                <a:lnTo>
                  <a:pt x="1725" y="44"/>
                </a:lnTo>
                <a:lnTo>
                  <a:pt x="1749" y="67"/>
                </a:lnTo>
                <a:lnTo>
                  <a:pt x="1768" y="93"/>
                </a:lnTo>
                <a:lnTo>
                  <a:pt x="1783" y="123"/>
                </a:lnTo>
                <a:lnTo>
                  <a:pt x="1793" y="156"/>
                </a:lnTo>
                <a:lnTo>
                  <a:pt x="1851" y="449"/>
                </a:lnTo>
                <a:lnTo>
                  <a:pt x="1911" y="469"/>
                </a:lnTo>
                <a:lnTo>
                  <a:pt x="1969" y="493"/>
                </a:lnTo>
                <a:lnTo>
                  <a:pt x="2025" y="521"/>
                </a:lnTo>
                <a:lnTo>
                  <a:pt x="2273" y="356"/>
                </a:lnTo>
                <a:lnTo>
                  <a:pt x="2303" y="339"/>
                </a:lnTo>
                <a:lnTo>
                  <a:pt x="2335" y="329"/>
                </a:lnTo>
                <a:lnTo>
                  <a:pt x="2368" y="324"/>
                </a:lnTo>
                <a:lnTo>
                  <a:pt x="2400" y="324"/>
                </a:lnTo>
                <a:lnTo>
                  <a:pt x="2432" y="330"/>
                </a:lnTo>
                <a:lnTo>
                  <a:pt x="2463" y="342"/>
                </a:lnTo>
                <a:lnTo>
                  <a:pt x="2492" y="358"/>
                </a:lnTo>
                <a:lnTo>
                  <a:pt x="2518" y="380"/>
                </a:lnTo>
                <a:lnTo>
                  <a:pt x="2645" y="508"/>
                </a:lnTo>
                <a:lnTo>
                  <a:pt x="2667" y="533"/>
                </a:lnTo>
                <a:lnTo>
                  <a:pt x="2684" y="563"/>
                </a:lnTo>
                <a:lnTo>
                  <a:pt x="2694" y="592"/>
                </a:lnTo>
                <a:lnTo>
                  <a:pt x="2700" y="625"/>
                </a:lnTo>
                <a:lnTo>
                  <a:pt x="2702" y="658"/>
                </a:lnTo>
                <a:lnTo>
                  <a:pt x="2696" y="690"/>
                </a:lnTo>
                <a:lnTo>
                  <a:pt x="2686" y="723"/>
                </a:lnTo>
                <a:lnTo>
                  <a:pt x="2669" y="753"/>
                </a:lnTo>
                <a:lnTo>
                  <a:pt x="2504" y="1001"/>
                </a:lnTo>
                <a:lnTo>
                  <a:pt x="2531" y="1057"/>
                </a:lnTo>
                <a:lnTo>
                  <a:pt x="2556" y="1116"/>
                </a:lnTo>
                <a:lnTo>
                  <a:pt x="2576" y="1175"/>
                </a:lnTo>
                <a:lnTo>
                  <a:pt x="2869" y="1234"/>
                </a:lnTo>
                <a:lnTo>
                  <a:pt x="2901" y="1244"/>
                </a:lnTo>
                <a:lnTo>
                  <a:pt x="2931" y="1259"/>
                </a:lnTo>
                <a:lnTo>
                  <a:pt x="2958" y="1278"/>
                </a:lnTo>
                <a:lnTo>
                  <a:pt x="2981" y="1302"/>
                </a:lnTo>
                <a:lnTo>
                  <a:pt x="2999" y="1328"/>
                </a:lnTo>
                <a:lnTo>
                  <a:pt x="3013" y="1358"/>
                </a:lnTo>
                <a:lnTo>
                  <a:pt x="3021" y="1390"/>
                </a:lnTo>
                <a:lnTo>
                  <a:pt x="3025" y="1425"/>
                </a:lnTo>
                <a:lnTo>
                  <a:pt x="3025" y="1604"/>
                </a:lnTo>
                <a:lnTo>
                  <a:pt x="3021" y="1638"/>
                </a:lnTo>
                <a:lnTo>
                  <a:pt x="3013" y="1670"/>
                </a:lnTo>
                <a:lnTo>
                  <a:pt x="2999" y="1700"/>
                </a:lnTo>
                <a:lnTo>
                  <a:pt x="2981" y="1727"/>
                </a:lnTo>
                <a:lnTo>
                  <a:pt x="2958" y="1751"/>
                </a:lnTo>
                <a:lnTo>
                  <a:pt x="2931" y="1770"/>
                </a:lnTo>
                <a:lnTo>
                  <a:pt x="2901" y="1786"/>
                </a:lnTo>
                <a:lnTo>
                  <a:pt x="2869" y="1795"/>
                </a:lnTo>
                <a:lnTo>
                  <a:pt x="2576" y="1854"/>
                </a:lnTo>
                <a:lnTo>
                  <a:pt x="2550" y="1927"/>
                </a:lnTo>
                <a:lnTo>
                  <a:pt x="2519" y="1998"/>
                </a:lnTo>
                <a:lnTo>
                  <a:pt x="2511" y="2012"/>
                </a:lnTo>
                <a:lnTo>
                  <a:pt x="2498" y="2022"/>
                </a:lnTo>
                <a:lnTo>
                  <a:pt x="2484" y="2030"/>
                </a:lnTo>
                <a:lnTo>
                  <a:pt x="2469" y="2033"/>
                </a:lnTo>
                <a:lnTo>
                  <a:pt x="2452" y="2032"/>
                </a:lnTo>
                <a:lnTo>
                  <a:pt x="2437" y="2027"/>
                </a:lnTo>
                <a:lnTo>
                  <a:pt x="2422" y="2018"/>
                </a:lnTo>
                <a:lnTo>
                  <a:pt x="2412" y="2006"/>
                </a:lnTo>
                <a:lnTo>
                  <a:pt x="2405" y="1991"/>
                </a:lnTo>
                <a:lnTo>
                  <a:pt x="2401" y="1976"/>
                </a:lnTo>
                <a:lnTo>
                  <a:pt x="2402" y="1960"/>
                </a:lnTo>
                <a:lnTo>
                  <a:pt x="2407" y="1944"/>
                </a:lnTo>
                <a:lnTo>
                  <a:pt x="2431" y="1892"/>
                </a:lnTo>
                <a:lnTo>
                  <a:pt x="2451" y="1837"/>
                </a:lnTo>
                <a:lnTo>
                  <a:pt x="2468" y="1783"/>
                </a:lnTo>
                <a:lnTo>
                  <a:pt x="2475" y="1767"/>
                </a:lnTo>
                <a:lnTo>
                  <a:pt x="2486" y="1754"/>
                </a:lnTo>
                <a:lnTo>
                  <a:pt x="2499" y="1744"/>
                </a:lnTo>
                <a:lnTo>
                  <a:pt x="2515" y="1738"/>
                </a:lnTo>
                <a:lnTo>
                  <a:pt x="2845" y="1672"/>
                </a:lnTo>
                <a:lnTo>
                  <a:pt x="2863" y="1666"/>
                </a:lnTo>
                <a:lnTo>
                  <a:pt x="2878" y="1656"/>
                </a:lnTo>
                <a:lnTo>
                  <a:pt x="2890" y="1641"/>
                </a:lnTo>
                <a:lnTo>
                  <a:pt x="2897" y="1623"/>
                </a:lnTo>
                <a:lnTo>
                  <a:pt x="2901" y="1604"/>
                </a:lnTo>
                <a:lnTo>
                  <a:pt x="2901" y="1425"/>
                </a:lnTo>
                <a:lnTo>
                  <a:pt x="2897" y="1406"/>
                </a:lnTo>
                <a:lnTo>
                  <a:pt x="2890" y="1388"/>
                </a:lnTo>
                <a:lnTo>
                  <a:pt x="2878" y="1374"/>
                </a:lnTo>
                <a:lnTo>
                  <a:pt x="2863" y="1363"/>
                </a:lnTo>
                <a:lnTo>
                  <a:pt x="2845" y="1356"/>
                </a:lnTo>
                <a:lnTo>
                  <a:pt x="2515" y="1290"/>
                </a:lnTo>
                <a:lnTo>
                  <a:pt x="2499" y="1285"/>
                </a:lnTo>
                <a:lnTo>
                  <a:pt x="2486" y="1275"/>
                </a:lnTo>
                <a:lnTo>
                  <a:pt x="2475" y="1261"/>
                </a:lnTo>
                <a:lnTo>
                  <a:pt x="2468" y="1246"/>
                </a:lnTo>
                <a:lnTo>
                  <a:pt x="2444" y="1171"/>
                </a:lnTo>
                <a:lnTo>
                  <a:pt x="2413" y="1098"/>
                </a:lnTo>
                <a:lnTo>
                  <a:pt x="2377" y="1027"/>
                </a:lnTo>
                <a:lnTo>
                  <a:pt x="2371" y="1012"/>
                </a:lnTo>
                <a:lnTo>
                  <a:pt x="2370" y="995"/>
                </a:lnTo>
                <a:lnTo>
                  <a:pt x="2372" y="978"/>
                </a:lnTo>
                <a:lnTo>
                  <a:pt x="2379" y="963"/>
                </a:lnTo>
                <a:lnTo>
                  <a:pt x="2566" y="683"/>
                </a:lnTo>
                <a:lnTo>
                  <a:pt x="2574" y="665"/>
                </a:lnTo>
                <a:lnTo>
                  <a:pt x="2577" y="647"/>
                </a:lnTo>
                <a:lnTo>
                  <a:pt x="2575" y="628"/>
                </a:lnTo>
                <a:lnTo>
                  <a:pt x="2569" y="610"/>
                </a:lnTo>
                <a:lnTo>
                  <a:pt x="2557" y="595"/>
                </a:lnTo>
                <a:lnTo>
                  <a:pt x="2431" y="468"/>
                </a:lnTo>
                <a:lnTo>
                  <a:pt x="2415" y="456"/>
                </a:lnTo>
                <a:lnTo>
                  <a:pt x="2397" y="449"/>
                </a:lnTo>
                <a:lnTo>
                  <a:pt x="2378" y="448"/>
                </a:lnTo>
                <a:lnTo>
                  <a:pt x="2360" y="452"/>
                </a:lnTo>
                <a:lnTo>
                  <a:pt x="2343" y="460"/>
                </a:lnTo>
                <a:lnTo>
                  <a:pt x="2063" y="645"/>
                </a:lnTo>
                <a:lnTo>
                  <a:pt x="2048" y="653"/>
                </a:lnTo>
                <a:lnTo>
                  <a:pt x="2031" y="656"/>
                </a:lnTo>
                <a:lnTo>
                  <a:pt x="2015" y="655"/>
                </a:lnTo>
                <a:lnTo>
                  <a:pt x="1999" y="649"/>
                </a:lnTo>
                <a:lnTo>
                  <a:pt x="1929" y="612"/>
                </a:lnTo>
                <a:lnTo>
                  <a:pt x="1856" y="582"/>
                </a:lnTo>
                <a:lnTo>
                  <a:pt x="1781" y="558"/>
                </a:lnTo>
                <a:lnTo>
                  <a:pt x="1764" y="551"/>
                </a:lnTo>
                <a:lnTo>
                  <a:pt x="1751" y="540"/>
                </a:lnTo>
                <a:lnTo>
                  <a:pt x="1741" y="526"/>
                </a:lnTo>
                <a:lnTo>
                  <a:pt x="1735" y="510"/>
                </a:lnTo>
                <a:lnTo>
                  <a:pt x="1670" y="180"/>
                </a:lnTo>
                <a:lnTo>
                  <a:pt x="1664" y="162"/>
                </a:lnTo>
                <a:lnTo>
                  <a:pt x="1653" y="147"/>
                </a:lnTo>
                <a:lnTo>
                  <a:pt x="1639" y="135"/>
                </a:lnTo>
                <a:lnTo>
                  <a:pt x="1621" y="127"/>
                </a:lnTo>
                <a:lnTo>
                  <a:pt x="1602" y="124"/>
                </a:lnTo>
                <a:lnTo>
                  <a:pt x="1423" y="124"/>
                </a:lnTo>
                <a:lnTo>
                  <a:pt x="1404" y="127"/>
                </a:lnTo>
                <a:lnTo>
                  <a:pt x="1386" y="135"/>
                </a:lnTo>
                <a:lnTo>
                  <a:pt x="1372" y="147"/>
                </a:lnTo>
                <a:lnTo>
                  <a:pt x="1361" y="162"/>
                </a:lnTo>
                <a:lnTo>
                  <a:pt x="1354" y="180"/>
                </a:lnTo>
                <a:lnTo>
                  <a:pt x="1288" y="510"/>
                </a:lnTo>
                <a:lnTo>
                  <a:pt x="1283" y="526"/>
                </a:lnTo>
                <a:lnTo>
                  <a:pt x="1273" y="540"/>
                </a:lnTo>
                <a:lnTo>
                  <a:pt x="1260" y="551"/>
                </a:lnTo>
                <a:lnTo>
                  <a:pt x="1244" y="558"/>
                </a:lnTo>
                <a:lnTo>
                  <a:pt x="1169" y="582"/>
                </a:lnTo>
                <a:lnTo>
                  <a:pt x="1096" y="612"/>
                </a:lnTo>
                <a:lnTo>
                  <a:pt x="1026" y="649"/>
                </a:lnTo>
                <a:lnTo>
                  <a:pt x="1010" y="655"/>
                </a:lnTo>
                <a:lnTo>
                  <a:pt x="994" y="656"/>
                </a:lnTo>
                <a:lnTo>
                  <a:pt x="977" y="653"/>
                </a:lnTo>
                <a:lnTo>
                  <a:pt x="961" y="645"/>
                </a:lnTo>
                <a:lnTo>
                  <a:pt x="682" y="460"/>
                </a:lnTo>
                <a:lnTo>
                  <a:pt x="664" y="452"/>
                </a:lnTo>
                <a:lnTo>
                  <a:pt x="646" y="448"/>
                </a:lnTo>
                <a:lnTo>
                  <a:pt x="627" y="449"/>
                </a:lnTo>
                <a:lnTo>
                  <a:pt x="609" y="456"/>
                </a:lnTo>
                <a:lnTo>
                  <a:pt x="594" y="468"/>
                </a:lnTo>
                <a:lnTo>
                  <a:pt x="468" y="595"/>
                </a:lnTo>
                <a:lnTo>
                  <a:pt x="456" y="610"/>
                </a:lnTo>
                <a:lnTo>
                  <a:pt x="448" y="628"/>
                </a:lnTo>
                <a:lnTo>
                  <a:pt x="447" y="647"/>
                </a:lnTo>
                <a:lnTo>
                  <a:pt x="451" y="665"/>
                </a:lnTo>
                <a:lnTo>
                  <a:pt x="459" y="683"/>
                </a:lnTo>
                <a:lnTo>
                  <a:pt x="644" y="963"/>
                </a:lnTo>
                <a:lnTo>
                  <a:pt x="652" y="978"/>
                </a:lnTo>
                <a:lnTo>
                  <a:pt x="655" y="995"/>
                </a:lnTo>
                <a:lnTo>
                  <a:pt x="654" y="1012"/>
                </a:lnTo>
                <a:lnTo>
                  <a:pt x="648" y="1027"/>
                </a:lnTo>
                <a:lnTo>
                  <a:pt x="611" y="1098"/>
                </a:lnTo>
                <a:lnTo>
                  <a:pt x="581" y="1171"/>
                </a:lnTo>
                <a:lnTo>
                  <a:pt x="557" y="1246"/>
                </a:lnTo>
                <a:lnTo>
                  <a:pt x="550" y="1261"/>
                </a:lnTo>
                <a:lnTo>
                  <a:pt x="539" y="1275"/>
                </a:lnTo>
                <a:lnTo>
                  <a:pt x="525" y="1285"/>
                </a:lnTo>
                <a:lnTo>
                  <a:pt x="509" y="1290"/>
                </a:lnTo>
                <a:lnTo>
                  <a:pt x="180" y="1356"/>
                </a:lnTo>
                <a:lnTo>
                  <a:pt x="162" y="1363"/>
                </a:lnTo>
                <a:lnTo>
                  <a:pt x="147" y="1374"/>
                </a:lnTo>
                <a:lnTo>
                  <a:pt x="135" y="1388"/>
                </a:lnTo>
                <a:lnTo>
                  <a:pt x="126" y="1406"/>
                </a:lnTo>
                <a:lnTo>
                  <a:pt x="124" y="1425"/>
                </a:lnTo>
                <a:lnTo>
                  <a:pt x="124" y="1604"/>
                </a:lnTo>
                <a:lnTo>
                  <a:pt x="126" y="1623"/>
                </a:lnTo>
                <a:lnTo>
                  <a:pt x="135" y="1641"/>
                </a:lnTo>
                <a:lnTo>
                  <a:pt x="147" y="1656"/>
                </a:lnTo>
                <a:lnTo>
                  <a:pt x="162" y="1666"/>
                </a:lnTo>
                <a:lnTo>
                  <a:pt x="180" y="1672"/>
                </a:lnTo>
                <a:lnTo>
                  <a:pt x="509" y="1738"/>
                </a:lnTo>
                <a:lnTo>
                  <a:pt x="525" y="1744"/>
                </a:lnTo>
                <a:lnTo>
                  <a:pt x="539" y="1754"/>
                </a:lnTo>
                <a:lnTo>
                  <a:pt x="550" y="1767"/>
                </a:lnTo>
                <a:lnTo>
                  <a:pt x="557" y="1783"/>
                </a:lnTo>
                <a:lnTo>
                  <a:pt x="581" y="1858"/>
                </a:lnTo>
                <a:lnTo>
                  <a:pt x="611" y="1932"/>
                </a:lnTo>
                <a:lnTo>
                  <a:pt x="648" y="2001"/>
                </a:lnTo>
                <a:lnTo>
                  <a:pt x="654" y="2018"/>
                </a:lnTo>
                <a:lnTo>
                  <a:pt x="655" y="2034"/>
                </a:lnTo>
                <a:lnTo>
                  <a:pt x="652" y="2051"/>
                </a:lnTo>
                <a:lnTo>
                  <a:pt x="644" y="2067"/>
                </a:lnTo>
                <a:lnTo>
                  <a:pt x="459" y="2346"/>
                </a:lnTo>
                <a:lnTo>
                  <a:pt x="451" y="2363"/>
                </a:lnTo>
                <a:lnTo>
                  <a:pt x="447" y="2382"/>
                </a:lnTo>
                <a:lnTo>
                  <a:pt x="448" y="2401"/>
                </a:lnTo>
                <a:lnTo>
                  <a:pt x="456" y="2419"/>
                </a:lnTo>
                <a:lnTo>
                  <a:pt x="468" y="2434"/>
                </a:lnTo>
                <a:lnTo>
                  <a:pt x="594" y="2561"/>
                </a:lnTo>
                <a:lnTo>
                  <a:pt x="609" y="2573"/>
                </a:lnTo>
                <a:lnTo>
                  <a:pt x="627" y="2579"/>
                </a:lnTo>
                <a:lnTo>
                  <a:pt x="646" y="2581"/>
                </a:lnTo>
                <a:lnTo>
                  <a:pt x="664" y="2578"/>
                </a:lnTo>
                <a:lnTo>
                  <a:pt x="682" y="2569"/>
                </a:lnTo>
                <a:lnTo>
                  <a:pt x="961" y="2383"/>
                </a:lnTo>
                <a:lnTo>
                  <a:pt x="977" y="2376"/>
                </a:lnTo>
                <a:lnTo>
                  <a:pt x="994" y="2374"/>
                </a:lnTo>
                <a:lnTo>
                  <a:pt x="1010" y="2375"/>
                </a:lnTo>
                <a:lnTo>
                  <a:pt x="1026" y="2381"/>
                </a:lnTo>
                <a:lnTo>
                  <a:pt x="1096" y="2417"/>
                </a:lnTo>
                <a:lnTo>
                  <a:pt x="1169" y="2448"/>
                </a:lnTo>
                <a:lnTo>
                  <a:pt x="1244" y="2472"/>
                </a:lnTo>
                <a:lnTo>
                  <a:pt x="1260" y="2479"/>
                </a:lnTo>
                <a:lnTo>
                  <a:pt x="1273" y="2489"/>
                </a:lnTo>
                <a:lnTo>
                  <a:pt x="1283" y="2503"/>
                </a:lnTo>
                <a:lnTo>
                  <a:pt x="1288" y="2519"/>
                </a:lnTo>
                <a:lnTo>
                  <a:pt x="1354" y="2849"/>
                </a:lnTo>
                <a:lnTo>
                  <a:pt x="1361" y="2867"/>
                </a:lnTo>
                <a:lnTo>
                  <a:pt x="1372" y="2882"/>
                </a:lnTo>
                <a:lnTo>
                  <a:pt x="1386" y="2894"/>
                </a:lnTo>
                <a:lnTo>
                  <a:pt x="1404" y="2902"/>
                </a:lnTo>
                <a:lnTo>
                  <a:pt x="1423" y="2905"/>
                </a:lnTo>
                <a:lnTo>
                  <a:pt x="1602" y="2905"/>
                </a:lnTo>
                <a:lnTo>
                  <a:pt x="1621" y="2902"/>
                </a:lnTo>
                <a:lnTo>
                  <a:pt x="1639" y="2894"/>
                </a:lnTo>
                <a:lnTo>
                  <a:pt x="1653" y="2882"/>
                </a:lnTo>
                <a:lnTo>
                  <a:pt x="1664" y="2867"/>
                </a:lnTo>
                <a:lnTo>
                  <a:pt x="1670" y="2849"/>
                </a:lnTo>
                <a:lnTo>
                  <a:pt x="1735" y="2519"/>
                </a:lnTo>
                <a:lnTo>
                  <a:pt x="1741" y="2503"/>
                </a:lnTo>
                <a:lnTo>
                  <a:pt x="1751" y="2489"/>
                </a:lnTo>
                <a:lnTo>
                  <a:pt x="1764" y="2479"/>
                </a:lnTo>
                <a:lnTo>
                  <a:pt x="1781" y="2472"/>
                </a:lnTo>
                <a:lnTo>
                  <a:pt x="1833" y="2455"/>
                </a:lnTo>
                <a:lnTo>
                  <a:pt x="1886" y="2436"/>
                </a:lnTo>
                <a:lnTo>
                  <a:pt x="1937" y="2413"/>
                </a:lnTo>
                <a:lnTo>
                  <a:pt x="1954" y="2408"/>
                </a:lnTo>
                <a:lnTo>
                  <a:pt x="1969" y="2407"/>
                </a:lnTo>
                <a:lnTo>
                  <a:pt x="1985" y="2411"/>
                </a:lnTo>
                <a:lnTo>
                  <a:pt x="1999" y="2418"/>
                </a:lnTo>
                <a:lnTo>
                  <a:pt x="2011" y="2429"/>
                </a:lnTo>
                <a:lnTo>
                  <a:pt x="2020" y="2442"/>
                </a:lnTo>
                <a:lnTo>
                  <a:pt x="2025" y="2458"/>
                </a:lnTo>
                <a:lnTo>
                  <a:pt x="2026" y="2474"/>
                </a:lnTo>
                <a:lnTo>
                  <a:pt x="2023" y="2489"/>
                </a:lnTo>
                <a:lnTo>
                  <a:pt x="2016" y="2504"/>
                </a:lnTo>
                <a:lnTo>
                  <a:pt x="2005" y="2516"/>
                </a:lnTo>
                <a:lnTo>
                  <a:pt x="1991" y="2525"/>
                </a:lnTo>
                <a:lnTo>
                  <a:pt x="1921" y="2555"/>
                </a:lnTo>
                <a:lnTo>
                  <a:pt x="1851" y="2580"/>
                </a:lnTo>
                <a:lnTo>
                  <a:pt x="1793" y="2873"/>
                </a:lnTo>
                <a:lnTo>
                  <a:pt x="1783" y="2905"/>
                </a:lnTo>
                <a:lnTo>
                  <a:pt x="1768" y="2935"/>
                </a:lnTo>
                <a:lnTo>
                  <a:pt x="1749" y="2962"/>
                </a:lnTo>
                <a:lnTo>
                  <a:pt x="1725" y="2985"/>
                </a:lnTo>
                <a:lnTo>
                  <a:pt x="1697" y="3003"/>
                </a:lnTo>
                <a:lnTo>
                  <a:pt x="1667" y="3017"/>
                </a:lnTo>
                <a:lnTo>
                  <a:pt x="1635" y="3026"/>
                </a:lnTo>
                <a:lnTo>
                  <a:pt x="1602" y="3029"/>
                </a:lnTo>
                <a:lnTo>
                  <a:pt x="1423" y="3029"/>
                </a:lnTo>
                <a:lnTo>
                  <a:pt x="1388" y="3026"/>
                </a:lnTo>
                <a:lnTo>
                  <a:pt x="1356" y="3017"/>
                </a:lnTo>
                <a:lnTo>
                  <a:pt x="1326" y="3003"/>
                </a:lnTo>
                <a:lnTo>
                  <a:pt x="1300" y="2985"/>
                </a:lnTo>
                <a:lnTo>
                  <a:pt x="1276" y="2962"/>
                </a:lnTo>
                <a:lnTo>
                  <a:pt x="1257" y="2935"/>
                </a:lnTo>
                <a:lnTo>
                  <a:pt x="1242" y="2905"/>
                </a:lnTo>
                <a:lnTo>
                  <a:pt x="1232" y="2873"/>
                </a:lnTo>
                <a:lnTo>
                  <a:pt x="1174" y="2580"/>
                </a:lnTo>
                <a:lnTo>
                  <a:pt x="1114" y="2560"/>
                </a:lnTo>
                <a:lnTo>
                  <a:pt x="1056" y="2535"/>
                </a:lnTo>
                <a:lnTo>
                  <a:pt x="1000" y="2507"/>
                </a:lnTo>
                <a:lnTo>
                  <a:pt x="751" y="2673"/>
                </a:lnTo>
                <a:lnTo>
                  <a:pt x="722" y="2690"/>
                </a:lnTo>
                <a:lnTo>
                  <a:pt x="689" y="2701"/>
                </a:lnTo>
                <a:lnTo>
                  <a:pt x="657" y="2706"/>
                </a:lnTo>
                <a:lnTo>
                  <a:pt x="625" y="2704"/>
                </a:lnTo>
                <a:lnTo>
                  <a:pt x="593" y="2698"/>
                </a:lnTo>
                <a:lnTo>
                  <a:pt x="562" y="2688"/>
                </a:lnTo>
                <a:lnTo>
                  <a:pt x="532" y="2671"/>
                </a:lnTo>
                <a:lnTo>
                  <a:pt x="507" y="2650"/>
                </a:lnTo>
                <a:lnTo>
                  <a:pt x="379" y="2522"/>
                </a:lnTo>
                <a:lnTo>
                  <a:pt x="358" y="2495"/>
                </a:lnTo>
                <a:lnTo>
                  <a:pt x="341" y="2467"/>
                </a:lnTo>
                <a:lnTo>
                  <a:pt x="329" y="2436"/>
                </a:lnTo>
                <a:lnTo>
                  <a:pt x="323" y="2403"/>
                </a:lnTo>
                <a:lnTo>
                  <a:pt x="323" y="2371"/>
                </a:lnTo>
                <a:lnTo>
                  <a:pt x="328" y="2339"/>
                </a:lnTo>
                <a:lnTo>
                  <a:pt x="339" y="2307"/>
                </a:lnTo>
                <a:lnTo>
                  <a:pt x="355" y="2277"/>
                </a:lnTo>
                <a:lnTo>
                  <a:pt x="520" y="2028"/>
                </a:lnTo>
                <a:lnTo>
                  <a:pt x="493" y="1972"/>
                </a:lnTo>
                <a:lnTo>
                  <a:pt x="469" y="1914"/>
                </a:lnTo>
                <a:lnTo>
                  <a:pt x="448" y="1854"/>
                </a:lnTo>
                <a:lnTo>
                  <a:pt x="156" y="1795"/>
                </a:lnTo>
                <a:lnTo>
                  <a:pt x="123" y="1786"/>
                </a:lnTo>
                <a:lnTo>
                  <a:pt x="93" y="1770"/>
                </a:lnTo>
                <a:lnTo>
                  <a:pt x="67" y="1751"/>
                </a:lnTo>
                <a:lnTo>
                  <a:pt x="44" y="1727"/>
                </a:lnTo>
                <a:lnTo>
                  <a:pt x="25" y="1700"/>
                </a:lnTo>
                <a:lnTo>
                  <a:pt x="12" y="1670"/>
                </a:lnTo>
                <a:lnTo>
                  <a:pt x="4" y="1638"/>
                </a:lnTo>
                <a:lnTo>
                  <a:pt x="0" y="1604"/>
                </a:lnTo>
                <a:lnTo>
                  <a:pt x="0" y="1425"/>
                </a:lnTo>
                <a:lnTo>
                  <a:pt x="4" y="1390"/>
                </a:lnTo>
                <a:lnTo>
                  <a:pt x="12" y="1358"/>
                </a:lnTo>
                <a:lnTo>
                  <a:pt x="25" y="1328"/>
                </a:lnTo>
                <a:lnTo>
                  <a:pt x="44" y="1302"/>
                </a:lnTo>
                <a:lnTo>
                  <a:pt x="67" y="1278"/>
                </a:lnTo>
                <a:lnTo>
                  <a:pt x="93" y="1259"/>
                </a:lnTo>
                <a:lnTo>
                  <a:pt x="123" y="1244"/>
                </a:lnTo>
                <a:lnTo>
                  <a:pt x="156" y="1234"/>
                </a:lnTo>
                <a:lnTo>
                  <a:pt x="448" y="1175"/>
                </a:lnTo>
                <a:lnTo>
                  <a:pt x="469" y="1116"/>
                </a:lnTo>
                <a:lnTo>
                  <a:pt x="493" y="1057"/>
                </a:lnTo>
                <a:lnTo>
                  <a:pt x="520" y="1001"/>
                </a:lnTo>
                <a:lnTo>
                  <a:pt x="355" y="753"/>
                </a:lnTo>
                <a:lnTo>
                  <a:pt x="339" y="723"/>
                </a:lnTo>
                <a:lnTo>
                  <a:pt x="328" y="690"/>
                </a:lnTo>
                <a:lnTo>
                  <a:pt x="323" y="658"/>
                </a:lnTo>
                <a:lnTo>
                  <a:pt x="323" y="626"/>
                </a:lnTo>
                <a:lnTo>
                  <a:pt x="329" y="594"/>
                </a:lnTo>
                <a:lnTo>
                  <a:pt x="341" y="563"/>
                </a:lnTo>
                <a:lnTo>
                  <a:pt x="358" y="533"/>
                </a:lnTo>
                <a:lnTo>
                  <a:pt x="379" y="508"/>
                </a:lnTo>
                <a:lnTo>
                  <a:pt x="507" y="380"/>
                </a:lnTo>
                <a:lnTo>
                  <a:pt x="532" y="358"/>
                </a:lnTo>
                <a:lnTo>
                  <a:pt x="562" y="342"/>
                </a:lnTo>
                <a:lnTo>
                  <a:pt x="593" y="330"/>
                </a:lnTo>
                <a:lnTo>
                  <a:pt x="625" y="324"/>
                </a:lnTo>
                <a:lnTo>
                  <a:pt x="657" y="324"/>
                </a:lnTo>
                <a:lnTo>
                  <a:pt x="689" y="329"/>
                </a:lnTo>
                <a:lnTo>
                  <a:pt x="722" y="339"/>
                </a:lnTo>
                <a:lnTo>
                  <a:pt x="751" y="356"/>
                </a:lnTo>
                <a:lnTo>
                  <a:pt x="1000" y="521"/>
                </a:lnTo>
                <a:lnTo>
                  <a:pt x="1056" y="493"/>
                </a:lnTo>
                <a:lnTo>
                  <a:pt x="1114" y="469"/>
                </a:lnTo>
                <a:lnTo>
                  <a:pt x="1174" y="449"/>
                </a:lnTo>
                <a:lnTo>
                  <a:pt x="1232" y="156"/>
                </a:lnTo>
                <a:lnTo>
                  <a:pt x="1242" y="123"/>
                </a:lnTo>
                <a:lnTo>
                  <a:pt x="1257" y="93"/>
                </a:lnTo>
                <a:lnTo>
                  <a:pt x="1276" y="67"/>
                </a:lnTo>
                <a:lnTo>
                  <a:pt x="1300" y="44"/>
                </a:lnTo>
                <a:lnTo>
                  <a:pt x="1326" y="25"/>
                </a:lnTo>
                <a:lnTo>
                  <a:pt x="1356" y="12"/>
                </a:lnTo>
                <a:lnTo>
                  <a:pt x="1388" y="4"/>
                </a:lnTo>
                <a:lnTo>
                  <a:pt x="1423"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grpSp>
        <p:nvGrpSpPr>
          <p:cNvPr id="270" name="Group 30">
            <a:extLst>
              <a:ext uri="{FF2B5EF4-FFF2-40B4-BE49-F238E27FC236}">
                <a16:creationId xmlns:a16="http://schemas.microsoft.com/office/drawing/2014/main" id="{C3659B14-1F72-0DDB-0606-5FAE21AB24B5}"/>
              </a:ext>
            </a:extLst>
          </p:cNvPr>
          <p:cNvGrpSpPr>
            <a:grpSpLocks noChangeAspect="1"/>
          </p:cNvGrpSpPr>
          <p:nvPr/>
        </p:nvGrpSpPr>
        <p:grpSpPr bwMode="auto">
          <a:xfrm>
            <a:off x="6716103" y="1327650"/>
            <a:ext cx="345732" cy="434970"/>
            <a:chOff x="2923" y="1578"/>
            <a:chExt cx="442" cy="548"/>
          </a:xfrm>
          <a:solidFill>
            <a:schemeClr val="tx1"/>
          </a:solidFill>
        </p:grpSpPr>
        <p:sp>
          <p:nvSpPr>
            <p:cNvPr id="271" name="Freeform 31">
              <a:extLst>
                <a:ext uri="{FF2B5EF4-FFF2-40B4-BE49-F238E27FC236}">
                  <a16:creationId xmlns:a16="http://schemas.microsoft.com/office/drawing/2014/main" id="{FE8B9C03-0F2B-79CD-A5FE-1AC206950242}"/>
                </a:ext>
              </a:extLst>
            </p:cNvPr>
            <p:cNvSpPr>
              <a:spLocks noEditPoints="1"/>
            </p:cNvSpPr>
            <p:nvPr/>
          </p:nvSpPr>
          <p:spPr bwMode="auto">
            <a:xfrm>
              <a:off x="2923" y="1578"/>
              <a:ext cx="442" cy="548"/>
            </a:xfrm>
            <a:custGeom>
              <a:avLst/>
              <a:gdLst>
                <a:gd name="T0" fmla="*/ 153 w 154"/>
                <a:gd name="T1" fmla="*/ 187 h 192"/>
                <a:gd name="T2" fmla="*/ 144 w 154"/>
                <a:gd name="T3" fmla="*/ 178 h 192"/>
                <a:gd name="T4" fmla="*/ 144 w 154"/>
                <a:gd name="T5" fmla="*/ 66 h 192"/>
                <a:gd name="T6" fmla="*/ 128 w 154"/>
                <a:gd name="T7" fmla="*/ 50 h 192"/>
                <a:gd name="T8" fmla="*/ 128 w 154"/>
                <a:gd name="T9" fmla="*/ 0 h 192"/>
                <a:gd name="T10" fmla="*/ 0 w 154"/>
                <a:gd name="T11" fmla="*/ 0 h 192"/>
                <a:gd name="T12" fmla="*/ 0 w 154"/>
                <a:gd name="T13" fmla="*/ 166 h 192"/>
                <a:gd name="T14" fmla="*/ 16 w 154"/>
                <a:gd name="T15" fmla="*/ 166 h 192"/>
                <a:gd name="T16" fmla="*/ 16 w 154"/>
                <a:gd name="T17" fmla="*/ 182 h 192"/>
                <a:gd name="T18" fmla="*/ 139 w 154"/>
                <a:gd name="T19" fmla="*/ 182 h 192"/>
                <a:gd name="T20" fmla="*/ 148 w 154"/>
                <a:gd name="T21" fmla="*/ 191 h 192"/>
                <a:gd name="T22" fmla="*/ 150 w 154"/>
                <a:gd name="T23" fmla="*/ 192 h 192"/>
                <a:gd name="T24" fmla="*/ 153 w 154"/>
                <a:gd name="T25" fmla="*/ 191 h 192"/>
                <a:gd name="T26" fmla="*/ 153 w 154"/>
                <a:gd name="T27" fmla="*/ 187 h 192"/>
                <a:gd name="T28" fmla="*/ 133 w 154"/>
                <a:gd name="T29" fmla="*/ 64 h 192"/>
                <a:gd name="T30" fmla="*/ 96 w 154"/>
                <a:gd name="T31" fmla="*/ 64 h 192"/>
                <a:gd name="T32" fmla="*/ 96 w 154"/>
                <a:gd name="T33" fmla="*/ 27 h 192"/>
                <a:gd name="T34" fmla="*/ 133 w 154"/>
                <a:gd name="T35" fmla="*/ 64 h 192"/>
                <a:gd name="T36" fmla="*/ 6 w 154"/>
                <a:gd name="T37" fmla="*/ 160 h 192"/>
                <a:gd name="T38" fmla="*/ 6 w 154"/>
                <a:gd name="T39" fmla="*/ 6 h 192"/>
                <a:gd name="T40" fmla="*/ 122 w 154"/>
                <a:gd name="T41" fmla="*/ 6 h 192"/>
                <a:gd name="T42" fmla="*/ 122 w 154"/>
                <a:gd name="T43" fmla="*/ 43 h 192"/>
                <a:gd name="T44" fmla="*/ 94 w 154"/>
                <a:gd name="T45" fmla="*/ 16 h 192"/>
                <a:gd name="T46" fmla="*/ 16 w 154"/>
                <a:gd name="T47" fmla="*/ 16 h 192"/>
                <a:gd name="T48" fmla="*/ 16 w 154"/>
                <a:gd name="T49" fmla="*/ 160 h 192"/>
                <a:gd name="T50" fmla="*/ 6 w 154"/>
                <a:gd name="T51" fmla="*/ 160 h 192"/>
                <a:gd name="T52" fmla="*/ 22 w 154"/>
                <a:gd name="T53" fmla="*/ 176 h 192"/>
                <a:gd name="T54" fmla="*/ 22 w 154"/>
                <a:gd name="T55" fmla="*/ 22 h 192"/>
                <a:gd name="T56" fmla="*/ 90 w 154"/>
                <a:gd name="T57" fmla="*/ 22 h 192"/>
                <a:gd name="T58" fmla="*/ 90 w 154"/>
                <a:gd name="T59" fmla="*/ 70 h 192"/>
                <a:gd name="T60" fmla="*/ 138 w 154"/>
                <a:gd name="T61" fmla="*/ 70 h 192"/>
                <a:gd name="T62" fmla="*/ 138 w 154"/>
                <a:gd name="T63" fmla="*/ 171 h 192"/>
                <a:gd name="T64" fmla="*/ 114 w 154"/>
                <a:gd name="T65" fmla="*/ 147 h 192"/>
                <a:gd name="T66" fmla="*/ 122 w 154"/>
                <a:gd name="T67" fmla="*/ 123 h 192"/>
                <a:gd name="T68" fmla="*/ 85 w 154"/>
                <a:gd name="T69" fmla="*/ 85 h 192"/>
                <a:gd name="T70" fmla="*/ 47 w 154"/>
                <a:gd name="T71" fmla="*/ 123 h 192"/>
                <a:gd name="T72" fmla="*/ 85 w 154"/>
                <a:gd name="T73" fmla="*/ 161 h 192"/>
                <a:gd name="T74" fmla="*/ 109 w 154"/>
                <a:gd name="T75" fmla="*/ 152 h 192"/>
                <a:gd name="T76" fmla="*/ 133 w 154"/>
                <a:gd name="T77" fmla="*/ 176 h 192"/>
                <a:gd name="T78" fmla="*/ 22 w 154"/>
                <a:gd name="T79" fmla="*/ 176 h 192"/>
                <a:gd name="T80" fmla="*/ 85 w 154"/>
                <a:gd name="T81" fmla="*/ 155 h 192"/>
                <a:gd name="T82" fmla="*/ 53 w 154"/>
                <a:gd name="T83" fmla="*/ 123 h 192"/>
                <a:gd name="T84" fmla="*/ 85 w 154"/>
                <a:gd name="T85" fmla="*/ 92 h 192"/>
                <a:gd name="T86" fmla="*/ 116 w 154"/>
                <a:gd name="T87" fmla="*/ 123 h 192"/>
                <a:gd name="T88" fmla="*/ 85 w 154"/>
                <a:gd name="T89" fmla="*/ 155 h 192"/>
                <a:gd name="T90" fmla="*/ 85 w 154"/>
                <a:gd name="T91" fmla="*/ 155 h 192"/>
                <a:gd name="T92" fmla="*/ 85 w 154"/>
                <a:gd name="T93" fmla="*/ 155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4" h="192">
                  <a:moveTo>
                    <a:pt x="153" y="187"/>
                  </a:moveTo>
                  <a:cubicBezTo>
                    <a:pt x="144" y="178"/>
                    <a:pt x="144" y="178"/>
                    <a:pt x="144" y="178"/>
                  </a:cubicBezTo>
                  <a:cubicBezTo>
                    <a:pt x="144" y="66"/>
                    <a:pt x="144" y="66"/>
                    <a:pt x="144" y="66"/>
                  </a:cubicBezTo>
                  <a:cubicBezTo>
                    <a:pt x="128" y="50"/>
                    <a:pt x="128" y="50"/>
                    <a:pt x="128" y="50"/>
                  </a:cubicBezTo>
                  <a:cubicBezTo>
                    <a:pt x="128" y="0"/>
                    <a:pt x="128" y="0"/>
                    <a:pt x="128" y="0"/>
                  </a:cubicBezTo>
                  <a:cubicBezTo>
                    <a:pt x="0" y="0"/>
                    <a:pt x="0" y="0"/>
                    <a:pt x="0" y="0"/>
                  </a:cubicBezTo>
                  <a:cubicBezTo>
                    <a:pt x="0" y="166"/>
                    <a:pt x="0" y="166"/>
                    <a:pt x="0" y="166"/>
                  </a:cubicBezTo>
                  <a:cubicBezTo>
                    <a:pt x="16" y="166"/>
                    <a:pt x="16" y="166"/>
                    <a:pt x="16" y="166"/>
                  </a:cubicBezTo>
                  <a:cubicBezTo>
                    <a:pt x="16" y="182"/>
                    <a:pt x="16" y="182"/>
                    <a:pt x="16" y="182"/>
                  </a:cubicBezTo>
                  <a:cubicBezTo>
                    <a:pt x="139" y="182"/>
                    <a:pt x="139" y="182"/>
                    <a:pt x="139" y="182"/>
                  </a:cubicBezTo>
                  <a:cubicBezTo>
                    <a:pt x="148" y="191"/>
                    <a:pt x="148" y="191"/>
                    <a:pt x="148" y="191"/>
                  </a:cubicBezTo>
                  <a:cubicBezTo>
                    <a:pt x="149" y="192"/>
                    <a:pt x="150" y="192"/>
                    <a:pt x="150" y="192"/>
                  </a:cubicBezTo>
                  <a:cubicBezTo>
                    <a:pt x="151" y="192"/>
                    <a:pt x="152" y="192"/>
                    <a:pt x="153" y="191"/>
                  </a:cubicBezTo>
                  <a:cubicBezTo>
                    <a:pt x="154" y="190"/>
                    <a:pt x="154" y="188"/>
                    <a:pt x="153" y="187"/>
                  </a:cubicBezTo>
                  <a:close/>
                  <a:moveTo>
                    <a:pt x="133" y="64"/>
                  </a:moveTo>
                  <a:cubicBezTo>
                    <a:pt x="96" y="64"/>
                    <a:pt x="96" y="64"/>
                    <a:pt x="96" y="64"/>
                  </a:cubicBezTo>
                  <a:cubicBezTo>
                    <a:pt x="96" y="27"/>
                    <a:pt x="96" y="27"/>
                    <a:pt x="96" y="27"/>
                  </a:cubicBezTo>
                  <a:lnTo>
                    <a:pt x="133" y="64"/>
                  </a:lnTo>
                  <a:close/>
                  <a:moveTo>
                    <a:pt x="6" y="160"/>
                  </a:moveTo>
                  <a:cubicBezTo>
                    <a:pt x="6" y="6"/>
                    <a:pt x="6" y="6"/>
                    <a:pt x="6" y="6"/>
                  </a:cubicBezTo>
                  <a:cubicBezTo>
                    <a:pt x="122" y="6"/>
                    <a:pt x="122" y="6"/>
                    <a:pt x="122" y="6"/>
                  </a:cubicBezTo>
                  <a:cubicBezTo>
                    <a:pt x="122" y="43"/>
                    <a:pt x="122" y="43"/>
                    <a:pt x="122" y="43"/>
                  </a:cubicBezTo>
                  <a:cubicBezTo>
                    <a:pt x="94" y="16"/>
                    <a:pt x="94" y="16"/>
                    <a:pt x="94" y="16"/>
                  </a:cubicBezTo>
                  <a:cubicBezTo>
                    <a:pt x="16" y="16"/>
                    <a:pt x="16" y="16"/>
                    <a:pt x="16" y="16"/>
                  </a:cubicBezTo>
                  <a:cubicBezTo>
                    <a:pt x="16" y="160"/>
                    <a:pt x="16" y="160"/>
                    <a:pt x="16" y="160"/>
                  </a:cubicBezTo>
                  <a:lnTo>
                    <a:pt x="6" y="160"/>
                  </a:lnTo>
                  <a:close/>
                  <a:moveTo>
                    <a:pt x="22" y="176"/>
                  </a:moveTo>
                  <a:cubicBezTo>
                    <a:pt x="22" y="22"/>
                    <a:pt x="22" y="22"/>
                    <a:pt x="22" y="22"/>
                  </a:cubicBezTo>
                  <a:cubicBezTo>
                    <a:pt x="90" y="22"/>
                    <a:pt x="90" y="22"/>
                    <a:pt x="90" y="22"/>
                  </a:cubicBezTo>
                  <a:cubicBezTo>
                    <a:pt x="90" y="70"/>
                    <a:pt x="90" y="70"/>
                    <a:pt x="90" y="70"/>
                  </a:cubicBezTo>
                  <a:cubicBezTo>
                    <a:pt x="138" y="70"/>
                    <a:pt x="138" y="70"/>
                    <a:pt x="138" y="70"/>
                  </a:cubicBezTo>
                  <a:cubicBezTo>
                    <a:pt x="138" y="171"/>
                    <a:pt x="138" y="171"/>
                    <a:pt x="138" y="171"/>
                  </a:cubicBezTo>
                  <a:cubicBezTo>
                    <a:pt x="114" y="147"/>
                    <a:pt x="114" y="147"/>
                    <a:pt x="114" y="147"/>
                  </a:cubicBezTo>
                  <a:cubicBezTo>
                    <a:pt x="119" y="141"/>
                    <a:pt x="122" y="132"/>
                    <a:pt x="122" y="123"/>
                  </a:cubicBezTo>
                  <a:cubicBezTo>
                    <a:pt x="122" y="102"/>
                    <a:pt x="106" y="85"/>
                    <a:pt x="85" y="85"/>
                  </a:cubicBezTo>
                  <a:cubicBezTo>
                    <a:pt x="64" y="85"/>
                    <a:pt x="47" y="102"/>
                    <a:pt x="47" y="123"/>
                  </a:cubicBezTo>
                  <a:cubicBezTo>
                    <a:pt x="47" y="144"/>
                    <a:pt x="64" y="161"/>
                    <a:pt x="85" y="161"/>
                  </a:cubicBezTo>
                  <a:cubicBezTo>
                    <a:pt x="94" y="161"/>
                    <a:pt x="102" y="158"/>
                    <a:pt x="109" y="152"/>
                  </a:cubicBezTo>
                  <a:cubicBezTo>
                    <a:pt x="133" y="176"/>
                    <a:pt x="133" y="176"/>
                    <a:pt x="133" y="176"/>
                  </a:cubicBezTo>
                  <a:lnTo>
                    <a:pt x="22" y="176"/>
                  </a:lnTo>
                  <a:close/>
                  <a:moveTo>
                    <a:pt x="85" y="155"/>
                  </a:moveTo>
                  <a:cubicBezTo>
                    <a:pt x="67" y="155"/>
                    <a:pt x="53" y="140"/>
                    <a:pt x="53" y="123"/>
                  </a:cubicBezTo>
                  <a:cubicBezTo>
                    <a:pt x="53" y="106"/>
                    <a:pt x="67" y="92"/>
                    <a:pt x="85" y="92"/>
                  </a:cubicBezTo>
                  <a:cubicBezTo>
                    <a:pt x="102" y="92"/>
                    <a:pt x="116" y="106"/>
                    <a:pt x="116" y="123"/>
                  </a:cubicBezTo>
                  <a:cubicBezTo>
                    <a:pt x="116" y="140"/>
                    <a:pt x="102" y="155"/>
                    <a:pt x="85" y="155"/>
                  </a:cubicBezTo>
                  <a:close/>
                  <a:moveTo>
                    <a:pt x="85" y="155"/>
                  </a:moveTo>
                  <a:cubicBezTo>
                    <a:pt x="85" y="155"/>
                    <a:pt x="85" y="155"/>
                    <a:pt x="85" y="15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272" name="Freeform 32">
              <a:extLst>
                <a:ext uri="{FF2B5EF4-FFF2-40B4-BE49-F238E27FC236}">
                  <a16:creationId xmlns:a16="http://schemas.microsoft.com/office/drawing/2014/main" id="{934007F8-1FE4-3601-1AE3-9FAB5CD1B261}"/>
                </a:ext>
              </a:extLst>
            </p:cNvPr>
            <p:cNvSpPr>
              <a:spLocks noEditPoints="1"/>
            </p:cNvSpPr>
            <p:nvPr/>
          </p:nvSpPr>
          <p:spPr bwMode="auto">
            <a:xfrm>
              <a:off x="3104" y="1889"/>
              <a:ext cx="72" cy="17"/>
            </a:xfrm>
            <a:custGeom>
              <a:avLst/>
              <a:gdLst>
                <a:gd name="T0" fmla="*/ 3 w 25"/>
                <a:gd name="T1" fmla="*/ 6 h 6"/>
                <a:gd name="T2" fmla="*/ 22 w 25"/>
                <a:gd name="T3" fmla="*/ 6 h 6"/>
                <a:gd name="T4" fmla="*/ 25 w 25"/>
                <a:gd name="T5" fmla="*/ 3 h 6"/>
                <a:gd name="T6" fmla="*/ 22 w 25"/>
                <a:gd name="T7" fmla="*/ 0 h 6"/>
                <a:gd name="T8" fmla="*/ 3 w 25"/>
                <a:gd name="T9" fmla="*/ 0 h 6"/>
                <a:gd name="T10" fmla="*/ 0 w 25"/>
                <a:gd name="T11" fmla="*/ 3 h 6"/>
                <a:gd name="T12" fmla="*/ 3 w 25"/>
                <a:gd name="T13" fmla="*/ 6 h 6"/>
                <a:gd name="T14" fmla="*/ 3 w 25"/>
                <a:gd name="T15" fmla="*/ 6 h 6"/>
                <a:gd name="T16" fmla="*/ 3 w 25"/>
                <a:gd name="T17"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6">
                  <a:moveTo>
                    <a:pt x="3" y="6"/>
                  </a:moveTo>
                  <a:cubicBezTo>
                    <a:pt x="22" y="6"/>
                    <a:pt x="22" y="6"/>
                    <a:pt x="22" y="6"/>
                  </a:cubicBezTo>
                  <a:cubicBezTo>
                    <a:pt x="24" y="6"/>
                    <a:pt x="25" y="5"/>
                    <a:pt x="25" y="3"/>
                  </a:cubicBezTo>
                  <a:cubicBezTo>
                    <a:pt x="25" y="1"/>
                    <a:pt x="24" y="0"/>
                    <a:pt x="22" y="0"/>
                  </a:cubicBezTo>
                  <a:cubicBezTo>
                    <a:pt x="3" y="0"/>
                    <a:pt x="3" y="0"/>
                    <a:pt x="3" y="0"/>
                  </a:cubicBezTo>
                  <a:cubicBezTo>
                    <a:pt x="1" y="0"/>
                    <a:pt x="0" y="1"/>
                    <a:pt x="0" y="3"/>
                  </a:cubicBezTo>
                  <a:cubicBezTo>
                    <a:pt x="0" y="5"/>
                    <a:pt x="1" y="6"/>
                    <a:pt x="3" y="6"/>
                  </a:cubicBezTo>
                  <a:close/>
                  <a:moveTo>
                    <a:pt x="3" y="6"/>
                  </a:moveTo>
                  <a:cubicBezTo>
                    <a:pt x="3" y="6"/>
                    <a:pt x="3" y="6"/>
                    <a:pt x="3" y="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273" name="Freeform 33">
              <a:extLst>
                <a:ext uri="{FF2B5EF4-FFF2-40B4-BE49-F238E27FC236}">
                  <a16:creationId xmlns:a16="http://schemas.microsoft.com/office/drawing/2014/main" id="{12F20E32-6BFA-0BCC-F3C8-9FA22A6E0E80}"/>
                </a:ext>
              </a:extLst>
            </p:cNvPr>
            <p:cNvSpPr>
              <a:spLocks noEditPoints="1"/>
            </p:cNvSpPr>
            <p:nvPr/>
          </p:nvSpPr>
          <p:spPr bwMode="auto">
            <a:xfrm>
              <a:off x="3104" y="1943"/>
              <a:ext cx="129" cy="17"/>
            </a:xfrm>
            <a:custGeom>
              <a:avLst/>
              <a:gdLst>
                <a:gd name="T0" fmla="*/ 41 w 45"/>
                <a:gd name="T1" fmla="*/ 0 h 6"/>
                <a:gd name="T2" fmla="*/ 3 w 45"/>
                <a:gd name="T3" fmla="*/ 0 h 6"/>
                <a:gd name="T4" fmla="*/ 0 w 45"/>
                <a:gd name="T5" fmla="*/ 3 h 6"/>
                <a:gd name="T6" fmla="*/ 3 w 45"/>
                <a:gd name="T7" fmla="*/ 6 h 6"/>
                <a:gd name="T8" fmla="*/ 41 w 45"/>
                <a:gd name="T9" fmla="*/ 6 h 6"/>
                <a:gd name="T10" fmla="*/ 45 w 45"/>
                <a:gd name="T11" fmla="*/ 3 h 6"/>
                <a:gd name="T12" fmla="*/ 41 w 45"/>
                <a:gd name="T13" fmla="*/ 0 h 6"/>
                <a:gd name="T14" fmla="*/ 41 w 45"/>
                <a:gd name="T15" fmla="*/ 0 h 6"/>
                <a:gd name="T16" fmla="*/ 41 w 45"/>
                <a:gd name="T17"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6">
                  <a:moveTo>
                    <a:pt x="41" y="0"/>
                  </a:moveTo>
                  <a:cubicBezTo>
                    <a:pt x="3" y="0"/>
                    <a:pt x="3" y="0"/>
                    <a:pt x="3" y="0"/>
                  </a:cubicBezTo>
                  <a:cubicBezTo>
                    <a:pt x="1" y="0"/>
                    <a:pt x="0" y="1"/>
                    <a:pt x="0" y="3"/>
                  </a:cubicBezTo>
                  <a:cubicBezTo>
                    <a:pt x="0" y="5"/>
                    <a:pt x="1" y="6"/>
                    <a:pt x="3" y="6"/>
                  </a:cubicBezTo>
                  <a:cubicBezTo>
                    <a:pt x="41" y="6"/>
                    <a:pt x="41" y="6"/>
                    <a:pt x="41" y="6"/>
                  </a:cubicBezTo>
                  <a:cubicBezTo>
                    <a:pt x="43" y="6"/>
                    <a:pt x="45" y="5"/>
                    <a:pt x="45" y="3"/>
                  </a:cubicBezTo>
                  <a:cubicBezTo>
                    <a:pt x="45" y="1"/>
                    <a:pt x="43" y="0"/>
                    <a:pt x="41" y="0"/>
                  </a:cubicBezTo>
                  <a:close/>
                  <a:moveTo>
                    <a:pt x="41" y="0"/>
                  </a:moveTo>
                  <a:cubicBezTo>
                    <a:pt x="41" y="0"/>
                    <a:pt x="41" y="0"/>
                    <a:pt x="4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grpSp>
      <p:grpSp>
        <p:nvGrpSpPr>
          <p:cNvPr id="274" name="Group 24">
            <a:extLst>
              <a:ext uri="{FF2B5EF4-FFF2-40B4-BE49-F238E27FC236}">
                <a16:creationId xmlns:a16="http://schemas.microsoft.com/office/drawing/2014/main" id="{427C4086-7020-1F12-3838-A8CFAF805F7D}"/>
              </a:ext>
            </a:extLst>
          </p:cNvPr>
          <p:cNvGrpSpPr>
            <a:grpSpLocks noChangeAspect="1"/>
          </p:cNvGrpSpPr>
          <p:nvPr/>
        </p:nvGrpSpPr>
        <p:grpSpPr bwMode="auto">
          <a:xfrm>
            <a:off x="8135024" y="1359491"/>
            <a:ext cx="456806" cy="371288"/>
            <a:chOff x="2060" y="768"/>
            <a:chExt cx="618" cy="495"/>
          </a:xfrm>
          <a:solidFill>
            <a:schemeClr val="tx1"/>
          </a:solidFill>
        </p:grpSpPr>
        <p:sp>
          <p:nvSpPr>
            <p:cNvPr id="275" name="Freeform 25">
              <a:extLst>
                <a:ext uri="{FF2B5EF4-FFF2-40B4-BE49-F238E27FC236}">
                  <a16:creationId xmlns:a16="http://schemas.microsoft.com/office/drawing/2014/main" id="{D3A74C24-610F-A121-F414-D5A7AF1F9BC3}"/>
                </a:ext>
              </a:extLst>
            </p:cNvPr>
            <p:cNvSpPr>
              <a:spLocks noEditPoints="1"/>
            </p:cNvSpPr>
            <p:nvPr/>
          </p:nvSpPr>
          <p:spPr bwMode="auto">
            <a:xfrm>
              <a:off x="2186" y="813"/>
              <a:ext cx="337" cy="18"/>
            </a:xfrm>
            <a:custGeom>
              <a:avLst/>
              <a:gdLst>
                <a:gd name="T0" fmla="*/ 869 w 893"/>
                <a:gd name="T1" fmla="*/ 0 h 48"/>
                <a:gd name="T2" fmla="*/ 24 w 893"/>
                <a:gd name="T3" fmla="*/ 0 h 48"/>
                <a:gd name="T4" fmla="*/ 0 w 893"/>
                <a:gd name="T5" fmla="*/ 24 h 48"/>
                <a:gd name="T6" fmla="*/ 24 w 893"/>
                <a:gd name="T7" fmla="*/ 48 h 48"/>
                <a:gd name="T8" fmla="*/ 869 w 893"/>
                <a:gd name="T9" fmla="*/ 48 h 48"/>
                <a:gd name="T10" fmla="*/ 893 w 893"/>
                <a:gd name="T11" fmla="*/ 24 h 48"/>
                <a:gd name="T12" fmla="*/ 869 w 893"/>
                <a:gd name="T13" fmla="*/ 0 h 48"/>
                <a:gd name="T14" fmla="*/ 869 w 893"/>
                <a:gd name="T15" fmla="*/ 0 h 48"/>
                <a:gd name="T16" fmla="*/ 869 w 893"/>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3" h="48">
                  <a:moveTo>
                    <a:pt x="869" y="0"/>
                  </a:moveTo>
                  <a:cubicBezTo>
                    <a:pt x="24" y="0"/>
                    <a:pt x="24" y="0"/>
                    <a:pt x="24" y="0"/>
                  </a:cubicBezTo>
                  <a:cubicBezTo>
                    <a:pt x="11" y="0"/>
                    <a:pt x="0" y="11"/>
                    <a:pt x="0" y="24"/>
                  </a:cubicBezTo>
                  <a:cubicBezTo>
                    <a:pt x="0" y="37"/>
                    <a:pt x="11" y="48"/>
                    <a:pt x="24" y="48"/>
                  </a:cubicBezTo>
                  <a:cubicBezTo>
                    <a:pt x="869" y="48"/>
                    <a:pt x="869" y="48"/>
                    <a:pt x="869" y="48"/>
                  </a:cubicBezTo>
                  <a:cubicBezTo>
                    <a:pt x="882" y="48"/>
                    <a:pt x="893" y="37"/>
                    <a:pt x="893" y="24"/>
                  </a:cubicBezTo>
                  <a:cubicBezTo>
                    <a:pt x="893" y="11"/>
                    <a:pt x="882" y="0"/>
                    <a:pt x="869" y="0"/>
                  </a:cubicBezTo>
                  <a:close/>
                  <a:moveTo>
                    <a:pt x="869" y="0"/>
                  </a:moveTo>
                  <a:cubicBezTo>
                    <a:pt x="869" y="0"/>
                    <a:pt x="869" y="0"/>
                    <a:pt x="869"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276" name="Freeform 26">
              <a:extLst>
                <a:ext uri="{FF2B5EF4-FFF2-40B4-BE49-F238E27FC236}">
                  <a16:creationId xmlns:a16="http://schemas.microsoft.com/office/drawing/2014/main" id="{8AF69636-47E5-8242-5C18-BEACFA765F2A}"/>
                </a:ext>
              </a:extLst>
            </p:cNvPr>
            <p:cNvSpPr>
              <a:spLocks noEditPoints="1"/>
            </p:cNvSpPr>
            <p:nvPr/>
          </p:nvSpPr>
          <p:spPr bwMode="auto">
            <a:xfrm>
              <a:off x="2060" y="768"/>
              <a:ext cx="618" cy="495"/>
            </a:xfrm>
            <a:custGeom>
              <a:avLst/>
              <a:gdLst>
                <a:gd name="T0" fmla="*/ 1459 w 1638"/>
                <a:gd name="T1" fmla="*/ 557 h 1309"/>
                <a:gd name="T2" fmla="*/ 1400 w 1638"/>
                <a:gd name="T3" fmla="*/ 707 h 1309"/>
                <a:gd name="T4" fmla="*/ 1337 w 1638"/>
                <a:gd name="T5" fmla="*/ 0 h 1309"/>
                <a:gd name="T6" fmla="*/ 0 w 1638"/>
                <a:gd name="T7" fmla="*/ 62 h 1309"/>
                <a:gd name="T8" fmla="*/ 62 w 1638"/>
                <a:gd name="T9" fmla="*/ 1309 h 1309"/>
                <a:gd name="T10" fmla="*/ 694 w 1638"/>
                <a:gd name="T11" fmla="*/ 1285 h 1309"/>
                <a:gd name="T12" fmla="*/ 62 w 1638"/>
                <a:gd name="T13" fmla="*/ 1261 h 1309"/>
                <a:gd name="T14" fmla="*/ 48 w 1638"/>
                <a:gd name="T15" fmla="*/ 282 h 1309"/>
                <a:gd name="T16" fmla="*/ 1352 w 1638"/>
                <a:gd name="T17" fmla="*/ 768 h 1309"/>
                <a:gd name="T18" fmla="*/ 1227 w 1638"/>
                <a:gd name="T19" fmla="*/ 869 h 1309"/>
                <a:gd name="T20" fmla="*/ 1052 w 1638"/>
                <a:gd name="T21" fmla="*/ 794 h 1309"/>
                <a:gd name="T22" fmla="*/ 971 w 1638"/>
                <a:gd name="T23" fmla="*/ 665 h 1309"/>
                <a:gd name="T24" fmla="*/ 893 w 1638"/>
                <a:gd name="T25" fmla="*/ 799 h 1309"/>
                <a:gd name="T26" fmla="*/ 715 w 1638"/>
                <a:gd name="T27" fmla="*/ 903 h 1309"/>
                <a:gd name="T28" fmla="*/ 715 w 1638"/>
                <a:gd name="T29" fmla="*/ 1083 h 1309"/>
                <a:gd name="T30" fmla="*/ 795 w 1638"/>
                <a:gd name="T31" fmla="*/ 951 h 1309"/>
                <a:gd name="T32" fmla="*/ 971 w 1638"/>
                <a:gd name="T33" fmla="*/ 844 h 1309"/>
                <a:gd name="T34" fmla="*/ 1143 w 1638"/>
                <a:gd name="T35" fmla="*/ 927 h 1309"/>
                <a:gd name="T36" fmla="*/ 1227 w 1638"/>
                <a:gd name="T37" fmla="*/ 1049 h 1309"/>
                <a:gd name="T38" fmla="*/ 1302 w 1638"/>
                <a:gd name="T39" fmla="*/ 910 h 1309"/>
                <a:gd name="T40" fmla="*/ 1352 w 1638"/>
                <a:gd name="T41" fmla="*/ 1247 h 1309"/>
                <a:gd name="T42" fmla="*/ 782 w 1638"/>
                <a:gd name="T43" fmla="*/ 1261 h 1309"/>
                <a:gd name="T44" fmla="*/ 782 w 1638"/>
                <a:gd name="T45" fmla="*/ 1309 h 1309"/>
                <a:gd name="T46" fmla="*/ 1400 w 1638"/>
                <a:gd name="T47" fmla="*/ 1247 h 1309"/>
                <a:gd name="T48" fmla="*/ 1514 w 1638"/>
                <a:gd name="T49" fmla="*/ 640 h 1309"/>
                <a:gd name="T50" fmla="*/ 1638 w 1638"/>
                <a:gd name="T51" fmla="*/ 557 h 1309"/>
                <a:gd name="T52" fmla="*/ 224 w 1638"/>
                <a:gd name="T53" fmla="*/ 234 h 1309"/>
                <a:gd name="T54" fmla="*/ 48 w 1638"/>
                <a:gd name="T55" fmla="*/ 62 h 1309"/>
                <a:gd name="T56" fmla="*/ 224 w 1638"/>
                <a:gd name="T57" fmla="*/ 48 h 1309"/>
                <a:gd name="T58" fmla="*/ 715 w 1638"/>
                <a:gd name="T59" fmla="*/ 1035 h 1309"/>
                <a:gd name="T60" fmla="*/ 715 w 1638"/>
                <a:gd name="T61" fmla="*/ 951 h 1309"/>
                <a:gd name="T62" fmla="*/ 715 w 1638"/>
                <a:gd name="T63" fmla="*/ 1035 h 1309"/>
                <a:gd name="T64" fmla="*/ 929 w 1638"/>
                <a:gd name="T65" fmla="*/ 755 h 1309"/>
                <a:gd name="T66" fmla="*/ 1013 w 1638"/>
                <a:gd name="T67" fmla="*/ 755 h 1309"/>
                <a:gd name="T68" fmla="*/ 1227 w 1638"/>
                <a:gd name="T69" fmla="*/ 1001 h 1309"/>
                <a:gd name="T70" fmla="*/ 1227 w 1638"/>
                <a:gd name="T71" fmla="*/ 917 h 1309"/>
                <a:gd name="T72" fmla="*/ 1227 w 1638"/>
                <a:gd name="T73" fmla="*/ 1001 h 1309"/>
                <a:gd name="T74" fmla="*/ 272 w 1638"/>
                <a:gd name="T75" fmla="*/ 234 h 1309"/>
                <a:gd name="T76" fmla="*/ 1337 w 1638"/>
                <a:gd name="T77" fmla="*/ 48 h 1309"/>
                <a:gd name="T78" fmla="*/ 1352 w 1638"/>
                <a:gd name="T79" fmla="*/ 234 h 1309"/>
                <a:gd name="T80" fmla="*/ 1507 w 1638"/>
                <a:gd name="T81" fmla="*/ 557 h 1309"/>
                <a:gd name="T82" fmla="*/ 1590 w 1638"/>
                <a:gd name="T83" fmla="*/ 557 h 1309"/>
                <a:gd name="T84" fmla="*/ 1549 w 1638"/>
                <a:gd name="T85" fmla="*/ 598 h 1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638" h="1309">
                  <a:moveTo>
                    <a:pt x="1549" y="467"/>
                  </a:moveTo>
                  <a:cubicBezTo>
                    <a:pt x="1499" y="467"/>
                    <a:pt x="1459" y="507"/>
                    <a:pt x="1459" y="557"/>
                  </a:cubicBezTo>
                  <a:cubicBezTo>
                    <a:pt x="1459" y="577"/>
                    <a:pt x="1465" y="595"/>
                    <a:pt x="1476" y="610"/>
                  </a:cubicBezTo>
                  <a:cubicBezTo>
                    <a:pt x="1400" y="707"/>
                    <a:pt x="1400" y="707"/>
                    <a:pt x="1400" y="707"/>
                  </a:cubicBezTo>
                  <a:cubicBezTo>
                    <a:pt x="1400" y="58"/>
                    <a:pt x="1400" y="58"/>
                    <a:pt x="1400" y="58"/>
                  </a:cubicBezTo>
                  <a:cubicBezTo>
                    <a:pt x="1400" y="30"/>
                    <a:pt x="1379" y="0"/>
                    <a:pt x="1337" y="0"/>
                  </a:cubicBezTo>
                  <a:cubicBezTo>
                    <a:pt x="62" y="0"/>
                    <a:pt x="62" y="0"/>
                    <a:pt x="62" y="0"/>
                  </a:cubicBezTo>
                  <a:cubicBezTo>
                    <a:pt x="28" y="0"/>
                    <a:pt x="0" y="21"/>
                    <a:pt x="0" y="62"/>
                  </a:cubicBezTo>
                  <a:cubicBezTo>
                    <a:pt x="0" y="1247"/>
                    <a:pt x="0" y="1247"/>
                    <a:pt x="0" y="1247"/>
                  </a:cubicBezTo>
                  <a:cubicBezTo>
                    <a:pt x="0" y="1281"/>
                    <a:pt x="28" y="1309"/>
                    <a:pt x="62" y="1309"/>
                  </a:cubicBezTo>
                  <a:cubicBezTo>
                    <a:pt x="670" y="1309"/>
                    <a:pt x="670" y="1309"/>
                    <a:pt x="670" y="1309"/>
                  </a:cubicBezTo>
                  <a:cubicBezTo>
                    <a:pt x="684" y="1309"/>
                    <a:pt x="694" y="1298"/>
                    <a:pt x="694" y="1285"/>
                  </a:cubicBezTo>
                  <a:cubicBezTo>
                    <a:pt x="694" y="1272"/>
                    <a:pt x="684" y="1261"/>
                    <a:pt x="670" y="1261"/>
                  </a:cubicBezTo>
                  <a:cubicBezTo>
                    <a:pt x="62" y="1261"/>
                    <a:pt x="62" y="1261"/>
                    <a:pt x="62" y="1261"/>
                  </a:cubicBezTo>
                  <a:cubicBezTo>
                    <a:pt x="55" y="1261"/>
                    <a:pt x="48" y="1254"/>
                    <a:pt x="48" y="1247"/>
                  </a:cubicBezTo>
                  <a:cubicBezTo>
                    <a:pt x="48" y="282"/>
                    <a:pt x="48" y="282"/>
                    <a:pt x="48" y="282"/>
                  </a:cubicBezTo>
                  <a:cubicBezTo>
                    <a:pt x="1352" y="282"/>
                    <a:pt x="1352" y="282"/>
                    <a:pt x="1352" y="282"/>
                  </a:cubicBezTo>
                  <a:cubicBezTo>
                    <a:pt x="1352" y="768"/>
                    <a:pt x="1352" y="768"/>
                    <a:pt x="1352" y="768"/>
                  </a:cubicBezTo>
                  <a:cubicBezTo>
                    <a:pt x="1265" y="878"/>
                    <a:pt x="1265" y="878"/>
                    <a:pt x="1265" y="878"/>
                  </a:cubicBezTo>
                  <a:cubicBezTo>
                    <a:pt x="1254" y="872"/>
                    <a:pt x="1240" y="869"/>
                    <a:pt x="1227" y="869"/>
                  </a:cubicBezTo>
                  <a:cubicBezTo>
                    <a:pt x="1206" y="869"/>
                    <a:pt x="1187" y="876"/>
                    <a:pt x="1171" y="888"/>
                  </a:cubicBezTo>
                  <a:cubicBezTo>
                    <a:pt x="1052" y="794"/>
                    <a:pt x="1052" y="794"/>
                    <a:pt x="1052" y="794"/>
                  </a:cubicBezTo>
                  <a:cubicBezTo>
                    <a:pt x="1058" y="782"/>
                    <a:pt x="1061" y="769"/>
                    <a:pt x="1061" y="755"/>
                  </a:cubicBezTo>
                  <a:cubicBezTo>
                    <a:pt x="1061" y="705"/>
                    <a:pt x="1020" y="665"/>
                    <a:pt x="971" y="665"/>
                  </a:cubicBezTo>
                  <a:cubicBezTo>
                    <a:pt x="922" y="665"/>
                    <a:pt x="881" y="705"/>
                    <a:pt x="881" y="755"/>
                  </a:cubicBezTo>
                  <a:cubicBezTo>
                    <a:pt x="881" y="771"/>
                    <a:pt x="885" y="786"/>
                    <a:pt x="893" y="799"/>
                  </a:cubicBezTo>
                  <a:cubicBezTo>
                    <a:pt x="762" y="916"/>
                    <a:pt x="762" y="916"/>
                    <a:pt x="762" y="916"/>
                  </a:cubicBezTo>
                  <a:cubicBezTo>
                    <a:pt x="749" y="908"/>
                    <a:pt x="733" y="903"/>
                    <a:pt x="715" y="903"/>
                  </a:cubicBezTo>
                  <a:cubicBezTo>
                    <a:pt x="666" y="903"/>
                    <a:pt x="626" y="943"/>
                    <a:pt x="626" y="993"/>
                  </a:cubicBezTo>
                  <a:cubicBezTo>
                    <a:pt x="626" y="1042"/>
                    <a:pt x="666" y="1083"/>
                    <a:pt x="715" y="1083"/>
                  </a:cubicBezTo>
                  <a:cubicBezTo>
                    <a:pt x="765" y="1083"/>
                    <a:pt x="805" y="1042"/>
                    <a:pt x="805" y="993"/>
                  </a:cubicBezTo>
                  <a:cubicBezTo>
                    <a:pt x="805" y="978"/>
                    <a:pt x="801" y="964"/>
                    <a:pt x="795" y="951"/>
                  </a:cubicBezTo>
                  <a:cubicBezTo>
                    <a:pt x="927" y="833"/>
                    <a:pt x="927" y="833"/>
                    <a:pt x="927" y="833"/>
                  </a:cubicBezTo>
                  <a:cubicBezTo>
                    <a:pt x="940" y="840"/>
                    <a:pt x="955" y="844"/>
                    <a:pt x="971" y="844"/>
                  </a:cubicBezTo>
                  <a:cubicBezTo>
                    <a:pt x="989" y="844"/>
                    <a:pt x="1006" y="839"/>
                    <a:pt x="1020" y="830"/>
                  </a:cubicBezTo>
                  <a:cubicBezTo>
                    <a:pt x="1143" y="927"/>
                    <a:pt x="1143" y="927"/>
                    <a:pt x="1143" y="927"/>
                  </a:cubicBezTo>
                  <a:cubicBezTo>
                    <a:pt x="1139" y="937"/>
                    <a:pt x="1137" y="948"/>
                    <a:pt x="1137" y="959"/>
                  </a:cubicBezTo>
                  <a:cubicBezTo>
                    <a:pt x="1137" y="1009"/>
                    <a:pt x="1177" y="1049"/>
                    <a:pt x="1227" y="1049"/>
                  </a:cubicBezTo>
                  <a:cubicBezTo>
                    <a:pt x="1276" y="1049"/>
                    <a:pt x="1316" y="1009"/>
                    <a:pt x="1316" y="959"/>
                  </a:cubicBezTo>
                  <a:cubicBezTo>
                    <a:pt x="1316" y="941"/>
                    <a:pt x="1311" y="924"/>
                    <a:pt x="1302" y="910"/>
                  </a:cubicBezTo>
                  <a:cubicBezTo>
                    <a:pt x="1352" y="846"/>
                    <a:pt x="1352" y="846"/>
                    <a:pt x="1352" y="846"/>
                  </a:cubicBezTo>
                  <a:cubicBezTo>
                    <a:pt x="1352" y="1247"/>
                    <a:pt x="1352" y="1247"/>
                    <a:pt x="1352" y="1247"/>
                  </a:cubicBezTo>
                  <a:cubicBezTo>
                    <a:pt x="1352" y="1254"/>
                    <a:pt x="1345" y="1261"/>
                    <a:pt x="1337" y="1261"/>
                  </a:cubicBezTo>
                  <a:cubicBezTo>
                    <a:pt x="782" y="1261"/>
                    <a:pt x="782" y="1261"/>
                    <a:pt x="782" y="1261"/>
                  </a:cubicBezTo>
                  <a:cubicBezTo>
                    <a:pt x="769" y="1261"/>
                    <a:pt x="758" y="1272"/>
                    <a:pt x="758" y="1285"/>
                  </a:cubicBezTo>
                  <a:cubicBezTo>
                    <a:pt x="758" y="1298"/>
                    <a:pt x="769" y="1309"/>
                    <a:pt x="782" y="1309"/>
                  </a:cubicBezTo>
                  <a:cubicBezTo>
                    <a:pt x="1337" y="1309"/>
                    <a:pt x="1337" y="1309"/>
                    <a:pt x="1337" y="1309"/>
                  </a:cubicBezTo>
                  <a:cubicBezTo>
                    <a:pt x="1372" y="1309"/>
                    <a:pt x="1400" y="1281"/>
                    <a:pt x="1400" y="1247"/>
                  </a:cubicBezTo>
                  <a:cubicBezTo>
                    <a:pt x="1400" y="785"/>
                    <a:pt x="1400" y="785"/>
                    <a:pt x="1400" y="785"/>
                  </a:cubicBezTo>
                  <a:cubicBezTo>
                    <a:pt x="1514" y="640"/>
                    <a:pt x="1514" y="640"/>
                    <a:pt x="1514" y="640"/>
                  </a:cubicBezTo>
                  <a:cubicBezTo>
                    <a:pt x="1525" y="644"/>
                    <a:pt x="1536" y="646"/>
                    <a:pt x="1549" y="646"/>
                  </a:cubicBezTo>
                  <a:cubicBezTo>
                    <a:pt x="1598" y="646"/>
                    <a:pt x="1638" y="606"/>
                    <a:pt x="1638" y="557"/>
                  </a:cubicBezTo>
                  <a:cubicBezTo>
                    <a:pt x="1638" y="507"/>
                    <a:pt x="1598" y="467"/>
                    <a:pt x="1549" y="467"/>
                  </a:cubicBezTo>
                  <a:close/>
                  <a:moveTo>
                    <a:pt x="224" y="234"/>
                  </a:moveTo>
                  <a:cubicBezTo>
                    <a:pt x="48" y="234"/>
                    <a:pt x="48" y="234"/>
                    <a:pt x="48" y="234"/>
                  </a:cubicBezTo>
                  <a:cubicBezTo>
                    <a:pt x="48" y="62"/>
                    <a:pt x="48" y="62"/>
                    <a:pt x="48" y="62"/>
                  </a:cubicBezTo>
                  <a:cubicBezTo>
                    <a:pt x="48" y="55"/>
                    <a:pt x="55" y="48"/>
                    <a:pt x="62" y="48"/>
                  </a:cubicBezTo>
                  <a:cubicBezTo>
                    <a:pt x="224" y="48"/>
                    <a:pt x="224" y="48"/>
                    <a:pt x="224" y="48"/>
                  </a:cubicBezTo>
                  <a:lnTo>
                    <a:pt x="224" y="234"/>
                  </a:lnTo>
                  <a:close/>
                  <a:moveTo>
                    <a:pt x="715" y="1035"/>
                  </a:moveTo>
                  <a:cubicBezTo>
                    <a:pt x="692" y="1035"/>
                    <a:pt x="674" y="1016"/>
                    <a:pt x="674" y="993"/>
                  </a:cubicBezTo>
                  <a:cubicBezTo>
                    <a:pt x="674" y="970"/>
                    <a:pt x="692" y="951"/>
                    <a:pt x="715" y="951"/>
                  </a:cubicBezTo>
                  <a:cubicBezTo>
                    <a:pt x="738" y="951"/>
                    <a:pt x="757" y="970"/>
                    <a:pt x="757" y="993"/>
                  </a:cubicBezTo>
                  <a:cubicBezTo>
                    <a:pt x="757" y="1016"/>
                    <a:pt x="738" y="1035"/>
                    <a:pt x="715" y="1035"/>
                  </a:cubicBezTo>
                  <a:close/>
                  <a:moveTo>
                    <a:pt x="971" y="796"/>
                  </a:moveTo>
                  <a:cubicBezTo>
                    <a:pt x="948" y="796"/>
                    <a:pt x="929" y="778"/>
                    <a:pt x="929" y="755"/>
                  </a:cubicBezTo>
                  <a:cubicBezTo>
                    <a:pt x="929" y="732"/>
                    <a:pt x="948" y="713"/>
                    <a:pt x="971" y="713"/>
                  </a:cubicBezTo>
                  <a:cubicBezTo>
                    <a:pt x="994" y="713"/>
                    <a:pt x="1013" y="732"/>
                    <a:pt x="1013" y="755"/>
                  </a:cubicBezTo>
                  <a:cubicBezTo>
                    <a:pt x="1013" y="778"/>
                    <a:pt x="994" y="796"/>
                    <a:pt x="971" y="796"/>
                  </a:cubicBezTo>
                  <a:close/>
                  <a:moveTo>
                    <a:pt x="1227" y="1001"/>
                  </a:moveTo>
                  <a:cubicBezTo>
                    <a:pt x="1204" y="1001"/>
                    <a:pt x="1185" y="982"/>
                    <a:pt x="1185" y="959"/>
                  </a:cubicBezTo>
                  <a:cubicBezTo>
                    <a:pt x="1185" y="936"/>
                    <a:pt x="1204" y="917"/>
                    <a:pt x="1227" y="917"/>
                  </a:cubicBezTo>
                  <a:cubicBezTo>
                    <a:pt x="1250" y="917"/>
                    <a:pt x="1268" y="936"/>
                    <a:pt x="1268" y="959"/>
                  </a:cubicBezTo>
                  <a:cubicBezTo>
                    <a:pt x="1268" y="982"/>
                    <a:pt x="1250" y="1001"/>
                    <a:pt x="1227" y="1001"/>
                  </a:cubicBezTo>
                  <a:close/>
                  <a:moveTo>
                    <a:pt x="1352" y="234"/>
                  </a:moveTo>
                  <a:cubicBezTo>
                    <a:pt x="272" y="234"/>
                    <a:pt x="272" y="234"/>
                    <a:pt x="272" y="234"/>
                  </a:cubicBezTo>
                  <a:cubicBezTo>
                    <a:pt x="272" y="48"/>
                    <a:pt x="272" y="48"/>
                    <a:pt x="272" y="48"/>
                  </a:cubicBezTo>
                  <a:cubicBezTo>
                    <a:pt x="1337" y="48"/>
                    <a:pt x="1337" y="48"/>
                    <a:pt x="1337" y="48"/>
                  </a:cubicBezTo>
                  <a:cubicBezTo>
                    <a:pt x="1345" y="48"/>
                    <a:pt x="1352" y="55"/>
                    <a:pt x="1352" y="62"/>
                  </a:cubicBezTo>
                  <a:lnTo>
                    <a:pt x="1352" y="234"/>
                  </a:lnTo>
                  <a:close/>
                  <a:moveTo>
                    <a:pt x="1549" y="598"/>
                  </a:moveTo>
                  <a:cubicBezTo>
                    <a:pt x="1526" y="598"/>
                    <a:pt x="1507" y="580"/>
                    <a:pt x="1507" y="557"/>
                  </a:cubicBezTo>
                  <a:cubicBezTo>
                    <a:pt x="1507" y="534"/>
                    <a:pt x="1526" y="515"/>
                    <a:pt x="1549" y="515"/>
                  </a:cubicBezTo>
                  <a:cubicBezTo>
                    <a:pt x="1572" y="515"/>
                    <a:pt x="1590" y="534"/>
                    <a:pt x="1590" y="557"/>
                  </a:cubicBezTo>
                  <a:cubicBezTo>
                    <a:pt x="1590" y="580"/>
                    <a:pt x="1572" y="598"/>
                    <a:pt x="1549" y="598"/>
                  </a:cubicBezTo>
                  <a:close/>
                  <a:moveTo>
                    <a:pt x="1549" y="598"/>
                  </a:moveTo>
                  <a:cubicBezTo>
                    <a:pt x="1549" y="598"/>
                    <a:pt x="1549" y="598"/>
                    <a:pt x="1549" y="59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277" name="Freeform 27">
              <a:extLst>
                <a:ext uri="{FF2B5EF4-FFF2-40B4-BE49-F238E27FC236}">
                  <a16:creationId xmlns:a16="http://schemas.microsoft.com/office/drawing/2014/main" id="{763D4C08-A294-1466-3BC9-BB1257005924}"/>
                </a:ext>
              </a:extLst>
            </p:cNvPr>
            <p:cNvSpPr>
              <a:spLocks noEditPoints="1"/>
            </p:cNvSpPr>
            <p:nvPr/>
          </p:nvSpPr>
          <p:spPr bwMode="auto">
            <a:xfrm>
              <a:off x="2129" y="1015"/>
              <a:ext cx="146" cy="19"/>
            </a:xfrm>
            <a:custGeom>
              <a:avLst/>
              <a:gdLst>
                <a:gd name="T0" fmla="*/ 363 w 387"/>
                <a:gd name="T1" fmla="*/ 0 h 48"/>
                <a:gd name="T2" fmla="*/ 24 w 387"/>
                <a:gd name="T3" fmla="*/ 0 h 48"/>
                <a:gd name="T4" fmla="*/ 0 w 387"/>
                <a:gd name="T5" fmla="*/ 24 h 48"/>
                <a:gd name="T6" fmla="*/ 24 w 387"/>
                <a:gd name="T7" fmla="*/ 48 h 48"/>
                <a:gd name="T8" fmla="*/ 363 w 387"/>
                <a:gd name="T9" fmla="*/ 48 h 48"/>
                <a:gd name="T10" fmla="*/ 387 w 387"/>
                <a:gd name="T11" fmla="*/ 24 h 48"/>
                <a:gd name="T12" fmla="*/ 363 w 387"/>
                <a:gd name="T13" fmla="*/ 0 h 48"/>
                <a:gd name="T14" fmla="*/ 363 w 387"/>
                <a:gd name="T15" fmla="*/ 0 h 48"/>
                <a:gd name="T16" fmla="*/ 363 w 387"/>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48">
                  <a:moveTo>
                    <a:pt x="363" y="0"/>
                  </a:moveTo>
                  <a:cubicBezTo>
                    <a:pt x="24" y="0"/>
                    <a:pt x="24" y="0"/>
                    <a:pt x="24" y="0"/>
                  </a:cubicBezTo>
                  <a:cubicBezTo>
                    <a:pt x="11" y="0"/>
                    <a:pt x="0" y="11"/>
                    <a:pt x="0" y="24"/>
                  </a:cubicBezTo>
                  <a:cubicBezTo>
                    <a:pt x="0" y="37"/>
                    <a:pt x="11" y="48"/>
                    <a:pt x="24" y="48"/>
                  </a:cubicBezTo>
                  <a:cubicBezTo>
                    <a:pt x="363" y="48"/>
                    <a:pt x="363" y="48"/>
                    <a:pt x="363" y="48"/>
                  </a:cubicBezTo>
                  <a:cubicBezTo>
                    <a:pt x="376" y="48"/>
                    <a:pt x="387" y="37"/>
                    <a:pt x="387" y="24"/>
                  </a:cubicBezTo>
                  <a:cubicBezTo>
                    <a:pt x="387" y="11"/>
                    <a:pt x="376" y="0"/>
                    <a:pt x="363" y="0"/>
                  </a:cubicBezTo>
                  <a:close/>
                  <a:moveTo>
                    <a:pt x="363" y="0"/>
                  </a:moveTo>
                  <a:cubicBezTo>
                    <a:pt x="363" y="0"/>
                    <a:pt x="363" y="0"/>
                    <a:pt x="36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278" name="Freeform 28">
              <a:extLst>
                <a:ext uri="{FF2B5EF4-FFF2-40B4-BE49-F238E27FC236}">
                  <a16:creationId xmlns:a16="http://schemas.microsoft.com/office/drawing/2014/main" id="{22C18F05-4123-0496-F4B8-5BB7794BB56B}"/>
                </a:ext>
              </a:extLst>
            </p:cNvPr>
            <p:cNvSpPr>
              <a:spLocks noEditPoints="1"/>
            </p:cNvSpPr>
            <p:nvPr/>
          </p:nvSpPr>
          <p:spPr bwMode="auto">
            <a:xfrm>
              <a:off x="2129" y="1060"/>
              <a:ext cx="146" cy="18"/>
            </a:xfrm>
            <a:custGeom>
              <a:avLst/>
              <a:gdLst>
                <a:gd name="T0" fmla="*/ 363 w 387"/>
                <a:gd name="T1" fmla="*/ 0 h 48"/>
                <a:gd name="T2" fmla="*/ 24 w 387"/>
                <a:gd name="T3" fmla="*/ 0 h 48"/>
                <a:gd name="T4" fmla="*/ 0 w 387"/>
                <a:gd name="T5" fmla="*/ 24 h 48"/>
                <a:gd name="T6" fmla="*/ 24 w 387"/>
                <a:gd name="T7" fmla="*/ 48 h 48"/>
                <a:gd name="T8" fmla="*/ 363 w 387"/>
                <a:gd name="T9" fmla="*/ 48 h 48"/>
                <a:gd name="T10" fmla="*/ 387 w 387"/>
                <a:gd name="T11" fmla="*/ 24 h 48"/>
                <a:gd name="T12" fmla="*/ 363 w 387"/>
                <a:gd name="T13" fmla="*/ 0 h 48"/>
                <a:gd name="T14" fmla="*/ 363 w 387"/>
                <a:gd name="T15" fmla="*/ 0 h 48"/>
                <a:gd name="T16" fmla="*/ 363 w 387"/>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48">
                  <a:moveTo>
                    <a:pt x="363" y="0"/>
                  </a:moveTo>
                  <a:cubicBezTo>
                    <a:pt x="24" y="0"/>
                    <a:pt x="24" y="0"/>
                    <a:pt x="24" y="0"/>
                  </a:cubicBezTo>
                  <a:cubicBezTo>
                    <a:pt x="11" y="0"/>
                    <a:pt x="0" y="11"/>
                    <a:pt x="0" y="24"/>
                  </a:cubicBezTo>
                  <a:cubicBezTo>
                    <a:pt x="0" y="37"/>
                    <a:pt x="11" y="48"/>
                    <a:pt x="24" y="48"/>
                  </a:cubicBezTo>
                  <a:cubicBezTo>
                    <a:pt x="363" y="48"/>
                    <a:pt x="363" y="48"/>
                    <a:pt x="363" y="48"/>
                  </a:cubicBezTo>
                  <a:cubicBezTo>
                    <a:pt x="376" y="48"/>
                    <a:pt x="387" y="37"/>
                    <a:pt x="387" y="24"/>
                  </a:cubicBezTo>
                  <a:cubicBezTo>
                    <a:pt x="387" y="11"/>
                    <a:pt x="376" y="0"/>
                    <a:pt x="363" y="0"/>
                  </a:cubicBezTo>
                  <a:close/>
                  <a:moveTo>
                    <a:pt x="363" y="0"/>
                  </a:moveTo>
                  <a:cubicBezTo>
                    <a:pt x="363" y="0"/>
                    <a:pt x="363" y="0"/>
                    <a:pt x="36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279" name="Freeform 29">
              <a:extLst>
                <a:ext uri="{FF2B5EF4-FFF2-40B4-BE49-F238E27FC236}">
                  <a16:creationId xmlns:a16="http://schemas.microsoft.com/office/drawing/2014/main" id="{0D008296-0246-AC41-4494-DD3AA04C56B1}"/>
                </a:ext>
              </a:extLst>
            </p:cNvPr>
            <p:cNvSpPr>
              <a:spLocks noEditPoints="1"/>
            </p:cNvSpPr>
            <p:nvPr/>
          </p:nvSpPr>
          <p:spPr bwMode="auto">
            <a:xfrm>
              <a:off x="2129" y="1104"/>
              <a:ext cx="146" cy="18"/>
            </a:xfrm>
            <a:custGeom>
              <a:avLst/>
              <a:gdLst>
                <a:gd name="T0" fmla="*/ 363 w 387"/>
                <a:gd name="T1" fmla="*/ 0 h 48"/>
                <a:gd name="T2" fmla="*/ 24 w 387"/>
                <a:gd name="T3" fmla="*/ 0 h 48"/>
                <a:gd name="T4" fmla="*/ 0 w 387"/>
                <a:gd name="T5" fmla="*/ 24 h 48"/>
                <a:gd name="T6" fmla="*/ 24 w 387"/>
                <a:gd name="T7" fmla="*/ 48 h 48"/>
                <a:gd name="T8" fmla="*/ 363 w 387"/>
                <a:gd name="T9" fmla="*/ 48 h 48"/>
                <a:gd name="T10" fmla="*/ 387 w 387"/>
                <a:gd name="T11" fmla="*/ 24 h 48"/>
                <a:gd name="T12" fmla="*/ 363 w 387"/>
                <a:gd name="T13" fmla="*/ 0 h 48"/>
                <a:gd name="T14" fmla="*/ 363 w 387"/>
                <a:gd name="T15" fmla="*/ 0 h 48"/>
                <a:gd name="T16" fmla="*/ 363 w 387"/>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48">
                  <a:moveTo>
                    <a:pt x="363" y="0"/>
                  </a:moveTo>
                  <a:cubicBezTo>
                    <a:pt x="24" y="0"/>
                    <a:pt x="24" y="0"/>
                    <a:pt x="24" y="0"/>
                  </a:cubicBezTo>
                  <a:cubicBezTo>
                    <a:pt x="11" y="0"/>
                    <a:pt x="0" y="11"/>
                    <a:pt x="0" y="24"/>
                  </a:cubicBezTo>
                  <a:cubicBezTo>
                    <a:pt x="0" y="37"/>
                    <a:pt x="11" y="48"/>
                    <a:pt x="24" y="48"/>
                  </a:cubicBezTo>
                  <a:cubicBezTo>
                    <a:pt x="363" y="48"/>
                    <a:pt x="363" y="48"/>
                    <a:pt x="363" y="48"/>
                  </a:cubicBezTo>
                  <a:cubicBezTo>
                    <a:pt x="376" y="48"/>
                    <a:pt x="387" y="37"/>
                    <a:pt x="387" y="24"/>
                  </a:cubicBezTo>
                  <a:cubicBezTo>
                    <a:pt x="387" y="11"/>
                    <a:pt x="376" y="0"/>
                    <a:pt x="363" y="0"/>
                  </a:cubicBezTo>
                  <a:close/>
                  <a:moveTo>
                    <a:pt x="363" y="0"/>
                  </a:moveTo>
                  <a:cubicBezTo>
                    <a:pt x="363" y="0"/>
                    <a:pt x="363" y="0"/>
                    <a:pt x="36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280" name="Freeform 30">
              <a:extLst>
                <a:ext uri="{FF2B5EF4-FFF2-40B4-BE49-F238E27FC236}">
                  <a16:creationId xmlns:a16="http://schemas.microsoft.com/office/drawing/2014/main" id="{2323DCA3-74E9-C5F4-A046-D8FBA4C1E75F}"/>
                </a:ext>
              </a:extLst>
            </p:cNvPr>
            <p:cNvSpPr>
              <a:spLocks noEditPoints="1"/>
            </p:cNvSpPr>
            <p:nvPr/>
          </p:nvSpPr>
          <p:spPr bwMode="auto">
            <a:xfrm>
              <a:off x="2129" y="1148"/>
              <a:ext cx="146" cy="18"/>
            </a:xfrm>
            <a:custGeom>
              <a:avLst/>
              <a:gdLst>
                <a:gd name="T0" fmla="*/ 363 w 387"/>
                <a:gd name="T1" fmla="*/ 0 h 48"/>
                <a:gd name="T2" fmla="*/ 24 w 387"/>
                <a:gd name="T3" fmla="*/ 0 h 48"/>
                <a:gd name="T4" fmla="*/ 0 w 387"/>
                <a:gd name="T5" fmla="*/ 24 h 48"/>
                <a:gd name="T6" fmla="*/ 24 w 387"/>
                <a:gd name="T7" fmla="*/ 48 h 48"/>
                <a:gd name="T8" fmla="*/ 363 w 387"/>
                <a:gd name="T9" fmla="*/ 48 h 48"/>
                <a:gd name="T10" fmla="*/ 387 w 387"/>
                <a:gd name="T11" fmla="*/ 24 h 48"/>
                <a:gd name="T12" fmla="*/ 363 w 387"/>
                <a:gd name="T13" fmla="*/ 0 h 48"/>
                <a:gd name="T14" fmla="*/ 363 w 387"/>
                <a:gd name="T15" fmla="*/ 0 h 48"/>
                <a:gd name="T16" fmla="*/ 363 w 387"/>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48">
                  <a:moveTo>
                    <a:pt x="363" y="0"/>
                  </a:moveTo>
                  <a:cubicBezTo>
                    <a:pt x="24" y="0"/>
                    <a:pt x="24" y="0"/>
                    <a:pt x="24" y="0"/>
                  </a:cubicBezTo>
                  <a:cubicBezTo>
                    <a:pt x="11" y="0"/>
                    <a:pt x="0" y="11"/>
                    <a:pt x="0" y="24"/>
                  </a:cubicBezTo>
                  <a:cubicBezTo>
                    <a:pt x="0" y="37"/>
                    <a:pt x="11" y="48"/>
                    <a:pt x="24" y="48"/>
                  </a:cubicBezTo>
                  <a:cubicBezTo>
                    <a:pt x="363" y="48"/>
                    <a:pt x="363" y="48"/>
                    <a:pt x="363" y="48"/>
                  </a:cubicBezTo>
                  <a:cubicBezTo>
                    <a:pt x="376" y="48"/>
                    <a:pt x="387" y="37"/>
                    <a:pt x="387" y="24"/>
                  </a:cubicBezTo>
                  <a:cubicBezTo>
                    <a:pt x="387" y="11"/>
                    <a:pt x="376" y="0"/>
                    <a:pt x="363" y="0"/>
                  </a:cubicBezTo>
                  <a:close/>
                  <a:moveTo>
                    <a:pt x="363" y="0"/>
                  </a:moveTo>
                  <a:cubicBezTo>
                    <a:pt x="363" y="0"/>
                    <a:pt x="363" y="0"/>
                    <a:pt x="36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281" name="Freeform 31">
              <a:extLst>
                <a:ext uri="{FF2B5EF4-FFF2-40B4-BE49-F238E27FC236}">
                  <a16:creationId xmlns:a16="http://schemas.microsoft.com/office/drawing/2014/main" id="{F5D47356-BC87-A313-2368-263CCFD29BC4}"/>
                </a:ext>
              </a:extLst>
            </p:cNvPr>
            <p:cNvSpPr>
              <a:spLocks noEditPoints="1"/>
            </p:cNvSpPr>
            <p:nvPr/>
          </p:nvSpPr>
          <p:spPr bwMode="auto">
            <a:xfrm>
              <a:off x="2129" y="1192"/>
              <a:ext cx="146" cy="18"/>
            </a:xfrm>
            <a:custGeom>
              <a:avLst/>
              <a:gdLst>
                <a:gd name="T0" fmla="*/ 363 w 387"/>
                <a:gd name="T1" fmla="*/ 0 h 48"/>
                <a:gd name="T2" fmla="*/ 24 w 387"/>
                <a:gd name="T3" fmla="*/ 0 h 48"/>
                <a:gd name="T4" fmla="*/ 0 w 387"/>
                <a:gd name="T5" fmla="*/ 24 h 48"/>
                <a:gd name="T6" fmla="*/ 24 w 387"/>
                <a:gd name="T7" fmla="*/ 48 h 48"/>
                <a:gd name="T8" fmla="*/ 363 w 387"/>
                <a:gd name="T9" fmla="*/ 48 h 48"/>
                <a:gd name="T10" fmla="*/ 387 w 387"/>
                <a:gd name="T11" fmla="*/ 24 h 48"/>
                <a:gd name="T12" fmla="*/ 363 w 387"/>
                <a:gd name="T13" fmla="*/ 0 h 48"/>
                <a:gd name="T14" fmla="*/ 363 w 387"/>
                <a:gd name="T15" fmla="*/ 0 h 48"/>
                <a:gd name="T16" fmla="*/ 363 w 387"/>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48">
                  <a:moveTo>
                    <a:pt x="363" y="0"/>
                  </a:moveTo>
                  <a:cubicBezTo>
                    <a:pt x="24" y="0"/>
                    <a:pt x="24" y="0"/>
                    <a:pt x="24" y="0"/>
                  </a:cubicBezTo>
                  <a:cubicBezTo>
                    <a:pt x="11" y="0"/>
                    <a:pt x="0" y="11"/>
                    <a:pt x="0" y="24"/>
                  </a:cubicBezTo>
                  <a:cubicBezTo>
                    <a:pt x="0" y="37"/>
                    <a:pt x="11" y="48"/>
                    <a:pt x="24" y="48"/>
                  </a:cubicBezTo>
                  <a:cubicBezTo>
                    <a:pt x="363" y="48"/>
                    <a:pt x="363" y="48"/>
                    <a:pt x="363" y="48"/>
                  </a:cubicBezTo>
                  <a:cubicBezTo>
                    <a:pt x="376" y="48"/>
                    <a:pt x="387" y="37"/>
                    <a:pt x="387" y="24"/>
                  </a:cubicBezTo>
                  <a:cubicBezTo>
                    <a:pt x="387" y="11"/>
                    <a:pt x="376" y="0"/>
                    <a:pt x="363" y="0"/>
                  </a:cubicBezTo>
                  <a:close/>
                  <a:moveTo>
                    <a:pt x="363" y="0"/>
                  </a:moveTo>
                  <a:cubicBezTo>
                    <a:pt x="363" y="0"/>
                    <a:pt x="363" y="0"/>
                    <a:pt x="36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282" name="Freeform 32">
              <a:extLst>
                <a:ext uri="{FF2B5EF4-FFF2-40B4-BE49-F238E27FC236}">
                  <a16:creationId xmlns:a16="http://schemas.microsoft.com/office/drawing/2014/main" id="{B0CA3600-6960-61BF-A025-CC4E0EEAA3EA}"/>
                </a:ext>
              </a:extLst>
            </p:cNvPr>
            <p:cNvSpPr>
              <a:spLocks noEditPoints="1"/>
            </p:cNvSpPr>
            <p:nvPr/>
          </p:nvSpPr>
          <p:spPr bwMode="auto">
            <a:xfrm>
              <a:off x="2129" y="904"/>
              <a:ext cx="389" cy="85"/>
            </a:xfrm>
            <a:custGeom>
              <a:avLst/>
              <a:gdLst>
                <a:gd name="T0" fmla="*/ 967 w 1029"/>
                <a:gd name="T1" fmla="*/ 0 h 224"/>
                <a:gd name="T2" fmla="*/ 63 w 1029"/>
                <a:gd name="T3" fmla="*/ 0 h 224"/>
                <a:gd name="T4" fmla="*/ 0 w 1029"/>
                <a:gd name="T5" fmla="*/ 63 h 224"/>
                <a:gd name="T6" fmla="*/ 0 w 1029"/>
                <a:gd name="T7" fmla="*/ 161 h 224"/>
                <a:gd name="T8" fmla="*/ 63 w 1029"/>
                <a:gd name="T9" fmla="*/ 224 h 224"/>
                <a:gd name="T10" fmla="*/ 485 w 1029"/>
                <a:gd name="T11" fmla="*/ 224 h 224"/>
                <a:gd name="T12" fmla="*/ 509 w 1029"/>
                <a:gd name="T13" fmla="*/ 200 h 224"/>
                <a:gd name="T14" fmla="*/ 485 w 1029"/>
                <a:gd name="T15" fmla="*/ 176 h 224"/>
                <a:gd name="T16" fmla="*/ 63 w 1029"/>
                <a:gd name="T17" fmla="*/ 176 h 224"/>
                <a:gd name="T18" fmla="*/ 48 w 1029"/>
                <a:gd name="T19" fmla="*/ 161 h 224"/>
                <a:gd name="T20" fmla="*/ 48 w 1029"/>
                <a:gd name="T21" fmla="*/ 63 h 224"/>
                <a:gd name="T22" fmla="*/ 63 w 1029"/>
                <a:gd name="T23" fmla="*/ 48 h 224"/>
                <a:gd name="T24" fmla="*/ 967 w 1029"/>
                <a:gd name="T25" fmla="*/ 48 h 224"/>
                <a:gd name="T26" fmla="*/ 981 w 1029"/>
                <a:gd name="T27" fmla="*/ 63 h 224"/>
                <a:gd name="T28" fmla="*/ 981 w 1029"/>
                <a:gd name="T29" fmla="*/ 161 h 224"/>
                <a:gd name="T30" fmla="*/ 967 w 1029"/>
                <a:gd name="T31" fmla="*/ 176 h 224"/>
                <a:gd name="T32" fmla="*/ 597 w 1029"/>
                <a:gd name="T33" fmla="*/ 176 h 224"/>
                <a:gd name="T34" fmla="*/ 573 w 1029"/>
                <a:gd name="T35" fmla="*/ 200 h 224"/>
                <a:gd name="T36" fmla="*/ 597 w 1029"/>
                <a:gd name="T37" fmla="*/ 224 h 224"/>
                <a:gd name="T38" fmla="*/ 967 w 1029"/>
                <a:gd name="T39" fmla="*/ 224 h 224"/>
                <a:gd name="T40" fmla="*/ 1029 w 1029"/>
                <a:gd name="T41" fmla="*/ 161 h 224"/>
                <a:gd name="T42" fmla="*/ 1029 w 1029"/>
                <a:gd name="T43" fmla="*/ 63 h 224"/>
                <a:gd name="T44" fmla="*/ 967 w 1029"/>
                <a:gd name="T45" fmla="*/ 0 h 224"/>
                <a:gd name="T46" fmla="*/ 967 w 1029"/>
                <a:gd name="T47" fmla="*/ 0 h 224"/>
                <a:gd name="T48" fmla="*/ 967 w 1029"/>
                <a:gd name="T49" fmla="*/ 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29" h="224">
                  <a:moveTo>
                    <a:pt x="967" y="0"/>
                  </a:moveTo>
                  <a:cubicBezTo>
                    <a:pt x="63" y="0"/>
                    <a:pt x="63" y="0"/>
                    <a:pt x="63" y="0"/>
                  </a:cubicBezTo>
                  <a:cubicBezTo>
                    <a:pt x="28" y="0"/>
                    <a:pt x="0" y="28"/>
                    <a:pt x="0" y="63"/>
                  </a:cubicBezTo>
                  <a:cubicBezTo>
                    <a:pt x="0" y="161"/>
                    <a:pt x="0" y="161"/>
                    <a:pt x="0" y="161"/>
                  </a:cubicBezTo>
                  <a:cubicBezTo>
                    <a:pt x="0" y="196"/>
                    <a:pt x="28" y="224"/>
                    <a:pt x="63" y="224"/>
                  </a:cubicBezTo>
                  <a:cubicBezTo>
                    <a:pt x="485" y="224"/>
                    <a:pt x="485" y="224"/>
                    <a:pt x="485" y="224"/>
                  </a:cubicBezTo>
                  <a:cubicBezTo>
                    <a:pt x="499" y="224"/>
                    <a:pt x="509" y="213"/>
                    <a:pt x="509" y="200"/>
                  </a:cubicBezTo>
                  <a:cubicBezTo>
                    <a:pt x="509" y="186"/>
                    <a:pt x="499" y="176"/>
                    <a:pt x="485" y="176"/>
                  </a:cubicBezTo>
                  <a:cubicBezTo>
                    <a:pt x="63" y="176"/>
                    <a:pt x="63" y="176"/>
                    <a:pt x="63" y="176"/>
                  </a:cubicBezTo>
                  <a:cubicBezTo>
                    <a:pt x="55" y="176"/>
                    <a:pt x="48" y="169"/>
                    <a:pt x="48" y="161"/>
                  </a:cubicBezTo>
                  <a:cubicBezTo>
                    <a:pt x="48" y="63"/>
                    <a:pt x="48" y="63"/>
                    <a:pt x="48" y="63"/>
                  </a:cubicBezTo>
                  <a:cubicBezTo>
                    <a:pt x="48" y="55"/>
                    <a:pt x="55" y="48"/>
                    <a:pt x="63" y="48"/>
                  </a:cubicBezTo>
                  <a:cubicBezTo>
                    <a:pt x="967" y="48"/>
                    <a:pt x="967" y="48"/>
                    <a:pt x="967" y="48"/>
                  </a:cubicBezTo>
                  <a:cubicBezTo>
                    <a:pt x="975" y="48"/>
                    <a:pt x="981" y="55"/>
                    <a:pt x="981" y="63"/>
                  </a:cubicBezTo>
                  <a:cubicBezTo>
                    <a:pt x="981" y="161"/>
                    <a:pt x="981" y="161"/>
                    <a:pt x="981" y="161"/>
                  </a:cubicBezTo>
                  <a:cubicBezTo>
                    <a:pt x="981" y="169"/>
                    <a:pt x="975" y="176"/>
                    <a:pt x="967" y="176"/>
                  </a:cubicBezTo>
                  <a:cubicBezTo>
                    <a:pt x="597" y="176"/>
                    <a:pt x="597" y="176"/>
                    <a:pt x="597" y="176"/>
                  </a:cubicBezTo>
                  <a:cubicBezTo>
                    <a:pt x="584" y="176"/>
                    <a:pt x="573" y="186"/>
                    <a:pt x="573" y="200"/>
                  </a:cubicBezTo>
                  <a:cubicBezTo>
                    <a:pt x="573" y="213"/>
                    <a:pt x="584" y="224"/>
                    <a:pt x="597" y="224"/>
                  </a:cubicBezTo>
                  <a:cubicBezTo>
                    <a:pt x="967" y="224"/>
                    <a:pt x="967" y="224"/>
                    <a:pt x="967" y="224"/>
                  </a:cubicBezTo>
                  <a:cubicBezTo>
                    <a:pt x="1001" y="224"/>
                    <a:pt x="1029" y="196"/>
                    <a:pt x="1029" y="161"/>
                  </a:cubicBezTo>
                  <a:cubicBezTo>
                    <a:pt x="1029" y="63"/>
                    <a:pt x="1029" y="63"/>
                    <a:pt x="1029" y="63"/>
                  </a:cubicBezTo>
                  <a:cubicBezTo>
                    <a:pt x="1029" y="28"/>
                    <a:pt x="1001" y="0"/>
                    <a:pt x="967" y="0"/>
                  </a:cubicBezTo>
                  <a:close/>
                  <a:moveTo>
                    <a:pt x="967" y="0"/>
                  </a:moveTo>
                  <a:cubicBezTo>
                    <a:pt x="967" y="0"/>
                    <a:pt x="967" y="0"/>
                    <a:pt x="967"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grpSp>
      <p:grpSp>
        <p:nvGrpSpPr>
          <p:cNvPr id="283" name="Group 282">
            <a:extLst>
              <a:ext uri="{FF2B5EF4-FFF2-40B4-BE49-F238E27FC236}">
                <a16:creationId xmlns:a16="http://schemas.microsoft.com/office/drawing/2014/main" id="{F91D8E56-F943-6E7B-8483-49CA5A6E7519}"/>
              </a:ext>
            </a:extLst>
          </p:cNvPr>
          <p:cNvGrpSpPr/>
          <p:nvPr/>
        </p:nvGrpSpPr>
        <p:grpSpPr>
          <a:xfrm>
            <a:off x="9654620" y="1369997"/>
            <a:ext cx="345182" cy="350276"/>
            <a:chOff x="5153025" y="3441701"/>
            <a:chExt cx="2166938" cy="2166938"/>
          </a:xfrm>
          <a:solidFill>
            <a:schemeClr val="tx1"/>
          </a:solidFill>
        </p:grpSpPr>
        <p:sp>
          <p:nvSpPr>
            <p:cNvPr id="284" name="Freeform 66">
              <a:extLst>
                <a:ext uri="{FF2B5EF4-FFF2-40B4-BE49-F238E27FC236}">
                  <a16:creationId xmlns:a16="http://schemas.microsoft.com/office/drawing/2014/main" id="{1AB6E6FE-D44F-5004-BAB9-AF08BFA07A62}"/>
                </a:ext>
              </a:extLst>
            </p:cNvPr>
            <p:cNvSpPr>
              <a:spLocks/>
            </p:cNvSpPr>
            <p:nvPr/>
          </p:nvSpPr>
          <p:spPr bwMode="auto">
            <a:xfrm>
              <a:off x="5153025" y="3441701"/>
              <a:ext cx="2166938" cy="2166938"/>
            </a:xfrm>
            <a:custGeom>
              <a:avLst/>
              <a:gdLst>
                <a:gd name="T0" fmla="*/ 1920 w 2048"/>
                <a:gd name="T1" fmla="*/ 1152 h 2048"/>
                <a:gd name="T2" fmla="*/ 1920 w 2048"/>
                <a:gd name="T3" fmla="*/ 1600 h 2048"/>
                <a:gd name="T4" fmla="*/ 1600 w 2048"/>
                <a:gd name="T5" fmla="*/ 1920 h 2048"/>
                <a:gd name="T6" fmla="*/ 448 w 2048"/>
                <a:gd name="T7" fmla="*/ 1920 h 2048"/>
                <a:gd name="T8" fmla="*/ 128 w 2048"/>
                <a:gd name="T9" fmla="*/ 1600 h 2048"/>
                <a:gd name="T10" fmla="*/ 128 w 2048"/>
                <a:gd name="T11" fmla="*/ 448 h 2048"/>
                <a:gd name="T12" fmla="*/ 448 w 2048"/>
                <a:gd name="T13" fmla="*/ 128 h 2048"/>
                <a:gd name="T14" fmla="*/ 832 w 2048"/>
                <a:gd name="T15" fmla="*/ 128 h 2048"/>
                <a:gd name="T16" fmla="*/ 832 w 2048"/>
                <a:gd name="T17" fmla="*/ 0 h 2048"/>
                <a:gd name="T18" fmla="*/ 448 w 2048"/>
                <a:gd name="T19" fmla="*/ 0 h 2048"/>
                <a:gd name="T20" fmla="*/ 0 w 2048"/>
                <a:gd name="T21" fmla="*/ 448 h 2048"/>
                <a:gd name="T22" fmla="*/ 0 w 2048"/>
                <a:gd name="T23" fmla="*/ 1600 h 2048"/>
                <a:gd name="T24" fmla="*/ 448 w 2048"/>
                <a:gd name="T25" fmla="*/ 2048 h 2048"/>
                <a:gd name="T26" fmla="*/ 1600 w 2048"/>
                <a:gd name="T27" fmla="*/ 2048 h 2048"/>
                <a:gd name="T28" fmla="*/ 2048 w 2048"/>
                <a:gd name="T29" fmla="*/ 1600 h 2048"/>
                <a:gd name="T30" fmla="*/ 2048 w 2048"/>
                <a:gd name="T31" fmla="*/ 1152 h 2048"/>
                <a:gd name="T32" fmla="*/ 1920 w 2048"/>
                <a:gd name="T33" fmla="*/ 1152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48" h="2048">
                  <a:moveTo>
                    <a:pt x="1920" y="1152"/>
                  </a:moveTo>
                  <a:cubicBezTo>
                    <a:pt x="1920" y="1600"/>
                    <a:pt x="1920" y="1600"/>
                    <a:pt x="1920" y="1600"/>
                  </a:cubicBezTo>
                  <a:cubicBezTo>
                    <a:pt x="1920" y="1777"/>
                    <a:pt x="1777" y="1920"/>
                    <a:pt x="1600" y="1920"/>
                  </a:cubicBezTo>
                  <a:cubicBezTo>
                    <a:pt x="448" y="1920"/>
                    <a:pt x="448" y="1920"/>
                    <a:pt x="448" y="1920"/>
                  </a:cubicBezTo>
                  <a:cubicBezTo>
                    <a:pt x="271" y="1920"/>
                    <a:pt x="128" y="1777"/>
                    <a:pt x="128" y="1600"/>
                  </a:cubicBezTo>
                  <a:cubicBezTo>
                    <a:pt x="128" y="448"/>
                    <a:pt x="128" y="448"/>
                    <a:pt x="128" y="448"/>
                  </a:cubicBezTo>
                  <a:cubicBezTo>
                    <a:pt x="128" y="271"/>
                    <a:pt x="271" y="128"/>
                    <a:pt x="448" y="128"/>
                  </a:cubicBezTo>
                  <a:cubicBezTo>
                    <a:pt x="832" y="128"/>
                    <a:pt x="832" y="128"/>
                    <a:pt x="832" y="128"/>
                  </a:cubicBezTo>
                  <a:cubicBezTo>
                    <a:pt x="832" y="0"/>
                    <a:pt x="832" y="0"/>
                    <a:pt x="832" y="0"/>
                  </a:cubicBezTo>
                  <a:cubicBezTo>
                    <a:pt x="448" y="0"/>
                    <a:pt x="448" y="0"/>
                    <a:pt x="448" y="0"/>
                  </a:cubicBezTo>
                  <a:cubicBezTo>
                    <a:pt x="201" y="0"/>
                    <a:pt x="0" y="201"/>
                    <a:pt x="0" y="448"/>
                  </a:cubicBezTo>
                  <a:cubicBezTo>
                    <a:pt x="0" y="1600"/>
                    <a:pt x="0" y="1600"/>
                    <a:pt x="0" y="1600"/>
                  </a:cubicBezTo>
                  <a:cubicBezTo>
                    <a:pt x="0" y="1847"/>
                    <a:pt x="201" y="2048"/>
                    <a:pt x="448" y="2048"/>
                  </a:cubicBezTo>
                  <a:cubicBezTo>
                    <a:pt x="1600" y="2048"/>
                    <a:pt x="1600" y="2048"/>
                    <a:pt x="1600" y="2048"/>
                  </a:cubicBezTo>
                  <a:cubicBezTo>
                    <a:pt x="1847" y="2048"/>
                    <a:pt x="2048" y="1847"/>
                    <a:pt x="2048" y="1600"/>
                  </a:cubicBezTo>
                  <a:cubicBezTo>
                    <a:pt x="2048" y="1152"/>
                    <a:pt x="2048" y="1152"/>
                    <a:pt x="2048" y="1152"/>
                  </a:cubicBezTo>
                  <a:lnTo>
                    <a:pt x="1920" y="11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Calibri" panose="020F0502020204030204"/>
                <a:ea typeface="+mn-ea"/>
                <a:cs typeface="Calibri" panose="020F0502020204030204" pitchFamily="34" charset="0"/>
              </a:endParaRPr>
            </a:p>
          </p:txBody>
        </p:sp>
        <p:sp>
          <p:nvSpPr>
            <p:cNvPr id="285" name="Freeform 67">
              <a:extLst>
                <a:ext uri="{FF2B5EF4-FFF2-40B4-BE49-F238E27FC236}">
                  <a16:creationId xmlns:a16="http://schemas.microsoft.com/office/drawing/2014/main" id="{CC0E5607-BC34-3DC3-4DBD-AC3BFD39AFD8}"/>
                </a:ext>
              </a:extLst>
            </p:cNvPr>
            <p:cNvSpPr>
              <a:spLocks/>
            </p:cNvSpPr>
            <p:nvPr/>
          </p:nvSpPr>
          <p:spPr bwMode="auto">
            <a:xfrm>
              <a:off x="5897563" y="3529013"/>
              <a:ext cx="1293813" cy="1673225"/>
            </a:xfrm>
            <a:custGeom>
              <a:avLst/>
              <a:gdLst>
                <a:gd name="T0" fmla="*/ 0 w 1222"/>
                <a:gd name="T1" fmla="*/ 1581 h 1581"/>
                <a:gd name="T2" fmla="*/ 128 w 1222"/>
                <a:gd name="T3" fmla="*/ 1581 h 1581"/>
                <a:gd name="T4" fmla="*/ 128 w 1222"/>
                <a:gd name="T5" fmla="*/ 1069 h 1581"/>
                <a:gd name="T6" fmla="*/ 576 w 1222"/>
                <a:gd name="T7" fmla="*/ 557 h 1581"/>
                <a:gd name="T8" fmla="*/ 998 w 1222"/>
                <a:gd name="T9" fmla="*/ 557 h 1581"/>
                <a:gd name="T10" fmla="*/ 659 w 1222"/>
                <a:gd name="T11" fmla="*/ 896 h 1581"/>
                <a:gd name="T12" fmla="*/ 749 w 1222"/>
                <a:gd name="T13" fmla="*/ 986 h 1581"/>
                <a:gd name="T14" fmla="*/ 1197 w 1222"/>
                <a:gd name="T15" fmla="*/ 538 h 1581"/>
                <a:gd name="T16" fmla="*/ 1197 w 1222"/>
                <a:gd name="T17" fmla="*/ 448 h 1581"/>
                <a:gd name="T18" fmla="*/ 749 w 1222"/>
                <a:gd name="T19" fmla="*/ 0 h 1581"/>
                <a:gd name="T20" fmla="*/ 659 w 1222"/>
                <a:gd name="T21" fmla="*/ 90 h 1581"/>
                <a:gd name="T22" fmla="*/ 998 w 1222"/>
                <a:gd name="T23" fmla="*/ 429 h 1581"/>
                <a:gd name="T24" fmla="*/ 576 w 1222"/>
                <a:gd name="T25" fmla="*/ 429 h 1581"/>
                <a:gd name="T26" fmla="*/ 0 w 1222"/>
                <a:gd name="T27" fmla="*/ 1069 h 1581"/>
                <a:gd name="T28" fmla="*/ 0 w 1222"/>
                <a:gd name="T29" fmla="*/ 1581 h 1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2" h="1581">
                  <a:moveTo>
                    <a:pt x="0" y="1581"/>
                  </a:moveTo>
                  <a:cubicBezTo>
                    <a:pt x="128" y="1581"/>
                    <a:pt x="128" y="1581"/>
                    <a:pt x="128" y="1581"/>
                  </a:cubicBezTo>
                  <a:cubicBezTo>
                    <a:pt x="128" y="1069"/>
                    <a:pt x="128" y="1069"/>
                    <a:pt x="128" y="1069"/>
                  </a:cubicBezTo>
                  <a:cubicBezTo>
                    <a:pt x="128" y="566"/>
                    <a:pt x="558" y="557"/>
                    <a:pt x="576" y="557"/>
                  </a:cubicBezTo>
                  <a:cubicBezTo>
                    <a:pt x="998" y="557"/>
                    <a:pt x="998" y="557"/>
                    <a:pt x="998" y="557"/>
                  </a:cubicBezTo>
                  <a:cubicBezTo>
                    <a:pt x="659" y="896"/>
                    <a:pt x="659" y="896"/>
                    <a:pt x="659" y="896"/>
                  </a:cubicBezTo>
                  <a:cubicBezTo>
                    <a:pt x="749" y="986"/>
                    <a:pt x="749" y="986"/>
                    <a:pt x="749" y="986"/>
                  </a:cubicBezTo>
                  <a:cubicBezTo>
                    <a:pt x="1197" y="538"/>
                    <a:pt x="1197" y="538"/>
                    <a:pt x="1197" y="538"/>
                  </a:cubicBezTo>
                  <a:cubicBezTo>
                    <a:pt x="1222" y="513"/>
                    <a:pt x="1222" y="473"/>
                    <a:pt x="1197" y="448"/>
                  </a:cubicBezTo>
                  <a:cubicBezTo>
                    <a:pt x="749" y="0"/>
                    <a:pt x="749" y="0"/>
                    <a:pt x="749" y="0"/>
                  </a:cubicBezTo>
                  <a:cubicBezTo>
                    <a:pt x="659" y="90"/>
                    <a:pt x="659" y="90"/>
                    <a:pt x="659" y="90"/>
                  </a:cubicBezTo>
                  <a:cubicBezTo>
                    <a:pt x="998" y="429"/>
                    <a:pt x="998" y="429"/>
                    <a:pt x="998" y="429"/>
                  </a:cubicBezTo>
                  <a:cubicBezTo>
                    <a:pt x="576" y="429"/>
                    <a:pt x="576" y="429"/>
                    <a:pt x="576" y="429"/>
                  </a:cubicBezTo>
                  <a:cubicBezTo>
                    <a:pt x="570" y="429"/>
                    <a:pt x="0" y="436"/>
                    <a:pt x="0" y="1069"/>
                  </a:cubicBezTo>
                  <a:lnTo>
                    <a:pt x="0" y="15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Calibri" panose="020F0502020204030204"/>
                <a:ea typeface="+mn-ea"/>
                <a:cs typeface="Calibri" panose="020F0502020204030204" pitchFamily="34" charset="0"/>
              </a:endParaRPr>
            </a:p>
          </p:txBody>
        </p:sp>
      </p:grpSp>
      <p:cxnSp>
        <p:nvCxnSpPr>
          <p:cNvPr id="286" name="Straight Connector 285">
            <a:extLst>
              <a:ext uri="{FF2B5EF4-FFF2-40B4-BE49-F238E27FC236}">
                <a16:creationId xmlns:a16="http://schemas.microsoft.com/office/drawing/2014/main" id="{B6549740-C844-8E85-8304-B382ECD224B9}"/>
              </a:ext>
            </a:extLst>
          </p:cNvPr>
          <p:cNvCxnSpPr>
            <a:cxnSpLocks/>
          </p:cNvCxnSpPr>
          <p:nvPr/>
        </p:nvCxnSpPr>
        <p:spPr>
          <a:xfrm flipH="1">
            <a:off x="385714" y="5968425"/>
            <a:ext cx="11320806" cy="0"/>
          </a:xfrm>
          <a:prstGeom prst="line">
            <a:avLst/>
          </a:prstGeom>
          <a:noFill/>
          <a:ln w="6350" cap="flat" cmpd="sng" algn="ctr">
            <a:solidFill>
              <a:srgbClr val="FFFFFF">
                <a:lumMod val="65000"/>
              </a:srgbClr>
            </a:solidFill>
            <a:prstDash val="solid"/>
            <a:miter lim="800000"/>
          </a:ln>
          <a:effectLst/>
        </p:spPr>
      </p:cxnSp>
      <p:sp>
        <p:nvSpPr>
          <p:cNvPr id="289" name="TextBox 288">
            <a:extLst>
              <a:ext uri="{FF2B5EF4-FFF2-40B4-BE49-F238E27FC236}">
                <a16:creationId xmlns:a16="http://schemas.microsoft.com/office/drawing/2014/main" id="{261D81ED-A0A6-AE3E-2D04-B388E31BFA40}"/>
              </a:ext>
            </a:extLst>
          </p:cNvPr>
          <p:cNvSpPr txBox="1"/>
          <p:nvPr/>
        </p:nvSpPr>
        <p:spPr>
          <a:xfrm>
            <a:off x="10776126" y="1914832"/>
            <a:ext cx="894994" cy="18466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Calibri" panose="020F0502020204030204"/>
                <a:ea typeface="+mn-ea"/>
                <a:cs typeface="Calibri" panose="020F0502020204030204" pitchFamily="34" charset="0"/>
              </a:rPr>
              <a:t>Benefits</a:t>
            </a:r>
          </a:p>
        </p:txBody>
      </p:sp>
      <p:sp>
        <p:nvSpPr>
          <p:cNvPr id="3" name="Title 2">
            <a:extLst>
              <a:ext uri="{FF2B5EF4-FFF2-40B4-BE49-F238E27FC236}">
                <a16:creationId xmlns:a16="http://schemas.microsoft.com/office/drawing/2014/main" id="{394C7BAE-7AF7-4A69-B4F4-7BC1D2C89B37}"/>
              </a:ext>
            </a:extLst>
          </p:cNvPr>
          <p:cNvSpPr>
            <a:spLocks noGrp="1"/>
          </p:cNvSpPr>
          <p:nvPr>
            <p:ph type="ctrTitle"/>
          </p:nvPr>
        </p:nvSpPr>
        <p:spPr>
          <a:noFill/>
          <a:ln>
            <a:noFill/>
          </a:ln>
        </p:spPr>
        <p:txBody>
          <a:bodyPr spcFirstLastPara="1" vert="horz" wrap="square" lIns="0" tIns="0" rIns="0" bIns="0" rtlCol="0" anchor="t" anchorCtr="0">
            <a:noAutofit/>
          </a:bodyPr>
          <a:lstStyle/>
          <a:p>
            <a:pPr>
              <a:buClr>
                <a:schemeClr val="dk1"/>
              </a:buClr>
              <a:buSzPts val="3200"/>
              <a:buFont typeface="Calibri"/>
            </a:pPr>
            <a:r>
              <a:rPr lang="en-US" sz="2800"/>
              <a:t>Annuity Pricing Rate Monitor and Adjustments</a:t>
            </a:r>
          </a:p>
        </p:txBody>
      </p:sp>
      <p:sp>
        <p:nvSpPr>
          <p:cNvPr id="291" name="Text Placeholder 2">
            <a:extLst>
              <a:ext uri="{FF2B5EF4-FFF2-40B4-BE49-F238E27FC236}">
                <a16:creationId xmlns:a16="http://schemas.microsoft.com/office/drawing/2014/main" id="{C9F51121-72A7-D0C1-D819-A4875B970034}"/>
              </a:ext>
            </a:extLst>
          </p:cNvPr>
          <p:cNvSpPr>
            <a:spLocks noGrp="1"/>
          </p:cNvSpPr>
          <p:nvPr>
            <p:ph type="body" sz="quarter" idx="15"/>
          </p:nvPr>
        </p:nvSpPr>
        <p:spPr/>
        <p:txBody>
          <a:bodyPr lIns="0" tIns="0" rIns="0" bIns="0"/>
          <a:lstStyle/>
          <a:p>
            <a:r>
              <a:rPr lang="en-US">
                <a:solidFill>
                  <a:srgbClr val="005071"/>
                </a:solidFill>
              </a:rPr>
              <a:t>Case Example</a:t>
            </a:r>
          </a:p>
        </p:txBody>
      </p:sp>
      <p:pic>
        <p:nvPicPr>
          <p:cNvPr id="4" name="Picture 291">
            <a:extLst>
              <a:ext uri="{FF2B5EF4-FFF2-40B4-BE49-F238E27FC236}">
                <a16:creationId xmlns:a16="http://schemas.microsoft.com/office/drawing/2014/main" id="{EB664936-69A5-359D-A7CE-B0B7C63EF73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2553" y="5691459"/>
            <a:ext cx="306320" cy="242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91">
            <a:extLst>
              <a:ext uri="{FF2B5EF4-FFF2-40B4-BE49-F238E27FC236}">
                <a16:creationId xmlns:a16="http://schemas.microsoft.com/office/drawing/2014/main" id="{133396E0-12FC-61AF-F45C-1903DE8DB5E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6005" y="5693564"/>
            <a:ext cx="306320" cy="242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91">
            <a:extLst>
              <a:ext uri="{FF2B5EF4-FFF2-40B4-BE49-F238E27FC236}">
                <a16:creationId xmlns:a16="http://schemas.microsoft.com/office/drawing/2014/main" id="{542C81FE-1CBA-723C-2B7A-A86DAADCE07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66064" y="5692577"/>
            <a:ext cx="306320" cy="242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Picture 291">
            <a:extLst>
              <a:ext uri="{FF2B5EF4-FFF2-40B4-BE49-F238E27FC236}">
                <a16:creationId xmlns:a16="http://schemas.microsoft.com/office/drawing/2014/main" id="{C2EE60DD-147C-1541-254E-78A97EA2206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63828" y="6000946"/>
            <a:ext cx="306320" cy="242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TextBox 28">
            <a:extLst>
              <a:ext uri="{FF2B5EF4-FFF2-40B4-BE49-F238E27FC236}">
                <a16:creationId xmlns:a16="http://schemas.microsoft.com/office/drawing/2014/main" id="{92B0D9B4-C31B-21EC-145B-2066ED416908}"/>
              </a:ext>
            </a:extLst>
          </p:cNvPr>
          <p:cNvSpPr txBox="1"/>
          <p:nvPr/>
        </p:nvSpPr>
        <p:spPr>
          <a:xfrm>
            <a:off x="11131517" y="5963031"/>
            <a:ext cx="1250062"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B4D0A"/>
                </a:solidFill>
                <a:effectLst/>
                <a:uLnTx/>
                <a:uFillTx/>
                <a:latin typeface="Calibri" panose="020F0502020204030204"/>
                <a:ea typeface="+mn-ea"/>
                <a:cs typeface="+mn-cs"/>
              </a:rPr>
              <a:t>Actuary</a:t>
            </a:r>
          </a:p>
        </p:txBody>
      </p:sp>
      <p:pic>
        <p:nvPicPr>
          <p:cNvPr id="98" name="Picture 291">
            <a:extLst>
              <a:ext uri="{FF2B5EF4-FFF2-40B4-BE49-F238E27FC236}">
                <a16:creationId xmlns:a16="http://schemas.microsoft.com/office/drawing/2014/main" id="{85253378-6463-4052-8DFD-1D8D726125F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12954" y="5691461"/>
            <a:ext cx="306320" cy="242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 name="Picture 291">
            <a:extLst>
              <a:ext uri="{FF2B5EF4-FFF2-40B4-BE49-F238E27FC236}">
                <a16:creationId xmlns:a16="http://schemas.microsoft.com/office/drawing/2014/main" id="{697A2CD0-9A8F-467A-A4FB-018F2174DC3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51544" y="5691460"/>
            <a:ext cx="306320" cy="242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 name="Picture 291">
            <a:extLst>
              <a:ext uri="{FF2B5EF4-FFF2-40B4-BE49-F238E27FC236}">
                <a16:creationId xmlns:a16="http://schemas.microsoft.com/office/drawing/2014/main" id="{9D572466-013C-4449-8900-3A479ED3697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5233" y="5675284"/>
            <a:ext cx="306320" cy="242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 name="Picture 291">
            <a:extLst>
              <a:ext uri="{FF2B5EF4-FFF2-40B4-BE49-F238E27FC236}">
                <a16:creationId xmlns:a16="http://schemas.microsoft.com/office/drawing/2014/main" id="{ABD85A74-B6C6-4DCA-B53F-6EF8F835E5F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40843" y="5691459"/>
            <a:ext cx="306320" cy="242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 name="Right Arrow 24">
            <a:extLst>
              <a:ext uri="{FF2B5EF4-FFF2-40B4-BE49-F238E27FC236}">
                <a16:creationId xmlns:a16="http://schemas.microsoft.com/office/drawing/2014/main" id="{10730DCA-B067-4BF5-91D8-EB21DBE22CEE}"/>
              </a:ext>
            </a:extLst>
          </p:cNvPr>
          <p:cNvSpPr/>
          <p:nvPr/>
        </p:nvSpPr>
        <p:spPr>
          <a:xfrm>
            <a:off x="10281336" y="1734346"/>
            <a:ext cx="1527883" cy="739354"/>
          </a:xfrm>
          <a:prstGeom prst="rightArrow">
            <a:avLst>
              <a:gd name="adj1" fmla="val 67668"/>
              <a:gd name="adj2" fmla="val 50000"/>
            </a:avLst>
          </a:prstGeom>
          <a:solidFill>
            <a:srgbClr val="92D05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0">
                <a:solidFill>
                  <a:srgbClr val="FFFFFF"/>
                </a:solidFill>
                <a:latin typeface="Calibri" panose="020F0502020204030204" pitchFamily="34" charset="0"/>
                <a:cs typeface="Calibri" panose="020F0502020204030204" pitchFamily="34" charset="0"/>
              </a:rPr>
              <a:t>Crediting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0">
                <a:solidFill>
                  <a:srgbClr val="FFFFFF"/>
                </a:solidFill>
                <a:latin typeface="Calibri" panose="020F0502020204030204" pitchFamily="34" charset="0"/>
                <a:cs typeface="Calibri" panose="020F0502020204030204" pitchFamily="34" charset="0"/>
              </a:rPr>
              <a:t>   Rates Update</a:t>
            </a:r>
            <a:endParaRPr kumimoji="0" lang="en-US" sz="1200" b="1" i="0" u="none" strike="noStrike" kern="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225" name="Right Arrow 24">
            <a:extLst>
              <a:ext uri="{FF2B5EF4-FFF2-40B4-BE49-F238E27FC236}">
                <a16:creationId xmlns:a16="http://schemas.microsoft.com/office/drawing/2014/main" id="{69DDF41D-5EBD-45B6-8170-40A823207FED}"/>
              </a:ext>
            </a:extLst>
          </p:cNvPr>
          <p:cNvSpPr/>
          <p:nvPr/>
        </p:nvSpPr>
        <p:spPr>
          <a:xfrm>
            <a:off x="9063917" y="1745696"/>
            <a:ext cx="1527883" cy="739354"/>
          </a:xfrm>
          <a:prstGeom prst="rightArrow">
            <a:avLst>
              <a:gd name="adj1" fmla="val 67668"/>
              <a:gd name="adj2" fmla="val 50000"/>
            </a:avLst>
          </a:prstGeom>
          <a:solidFill>
            <a:srgbClr val="BABABA">
              <a:lumMod val="5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Archive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Results</a:t>
            </a:r>
          </a:p>
        </p:txBody>
      </p:sp>
      <p:sp>
        <p:nvSpPr>
          <p:cNvPr id="226" name="Right Arrow 23">
            <a:extLst>
              <a:ext uri="{FF2B5EF4-FFF2-40B4-BE49-F238E27FC236}">
                <a16:creationId xmlns:a16="http://schemas.microsoft.com/office/drawing/2014/main" id="{6BE73F5C-A8C3-D120-92E8-EAE8615A93D6}"/>
              </a:ext>
            </a:extLst>
          </p:cNvPr>
          <p:cNvSpPr/>
          <p:nvPr/>
        </p:nvSpPr>
        <p:spPr>
          <a:xfrm>
            <a:off x="7557309" y="1745696"/>
            <a:ext cx="1795800" cy="739354"/>
          </a:xfrm>
          <a:prstGeom prst="rightArrow">
            <a:avLst>
              <a:gd name="adj1" fmla="val 67668"/>
              <a:gd name="adj2" fmla="val 50000"/>
            </a:avLst>
          </a:prstGeom>
          <a:solidFill>
            <a:schemeClr val="accent3">
              <a:lumMod val="7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Communicate Results</a:t>
            </a:r>
          </a:p>
        </p:txBody>
      </p:sp>
      <p:sp>
        <p:nvSpPr>
          <p:cNvPr id="227" name="Right Arrow 22">
            <a:extLst>
              <a:ext uri="{FF2B5EF4-FFF2-40B4-BE49-F238E27FC236}">
                <a16:creationId xmlns:a16="http://schemas.microsoft.com/office/drawing/2014/main" id="{2E624E50-00E6-4595-C6DA-4CA2BA1CAAA7}"/>
              </a:ext>
            </a:extLst>
          </p:cNvPr>
          <p:cNvSpPr/>
          <p:nvPr/>
        </p:nvSpPr>
        <p:spPr>
          <a:xfrm>
            <a:off x="6050701" y="1745696"/>
            <a:ext cx="1795797" cy="739354"/>
          </a:xfrm>
          <a:prstGeom prst="rightArrow">
            <a:avLst>
              <a:gd name="adj1" fmla="val 67668"/>
              <a:gd name="adj2" fmla="val 50000"/>
            </a:avLst>
          </a:prstGeom>
          <a:solidFill>
            <a:schemeClr val="bg1">
              <a:lumMod val="50000"/>
            </a:schemeClr>
          </a:solidFill>
          <a:ln w="12700" cap="flat" cmpd="sng" algn="ctr">
            <a:noFill/>
            <a:prstDash val="solid"/>
            <a:miter lim="800000"/>
          </a:ln>
          <a:effectLst/>
        </p:spPr>
        <p:txBody>
          <a:bodyPr rtlCol="0" anchor="ctr"/>
          <a:lstStyle/>
          <a:p>
            <a:pPr lvl="0" algn="ctr">
              <a:defRPr/>
            </a:pPr>
            <a:r>
              <a:rPr lang="en-US" sz="1200" b="1" kern="0">
                <a:solidFill>
                  <a:srgbClr val="FFFFFF"/>
                </a:solidFill>
                <a:latin typeface="Calibri" panose="020F0502020204030204" pitchFamily="34" charset="0"/>
                <a:cs typeface="Calibri" panose="020F0502020204030204" pitchFamily="34" charset="0"/>
              </a:rPr>
              <a:t>Prepare </a:t>
            </a:r>
          </a:p>
          <a:p>
            <a:pPr lvl="0" algn="ctr">
              <a:defRPr/>
            </a:pPr>
            <a:r>
              <a:rPr lang="en-US" sz="1200" b="1" kern="0">
                <a:solidFill>
                  <a:srgbClr val="FFFFFF"/>
                </a:solidFill>
                <a:latin typeface="Calibri" panose="020F0502020204030204" pitchFamily="34" charset="0"/>
                <a:cs typeface="Calibri" panose="020F0502020204030204" pitchFamily="34" charset="0"/>
              </a:rPr>
              <a:t>Build Files for </a:t>
            </a:r>
          </a:p>
          <a:p>
            <a:pPr lvl="0" algn="ctr">
              <a:defRPr/>
            </a:pPr>
            <a:r>
              <a:rPr lang="en-US" sz="1200" b="1" kern="0">
                <a:solidFill>
                  <a:srgbClr val="FFFFFF"/>
                </a:solidFill>
                <a:latin typeface="Calibri" panose="020F0502020204030204" pitchFamily="34" charset="0"/>
                <a:cs typeface="Calibri" panose="020F0502020204030204" pitchFamily="34" charset="0"/>
              </a:rPr>
              <a:t>Model Run</a:t>
            </a:r>
          </a:p>
        </p:txBody>
      </p:sp>
      <p:sp>
        <p:nvSpPr>
          <p:cNvPr id="228" name="Right Arrow 21">
            <a:extLst>
              <a:ext uri="{FF2B5EF4-FFF2-40B4-BE49-F238E27FC236}">
                <a16:creationId xmlns:a16="http://schemas.microsoft.com/office/drawing/2014/main" id="{018C0CC0-EBBD-996D-575E-416E15A54E27}"/>
              </a:ext>
            </a:extLst>
          </p:cNvPr>
          <p:cNvSpPr/>
          <p:nvPr/>
        </p:nvSpPr>
        <p:spPr>
          <a:xfrm>
            <a:off x="4544092" y="1745696"/>
            <a:ext cx="1795800" cy="739354"/>
          </a:xfrm>
          <a:prstGeom prst="rightArrow">
            <a:avLst>
              <a:gd name="adj1" fmla="val 67668"/>
              <a:gd name="adj2" fmla="val 50000"/>
            </a:avLst>
          </a:prstGeom>
          <a:solidFill>
            <a:schemeClr val="accent4"/>
          </a:solidFill>
          <a:ln w="12700" cap="flat" cmpd="sng" algn="ctr">
            <a:noFill/>
            <a:prstDash val="solid"/>
            <a:miter lim="800000"/>
          </a:ln>
          <a:effectLst/>
        </p:spPr>
        <p:txBody>
          <a:bodyPr lIns="365760" rtlCol="0" anchor="ctr"/>
          <a:lstStyle/>
          <a:p>
            <a:pPr lvl="0" algn="ctr">
              <a:defRPr/>
            </a:pPr>
            <a:r>
              <a:rPr lang="en-US" sz="1100" b="1" kern="0">
                <a:solidFill>
                  <a:srgbClr val="FFFFFF"/>
                </a:solidFill>
                <a:latin typeface="Calibri" panose="020F0502020204030204" pitchFamily="34" charset="0"/>
                <a:cs typeface="Calibri" panose="020F0502020204030204" pitchFamily="34" charset="0"/>
              </a:rPr>
              <a:t>Investment out-performance adjustment</a:t>
            </a:r>
          </a:p>
        </p:txBody>
      </p:sp>
      <p:sp>
        <p:nvSpPr>
          <p:cNvPr id="235" name="Right Arrow 20">
            <a:extLst>
              <a:ext uri="{FF2B5EF4-FFF2-40B4-BE49-F238E27FC236}">
                <a16:creationId xmlns:a16="http://schemas.microsoft.com/office/drawing/2014/main" id="{B35629B2-2D0C-59BF-412C-8551004F2FC8}"/>
              </a:ext>
            </a:extLst>
          </p:cNvPr>
          <p:cNvSpPr/>
          <p:nvPr/>
        </p:nvSpPr>
        <p:spPr>
          <a:xfrm>
            <a:off x="3037483" y="1745696"/>
            <a:ext cx="1795800" cy="739354"/>
          </a:xfrm>
          <a:prstGeom prst="rightArrow">
            <a:avLst>
              <a:gd name="adj1" fmla="val 67668"/>
              <a:gd name="adj2" fmla="val 50000"/>
            </a:avLst>
          </a:prstGeom>
          <a:solidFill>
            <a:schemeClr val="tx2"/>
          </a:solidFill>
          <a:ln w="12700" cap="flat" cmpd="sng" algn="ctr">
            <a:noFill/>
            <a:prstDash val="solid"/>
            <a:miter lim="800000"/>
          </a:ln>
          <a:effectLst/>
        </p:spPr>
        <p:txBody>
          <a:bodyPr lIns="365760" rtlCol="0" anchor="ctr"/>
          <a:lstStyle/>
          <a:p>
            <a:pPr algn="ctr">
              <a:defRPr/>
            </a:pPr>
            <a:r>
              <a:rPr lang="en-US" sz="1200" b="1" kern="0">
                <a:solidFill>
                  <a:srgbClr val="FFFFFF"/>
                </a:solidFill>
                <a:latin typeface="Calibri" panose="020F0502020204030204" pitchFamily="34" charset="0"/>
                <a:cs typeface="Calibri" panose="020F0502020204030204" pitchFamily="34" charset="0"/>
              </a:rPr>
              <a:t>Estimate Cost of Crediting</a:t>
            </a:r>
          </a:p>
        </p:txBody>
      </p:sp>
      <p:sp>
        <p:nvSpPr>
          <p:cNvPr id="245" name="Right Arrow 19">
            <a:extLst>
              <a:ext uri="{FF2B5EF4-FFF2-40B4-BE49-F238E27FC236}">
                <a16:creationId xmlns:a16="http://schemas.microsoft.com/office/drawing/2014/main" id="{4E67C7AD-4600-1942-2AD4-CDCD72AE8704}"/>
              </a:ext>
            </a:extLst>
          </p:cNvPr>
          <p:cNvSpPr/>
          <p:nvPr/>
        </p:nvSpPr>
        <p:spPr>
          <a:xfrm>
            <a:off x="1530874" y="1745696"/>
            <a:ext cx="1795800" cy="739354"/>
          </a:xfrm>
          <a:prstGeom prst="rightArrow">
            <a:avLst>
              <a:gd name="adj1" fmla="val 67668"/>
              <a:gd name="adj2" fmla="val 50000"/>
            </a:avLst>
          </a:prstGeom>
          <a:solidFill>
            <a:schemeClr val="accent3"/>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New week Folder Structure &amp; Input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files</a:t>
            </a:r>
          </a:p>
        </p:txBody>
      </p:sp>
      <p:sp>
        <p:nvSpPr>
          <p:cNvPr id="246" name="Right Arrow 16">
            <a:extLst>
              <a:ext uri="{FF2B5EF4-FFF2-40B4-BE49-F238E27FC236}">
                <a16:creationId xmlns:a16="http://schemas.microsoft.com/office/drawing/2014/main" id="{86FC9A6B-09C1-1385-D057-6C9DCAFA9447}"/>
              </a:ext>
            </a:extLst>
          </p:cNvPr>
          <p:cNvSpPr/>
          <p:nvPr/>
        </p:nvSpPr>
        <p:spPr>
          <a:xfrm>
            <a:off x="0" y="1745696"/>
            <a:ext cx="1817781" cy="739354"/>
          </a:xfrm>
          <a:prstGeom prst="rightArrow">
            <a:avLst>
              <a:gd name="adj1" fmla="val 67668"/>
              <a:gd name="adj2" fmla="val 50000"/>
            </a:avLst>
          </a:prstGeom>
          <a:solidFill>
            <a:schemeClr val="accent1"/>
          </a:solidFill>
          <a:ln w="12700" cap="flat" cmpd="sng" algn="ctr">
            <a:noFill/>
            <a:prstDash val="solid"/>
            <a:miter lim="800000"/>
          </a:ln>
          <a:effectLst/>
        </p:spPr>
        <p:txBody>
          <a:bodyPr rtlCol="0" anchor="ctr"/>
          <a:lstStyle/>
          <a:p>
            <a:pPr lvl="0" algn="ctr">
              <a:defRPr/>
            </a:pPr>
            <a:r>
              <a:rPr lang="en-US" sz="1100" b="1" kern="0">
                <a:solidFill>
                  <a:srgbClr val="FFFFFF"/>
                </a:solidFill>
                <a:latin typeface="Calibri" panose="020F0502020204030204" pitchFamily="34" charset="0"/>
                <a:cs typeface="Calibri" panose="020F0502020204030204" pitchFamily="34" charset="0"/>
              </a:rPr>
              <a:t> MG-ALFA Run</a:t>
            </a:r>
          </a:p>
          <a:p>
            <a:pPr lvl="0" algn="ctr">
              <a:defRPr/>
            </a:pPr>
            <a:r>
              <a:rPr lang="en-US" sz="1100" b="1" kern="0">
                <a:solidFill>
                  <a:srgbClr val="FFFFFF"/>
                </a:solidFill>
                <a:latin typeface="Calibri" panose="020F0502020204030204" pitchFamily="34" charset="0"/>
                <a:cs typeface="Calibri" panose="020F0502020204030204" pitchFamily="34" charset="0"/>
              </a:rPr>
              <a:t>and Results </a:t>
            </a:r>
          </a:p>
          <a:p>
            <a:pPr lvl="0" algn="ctr">
              <a:defRPr/>
            </a:pPr>
            <a:r>
              <a:rPr lang="en-US" sz="1100" b="1" kern="0">
                <a:solidFill>
                  <a:srgbClr val="FFFFFF"/>
                </a:solidFill>
                <a:latin typeface="Calibri" panose="020F0502020204030204" pitchFamily="34" charset="0"/>
                <a:cs typeface="Calibri" panose="020F0502020204030204" pitchFamily="34" charset="0"/>
              </a:rPr>
              <a:t>Comparison </a:t>
            </a:r>
            <a:endParaRPr kumimoji="0" lang="en-US" sz="1100" b="1" i="0" u="none" strike="noStrike" kern="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104" name="Rectangle 103">
            <a:extLst>
              <a:ext uri="{FF2B5EF4-FFF2-40B4-BE49-F238E27FC236}">
                <a16:creationId xmlns:a16="http://schemas.microsoft.com/office/drawing/2014/main" id="{E7550D4F-4E4E-40A1-A376-F602579CC0D6}"/>
              </a:ext>
            </a:extLst>
          </p:cNvPr>
          <p:cNvSpPr/>
          <p:nvPr/>
        </p:nvSpPr>
        <p:spPr>
          <a:xfrm>
            <a:off x="391896" y="894969"/>
            <a:ext cx="11406402" cy="30777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5071"/>
                </a:solidFill>
                <a:effectLst/>
                <a:uLnTx/>
                <a:uFillTx/>
                <a:latin typeface="Calibri" panose="020F0502020204030204"/>
                <a:ea typeface="+mn-ea"/>
                <a:cs typeface="+mn-cs"/>
              </a:rPr>
              <a:t>Purpose is to calculate profitability and other product metrics </a:t>
            </a:r>
            <a:r>
              <a:rPr lang="en-US" sz="1400" b="1" kern="0">
                <a:solidFill>
                  <a:srgbClr val="005071"/>
                </a:solidFill>
                <a:latin typeface="Calibri" panose="020F0502020204030204"/>
              </a:rPr>
              <a:t>that are used both in making pricing decisions and financial planning &amp; analysis.</a:t>
            </a:r>
            <a:endParaRPr kumimoji="0" lang="en-US" sz="1400" b="1" i="0" u="none" strike="noStrike" kern="0" cap="none" spc="0" normalizeH="0" baseline="0" noProof="0">
              <a:ln>
                <a:noFill/>
              </a:ln>
              <a:solidFill>
                <a:srgbClr val="005071"/>
              </a:solidFill>
              <a:effectLst/>
              <a:uLnTx/>
              <a:uFillTx/>
              <a:latin typeface="Calibri" panose="020F0502020204030204"/>
              <a:ea typeface="+mn-ea"/>
              <a:cs typeface="+mn-cs"/>
            </a:endParaRPr>
          </a:p>
        </p:txBody>
      </p:sp>
      <p:cxnSp>
        <p:nvCxnSpPr>
          <p:cNvPr id="105" name="Straight Connector 104">
            <a:extLst>
              <a:ext uri="{FF2B5EF4-FFF2-40B4-BE49-F238E27FC236}">
                <a16:creationId xmlns:a16="http://schemas.microsoft.com/office/drawing/2014/main" id="{9D0EE659-1220-4307-B070-50F6CB994E05}"/>
              </a:ext>
            </a:extLst>
          </p:cNvPr>
          <p:cNvCxnSpPr/>
          <p:nvPr/>
        </p:nvCxnSpPr>
        <p:spPr>
          <a:xfrm flipH="1">
            <a:off x="10490200" y="2927289"/>
            <a:ext cx="0" cy="2949810"/>
          </a:xfrm>
          <a:prstGeom prst="line">
            <a:avLst/>
          </a:prstGeom>
          <a:noFill/>
          <a:ln w="6350" cap="flat" cmpd="sng" algn="ctr">
            <a:solidFill>
              <a:srgbClr val="FFFFFF">
                <a:lumMod val="65000"/>
              </a:srgbClr>
            </a:solidFill>
            <a:prstDash val="solid"/>
            <a:miter lim="800000"/>
          </a:ln>
          <a:effectLst/>
        </p:spPr>
      </p:cxnSp>
      <p:pic>
        <p:nvPicPr>
          <p:cNvPr id="106" name="Picture 291">
            <a:extLst>
              <a:ext uri="{FF2B5EF4-FFF2-40B4-BE49-F238E27FC236}">
                <a16:creationId xmlns:a16="http://schemas.microsoft.com/office/drawing/2014/main" id="{5E71F35C-5DD9-4B34-A3FB-5253B5FD8D6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97826" y="5691458"/>
            <a:ext cx="306320" cy="242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 name="Freeform 11">
            <a:extLst>
              <a:ext uri="{FF2B5EF4-FFF2-40B4-BE49-F238E27FC236}">
                <a16:creationId xmlns:a16="http://schemas.microsoft.com/office/drawing/2014/main" id="{4CC6DB8C-8D78-4EC5-946E-431655001732}"/>
              </a:ext>
            </a:extLst>
          </p:cNvPr>
          <p:cNvSpPr>
            <a:spLocks noEditPoints="1"/>
          </p:cNvSpPr>
          <p:nvPr/>
        </p:nvSpPr>
        <p:spPr bwMode="auto">
          <a:xfrm>
            <a:off x="10739070" y="1378183"/>
            <a:ext cx="377918" cy="372490"/>
          </a:xfrm>
          <a:custGeom>
            <a:avLst/>
            <a:gdLst>
              <a:gd name="T0" fmla="*/ 1404 w 1689"/>
              <a:gd name="T1" fmla="*/ 1044 h 1640"/>
              <a:gd name="T2" fmla="*/ 1001 w 1689"/>
              <a:gd name="T3" fmla="*/ 780 h 1640"/>
              <a:gd name="T4" fmla="*/ 1474 w 1689"/>
              <a:gd name="T5" fmla="*/ 397 h 1640"/>
              <a:gd name="T6" fmla="*/ 1630 w 1689"/>
              <a:gd name="T7" fmla="*/ 164 h 1640"/>
              <a:gd name="T8" fmla="*/ 1513 w 1689"/>
              <a:gd name="T9" fmla="*/ 13 h 1640"/>
              <a:gd name="T10" fmla="*/ 1256 w 1689"/>
              <a:gd name="T11" fmla="*/ 138 h 1640"/>
              <a:gd name="T12" fmla="*/ 1238 w 1689"/>
              <a:gd name="T13" fmla="*/ 254 h 1640"/>
              <a:gd name="T14" fmla="*/ 595 w 1689"/>
              <a:gd name="T15" fmla="*/ 373 h 1640"/>
              <a:gd name="T16" fmla="*/ 144 w 1689"/>
              <a:gd name="T17" fmla="*/ 80 h 1640"/>
              <a:gd name="T18" fmla="*/ 146 w 1689"/>
              <a:gd name="T19" fmla="*/ 134 h 1640"/>
              <a:gd name="T20" fmla="*/ 304 w 1689"/>
              <a:gd name="T21" fmla="*/ 334 h 1640"/>
              <a:gd name="T22" fmla="*/ 61 w 1689"/>
              <a:gd name="T23" fmla="*/ 313 h 1640"/>
              <a:gd name="T24" fmla="*/ 14 w 1689"/>
              <a:gd name="T25" fmla="*/ 343 h 1640"/>
              <a:gd name="T26" fmla="*/ 421 w 1689"/>
              <a:gd name="T27" fmla="*/ 594 h 1640"/>
              <a:gd name="T28" fmla="*/ 556 w 1689"/>
              <a:gd name="T29" fmla="*/ 935 h 1640"/>
              <a:gd name="T30" fmla="*/ 441 w 1689"/>
              <a:gd name="T31" fmla="*/ 912 h 1640"/>
              <a:gd name="T32" fmla="*/ 405 w 1689"/>
              <a:gd name="T33" fmla="*/ 1032 h 1640"/>
              <a:gd name="T34" fmla="*/ 27 w 1689"/>
              <a:gd name="T35" fmla="*/ 1410 h 1640"/>
              <a:gd name="T36" fmla="*/ 27 w 1689"/>
              <a:gd name="T37" fmla="*/ 1502 h 1640"/>
              <a:gd name="T38" fmla="*/ 225 w 1689"/>
              <a:gd name="T39" fmla="*/ 1613 h 1640"/>
              <a:gd name="T40" fmla="*/ 606 w 1689"/>
              <a:gd name="T41" fmla="*/ 1232 h 1640"/>
              <a:gd name="T42" fmla="*/ 694 w 1689"/>
              <a:gd name="T43" fmla="*/ 1228 h 1640"/>
              <a:gd name="T44" fmla="*/ 728 w 1689"/>
              <a:gd name="T45" fmla="*/ 1106 h 1640"/>
              <a:gd name="T46" fmla="*/ 703 w 1689"/>
              <a:gd name="T47" fmla="*/ 1081 h 1640"/>
              <a:gd name="T48" fmla="*/ 1116 w 1689"/>
              <a:gd name="T49" fmla="*/ 1286 h 1640"/>
              <a:gd name="T50" fmla="*/ 1613 w 1689"/>
              <a:gd name="T51" fmla="*/ 1540 h 1640"/>
              <a:gd name="T52" fmla="*/ 1599 w 1689"/>
              <a:gd name="T53" fmla="*/ 1488 h 1640"/>
              <a:gd name="T54" fmla="*/ 1381 w 1689"/>
              <a:gd name="T55" fmla="*/ 1403 h 1640"/>
              <a:gd name="T56" fmla="*/ 1470 w 1689"/>
              <a:gd name="T57" fmla="*/ 1251 h 1640"/>
              <a:gd name="T58" fmla="*/ 1657 w 1689"/>
              <a:gd name="T59" fmla="*/ 1299 h 1640"/>
              <a:gd name="T60" fmla="*/ 1685 w 1689"/>
              <a:gd name="T61" fmla="*/ 1252 h 1640"/>
              <a:gd name="T62" fmla="*/ 1292 w 1689"/>
              <a:gd name="T63" fmla="*/ 290 h 1640"/>
              <a:gd name="T64" fmla="*/ 1303 w 1689"/>
              <a:gd name="T65" fmla="*/ 183 h 1640"/>
              <a:gd name="T66" fmla="*/ 1562 w 1689"/>
              <a:gd name="T67" fmla="*/ 152 h 1640"/>
              <a:gd name="T68" fmla="*/ 1369 w 1689"/>
              <a:gd name="T69" fmla="*/ 336 h 1640"/>
              <a:gd name="T70" fmla="*/ 957 w 1689"/>
              <a:gd name="T71" fmla="*/ 735 h 1640"/>
              <a:gd name="T72" fmla="*/ 1292 w 1689"/>
              <a:gd name="T73" fmla="*/ 290 h 1640"/>
              <a:gd name="T74" fmla="*/ 182 w 1689"/>
              <a:gd name="T75" fmla="*/ 1565 h 1640"/>
              <a:gd name="T76" fmla="*/ 452 w 1689"/>
              <a:gd name="T77" fmla="*/ 1076 h 1640"/>
              <a:gd name="T78" fmla="*/ 560 w 1689"/>
              <a:gd name="T79" fmla="*/ 1186 h 1640"/>
              <a:gd name="T80" fmla="*/ 650 w 1689"/>
              <a:gd name="T81" fmla="*/ 1181 h 1640"/>
              <a:gd name="T82" fmla="*/ 608 w 1689"/>
              <a:gd name="T83" fmla="*/ 1139 h 1640"/>
              <a:gd name="T84" fmla="*/ 591 w 1689"/>
              <a:gd name="T85" fmla="*/ 1122 h 1640"/>
              <a:gd name="T86" fmla="*/ 489 w 1689"/>
              <a:gd name="T87" fmla="*/ 955 h 1640"/>
              <a:gd name="T88" fmla="*/ 650 w 1689"/>
              <a:gd name="T89" fmla="*/ 1181 h 1640"/>
              <a:gd name="T90" fmla="*/ 601 w 1689"/>
              <a:gd name="T91" fmla="*/ 980 h 1640"/>
              <a:gd name="T92" fmla="*/ 759 w 1689"/>
              <a:gd name="T93" fmla="*/ 932 h 1640"/>
              <a:gd name="T94" fmla="*/ 1485 w 1689"/>
              <a:gd name="T95" fmla="*/ 1189 h 1640"/>
              <a:gd name="T96" fmla="*/ 1315 w 1689"/>
              <a:gd name="T97" fmla="*/ 1311 h 1640"/>
              <a:gd name="T98" fmla="*/ 1402 w 1689"/>
              <a:gd name="T99" fmla="*/ 1501 h 1640"/>
              <a:gd name="T100" fmla="*/ 1207 w 1689"/>
              <a:gd name="T101" fmla="*/ 1454 h 1640"/>
              <a:gd name="T102" fmla="*/ 1172 w 1689"/>
              <a:gd name="T103" fmla="*/ 1254 h 1640"/>
              <a:gd name="T104" fmla="*/ 413 w 1689"/>
              <a:gd name="T105" fmla="*/ 528 h 1640"/>
              <a:gd name="T106" fmla="*/ 91 w 1689"/>
              <a:gd name="T107" fmla="*/ 404 h 1640"/>
              <a:gd name="T108" fmla="*/ 220 w 1689"/>
              <a:gd name="T109" fmla="*/ 459 h 1640"/>
              <a:gd name="T110" fmla="*/ 321 w 1689"/>
              <a:gd name="T111" fmla="*/ 162 h 1640"/>
              <a:gd name="T112" fmla="*/ 521 w 1689"/>
              <a:gd name="T113" fmla="*/ 248 h 1640"/>
              <a:gd name="T114" fmla="*/ 537 w 1689"/>
              <a:gd name="T115" fmla="*/ 406 h 1640"/>
              <a:gd name="T116" fmla="*/ 1297 w 1689"/>
              <a:gd name="T117" fmla="*/ 1134 h 1640"/>
              <a:gd name="T118" fmla="*/ 1601 w 1689"/>
              <a:gd name="T119" fmla="*/ 1220 h 1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89" h="1640">
                <a:moveTo>
                  <a:pt x="1612" y="1130"/>
                </a:moveTo>
                <a:cubicBezTo>
                  <a:pt x="1557" y="1075"/>
                  <a:pt x="1482" y="1044"/>
                  <a:pt x="1404" y="1044"/>
                </a:cubicBezTo>
                <a:cubicBezTo>
                  <a:pt x="1365" y="1044"/>
                  <a:pt x="1325" y="1052"/>
                  <a:pt x="1289" y="1068"/>
                </a:cubicBezTo>
                <a:cubicBezTo>
                  <a:pt x="1001" y="780"/>
                  <a:pt x="1001" y="780"/>
                  <a:pt x="1001" y="780"/>
                </a:cubicBezTo>
                <a:cubicBezTo>
                  <a:pt x="1383" y="400"/>
                  <a:pt x="1383" y="400"/>
                  <a:pt x="1383" y="400"/>
                </a:cubicBezTo>
                <a:cubicBezTo>
                  <a:pt x="1474" y="397"/>
                  <a:pt x="1474" y="397"/>
                  <a:pt x="1474" y="397"/>
                </a:cubicBezTo>
                <a:cubicBezTo>
                  <a:pt x="1485" y="397"/>
                  <a:pt x="1495" y="391"/>
                  <a:pt x="1500" y="382"/>
                </a:cubicBezTo>
                <a:cubicBezTo>
                  <a:pt x="1630" y="164"/>
                  <a:pt x="1630" y="164"/>
                  <a:pt x="1630" y="164"/>
                </a:cubicBezTo>
                <a:cubicBezTo>
                  <a:pt x="1638" y="151"/>
                  <a:pt x="1636" y="135"/>
                  <a:pt x="1625" y="125"/>
                </a:cubicBezTo>
                <a:cubicBezTo>
                  <a:pt x="1513" y="13"/>
                  <a:pt x="1513" y="13"/>
                  <a:pt x="1513" y="13"/>
                </a:cubicBezTo>
                <a:cubicBezTo>
                  <a:pt x="1503" y="2"/>
                  <a:pt x="1487" y="0"/>
                  <a:pt x="1474" y="8"/>
                </a:cubicBezTo>
                <a:cubicBezTo>
                  <a:pt x="1256" y="138"/>
                  <a:pt x="1256" y="138"/>
                  <a:pt x="1256" y="138"/>
                </a:cubicBezTo>
                <a:cubicBezTo>
                  <a:pt x="1247" y="143"/>
                  <a:pt x="1241" y="153"/>
                  <a:pt x="1241" y="164"/>
                </a:cubicBezTo>
                <a:cubicBezTo>
                  <a:pt x="1238" y="254"/>
                  <a:pt x="1238" y="254"/>
                  <a:pt x="1238" y="254"/>
                </a:cubicBezTo>
                <a:cubicBezTo>
                  <a:pt x="857" y="635"/>
                  <a:pt x="857" y="635"/>
                  <a:pt x="857" y="635"/>
                </a:cubicBezTo>
                <a:cubicBezTo>
                  <a:pt x="595" y="373"/>
                  <a:pt x="595" y="373"/>
                  <a:pt x="595" y="373"/>
                </a:cubicBezTo>
                <a:cubicBezTo>
                  <a:pt x="622" y="214"/>
                  <a:pt x="515" y="63"/>
                  <a:pt x="356" y="35"/>
                </a:cubicBezTo>
                <a:cubicBezTo>
                  <a:pt x="282" y="22"/>
                  <a:pt x="206" y="38"/>
                  <a:pt x="144" y="80"/>
                </a:cubicBezTo>
                <a:cubicBezTo>
                  <a:pt x="129" y="90"/>
                  <a:pt x="126" y="110"/>
                  <a:pt x="135" y="124"/>
                </a:cubicBezTo>
                <a:cubicBezTo>
                  <a:pt x="138" y="129"/>
                  <a:pt x="142" y="132"/>
                  <a:pt x="146" y="134"/>
                </a:cubicBezTo>
                <a:cubicBezTo>
                  <a:pt x="292" y="215"/>
                  <a:pt x="292" y="215"/>
                  <a:pt x="292" y="215"/>
                </a:cubicBezTo>
                <a:cubicBezTo>
                  <a:pt x="324" y="234"/>
                  <a:pt x="330" y="288"/>
                  <a:pt x="304" y="334"/>
                </a:cubicBezTo>
                <a:cubicBezTo>
                  <a:pt x="278" y="380"/>
                  <a:pt x="228" y="404"/>
                  <a:pt x="196" y="386"/>
                </a:cubicBezTo>
                <a:cubicBezTo>
                  <a:pt x="61" y="313"/>
                  <a:pt x="61" y="313"/>
                  <a:pt x="61" y="313"/>
                </a:cubicBezTo>
                <a:cubicBezTo>
                  <a:pt x="46" y="304"/>
                  <a:pt x="26" y="310"/>
                  <a:pt x="18" y="326"/>
                </a:cubicBezTo>
                <a:cubicBezTo>
                  <a:pt x="15" y="331"/>
                  <a:pt x="14" y="337"/>
                  <a:pt x="14" y="343"/>
                </a:cubicBezTo>
                <a:cubicBezTo>
                  <a:pt x="24" y="504"/>
                  <a:pt x="163" y="627"/>
                  <a:pt x="325" y="617"/>
                </a:cubicBezTo>
                <a:cubicBezTo>
                  <a:pt x="358" y="615"/>
                  <a:pt x="391" y="607"/>
                  <a:pt x="421" y="594"/>
                </a:cubicBezTo>
                <a:cubicBezTo>
                  <a:pt x="660" y="832"/>
                  <a:pt x="660" y="832"/>
                  <a:pt x="660" y="832"/>
                </a:cubicBezTo>
                <a:cubicBezTo>
                  <a:pt x="556" y="935"/>
                  <a:pt x="556" y="935"/>
                  <a:pt x="556" y="935"/>
                </a:cubicBezTo>
                <a:cubicBezTo>
                  <a:pt x="533" y="912"/>
                  <a:pt x="533" y="912"/>
                  <a:pt x="533" y="912"/>
                </a:cubicBezTo>
                <a:cubicBezTo>
                  <a:pt x="507" y="887"/>
                  <a:pt x="467" y="887"/>
                  <a:pt x="441" y="912"/>
                </a:cubicBezTo>
                <a:cubicBezTo>
                  <a:pt x="409" y="944"/>
                  <a:pt x="409" y="944"/>
                  <a:pt x="409" y="944"/>
                </a:cubicBezTo>
                <a:cubicBezTo>
                  <a:pt x="384" y="968"/>
                  <a:pt x="383" y="1006"/>
                  <a:pt x="405" y="1032"/>
                </a:cubicBezTo>
                <a:cubicBezTo>
                  <a:pt x="405" y="1032"/>
                  <a:pt x="405" y="1032"/>
                  <a:pt x="405" y="1032"/>
                </a:cubicBezTo>
                <a:cubicBezTo>
                  <a:pt x="27" y="1410"/>
                  <a:pt x="27" y="1410"/>
                  <a:pt x="27" y="1410"/>
                </a:cubicBezTo>
                <a:cubicBezTo>
                  <a:pt x="1" y="1434"/>
                  <a:pt x="0" y="1475"/>
                  <a:pt x="25" y="1500"/>
                </a:cubicBezTo>
                <a:cubicBezTo>
                  <a:pt x="25" y="1501"/>
                  <a:pt x="26" y="1502"/>
                  <a:pt x="27" y="1502"/>
                </a:cubicBezTo>
                <a:cubicBezTo>
                  <a:pt x="135" y="1611"/>
                  <a:pt x="135" y="1611"/>
                  <a:pt x="135" y="1611"/>
                </a:cubicBezTo>
                <a:cubicBezTo>
                  <a:pt x="159" y="1636"/>
                  <a:pt x="200" y="1637"/>
                  <a:pt x="225" y="1613"/>
                </a:cubicBezTo>
                <a:cubicBezTo>
                  <a:pt x="226" y="1612"/>
                  <a:pt x="227" y="1611"/>
                  <a:pt x="227" y="1611"/>
                </a:cubicBezTo>
                <a:cubicBezTo>
                  <a:pt x="606" y="1232"/>
                  <a:pt x="606" y="1232"/>
                  <a:pt x="606" y="1232"/>
                </a:cubicBezTo>
                <a:cubicBezTo>
                  <a:pt x="606" y="1232"/>
                  <a:pt x="606" y="1232"/>
                  <a:pt x="606" y="1232"/>
                </a:cubicBezTo>
                <a:cubicBezTo>
                  <a:pt x="632" y="1254"/>
                  <a:pt x="670" y="1253"/>
                  <a:pt x="694" y="1228"/>
                </a:cubicBezTo>
                <a:cubicBezTo>
                  <a:pt x="726" y="1196"/>
                  <a:pt x="726" y="1196"/>
                  <a:pt x="726" y="1196"/>
                </a:cubicBezTo>
                <a:cubicBezTo>
                  <a:pt x="752" y="1172"/>
                  <a:pt x="753" y="1132"/>
                  <a:pt x="728" y="1106"/>
                </a:cubicBezTo>
                <a:cubicBezTo>
                  <a:pt x="727" y="1105"/>
                  <a:pt x="727" y="1105"/>
                  <a:pt x="726" y="1104"/>
                </a:cubicBezTo>
                <a:cubicBezTo>
                  <a:pt x="703" y="1081"/>
                  <a:pt x="703" y="1081"/>
                  <a:pt x="703" y="1081"/>
                </a:cubicBezTo>
                <a:cubicBezTo>
                  <a:pt x="805" y="976"/>
                  <a:pt x="805" y="976"/>
                  <a:pt x="805" y="976"/>
                </a:cubicBezTo>
                <a:cubicBezTo>
                  <a:pt x="1116" y="1286"/>
                  <a:pt x="1116" y="1286"/>
                  <a:pt x="1116" y="1286"/>
                </a:cubicBezTo>
                <a:cubicBezTo>
                  <a:pt x="1089" y="1446"/>
                  <a:pt x="1196" y="1597"/>
                  <a:pt x="1356" y="1624"/>
                </a:cubicBezTo>
                <a:cubicBezTo>
                  <a:pt x="1450" y="1640"/>
                  <a:pt x="1546" y="1608"/>
                  <a:pt x="1613" y="1540"/>
                </a:cubicBezTo>
                <a:cubicBezTo>
                  <a:pt x="1625" y="1527"/>
                  <a:pt x="1624" y="1506"/>
                  <a:pt x="1611" y="1495"/>
                </a:cubicBezTo>
                <a:cubicBezTo>
                  <a:pt x="1607" y="1492"/>
                  <a:pt x="1603" y="1489"/>
                  <a:pt x="1599" y="1488"/>
                </a:cubicBezTo>
                <a:cubicBezTo>
                  <a:pt x="1419" y="1440"/>
                  <a:pt x="1419" y="1440"/>
                  <a:pt x="1419" y="1440"/>
                </a:cubicBezTo>
                <a:cubicBezTo>
                  <a:pt x="1401" y="1434"/>
                  <a:pt x="1387" y="1420"/>
                  <a:pt x="1381" y="1403"/>
                </a:cubicBezTo>
                <a:cubicBezTo>
                  <a:pt x="1372" y="1379"/>
                  <a:pt x="1371" y="1352"/>
                  <a:pt x="1378" y="1327"/>
                </a:cubicBezTo>
                <a:cubicBezTo>
                  <a:pt x="1391" y="1277"/>
                  <a:pt x="1434" y="1241"/>
                  <a:pt x="1470" y="1251"/>
                </a:cubicBezTo>
                <a:cubicBezTo>
                  <a:pt x="1648" y="1299"/>
                  <a:pt x="1648" y="1299"/>
                  <a:pt x="1648" y="1299"/>
                </a:cubicBezTo>
                <a:cubicBezTo>
                  <a:pt x="1651" y="1299"/>
                  <a:pt x="1654" y="1299"/>
                  <a:pt x="1657" y="1299"/>
                </a:cubicBezTo>
                <a:cubicBezTo>
                  <a:pt x="1674" y="1299"/>
                  <a:pt x="1689" y="1285"/>
                  <a:pt x="1689" y="1267"/>
                </a:cubicBezTo>
                <a:cubicBezTo>
                  <a:pt x="1689" y="1262"/>
                  <a:pt x="1688" y="1257"/>
                  <a:pt x="1685" y="1252"/>
                </a:cubicBezTo>
                <a:cubicBezTo>
                  <a:pt x="1671" y="1206"/>
                  <a:pt x="1646" y="1164"/>
                  <a:pt x="1612" y="1130"/>
                </a:cubicBezTo>
                <a:close/>
                <a:moveTo>
                  <a:pt x="1292" y="290"/>
                </a:moveTo>
                <a:cubicBezTo>
                  <a:pt x="1297" y="284"/>
                  <a:pt x="1301" y="276"/>
                  <a:pt x="1301" y="268"/>
                </a:cubicBezTo>
                <a:cubicBezTo>
                  <a:pt x="1303" y="183"/>
                  <a:pt x="1303" y="183"/>
                  <a:pt x="1303" y="183"/>
                </a:cubicBezTo>
                <a:cubicBezTo>
                  <a:pt x="1485" y="75"/>
                  <a:pt x="1485" y="75"/>
                  <a:pt x="1485" y="75"/>
                </a:cubicBezTo>
                <a:cubicBezTo>
                  <a:pt x="1562" y="152"/>
                  <a:pt x="1562" y="152"/>
                  <a:pt x="1562" y="152"/>
                </a:cubicBezTo>
                <a:cubicBezTo>
                  <a:pt x="1456" y="333"/>
                  <a:pt x="1456" y="333"/>
                  <a:pt x="1456" y="333"/>
                </a:cubicBezTo>
                <a:cubicBezTo>
                  <a:pt x="1369" y="336"/>
                  <a:pt x="1369" y="336"/>
                  <a:pt x="1369" y="336"/>
                </a:cubicBezTo>
                <a:cubicBezTo>
                  <a:pt x="1361" y="336"/>
                  <a:pt x="1353" y="340"/>
                  <a:pt x="1347" y="345"/>
                </a:cubicBezTo>
                <a:cubicBezTo>
                  <a:pt x="957" y="735"/>
                  <a:pt x="957" y="735"/>
                  <a:pt x="957" y="735"/>
                </a:cubicBezTo>
                <a:cubicBezTo>
                  <a:pt x="902" y="680"/>
                  <a:pt x="902" y="680"/>
                  <a:pt x="902" y="680"/>
                </a:cubicBezTo>
                <a:lnTo>
                  <a:pt x="1292" y="290"/>
                </a:lnTo>
                <a:close/>
                <a:moveTo>
                  <a:pt x="182" y="1565"/>
                </a:moveTo>
                <a:cubicBezTo>
                  <a:pt x="182" y="1565"/>
                  <a:pt x="182" y="1565"/>
                  <a:pt x="182" y="1565"/>
                </a:cubicBezTo>
                <a:cubicBezTo>
                  <a:pt x="72" y="1456"/>
                  <a:pt x="72" y="1456"/>
                  <a:pt x="72" y="1456"/>
                </a:cubicBezTo>
                <a:cubicBezTo>
                  <a:pt x="452" y="1076"/>
                  <a:pt x="452" y="1076"/>
                  <a:pt x="452" y="1076"/>
                </a:cubicBezTo>
                <a:cubicBezTo>
                  <a:pt x="508" y="1132"/>
                  <a:pt x="508" y="1132"/>
                  <a:pt x="508" y="1132"/>
                </a:cubicBezTo>
                <a:cubicBezTo>
                  <a:pt x="560" y="1186"/>
                  <a:pt x="560" y="1186"/>
                  <a:pt x="560" y="1186"/>
                </a:cubicBezTo>
                <a:lnTo>
                  <a:pt x="182" y="1565"/>
                </a:lnTo>
                <a:close/>
                <a:moveTo>
                  <a:pt x="650" y="1181"/>
                </a:moveTo>
                <a:cubicBezTo>
                  <a:pt x="650" y="1181"/>
                  <a:pt x="650" y="1181"/>
                  <a:pt x="650" y="1181"/>
                </a:cubicBezTo>
                <a:cubicBezTo>
                  <a:pt x="608" y="1139"/>
                  <a:pt x="608" y="1139"/>
                  <a:pt x="608" y="1139"/>
                </a:cubicBezTo>
                <a:cubicBezTo>
                  <a:pt x="608" y="1139"/>
                  <a:pt x="608" y="1139"/>
                  <a:pt x="608" y="1139"/>
                </a:cubicBezTo>
                <a:cubicBezTo>
                  <a:pt x="591" y="1122"/>
                  <a:pt x="591" y="1122"/>
                  <a:pt x="591" y="1122"/>
                </a:cubicBezTo>
                <a:cubicBezTo>
                  <a:pt x="457" y="987"/>
                  <a:pt x="457" y="987"/>
                  <a:pt x="457" y="987"/>
                </a:cubicBezTo>
                <a:cubicBezTo>
                  <a:pt x="489" y="955"/>
                  <a:pt x="489" y="955"/>
                  <a:pt x="489" y="955"/>
                </a:cubicBezTo>
                <a:cubicBezTo>
                  <a:pt x="681" y="1149"/>
                  <a:pt x="681" y="1149"/>
                  <a:pt x="681" y="1149"/>
                </a:cubicBezTo>
                <a:lnTo>
                  <a:pt x="650" y="1181"/>
                </a:lnTo>
                <a:close/>
                <a:moveTo>
                  <a:pt x="656" y="1035"/>
                </a:moveTo>
                <a:cubicBezTo>
                  <a:pt x="601" y="980"/>
                  <a:pt x="601" y="980"/>
                  <a:pt x="601" y="980"/>
                </a:cubicBezTo>
                <a:cubicBezTo>
                  <a:pt x="704" y="877"/>
                  <a:pt x="704" y="877"/>
                  <a:pt x="704" y="877"/>
                </a:cubicBezTo>
                <a:cubicBezTo>
                  <a:pt x="759" y="932"/>
                  <a:pt x="759" y="932"/>
                  <a:pt x="759" y="932"/>
                </a:cubicBezTo>
                <a:lnTo>
                  <a:pt x="656" y="1035"/>
                </a:lnTo>
                <a:close/>
                <a:moveTo>
                  <a:pt x="1485" y="1189"/>
                </a:moveTo>
                <a:cubicBezTo>
                  <a:pt x="1476" y="1187"/>
                  <a:pt x="1466" y="1185"/>
                  <a:pt x="1456" y="1185"/>
                </a:cubicBezTo>
                <a:cubicBezTo>
                  <a:pt x="1387" y="1191"/>
                  <a:pt x="1329" y="1242"/>
                  <a:pt x="1315" y="1311"/>
                </a:cubicBezTo>
                <a:cubicBezTo>
                  <a:pt x="1304" y="1349"/>
                  <a:pt x="1306" y="1390"/>
                  <a:pt x="1321" y="1428"/>
                </a:cubicBezTo>
                <a:cubicBezTo>
                  <a:pt x="1335" y="1463"/>
                  <a:pt x="1365" y="1491"/>
                  <a:pt x="1402" y="1501"/>
                </a:cubicBezTo>
                <a:cubicBezTo>
                  <a:pt x="1521" y="1533"/>
                  <a:pt x="1521" y="1533"/>
                  <a:pt x="1521" y="1533"/>
                </a:cubicBezTo>
                <a:cubicBezTo>
                  <a:pt x="1412" y="1598"/>
                  <a:pt x="1272" y="1562"/>
                  <a:pt x="1207" y="1454"/>
                </a:cubicBezTo>
                <a:cubicBezTo>
                  <a:pt x="1177" y="1403"/>
                  <a:pt x="1167" y="1342"/>
                  <a:pt x="1181" y="1284"/>
                </a:cubicBezTo>
                <a:cubicBezTo>
                  <a:pt x="1183" y="1273"/>
                  <a:pt x="1180" y="1262"/>
                  <a:pt x="1172" y="1254"/>
                </a:cubicBezTo>
                <a:cubicBezTo>
                  <a:pt x="451" y="532"/>
                  <a:pt x="451" y="532"/>
                  <a:pt x="451" y="532"/>
                </a:cubicBezTo>
                <a:cubicBezTo>
                  <a:pt x="441" y="523"/>
                  <a:pt x="425" y="521"/>
                  <a:pt x="413" y="528"/>
                </a:cubicBezTo>
                <a:cubicBezTo>
                  <a:pt x="380" y="545"/>
                  <a:pt x="343" y="555"/>
                  <a:pt x="306" y="555"/>
                </a:cubicBezTo>
                <a:cubicBezTo>
                  <a:pt x="210" y="555"/>
                  <a:pt x="124" y="494"/>
                  <a:pt x="91" y="404"/>
                </a:cubicBezTo>
                <a:cubicBezTo>
                  <a:pt x="164" y="444"/>
                  <a:pt x="164" y="444"/>
                  <a:pt x="164" y="444"/>
                </a:cubicBezTo>
                <a:cubicBezTo>
                  <a:pt x="181" y="454"/>
                  <a:pt x="200" y="459"/>
                  <a:pt x="220" y="459"/>
                </a:cubicBezTo>
                <a:cubicBezTo>
                  <a:pt x="279" y="455"/>
                  <a:pt x="332" y="421"/>
                  <a:pt x="359" y="368"/>
                </a:cubicBezTo>
                <a:cubicBezTo>
                  <a:pt x="402" y="290"/>
                  <a:pt x="385" y="198"/>
                  <a:pt x="321" y="162"/>
                </a:cubicBezTo>
                <a:cubicBezTo>
                  <a:pt x="228" y="109"/>
                  <a:pt x="228" y="109"/>
                  <a:pt x="228" y="109"/>
                </a:cubicBezTo>
                <a:cubicBezTo>
                  <a:pt x="347" y="67"/>
                  <a:pt x="478" y="129"/>
                  <a:pt x="521" y="248"/>
                </a:cubicBezTo>
                <a:cubicBezTo>
                  <a:pt x="535" y="289"/>
                  <a:pt x="538" y="334"/>
                  <a:pt x="528" y="376"/>
                </a:cubicBezTo>
                <a:cubicBezTo>
                  <a:pt x="526" y="387"/>
                  <a:pt x="529" y="398"/>
                  <a:pt x="537" y="406"/>
                </a:cubicBezTo>
                <a:cubicBezTo>
                  <a:pt x="1260" y="1129"/>
                  <a:pt x="1260" y="1129"/>
                  <a:pt x="1260" y="1129"/>
                </a:cubicBezTo>
                <a:cubicBezTo>
                  <a:pt x="1269" y="1139"/>
                  <a:pt x="1285" y="1141"/>
                  <a:pt x="1297" y="1134"/>
                </a:cubicBezTo>
                <a:cubicBezTo>
                  <a:pt x="1330" y="1117"/>
                  <a:pt x="1367" y="1108"/>
                  <a:pt x="1404" y="1108"/>
                </a:cubicBezTo>
                <a:cubicBezTo>
                  <a:pt x="1485" y="1108"/>
                  <a:pt x="1560" y="1151"/>
                  <a:pt x="1601" y="1220"/>
                </a:cubicBezTo>
                <a:lnTo>
                  <a:pt x="1485" y="1189"/>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109" name="Rectangle 108">
            <a:extLst>
              <a:ext uri="{FF2B5EF4-FFF2-40B4-BE49-F238E27FC236}">
                <a16:creationId xmlns:a16="http://schemas.microsoft.com/office/drawing/2014/main" id="{C0AE9090-6233-4132-9D3D-11436D8F0FB1}"/>
              </a:ext>
            </a:extLst>
          </p:cNvPr>
          <p:cNvSpPr/>
          <p:nvPr/>
        </p:nvSpPr>
        <p:spPr>
          <a:xfrm>
            <a:off x="10587940" y="2716658"/>
            <a:ext cx="1230184" cy="2120590"/>
          </a:xfrm>
          <a:prstGeom prst="rect">
            <a:avLst/>
          </a:prstGeom>
          <a:noFill/>
          <a:ln w="6350" cap="flat" cmpd="sng" algn="ctr">
            <a:noFill/>
            <a:prstDash val="solid"/>
            <a:miter lim="800000"/>
          </a:ln>
          <a:effectLst/>
        </p:spPr>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Crediting Rates Update</a:t>
            </a:r>
          </a:p>
          <a:p>
            <a:pPr lvl="0">
              <a:defRPr/>
            </a:pPr>
            <a:r>
              <a:rPr lang="en-US" sz="1100" kern="0">
                <a:solidFill>
                  <a:srgbClr val="000000"/>
                </a:solidFill>
                <a:latin typeface="Calibri" panose="020F0502020204030204" pitchFamily="34" charset="0"/>
                <a:cs typeface="Calibri" panose="020F0502020204030204" pitchFamily="34" charset="0"/>
              </a:rPr>
              <a:t>Based on latest results, stakeholders decide to keep the same pricing rates or propose new rates (to be implemented from next week onwards).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graphicFrame>
        <p:nvGraphicFramePr>
          <p:cNvPr id="110" name="Table 109">
            <a:extLst>
              <a:ext uri="{FF2B5EF4-FFF2-40B4-BE49-F238E27FC236}">
                <a16:creationId xmlns:a16="http://schemas.microsoft.com/office/drawing/2014/main" id="{139DE1BE-0B84-4E4B-A111-3BC892AABF83}"/>
              </a:ext>
            </a:extLst>
          </p:cNvPr>
          <p:cNvGraphicFramePr>
            <a:graphicFrameLocks noGrp="1"/>
          </p:cNvGraphicFramePr>
          <p:nvPr/>
        </p:nvGraphicFramePr>
        <p:xfrm>
          <a:off x="247962" y="6059752"/>
          <a:ext cx="1015759" cy="487680"/>
        </p:xfrm>
        <a:graphic>
          <a:graphicData uri="http://schemas.openxmlformats.org/drawingml/2006/table">
            <a:tbl>
              <a:tblPr firstRow="1" bandRow="1"/>
              <a:tblGrid>
                <a:gridCol w="1015759">
                  <a:extLst>
                    <a:ext uri="{9D8B030D-6E8A-4147-A177-3AD203B41FA5}">
                      <a16:colId xmlns:a16="http://schemas.microsoft.com/office/drawing/2014/main" val="20000"/>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r>
                        <a:rPr lang="en-US" sz="1300" b="1">
                          <a:solidFill>
                            <a:schemeClr val="tx2"/>
                          </a:solidFill>
                        </a:rPr>
                        <a:t>Value Proposition</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111" name="TextBox 110">
            <a:extLst>
              <a:ext uri="{FF2B5EF4-FFF2-40B4-BE49-F238E27FC236}">
                <a16:creationId xmlns:a16="http://schemas.microsoft.com/office/drawing/2014/main" id="{504A26DC-79ED-4EFB-BB89-6210F2444EEB}"/>
              </a:ext>
            </a:extLst>
          </p:cNvPr>
          <p:cNvSpPr txBox="1"/>
          <p:nvPr/>
        </p:nvSpPr>
        <p:spPr>
          <a:xfrm>
            <a:off x="1158758" y="6035401"/>
            <a:ext cx="3481187" cy="925894"/>
          </a:xfrm>
          <a:prstGeom prst="rect">
            <a:avLst/>
          </a:prstGeom>
          <a:noFill/>
          <a:ln>
            <a:noFill/>
          </a:ln>
        </p:spPr>
        <p:txBody>
          <a:bodyPr wrap="square" rtlCol="0">
            <a:spAutoFit/>
          </a:bodyPr>
          <a:lstStyle/>
          <a:p>
            <a:pPr marL="171450" marR="0" lvl="1" indent="-171450" algn="l" defTabSz="914400" rtl="0" eaLnBrk="1" fontAlgn="base" latinLnBrk="0" hangingPunct="1">
              <a:lnSpc>
                <a:spcPct val="100000"/>
              </a:lnSpc>
              <a:spcBef>
                <a:spcPts val="0"/>
              </a:spcBef>
              <a:spcAft>
                <a:spcPts val="100"/>
              </a:spcAft>
              <a:buClr>
                <a:srgbClr val="FF6503"/>
              </a:buClr>
              <a:buSzPct val="100000"/>
              <a:buFont typeface="Arial" panose="020B0604020202020204" pitchFamily="34" charset="0"/>
              <a:buChar char="•"/>
              <a:tabLst/>
              <a:defRPr/>
            </a:pPr>
            <a:r>
              <a:rPr lang="en-US" sz="1050">
                <a:solidFill>
                  <a:prstClr val="black"/>
                </a:solidFill>
                <a:latin typeface="Calibri" panose="020F0502020204030204"/>
                <a:cs typeface="Arial" panose="020B0604020202020204" pitchFamily="34" charset="0"/>
              </a:rPr>
              <a:t>Created detail documentation and checklist to standardized process and remove in between gaps</a:t>
            </a:r>
          </a:p>
          <a:p>
            <a:pPr marL="171450" marR="0" lvl="1" indent="-171450" algn="l" defTabSz="914400" rtl="0" eaLnBrk="1" fontAlgn="base" latinLnBrk="0" hangingPunct="1">
              <a:lnSpc>
                <a:spcPct val="100000"/>
              </a:lnSpc>
              <a:spcBef>
                <a:spcPts val="0"/>
              </a:spcBef>
              <a:spcAft>
                <a:spcPts val="100"/>
              </a:spcAft>
              <a:buClr>
                <a:srgbClr val="FF6503"/>
              </a:buClr>
              <a:buSzPct val="100000"/>
              <a:buFont typeface="Arial" panose="020B0604020202020204" pitchFamily="34" charset="0"/>
              <a:buChar char="•"/>
              <a:tabLst/>
              <a:defRPr/>
            </a:pPr>
            <a:r>
              <a:rPr lang="en-US" sz="1050">
                <a:solidFill>
                  <a:prstClr val="black"/>
                </a:solidFill>
                <a:latin typeface="Calibri" panose="020F0502020204030204"/>
                <a:cs typeface="Arial" panose="020B0604020202020204" pitchFamily="34" charset="0"/>
              </a:rPr>
              <a:t>Developed few macros to remove manual intervention and hence reducing the possibility of errors</a:t>
            </a:r>
          </a:p>
          <a:p>
            <a:pPr marL="171450" marR="0" lvl="1" indent="-171450" algn="l" defTabSz="914400" rtl="0" eaLnBrk="1" fontAlgn="base" latinLnBrk="0" hangingPunct="1">
              <a:lnSpc>
                <a:spcPct val="100000"/>
              </a:lnSpc>
              <a:spcBef>
                <a:spcPts val="0"/>
              </a:spcBef>
              <a:spcAft>
                <a:spcPts val="100"/>
              </a:spcAft>
              <a:buClr>
                <a:srgbClr val="FF6503"/>
              </a:buClr>
              <a:buSzPct val="100000"/>
              <a:buFont typeface="Arial" panose="020B0604020202020204" pitchFamily="34" charset="0"/>
              <a:buChar char="•"/>
              <a:tabLst/>
              <a:defRPr/>
            </a:pPr>
            <a:endParaRPr lang="en-US" sz="1050">
              <a:solidFill>
                <a:prstClr val="black"/>
              </a:solidFill>
              <a:latin typeface="Calibri" panose="020F0502020204030204"/>
              <a:cs typeface="Arial" panose="020B0604020202020204" pitchFamily="34" charset="0"/>
            </a:endParaRPr>
          </a:p>
        </p:txBody>
      </p:sp>
      <p:graphicFrame>
        <p:nvGraphicFramePr>
          <p:cNvPr id="112" name="Table 111">
            <a:extLst>
              <a:ext uri="{FF2B5EF4-FFF2-40B4-BE49-F238E27FC236}">
                <a16:creationId xmlns:a16="http://schemas.microsoft.com/office/drawing/2014/main" id="{1402D224-819B-442B-BC5F-91A4B2058575}"/>
              </a:ext>
            </a:extLst>
          </p:cNvPr>
          <p:cNvGraphicFramePr>
            <a:graphicFrameLocks noGrp="1"/>
          </p:cNvGraphicFramePr>
          <p:nvPr/>
        </p:nvGraphicFramePr>
        <p:xfrm>
          <a:off x="4706465" y="6137648"/>
          <a:ext cx="1176742" cy="370840"/>
        </p:xfrm>
        <a:graphic>
          <a:graphicData uri="http://schemas.openxmlformats.org/drawingml/2006/table">
            <a:tbl>
              <a:tblPr firstRow="1" bandRow="1"/>
              <a:tblGrid>
                <a:gridCol w="1176742">
                  <a:extLst>
                    <a:ext uri="{9D8B030D-6E8A-4147-A177-3AD203B41FA5}">
                      <a16:colId xmlns:a16="http://schemas.microsoft.com/office/drawing/2014/main" val="20000"/>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r>
                        <a:rPr lang="en-US" sz="1300" b="1">
                          <a:solidFill>
                            <a:schemeClr val="tx2"/>
                          </a:solidFill>
                        </a:rPr>
                        <a:t>Technology</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pic>
        <p:nvPicPr>
          <p:cNvPr id="113" name="Picture 112">
            <a:extLst>
              <a:ext uri="{FF2B5EF4-FFF2-40B4-BE49-F238E27FC236}">
                <a16:creationId xmlns:a16="http://schemas.microsoft.com/office/drawing/2014/main" id="{9EC1C7BB-7E65-4693-999A-DD37A6E15EA1}"/>
              </a:ext>
            </a:extLst>
          </p:cNvPr>
          <p:cNvPicPr>
            <a:picLocks noGrp="1" noChangeAspect="1"/>
          </p:cNvPicPr>
          <p:nvPr/>
        </p:nvPicPr>
        <p:blipFill>
          <a:blip r:embed="rId7" cstate="print">
            <a:extLst>
              <a:ext uri="{28A0092B-C50C-407E-A947-70E740481C1C}">
                <a14:useLocalDpi xmlns:a14="http://schemas.microsoft.com/office/drawing/2010/main" val="0"/>
              </a:ext>
            </a:extLst>
          </a:blip>
          <a:stretch>
            <a:fillRect/>
          </a:stretch>
        </p:blipFill>
        <p:spPr>
          <a:xfrm>
            <a:off x="6475115" y="6209252"/>
            <a:ext cx="1090495" cy="306467"/>
          </a:xfrm>
          <a:prstGeom prst="rect">
            <a:avLst/>
          </a:prstGeom>
          <a:ln>
            <a:noFill/>
          </a:ln>
        </p:spPr>
      </p:pic>
      <p:pic>
        <p:nvPicPr>
          <p:cNvPr id="114" name="Picture 8" descr="MG-ALFA Compute for Windows Azure - YouTube">
            <a:extLst>
              <a:ext uri="{FF2B5EF4-FFF2-40B4-BE49-F238E27FC236}">
                <a16:creationId xmlns:a16="http://schemas.microsoft.com/office/drawing/2014/main" id="{CD975247-5189-44C9-B1AD-8BE1651382B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34027" y="6201520"/>
            <a:ext cx="663484" cy="345912"/>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10" descr="Image result for ms excel">
            <a:extLst>
              <a:ext uri="{FF2B5EF4-FFF2-40B4-BE49-F238E27FC236}">
                <a16:creationId xmlns:a16="http://schemas.microsoft.com/office/drawing/2014/main" id="{FACEA9F7-1AF8-48A6-B9D4-0C0ED8CD23A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56631" y="6160706"/>
            <a:ext cx="379734" cy="37556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19CA0FE-CD4D-3E93-2494-456A7451804A}"/>
              </a:ext>
            </a:extLst>
          </p:cNvPr>
          <p:cNvSpPr txBox="1"/>
          <p:nvPr/>
        </p:nvSpPr>
        <p:spPr>
          <a:xfrm>
            <a:off x="7774884" y="260512"/>
            <a:ext cx="4299129" cy="369332"/>
          </a:xfrm>
          <a:prstGeom prst="rect">
            <a:avLst/>
          </a:prstGeom>
          <a:solidFill>
            <a:srgbClr val="FFFF00"/>
          </a:solidFill>
        </p:spPr>
        <p:txBody>
          <a:bodyPr wrap="square" rtlCol="0">
            <a:spAutoFit/>
          </a:bodyPr>
          <a:lstStyle/>
          <a:p>
            <a:r>
              <a:rPr lang="en-US"/>
              <a:t>Annuity Pricing Monitoring work – version 2</a:t>
            </a:r>
            <a:endParaRPr lang="en-IN"/>
          </a:p>
        </p:txBody>
      </p:sp>
    </p:spTree>
    <p:extLst>
      <p:ext uri="{BB962C8B-B14F-4D97-AF65-F5344CB8AC3E}">
        <p14:creationId xmlns:p14="http://schemas.microsoft.com/office/powerpoint/2010/main" val="23356999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8CFBB-EAC0-98A2-090A-8C837ED64E58}"/>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0282A5B8-F837-51B3-4BFA-553C049754EB}"/>
              </a:ext>
            </a:extLst>
          </p:cNvPr>
          <p:cNvSpPr/>
          <p:nvPr/>
        </p:nvSpPr>
        <p:spPr>
          <a:xfrm>
            <a:off x="1058779" y="869079"/>
            <a:ext cx="779644" cy="779644"/>
          </a:xfrm>
          <a:prstGeom prst="ellipse">
            <a:avLst/>
          </a:prstGeom>
          <a:solidFill>
            <a:schemeClr val="bg1"/>
          </a:solidFill>
          <a:ln>
            <a:noFill/>
          </a:ln>
          <a:effectLst>
            <a:outerShdw blurRad="50800" dist="38100" dir="16200000"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8" name="Oval 17">
            <a:extLst>
              <a:ext uri="{FF2B5EF4-FFF2-40B4-BE49-F238E27FC236}">
                <a16:creationId xmlns:a16="http://schemas.microsoft.com/office/drawing/2014/main" id="{4E022DD8-8CD4-2ACE-E337-68E98245472C}"/>
              </a:ext>
            </a:extLst>
          </p:cNvPr>
          <p:cNvSpPr/>
          <p:nvPr/>
        </p:nvSpPr>
        <p:spPr>
          <a:xfrm>
            <a:off x="3372439" y="869079"/>
            <a:ext cx="779644" cy="779644"/>
          </a:xfrm>
          <a:prstGeom prst="ellipse">
            <a:avLst/>
          </a:prstGeom>
          <a:solidFill>
            <a:schemeClr val="bg1"/>
          </a:solidFill>
          <a:ln>
            <a:noFill/>
          </a:ln>
          <a:effectLst>
            <a:outerShdw blurRad="50800" dist="38100" dir="16200000"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9" name="Oval 18">
            <a:extLst>
              <a:ext uri="{FF2B5EF4-FFF2-40B4-BE49-F238E27FC236}">
                <a16:creationId xmlns:a16="http://schemas.microsoft.com/office/drawing/2014/main" id="{9CB24D02-78A0-1DE7-9B36-B68F6AA8079F}"/>
              </a:ext>
            </a:extLst>
          </p:cNvPr>
          <p:cNvSpPr/>
          <p:nvPr/>
        </p:nvSpPr>
        <p:spPr>
          <a:xfrm>
            <a:off x="5669076" y="869079"/>
            <a:ext cx="779644" cy="779644"/>
          </a:xfrm>
          <a:prstGeom prst="ellipse">
            <a:avLst/>
          </a:prstGeom>
          <a:solidFill>
            <a:schemeClr val="bg1"/>
          </a:solidFill>
          <a:ln>
            <a:noFill/>
          </a:ln>
          <a:effectLst>
            <a:outerShdw blurRad="50800" dist="38100" dir="16200000"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24" name="Oval 23">
            <a:extLst>
              <a:ext uri="{FF2B5EF4-FFF2-40B4-BE49-F238E27FC236}">
                <a16:creationId xmlns:a16="http://schemas.microsoft.com/office/drawing/2014/main" id="{20581EDB-8A41-495E-44DB-BDDBD8AAEB15}"/>
              </a:ext>
            </a:extLst>
          </p:cNvPr>
          <p:cNvSpPr/>
          <p:nvPr/>
        </p:nvSpPr>
        <p:spPr>
          <a:xfrm>
            <a:off x="10313417" y="869079"/>
            <a:ext cx="779644" cy="779644"/>
          </a:xfrm>
          <a:prstGeom prst="ellipse">
            <a:avLst/>
          </a:prstGeom>
          <a:solidFill>
            <a:schemeClr val="bg1"/>
          </a:solidFill>
          <a:ln>
            <a:noFill/>
          </a:ln>
          <a:effectLst>
            <a:outerShdw blurRad="50800" dist="38100" dir="16200000"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25" name="Oval 24">
            <a:extLst>
              <a:ext uri="{FF2B5EF4-FFF2-40B4-BE49-F238E27FC236}">
                <a16:creationId xmlns:a16="http://schemas.microsoft.com/office/drawing/2014/main" id="{CD4730A4-4690-51E1-8E81-3CA3C749F52C}"/>
              </a:ext>
            </a:extLst>
          </p:cNvPr>
          <p:cNvSpPr/>
          <p:nvPr/>
        </p:nvSpPr>
        <p:spPr>
          <a:xfrm>
            <a:off x="7999759" y="869079"/>
            <a:ext cx="779644" cy="779644"/>
          </a:xfrm>
          <a:prstGeom prst="ellipse">
            <a:avLst/>
          </a:prstGeom>
          <a:solidFill>
            <a:schemeClr val="bg1"/>
          </a:solidFill>
          <a:ln>
            <a:noFill/>
          </a:ln>
          <a:effectLst>
            <a:outerShdw blurRad="50800" dist="38100" dir="16200000"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2" name="Title 1">
            <a:extLst>
              <a:ext uri="{FF2B5EF4-FFF2-40B4-BE49-F238E27FC236}">
                <a16:creationId xmlns:a16="http://schemas.microsoft.com/office/drawing/2014/main" id="{8BE7836D-09E6-EF7D-82CE-9EA4E8C37D54}"/>
              </a:ext>
            </a:extLst>
          </p:cNvPr>
          <p:cNvSpPr>
            <a:spLocks noGrp="1"/>
          </p:cNvSpPr>
          <p:nvPr>
            <p:ph type="ctrTitle"/>
          </p:nvPr>
        </p:nvSpPr>
        <p:spPr>
          <a:xfrm>
            <a:off x="368300" y="368300"/>
            <a:ext cx="11557000" cy="407608"/>
          </a:xfrm>
        </p:spPr>
        <p:txBody>
          <a:bodyPr vert="horz" lIns="0" tIns="0" rIns="0" bIns="0" rtlCol="0" anchor="t" anchorCtr="0">
            <a:noAutofit/>
          </a:bodyPr>
          <a:lstStyle/>
          <a:p>
            <a:r>
              <a:rPr lang="en-US" sz="2400">
                <a:solidFill>
                  <a:srgbClr val="FB4D0A"/>
                </a:solidFill>
                <a:latin typeface="Calibri" panose="020F0502020204030204" pitchFamily="34" charset="0"/>
              </a:rPr>
              <a:t>EXL GGY Axis Implementation Capabilities</a:t>
            </a:r>
          </a:p>
        </p:txBody>
      </p:sp>
      <p:sp>
        <p:nvSpPr>
          <p:cNvPr id="50" name="Rectangle 49">
            <a:extLst>
              <a:ext uri="{FF2B5EF4-FFF2-40B4-BE49-F238E27FC236}">
                <a16:creationId xmlns:a16="http://schemas.microsoft.com/office/drawing/2014/main" id="{22E0C8E6-6CF6-F438-0FF8-891C26B9CD81}"/>
              </a:ext>
            </a:extLst>
          </p:cNvPr>
          <p:cNvSpPr/>
          <p:nvPr/>
        </p:nvSpPr>
        <p:spPr>
          <a:xfrm>
            <a:off x="368301" y="5139068"/>
            <a:ext cx="1595254" cy="1038925"/>
          </a:xfrm>
          <a:prstGeom prst="rect">
            <a:avLst/>
          </a:prstGeom>
          <a:solidFill>
            <a:schemeClr val="accent4"/>
          </a:solidFill>
          <a:ln/>
          <a:effectLst/>
        </p:spPr>
        <p:style>
          <a:lnRef idx="0">
            <a:schemeClr val="accent1"/>
          </a:lnRef>
          <a:fillRef idx="3">
            <a:schemeClr val="accent1"/>
          </a:fillRef>
          <a:effectRef idx="3">
            <a:schemeClr val="accent1"/>
          </a:effectRef>
          <a:fontRef idx="minor">
            <a:schemeClr val="lt1"/>
          </a:fontRef>
        </p:style>
        <p:txBody>
          <a:bodyPr spcFirstLastPara="0" vert="horz" wrap="none" lIns="0" tIns="0" rIns="0" bIns="0" numCol="1" spcCol="1270" anchor="ctr" anchorCtr="1">
            <a:noAutofit/>
          </a:bodyPr>
          <a:lstStyle/>
          <a:p>
            <a:pPr marL="0" marR="0" lvl="0" indent="0" algn="ctr" defTabSz="533400" rtl="0" eaLnBrk="1" fontAlgn="auto" latinLnBrk="0" hangingPunct="1">
              <a:lnSpc>
                <a:spcPct val="113000"/>
              </a:lnSpc>
              <a:spcBef>
                <a:spcPct val="0"/>
              </a:spcBef>
              <a:spcAft>
                <a:spcPct val="35000"/>
              </a:spcAft>
              <a:buClrTx/>
              <a:buSzTx/>
              <a:buFontTx/>
              <a:buNone/>
              <a:tabLst/>
              <a:defRPr/>
            </a:pPr>
            <a:endParaRPr kumimoji="0" lang="en-US" sz="1300" b="1"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a:p>
            <a:pPr marL="0" marR="0" lvl="0" indent="0" algn="ctr" defTabSz="533400" rtl="0" eaLnBrk="1" fontAlgn="auto" latinLnBrk="0" hangingPunct="1">
              <a:lnSpc>
                <a:spcPct val="113000"/>
              </a:lnSpc>
              <a:spcBef>
                <a:spcPct val="0"/>
              </a:spcBef>
              <a:spcAft>
                <a:spcPct val="35000"/>
              </a:spcAft>
              <a:buClrTx/>
              <a:buSzTx/>
              <a:buFontTx/>
              <a:buNone/>
              <a:tabLst/>
              <a:defRPr/>
            </a:pPr>
            <a:endParaRPr kumimoji="0" lang="en-US" sz="1300" b="1"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a:p>
            <a:pPr marL="0" marR="0" lvl="0" indent="0" algn="ctr" defTabSz="533400" rtl="0" eaLnBrk="1" fontAlgn="auto" latinLnBrk="0" hangingPunct="1">
              <a:spcBef>
                <a:spcPct val="0"/>
              </a:spcBef>
              <a:buClrTx/>
              <a:buSzTx/>
              <a:buFontTx/>
              <a:buNone/>
              <a:tabLst/>
              <a:defRPr/>
            </a:pPr>
            <a:r>
              <a:rPr lang="en-US" sz="1300" b="1">
                <a:solidFill>
                  <a:srgbClr val="FFFFFF"/>
                </a:solidFill>
                <a:latin typeface="Calibri" panose="020F0502020204030204" pitchFamily="34" charset="0"/>
              </a:rPr>
              <a:t>GGY AXIS </a:t>
            </a:r>
            <a:r>
              <a:rPr kumimoji="0" lang="en-US" sz="1300" b="1" i="0" u="none" strike="noStrike" kern="1200" cap="none" spc="0" normalizeH="0" baseline="0" noProof="0">
                <a:ln>
                  <a:noFill/>
                </a:ln>
                <a:solidFill>
                  <a:srgbClr val="FFFFFF"/>
                </a:solidFill>
                <a:effectLst/>
                <a:uLnTx/>
                <a:uFillTx/>
                <a:latin typeface="Calibri" panose="020F0502020204030204" pitchFamily="34" charset="0"/>
                <a:ea typeface="+mn-ea"/>
                <a:cs typeface="+mn-cs"/>
              </a:rPr>
              <a:t>Modeling </a:t>
            </a:r>
          </a:p>
          <a:p>
            <a:pPr marL="0" marR="0" lvl="0" indent="0" algn="ctr" defTabSz="533400" rtl="0" eaLnBrk="1" fontAlgn="auto" latinLnBrk="0" hangingPunct="1">
              <a:spcBef>
                <a:spcPct val="0"/>
              </a:spcBef>
              <a:spcAft>
                <a:spcPct val="3500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alibri" panose="020F0502020204030204" pitchFamily="34" charset="0"/>
                <a:ea typeface="+mn-ea"/>
                <a:cs typeface="+mn-cs"/>
              </a:rPr>
              <a:t>Areas</a:t>
            </a:r>
          </a:p>
        </p:txBody>
      </p:sp>
      <p:sp>
        <p:nvSpPr>
          <p:cNvPr id="56" name="Freeform 17">
            <a:extLst>
              <a:ext uri="{FF2B5EF4-FFF2-40B4-BE49-F238E27FC236}">
                <a16:creationId xmlns:a16="http://schemas.microsoft.com/office/drawing/2014/main" id="{993364B4-5D19-BA93-B432-B431F52069DF}"/>
              </a:ext>
            </a:extLst>
          </p:cNvPr>
          <p:cNvSpPr>
            <a:spLocks noChangeAspect="1" noEditPoints="1"/>
          </p:cNvSpPr>
          <p:nvPr/>
        </p:nvSpPr>
        <p:spPr bwMode="auto">
          <a:xfrm>
            <a:off x="909740" y="5238033"/>
            <a:ext cx="512376" cy="462027"/>
          </a:xfrm>
          <a:custGeom>
            <a:avLst/>
            <a:gdLst>
              <a:gd name="T0" fmla="*/ 3226 w 3936"/>
              <a:gd name="T1" fmla="*/ 2984 h 3942"/>
              <a:gd name="T2" fmla="*/ 2880 w 3936"/>
              <a:gd name="T3" fmla="*/ 2704 h 3942"/>
              <a:gd name="T4" fmla="*/ 2880 w 3936"/>
              <a:gd name="T5" fmla="*/ 3145 h 3942"/>
              <a:gd name="T6" fmla="*/ 3145 w 3936"/>
              <a:gd name="T7" fmla="*/ 3189 h 3942"/>
              <a:gd name="T8" fmla="*/ 2576 w 3936"/>
              <a:gd name="T9" fmla="*/ 2977 h 3942"/>
              <a:gd name="T10" fmla="*/ 3037 w 3936"/>
              <a:gd name="T11" fmla="*/ 1921 h 3942"/>
              <a:gd name="T12" fmla="*/ 3597 w 3936"/>
              <a:gd name="T13" fmla="*/ 2165 h 3942"/>
              <a:gd name="T14" fmla="*/ 3911 w 3936"/>
              <a:gd name="T15" fmla="*/ 2783 h 3942"/>
              <a:gd name="T16" fmla="*/ 3713 w 3936"/>
              <a:gd name="T17" fmla="*/ 3440 h 3942"/>
              <a:gd name="T18" fmla="*/ 3210 w 3936"/>
              <a:gd name="T19" fmla="*/ 3624 h 3942"/>
              <a:gd name="T20" fmla="*/ 2725 w 3936"/>
              <a:gd name="T21" fmla="*/ 3851 h 3942"/>
              <a:gd name="T22" fmla="*/ 2121 w 3936"/>
              <a:gd name="T23" fmla="*/ 3526 h 3942"/>
              <a:gd name="T24" fmla="*/ 1906 w 3936"/>
              <a:gd name="T25" fmla="*/ 2867 h 3942"/>
              <a:gd name="T26" fmla="*/ 2097 w 3936"/>
              <a:gd name="T27" fmla="*/ 2820 h 3942"/>
              <a:gd name="T28" fmla="*/ 2329 w 3936"/>
              <a:gd name="T29" fmla="*/ 3144 h 3942"/>
              <a:gd name="T30" fmla="*/ 2562 w 3936"/>
              <a:gd name="T31" fmla="*/ 3471 h 3942"/>
              <a:gd name="T32" fmla="*/ 2990 w 3936"/>
              <a:gd name="T33" fmla="*/ 3815 h 3942"/>
              <a:gd name="T34" fmla="*/ 3489 w 3936"/>
              <a:gd name="T35" fmla="*/ 3605 h 3942"/>
              <a:gd name="T36" fmla="*/ 3546 w 3936"/>
              <a:gd name="T37" fmla="*/ 3068 h 3942"/>
              <a:gd name="T38" fmla="*/ 3513 w 3936"/>
              <a:gd name="T39" fmla="*/ 2707 h 3942"/>
              <a:gd name="T40" fmla="*/ 3280 w 3936"/>
              <a:gd name="T41" fmla="*/ 2380 h 3942"/>
              <a:gd name="T42" fmla="*/ 2851 w 3936"/>
              <a:gd name="T43" fmla="*/ 2036 h 3942"/>
              <a:gd name="T44" fmla="*/ 2353 w 3936"/>
              <a:gd name="T45" fmla="*/ 2246 h 3942"/>
              <a:gd name="T46" fmla="*/ 2292 w 3936"/>
              <a:gd name="T47" fmla="*/ 2787 h 3942"/>
              <a:gd name="T48" fmla="*/ 2129 w 3936"/>
              <a:gd name="T49" fmla="*/ 2297 h 3942"/>
              <a:gd name="T50" fmla="*/ 2739 w 3936"/>
              <a:gd name="T51" fmla="*/ 1975 h 3942"/>
              <a:gd name="T52" fmla="*/ 1258 w 3936"/>
              <a:gd name="T53" fmla="*/ 1515 h 3942"/>
              <a:gd name="T54" fmla="*/ 1718 w 3936"/>
              <a:gd name="T55" fmla="*/ 1665 h 3942"/>
              <a:gd name="T56" fmla="*/ 930 w 3936"/>
              <a:gd name="T57" fmla="*/ 1248 h 3942"/>
              <a:gd name="T58" fmla="*/ 1127 w 3936"/>
              <a:gd name="T59" fmla="*/ 1941 h 3942"/>
              <a:gd name="T60" fmla="*/ 1895 w 3936"/>
              <a:gd name="T61" fmla="*/ 1970 h 3942"/>
              <a:gd name="T62" fmla="*/ 1512 w 3936"/>
              <a:gd name="T63" fmla="*/ 2215 h 3942"/>
              <a:gd name="T64" fmla="*/ 813 w 3936"/>
              <a:gd name="T65" fmla="*/ 1515 h 3942"/>
              <a:gd name="T66" fmla="*/ 1812 w 3936"/>
              <a:gd name="T67" fmla="*/ 1283 h 3942"/>
              <a:gd name="T68" fmla="*/ 1564 w 3936"/>
              <a:gd name="T69" fmla="*/ 1890 h 3942"/>
              <a:gd name="T70" fmla="*/ 1163 w 3936"/>
              <a:gd name="T71" fmla="*/ 1367 h 3942"/>
              <a:gd name="T72" fmla="*/ 1902 w 3936"/>
              <a:gd name="T73" fmla="*/ 934 h 3942"/>
              <a:gd name="T74" fmla="*/ 2124 w 3936"/>
              <a:gd name="T75" fmla="*/ 1848 h 3942"/>
              <a:gd name="T76" fmla="*/ 2086 w 3936"/>
              <a:gd name="T77" fmla="*/ 1515 h 3942"/>
              <a:gd name="T78" fmla="*/ 1456 w 3936"/>
              <a:gd name="T79" fmla="*/ 942 h 3942"/>
              <a:gd name="T80" fmla="*/ 1013 w 3936"/>
              <a:gd name="T81" fmla="*/ 1030 h 3942"/>
              <a:gd name="T82" fmla="*/ 1749 w 3936"/>
              <a:gd name="T83" fmla="*/ 67 h 3942"/>
              <a:gd name="T84" fmla="*/ 2518 w 3936"/>
              <a:gd name="T85" fmla="*/ 380 h 3942"/>
              <a:gd name="T86" fmla="*/ 2931 w 3936"/>
              <a:gd name="T87" fmla="*/ 1259 h 3942"/>
              <a:gd name="T88" fmla="*/ 2576 w 3936"/>
              <a:gd name="T89" fmla="*/ 1854 h 3942"/>
              <a:gd name="T90" fmla="*/ 2451 w 3936"/>
              <a:gd name="T91" fmla="*/ 1837 h 3942"/>
              <a:gd name="T92" fmla="*/ 2863 w 3936"/>
              <a:gd name="T93" fmla="*/ 1363 h 3942"/>
              <a:gd name="T94" fmla="*/ 2577 w 3936"/>
              <a:gd name="T95" fmla="*/ 647 h 3942"/>
              <a:gd name="T96" fmla="*/ 1856 w 3936"/>
              <a:gd name="T97" fmla="*/ 582 h 3942"/>
              <a:gd name="T98" fmla="*/ 1361 w 3936"/>
              <a:gd name="T99" fmla="*/ 162 h 3942"/>
              <a:gd name="T100" fmla="*/ 646 w 3936"/>
              <a:gd name="T101" fmla="*/ 448 h 3942"/>
              <a:gd name="T102" fmla="*/ 581 w 3936"/>
              <a:gd name="T103" fmla="*/ 1171 h 3942"/>
              <a:gd name="T104" fmla="*/ 162 w 3936"/>
              <a:gd name="T105" fmla="*/ 1666 h 3942"/>
              <a:gd name="T106" fmla="*/ 447 w 3936"/>
              <a:gd name="T107" fmla="*/ 2382 h 3942"/>
              <a:gd name="T108" fmla="*/ 1169 w 3936"/>
              <a:gd name="T109" fmla="*/ 2448 h 3942"/>
              <a:gd name="T110" fmla="*/ 1664 w 3936"/>
              <a:gd name="T111" fmla="*/ 2867 h 3942"/>
              <a:gd name="T112" fmla="*/ 2025 w 3936"/>
              <a:gd name="T113" fmla="*/ 2458 h 3942"/>
              <a:gd name="T114" fmla="*/ 1602 w 3936"/>
              <a:gd name="T115" fmla="*/ 3029 h 3942"/>
              <a:gd name="T116" fmla="*/ 689 w 3936"/>
              <a:gd name="T117" fmla="*/ 2701 h 3942"/>
              <a:gd name="T118" fmla="*/ 520 w 3936"/>
              <a:gd name="T119" fmla="*/ 2028 h 3942"/>
              <a:gd name="T120" fmla="*/ 25 w 3936"/>
              <a:gd name="T121" fmla="*/ 1328 h 3942"/>
              <a:gd name="T122" fmla="*/ 341 w 3936"/>
              <a:gd name="T123" fmla="*/ 563 h 3942"/>
              <a:gd name="T124" fmla="*/ 1232 w 3936"/>
              <a:gd name="T125" fmla="*/ 156 h 39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936" h="3942">
                <a:moveTo>
                  <a:pt x="2921" y="2577"/>
                </a:moveTo>
                <a:lnTo>
                  <a:pt x="2972" y="2580"/>
                </a:lnTo>
                <a:lnTo>
                  <a:pt x="3021" y="2592"/>
                </a:lnTo>
                <a:lnTo>
                  <a:pt x="3068" y="2609"/>
                </a:lnTo>
                <a:lnTo>
                  <a:pt x="3111" y="2633"/>
                </a:lnTo>
                <a:lnTo>
                  <a:pt x="3149" y="2663"/>
                </a:lnTo>
                <a:lnTo>
                  <a:pt x="3183" y="2697"/>
                </a:lnTo>
                <a:lnTo>
                  <a:pt x="3213" y="2736"/>
                </a:lnTo>
                <a:lnTo>
                  <a:pt x="3237" y="2779"/>
                </a:lnTo>
                <a:lnTo>
                  <a:pt x="3254" y="2825"/>
                </a:lnTo>
                <a:lnTo>
                  <a:pt x="3266" y="2874"/>
                </a:lnTo>
                <a:lnTo>
                  <a:pt x="3269" y="2925"/>
                </a:lnTo>
                <a:lnTo>
                  <a:pt x="3266" y="2945"/>
                </a:lnTo>
                <a:lnTo>
                  <a:pt x="3257" y="2962"/>
                </a:lnTo>
                <a:lnTo>
                  <a:pt x="3243" y="2976"/>
                </a:lnTo>
                <a:lnTo>
                  <a:pt x="3226" y="2984"/>
                </a:lnTo>
                <a:lnTo>
                  <a:pt x="3207" y="2988"/>
                </a:lnTo>
                <a:lnTo>
                  <a:pt x="3187" y="2984"/>
                </a:lnTo>
                <a:lnTo>
                  <a:pt x="3170" y="2976"/>
                </a:lnTo>
                <a:lnTo>
                  <a:pt x="3157" y="2962"/>
                </a:lnTo>
                <a:lnTo>
                  <a:pt x="3148" y="2945"/>
                </a:lnTo>
                <a:lnTo>
                  <a:pt x="3145" y="2925"/>
                </a:lnTo>
                <a:lnTo>
                  <a:pt x="3140" y="2885"/>
                </a:lnTo>
                <a:lnTo>
                  <a:pt x="3131" y="2848"/>
                </a:lnTo>
                <a:lnTo>
                  <a:pt x="3114" y="2812"/>
                </a:lnTo>
                <a:lnTo>
                  <a:pt x="3092" y="2781"/>
                </a:lnTo>
                <a:lnTo>
                  <a:pt x="3065" y="2755"/>
                </a:lnTo>
                <a:lnTo>
                  <a:pt x="3034" y="2732"/>
                </a:lnTo>
                <a:lnTo>
                  <a:pt x="2999" y="2715"/>
                </a:lnTo>
                <a:lnTo>
                  <a:pt x="2962" y="2704"/>
                </a:lnTo>
                <a:lnTo>
                  <a:pt x="2921" y="2701"/>
                </a:lnTo>
                <a:lnTo>
                  <a:pt x="2880" y="2704"/>
                </a:lnTo>
                <a:lnTo>
                  <a:pt x="2843" y="2715"/>
                </a:lnTo>
                <a:lnTo>
                  <a:pt x="2808" y="2732"/>
                </a:lnTo>
                <a:lnTo>
                  <a:pt x="2777" y="2755"/>
                </a:lnTo>
                <a:lnTo>
                  <a:pt x="2750" y="2781"/>
                </a:lnTo>
                <a:lnTo>
                  <a:pt x="2728" y="2812"/>
                </a:lnTo>
                <a:lnTo>
                  <a:pt x="2711" y="2848"/>
                </a:lnTo>
                <a:lnTo>
                  <a:pt x="2700" y="2885"/>
                </a:lnTo>
                <a:lnTo>
                  <a:pt x="2697" y="2925"/>
                </a:lnTo>
                <a:lnTo>
                  <a:pt x="2700" y="2966"/>
                </a:lnTo>
                <a:lnTo>
                  <a:pt x="2711" y="3003"/>
                </a:lnTo>
                <a:lnTo>
                  <a:pt x="2728" y="3039"/>
                </a:lnTo>
                <a:lnTo>
                  <a:pt x="2750" y="3070"/>
                </a:lnTo>
                <a:lnTo>
                  <a:pt x="2777" y="3096"/>
                </a:lnTo>
                <a:lnTo>
                  <a:pt x="2808" y="3119"/>
                </a:lnTo>
                <a:lnTo>
                  <a:pt x="2843" y="3136"/>
                </a:lnTo>
                <a:lnTo>
                  <a:pt x="2880" y="3145"/>
                </a:lnTo>
                <a:lnTo>
                  <a:pt x="2921" y="3150"/>
                </a:lnTo>
                <a:lnTo>
                  <a:pt x="2958" y="3146"/>
                </a:lnTo>
                <a:lnTo>
                  <a:pt x="2994" y="3138"/>
                </a:lnTo>
                <a:lnTo>
                  <a:pt x="3027" y="3123"/>
                </a:lnTo>
                <a:lnTo>
                  <a:pt x="3058" y="3102"/>
                </a:lnTo>
                <a:lnTo>
                  <a:pt x="3072" y="3094"/>
                </a:lnTo>
                <a:lnTo>
                  <a:pt x="3088" y="3090"/>
                </a:lnTo>
                <a:lnTo>
                  <a:pt x="3103" y="3090"/>
                </a:lnTo>
                <a:lnTo>
                  <a:pt x="3119" y="3094"/>
                </a:lnTo>
                <a:lnTo>
                  <a:pt x="3133" y="3102"/>
                </a:lnTo>
                <a:lnTo>
                  <a:pt x="3145" y="3114"/>
                </a:lnTo>
                <a:lnTo>
                  <a:pt x="3154" y="3129"/>
                </a:lnTo>
                <a:lnTo>
                  <a:pt x="3157" y="3144"/>
                </a:lnTo>
                <a:lnTo>
                  <a:pt x="3157" y="3160"/>
                </a:lnTo>
                <a:lnTo>
                  <a:pt x="3154" y="3175"/>
                </a:lnTo>
                <a:lnTo>
                  <a:pt x="3145" y="3189"/>
                </a:lnTo>
                <a:lnTo>
                  <a:pt x="3133" y="3201"/>
                </a:lnTo>
                <a:lnTo>
                  <a:pt x="3095" y="3228"/>
                </a:lnTo>
                <a:lnTo>
                  <a:pt x="3055" y="3248"/>
                </a:lnTo>
                <a:lnTo>
                  <a:pt x="3012" y="3262"/>
                </a:lnTo>
                <a:lnTo>
                  <a:pt x="2968" y="3271"/>
                </a:lnTo>
                <a:lnTo>
                  <a:pt x="2921" y="3274"/>
                </a:lnTo>
                <a:lnTo>
                  <a:pt x="2870" y="3271"/>
                </a:lnTo>
                <a:lnTo>
                  <a:pt x="2821" y="3259"/>
                </a:lnTo>
                <a:lnTo>
                  <a:pt x="2774" y="3242"/>
                </a:lnTo>
                <a:lnTo>
                  <a:pt x="2731" y="3218"/>
                </a:lnTo>
                <a:lnTo>
                  <a:pt x="2693" y="3188"/>
                </a:lnTo>
                <a:lnTo>
                  <a:pt x="2659" y="3154"/>
                </a:lnTo>
                <a:lnTo>
                  <a:pt x="2629" y="3115"/>
                </a:lnTo>
                <a:lnTo>
                  <a:pt x="2605" y="3072"/>
                </a:lnTo>
                <a:lnTo>
                  <a:pt x="2588" y="3026"/>
                </a:lnTo>
                <a:lnTo>
                  <a:pt x="2576" y="2977"/>
                </a:lnTo>
                <a:lnTo>
                  <a:pt x="2573" y="2925"/>
                </a:lnTo>
                <a:lnTo>
                  <a:pt x="2576" y="2874"/>
                </a:lnTo>
                <a:lnTo>
                  <a:pt x="2588" y="2825"/>
                </a:lnTo>
                <a:lnTo>
                  <a:pt x="2605" y="2779"/>
                </a:lnTo>
                <a:lnTo>
                  <a:pt x="2629" y="2736"/>
                </a:lnTo>
                <a:lnTo>
                  <a:pt x="2659" y="2697"/>
                </a:lnTo>
                <a:lnTo>
                  <a:pt x="2693" y="2663"/>
                </a:lnTo>
                <a:lnTo>
                  <a:pt x="2731" y="2633"/>
                </a:lnTo>
                <a:lnTo>
                  <a:pt x="2774" y="2609"/>
                </a:lnTo>
                <a:lnTo>
                  <a:pt x="2821" y="2592"/>
                </a:lnTo>
                <a:lnTo>
                  <a:pt x="2870" y="2580"/>
                </a:lnTo>
                <a:lnTo>
                  <a:pt x="2921" y="2577"/>
                </a:lnTo>
                <a:close/>
                <a:moveTo>
                  <a:pt x="2863" y="1909"/>
                </a:moveTo>
                <a:lnTo>
                  <a:pt x="2979" y="1909"/>
                </a:lnTo>
                <a:lnTo>
                  <a:pt x="3009" y="1911"/>
                </a:lnTo>
                <a:lnTo>
                  <a:pt x="3037" y="1921"/>
                </a:lnTo>
                <a:lnTo>
                  <a:pt x="3063" y="1934"/>
                </a:lnTo>
                <a:lnTo>
                  <a:pt x="3084" y="1952"/>
                </a:lnTo>
                <a:lnTo>
                  <a:pt x="3103" y="1975"/>
                </a:lnTo>
                <a:lnTo>
                  <a:pt x="3117" y="2000"/>
                </a:lnTo>
                <a:lnTo>
                  <a:pt x="3126" y="2028"/>
                </a:lnTo>
                <a:lnTo>
                  <a:pt x="3162" y="2209"/>
                </a:lnTo>
                <a:lnTo>
                  <a:pt x="3210" y="2227"/>
                </a:lnTo>
                <a:lnTo>
                  <a:pt x="3257" y="2248"/>
                </a:lnTo>
                <a:lnTo>
                  <a:pt x="3409" y="2147"/>
                </a:lnTo>
                <a:lnTo>
                  <a:pt x="3435" y="2132"/>
                </a:lnTo>
                <a:lnTo>
                  <a:pt x="3464" y="2124"/>
                </a:lnTo>
                <a:lnTo>
                  <a:pt x="3492" y="2122"/>
                </a:lnTo>
                <a:lnTo>
                  <a:pt x="3521" y="2124"/>
                </a:lnTo>
                <a:lnTo>
                  <a:pt x="3548" y="2132"/>
                </a:lnTo>
                <a:lnTo>
                  <a:pt x="3573" y="2145"/>
                </a:lnTo>
                <a:lnTo>
                  <a:pt x="3597" y="2165"/>
                </a:lnTo>
                <a:lnTo>
                  <a:pt x="3681" y="2248"/>
                </a:lnTo>
                <a:lnTo>
                  <a:pt x="3699" y="2271"/>
                </a:lnTo>
                <a:lnTo>
                  <a:pt x="3713" y="2297"/>
                </a:lnTo>
                <a:lnTo>
                  <a:pt x="3721" y="2325"/>
                </a:lnTo>
                <a:lnTo>
                  <a:pt x="3724" y="2353"/>
                </a:lnTo>
                <a:lnTo>
                  <a:pt x="3721" y="2382"/>
                </a:lnTo>
                <a:lnTo>
                  <a:pt x="3713" y="2409"/>
                </a:lnTo>
                <a:lnTo>
                  <a:pt x="3699" y="2436"/>
                </a:lnTo>
                <a:lnTo>
                  <a:pt x="3597" y="2589"/>
                </a:lnTo>
                <a:lnTo>
                  <a:pt x="3619" y="2636"/>
                </a:lnTo>
                <a:lnTo>
                  <a:pt x="3637" y="2684"/>
                </a:lnTo>
                <a:lnTo>
                  <a:pt x="3817" y="2720"/>
                </a:lnTo>
                <a:lnTo>
                  <a:pt x="3845" y="2730"/>
                </a:lnTo>
                <a:lnTo>
                  <a:pt x="3870" y="2743"/>
                </a:lnTo>
                <a:lnTo>
                  <a:pt x="3893" y="2762"/>
                </a:lnTo>
                <a:lnTo>
                  <a:pt x="3911" y="2783"/>
                </a:lnTo>
                <a:lnTo>
                  <a:pt x="3924" y="2808"/>
                </a:lnTo>
                <a:lnTo>
                  <a:pt x="3932" y="2837"/>
                </a:lnTo>
                <a:lnTo>
                  <a:pt x="3936" y="2867"/>
                </a:lnTo>
                <a:lnTo>
                  <a:pt x="3936" y="2984"/>
                </a:lnTo>
                <a:lnTo>
                  <a:pt x="3932" y="3014"/>
                </a:lnTo>
                <a:lnTo>
                  <a:pt x="3924" y="3041"/>
                </a:lnTo>
                <a:lnTo>
                  <a:pt x="3911" y="3068"/>
                </a:lnTo>
                <a:lnTo>
                  <a:pt x="3893" y="3089"/>
                </a:lnTo>
                <a:lnTo>
                  <a:pt x="3870" y="3108"/>
                </a:lnTo>
                <a:lnTo>
                  <a:pt x="3845" y="3121"/>
                </a:lnTo>
                <a:lnTo>
                  <a:pt x="3817" y="3131"/>
                </a:lnTo>
                <a:lnTo>
                  <a:pt x="3637" y="3167"/>
                </a:lnTo>
                <a:lnTo>
                  <a:pt x="3619" y="3215"/>
                </a:lnTo>
                <a:lnTo>
                  <a:pt x="3597" y="3262"/>
                </a:lnTo>
                <a:lnTo>
                  <a:pt x="3699" y="3414"/>
                </a:lnTo>
                <a:lnTo>
                  <a:pt x="3713" y="3440"/>
                </a:lnTo>
                <a:lnTo>
                  <a:pt x="3721" y="3469"/>
                </a:lnTo>
                <a:lnTo>
                  <a:pt x="3724" y="3498"/>
                </a:lnTo>
                <a:lnTo>
                  <a:pt x="3721" y="3526"/>
                </a:lnTo>
                <a:lnTo>
                  <a:pt x="3713" y="3554"/>
                </a:lnTo>
                <a:lnTo>
                  <a:pt x="3699" y="3579"/>
                </a:lnTo>
                <a:lnTo>
                  <a:pt x="3681" y="3603"/>
                </a:lnTo>
                <a:lnTo>
                  <a:pt x="3597" y="3686"/>
                </a:lnTo>
                <a:lnTo>
                  <a:pt x="3573" y="3704"/>
                </a:lnTo>
                <a:lnTo>
                  <a:pt x="3548" y="3719"/>
                </a:lnTo>
                <a:lnTo>
                  <a:pt x="3521" y="3727"/>
                </a:lnTo>
                <a:lnTo>
                  <a:pt x="3492" y="3729"/>
                </a:lnTo>
                <a:lnTo>
                  <a:pt x="3464" y="3727"/>
                </a:lnTo>
                <a:lnTo>
                  <a:pt x="3435" y="3719"/>
                </a:lnTo>
                <a:lnTo>
                  <a:pt x="3409" y="3704"/>
                </a:lnTo>
                <a:lnTo>
                  <a:pt x="3257" y="3603"/>
                </a:lnTo>
                <a:lnTo>
                  <a:pt x="3210" y="3624"/>
                </a:lnTo>
                <a:lnTo>
                  <a:pt x="3162" y="3642"/>
                </a:lnTo>
                <a:lnTo>
                  <a:pt x="3126" y="3823"/>
                </a:lnTo>
                <a:lnTo>
                  <a:pt x="3117" y="3851"/>
                </a:lnTo>
                <a:lnTo>
                  <a:pt x="3103" y="3876"/>
                </a:lnTo>
                <a:lnTo>
                  <a:pt x="3084" y="3899"/>
                </a:lnTo>
                <a:lnTo>
                  <a:pt x="3063" y="3917"/>
                </a:lnTo>
                <a:lnTo>
                  <a:pt x="3037" y="3930"/>
                </a:lnTo>
                <a:lnTo>
                  <a:pt x="3009" y="3938"/>
                </a:lnTo>
                <a:lnTo>
                  <a:pt x="2979" y="3942"/>
                </a:lnTo>
                <a:lnTo>
                  <a:pt x="2863" y="3942"/>
                </a:lnTo>
                <a:lnTo>
                  <a:pt x="2833" y="3938"/>
                </a:lnTo>
                <a:lnTo>
                  <a:pt x="2804" y="3930"/>
                </a:lnTo>
                <a:lnTo>
                  <a:pt x="2779" y="3917"/>
                </a:lnTo>
                <a:lnTo>
                  <a:pt x="2758" y="3899"/>
                </a:lnTo>
                <a:lnTo>
                  <a:pt x="2739" y="3876"/>
                </a:lnTo>
                <a:lnTo>
                  <a:pt x="2725" y="3851"/>
                </a:lnTo>
                <a:lnTo>
                  <a:pt x="2716" y="3823"/>
                </a:lnTo>
                <a:lnTo>
                  <a:pt x="2680" y="3642"/>
                </a:lnTo>
                <a:lnTo>
                  <a:pt x="2632" y="3624"/>
                </a:lnTo>
                <a:lnTo>
                  <a:pt x="2585" y="3603"/>
                </a:lnTo>
                <a:lnTo>
                  <a:pt x="2432" y="3704"/>
                </a:lnTo>
                <a:lnTo>
                  <a:pt x="2406" y="3719"/>
                </a:lnTo>
                <a:lnTo>
                  <a:pt x="2378" y="3727"/>
                </a:lnTo>
                <a:lnTo>
                  <a:pt x="2350" y="3729"/>
                </a:lnTo>
                <a:lnTo>
                  <a:pt x="2321" y="3727"/>
                </a:lnTo>
                <a:lnTo>
                  <a:pt x="2294" y="3719"/>
                </a:lnTo>
                <a:lnTo>
                  <a:pt x="2267" y="3704"/>
                </a:lnTo>
                <a:lnTo>
                  <a:pt x="2245" y="3686"/>
                </a:lnTo>
                <a:lnTo>
                  <a:pt x="2161" y="3603"/>
                </a:lnTo>
                <a:lnTo>
                  <a:pt x="2142" y="3579"/>
                </a:lnTo>
                <a:lnTo>
                  <a:pt x="2129" y="3554"/>
                </a:lnTo>
                <a:lnTo>
                  <a:pt x="2121" y="3526"/>
                </a:lnTo>
                <a:lnTo>
                  <a:pt x="2118" y="3498"/>
                </a:lnTo>
                <a:lnTo>
                  <a:pt x="2121" y="3469"/>
                </a:lnTo>
                <a:lnTo>
                  <a:pt x="2129" y="3440"/>
                </a:lnTo>
                <a:lnTo>
                  <a:pt x="2143" y="3414"/>
                </a:lnTo>
                <a:lnTo>
                  <a:pt x="2245" y="3262"/>
                </a:lnTo>
                <a:lnTo>
                  <a:pt x="2223" y="3215"/>
                </a:lnTo>
                <a:lnTo>
                  <a:pt x="2205" y="3167"/>
                </a:lnTo>
                <a:lnTo>
                  <a:pt x="2025" y="3131"/>
                </a:lnTo>
                <a:lnTo>
                  <a:pt x="1997" y="3121"/>
                </a:lnTo>
                <a:lnTo>
                  <a:pt x="1972" y="3108"/>
                </a:lnTo>
                <a:lnTo>
                  <a:pt x="1949" y="3089"/>
                </a:lnTo>
                <a:lnTo>
                  <a:pt x="1931" y="3068"/>
                </a:lnTo>
                <a:lnTo>
                  <a:pt x="1918" y="3041"/>
                </a:lnTo>
                <a:lnTo>
                  <a:pt x="1908" y="3014"/>
                </a:lnTo>
                <a:lnTo>
                  <a:pt x="1906" y="2984"/>
                </a:lnTo>
                <a:lnTo>
                  <a:pt x="1906" y="2867"/>
                </a:lnTo>
                <a:lnTo>
                  <a:pt x="1908" y="2837"/>
                </a:lnTo>
                <a:lnTo>
                  <a:pt x="1918" y="2808"/>
                </a:lnTo>
                <a:lnTo>
                  <a:pt x="1931" y="2783"/>
                </a:lnTo>
                <a:lnTo>
                  <a:pt x="1949" y="2762"/>
                </a:lnTo>
                <a:lnTo>
                  <a:pt x="1972" y="2743"/>
                </a:lnTo>
                <a:lnTo>
                  <a:pt x="1997" y="2730"/>
                </a:lnTo>
                <a:lnTo>
                  <a:pt x="2025" y="2720"/>
                </a:lnTo>
                <a:lnTo>
                  <a:pt x="2038" y="2718"/>
                </a:lnTo>
                <a:lnTo>
                  <a:pt x="2059" y="2716"/>
                </a:lnTo>
                <a:lnTo>
                  <a:pt x="2077" y="2722"/>
                </a:lnTo>
                <a:lnTo>
                  <a:pt x="2093" y="2733"/>
                </a:lnTo>
                <a:lnTo>
                  <a:pt x="2105" y="2747"/>
                </a:lnTo>
                <a:lnTo>
                  <a:pt x="2112" y="2767"/>
                </a:lnTo>
                <a:lnTo>
                  <a:pt x="2112" y="2787"/>
                </a:lnTo>
                <a:lnTo>
                  <a:pt x="2108" y="2805"/>
                </a:lnTo>
                <a:lnTo>
                  <a:pt x="2097" y="2820"/>
                </a:lnTo>
                <a:lnTo>
                  <a:pt x="2081" y="2832"/>
                </a:lnTo>
                <a:lnTo>
                  <a:pt x="2063" y="2839"/>
                </a:lnTo>
                <a:lnTo>
                  <a:pt x="2050" y="2842"/>
                </a:lnTo>
                <a:lnTo>
                  <a:pt x="2040" y="2847"/>
                </a:lnTo>
                <a:lnTo>
                  <a:pt x="2032" y="2855"/>
                </a:lnTo>
                <a:lnTo>
                  <a:pt x="2030" y="2867"/>
                </a:lnTo>
                <a:lnTo>
                  <a:pt x="2030" y="2984"/>
                </a:lnTo>
                <a:lnTo>
                  <a:pt x="2032" y="2995"/>
                </a:lnTo>
                <a:lnTo>
                  <a:pt x="2040" y="3004"/>
                </a:lnTo>
                <a:lnTo>
                  <a:pt x="2050" y="3008"/>
                </a:lnTo>
                <a:lnTo>
                  <a:pt x="2266" y="3052"/>
                </a:lnTo>
                <a:lnTo>
                  <a:pt x="2282" y="3057"/>
                </a:lnTo>
                <a:lnTo>
                  <a:pt x="2296" y="3068"/>
                </a:lnTo>
                <a:lnTo>
                  <a:pt x="2307" y="3081"/>
                </a:lnTo>
                <a:lnTo>
                  <a:pt x="2314" y="3096"/>
                </a:lnTo>
                <a:lnTo>
                  <a:pt x="2329" y="3144"/>
                </a:lnTo>
                <a:lnTo>
                  <a:pt x="2348" y="3191"/>
                </a:lnTo>
                <a:lnTo>
                  <a:pt x="2371" y="3235"/>
                </a:lnTo>
                <a:lnTo>
                  <a:pt x="2377" y="3250"/>
                </a:lnTo>
                <a:lnTo>
                  <a:pt x="2379" y="3268"/>
                </a:lnTo>
                <a:lnTo>
                  <a:pt x="2376" y="3285"/>
                </a:lnTo>
                <a:lnTo>
                  <a:pt x="2369" y="3301"/>
                </a:lnTo>
                <a:lnTo>
                  <a:pt x="2246" y="3483"/>
                </a:lnTo>
                <a:lnTo>
                  <a:pt x="2242" y="3494"/>
                </a:lnTo>
                <a:lnTo>
                  <a:pt x="2244" y="3505"/>
                </a:lnTo>
                <a:lnTo>
                  <a:pt x="2249" y="3514"/>
                </a:lnTo>
                <a:lnTo>
                  <a:pt x="2333" y="3598"/>
                </a:lnTo>
                <a:lnTo>
                  <a:pt x="2343" y="3604"/>
                </a:lnTo>
                <a:lnTo>
                  <a:pt x="2353" y="3605"/>
                </a:lnTo>
                <a:lnTo>
                  <a:pt x="2364" y="3602"/>
                </a:lnTo>
                <a:lnTo>
                  <a:pt x="2546" y="3479"/>
                </a:lnTo>
                <a:lnTo>
                  <a:pt x="2562" y="3471"/>
                </a:lnTo>
                <a:lnTo>
                  <a:pt x="2579" y="3468"/>
                </a:lnTo>
                <a:lnTo>
                  <a:pt x="2595" y="3470"/>
                </a:lnTo>
                <a:lnTo>
                  <a:pt x="2612" y="3476"/>
                </a:lnTo>
                <a:lnTo>
                  <a:pt x="2656" y="3499"/>
                </a:lnTo>
                <a:lnTo>
                  <a:pt x="2703" y="3518"/>
                </a:lnTo>
                <a:lnTo>
                  <a:pt x="2750" y="3533"/>
                </a:lnTo>
                <a:lnTo>
                  <a:pt x="2766" y="3541"/>
                </a:lnTo>
                <a:lnTo>
                  <a:pt x="2779" y="3551"/>
                </a:lnTo>
                <a:lnTo>
                  <a:pt x="2789" y="3566"/>
                </a:lnTo>
                <a:lnTo>
                  <a:pt x="2795" y="3581"/>
                </a:lnTo>
                <a:lnTo>
                  <a:pt x="2837" y="3797"/>
                </a:lnTo>
                <a:lnTo>
                  <a:pt x="2842" y="3808"/>
                </a:lnTo>
                <a:lnTo>
                  <a:pt x="2851" y="3815"/>
                </a:lnTo>
                <a:lnTo>
                  <a:pt x="2863" y="3818"/>
                </a:lnTo>
                <a:lnTo>
                  <a:pt x="2979" y="3818"/>
                </a:lnTo>
                <a:lnTo>
                  <a:pt x="2990" y="3815"/>
                </a:lnTo>
                <a:lnTo>
                  <a:pt x="3000" y="3808"/>
                </a:lnTo>
                <a:lnTo>
                  <a:pt x="3003" y="3797"/>
                </a:lnTo>
                <a:lnTo>
                  <a:pt x="3047" y="3581"/>
                </a:lnTo>
                <a:lnTo>
                  <a:pt x="3052" y="3566"/>
                </a:lnTo>
                <a:lnTo>
                  <a:pt x="3063" y="3551"/>
                </a:lnTo>
                <a:lnTo>
                  <a:pt x="3076" y="3541"/>
                </a:lnTo>
                <a:lnTo>
                  <a:pt x="3092" y="3533"/>
                </a:lnTo>
                <a:lnTo>
                  <a:pt x="3139" y="3518"/>
                </a:lnTo>
                <a:lnTo>
                  <a:pt x="3186" y="3499"/>
                </a:lnTo>
                <a:lnTo>
                  <a:pt x="3230" y="3476"/>
                </a:lnTo>
                <a:lnTo>
                  <a:pt x="3245" y="3470"/>
                </a:lnTo>
                <a:lnTo>
                  <a:pt x="3263" y="3468"/>
                </a:lnTo>
                <a:lnTo>
                  <a:pt x="3280" y="3471"/>
                </a:lnTo>
                <a:lnTo>
                  <a:pt x="3296" y="3479"/>
                </a:lnTo>
                <a:lnTo>
                  <a:pt x="3478" y="3602"/>
                </a:lnTo>
                <a:lnTo>
                  <a:pt x="3489" y="3605"/>
                </a:lnTo>
                <a:lnTo>
                  <a:pt x="3499" y="3604"/>
                </a:lnTo>
                <a:lnTo>
                  <a:pt x="3509" y="3598"/>
                </a:lnTo>
                <a:lnTo>
                  <a:pt x="3592" y="3514"/>
                </a:lnTo>
                <a:lnTo>
                  <a:pt x="3598" y="3505"/>
                </a:lnTo>
                <a:lnTo>
                  <a:pt x="3600" y="3494"/>
                </a:lnTo>
                <a:lnTo>
                  <a:pt x="3596" y="3483"/>
                </a:lnTo>
                <a:lnTo>
                  <a:pt x="3473" y="3301"/>
                </a:lnTo>
                <a:lnTo>
                  <a:pt x="3466" y="3285"/>
                </a:lnTo>
                <a:lnTo>
                  <a:pt x="3462" y="3268"/>
                </a:lnTo>
                <a:lnTo>
                  <a:pt x="3465" y="3250"/>
                </a:lnTo>
                <a:lnTo>
                  <a:pt x="3471" y="3235"/>
                </a:lnTo>
                <a:lnTo>
                  <a:pt x="3493" y="3191"/>
                </a:lnTo>
                <a:lnTo>
                  <a:pt x="3513" y="3144"/>
                </a:lnTo>
                <a:lnTo>
                  <a:pt x="3528" y="3096"/>
                </a:lnTo>
                <a:lnTo>
                  <a:pt x="3535" y="3081"/>
                </a:lnTo>
                <a:lnTo>
                  <a:pt x="3546" y="3068"/>
                </a:lnTo>
                <a:lnTo>
                  <a:pt x="3560" y="3057"/>
                </a:lnTo>
                <a:lnTo>
                  <a:pt x="3576" y="3052"/>
                </a:lnTo>
                <a:lnTo>
                  <a:pt x="3792" y="3008"/>
                </a:lnTo>
                <a:lnTo>
                  <a:pt x="3802" y="3004"/>
                </a:lnTo>
                <a:lnTo>
                  <a:pt x="3810" y="2995"/>
                </a:lnTo>
                <a:lnTo>
                  <a:pt x="3812" y="2984"/>
                </a:lnTo>
                <a:lnTo>
                  <a:pt x="3812" y="2867"/>
                </a:lnTo>
                <a:lnTo>
                  <a:pt x="3810" y="2855"/>
                </a:lnTo>
                <a:lnTo>
                  <a:pt x="3802" y="2847"/>
                </a:lnTo>
                <a:lnTo>
                  <a:pt x="3792" y="2842"/>
                </a:lnTo>
                <a:lnTo>
                  <a:pt x="3576" y="2799"/>
                </a:lnTo>
                <a:lnTo>
                  <a:pt x="3560" y="2793"/>
                </a:lnTo>
                <a:lnTo>
                  <a:pt x="3546" y="2783"/>
                </a:lnTo>
                <a:lnTo>
                  <a:pt x="3535" y="2770"/>
                </a:lnTo>
                <a:lnTo>
                  <a:pt x="3528" y="2755"/>
                </a:lnTo>
                <a:lnTo>
                  <a:pt x="3513" y="2707"/>
                </a:lnTo>
                <a:lnTo>
                  <a:pt x="3493" y="2660"/>
                </a:lnTo>
                <a:lnTo>
                  <a:pt x="3471" y="2616"/>
                </a:lnTo>
                <a:lnTo>
                  <a:pt x="3465" y="2599"/>
                </a:lnTo>
                <a:lnTo>
                  <a:pt x="3462" y="2583"/>
                </a:lnTo>
                <a:lnTo>
                  <a:pt x="3466" y="2566"/>
                </a:lnTo>
                <a:lnTo>
                  <a:pt x="3473" y="2550"/>
                </a:lnTo>
                <a:lnTo>
                  <a:pt x="3596" y="2368"/>
                </a:lnTo>
                <a:lnTo>
                  <a:pt x="3600" y="2357"/>
                </a:lnTo>
                <a:lnTo>
                  <a:pt x="3598" y="2346"/>
                </a:lnTo>
                <a:lnTo>
                  <a:pt x="3592" y="2337"/>
                </a:lnTo>
                <a:lnTo>
                  <a:pt x="3509" y="2253"/>
                </a:lnTo>
                <a:lnTo>
                  <a:pt x="3499" y="2247"/>
                </a:lnTo>
                <a:lnTo>
                  <a:pt x="3489" y="2246"/>
                </a:lnTo>
                <a:lnTo>
                  <a:pt x="3478" y="2249"/>
                </a:lnTo>
                <a:lnTo>
                  <a:pt x="3296" y="2372"/>
                </a:lnTo>
                <a:lnTo>
                  <a:pt x="3280" y="2380"/>
                </a:lnTo>
                <a:lnTo>
                  <a:pt x="3263" y="2383"/>
                </a:lnTo>
                <a:lnTo>
                  <a:pt x="3245" y="2381"/>
                </a:lnTo>
                <a:lnTo>
                  <a:pt x="3230" y="2375"/>
                </a:lnTo>
                <a:lnTo>
                  <a:pt x="3186" y="2352"/>
                </a:lnTo>
                <a:lnTo>
                  <a:pt x="3139" y="2333"/>
                </a:lnTo>
                <a:lnTo>
                  <a:pt x="3092" y="2317"/>
                </a:lnTo>
                <a:lnTo>
                  <a:pt x="3076" y="2310"/>
                </a:lnTo>
                <a:lnTo>
                  <a:pt x="3063" y="2300"/>
                </a:lnTo>
                <a:lnTo>
                  <a:pt x="3052" y="2285"/>
                </a:lnTo>
                <a:lnTo>
                  <a:pt x="3047" y="2270"/>
                </a:lnTo>
                <a:lnTo>
                  <a:pt x="3003" y="2053"/>
                </a:lnTo>
                <a:lnTo>
                  <a:pt x="3000" y="2043"/>
                </a:lnTo>
                <a:lnTo>
                  <a:pt x="2990" y="2036"/>
                </a:lnTo>
                <a:lnTo>
                  <a:pt x="2979" y="2033"/>
                </a:lnTo>
                <a:lnTo>
                  <a:pt x="2863" y="2033"/>
                </a:lnTo>
                <a:lnTo>
                  <a:pt x="2851" y="2036"/>
                </a:lnTo>
                <a:lnTo>
                  <a:pt x="2842" y="2043"/>
                </a:lnTo>
                <a:lnTo>
                  <a:pt x="2837" y="2053"/>
                </a:lnTo>
                <a:lnTo>
                  <a:pt x="2795" y="2270"/>
                </a:lnTo>
                <a:lnTo>
                  <a:pt x="2789" y="2285"/>
                </a:lnTo>
                <a:lnTo>
                  <a:pt x="2779" y="2300"/>
                </a:lnTo>
                <a:lnTo>
                  <a:pt x="2766" y="2310"/>
                </a:lnTo>
                <a:lnTo>
                  <a:pt x="2750" y="2317"/>
                </a:lnTo>
                <a:lnTo>
                  <a:pt x="2703" y="2333"/>
                </a:lnTo>
                <a:lnTo>
                  <a:pt x="2656" y="2352"/>
                </a:lnTo>
                <a:lnTo>
                  <a:pt x="2612" y="2375"/>
                </a:lnTo>
                <a:lnTo>
                  <a:pt x="2595" y="2381"/>
                </a:lnTo>
                <a:lnTo>
                  <a:pt x="2579" y="2383"/>
                </a:lnTo>
                <a:lnTo>
                  <a:pt x="2562" y="2380"/>
                </a:lnTo>
                <a:lnTo>
                  <a:pt x="2546" y="2372"/>
                </a:lnTo>
                <a:lnTo>
                  <a:pt x="2364" y="2249"/>
                </a:lnTo>
                <a:lnTo>
                  <a:pt x="2353" y="2246"/>
                </a:lnTo>
                <a:lnTo>
                  <a:pt x="2343" y="2247"/>
                </a:lnTo>
                <a:lnTo>
                  <a:pt x="2333" y="2253"/>
                </a:lnTo>
                <a:lnTo>
                  <a:pt x="2249" y="2337"/>
                </a:lnTo>
                <a:lnTo>
                  <a:pt x="2244" y="2346"/>
                </a:lnTo>
                <a:lnTo>
                  <a:pt x="2242" y="2357"/>
                </a:lnTo>
                <a:lnTo>
                  <a:pt x="2246" y="2368"/>
                </a:lnTo>
                <a:lnTo>
                  <a:pt x="2369" y="2550"/>
                </a:lnTo>
                <a:lnTo>
                  <a:pt x="2376" y="2566"/>
                </a:lnTo>
                <a:lnTo>
                  <a:pt x="2379" y="2583"/>
                </a:lnTo>
                <a:lnTo>
                  <a:pt x="2377" y="2599"/>
                </a:lnTo>
                <a:lnTo>
                  <a:pt x="2371" y="2616"/>
                </a:lnTo>
                <a:lnTo>
                  <a:pt x="2348" y="2660"/>
                </a:lnTo>
                <a:lnTo>
                  <a:pt x="2329" y="2707"/>
                </a:lnTo>
                <a:lnTo>
                  <a:pt x="2314" y="2755"/>
                </a:lnTo>
                <a:lnTo>
                  <a:pt x="2306" y="2773"/>
                </a:lnTo>
                <a:lnTo>
                  <a:pt x="2292" y="2787"/>
                </a:lnTo>
                <a:lnTo>
                  <a:pt x="2276" y="2796"/>
                </a:lnTo>
                <a:lnTo>
                  <a:pt x="2257" y="2800"/>
                </a:lnTo>
                <a:lnTo>
                  <a:pt x="2236" y="2798"/>
                </a:lnTo>
                <a:lnTo>
                  <a:pt x="2218" y="2789"/>
                </a:lnTo>
                <a:lnTo>
                  <a:pt x="2205" y="2776"/>
                </a:lnTo>
                <a:lnTo>
                  <a:pt x="2196" y="2759"/>
                </a:lnTo>
                <a:lnTo>
                  <a:pt x="2191" y="2741"/>
                </a:lnTo>
                <a:lnTo>
                  <a:pt x="2193" y="2721"/>
                </a:lnTo>
                <a:lnTo>
                  <a:pt x="2216" y="2654"/>
                </a:lnTo>
                <a:lnTo>
                  <a:pt x="2245" y="2589"/>
                </a:lnTo>
                <a:lnTo>
                  <a:pt x="2143" y="2436"/>
                </a:lnTo>
                <a:lnTo>
                  <a:pt x="2129" y="2409"/>
                </a:lnTo>
                <a:lnTo>
                  <a:pt x="2121" y="2382"/>
                </a:lnTo>
                <a:lnTo>
                  <a:pt x="2118" y="2353"/>
                </a:lnTo>
                <a:lnTo>
                  <a:pt x="2121" y="2325"/>
                </a:lnTo>
                <a:lnTo>
                  <a:pt x="2129" y="2297"/>
                </a:lnTo>
                <a:lnTo>
                  <a:pt x="2142" y="2271"/>
                </a:lnTo>
                <a:lnTo>
                  <a:pt x="2161" y="2248"/>
                </a:lnTo>
                <a:lnTo>
                  <a:pt x="2245" y="2165"/>
                </a:lnTo>
                <a:lnTo>
                  <a:pt x="2267" y="2145"/>
                </a:lnTo>
                <a:lnTo>
                  <a:pt x="2294" y="2132"/>
                </a:lnTo>
                <a:lnTo>
                  <a:pt x="2321" y="2124"/>
                </a:lnTo>
                <a:lnTo>
                  <a:pt x="2350" y="2122"/>
                </a:lnTo>
                <a:lnTo>
                  <a:pt x="2378" y="2124"/>
                </a:lnTo>
                <a:lnTo>
                  <a:pt x="2406" y="2132"/>
                </a:lnTo>
                <a:lnTo>
                  <a:pt x="2432" y="2147"/>
                </a:lnTo>
                <a:lnTo>
                  <a:pt x="2585" y="2248"/>
                </a:lnTo>
                <a:lnTo>
                  <a:pt x="2632" y="2227"/>
                </a:lnTo>
                <a:lnTo>
                  <a:pt x="2680" y="2209"/>
                </a:lnTo>
                <a:lnTo>
                  <a:pt x="2716" y="2028"/>
                </a:lnTo>
                <a:lnTo>
                  <a:pt x="2725" y="2000"/>
                </a:lnTo>
                <a:lnTo>
                  <a:pt x="2739" y="1975"/>
                </a:lnTo>
                <a:lnTo>
                  <a:pt x="2758" y="1952"/>
                </a:lnTo>
                <a:lnTo>
                  <a:pt x="2779" y="1934"/>
                </a:lnTo>
                <a:lnTo>
                  <a:pt x="2804" y="1921"/>
                </a:lnTo>
                <a:lnTo>
                  <a:pt x="2833" y="1911"/>
                </a:lnTo>
                <a:lnTo>
                  <a:pt x="2863" y="1909"/>
                </a:lnTo>
                <a:close/>
                <a:moveTo>
                  <a:pt x="1512" y="1260"/>
                </a:moveTo>
                <a:lnTo>
                  <a:pt x="1471" y="1263"/>
                </a:lnTo>
                <a:lnTo>
                  <a:pt x="1432" y="1273"/>
                </a:lnTo>
                <a:lnTo>
                  <a:pt x="1395" y="1288"/>
                </a:lnTo>
                <a:lnTo>
                  <a:pt x="1362" y="1309"/>
                </a:lnTo>
                <a:lnTo>
                  <a:pt x="1332" y="1334"/>
                </a:lnTo>
                <a:lnTo>
                  <a:pt x="1307" y="1364"/>
                </a:lnTo>
                <a:lnTo>
                  <a:pt x="1286" y="1398"/>
                </a:lnTo>
                <a:lnTo>
                  <a:pt x="1271" y="1435"/>
                </a:lnTo>
                <a:lnTo>
                  <a:pt x="1261" y="1473"/>
                </a:lnTo>
                <a:lnTo>
                  <a:pt x="1258" y="1515"/>
                </a:lnTo>
                <a:lnTo>
                  <a:pt x="1261" y="1555"/>
                </a:lnTo>
                <a:lnTo>
                  <a:pt x="1271" y="1595"/>
                </a:lnTo>
                <a:lnTo>
                  <a:pt x="1286" y="1632"/>
                </a:lnTo>
                <a:lnTo>
                  <a:pt x="1307" y="1665"/>
                </a:lnTo>
                <a:lnTo>
                  <a:pt x="1332" y="1695"/>
                </a:lnTo>
                <a:lnTo>
                  <a:pt x="1362" y="1720"/>
                </a:lnTo>
                <a:lnTo>
                  <a:pt x="1395" y="1740"/>
                </a:lnTo>
                <a:lnTo>
                  <a:pt x="1432" y="1756"/>
                </a:lnTo>
                <a:lnTo>
                  <a:pt x="1471" y="1766"/>
                </a:lnTo>
                <a:lnTo>
                  <a:pt x="1512" y="1769"/>
                </a:lnTo>
                <a:lnTo>
                  <a:pt x="1553" y="1766"/>
                </a:lnTo>
                <a:lnTo>
                  <a:pt x="1592" y="1756"/>
                </a:lnTo>
                <a:lnTo>
                  <a:pt x="1629" y="1740"/>
                </a:lnTo>
                <a:lnTo>
                  <a:pt x="1663" y="1720"/>
                </a:lnTo>
                <a:lnTo>
                  <a:pt x="1692" y="1695"/>
                </a:lnTo>
                <a:lnTo>
                  <a:pt x="1718" y="1665"/>
                </a:lnTo>
                <a:lnTo>
                  <a:pt x="1738" y="1632"/>
                </a:lnTo>
                <a:lnTo>
                  <a:pt x="1753" y="1595"/>
                </a:lnTo>
                <a:lnTo>
                  <a:pt x="1763" y="1555"/>
                </a:lnTo>
                <a:lnTo>
                  <a:pt x="1766" y="1515"/>
                </a:lnTo>
                <a:lnTo>
                  <a:pt x="1763" y="1473"/>
                </a:lnTo>
                <a:lnTo>
                  <a:pt x="1753" y="1435"/>
                </a:lnTo>
                <a:lnTo>
                  <a:pt x="1738" y="1398"/>
                </a:lnTo>
                <a:lnTo>
                  <a:pt x="1718" y="1364"/>
                </a:lnTo>
                <a:lnTo>
                  <a:pt x="1692" y="1334"/>
                </a:lnTo>
                <a:lnTo>
                  <a:pt x="1663" y="1309"/>
                </a:lnTo>
                <a:lnTo>
                  <a:pt x="1629" y="1288"/>
                </a:lnTo>
                <a:lnTo>
                  <a:pt x="1592" y="1273"/>
                </a:lnTo>
                <a:lnTo>
                  <a:pt x="1553" y="1263"/>
                </a:lnTo>
                <a:lnTo>
                  <a:pt x="1512" y="1260"/>
                </a:lnTo>
                <a:close/>
                <a:moveTo>
                  <a:pt x="911" y="1245"/>
                </a:moveTo>
                <a:lnTo>
                  <a:pt x="930" y="1248"/>
                </a:lnTo>
                <a:lnTo>
                  <a:pt x="948" y="1258"/>
                </a:lnTo>
                <a:lnTo>
                  <a:pt x="961" y="1271"/>
                </a:lnTo>
                <a:lnTo>
                  <a:pt x="970" y="1289"/>
                </a:lnTo>
                <a:lnTo>
                  <a:pt x="972" y="1308"/>
                </a:lnTo>
                <a:lnTo>
                  <a:pt x="968" y="1327"/>
                </a:lnTo>
                <a:lnTo>
                  <a:pt x="952" y="1388"/>
                </a:lnTo>
                <a:lnTo>
                  <a:pt x="941" y="1451"/>
                </a:lnTo>
                <a:lnTo>
                  <a:pt x="937" y="1515"/>
                </a:lnTo>
                <a:lnTo>
                  <a:pt x="941" y="1577"/>
                </a:lnTo>
                <a:lnTo>
                  <a:pt x="952" y="1638"/>
                </a:lnTo>
                <a:lnTo>
                  <a:pt x="967" y="1696"/>
                </a:lnTo>
                <a:lnTo>
                  <a:pt x="989" y="1752"/>
                </a:lnTo>
                <a:lnTo>
                  <a:pt x="1016" y="1805"/>
                </a:lnTo>
                <a:lnTo>
                  <a:pt x="1048" y="1854"/>
                </a:lnTo>
                <a:lnTo>
                  <a:pt x="1087" y="1899"/>
                </a:lnTo>
                <a:lnTo>
                  <a:pt x="1127" y="1941"/>
                </a:lnTo>
                <a:lnTo>
                  <a:pt x="1174" y="1978"/>
                </a:lnTo>
                <a:lnTo>
                  <a:pt x="1223" y="2012"/>
                </a:lnTo>
                <a:lnTo>
                  <a:pt x="1275" y="2038"/>
                </a:lnTo>
                <a:lnTo>
                  <a:pt x="1331" y="2061"/>
                </a:lnTo>
                <a:lnTo>
                  <a:pt x="1390" y="2076"/>
                </a:lnTo>
                <a:lnTo>
                  <a:pt x="1450" y="2087"/>
                </a:lnTo>
                <a:lnTo>
                  <a:pt x="1512" y="2089"/>
                </a:lnTo>
                <a:lnTo>
                  <a:pt x="1573" y="2087"/>
                </a:lnTo>
                <a:lnTo>
                  <a:pt x="1632" y="2077"/>
                </a:lnTo>
                <a:lnTo>
                  <a:pt x="1689" y="2062"/>
                </a:lnTo>
                <a:lnTo>
                  <a:pt x="1745" y="2040"/>
                </a:lnTo>
                <a:lnTo>
                  <a:pt x="1799" y="2014"/>
                </a:lnTo>
                <a:lnTo>
                  <a:pt x="1849" y="1981"/>
                </a:lnTo>
                <a:lnTo>
                  <a:pt x="1863" y="1973"/>
                </a:lnTo>
                <a:lnTo>
                  <a:pt x="1879" y="1970"/>
                </a:lnTo>
                <a:lnTo>
                  <a:pt x="1895" y="1970"/>
                </a:lnTo>
                <a:lnTo>
                  <a:pt x="1911" y="1975"/>
                </a:lnTo>
                <a:lnTo>
                  <a:pt x="1924" y="1983"/>
                </a:lnTo>
                <a:lnTo>
                  <a:pt x="1936" y="1995"/>
                </a:lnTo>
                <a:lnTo>
                  <a:pt x="1943" y="2009"/>
                </a:lnTo>
                <a:lnTo>
                  <a:pt x="1947" y="2025"/>
                </a:lnTo>
                <a:lnTo>
                  <a:pt x="1947" y="2041"/>
                </a:lnTo>
                <a:lnTo>
                  <a:pt x="1942" y="2056"/>
                </a:lnTo>
                <a:lnTo>
                  <a:pt x="1933" y="2070"/>
                </a:lnTo>
                <a:lnTo>
                  <a:pt x="1921" y="2082"/>
                </a:lnTo>
                <a:lnTo>
                  <a:pt x="1869" y="2117"/>
                </a:lnTo>
                <a:lnTo>
                  <a:pt x="1814" y="2145"/>
                </a:lnTo>
                <a:lnTo>
                  <a:pt x="1757" y="2170"/>
                </a:lnTo>
                <a:lnTo>
                  <a:pt x="1698" y="2190"/>
                </a:lnTo>
                <a:lnTo>
                  <a:pt x="1638" y="2203"/>
                </a:lnTo>
                <a:lnTo>
                  <a:pt x="1576" y="2211"/>
                </a:lnTo>
                <a:lnTo>
                  <a:pt x="1512" y="2215"/>
                </a:lnTo>
                <a:lnTo>
                  <a:pt x="1441" y="2211"/>
                </a:lnTo>
                <a:lnTo>
                  <a:pt x="1372" y="2200"/>
                </a:lnTo>
                <a:lnTo>
                  <a:pt x="1305" y="2182"/>
                </a:lnTo>
                <a:lnTo>
                  <a:pt x="1240" y="2160"/>
                </a:lnTo>
                <a:lnTo>
                  <a:pt x="1180" y="2130"/>
                </a:lnTo>
                <a:lnTo>
                  <a:pt x="1122" y="2094"/>
                </a:lnTo>
                <a:lnTo>
                  <a:pt x="1069" y="2055"/>
                </a:lnTo>
                <a:lnTo>
                  <a:pt x="1019" y="2009"/>
                </a:lnTo>
                <a:lnTo>
                  <a:pt x="973" y="1959"/>
                </a:lnTo>
                <a:lnTo>
                  <a:pt x="933" y="1905"/>
                </a:lnTo>
                <a:lnTo>
                  <a:pt x="898" y="1848"/>
                </a:lnTo>
                <a:lnTo>
                  <a:pt x="868" y="1787"/>
                </a:lnTo>
                <a:lnTo>
                  <a:pt x="846" y="1723"/>
                </a:lnTo>
                <a:lnTo>
                  <a:pt x="828" y="1656"/>
                </a:lnTo>
                <a:lnTo>
                  <a:pt x="817" y="1586"/>
                </a:lnTo>
                <a:lnTo>
                  <a:pt x="813" y="1515"/>
                </a:lnTo>
                <a:lnTo>
                  <a:pt x="816" y="1456"/>
                </a:lnTo>
                <a:lnTo>
                  <a:pt x="823" y="1399"/>
                </a:lnTo>
                <a:lnTo>
                  <a:pt x="835" y="1343"/>
                </a:lnTo>
                <a:lnTo>
                  <a:pt x="852" y="1287"/>
                </a:lnTo>
                <a:lnTo>
                  <a:pt x="861" y="1270"/>
                </a:lnTo>
                <a:lnTo>
                  <a:pt x="874" y="1255"/>
                </a:lnTo>
                <a:lnTo>
                  <a:pt x="892" y="1247"/>
                </a:lnTo>
                <a:lnTo>
                  <a:pt x="911" y="1245"/>
                </a:lnTo>
                <a:close/>
                <a:moveTo>
                  <a:pt x="1512" y="1135"/>
                </a:moveTo>
                <a:lnTo>
                  <a:pt x="1564" y="1138"/>
                </a:lnTo>
                <a:lnTo>
                  <a:pt x="1613" y="1149"/>
                </a:lnTo>
                <a:lnTo>
                  <a:pt x="1659" y="1165"/>
                </a:lnTo>
                <a:lnTo>
                  <a:pt x="1703" y="1187"/>
                </a:lnTo>
                <a:lnTo>
                  <a:pt x="1744" y="1215"/>
                </a:lnTo>
                <a:lnTo>
                  <a:pt x="1780" y="1247"/>
                </a:lnTo>
                <a:lnTo>
                  <a:pt x="1812" y="1283"/>
                </a:lnTo>
                <a:lnTo>
                  <a:pt x="1839" y="1324"/>
                </a:lnTo>
                <a:lnTo>
                  <a:pt x="1861" y="1367"/>
                </a:lnTo>
                <a:lnTo>
                  <a:pt x="1877" y="1414"/>
                </a:lnTo>
                <a:lnTo>
                  <a:pt x="1887" y="1463"/>
                </a:lnTo>
                <a:lnTo>
                  <a:pt x="1890" y="1515"/>
                </a:lnTo>
                <a:lnTo>
                  <a:pt x="1887" y="1566"/>
                </a:lnTo>
                <a:lnTo>
                  <a:pt x="1877" y="1615"/>
                </a:lnTo>
                <a:lnTo>
                  <a:pt x="1861" y="1662"/>
                </a:lnTo>
                <a:lnTo>
                  <a:pt x="1839" y="1706"/>
                </a:lnTo>
                <a:lnTo>
                  <a:pt x="1812" y="1746"/>
                </a:lnTo>
                <a:lnTo>
                  <a:pt x="1780" y="1782"/>
                </a:lnTo>
                <a:lnTo>
                  <a:pt x="1744" y="1815"/>
                </a:lnTo>
                <a:lnTo>
                  <a:pt x="1703" y="1842"/>
                </a:lnTo>
                <a:lnTo>
                  <a:pt x="1659" y="1863"/>
                </a:lnTo>
                <a:lnTo>
                  <a:pt x="1613" y="1880"/>
                </a:lnTo>
                <a:lnTo>
                  <a:pt x="1564" y="1890"/>
                </a:lnTo>
                <a:lnTo>
                  <a:pt x="1512" y="1893"/>
                </a:lnTo>
                <a:lnTo>
                  <a:pt x="1461" y="1890"/>
                </a:lnTo>
                <a:lnTo>
                  <a:pt x="1412" y="1880"/>
                </a:lnTo>
                <a:lnTo>
                  <a:pt x="1364" y="1863"/>
                </a:lnTo>
                <a:lnTo>
                  <a:pt x="1322" y="1842"/>
                </a:lnTo>
                <a:lnTo>
                  <a:pt x="1281" y="1815"/>
                </a:lnTo>
                <a:lnTo>
                  <a:pt x="1245" y="1782"/>
                </a:lnTo>
                <a:lnTo>
                  <a:pt x="1213" y="1746"/>
                </a:lnTo>
                <a:lnTo>
                  <a:pt x="1186" y="1706"/>
                </a:lnTo>
                <a:lnTo>
                  <a:pt x="1163" y="1662"/>
                </a:lnTo>
                <a:lnTo>
                  <a:pt x="1147" y="1615"/>
                </a:lnTo>
                <a:lnTo>
                  <a:pt x="1137" y="1566"/>
                </a:lnTo>
                <a:lnTo>
                  <a:pt x="1133" y="1515"/>
                </a:lnTo>
                <a:lnTo>
                  <a:pt x="1137" y="1463"/>
                </a:lnTo>
                <a:lnTo>
                  <a:pt x="1147" y="1414"/>
                </a:lnTo>
                <a:lnTo>
                  <a:pt x="1163" y="1367"/>
                </a:lnTo>
                <a:lnTo>
                  <a:pt x="1186" y="1324"/>
                </a:lnTo>
                <a:lnTo>
                  <a:pt x="1213" y="1283"/>
                </a:lnTo>
                <a:lnTo>
                  <a:pt x="1245" y="1247"/>
                </a:lnTo>
                <a:lnTo>
                  <a:pt x="1281" y="1215"/>
                </a:lnTo>
                <a:lnTo>
                  <a:pt x="1322" y="1187"/>
                </a:lnTo>
                <a:lnTo>
                  <a:pt x="1364" y="1165"/>
                </a:lnTo>
                <a:lnTo>
                  <a:pt x="1412" y="1149"/>
                </a:lnTo>
                <a:lnTo>
                  <a:pt x="1461" y="1138"/>
                </a:lnTo>
                <a:lnTo>
                  <a:pt x="1512" y="1135"/>
                </a:lnTo>
                <a:close/>
                <a:moveTo>
                  <a:pt x="1512" y="815"/>
                </a:moveTo>
                <a:lnTo>
                  <a:pt x="1584" y="818"/>
                </a:lnTo>
                <a:lnTo>
                  <a:pt x="1653" y="829"/>
                </a:lnTo>
                <a:lnTo>
                  <a:pt x="1720" y="847"/>
                </a:lnTo>
                <a:lnTo>
                  <a:pt x="1784" y="870"/>
                </a:lnTo>
                <a:lnTo>
                  <a:pt x="1845" y="899"/>
                </a:lnTo>
                <a:lnTo>
                  <a:pt x="1902" y="934"/>
                </a:lnTo>
                <a:lnTo>
                  <a:pt x="1956" y="975"/>
                </a:lnTo>
                <a:lnTo>
                  <a:pt x="2006" y="1020"/>
                </a:lnTo>
                <a:lnTo>
                  <a:pt x="2051" y="1070"/>
                </a:lnTo>
                <a:lnTo>
                  <a:pt x="2091" y="1124"/>
                </a:lnTo>
                <a:lnTo>
                  <a:pt x="2127" y="1181"/>
                </a:lnTo>
                <a:lnTo>
                  <a:pt x="2156" y="1242"/>
                </a:lnTo>
                <a:lnTo>
                  <a:pt x="2179" y="1307"/>
                </a:lnTo>
                <a:lnTo>
                  <a:pt x="2197" y="1374"/>
                </a:lnTo>
                <a:lnTo>
                  <a:pt x="2208" y="1443"/>
                </a:lnTo>
                <a:lnTo>
                  <a:pt x="2211" y="1515"/>
                </a:lnTo>
                <a:lnTo>
                  <a:pt x="2208" y="1580"/>
                </a:lnTo>
                <a:lnTo>
                  <a:pt x="2198" y="1646"/>
                </a:lnTo>
                <a:lnTo>
                  <a:pt x="2183" y="1711"/>
                </a:lnTo>
                <a:lnTo>
                  <a:pt x="2161" y="1774"/>
                </a:lnTo>
                <a:lnTo>
                  <a:pt x="2134" y="1834"/>
                </a:lnTo>
                <a:lnTo>
                  <a:pt x="2124" y="1848"/>
                </a:lnTo>
                <a:lnTo>
                  <a:pt x="2111" y="1859"/>
                </a:lnTo>
                <a:lnTo>
                  <a:pt x="2096" y="1865"/>
                </a:lnTo>
                <a:lnTo>
                  <a:pt x="2079" y="1867"/>
                </a:lnTo>
                <a:lnTo>
                  <a:pt x="2065" y="1866"/>
                </a:lnTo>
                <a:lnTo>
                  <a:pt x="2050" y="1860"/>
                </a:lnTo>
                <a:lnTo>
                  <a:pt x="2037" y="1850"/>
                </a:lnTo>
                <a:lnTo>
                  <a:pt x="2026" y="1838"/>
                </a:lnTo>
                <a:lnTo>
                  <a:pt x="2019" y="1824"/>
                </a:lnTo>
                <a:lnTo>
                  <a:pt x="2017" y="1809"/>
                </a:lnTo>
                <a:lnTo>
                  <a:pt x="2018" y="1792"/>
                </a:lnTo>
                <a:lnTo>
                  <a:pt x="2024" y="1776"/>
                </a:lnTo>
                <a:lnTo>
                  <a:pt x="2047" y="1727"/>
                </a:lnTo>
                <a:lnTo>
                  <a:pt x="2063" y="1676"/>
                </a:lnTo>
                <a:lnTo>
                  <a:pt x="2077" y="1623"/>
                </a:lnTo>
                <a:lnTo>
                  <a:pt x="2084" y="1570"/>
                </a:lnTo>
                <a:lnTo>
                  <a:pt x="2086" y="1515"/>
                </a:lnTo>
                <a:lnTo>
                  <a:pt x="2084" y="1453"/>
                </a:lnTo>
                <a:lnTo>
                  <a:pt x="2073" y="1392"/>
                </a:lnTo>
                <a:lnTo>
                  <a:pt x="2057" y="1333"/>
                </a:lnTo>
                <a:lnTo>
                  <a:pt x="2035" y="1277"/>
                </a:lnTo>
                <a:lnTo>
                  <a:pt x="2009" y="1224"/>
                </a:lnTo>
                <a:lnTo>
                  <a:pt x="1975" y="1175"/>
                </a:lnTo>
                <a:lnTo>
                  <a:pt x="1938" y="1129"/>
                </a:lnTo>
                <a:lnTo>
                  <a:pt x="1896" y="1088"/>
                </a:lnTo>
                <a:lnTo>
                  <a:pt x="1851" y="1050"/>
                </a:lnTo>
                <a:lnTo>
                  <a:pt x="1802" y="1018"/>
                </a:lnTo>
                <a:lnTo>
                  <a:pt x="1750" y="990"/>
                </a:lnTo>
                <a:lnTo>
                  <a:pt x="1694" y="969"/>
                </a:lnTo>
                <a:lnTo>
                  <a:pt x="1635" y="953"/>
                </a:lnTo>
                <a:lnTo>
                  <a:pt x="1574" y="942"/>
                </a:lnTo>
                <a:lnTo>
                  <a:pt x="1512" y="939"/>
                </a:lnTo>
                <a:lnTo>
                  <a:pt x="1456" y="942"/>
                </a:lnTo>
                <a:lnTo>
                  <a:pt x="1401" y="950"/>
                </a:lnTo>
                <a:lnTo>
                  <a:pt x="1348" y="963"/>
                </a:lnTo>
                <a:lnTo>
                  <a:pt x="1295" y="982"/>
                </a:lnTo>
                <a:lnTo>
                  <a:pt x="1246" y="1005"/>
                </a:lnTo>
                <a:lnTo>
                  <a:pt x="1199" y="1033"/>
                </a:lnTo>
                <a:lnTo>
                  <a:pt x="1153" y="1066"/>
                </a:lnTo>
                <a:lnTo>
                  <a:pt x="1112" y="1103"/>
                </a:lnTo>
                <a:lnTo>
                  <a:pt x="1095" y="1115"/>
                </a:lnTo>
                <a:lnTo>
                  <a:pt x="1077" y="1119"/>
                </a:lnTo>
                <a:lnTo>
                  <a:pt x="1058" y="1119"/>
                </a:lnTo>
                <a:lnTo>
                  <a:pt x="1040" y="1113"/>
                </a:lnTo>
                <a:lnTo>
                  <a:pt x="1023" y="1101"/>
                </a:lnTo>
                <a:lnTo>
                  <a:pt x="1013" y="1086"/>
                </a:lnTo>
                <a:lnTo>
                  <a:pt x="1007" y="1067"/>
                </a:lnTo>
                <a:lnTo>
                  <a:pt x="1007" y="1048"/>
                </a:lnTo>
                <a:lnTo>
                  <a:pt x="1013" y="1030"/>
                </a:lnTo>
                <a:lnTo>
                  <a:pt x="1025" y="1013"/>
                </a:lnTo>
                <a:lnTo>
                  <a:pt x="1076" y="969"/>
                </a:lnTo>
                <a:lnTo>
                  <a:pt x="1131" y="928"/>
                </a:lnTo>
                <a:lnTo>
                  <a:pt x="1188" y="895"/>
                </a:lnTo>
                <a:lnTo>
                  <a:pt x="1249" y="866"/>
                </a:lnTo>
                <a:lnTo>
                  <a:pt x="1312" y="845"/>
                </a:lnTo>
                <a:lnTo>
                  <a:pt x="1378" y="828"/>
                </a:lnTo>
                <a:lnTo>
                  <a:pt x="1444" y="818"/>
                </a:lnTo>
                <a:lnTo>
                  <a:pt x="1512" y="815"/>
                </a:lnTo>
                <a:close/>
                <a:moveTo>
                  <a:pt x="1423" y="0"/>
                </a:moveTo>
                <a:lnTo>
                  <a:pt x="1602" y="0"/>
                </a:lnTo>
                <a:lnTo>
                  <a:pt x="1635" y="4"/>
                </a:lnTo>
                <a:lnTo>
                  <a:pt x="1667" y="12"/>
                </a:lnTo>
                <a:lnTo>
                  <a:pt x="1697" y="25"/>
                </a:lnTo>
                <a:lnTo>
                  <a:pt x="1725" y="44"/>
                </a:lnTo>
                <a:lnTo>
                  <a:pt x="1749" y="67"/>
                </a:lnTo>
                <a:lnTo>
                  <a:pt x="1768" y="93"/>
                </a:lnTo>
                <a:lnTo>
                  <a:pt x="1783" y="123"/>
                </a:lnTo>
                <a:lnTo>
                  <a:pt x="1793" y="156"/>
                </a:lnTo>
                <a:lnTo>
                  <a:pt x="1851" y="449"/>
                </a:lnTo>
                <a:lnTo>
                  <a:pt x="1911" y="469"/>
                </a:lnTo>
                <a:lnTo>
                  <a:pt x="1969" y="493"/>
                </a:lnTo>
                <a:lnTo>
                  <a:pt x="2025" y="521"/>
                </a:lnTo>
                <a:lnTo>
                  <a:pt x="2273" y="356"/>
                </a:lnTo>
                <a:lnTo>
                  <a:pt x="2303" y="339"/>
                </a:lnTo>
                <a:lnTo>
                  <a:pt x="2335" y="329"/>
                </a:lnTo>
                <a:lnTo>
                  <a:pt x="2368" y="324"/>
                </a:lnTo>
                <a:lnTo>
                  <a:pt x="2400" y="324"/>
                </a:lnTo>
                <a:lnTo>
                  <a:pt x="2432" y="330"/>
                </a:lnTo>
                <a:lnTo>
                  <a:pt x="2463" y="342"/>
                </a:lnTo>
                <a:lnTo>
                  <a:pt x="2492" y="358"/>
                </a:lnTo>
                <a:lnTo>
                  <a:pt x="2518" y="380"/>
                </a:lnTo>
                <a:lnTo>
                  <a:pt x="2645" y="508"/>
                </a:lnTo>
                <a:lnTo>
                  <a:pt x="2667" y="533"/>
                </a:lnTo>
                <a:lnTo>
                  <a:pt x="2684" y="563"/>
                </a:lnTo>
                <a:lnTo>
                  <a:pt x="2694" y="592"/>
                </a:lnTo>
                <a:lnTo>
                  <a:pt x="2700" y="625"/>
                </a:lnTo>
                <a:lnTo>
                  <a:pt x="2702" y="658"/>
                </a:lnTo>
                <a:lnTo>
                  <a:pt x="2696" y="690"/>
                </a:lnTo>
                <a:lnTo>
                  <a:pt x="2686" y="723"/>
                </a:lnTo>
                <a:lnTo>
                  <a:pt x="2669" y="753"/>
                </a:lnTo>
                <a:lnTo>
                  <a:pt x="2504" y="1001"/>
                </a:lnTo>
                <a:lnTo>
                  <a:pt x="2531" y="1057"/>
                </a:lnTo>
                <a:lnTo>
                  <a:pt x="2556" y="1116"/>
                </a:lnTo>
                <a:lnTo>
                  <a:pt x="2576" y="1175"/>
                </a:lnTo>
                <a:lnTo>
                  <a:pt x="2869" y="1234"/>
                </a:lnTo>
                <a:lnTo>
                  <a:pt x="2901" y="1244"/>
                </a:lnTo>
                <a:lnTo>
                  <a:pt x="2931" y="1259"/>
                </a:lnTo>
                <a:lnTo>
                  <a:pt x="2958" y="1278"/>
                </a:lnTo>
                <a:lnTo>
                  <a:pt x="2981" y="1302"/>
                </a:lnTo>
                <a:lnTo>
                  <a:pt x="2999" y="1328"/>
                </a:lnTo>
                <a:lnTo>
                  <a:pt x="3013" y="1358"/>
                </a:lnTo>
                <a:lnTo>
                  <a:pt x="3021" y="1390"/>
                </a:lnTo>
                <a:lnTo>
                  <a:pt x="3025" y="1425"/>
                </a:lnTo>
                <a:lnTo>
                  <a:pt x="3025" y="1604"/>
                </a:lnTo>
                <a:lnTo>
                  <a:pt x="3021" y="1638"/>
                </a:lnTo>
                <a:lnTo>
                  <a:pt x="3013" y="1670"/>
                </a:lnTo>
                <a:lnTo>
                  <a:pt x="2999" y="1700"/>
                </a:lnTo>
                <a:lnTo>
                  <a:pt x="2981" y="1727"/>
                </a:lnTo>
                <a:lnTo>
                  <a:pt x="2958" y="1751"/>
                </a:lnTo>
                <a:lnTo>
                  <a:pt x="2931" y="1770"/>
                </a:lnTo>
                <a:lnTo>
                  <a:pt x="2901" y="1786"/>
                </a:lnTo>
                <a:lnTo>
                  <a:pt x="2869" y="1795"/>
                </a:lnTo>
                <a:lnTo>
                  <a:pt x="2576" y="1854"/>
                </a:lnTo>
                <a:lnTo>
                  <a:pt x="2550" y="1927"/>
                </a:lnTo>
                <a:lnTo>
                  <a:pt x="2519" y="1998"/>
                </a:lnTo>
                <a:lnTo>
                  <a:pt x="2511" y="2012"/>
                </a:lnTo>
                <a:lnTo>
                  <a:pt x="2498" y="2022"/>
                </a:lnTo>
                <a:lnTo>
                  <a:pt x="2484" y="2030"/>
                </a:lnTo>
                <a:lnTo>
                  <a:pt x="2469" y="2033"/>
                </a:lnTo>
                <a:lnTo>
                  <a:pt x="2452" y="2032"/>
                </a:lnTo>
                <a:lnTo>
                  <a:pt x="2437" y="2027"/>
                </a:lnTo>
                <a:lnTo>
                  <a:pt x="2422" y="2018"/>
                </a:lnTo>
                <a:lnTo>
                  <a:pt x="2412" y="2006"/>
                </a:lnTo>
                <a:lnTo>
                  <a:pt x="2405" y="1991"/>
                </a:lnTo>
                <a:lnTo>
                  <a:pt x="2401" y="1976"/>
                </a:lnTo>
                <a:lnTo>
                  <a:pt x="2402" y="1960"/>
                </a:lnTo>
                <a:lnTo>
                  <a:pt x="2407" y="1944"/>
                </a:lnTo>
                <a:lnTo>
                  <a:pt x="2431" y="1892"/>
                </a:lnTo>
                <a:lnTo>
                  <a:pt x="2451" y="1837"/>
                </a:lnTo>
                <a:lnTo>
                  <a:pt x="2468" y="1783"/>
                </a:lnTo>
                <a:lnTo>
                  <a:pt x="2475" y="1767"/>
                </a:lnTo>
                <a:lnTo>
                  <a:pt x="2486" y="1754"/>
                </a:lnTo>
                <a:lnTo>
                  <a:pt x="2499" y="1744"/>
                </a:lnTo>
                <a:lnTo>
                  <a:pt x="2515" y="1738"/>
                </a:lnTo>
                <a:lnTo>
                  <a:pt x="2845" y="1672"/>
                </a:lnTo>
                <a:lnTo>
                  <a:pt x="2863" y="1666"/>
                </a:lnTo>
                <a:lnTo>
                  <a:pt x="2878" y="1656"/>
                </a:lnTo>
                <a:lnTo>
                  <a:pt x="2890" y="1641"/>
                </a:lnTo>
                <a:lnTo>
                  <a:pt x="2897" y="1623"/>
                </a:lnTo>
                <a:lnTo>
                  <a:pt x="2901" y="1604"/>
                </a:lnTo>
                <a:lnTo>
                  <a:pt x="2901" y="1425"/>
                </a:lnTo>
                <a:lnTo>
                  <a:pt x="2897" y="1406"/>
                </a:lnTo>
                <a:lnTo>
                  <a:pt x="2890" y="1388"/>
                </a:lnTo>
                <a:lnTo>
                  <a:pt x="2878" y="1374"/>
                </a:lnTo>
                <a:lnTo>
                  <a:pt x="2863" y="1363"/>
                </a:lnTo>
                <a:lnTo>
                  <a:pt x="2845" y="1356"/>
                </a:lnTo>
                <a:lnTo>
                  <a:pt x="2515" y="1290"/>
                </a:lnTo>
                <a:lnTo>
                  <a:pt x="2499" y="1285"/>
                </a:lnTo>
                <a:lnTo>
                  <a:pt x="2486" y="1275"/>
                </a:lnTo>
                <a:lnTo>
                  <a:pt x="2475" y="1261"/>
                </a:lnTo>
                <a:lnTo>
                  <a:pt x="2468" y="1246"/>
                </a:lnTo>
                <a:lnTo>
                  <a:pt x="2444" y="1171"/>
                </a:lnTo>
                <a:lnTo>
                  <a:pt x="2413" y="1098"/>
                </a:lnTo>
                <a:lnTo>
                  <a:pt x="2377" y="1027"/>
                </a:lnTo>
                <a:lnTo>
                  <a:pt x="2371" y="1012"/>
                </a:lnTo>
                <a:lnTo>
                  <a:pt x="2370" y="995"/>
                </a:lnTo>
                <a:lnTo>
                  <a:pt x="2372" y="978"/>
                </a:lnTo>
                <a:lnTo>
                  <a:pt x="2379" y="963"/>
                </a:lnTo>
                <a:lnTo>
                  <a:pt x="2566" y="683"/>
                </a:lnTo>
                <a:lnTo>
                  <a:pt x="2574" y="665"/>
                </a:lnTo>
                <a:lnTo>
                  <a:pt x="2577" y="647"/>
                </a:lnTo>
                <a:lnTo>
                  <a:pt x="2575" y="628"/>
                </a:lnTo>
                <a:lnTo>
                  <a:pt x="2569" y="610"/>
                </a:lnTo>
                <a:lnTo>
                  <a:pt x="2557" y="595"/>
                </a:lnTo>
                <a:lnTo>
                  <a:pt x="2431" y="468"/>
                </a:lnTo>
                <a:lnTo>
                  <a:pt x="2415" y="456"/>
                </a:lnTo>
                <a:lnTo>
                  <a:pt x="2397" y="449"/>
                </a:lnTo>
                <a:lnTo>
                  <a:pt x="2378" y="448"/>
                </a:lnTo>
                <a:lnTo>
                  <a:pt x="2360" y="452"/>
                </a:lnTo>
                <a:lnTo>
                  <a:pt x="2343" y="460"/>
                </a:lnTo>
                <a:lnTo>
                  <a:pt x="2063" y="645"/>
                </a:lnTo>
                <a:lnTo>
                  <a:pt x="2048" y="653"/>
                </a:lnTo>
                <a:lnTo>
                  <a:pt x="2031" y="656"/>
                </a:lnTo>
                <a:lnTo>
                  <a:pt x="2015" y="655"/>
                </a:lnTo>
                <a:lnTo>
                  <a:pt x="1999" y="649"/>
                </a:lnTo>
                <a:lnTo>
                  <a:pt x="1929" y="612"/>
                </a:lnTo>
                <a:lnTo>
                  <a:pt x="1856" y="582"/>
                </a:lnTo>
                <a:lnTo>
                  <a:pt x="1781" y="558"/>
                </a:lnTo>
                <a:lnTo>
                  <a:pt x="1764" y="551"/>
                </a:lnTo>
                <a:lnTo>
                  <a:pt x="1751" y="540"/>
                </a:lnTo>
                <a:lnTo>
                  <a:pt x="1741" y="526"/>
                </a:lnTo>
                <a:lnTo>
                  <a:pt x="1735" y="510"/>
                </a:lnTo>
                <a:lnTo>
                  <a:pt x="1670" y="180"/>
                </a:lnTo>
                <a:lnTo>
                  <a:pt x="1664" y="162"/>
                </a:lnTo>
                <a:lnTo>
                  <a:pt x="1653" y="147"/>
                </a:lnTo>
                <a:lnTo>
                  <a:pt x="1639" y="135"/>
                </a:lnTo>
                <a:lnTo>
                  <a:pt x="1621" y="127"/>
                </a:lnTo>
                <a:lnTo>
                  <a:pt x="1602" y="124"/>
                </a:lnTo>
                <a:lnTo>
                  <a:pt x="1423" y="124"/>
                </a:lnTo>
                <a:lnTo>
                  <a:pt x="1404" y="127"/>
                </a:lnTo>
                <a:lnTo>
                  <a:pt x="1386" y="135"/>
                </a:lnTo>
                <a:lnTo>
                  <a:pt x="1372" y="147"/>
                </a:lnTo>
                <a:lnTo>
                  <a:pt x="1361" y="162"/>
                </a:lnTo>
                <a:lnTo>
                  <a:pt x="1354" y="180"/>
                </a:lnTo>
                <a:lnTo>
                  <a:pt x="1288" y="510"/>
                </a:lnTo>
                <a:lnTo>
                  <a:pt x="1283" y="526"/>
                </a:lnTo>
                <a:lnTo>
                  <a:pt x="1273" y="540"/>
                </a:lnTo>
                <a:lnTo>
                  <a:pt x="1260" y="551"/>
                </a:lnTo>
                <a:lnTo>
                  <a:pt x="1244" y="558"/>
                </a:lnTo>
                <a:lnTo>
                  <a:pt x="1169" y="582"/>
                </a:lnTo>
                <a:lnTo>
                  <a:pt x="1096" y="612"/>
                </a:lnTo>
                <a:lnTo>
                  <a:pt x="1026" y="649"/>
                </a:lnTo>
                <a:lnTo>
                  <a:pt x="1010" y="655"/>
                </a:lnTo>
                <a:lnTo>
                  <a:pt x="994" y="656"/>
                </a:lnTo>
                <a:lnTo>
                  <a:pt x="977" y="653"/>
                </a:lnTo>
                <a:lnTo>
                  <a:pt x="961" y="645"/>
                </a:lnTo>
                <a:lnTo>
                  <a:pt x="682" y="460"/>
                </a:lnTo>
                <a:lnTo>
                  <a:pt x="664" y="452"/>
                </a:lnTo>
                <a:lnTo>
                  <a:pt x="646" y="448"/>
                </a:lnTo>
                <a:lnTo>
                  <a:pt x="627" y="449"/>
                </a:lnTo>
                <a:lnTo>
                  <a:pt x="609" y="456"/>
                </a:lnTo>
                <a:lnTo>
                  <a:pt x="594" y="468"/>
                </a:lnTo>
                <a:lnTo>
                  <a:pt x="468" y="595"/>
                </a:lnTo>
                <a:lnTo>
                  <a:pt x="456" y="610"/>
                </a:lnTo>
                <a:lnTo>
                  <a:pt x="448" y="628"/>
                </a:lnTo>
                <a:lnTo>
                  <a:pt x="447" y="647"/>
                </a:lnTo>
                <a:lnTo>
                  <a:pt x="451" y="665"/>
                </a:lnTo>
                <a:lnTo>
                  <a:pt x="459" y="683"/>
                </a:lnTo>
                <a:lnTo>
                  <a:pt x="644" y="963"/>
                </a:lnTo>
                <a:lnTo>
                  <a:pt x="652" y="978"/>
                </a:lnTo>
                <a:lnTo>
                  <a:pt x="655" y="995"/>
                </a:lnTo>
                <a:lnTo>
                  <a:pt x="654" y="1012"/>
                </a:lnTo>
                <a:lnTo>
                  <a:pt x="648" y="1027"/>
                </a:lnTo>
                <a:lnTo>
                  <a:pt x="611" y="1098"/>
                </a:lnTo>
                <a:lnTo>
                  <a:pt x="581" y="1171"/>
                </a:lnTo>
                <a:lnTo>
                  <a:pt x="557" y="1246"/>
                </a:lnTo>
                <a:lnTo>
                  <a:pt x="550" y="1261"/>
                </a:lnTo>
                <a:lnTo>
                  <a:pt x="539" y="1275"/>
                </a:lnTo>
                <a:lnTo>
                  <a:pt x="525" y="1285"/>
                </a:lnTo>
                <a:lnTo>
                  <a:pt x="509" y="1290"/>
                </a:lnTo>
                <a:lnTo>
                  <a:pt x="180" y="1356"/>
                </a:lnTo>
                <a:lnTo>
                  <a:pt x="162" y="1363"/>
                </a:lnTo>
                <a:lnTo>
                  <a:pt x="147" y="1374"/>
                </a:lnTo>
                <a:lnTo>
                  <a:pt x="135" y="1388"/>
                </a:lnTo>
                <a:lnTo>
                  <a:pt x="126" y="1406"/>
                </a:lnTo>
                <a:lnTo>
                  <a:pt x="124" y="1425"/>
                </a:lnTo>
                <a:lnTo>
                  <a:pt x="124" y="1604"/>
                </a:lnTo>
                <a:lnTo>
                  <a:pt x="126" y="1623"/>
                </a:lnTo>
                <a:lnTo>
                  <a:pt x="135" y="1641"/>
                </a:lnTo>
                <a:lnTo>
                  <a:pt x="147" y="1656"/>
                </a:lnTo>
                <a:lnTo>
                  <a:pt x="162" y="1666"/>
                </a:lnTo>
                <a:lnTo>
                  <a:pt x="180" y="1672"/>
                </a:lnTo>
                <a:lnTo>
                  <a:pt x="509" y="1738"/>
                </a:lnTo>
                <a:lnTo>
                  <a:pt x="525" y="1744"/>
                </a:lnTo>
                <a:lnTo>
                  <a:pt x="539" y="1754"/>
                </a:lnTo>
                <a:lnTo>
                  <a:pt x="550" y="1767"/>
                </a:lnTo>
                <a:lnTo>
                  <a:pt x="557" y="1783"/>
                </a:lnTo>
                <a:lnTo>
                  <a:pt x="581" y="1858"/>
                </a:lnTo>
                <a:lnTo>
                  <a:pt x="611" y="1932"/>
                </a:lnTo>
                <a:lnTo>
                  <a:pt x="648" y="2001"/>
                </a:lnTo>
                <a:lnTo>
                  <a:pt x="654" y="2018"/>
                </a:lnTo>
                <a:lnTo>
                  <a:pt x="655" y="2034"/>
                </a:lnTo>
                <a:lnTo>
                  <a:pt x="652" y="2051"/>
                </a:lnTo>
                <a:lnTo>
                  <a:pt x="644" y="2067"/>
                </a:lnTo>
                <a:lnTo>
                  <a:pt x="459" y="2346"/>
                </a:lnTo>
                <a:lnTo>
                  <a:pt x="451" y="2363"/>
                </a:lnTo>
                <a:lnTo>
                  <a:pt x="447" y="2382"/>
                </a:lnTo>
                <a:lnTo>
                  <a:pt x="448" y="2401"/>
                </a:lnTo>
                <a:lnTo>
                  <a:pt x="456" y="2419"/>
                </a:lnTo>
                <a:lnTo>
                  <a:pt x="468" y="2434"/>
                </a:lnTo>
                <a:lnTo>
                  <a:pt x="594" y="2561"/>
                </a:lnTo>
                <a:lnTo>
                  <a:pt x="609" y="2573"/>
                </a:lnTo>
                <a:lnTo>
                  <a:pt x="627" y="2579"/>
                </a:lnTo>
                <a:lnTo>
                  <a:pt x="646" y="2581"/>
                </a:lnTo>
                <a:lnTo>
                  <a:pt x="664" y="2578"/>
                </a:lnTo>
                <a:lnTo>
                  <a:pt x="682" y="2569"/>
                </a:lnTo>
                <a:lnTo>
                  <a:pt x="961" y="2383"/>
                </a:lnTo>
                <a:lnTo>
                  <a:pt x="977" y="2376"/>
                </a:lnTo>
                <a:lnTo>
                  <a:pt x="994" y="2374"/>
                </a:lnTo>
                <a:lnTo>
                  <a:pt x="1010" y="2375"/>
                </a:lnTo>
                <a:lnTo>
                  <a:pt x="1026" y="2381"/>
                </a:lnTo>
                <a:lnTo>
                  <a:pt x="1096" y="2417"/>
                </a:lnTo>
                <a:lnTo>
                  <a:pt x="1169" y="2448"/>
                </a:lnTo>
                <a:lnTo>
                  <a:pt x="1244" y="2472"/>
                </a:lnTo>
                <a:lnTo>
                  <a:pt x="1260" y="2479"/>
                </a:lnTo>
                <a:lnTo>
                  <a:pt x="1273" y="2489"/>
                </a:lnTo>
                <a:lnTo>
                  <a:pt x="1283" y="2503"/>
                </a:lnTo>
                <a:lnTo>
                  <a:pt x="1288" y="2519"/>
                </a:lnTo>
                <a:lnTo>
                  <a:pt x="1354" y="2849"/>
                </a:lnTo>
                <a:lnTo>
                  <a:pt x="1361" y="2867"/>
                </a:lnTo>
                <a:lnTo>
                  <a:pt x="1372" y="2882"/>
                </a:lnTo>
                <a:lnTo>
                  <a:pt x="1386" y="2894"/>
                </a:lnTo>
                <a:lnTo>
                  <a:pt x="1404" y="2902"/>
                </a:lnTo>
                <a:lnTo>
                  <a:pt x="1423" y="2905"/>
                </a:lnTo>
                <a:lnTo>
                  <a:pt x="1602" y="2905"/>
                </a:lnTo>
                <a:lnTo>
                  <a:pt x="1621" y="2902"/>
                </a:lnTo>
                <a:lnTo>
                  <a:pt x="1639" y="2894"/>
                </a:lnTo>
                <a:lnTo>
                  <a:pt x="1653" y="2882"/>
                </a:lnTo>
                <a:lnTo>
                  <a:pt x="1664" y="2867"/>
                </a:lnTo>
                <a:lnTo>
                  <a:pt x="1670" y="2849"/>
                </a:lnTo>
                <a:lnTo>
                  <a:pt x="1735" y="2519"/>
                </a:lnTo>
                <a:lnTo>
                  <a:pt x="1741" y="2503"/>
                </a:lnTo>
                <a:lnTo>
                  <a:pt x="1751" y="2489"/>
                </a:lnTo>
                <a:lnTo>
                  <a:pt x="1764" y="2479"/>
                </a:lnTo>
                <a:lnTo>
                  <a:pt x="1781" y="2472"/>
                </a:lnTo>
                <a:lnTo>
                  <a:pt x="1833" y="2455"/>
                </a:lnTo>
                <a:lnTo>
                  <a:pt x="1886" y="2436"/>
                </a:lnTo>
                <a:lnTo>
                  <a:pt x="1937" y="2413"/>
                </a:lnTo>
                <a:lnTo>
                  <a:pt x="1954" y="2408"/>
                </a:lnTo>
                <a:lnTo>
                  <a:pt x="1969" y="2407"/>
                </a:lnTo>
                <a:lnTo>
                  <a:pt x="1985" y="2411"/>
                </a:lnTo>
                <a:lnTo>
                  <a:pt x="1999" y="2418"/>
                </a:lnTo>
                <a:lnTo>
                  <a:pt x="2011" y="2429"/>
                </a:lnTo>
                <a:lnTo>
                  <a:pt x="2020" y="2442"/>
                </a:lnTo>
                <a:lnTo>
                  <a:pt x="2025" y="2458"/>
                </a:lnTo>
                <a:lnTo>
                  <a:pt x="2026" y="2474"/>
                </a:lnTo>
                <a:lnTo>
                  <a:pt x="2023" y="2489"/>
                </a:lnTo>
                <a:lnTo>
                  <a:pt x="2016" y="2504"/>
                </a:lnTo>
                <a:lnTo>
                  <a:pt x="2005" y="2516"/>
                </a:lnTo>
                <a:lnTo>
                  <a:pt x="1991" y="2525"/>
                </a:lnTo>
                <a:lnTo>
                  <a:pt x="1921" y="2555"/>
                </a:lnTo>
                <a:lnTo>
                  <a:pt x="1851" y="2580"/>
                </a:lnTo>
                <a:lnTo>
                  <a:pt x="1793" y="2873"/>
                </a:lnTo>
                <a:lnTo>
                  <a:pt x="1783" y="2905"/>
                </a:lnTo>
                <a:lnTo>
                  <a:pt x="1768" y="2935"/>
                </a:lnTo>
                <a:lnTo>
                  <a:pt x="1749" y="2962"/>
                </a:lnTo>
                <a:lnTo>
                  <a:pt x="1725" y="2985"/>
                </a:lnTo>
                <a:lnTo>
                  <a:pt x="1697" y="3003"/>
                </a:lnTo>
                <a:lnTo>
                  <a:pt x="1667" y="3017"/>
                </a:lnTo>
                <a:lnTo>
                  <a:pt x="1635" y="3026"/>
                </a:lnTo>
                <a:lnTo>
                  <a:pt x="1602" y="3029"/>
                </a:lnTo>
                <a:lnTo>
                  <a:pt x="1423" y="3029"/>
                </a:lnTo>
                <a:lnTo>
                  <a:pt x="1388" y="3026"/>
                </a:lnTo>
                <a:lnTo>
                  <a:pt x="1356" y="3017"/>
                </a:lnTo>
                <a:lnTo>
                  <a:pt x="1326" y="3003"/>
                </a:lnTo>
                <a:lnTo>
                  <a:pt x="1300" y="2985"/>
                </a:lnTo>
                <a:lnTo>
                  <a:pt x="1276" y="2962"/>
                </a:lnTo>
                <a:lnTo>
                  <a:pt x="1257" y="2935"/>
                </a:lnTo>
                <a:lnTo>
                  <a:pt x="1242" y="2905"/>
                </a:lnTo>
                <a:lnTo>
                  <a:pt x="1232" y="2873"/>
                </a:lnTo>
                <a:lnTo>
                  <a:pt x="1174" y="2580"/>
                </a:lnTo>
                <a:lnTo>
                  <a:pt x="1114" y="2560"/>
                </a:lnTo>
                <a:lnTo>
                  <a:pt x="1056" y="2535"/>
                </a:lnTo>
                <a:lnTo>
                  <a:pt x="1000" y="2507"/>
                </a:lnTo>
                <a:lnTo>
                  <a:pt x="751" y="2673"/>
                </a:lnTo>
                <a:lnTo>
                  <a:pt x="722" y="2690"/>
                </a:lnTo>
                <a:lnTo>
                  <a:pt x="689" y="2701"/>
                </a:lnTo>
                <a:lnTo>
                  <a:pt x="657" y="2706"/>
                </a:lnTo>
                <a:lnTo>
                  <a:pt x="625" y="2704"/>
                </a:lnTo>
                <a:lnTo>
                  <a:pt x="593" y="2698"/>
                </a:lnTo>
                <a:lnTo>
                  <a:pt x="562" y="2688"/>
                </a:lnTo>
                <a:lnTo>
                  <a:pt x="532" y="2671"/>
                </a:lnTo>
                <a:lnTo>
                  <a:pt x="507" y="2650"/>
                </a:lnTo>
                <a:lnTo>
                  <a:pt x="379" y="2522"/>
                </a:lnTo>
                <a:lnTo>
                  <a:pt x="358" y="2495"/>
                </a:lnTo>
                <a:lnTo>
                  <a:pt x="341" y="2467"/>
                </a:lnTo>
                <a:lnTo>
                  <a:pt x="329" y="2436"/>
                </a:lnTo>
                <a:lnTo>
                  <a:pt x="323" y="2403"/>
                </a:lnTo>
                <a:lnTo>
                  <a:pt x="323" y="2371"/>
                </a:lnTo>
                <a:lnTo>
                  <a:pt x="328" y="2339"/>
                </a:lnTo>
                <a:lnTo>
                  <a:pt x="339" y="2307"/>
                </a:lnTo>
                <a:lnTo>
                  <a:pt x="355" y="2277"/>
                </a:lnTo>
                <a:lnTo>
                  <a:pt x="520" y="2028"/>
                </a:lnTo>
                <a:lnTo>
                  <a:pt x="493" y="1972"/>
                </a:lnTo>
                <a:lnTo>
                  <a:pt x="469" y="1914"/>
                </a:lnTo>
                <a:lnTo>
                  <a:pt x="448" y="1854"/>
                </a:lnTo>
                <a:lnTo>
                  <a:pt x="156" y="1795"/>
                </a:lnTo>
                <a:lnTo>
                  <a:pt x="123" y="1786"/>
                </a:lnTo>
                <a:lnTo>
                  <a:pt x="93" y="1770"/>
                </a:lnTo>
                <a:lnTo>
                  <a:pt x="67" y="1751"/>
                </a:lnTo>
                <a:lnTo>
                  <a:pt x="44" y="1727"/>
                </a:lnTo>
                <a:lnTo>
                  <a:pt x="25" y="1700"/>
                </a:lnTo>
                <a:lnTo>
                  <a:pt x="12" y="1670"/>
                </a:lnTo>
                <a:lnTo>
                  <a:pt x="4" y="1638"/>
                </a:lnTo>
                <a:lnTo>
                  <a:pt x="0" y="1604"/>
                </a:lnTo>
                <a:lnTo>
                  <a:pt x="0" y="1425"/>
                </a:lnTo>
                <a:lnTo>
                  <a:pt x="4" y="1390"/>
                </a:lnTo>
                <a:lnTo>
                  <a:pt x="12" y="1358"/>
                </a:lnTo>
                <a:lnTo>
                  <a:pt x="25" y="1328"/>
                </a:lnTo>
                <a:lnTo>
                  <a:pt x="44" y="1302"/>
                </a:lnTo>
                <a:lnTo>
                  <a:pt x="67" y="1278"/>
                </a:lnTo>
                <a:lnTo>
                  <a:pt x="93" y="1259"/>
                </a:lnTo>
                <a:lnTo>
                  <a:pt x="123" y="1244"/>
                </a:lnTo>
                <a:lnTo>
                  <a:pt x="156" y="1234"/>
                </a:lnTo>
                <a:lnTo>
                  <a:pt x="448" y="1175"/>
                </a:lnTo>
                <a:lnTo>
                  <a:pt x="469" y="1116"/>
                </a:lnTo>
                <a:lnTo>
                  <a:pt x="493" y="1057"/>
                </a:lnTo>
                <a:lnTo>
                  <a:pt x="520" y="1001"/>
                </a:lnTo>
                <a:lnTo>
                  <a:pt x="355" y="753"/>
                </a:lnTo>
                <a:lnTo>
                  <a:pt x="339" y="723"/>
                </a:lnTo>
                <a:lnTo>
                  <a:pt x="328" y="690"/>
                </a:lnTo>
                <a:lnTo>
                  <a:pt x="323" y="658"/>
                </a:lnTo>
                <a:lnTo>
                  <a:pt x="323" y="626"/>
                </a:lnTo>
                <a:lnTo>
                  <a:pt x="329" y="594"/>
                </a:lnTo>
                <a:lnTo>
                  <a:pt x="341" y="563"/>
                </a:lnTo>
                <a:lnTo>
                  <a:pt x="358" y="533"/>
                </a:lnTo>
                <a:lnTo>
                  <a:pt x="379" y="508"/>
                </a:lnTo>
                <a:lnTo>
                  <a:pt x="507" y="380"/>
                </a:lnTo>
                <a:lnTo>
                  <a:pt x="532" y="358"/>
                </a:lnTo>
                <a:lnTo>
                  <a:pt x="562" y="342"/>
                </a:lnTo>
                <a:lnTo>
                  <a:pt x="593" y="330"/>
                </a:lnTo>
                <a:lnTo>
                  <a:pt x="625" y="324"/>
                </a:lnTo>
                <a:lnTo>
                  <a:pt x="657" y="324"/>
                </a:lnTo>
                <a:lnTo>
                  <a:pt x="689" y="329"/>
                </a:lnTo>
                <a:lnTo>
                  <a:pt x="722" y="339"/>
                </a:lnTo>
                <a:lnTo>
                  <a:pt x="751" y="356"/>
                </a:lnTo>
                <a:lnTo>
                  <a:pt x="1000" y="521"/>
                </a:lnTo>
                <a:lnTo>
                  <a:pt x="1056" y="493"/>
                </a:lnTo>
                <a:lnTo>
                  <a:pt x="1114" y="469"/>
                </a:lnTo>
                <a:lnTo>
                  <a:pt x="1174" y="449"/>
                </a:lnTo>
                <a:lnTo>
                  <a:pt x="1232" y="156"/>
                </a:lnTo>
                <a:lnTo>
                  <a:pt x="1242" y="123"/>
                </a:lnTo>
                <a:lnTo>
                  <a:pt x="1257" y="93"/>
                </a:lnTo>
                <a:lnTo>
                  <a:pt x="1276" y="67"/>
                </a:lnTo>
                <a:lnTo>
                  <a:pt x="1300" y="44"/>
                </a:lnTo>
                <a:lnTo>
                  <a:pt x="1326" y="25"/>
                </a:lnTo>
                <a:lnTo>
                  <a:pt x="1356" y="12"/>
                </a:lnTo>
                <a:lnTo>
                  <a:pt x="1388" y="4"/>
                </a:lnTo>
                <a:lnTo>
                  <a:pt x="1423" y="0"/>
                </a:lnTo>
                <a:close/>
              </a:path>
            </a:pathLst>
          </a:custGeom>
          <a:solidFill>
            <a:schemeClr val="bg1"/>
          </a:solidFill>
          <a:ln w="3175">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
        <p:nvSpPr>
          <p:cNvPr id="57" name="Rounded Rectangle 21">
            <a:extLst>
              <a:ext uri="{FF2B5EF4-FFF2-40B4-BE49-F238E27FC236}">
                <a16:creationId xmlns:a16="http://schemas.microsoft.com/office/drawing/2014/main" id="{D15007AC-83DC-FC35-F57E-E819605EF1E1}"/>
              </a:ext>
            </a:extLst>
          </p:cNvPr>
          <p:cNvSpPr/>
          <p:nvPr/>
        </p:nvSpPr>
        <p:spPr>
          <a:xfrm>
            <a:off x="368300" y="4784298"/>
            <a:ext cx="9150709" cy="29569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Calibri" panose="020F0502020204030204" pitchFamily="34" charset="0"/>
                <a:ea typeface="+mn-ea"/>
                <a:cs typeface="+mn-cs"/>
              </a:rPr>
              <a:t>EXL underlying Strengths in GGY AXIS Modelling &amp; Governance</a:t>
            </a:r>
          </a:p>
        </p:txBody>
      </p:sp>
      <p:sp>
        <p:nvSpPr>
          <p:cNvPr id="58" name="Rectangle 57">
            <a:extLst>
              <a:ext uri="{FF2B5EF4-FFF2-40B4-BE49-F238E27FC236}">
                <a16:creationId xmlns:a16="http://schemas.microsoft.com/office/drawing/2014/main" id="{E0ACB8F3-FD27-6CA5-3C68-D6B67FA21819}"/>
              </a:ext>
            </a:extLst>
          </p:cNvPr>
          <p:cNvSpPr/>
          <p:nvPr/>
        </p:nvSpPr>
        <p:spPr>
          <a:xfrm>
            <a:off x="4967391" y="2107385"/>
            <a:ext cx="2175429" cy="2598762"/>
          </a:xfrm>
          <a:prstGeom prst="rect">
            <a:avLst/>
          </a:prstGeom>
          <a:noFill/>
          <a:ln>
            <a:solidFill>
              <a:schemeClr val="accent2"/>
            </a:solidFill>
            <a:prstDash val="sysDash"/>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tIns="91440" rtlCol="0" anchor="t" anchorCtr="0"/>
          <a:lstStyle/>
          <a:p>
            <a:pPr marL="171450" marR="0" lvl="1" indent="-171450" algn="l" defTabSz="400050" rtl="0" eaLnBrk="1" fontAlgn="auto" latinLnBrk="0" hangingPunct="1">
              <a:lnSpc>
                <a:spcPct val="113000"/>
              </a:lnSpc>
              <a:spcBef>
                <a:spcPts val="100"/>
              </a:spcBef>
              <a:spcAft>
                <a:spcPts val="100"/>
              </a:spcAft>
              <a:buClr>
                <a:srgbClr val="FF6503"/>
              </a:buClr>
              <a:buSzTx/>
              <a:buFont typeface="Arial" panose="020B0604020202020204" pitchFamily="34" charset="0"/>
              <a:buChar char="•"/>
              <a:tabLst/>
              <a:defRPr/>
            </a:pPr>
            <a:r>
              <a:rPr lang="en-US" sz="1050">
                <a:solidFill>
                  <a:srgbClr val="000000"/>
                </a:solidFill>
                <a:latin typeface="Calibri" panose="020F0502020204030204" pitchFamily="34" charset="0"/>
              </a:rPr>
              <a:t>Performed </a:t>
            </a:r>
            <a:r>
              <a:rPr lang="en-US" sz="1000">
                <a:solidFill>
                  <a:srgbClr val="FB4D0A"/>
                </a:solidFill>
                <a:latin typeface="Calibri" panose="020F0502020204030204" pitchFamily="34" charset="0"/>
              </a:rPr>
              <a:t>UAT</a:t>
            </a:r>
            <a:r>
              <a:rPr lang="en-US" sz="1050">
                <a:solidFill>
                  <a:srgbClr val="000000"/>
                </a:solidFill>
                <a:latin typeface="Calibri" panose="020F0502020204030204" pitchFamily="34" charset="0"/>
              </a:rPr>
              <a:t> cycles in collaboration with business stakeholders to validate model change requests.</a:t>
            </a:r>
          </a:p>
          <a:p>
            <a:pPr marL="171450" marR="0" lvl="1" indent="-171450" algn="l" defTabSz="400050" rtl="0" eaLnBrk="1" fontAlgn="auto" latinLnBrk="0" hangingPunct="1">
              <a:lnSpc>
                <a:spcPct val="113000"/>
              </a:lnSpc>
              <a:spcBef>
                <a:spcPts val="100"/>
              </a:spcBef>
              <a:spcAft>
                <a:spcPts val="100"/>
              </a:spcAft>
              <a:buClr>
                <a:srgbClr val="FF6503"/>
              </a:buClr>
              <a:buSzTx/>
              <a:buFont typeface="Arial" panose="020B0604020202020204" pitchFamily="34" charset="0"/>
              <a:buChar char="•"/>
              <a:tabLst/>
              <a:defRPr/>
            </a:pPr>
            <a:r>
              <a:rPr lang="en-US" sz="1050">
                <a:solidFill>
                  <a:srgbClr val="000000"/>
                </a:solidFill>
                <a:latin typeface="Calibri" panose="020F0502020204030204" pitchFamily="34" charset="0"/>
              </a:rPr>
              <a:t>Developed </a:t>
            </a:r>
            <a:r>
              <a:rPr lang="en-US" sz="1000">
                <a:solidFill>
                  <a:srgbClr val="FB4D0A"/>
                </a:solidFill>
                <a:latin typeface="Calibri" panose="020F0502020204030204" pitchFamily="34" charset="0"/>
              </a:rPr>
              <a:t>structured templates and processes </a:t>
            </a:r>
            <a:r>
              <a:rPr lang="en-US" sz="1050">
                <a:solidFill>
                  <a:srgbClr val="000000"/>
                </a:solidFill>
                <a:latin typeface="Calibri" panose="020F0502020204030204" pitchFamily="34" charset="0"/>
              </a:rPr>
              <a:t>for assumptions review.</a:t>
            </a:r>
          </a:p>
          <a:p>
            <a:pPr marL="171450" lvl="1" indent="-171450" defTabSz="400050">
              <a:lnSpc>
                <a:spcPct val="113000"/>
              </a:lnSpc>
              <a:spcBef>
                <a:spcPts val="100"/>
              </a:spcBef>
              <a:spcAft>
                <a:spcPts val="100"/>
              </a:spcAft>
              <a:buClr>
                <a:srgbClr val="FF6503"/>
              </a:buClr>
              <a:buFont typeface="Arial" panose="020B0604020202020204" pitchFamily="34" charset="0"/>
              <a:buChar char="•"/>
              <a:defRPr/>
            </a:pPr>
            <a:r>
              <a:rPr lang="en-US" sz="1050">
                <a:solidFill>
                  <a:srgbClr val="000000"/>
                </a:solidFill>
                <a:latin typeface="Calibri" panose="020F0502020204030204" pitchFamily="34" charset="0"/>
              </a:rPr>
              <a:t>Improved </a:t>
            </a:r>
            <a:r>
              <a:rPr lang="en-US" sz="1000">
                <a:solidFill>
                  <a:srgbClr val="FB4D0A"/>
                </a:solidFill>
                <a:latin typeface="Calibri" panose="020F0502020204030204" pitchFamily="34" charset="0"/>
              </a:rPr>
              <a:t>version control</a:t>
            </a:r>
            <a:r>
              <a:rPr lang="en-US" sz="1050">
                <a:solidFill>
                  <a:srgbClr val="000000"/>
                </a:solidFill>
                <a:latin typeface="Calibri" panose="020F0502020204030204" pitchFamily="34" charset="0"/>
              </a:rPr>
              <a:t>, </a:t>
            </a:r>
            <a:r>
              <a:rPr lang="en-US" sz="1050">
                <a:solidFill>
                  <a:schemeClr val="tx1"/>
                </a:solidFill>
              </a:rPr>
              <a:t>regulatory-compliant documentation</a:t>
            </a:r>
            <a:r>
              <a:rPr lang="en-US" sz="1050">
                <a:solidFill>
                  <a:srgbClr val="000000"/>
                </a:solidFill>
                <a:latin typeface="Calibri" panose="020F0502020204030204" pitchFamily="34" charset="0"/>
              </a:rPr>
              <a:t> and </a:t>
            </a:r>
            <a:r>
              <a:rPr lang="en-US" sz="1000">
                <a:solidFill>
                  <a:srgbClr val="FB4D0A"/>
                </a:solidFill>
                <a:latin typeface="Calibri" panose="020F0502020204030204" pitchFamily="34" charset="0"/>
              </a:rPr>
              <a:t>audit readiness.</a:t>
            </a:r>
          </a:p>
          <a:p>
            <a:pPr marL="171450" lvl="1" indent="-171450" defTabSz="400050">
              <a:lnSpc>
                <a:spcPct val="113000"/>
              </a:lnSpc>
              <a:spcBef>
                <a:spcPts val="100"/>
              </a:spcBef>
              <a:spcAft>
                <a:spcPts val="100"/>
              </a:spcAft>
              <a:buClr>
                <a:srgbClr val="FF6503"/>
              </a:buClr>
              <a:buFont typeface="Arial" panose="020B0604020202020204" pitchFamily="34" charset="0"/>
              <a:buChar char="•"/>
              <a:defRPr/>
            </a:pPr>
            <a:r>
              <a:rPr lang="en-US" sz="1050">
                <a:solidFill>
                  <a:srgbClr val="000000"/>
                </a:solidFill>
                <a:latin typeface="Calibri" panose="020F0502020204030204" pitchFamily="34" charset="0"/>
              </a:rPr>
              <a:t>validate </a:t>
            </a:r>
            <a:r>
              <a:rPr lang="en-US" sz="1000">
                <a:solidFill>
                  <a:srgbClr val="FB4D0A"/>
                </a:solidFill>
                <a:latin typeface="Calibri" panose="020F0502020204030204" pitchFamily="34" charset="0"/>
              </a:rPr>
              <a:t>single policy </a:t>
            </a:r>
            <a:r>
              <a:rPr lang="en-US" sz="1050">
                <a:solidFill>
                  <a:srgbClr val="000000"/>
                </a:solidFill>
                <a:latin typeface="Calibri" panose="020F0502020204030204" pitchFamily="34" charset="0"/>
              </a:rPr>
              <a:t>results.</a:t>
            </a:r>
          </a:p>
        </p:txBody>
      </p:sp>
      <p:sp>
        <p:nvSpPr>
          <p:cNvPr id="59" name="Rectangle 58">
            <a:extLst>
              <a:ext uri="{FF2B5EF4-FFF2-40B4-BE49-F238E27FC236}">
                <a16:creationId xmlns:a16="http://schemas.microsoft.com/office/drawing/2014/main" id="{DCC5DCD3-3839-9DB6-C8C8-ECB30A6D17C5}"/>
              </a:ext>
            </a:extLst>
          </p:cNvPr>
          <p:cNvSpPr/>
          <p:nvPr/>
        </p:nvSpPr>
        <p:spPr>
          <a:xfrm>
            <a:off x="368301" y="2117712"/>
            <a:ext cx="2175423" cy="2587067"/>
          </a:xfrm>
          <a:prstGeom prst="rect">
            <a:avLst/>
          </a:prstGeom>
          <a:noFill/>
          <a:ln>
            <a:solidFill>
              <a:schemeClr val="accent2"/>
            </a:solidFill>
            <a:prstDash val="sysDash"/>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tIns="91440" rtlCol="0" anchor="t" anchorCtr="0"/>
          <a:lstStyle/>
          <a:p>
            <a:pPr marL="171450" lvl="1" indent="-171450" defTabSz="400050">
              <a:lnSpc>
                <a:spcPct val="113000"/>
              </a:lnSpc>
              <a:spcBef>
                <a:spcPts val="100"/>
              </a:spcBef>
              <a:spcAft>
                <a:spcPts val="100"/>
              </a:spcAft>
              <a:buClr>
                <a:srgbClr val="FF6503"/>
              </a:buClr>
              <a:buFont typeface="Arial" panose="020B0604020202020204" pitchFamily="34" charset="0"/>
              <a:buChar char="•"/>
              <a:defRPr/>
            </a:pPr>
            <a:r>
              <a:rPr lang="en-US" sz="1000">
                <a:solidFill>
                  <a:srgbClr val="000000"/>
                </a:solidFill>
                <a:latin typeface="Calibri" panose="020F0502020204030204" pitchFamily="34" charset="0"/>
              </a:rPr>
              <a:t>End-to-end modelling and integration support for </a:t>
            </a:r>
            <a:r>
              <a:rPr lang="en-US" sz="1000">
                <a:solidFill>
                  <a:srgbClr val="FB4D0A"/>
                </a:solidFill>
                <a:latin typeface="Calibri" panose="020F0502020204030204" pitchFamily="34" charset="0"/>
              </a:rPr>
              <a:t>VA, RILA, Payout, FA, and FIA</a:t>
            </a:r>
            <a:r>
              <a:rPr lang="en-US" sz="1000">
                <a:solidFill>
                  <a:srgbClr val="000000"/>
                </a:solidFill>
                <a:latin typeface="Calibri" panose="020F0502020204030204" pitchFamily="34" charset="0"/>
              </a:rPr>
              <a:t> annuity products.</a:t>
            </a:r>
          </a:p>
          <a:p>
            <a:pPr marL="171450" lvl="1" indent="-171450" defTabSz="400050">
              <a:lnSpc>
                <a:spcPct val="113000"/>
              </a:lnSpc>
              <a:spcBef>
                <a:spcPts val="100"/>
              </a:spcBef>
              <a:spcAft>
                <a:spcPts val="100"/>
              </a:spcAft>
              <a:buClr>
                <a:srgbClr val="FF6503"/>
              </a:buClr>
              <a:buFont typeface="Arial" panose="020B0604020202020204" pitchFamily="34" charset="0"/>
              <a:buChar char="•"/>
              <a:defRPr/>
            </a:pPr>
            <a:r>
              <a:rPr lang="en-US" sz="1000">
                <a:solidFill>
                  <a:srgbClr val="000000"/>
                </a:solidFill>
                <a:latin typeface="Calibri" panose="020F0502020204030204" pitchFamily="34" charset="0"/>
              </a:rPr>
              <a:t>Built and onboarded models (into GGY AXIS) for </a:t>
            </a:r>
            <a:r>
              <a:rPr lang="en-US" sz="1000">
                <a:solidFill>
                  <a:srgbClr val="FB4D0A"/>
                </a:solidFill>
                <a:latin typeface="Calibri" panose="020F0502020204030204" pitchFamily="34" charset="0"/>
              </a:rPr>
              <a:t>reserves, cash flows, and account value </a:t>
            </a:r>
            <a:r>
              <a:rPr lang="en-US" sz="1000">
                <a:solidFill>
                  <a:srgbClr val="000000"/>
                </a:solidFill>
                <a:latin typeface="Calibri" panose="020F0502020204030204" pitchFamily="34" charset="0"/>
              </a:rPr>
              <a:t>projections.</a:t>
            </a:r>
          </a:p>
          <a:p>
            <a:pPr marL="171450" marR="0" lvl="1" indent="-171450" algn="l" defTabSz="400050" rtl="0" eaLnBrk="1" fontAlgn="auto" latinLnBrk="0" hangingPunct="1">
              <a:lnSpc>
                <a:spcPct val="113000"/>
              </a:lnSpc>
              <a:spcBef>
                <a:spcPts val="100"/>
              </a:spcBef>
              <a:spcAft>
                <a:spcPts val="100"/>
              </a:spcAft>
              <a:buClr>
                <a:srgbClr val="FF6503"/>
              </a:buClr>
              <a:buSzTx/>
              <a:buFont typeface="Arial" panose="020B0604020202020204" pitchFamily="34" charset="0"/>
              <a:buChar char="•"/>
              <a:tabLst/>
              <a:defRPr/>
            </a:pPr>
            <a:r>
              <a:rPr lang="en-US" sz="1000">
                <a:solidFill>
                  <a:srgbClr val="000000"/>
                </a:solidFill>
                <a:latin typeface="Calibri" panose="020F0502020204030204" pitchFamily="34" charset="0"/>
              </a:rPr>
              <a:t>Ensure consistency and scalability across valuation processes.</a:t>
            </a:r>
          </a:p>
          <a:p>
            <a:pPr marL="171450" lvl="1" indent="-171450" defTabSz="400050">
              <a:lnSpc>
                <a:spcPct val="113000"/>
              </a:lnSpc>
              <a:spcBef>
                <a:spcPts val="100"/>
              </a:spcBef>
              <a:spcAft>
                <a:spcPts val="100"/>
              </a:spcAft>
              <a:buClr>
                <a:srgbClr val="FF6503"/>
              </a:buClr>
              <a:buFont typeface="Arial" panose="020B0604020202020204" pitchFamily="34" charset="0"/>
              <a:buChar char="•"/>
              <a:defRPr/>
            </a:pPr>
            <a:r>
              <a:rPr lang="en-US" sz="1000">
                <a:solidFill>
                  <a:srgbClr val="000000"/>
                </a:solidFill>
                <a:latin typeface="Calibri" panose="020F0502020204030204" pitchFamily="34" charset="0"/>
              </a:rPr>
              <a:t>Multi-framework build and support (</a:t>
            </a:r>
            <a:r>
              <a:rPr lang="en-US" sz="1000">
                <a:solidFill>
                  <a:srgbClr val="FB4D0A"/>
                </a:solidFill>
                <a:latin typeface="Calibri" panose="020F0502020204030204" pitchFamily="34" charset="0"/>
              </a:rPr>
              <a:t>VM21, GAAP, DAC and local regulations</a:t>
            </a:r>
            <a:r>
              <a:rPr lang="en-US" sz="1000">
                <a:solidFill>
                  <a:srgbClr val="000000"/>
                </a:solidFill>
                <a:latin typeface="Calibri" panose="020F0502020204030204" pitchFamily="34" charset="0"/>
              </a:rPr>
              <a:t>)</a:t>
            </a:r>
          </a:p>
          <a:p>
            <a:pPr marL="171450" marR="0" lvl="1" indent="-171450" algn="l" defTabSz="400050" rtl="0" eaLnBrk="1" fontAlgn="auto" latinLnBrk="0" hangingPunct="1">
              <a:lnSpc>
                <a:spcPct val="113000"/>
              </a:lnSpc>
              <a:spcBef>
                <a:spcPts val="100"/>
              </a:spcBef>
              <a:spcAft>
                <a:spcPts val="100"/>
              </a:spcAft>
              <a:buClr>
                <a:srgbClr val="FF6503"/>
              </a:buClr>
              <a:buSzTx/>
              <a:buFont typeface="Arial" panose="020B0604020202020204" pitchFamily="34" charset="0"/>
              <a:buChar char="•"/>
              <a:tabLst/>
              <a:defRPr/>
            </a:pPr>
            <a:endParaRPr lang="en-US" sz="1000">
              <a:solidFill>
                <a:srgbClr val="000000"/>
              </a:solidFill>
              <a:latin typeface="Calibri" panose="020F0502020204030204" pitchFamily="34" charset="0"/>
            </a:endParaRPr>
          </a:p>
        </p:txBody>
      </p:sp>
      <p:sp>
        <p:nvSpPr>
          <p:cNvPr id="60" name="Rectangle 59">
            <a:extLst>
              <a:ext uri="{FF2B5EF4-FFF2-40B4-BE49-F238E27FC236}">
                <a16:creationId xmlns:a16="http://schemas.microsoft.com/office/drawing/2014/main" id="{6179A9EB-2EBC-816C-CA58-26BA2156D9CA}"/>
              </a:ext>
            </a:extLst>
          </p:cNvPr>
          <p:cNvSpPr/>
          <p:nvPr/>
        </p:nvSpPr>
        <p:spPr>
          <a:xfrm>
            <a:off x="2666024" y="2112172"/>
            <a:ext cx="2175418" cy="2592607"/>
          </a:xfrm>
          <a:prstGeom prst="rect">
            <a:avLst/>
          </a:prstGeom>
          <a:noFill/>
          <a:ln>
            <a:solidFill>
              <a:schemeClr val="accent2"/>
            </a:solidFill>
            <a:prstDash val="sysDash"/>
          </a:ln>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tIns="91440" rtlCol="0" anchor="t" anchorCtr="0"/>
          <a:lstStyle/>
          <a:p>
            <a:pPr marL="171450" marR="0" lvl="1" indent="-171450" algn="l" defTabSz="400050" rtl="0" eaLnBrk="1" fontAlgn="auto" latinLnBrk="0" hangingPunct="1">
              <a:lnSpc>
                <a:spcPct val="113000"/>
              </a:lnSpc>
              <a:spcBef>
                <a:spcPts val="100"/>
              </a:spcBef>
              <a:spcAft>
                <a:spcPts val="100"/>
              </a:spcAft>
              <a:buClr>
                <a:srgbClr val="FF6503"/>
              </a:buClr>
              <a:buSzTx/>
              <a:buFont typeface="Arial" panose="020B0604020202020204" pitchFamily="34" charset="0"/>
              <a:buChar char="•"/>
              <a:tabLst/>
              <a:defRPr/>
            </a:pPr>
            <a:r>
              <a:rPr kumimoji="0" lang="en-US" sz="101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Enhanced models to incorporate new products/variants and updated </a:t>
            </a:r>
            <a:r>
              <a:rPr lang="en-US" sz="1000">
                <a:solidFill>
                  <a:srgbClr val="FB4D0A"/>
                </a:solidFill>
                <a:latin typeface="Calibri" panose="020F0502020204030204" pitchFamily="34" charset="0"/>
              </a:rPr>
              <a:t>ALM strategies</a:t>
            </a:r>
            <a:r>
              <a:rPr kumimoji="0" lang="en-US" sz="1010" i="0" u="none" strike="noStrike" kern="1200" cap="none" spc="0" normalizeH="0" baseline="0" noProof="0">
                <a:ln>
                  <a:noFill/>
                </a:ln>
                <a:solidFill>
                  <a:srgbClr val="000000"/>
                </a:solidFill>
                <a:effectLst/>
                <a:uLnTx/>
                <a:uFillTx/>
                <a:latin typeface="Calibri" panose="020F0502020204030204" pitchFamily="34" charset="0"/>
                <a:ea typeface="+mn-ea"/>
                <a:cs typeface="+mn-cs"/>
              </a:rPr>
              <a:t>.</a:t>
            </a:r>
            <a:r>
              <a:rPr kumimoji="0" lang="en-US" sz="101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 </a:t>
            </a:r>
          </a:p>
          <a:p>
            <a:pPr marL="171450" marR="0" lvl="1" indent="-171450" algn="l" defTabSz="400050" rtl="0" eaLnBrk="1" fontAlgn="auto" latinLnBrk="0" hangingPunct="1">
              <a:lnSpc>
                <a:spcPct val="113000"/>
              </a:lnSpc>
              <a:spcBef>
                <a:spcPts val="100"/>
              </a:spcBef>
              <a:spcAft>
                <a:spcPts val="100"/>
              </a:spcAft>
              <a:buClr>
                <a:srgbClr val="FF6503"/>
              </a:buClr>
              <a:buSzTx/>
              <a:buFont typeface="Arial" panose="020B0604020202020204" pitchFamily="34" charset="0"/>
              <a:buChar char="•"/>
              <a:tabLst/>
              <a:defRPr/>
            </a:pPr>
            <a:r>
              <a:rPr lang="en-US" sz="1010">
                <a:solidFill>
                  <a:srgbClr val="000000"/>
                </a:solidFill>
                <a:latin typeface="Calibri" panose="020F0502020204030204" pitchFamily="34" charset="0"/>
              </a:rPr>
              <a:t>Improved reserves calculation accuracy and </a:t>
            </a:r>
            <a:r>
              <a:rPr lang="en-US" sz="1000">
                <a:solidFill>
                  <a:srgbClr val="FB4D0A"/>
                </a:solidFill>
                <a:latin typeface="Calibri" panose="020F0502020204030204" pitchFamily="34" charset="0"/>
              </a:rPr>
              <a:t>assumption loading</a:t>
            </a:r>
            <a:r>
              <a:rPr lang="en-US" sz="1010">
                <a:solidFill>
                  <a:srgbClr val="000000"/>
                </a:solidFill>
                <a:latin typeface="Calibri" panose="020F0502020204030204" pitchFamily="34" charset="0"/>
              </a:rPr>
              <a:t> processes.</a:t>
            </a:r>
          </a:p>
          <a:p>
            <a:pPr marL="171450" lvl="1" indent="-171450" defTabSz="400050">
              <a:lnSpc>
                <a:spcPct val="113000"/>
              </a:lnSpc>
              <a:spcBef>
                <a:spcPts val="100"/>
              </a:spcBef>
              <a:spcAft>
                <a:spcPts val="100"/>
              </a:spcAft>
              <a:buClr>
                <a:srgbClr val="FF6503"/>
              </a:buClr>
              <a:buFont typeface="Arial" panose="020B0604020202020204" pitchFamily="34" charset="0"/>
              <a:buChar char="•"/>
              <a:defRPr/>
            </a:pPr>
            <a:r>
              <a:rPr lang="en-US" sz="1000">
                <a:solidFill>
                  <a:srgbClr val="FB4D0A"/>
                </a:solidFill>
                <a:latin typeface="Calibri" panose="020F0502020204030204" pitchFamily="34" charset="0"/>
              </a:rPr>
              <a:t>Scenario </a:t>
            </a:r>
            <a:r>
              <a:rPr lang="en-US" sz="1050">
                <a:solidFill>
                  <a:srgbClr val="000000"/>
                </a:solidFill>
              </a:rPr>
              <a:t>Testing and </a:t>
            </a:r>
            <a:r>
              <a:rPr lang="en-US" sz="1000">
                <a:solidFill>
                  <a:srgbClr val="FB4D0A"/>
                </a:solidFill>
                <a:latin typeface="Calibri" panose="020F0502020204030204" pitchFamily="34" charset="0"/>
              </a:rPr>
              <a:t>dynamic lapse </a:t>
            </a:r>
            <a:r>
              <a:rPr lang="en-US" sz="1050">
                <a:solidFill>
                  <a:srgbClr val="000000"/>
                </a:solidFill>
              </a:rPr>
              <a:t>modeling</a:t>
            </a:r>
          </a:p>
          <a:p>
            <a:pPr marL="171450" lvl="1" indent="-171450" defTabSz="400050">
              <a:lnSpc>
                <a:spcPct val="113000"/>
              </a:lnSpc>
              <a:spcBef>
                <a:spcPts val="100"/>
              </a:spcBef>
              <a:spcAft>
                <a:spcPts val="100"/>
              </a:spcAft>
              <a:buClr>
                <a:srgbClr val="FF6503"/>
              </a:buClr>
              <a:buFont typeface="Arial" panose="020B0604020202020204" pitchFamily="34" charset="0"/>
              <a:buChar char="•"/>
              <a:defRPr/>
            </a:pPr>
            <a:r>
              <a:rPr lang="en-US" sz="1050">
                <a:solidFill>
                  <a:srgbClr val="000000"/>
                </a:solidFill>
              </a:rPr>
              <a:t>Assumption updates, testing, and validation</a:t>
            </a:r>
          </a:p>
          <a:p>
            <a:pPr marL="171450" lvl="1" indent="-171450" defTabSz="400050">
              <a:lnSpc>
                <a:spcPct val="113000"/>
              </a:lnSpc>
              <a:spcBef>
                <a:spcPts val="100"/>
              </a:spcBef>
              <a:spcAft>
                <a:spcPts val="100"/>
              </a:spcAft>
              <a:buClr>
                <a:srgbClr val="FF6503"/>
              </a:buClr>
              <a:buFont typeface="Arial" panose="020B0604020202020204" pitchFamily="34" charset="0"/>
              <a:buChar char="•"/>
              <a:defRPr/>
            </a:pPr>
            <a:r>
              <a:rPr lang="en-US" sz="1010">
                <a:solidFill>
                  <a:srgbClr val="000000"/>
                </a:solidFill>
                <a:latin typeface="Calibri" panose="020F0502020204030204" pitchFamily="34" charset="0"/>
              </a:rPr>
              <a:t>Update </a:t>
            </a:r>
            <a:r>
              <a:rPr lang="en-US" sz="1000">
                <a:solidFill>
                  <a:srgbClr val="FB4D0A"/>
                </a:solidFill>
                <a:latin typeface="Calibri" panose="020F0502020204030204" pitchFamily="34" charset="0"/>
              </a:rPr>
              <a:t>legacy variables with new code logic</a:t>
            </a:r>
            <a:r>
              <a:rPr lang="en-US" sz="1010">
                <a:solidFill>
                  <a:srgbClr val="000000"/>
                </a:solidFill>
                <a:latin typeface="Calibri" panose="020F0502020204030204" pitchFamily="34" charset="0"/>
              </a:rPr>
              <a:t>; assumption changes &amp; product feature evolution</a:t>
            </a:r>
          </a:p>
        </p:txBody>
      </p:sp>
      <p:sp>
        <p:nvSpPr>
          <p:cNvPr id="61" name="Rectangle 60">
            <a:extLst>
              <a:ext uri="{FF2B5EF4-FFF2-40B4-BE49-F238E27FC236}">
                <a16:creationId xmlns:a16="http://schemas.microsoft.com/office/drawing/2014/main" id="{F09B460F-5F68-EC34-91E9-29DE14858143}"/>
              </a:ext>
            </a:extLst>
          </p:cNvPr>
          <p:cNvSpPr/>
          <p:nvPr/>
        </p:nvSpPr>
        <p:spPr>
          <a:xfrm>
            <a:off x="7285869" y="2106017"/>
            <a:ext cx="2175423" cy="2598762"/>
          </a:xfrm>
          <a:prstGeom prst="rect">
            <a:avLst/>
          </a:prstGeom>
          <a:noFill/>
          <a:ln>
            <a:solidFill>
              <a:schemeClr val="accent2"/>
            </a:solidFill>
            <a:prstDash val="sysDash"/>
          </a:ln>
        </p:spPr>
        <p:style>
          <a:lnRef idx="2">
            <a:schemeClr val="lt1">
              <a:hueOff val="0"/>
              <a:satOff val="0"/>
              <a:lumOff val="0"/>
              <a:alphaOff val="0"/>
            </a:schemeClr>
          </a:lnRef>
          <a:fillRef idx="1">
            <a:scrgbClr r="0" g="0" b="0"/>
          </a:fillRef>
          <a:effectRef idx="0">
            <a:schemeClr val="accent5">
              <a:hueOff val="0"/>
              <a:satOff val="0"/>
              <a:lumOff val="0"/>
              <a:alphaOff val="0"/>
            </a:schemeClr>
          </a:effectRef>
          <a:fontRef idx="minor">
            <a:schemeClr val="lt1"/>
          </a:fontRef>
        </p:style>
        <p:txBody>
          <a:bodyPr tIns="91440" rtlCol="0" anchor="t" anchorCtr="0"/>
          <a:lstStyle/>
          <a:p>
            <a:pPr marL="171450" marR="0" lvl="1" indent="-171450" algn="l" defTabSz="400050" rtl="0" eaLnBrk="1" fontAlgn="auto" latinLnBrk="0" hangingPunct="1">
              <a:lnSpc>
                <a:spcPct val="113000"/>
              </a:lnSpc>
              <a:spcBef>
                <a:spcPts val="100"/>
              </a:spcBef>
              <a:spcAft>
                <a:spcPts val="100"/>
              </a:spcAft>
              <a:buClr>
                <a:srgbClr val="FF6503"/>
              </a:buClr>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Built </a:t>
            </a:r>
            <a:r>
              <a:rPr lang="en-US" sz="1000">
                <a:solidFill>
                  <a:srgbClr val="FB4D0A"/>
                </a:solidFill>
                <a:latin typeface="Calibri" panose="020F0502020204030204" pitchFamily="34" charset="0"/>
              </a:rPr>
              <a:t>economic</a:t>
            </a:r>
            <a:r>
              <a:rPr kumimoji="0" lang="en-US" sz="105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 and </a:t>
            </a:r>
            <a:r>
              <a:rPr lang="en-US" sz="1000">
                <a:solidFill>
                  <a:srgbClr val="FB4D0A"/>
                </a:solidFill>
                <a:latin typeface="Calibri" panose="020F0502020204030204" pitchFamily="34" charset="0"/>
              </a:rPr>
              <a:t>behavioral stress testing</a:t>
            </a:r>
            <a:r>
              <a:rPr kumimoji="0" lang="en-US" sz="105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 scenarios.</a:t>
            </a:r>
          </a:p>
          <a:p>
            <a:pPr marL="171450" marR="0" lvl="1" indent="-171450" algn="l" defTabSz="400050" rtl="0" eaLnBrk="1" fontAlgn="auto" latinLnBrk="0" hangingPunct="1">
              <a:lnSpc>
                <a:spcPct val="113000"/>
              </a:lnSpc>
              <a:spcBef>
                <a:spcPts val="100"/>
              </a:spcBef>
              <a:spcAft>
                <a:spcPts val="100"/>
              </a:spcAft>
              <a:buClr>
                <a:srgbClr val="FF6503"/>
              </a:buClr>
              <a:buSzTx/>
              <a:buFont typeface="Arial" panose="020B0604020202020204" pitchFamily="34" charset="0"/>
              <a:buChar char="•"/>
              <a:tabLst/>
              <a:defRPr/>
            </a:pPr>
            <a:r>
              <a:rPr lang="en-US" sz="1050">
                <a:solidFill>
                  <a:srgbClr val="000000"/>
                </a:solidFill>
                <a:latin typeface="Calibri" panose="020F0502020204030204" pitchFamily="34" charset="0"/>
              </a:rPr>
              <a:t>Provided insights into reserve sensitivity and </a:t>
            </a:r>
            <a:r>
              <a:rPr lang="en-US" sz="1000">
                <a:solidFill>
                  <a:srgbClr val="FB4D0A"/>
                </a:solidFill>
                <a:latin typeface="Calibri" panose="020F0502020204030204" pitchFamily="34" charset="0"/>
              </a:rPr>
              <a:t>capital adequacy </a:t>
            </a:r>
            <a:r>
              <a:rPr lang="en-US" sz="1050">
                <a:solidFill>
                  <a:srgbClr val="000000"/>
                </a:solidFill>
                <a:latin typeface="Calibri" panose="020F0502020204030204" pitchFamily="34" charset="0"/>
              </a:rPr>
              <a:t>planning.</a:t>
            </a:r>
          </a:p>
          <a:p>
            <a:pPr marL="171450" marR="0" lvl="1" indent="-171450" algn="l" defTabSz="400050" rtl="0" eaLnBrk="1" fontAlgn="auto" latinLnBrk="0" hangingPunct="1">
              <a:lnSpc>
                <a:spcPct val="113000"/>
              </a:lnSpc>
              <a:spcBef>
                <a:spcPts val="100"/>
              </a:spcBef>
              <a:spcAft>
                <a:spcPts val="100"/>
              </a:spcAft>
              <a:buClr>
                <a:srgbClr val="FF6503"/>
              </a:buClr>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Supported </a:t>
            </a:r>
            <a:r>
              <a:rPr lang="en-US" sz="1000">
                <a:solidFill>
                  <a:srgbClr val="FB4D0A"/>
                </a:solidFill>
                <a:latin typeface="Calibri" panose="020F0502020204030204" pitchFamily="34" charset="0"/>
              </a:rPr>
              <a:t>annual assumption </a:t>
            </a:r>
            <a:r>
              <a:rPr kumimoji="0" lang="en-US" sz="105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unlocking and </a:t>
            </a:r>
            <a:r>
              <a:rPr lang="en-US" sz="1050">
                <a:solidFill>
                  <a:srgbClr val="000000"/>
                </a:solidFill>
                <a:latin typeface="Calibri" panose="020F0502020204030204" pitchFamily="34" charset="0"/>
              </a:rPr>
              <a:t>ad-hoc </a:t>
            </a:r>
            <a:r>
              <a:rPr lang="en-US" sz="1000">
                <a:solidFill>
                  <a:srgbClr val="FB4D0A"/>
                </a:solidFill>
                <a:latin typeface="Calibri" panose="020F0502020204030204" pitchFamily="34" charset="0"/>
              </a:rPr>
              <a:t>ALM stress testing</a:t>
            </a:r>
            <a:r>
              <a:rPr lang="en-US" sz="1050">
                <a:solidFill>
                  <a:srgbClr val="000000"/>
                </a:solidFill>
                <a:latin typeface="Calibri" panose="020F0502020204030204" pitchFamily="34" charset="0"/>
              </a:rPr>
              <a:t> requests. </a:t>
            </a:r>
          </a:p>
          <a:p>
            <a:pPr marL="171450" lvl="1" indent="-171450" defTabSz="400050">
              <a:lnSpc>
                <a:spcPct val="113000"/>
              </a:lnSpc>
              <a:spcBef>
                <a:spcPts val="100"/>
              </a:spcBef>
              <a:spcAft>
                <a:spcPts val="100"/>
              </a:spcAft>
              <a:buClr>
                <a:srgbClr val="FF6503"/>
              </a:buClr>
              <a:buFont typeface="Arial" panose="020B0604020202020204" pitchFamily="34" charset="0"/>
              <a:buChar char="•"/>
              <a:defRPr/>
            </a:pPr>
            <a:r>
              <a:rPr lang="en-US" sz="1050">
                <a:solidFill>
                  <a:srgbClr val="000000"/>
                </a:solidFill>
                <a:latin typeface="Calibri" panose="020F0502020204030204" pitchFamily="34" charset="0"/>
              </a:rPr>
              <a:t>Monthly/quarterly/annual valuation reporting for </a:t>
            </a:r>
            <a:r>
              <a:rPr lang="en-US" sz="1000">
                <a:solidFill>
                  <a:srgbClr val="FB4D0A"/>
                </a:solidFill>
                <a:latin typeface="Calibri" panose="020F0502020204030204" pitchFamily="34" charset="0"/>
              </a:rPr>
              <a:t>Life and Annuity</a:t>
            </a:r>
            <a:r>
              <a:rPr lang="en-US" sz="1050">
                <a:solidFill>
                  <a:srgbClr val="000000"/>
                </a:solidFill>
                <a:latin typeface="Calibri" panose="020F0502020204030204" pitchFamily="34" charset="0"/>
              </a:rPr>
              <a:t> products</a:t>
            </a:r>
          </a:p>
        </p:txBody>
      </p:sp>
      <p:sp>
        <p:nvSpPr>
          <p:cNvPr id="62" name="Rectangle 61">
            <a:extLst>
              <a:ext uri="{FF2B5EF4-FFF2-40B4-BE49-F238E27FC236}">
                <a16:creationId xmlns:a16="http://schemas.microsoft.com/office/drawing/2014/main" id="{C23FAFCB-5187-CF59-7457-5C990C30D593}"/>
              </a:ext>
            </a:extLst>
          </p:cNvPr>
          <p:cNvSpPr/>
          <p:nvPr/>
        </p:nvSpPr>
        <p:spPr>
          <a:xfrm>
            <a:off x="9615533" y="2099654"/>
            <a:ext cx="2175414" cy="2605125"/>
          </a:xfrm>
          <a:prstGeom prst="rect">
            <a:avLst/>
          </a:prstGeom>
          <a:noFill/>
          <a:ln>
            <a:solidFill>
              <a:schemeClr val="accent2"/>
            </a:solidFill>
            <a:prstDash val="sysDash"/>
          </a:ln>
        </p:spPr>
        <p:style>
          <a:lnRef idx="2">
            <a:schemeClr val="accent3"/>
          </a:lnRef>
          <a:fillRef idx="1">
            <a:schemeClr val="lt1"/>
          </a:fillRef>
          <a:effectRef idx="0">
            <a:schemeClr val="accent3"/>
          </a:effectRef>
          <a:fontRef idx="minor">
            <a:schemeClr val="dk1"/>
          </a:fontRef>
        </p:style>
        <p:txBody>
          <a:bodyPr tIns="91440" rtlCol="0" anchor="t" anchorCtr="0"/>
          <a:lstStyle/>
          <a:p>
            <a:pPr marL="171450" lvl="1" indent="-171450" defTabSz="400050">
              <a:lnSpc>
                <a:spcPct val="113000"/>
              </a:lnSpc>
              <a:spcBef>
                <a:spcPts val="100"/>
              </a:spcBef>
              <a:spcAft>
                <a:spcPts val="100"/>
              </a:spcAft>
              <a:buClr>
                <a:srgbClr val="FF6503"/>
              </a:buClr>
              <a:buFont typeface="Arial" panose="020B0604020202020204" pitchFamily="34" charset="0"/>
              <a:buChar char="•"/>
              <a:defRPr/>
            </a:pPr>
            <a:r>
              <a:rPr lang="en-US" sz="1000">
                <a:solidFill>
                  <a:srgbClr val="FB4D0A"/>
                </a:solidFill>
                <a:latin typeface="Calibri" panose="020F0502020204030204" pitchFamily="34" charset="0"/>
              </a:rPr>
              <a:t>SQL-based policy transformation </a:t>
            </a:r>
            <a:r>
              <a:rPr lang="en-US" sz="1050">
                <a:solidFill>
                  <a:srgbClr val="000000"/>
                </a:solidFill>
                <a:latin typeface="Calibri" panose="020F0502020204030204" pitchFamily="34" charset="0"/>
              </a:rPr>
              <a:t>models for streamlined </a:t>
            </a:r>
            <a:r>
              <a:rPr lang="en-US" sz="1000">
                <a:solidFill>
                  <a:srgbClr val="FB4D0A"/>
                </a:solidFill>
                <a:latin typeface="Calibri" panose="020F0502020204030204" pitchFamily="34" charset="0"/>
              </a:rPr>
              <a:t>data management.</a:t>
            </a:r>
          </a:p>
          <a:p>
            <a:pPr marL="171450" lvl="1" indent="-171450" defTabSz="400050">
              <a:lnSpc>
                <a:spcPct val="113000"/>
              </a:lnSpc>
              <a:spcBef>
                <a:spcPts val="100"/>
              </a:spcBef>
              <a:spcAft>
                <a:spcPts val="100"/>
              </a:spcAft>
              <a:buClr>
                <a:srgbClr val="FF6503"/>
              </a:buClr>
              <a:buFont typeface="Arial" panose="020B0604020202020204" pitchFamily="34" charset="0"/>
              <a:buChar char="•"/>
              <a:defRPr/>
            </a:pPr>
            <a:r>
              <a:rPr lang="en-US" sz="1000">
                <a:solidFill>
                  <a:srgbClr val="FB4D0A"/>
                </a:solidFill>
                <a:latin typeface="Calibri" panose="020F0502020204030204" pitchFamily="34" charset="0"/>
              </a:rPr>
              <a:t>E-Link job automation </a:t>
            </a:r>
            <a:r>
              <a:rPr lang="en-US" sz="1050">
                <a:solidFill>
                  <a:srgbClr val="000000"/>
                </a:solidFill>
              </a:rPr>
              <a:t>and workflow optimization.</a:t>
            </a:r>
          </a:p>
          <a:p>
            <a:pPr marL="171450" lvl="1" indent="-171450" defTabSz="400050">
              <a:lnSpc>
                <a:spcPct val="113000"/>
              </a:lnSpc>
              <a:spcBef>
                <a:spcPts val="100"/>
              </a:spcBef>
              <a:spcAft>
                <a:spcPts val="100"/>
              </a:spcAft>
              <a:buClr>
                <a:srgbClr val="FF6503"/>
              </a:buClr>
              <a:buFont typeface="Arial" panose="020B0604020202020204" pitchFamily="34" charset="0"/>
              <a:buChar char="•"/>
              <a:defRPr/>
            </a:pPr>
            <a:r>
              <a:rPr lang="en-US" sz="1050">
                <a:solidFill>
                  <a:srgbClr val="000000"/>
                </a:solidFill>
              </a:rPr>
              <a:t>Support for quarterly unlocking and assumption review cycles.</a:t>
            </a:r>
          </a:p>
          <a:p>
            <a:pPr marL="171450" lvl="1" indent="-171450" defTabSz="400050">
              <a:lnSpc>
                <a:spcPct val="113000"/>
              </a:lnSpc>
              <a:spcBef>
                <a:spcPts val="100"/>
              </a:spcBef>
              <a:spcAft>
                <a:spcPts val="100"/>
              </a:spcAft>
              <a:buClr>
                <a:srgbClr val="FF6503"/>
              </a:buClr>
              <a:buFont typeface="Arial" panose="020B0604020202020204" pitchFamily="34" charset="0"/>
              <a:buChar char="•"/>
              <a:defRPr/>
            </a:pPr>
            <a:r>
              <a:rPr lang="en-US" sz="1000">
                <a:solidFill>
                  <a:srgbClr val="FB4D0A"/>
                </a:solidFill>
                <a:latin typeface="Calibri" panose="020F0502020204030204" pitchFamily="34" charset="0"/>
              </a:rPr>
              <a:t>Automated</a:t>
            </a:r>
            <a:r>
              <a:rPr lang="en-US" sz="1050" b="1">
                <a:solidFill>
                  <a:srgbClr val="000000"/>
                </a:solidFill>
              </a:rPr>
              <a:t> </a:t>
            </a:r>
            <a:r>
              <a:rPr lang="en-US" sz="1050">
                <a:solidFill>
                  <a:srgbClr val="000000"/>
                </a:solidFill>
              </a:rPr>
              <a:t>reporting, data transformation, and reconciliation.</a:t>
            </a:r>
          </a:p>
          <a:p>
            <a:pPr marL="171450" lvl="1" indent="-171450" defTabSz="400050">
              <a:lnSpc>
                <a:spcPct val="113000"/>
              </a:lnSpc>
              <a:spcBef>
                <a:spcPts val="100"/>
              </a:spcBef>
              <a:spcAft>
                <a:spcPts val="100"/>
              </a:spcAft>
              <a:buClr>
                <a:srgbClr val="FF6503"/>
              </a:buClr>
              <a:buFont typeface="Arial" panose="020B0604020202020204" pitchFamily="34" charset="0"/>
              <a:buChar char="•"/>
              <a:defRPr/>
            </a:pPr>
            <a:r>
              <a:rPr lang="en-US" sz="1050">
                <a:solidFill>
                  <a:srgbClr val="000000"/>
                </a:solidFill>
              </a:rPr>
              <a:t>SQL and </a:t>
            </a:r>
            <a:r>
              <a:rPr lang="en-US" sz="1000">
                <a:solidFill>
                  <a:srgbClr val="FB4D0A"/>
                </a:solidFill>
                <a:latin typeface="Calibri" panose="020F0502020204030204" pitchFamily="34" charset="0"/>
              </a:rPr>
              <a:t>Python scripting </a:t>
            </a:r>
            <a:r>
              <a:rPr lang="en-US" sz="1050">
                <a:solidFill>
                  <a:srgbClr val="000000"/>
                </a:solidFill>
              </a:rPr>
              <a:t>and Excel-based validation tools.</a:t>
            </a:r>
          </a:p>
          <a:p>
            <a:pPr marL="171450" marR="0" lvl="1" indent="-171450" algn="l" defTabSz="400050" rtl="0" eaLnBrk="1" fontAlgn="auto" latinLnBrk="0" hangingPunct="1">
              <a:lnSpc>
                <a:spcPct val="113000"/>
              </a:lnSpc>
              <a:spcBef>
                <a:spcPts val="100"/>
              </a:spcBef>
              <a:spcAft>
                <a:spcPts val="100"/>
              </a:spcAft>
              <a:buClr>
                <a:srgbClr val="FF6503"/>
              </a:buClr>
              <a:buSzTx/>
              <a:buFont typeface="Arial" panose="020B0604020202020204" pitchFamily="34" charset="0"/>
              <a:buChar char="•"/>
              <a:tabLst/>
              <a:defRPr/>
            </a:pPr>
            <a:endParaRPr lang="en-US" sz="1050">
              <a:solidFill>
                <a:srgbClr val="000000"/>
              </a:solidFill>
              <a:latin typeface="Calibri" panose="020F0502020204030204" pitchFamily="34" charset="0"/>
            </a:endParaRPr>
          </a:p>
          <a:p>
            <a:pPr marL="171450" marR="0" lvl="1" indent="-171450" algn="l" defTabSz="400050" rtl="0" eaLnBrk="1" fontAlgn="auto" latinLnBrk="0" hangingPunct="1">
              <a:lnSpc>
                <a:spcPct val="113000"/>
              </a:lnSpc>
              <a:spcBef>
                <a:spcPts val="100"/>
              </a:spcBef>
              <a:spcAft>
                <a:spcPts val="100"/>
              </a:spcAft>
              <a:buClr>
                <a:srgbClr val="FF6503"/>
              </a:buClr>
              <a:buSzTx/>
              <a:buFont typeface="Arial" panose="020B0604020202020204" pitchFamily="34" charset="0"/>
              <a:buChar char="•"/>
              <a:tabLst/>
              <a:defRPr/>
            </a:pPr>
            <a:endParaRPr kumimoji="0" lang="en-US" sz="105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cxnSp>
        <p:nvCxnSpPr>
          <p:cNvPr id="83" name="Straight Connector 82">
            <a:extLst>
              <a:ext uri="{FF2B5EF4-FFF2-40B4-BE49-F238E27FC236}">
                <a16:creationId xmlns:a16="http://schemas.microsoft.com/office/drawing/2014/main" id="{CF3AAEDF-D4FE-EA3C-23FC-C81C7F25DCC9}"/>
              </a:ext>
            </a:extLst>
          </p:cNvPr>
          <p:cNvCxnSpPr>
            <a:cxnSpLocks/>
          </p:cNvCxnSpPr>
          <p:nvPr/>
        </p:nvCxnSpPr>
        <p:spPr>
          <a:xfrm>
            <a:off x="1413833" y="1892266"/>
            <a:ext cx="0" cy="222776"/>
          </a:xfrm>
          <a:prstGeom prst="line">
            <a:avLst/>
          </a:prstGeom>
          <a:ln w="12700">
            <a:solidFill>
              <a:schemeClr val="accent3"/>
            </a:solidFill>
            <a:tailEnd type="oval"/>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444FA4A7-62F4-CB65-7F9E-97EB673388DB}"/>
              </a:ext>
            </a:extLst>
          </p:cNvPr>
          <p:cNvSpPr txBox="1"/>
          <p:nvPr/>
        </p:nvSpPr>
        <p:spPr>
          <a:xfrm>
            <a:off x="4966101" y="1490332"/>
            <a:ext cx="2175421" cy="457200"/>
          </a:xfrm>
          <a:prstGeom prst="rect">
            <a:avLst/>
          </a:prstGeom>
          <a:solidFill>
            <a:schemeClr val="accent3"/>
          </a:solidFill>
          <a:ln/>
          <a:effectLst/>
        </p:spPr>
        <p:style>
          <a:lnRef idx="0">
            <a:schemeClr val="accent1"/>
          </a:lnRef>
          <a:fillRef idx="3">
            <a:schemeClr val="accent1"/>
          </a:fillRef>
          <a:effectRef idx="3">
            <a:schemeClr val="accent1"/>
          </a:effectRef>
          <a:fontRef idx="minor">
            <a:schemeClr val="lt1"/>
          </a:fontRef>
        </p:style>
        <p:txBody>
          <a:bodyPr spcFirstLastPara="0" vert="horz" wrap="none" lIns="0" tIns="0" rIns="0" bIns="0" numCol="1" spcCol="1270" anchor="ctr" anchorCtr="1">
            <a:noAutofit/>
          </a:bodyPr>
          <a:lstStyle/>
          <a:p>
            <a:pPr marL="0" marR="0" lvl="0" indent="0" algn="ctr" defTabSz="533400" rtl="0" eaLnBrk="1" fontAlgn="auto" latinLnBrk="0" hangingPunct="1">
              <a:lnSpc>
                <a:spcPct val="113000"/>
              </a:lnSpc>
              <a:spcBef>
                <a:spcPct val="0"/>
              </a:spcBef>
              <a:buClrTx/>
              <a:buSzTx/>
              <a:buFontTx/>
              <a:buNone/>
              <a:tabLst/>
              <a:defRPr/>
            </a:pPr>
            <a:r>
              <a:rPr kumimoji="0" lang="en-US" sz="1300" b="1" i="0" u="none" strike="noStrike" kern="1200" cap="none" spc="0" normalizeH="0" baseline="0" noProof="0">
                <a:ln>
                  <a:noFill/>
                </a:ln>
                <a:solidFill>
                  <a:srgbClr val="FFFFFF"/>
                </a:solidFill>
                <a:effectLst/>
                <a:uLnTx/>
                <a:uFillTx/>
                <a:latin typeface="Calibri" panose="020F0502020204030204" pitchFamily="34" charset="0"/>
                <a:ea typeface="+mn-ea"/>
                <a:cs typeface="+mn-cs"/>
              </a:rPr>
              <a:t>Model Review &amp; </a:t>
            </a:r>
          </a:p>
          <a:p>
            <a:pPr marL="0" marR="0" lvl="0" indent="0" algn="ctr" defTabSz="533400" rtl="0" eaLnBrk="1" fontAlgn="auto" latinLnBrk="0" hangingPunct="1">
              <a:lnSpc>
                <a:spcPct val="113000"/>
              </a:lnSpc>
              <a:spcBef>
                <a:spcPct val="0"/>
              </a:spcBef>
              <a:spcAft>
                <a:spcPct val="3500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alibri" panose="020F0502020204030204" pitchFamily="34" charset="0"/>
                <a:ea typeface="+mn-ea"/>
                <a:cs typeface="+mn-cs"/>
              </a:rPr>
              <a:t>Governance</a:t>
            </a:r>
          </a:p>
        </p:txBody>
      </p:sp>
      <p:sp>
        <p:nvSpPr>
          <p:cNvPr id="89" name="TextBox 88">
            <a:extLst>
              <a:ext uri="{FF2B5EF4-FFF2-40B4-BE49-F238E27FC236}">
                <a16:creationId xmlns:a16="http://schemas.microsoft.com/office/drawing/2014/main" id="{032264CD-42E2-98B3-94CA-20DB98CDB164}"/>
              </a:ext>
            </a:extLst>
          </p:cNvPr>
          <p:cNvSpPr txBox="1"/>
          <p:nvPr/>
        </p:nvSpPr>
        <p:spPr>
          <a:xfrm>
            <a:off x="368300" y="1485802"/>
            <a:ext cx="2175423" cy="457200"/>
          </a:xfrm>
          <a:prstGeom prst="rect">
            <a:avLst/>
          </a:prstGeom>
          <a:solidFill>
            <a:schemeClr val="accent3"/>
          </a:solidFill>
          <a:ln/>
          <a:effectLst/>
        </p:spPr>
        <p:style>
          <a:lnRef idx="0">
            <a:schemeClr val="accent1"/>
          </a:lnRef>
          <a:fillRef idx="3">
            <a:schemeClr val="accent1"/>
          </a:fillRef>
          <a:effectRef idx="3">
            <a:schemeClr val="accent1"/>
          </a:effectRef>
          <a:fontRef idx="minor">
            <a:schemeClr val="lt1"/>
          </a:fontRef>
        </p:style>
        <p:txBody>
          <a:bodyPr spcFirstLastPara="0" vert="horz" wrap="none" lIns="0" tIns="0" rIns="0" bIns="0" numCol="1" spcCol="1270" anchor="ctr" anchorCtr="1">
            <a:noAutofit/>
          </a:bodyPr>
          <a:lstStyle/>
          <a:p>
            <a:pPr marL="0" marR="0" lvl="0" indent="0" algn="ctr" defTabSz="533400" rtl="0" eaLnBrk="1" fontAlgn="auto" latinLnBrk="0" hangingPunct="1">
              <a:lnSpc>
                <a:spcPct val="113000"/>
              </a:lnSpc>
              <a:spcBef>
                <a:spcPct val="0"/>
              </a:spcBef>
              <a:buClrTx/>
              <a:buSzTx/>
              <a:buFontTx/>
              <a:buNone/>
              <a:tabLst/>
              <a:defRPr/>
            </a:pPr>
            <a:r>
              <a:rPr kumimoji="0" lang="en-US" sz="1300" b="1" i="0" u="none" strike="noStrike" kern="1200" cap="none" spc="0" normalizeH="0" baseline="0" noProof="0">
                <a:ln>
                  <a:noFill/>
                </a:ln>
                <a:solidFill>
                  <a:srgbClr val="FFFFFF"/>
                </a:solidFill>
                <a:effectLst/>
                <a:uLnTx/>
                <a:uFillTx/>
                <a:latin typeface="Calibri" panose="020F0502020204030204" pitchFamily="34" charset="0"/>
                <a:ea typeface="+mn-ea"/>
                <a:cs typeface="+mn-cs"/>
              </a:rPr>
              <a:t>Model Development &amp; </a:t>
            </a:r>
          </a:p>
          <a:p>
            <a:pPr marL="0" marR="0" lvl="0" indent="0" algn="ctr" defTabSz="533400" rtl="0" eaLnBrk="1" fontAlgn="auto" latinLnBrk="0" hangingPunct="1">
              <a:lnSpc>
                <a:spcPct val="113000"/>
              </a:lnSpc>
              <a:spcBef>
                <a:spcPct val="0"/>
              </a:spcBef>
              <a:buClrTx/>
              <a:buSzTx/>
              <a:buFontTx/>
              <a:buNone/>
              <a:tabLst/>
              <a:defRPr/>
            </a:pPr>
            <a:r>
              <a:rPr kumimoji="0" lang="en-US" sz="1300" b="1" i="0" u="none" strike="noStrike" kern="1200" cap="none" spc="0" normalizeH="0" baseline="0" noProof="0">
                <a:ln>
                  <a:noFill/>
                </a:ln>
                <a:solidFill>
                  <a:srgbClr val="FFFFFF"/>
                </a:solidFill>
                <a:effectLst/>
                <a:uLnTx/>
                <a:uFillTx/>
                <a:latin typeface="Calibri" panose="020F0502020204030204" pitchFamily="34" charset="0"/>
                <a:ea typeface="+mn-ea"/>
                <a:cs typeface="+mn-cs"/>
              </a:rPr>
              <a:t>Integration</a:t>
            </a:r>
          </a:p>
        </p:txBody>
      </p:sp>
      <p:sp>
        <p:nvSpPr>
          <p:cNvPr id="90" name="TextBox 89">
            <a:extLst>
              <a:ext uri="{FF2B5EF4-FFF2-40B4-BE49-F238E27FC236}">
                <a16:creationId xmlns:a16="http://schemas.microsoft.com/office/drawing/2014/main" id="{159C6C9D-D1FA-A0A1-218E-19B2975E9B5C}"/>
              </a:ext>
            </a:extLst>
          </p:cNvPr>
          <p:cNvSpPr txBox="1"/>
          <p:nvPr/>
        </p:nvSpPr>
        <p:spPr>
          <a:xfrm>
            <a:off x="2666024" y="1485802"/>
            <a:ext cx="2175424" cy="457200"/>
          </a:xfrm>
          <a:prstGeom prst="rect">
            <a:avLst/>
          </a:prstGeom>
          <a:solidFill>
            <a:schemeClr val="accent3"/>
          </a:solidFill>
          <a:ln/>
          <a:effectLst/>
        </p:spPr>
        <p:style>
          <a:lnRef idx="0">
            <a:schemeClr val="accent1"/>
          </a:lnRef>
          <a:fillRef idx="3">
            <a:schemeClr val="accent1"/>
          </a:fillRef>
          <a:effectRef idx="3">
            <a:schemeClr val="accent1"/>
          </a:effectRef>
          <a:fontRef idx="minor">
            <a:schemeClr val="lt1"/>
          </a:fontRef>
        </p:style>
        <p:txBody>
          <a:bodyPr spcFirstLastPara="0" vert="horz" wrap="none" lIns="0" tIns="0" rIns="0" bIns="0" numCol="1" spcCol="1270" anchor="ctr" anchorCtr="1">
            <a:noAutofit/>
          </a:bodyPr>
          <a:lstStyle/>
          <a:p>
            <a:pPr marL="0" marR="0" lvl="0" indent="0" algn="ctr" defTabSz="533400" rtl="0" eaLnBrk="1" fontAlgn="auto" latinLnBrk="0" hangingPunct="1">
              <a:lnSpc>
                <a:spcPct val="113000"/>
              </a:lnSpc>
              <a:spcBef>
                <a:spcPct val="0"/>
              </a:spcBef>
              <a:spcAft>
                <a:spcPct val="35000"/>
              </a:spcAft>
              <a:buClrTx/>
              <a:buSzTx/>
              <a:buFontTx/>
              <a:buNone/>
              <a:tabLst/>
              <a:defRPr/>
            </a:pPr>
            <a:r>
              <a:rPr kumimoji="0" lang="en-US" sz="1300" b="1" i="0" u="none" strike="noStrike" kern="1200" cap="none" spc="0" normalizeH="0" baseline="0" noProof="0">
                <a:ln>
                  <a:noFill/>
                </a:ln>
                <a:solidFill>
                  <a:srgbClr val="FFFFFF"/>
                </a:solidFill>
                <a:effectLst/>
                <a:uLnTx/>
                <a:uFillTx/>
                <a:latin typeface="Calibri" panose="020F0502020204030204" pitchFamily="34" charset="0"/>
                <a:ea typeface="+mn-ea"/>
                <a:cs typeface="+mn-cs"/>
              </a:rPr>
              <a:t>Model Enhancement</a:t>
            </a:r>
          </a:p>
        </p:txBody>
      </p:sp>
      <p:sp>
        <p:nvSpPr>
          <p:cNvPr id="91" name="TextBox 90">
            <a:extLst>
              <a:ext uri="{FF2B5EF4-FFF2-40B4-BE49-F238E27FC236}">
                <a16:creationId xmlns:a16="http://schemas.microsoft.com/office/drawing/2014/main" id="{69A6FBE0-3F94-0BF4-7262-623A1528FB96}"/>
              </a:ext>
            </a:extLst>
          </p:cNvPr>
          <p:cNvSpPr txBox="1"/>
          <p:nvPr/>
        </p:nvSpPr>
        <p:spPr>
          <a:xfrm>
            <a:off x="7296447" y="1490332"/>
            <a:ext cx="2164843" cy="457200"/>
          </a:xfrm>
          <a:prstGeom prst="rect">
            <a:avLst/>
          </a:prstGeom>
          <a:solidFill>
            <a:schemeClr val="accent3"/>
          </a:solidFill>
          <a:ln/>
          <a:effectLst/>
        </p:spPr>
        <p:style>
          <a:lnRef idx="0">
            <a:schemeClr val="accent1"/>
          </a:lnRef>
          <a:fillRef idx="3">
            <a:schemeClr val="accent1"/>
          </a:fillRef>
          <a:effectRef idx="3">
            <a:schemeClr val="accent1"/>
          </a:effectRef>
          <a:fontRef idx="minor">
            <a:schemeClr val="lt1"/>
          </a:fontRef>
        </p:style>
        <p:txBody>
          <a:bodyPr spcFirstLastPara="0" vert="horz" wrap="none" lIns="0" tIns="0" rIns="0" bIns="0" numCol="1" spcCol="1270" anchor="ctr" anchorCtr="1">
            <a:noAutofit/>
          </a:bodyPr>
          <a:lstStyle/>
          <a:p>
            <a:pPr lvl="0" algn="ctr" defTabSz="533400">
              <a:lnSpc>
                <a:spcPct val="113000"/>
              </a:lnSpc>
              <a:spcBef>
                <a:spcPct val="0"/>
              </a:spcBef>
              <a:spcAft>
                <a:spcPct val="35000"/>
              </a:spcAft>
              <a:defRPr/>
            </a:pPr>
            <a:r>
              <a:rPr lang="en-US" sz="1300" b="1">
                <a:solidFill>
                  <a:srgbClr val="FFFFFF"/>
                </a:solidFill>
                <a:latin typeface="Calibri" panose="020F0502020204030204" pitchFamily="34" charset="0"/>
              </a:rPr>
              <a:t>Regulatory Reporting &amp; </a:t>
            </a:r>
          </a:p>
          <a:p>
            <a:pPr lvl="0" algn="ctr" defTabSz="533400">
              <a:lnSpc>
                <a:spcPct val="113000"/>
              </a:lnSpc>
              <a:spcBef>
                <a:spcPct val="0"/>
              </a:spcBef>
              <a:spcAft>
                <a:spcPct val="35000"/>
              </a:spcAft>
              <a:defRPr/>
            </a:pPr>
            <a:r>
              <a:rPr lang="en-US" sz="1300" b="1">
                <a:solidFill>
                  <a:srgbClr val="FFFFFF"/>
                </a:solidFill>
                <a:latin typeface="Calibri" panose="020F0502020204030204" pitchFamily="34" charset="0"/>
              </a:rPr>
              <a:t>Cash Flow Testing</a:t>
            </a:r>
            <a:endParaRPr kumimoji="0" lang="en-US" sz="1300" b="1"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92" name="TextBox 91">
            <a:extLst>
              <a:ext uri="{FF2B5EF4-FFF2-40B4-BE49-F238E27FC236}">
                <a16:creationId xmlns:a16="http://schemas.microsoft.com/office/drawing/2014/main" id="{8112294A-4A7F-A844-FB4F-EA21032434D4}"/>
              </a:ext>
            </a:extLst>
          </p:cNvPr>
          <p:cNvSpPr txBox="1"/>
          <p:nvPr/>
        </p:nvSpPr>
        <p:spPr>
          <a:xfrm>
            <a:off x="9615532" y="1490332"/>
            <a:ext cx="2175414" cy="457200"/>
          </a:xfrm>
          <a:prstGeom prst="rect">
            <a:avLst/>
          </a:prstGeom>
          <a:solidFill>
            <a:schemeClr val="accent3"/>
          </a:solidFill>
          <a:ln/>
          <a:effectLst/>
        </p:spPr>
        <p:style>
          <a:lnRef idx="0">
            <a:schemeClr val="accent1"/>
          </a:lnRef>
          <a:fillRef idx="3">
            <a:schemeClr val="accent1"/>
          </a:fillRef>
          <a:effectRef idx="3">
            <a:schemeClr val="accent1"/>
          </a:effectRef>
          <a:fontRef idx="minor">
            <a:schemeClr val="lt1"/>
          </a:fontRef>
        </p:style>
        <p:txBody>
          <a:bodyPr spcFirstLastPara="0" vert="horz" wrap="none" lIns="0" tIns="0" rIns="0" bIns="0" numCol="1" spcCol="1270" anchor="ctr" anchorCtr="1">
            <a:noAutofit/>
          </a:bodyPr>
          <a:lstStyle/>
          <a:p>
            <a:pPr marL="0" marR="0" lvl="0" indent="0" algn="ctr" defTabSz="533400" rtl="0" eaLnBrk="1" fontAlgn="auto" latinLnBrk="0" hangingPunct="1">
              <a:lnSpc>
                <a:spcPct val="113000"/>
              </a:lnSpc>
              <a:spcBef>
                <a:spcPct val="0"/>
              </a:spcBef>
              <a:spcAft>
                <a:spcPct val="35000"/>
              </a:spcAft>
              <a:buClrTx/>
              <a:buSzTx/>
              <a:buFontTx/>
              <a:buNone/>
              <a:tabLst/>
              <a:defRPr/>
            </a:pPr>
            <a:r>
              <a:rPr lang="en-US" sz="1300" b="1">
                <a:solidFill>
                  <a:srgbClr val="FFFFFF"/>
                </a:solidFill>
                <a:latin typeface="Calibri" panose="020F0502020204030204" pitchFamily="34" charset="0"/>
              </a:rPr>
              <a:t>Model Optimization</a:t>
            </a:r>
            <a:endParaRPr kumimoji="0" lang="en-US" sz="1300" b="1"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cxnSp>
        <p:nvCxnSpPr>
          <p:cNvPr id="20" name="Straight Connector 19">
            <a:extLst>
              <a:ext uri="{FF2B5EF4-FFF2-40B4-BE49-F238E27FC236}">
                <a16:creationId xmlns:a16="http://schemas.microsoft.com/office/drawing/2014/main" id="{8AE25EDF-9280-BB1D-82D5-A7CD6FA01C84}"/>
              </a:ext>
            </a:extLst>
          </p:cNvPr>
          <p:cNvCxnSpPr>
            <a:cxnSpLocks/>
          </p:cNvCxnSpPr>
          <p:nvPr/>
        </p:nvCxnSpPr>
        <p:spPr>
          <a:xfrm>
            <a:off x="3732311" y="1880079"/>
            <a:ext cx="0" cy="222776"/>
          </a:xfrm>
          <a:prstGeom prst="line">
            <a:avLst/>
          </a:prstGeom>
          <a:ln w="12700">
            <a:solidFill>
              <a:schemeClr val="accent3"/>
            </a:solidFill>
            <a:tailEnd type="ova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8C3656A-A8AA-0EBE-38DB-9EAA148535F0}"/>
              </a:ext>
            </a:extLst>
          </p:cNvPr>
          <p:cNvCxnSpPr>
            <a:cxnSpLocks/>
          </p:cNvCxnSpPr>
          <p:nvPr/>
        </p:nvCxnSpPr>
        <p:spPr>
          <a:xfrm>
            <a:off x="6094919" y="1870521"/>
            <a:ext cx="0" cy="222776"/>
          </a:xfrm>
          <a:prstGeom prst="line">
            <a:avLst/>
          </a:prstGeom>
          <a:ln w="12700">
            <a:solidFill>
              <a:schemeClr val="accent3"/>
            </a:solidFill>
            <a:tailEnd type="ova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BA29503-A79E-1D76-1BC8-B6EBED53EDC9}"/>
              </a:ext>
            </a:extLst>
          </p:cNvPr>
          <p:cNvCxnSpPr>
            <a:cxnSpLocks/>
          </p:cNvCxnSpPr>
          <p:nvPr/>
        </p:nvCxnSpPr>
        <p:spPr>
          <a:xfrm>
            <a:off x="8384112" y="1871889"/>
            <a:ext cx="0" cy="222776"/>
          </a:xfrm>
          <a:prstGeom prst="line">
            <a:avLst/>
          </a:prstGeom>
          <a:ln w="12700">
            <a:solidFill>
              <a:schemeClr val="accent3"/>
            </a:solidFill>
            <a:tailEnd type="ova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58B6C2B-BCBF-03E4-71D3-5FD01AE3B562}"/>
              </a:ext>
            </a:extLst>
          </p:cNvPr>
          <p:cNvCxnSpPr>
            <a:cxnSpLocks/>
          </p:cNvCxnSpPr>
          <p:nvPr/>
        </p:nvCxnSpPr>
        <p:spPr>
          <a:xfrm>
            <a:off x="10689815" y="1880079"/>
            <a:ext cx="0" cy="222776"/>
          </a:xfrm>
          <a:prstGeom prst="line">
            <a:avLst/>
          </a:prstGeom>
          <a:ln w="12700">
            <a:solidFill>
              <a:schemeClr val="accent3"/>
            </a:solidFill>
            <a:tailEnd type="ova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33A7EBC4-5B40-EE7A-6B38-3D1F044EEA26}"/>
              </a:ext>
            </a:extLst>
          </p:cNvPr>
          <p:cNvPicPr>
            <a:picLocks noChangeAspect="1"/>
          </p:cNvPicPr>
          <p:nvPr/>
        </p:nvPicPr>
        <p:blipFill>
          <a:blip r:embed="rId3">
            <a:biLevel thresh="75000"/>
          </a:blip>
          <a:stretch>
            <a:fillRect/>
          </a:stretch>
        </p:blipFill>
        <p:spPr>
          <a:xfrm>
            <a:off x="3568734" y="1022051"/>
            <a:ext cx="387055" cy="387055"/>
          </a:xfrm>
          <a:prstGeom prst="rect">
            <a:avLst/>
          </a:prstGeom>
          <a:effectLst/>
        </p:spPr>
      </p:pic>
      <p:pic>
        <p:nvPicPr>
          <p:cNvPr id="27" name="Picture 26">
            <a:extLst>
              <a:ext uri="{FF2B5EF4-FFF2-40B4-BE49-F238E27FC236}">
                <a16:creationId xmlns:a16="http://schemas.microsoft.com/office/drawing/2014/main" id="{A8F6F1BD-7EC1-E5AC-6DA5-D2464CDCF5F9}"/>
              </a:ext>
            </a:extLst>
          </p:cNvPr>
          <p:cNvPicPr>
            <a:picLocks noChangeAspect="1"/>
          </p:cNvPicPr>
          <p:nvPr/>
        </p:nvPicPr>
        <p:blipFill>
          <a:blip r:embed="rId4">
            <a:biLevel thresh="75000"/>
          </a:blip>
          <a:stretch>
            <a:fillRect/>
          </a:stretch>
        </p:blipFill>
        <p:spPr>
          <a:xfrm>
            <a:off x="1222662" y="1047449"/>
            <a:ext cx="451879" cy="365335"/>
          </a:xfrm>
          <a:prstGeom prst="rect">
            <a:avLst/>
          </a:prstGeom>
          <a:effectLst/>
        </p:spPr>
      </p:pic>
      <p:pic>
        <p:nvPicPr>
          <p:cNvPr id="28" name="Picture 27">
            <a:extLst>
              <a:ext uri="{FF2B5EF4-FFF2-40B4-BE49-F238E27FC236}">
                <a16:creationId xmlns:a16="http://schemas.microsoft.com/office/drawing/2014/main" id="{E6A6B6FF-D64B-0884-4309-3D0909D6851D}"/>
              </a:ext>
            </a:extLst>
          </p:cNvPr>
          <p:cNvPicPr>
            <a:picLocks noChangeAspect="1"/>
          </p:cNvPicPr>
          <p:nvPr/>
        </p:nvPicPr>
        <p:blipFill>
          <a:blip r:embed="rId5">
            <a:biLevel thresh="75000"/>
          </a:blip>
          <a:stretch>
            <a:fillRect/>
          </a:stretch>
        </p:blipFill>
        <p:spPr>
          <a:xfrm>
            <a:off x="8195246" y="1017868"/>
            <a:ext cx="377732" cy="377732"/>
          </a:xfrm>
          <a:prstGeom prst="rect">
            <a:avLst/>
          </a:prstGeom>
          <a:effectLst/>
        </p:spPr>
      </p:pic>
      <p:grpSp>
        <p:nvGrpSpPr>
          <p:cNvPr id="29" name="Group 24">
            <a:extLst>
              <a:ext uri="{FF2B5EF4-FFF2-40B4-BE49-F238E27FC236}">
                <a16:creationId xmlns:a16="http://schemas.microsoft.com/office/drawing/2014/main" id="{48A3558B-C325-5847-B1C8-ED41DED41A94}"/>
              </a:ext>
            </a:extLst>
          </p:cNvPr>
          <p:cNvGrpSpPr>
            <a:grpSpLocks noChangeAspect="1"/>
          </p:cNvGrpSpPr>
          <p:nvPr/>
        </p:nvGrpSpPr>
        <p:grpSpPr bwMode="auto">
          <a:xfrm>
            <a:off x="10490615" y="1049960"/>
            <a:ext cx="425248" cy="345620"/>
            <a:chOff x="2060" y="768"/>
            <a:chExt cx="618" cy="495"/>
          </a:xfrm>
          <a:solidFill>
            <a:schemeClr val="tx1"/>
          </a:solidFill>
        </p:grpSpPr>
        <p:sp>
          <p:nvSpPr>
            <p:cNvPr id="30" name="Freeform 25">
              <a:extLst>
                <a:ext uri="{FF2B5EF4-FFF2-40B4-BE49-F238E27FC236}">
                  <a16:creationId xmlns:a16="http://schemas.microsoft.com/office/drawing/2014/main" id="{79E1D38E-4A5A-1411-B10C-65B662A24D20}"/>
                </a:ext>
              </a:extLst>
            </p:cNvPr>
            <p:cNvSpPr>
              <a:spLocks noEditPoints="1"/>
            </p:cNvSpPr>
            <p:nvPr/>
          </p:nvSpPr>
          <p:spPr bwMode="auto">
            <a:xfrm>
              <a:off x="2186" y="813"/>
              <a:ext cx="337" cy="18"/>
            </a:xfrm>
            <a:custGeom>
              <a:avLst/>
              <a:gdLst>
                <a:gd name="T0" fmla="*/ 869 w 893"/>
                <a:gd name="T1" fmla="*/ 0 h 48"/>
                <a:gd name="T2" fmla="*/ 24 w 893"/>
                <a:gd name="T3" fmla="*/ 0 h 48"/>
                <a:gd name="T4" fmla="*/ 0 w 893"/>
                <a:gd name="T5" fmla="*/ 24 h 48"/>
                <a:gd name="T6" fmla="*/ 24 w 893"/>
                <a:gd name="T7" fmla="*/ 48 h 48"/>
                <a:gd name="T8" fmla="*/ 869 w 893"/>
                <a:gd name="T9" fmla="*/ 48 h 48"/>
                <a:gd name="T10" fmla="*/ 893 w 893"/>
                <a:gd name="T11" fmla="*/ 24 h 48"/>
                <a:gd name="T12" fmla="*/ 869 w 893"/>
                <a:gd name="T13" fmla="*/ 0 h 48"/>
                <a:gd name="T14" fmla="*/ 869 w 893"/>
                <a:gd name="T15" fmla="*/ 0 h 48"/>
                <a:gd name="T16" fmla="*/ 869 w 893"/>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3" h="48">
                  <a:moveTo>
                    <a:pt x="869" y="0"/>
                  </a:moveTo>
                  <a:cubicBezTo>
                    <a:pt x="24" y="0"/>
                    <a:pt x="24" y="0"/>
                    <a:pt x="24" y="0"/>
                  </a:cubicBezTo>
                  <a:cubicBezTo>
                    <a:pt x="11" y="0"/>
                    <a:pt x="0" y="11"/>
                    <a:pt x="0" y="24"/>
                  </a:cubicBezTo>
                  <a:cubicBezTo>
                    <a:pt x="0" y="37"/>
                    <a:pt x="11" y="48"/>
                    <a:pt x="24" y="48"/>
                  </a:cubicBezTo>
                  <a:cubicBezTo>
                    <a:pt x="869" y="48"/>
                    <a:pt x="869" y="48"/>
                    <a:pt x="869" y="48"/>
                  </a:cubicBezTo>
                  <a:cubicBezTo>
                    <a:pt x="882" y="48"/>
                    <a:pt x="893" y="37"/>
                    <a:pt x="893" y="24"/>
                  </a:cubicBezTo>
                  <a:cubicBezTo>
                    <a:pt x="893" y="11"/>
                    <a:pt x="882" y="0"/>
                    <a:pt x="869" y="0"/>
                  </a:cubicBezTo>
                  <a:close/>
                  <a:moveTo>
                    <a:pt x="869" y="0"/>
                  </a:moveTo>
                  <a:cubicBezTo>
                    <a:pt x="869" y="0"/>
                    <a:pt x="869" y="0"/>
                    <a:pt x="869"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1" name="Freeform 26">
              <a:extLst>
                <a:ext uri="{FF2B5EF4-FFF2-40B4-BE49-F238E27FC236}">
                  <a16:creationId xmlns:a16="http://schemas.microsoft.com/office/drawing/2014/main" id="{8B3E7F72-535D-9140-8FA5-38F071EC9697}"/>
                </a:ext>
              </a:extLst>
            </p:cNvPr>
            <p:cNvSpPr>
              <a:spLocks noEditPoints="1"/>
            </p:cNvSpPr>
            <p:nvPr/>
          </p:nvSpPr>
          <p:spPr bwMode="auto">
            <a:xfrm>
              <a:off x="2060" y="768"/>
              <a:ext cx="618" cy="495"/>
            </a:xfrm>
            <a:custGeom>
              <a:avLst/>
              <a:gdLst>
                <a:gd name="T0" fmla="*/ 1459 w 1638"/>
                <a:gd name="T1" fmla="*/ 557 h 1309"/>
                <a:gd name="T2" fmla="*/ 1400 w 1638"/>
                <a:gd name="T3" fmla="*/ 707 h 1309"/>
                <a:gd name="T4" fmla="*/ 1337 w 1638"/>
                <a:gd name="T5" fmla="*/ 0 h 1309"/>
                <a:gd name="T6" fmla="*/ 0 w 1638"/>
                <a:gd name="T7" fmla="*/ 62 h 1309"/>
                <a:gd name="T8" fmla="*/ 62 w 1638"/>
                <a:gd name="T9" fmla="*/ 1309 h 1309"/>
                <a:gd name="T10" fmla="*/ 694 w 1638"/>
                <a:gd name="T11" fmla="*/ 1285 h 1309"/>
                <a:gd name="T12" fmla="*/ 62 w 1638"/>
                <a:gd name="T13" fmla="*/ 1261 h 1309"/>
                <a:gd name="T14" fmla="*/ 48 w 1638"/>
                <a:gd name="T15" fmla="*/ 282 h 1309"/>
                <a:gd name="T16" fmla="*/ 1352 w 1638"/>
                <a:gd name="T17" fmla="*/ 768 h 1309"/>
                <a:gd name="T18" fmla="*/ 1227 w 1638"/>
                <a:gd name="T19" fmla="*/ 869 h 1309"/>
                <a:gd name="T20" fmla="*/ 1052 w 1638"/>
                <a:gd name="T21" fmla="*/ 794 h 1309"/>
                <a:gd name="T22" fmla="*/ 971 w 1638"/>
                <a:gd name="T23" fmla="*/ 665 h 1309"/>
                <a:gd name="T24" fmla="*/ 893 w 1638"/>
                <a:gd name="T25" fmla="*/ 799 h 1309"/>
                <a:gd name="T26" fmla="*/ 715 w 1638"/>
                <a:gd name="T27" fmla="*/ 903 h 1309"/>
                <a:gd name="T28" fmla="*/ 715 w 1638"/>
                <a:gd name="T29" fmla="*/ 1083 h 1309"/>
                <a:gd name="T30" fmla="*/ 795 w 1638"/>
                <a:gd name="T31" fmla="*/ 951 h 1309"/>
                <a:gd name="T32" fmla="*/ 971 w 1638"/>
                <a:gd name="T33" fmla="*/ 844 h 1309"/>
                <a:gd name="T34" fmla="*/ 1143 w 1638"/>
                <a:gd name="T35" fmla="*/ 927 h 1309"/>
                <a:gd name="T36" fmla="*/ 1227 w 1638"/>
                <a:gd name="T37" fmla="*/ 1049 h 1309"/>
                <a:gd name="T38" fmla="*/ 1302 w 1638"/>
                <a:gd name="T39" fmla="*/ 910 h 1309"/>
                <a:gd name="T40" fmla="*/ 1352 w 1638"/>
                <a:gd name="T41" fmla="*/ 1247 h 1309"/>
                <a:gd name="T42" fmla="*/ 782 w 1638"/>
                <a:gd name="T43" fmla="*/ 1261 h 1309"/>
                <a:gd name="T44" fmla="*/ 782 w 1638"/>
                <a:gd name="T45" fmla="*/ 1309 h 1309"/>
                <a:gd name="T46" fmla="*/ 1400 w 1638"/>
                <a:gd name="T47" fmla="*/ 1247 h 1309"/>
                <a:gd name="T48" fmla="*/ 1514 w 1638"/>
                <a:gd name="T49" fmla="*/ 640 h 1309"/>
                <a:gd name="T50" fmla="*/ 1638 w 1638"/>
                <a:gd name="T51" fmla="*/ 557 h 1309"/>
                <a:gd name="T52" fmla="*/ 224 w 1638"/>
                <a:gd name="T53" fmla="*/ 234 h 1309"/>
                <a:gd name="T54" fmla="*/ 48 w 1638"/>
                <a:gd name="T55" fmla="*/ 62 h 1309"/>
                <a:gd name="T56" fmla="*/ 224 w 1638"/>
                <a:gd name="T57" fmla="*/ 48 h 1309"/>
                <a:gd name="T58" fmla="*/ 715 w 1638"/>
                <a:gd name="T59" fmla="*/ 1035 h 1309"/>
                <a:gd name="T60" fmla="*/ 715 w 1638"/>
                <a:gd name="T61" fmla="*/ 951 h 1309"/>
                <a:gd name="T62" fmla="*/ 715 w 1638"/>
                <a:gd name="T63" fmla="*/ 1035 h 1309"/>
                <a:gd name="T64" fmla="*/ 929 w 1638"/>
                <a:gd name="T65" fmla="*/ 755 h 1309"/>
                <a:gd name="T66" fmla="*/ 1013 w 1638"/>
                <a:gd name="T67" fmla="*/ 755 h 1309"/>
                <a:gd name="T68" fmla="*/ 1227 w 1638"/>
                <a:gd name="T69" fmla="*/ 1001 h 1309"/>
                <a:gd name="T70" fmla="*/ 1227 w 1638"/>
                <a:gd name="T71" fmla="*/ 917 h 1309"/>
                <a:gd name="T72" fmla="*/ 1227 w 1638"/>
                <a:gd name="T73" fmla="*/ 1001 h 1309"/>
                <a:gd name="T74" fmla="*/ 272 w 1638"/>
                <a:gd name="T75" fmla="*/ 234 h 1309"/>
                <a:gd name="T76" fmla="*/ 1337 w 1638"/>
                <a:gd name="T77" fmla="*/ 48 h 1309"/>
                <a:gd name="T78" fmla="*/ 1352 w 1638"/>
                <a:gd name="T79" fmla="*/ 234 h 1309"/>
                <a:gd name="T80" fmla="*/ 1507 w 1638"/>
                <a:gd name="T81" fmla="*/ 557 h 1309"/>
                <a:gd name="T82" fmla="*/ 1590 w 1638"/>
                <a:gd name="T83" fmla="*/ 557 h 1309"/>
                <a:gd name="T84" fmla="*/ 1549 w 1638"/>
                <a:gd name="T85" fmla="*/ 598 h 1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638" h="1309">
                  <a:moveTo>
                    <a:pt x="1549" y="467"/>
                  </a:moveTo>
                  <a:cubicBezTo>
                    <a:pt x="1499" y="467"/>
                    <a:pt x="1459" y="507"/>
                    <a:pt x="1459" y="557"/>
                  </a:cubicBezTo>
                  <a:cubicBezTo>
                    <a:pt x="1459" y="577"/>
                    <a:pt x="1465" y="595"/>
                    <a:pt x="1476" y="610"/>
                  </a:cubicBezTo>
                  <a:cubicBezTo>
                    <a:pt x="1400" y="707"/>
                    <a:pt x="1400" y="707"/>
                    <a:pt x="1400" y="707"/>
                  </a:cubicBezTo>
                  <a:cubicBezTo>
                    <a:pt x="1400" y="58"/>
                    <a:pt x="1400" y="58"/>
                    <a:pt x="1400" y="58"/>
                  </a:cubicBezTo>
                  <a:cubicBezTo>
                    <a:pt x="1400" y="30"/>
                    <a:pt x="1379" y="0"/>
                    <a:pt x="1337" y="0"/>
                  </a:cubicBezTo>
                  <a:cubicBezTo>
                    <a:pt x="62" y="0"/>
                    <a:pt x="62" y="0"/>
                    <a:pt x="62" y="0"/>
                  </a:cubicBezTo>
                  <a:cubicBezTo>
                    <a:pt x="28" y="0"/>
                    <a:pt x="0" y="21"/>
                    <a:pt x="0" y="62"/>
                  </a:cubicBezTo>
                  <a:cubicBezTo>
                    <a:pt x="0" y="1247"/>
                    <a:pt x="0" y="1247"/>
                    <a:pt x="0" y="1247"/>
                  </a:cubicBezTo>
                  <a:cubicBezTo>
                    <a:pt x="0" y="1281"/>
                    <a:pt x="28" y="1309"/>
                    <a:pt x="62" y="1309"/>
                  </a:cubicBezTo>
                  <a:cubicBezTo>
                    <a:pt x="670" y="1309"/>
                    <a:pt x="670" y="1309"/>
                    <a:pt x="670" y="1309"/>
                  </a:cubicBezTo>
                  <a:cubicBezTo>
                    <a:pt x="684" y="1309"/>
                    <a:pt x="694" y="1298"/>
                    <a:pt x="694" y="1285"/>
                  </a:cubicBezTo>
                  <a:cubicBezTo>
                    <a:pt x="694" y="1272"/>
                    <a:pt x="684" y="1261"/>
                    <a:pt x="670" y="1261"/>
                  </a:cubicBezTo>
                  <a:cubicBezTo>
                    <a:pt x="62" y="1261"/>
                    <a:pt x="62" y="1261"/>
                    <a:pt x="62" y="1261"/>
                  </a:cubicBezTo>
                  <a:cubicBezTo>
                    <a:pt x="55" y="1261"/>
                    <a:pt x="48" y="1254"/>
                    <a:pt x="48" y="1247"/>
                  </a:cubicBezTo>
                  <a:cubicBezTo>
                    <a:pt x="48" y="282"/>
                    <a:pt x="48" y="282"/>
                    <a:pt x="48" y="282"/>
                  </a:cubicBezTo>
                  <a:cubicBezTo>
                    <a:pt x="1352" y="282"/>
                    <a:pt x="1352" y="282"/>
                    <a:pt x="1352" y="282"/>
                  </a:cubicBezTo>
                  <a:cubicBezTo>
                    <a:pt x="1352" y="768"/>
                    <a:pt x="1352" y="768"/>
                    <a:pt x="1352" y="768"/>
                  </a:cubicBezTo>
                  <a:cubicBezTo>
                    <a:pt x="1265" y="878"/>
                    <a:pt x="1265" y="878"/>
                    <a:pt x="1265" y="878"/>
                  </a:cubicBezTo>
                  <a:cubicBezTo>
                    <a:pt x="1254" y="872"/>
                    <a:pt x="1240" y="869"/>
                    <a:pt x="1227" y="869"/>
                  </a:cubicBezTo>
                  <a:cubicBezTo>
                    <a:pt x="1206" y="869"/>
                    <a:pt x="1187" y="876"/>
                    <a:pt x="1171" y="888"/>
                  </a:cubicBezTo>
                  <a:cubicBezTo>
                    <a:pt x="1052" y="794"/>
                    <a:pt x="1052" y="794"/>
                    <a:pt x="1052" y="794"/>
                  </a:cubicBezTo>
                  <a:cubicBezTo>
                    <a:pt x="1058" y="782"/>
                    <a:pt x="1061" y="769"/>
                    <a:pt x="1061" y="755"/>
                  </a:cubicBezTo>
                  <a:cubicBezTo>
                    <a:pt x="1061" y="705"/>
                    <a:pt x="1020" y="665"/>
                    <a:pt x="971" y="665"/>
                  </a:cubicBezTo>
                  <a:cubicBezTo>
                    <a:pt x="922" y="665"/>
                    <a:pt x="881" y="705"/>
                    <a:pt x="881" y="755"/>
                  </a:cubicBezTo>
                  <a:cubicBezTo>
                    <a:pt x="881" y="771"/>
                    <a:pt x="885" y="786"/>
                    <a:pt x="893" y="799"/>
                  </a:cubicBezTo>
                  <a:cubicBezTo>
                    <a:pt x="762" y="916"/>
                    <a:pt x="762" y="916"/>
                    <a:pt x="762" y="916"/>
                  </a:cubicBezTo>
                  <a:cubicBezTo>
                    <a:pt x="749" y="908"/>
                    <a:pt x="733" y="903"/>
                    <a:pt x="715" y="903"/>
                  </a:cubicBezTo>
                  <a:cubicBezTo>
                    <a:pt x="666" y="903"/>
                    <a:pt x="626" y="943"/>
                    <a:pt x="626" y="993"/>
                  </a:cubicBezTo>
                  <a:cubicBezTo>
                    <a:pt x="626" y="1042"/>
                    <a:pt x="666" y="1083"/>
                    <a:pt x="715" y="1083"/>
                  </a:cubicBezTo>
                  <a:cubicBezTo>
                    <a:pt x="765" y="1083"/>
                    <a:pt x="805" y="1042"/>
                    <a:pt x="805" y="993"/>
                  </a:cubicBezTo>
                  <a:cubicBezTo>
                    <a:pt x="805" y="978"/>
                    <a:pt x="801" y="964"/>
                    <a:pt x="795" y="951"/>
                  </a:cubicBezTo>
                  <a:cubicBezTo>
                    <a:pt x="927" y="833"/>
                    <a:pt x="927" y="833"/>
                    <a:pt x="927" y="833"/>
                  </a:cubicBezTo>
                  <a:cubicBezTo>
                    <a:pt x="940" y="840"/>
                    <a:pt x="955" y="844"/>
                    <a:pt x="971" y="844"/>
                  </a:cubicBezTo>
                  <a:cubicBezTo>
                    <a:pt x="989" y="844"/>
                    <a:pt x="1006" y="839"/>
                    <a:pt x="1020" y="830"/>
                  </a:cubicBezTo>
                  <a:cubicBezTo>
                    <a:pt x="1143" y="927"/>
                    <a:pt x="1143" y="927"/>
                    <a:pt x="1143" y="927"/>
                  </a:cubicBezTo>
                  <a:cubicBezTo>
                    <a:pt x="1139" y="937"/>
                    <a:pt x="1137" y="948"/>
                    <a:pt x="1137" y="959"/>
                  </a:cubicBezTo>
                  <a:cubicBezTo>
                    <a:pt x="1137" y="1009"/>
                    <a:pt x="1177" y="1049"/>
                    <a:pt x="1227" y="1049"/>
                  </a:cubicBezTo>
                  <a:cubicBezTo>
                    <a:pt x="1276" y="1049"/>
                    <a:pt x="1316" y="1009"/>
                    <a:pt x="1316" y="959"/>
                  </a:cubicBezTo>
                  <a:cubicBezTo>
                    <a:pt x="1316" y="941"/>
                    <a:pt x="1311" y="924"/>
                    <a:pt x="1302" y="910"/>
                  </a:cubicBezTo>
                  <a:cubicBezTo>
                    <a:pt x="1352" y="846"/>
                    <a:pt x="1352" y="846"/>
                    <a:pt x="1352" y="846"/>
                  </a:cubicBezTo>
                  <a:cubicBezTo>
                    <a:pt x="1352" y="1247"/>
                    <a:pt x="1352" y="1247"/>
                    <a:pt x="1352" y="1247"/>
                  </a:cubicBezTo>
                  <a:cubicBezTo>
                    <a:pt x="1352" y="1254"/>
                    <a:pt x="1345" y="1261"/>
                    <a:pt x="1337" y="1261"/>
                  </a:cubicBezTo>
                  <a:cubicBezTo>
                    <a:pt x="782" y="1261"/>
                    <a:pt x="782" y="1261"/>
                    <a:pt x="782" y="1261"/>
                  </a:cubicBezTo>
                  <a:cubicBezTo>
                    <a:pt x="769" y="1261"/>
                    <a:pt x="758" y="1272"/>
                    <a:pt x="758" y="1285"/>
                  </a:cubicBezTo>
                  <a:cubicBezTo>
                    <a:pt x="758" y="1298"/>
                    <a:pt x="769" y="1309"/>
                    <a:pt x="782" y="1309"/>
                  </a:cubicBezTo>
                  <a:cubicBezTo>
                    <a:pt x="1337" y="1309"/>
                    <a:pt x="1337" y="1309"/>
                    <a:pt x="1337" y="1309"/>
                  </a:cubicBezTo>
                  <a:cubicBezTo>
                    <a:pt x="1372" y="1309"/>
                    <a:pt x="1400" y="1281"/>
                    <a:pt x="1400" y="1247"/>
                  </a:cubicBezTo>
                  <a:cubicBezTo>
                    <a:pt x="1400" y="785"/>
                    <a:pt x="1400" y="785"/>
                    <a:pt x="1400" y="785"/>
                  </a:cubicBezTo>
                  <a:cubicBezTo>
                    <a:pt x="1514" y="640"/>
                    <a:pt x="1514" y="640"/>
                    <a:pt x="1514" y="640"/>
                  </a:cubicBezTo>
                  <a:cubicBezTo>
                    <a:pt x="1525" y="644"/>
                    <a:pt x="1536" y="646"/>
                    <a:pt x="1549" y="646"/>
                  </a:cubicBezTo>
                  <a:cubicBezTo>
                    <a:pt x="1598" y="646"/>
                    <a:pt x="1638" y="606"/>
                    <a:pt x="1638" y="557"/>
                  </a:cubicBezTo>
                  <a:cubicBezTo>
                    <a:pt x="1638" y="507"/>
                    <a:pt x="1598" y="467"/>
                    <a:pt x="1549" y="467"/>
                  </a:cubicBezTo>
                  <a:close/>
                  <a:moveTo>
                    <a:pt x="224" y="234"/>
                  </a:moveTo>
                  <a:cubicBezTo>
                    <a:pt x="48" y="234"/>
                    <a:pt x="48" y="234"/>
                    <a:pt x="48" y="234"/>
                  </a:cubicBezTo>
                  <a:cubicBezTo>
                    <a:pt x="48" y="62"/>
                    <a:pt x="48" y="62"/>
                    <a:pt x="48" y="62"/>
                  </a:cubicBezTo>
                  <a:cubicBezTo>
                    <a:pt x="48" y="55"/>
                    <a:pt x="55" y="48"/>
                    <a:pt x="62" y="48"/>
                  </a:cubicBezTo>
                  <a:cubicBezTo>
                    <a:pt x="224" y="48"/>
                    <a:pt x="224" y="48"/>
                    <a:pt x="224" y="48"/>
                  </a:cubicBezTo>
                  <a:lnTo>
                    <a:pt x="224" y="234"/>
                  </a:lnTo>
                  <a:close/>
                  <a:moveTo>
                    <a:pt x="715" y="1035"/>
                  </a:moveTo>
                  <a:cubicBezTo>
                    <a:pt x="692" y="1035"/>
                    <a:pt x="674" y="1016"/>
                    <a:pt x="674" y="993"/>
                  </a:cubicBezTo>
                  <a:cubicBezTo>
                    <a:pt x="674" y="970"/>
                    <a:pt x="692" y="951"/>
                    <a:pt x="715" y="951"/>
                  </a:cubicBezTo>
                  <a:cubicBezTo>
                    <a:pt x="738" y="951"/>
                    <a:pt x="757" y="970"/>
                    <a:pt x="757" y="993"/>
                  </a:cubicBezTo>
                  <a:cubicBezTo>
                    <a:pt x="757" y="1016"/>
                    <a:pt x="738" y="1035"/>
                    <a:pt x="715" y="1035"/>
                  </a:cubicBezTo>
                  <a:close/>
                  <a:moveTo>
                    <a:pt x="971" y="796"/>
                  </a:moveTo>
                  <a:cubicBezTo>
                    <a:pt x="948" y="796"/>
                    <a:pt x="929" y="778"/>
                    <a:pt x="929" y="755"/>
                  </a:cubicBezTo>
                  <a:cubicBezTo>
                    <a:pt x="929" y="732"/>
                    <a:pt x="948" y="713"/>
                    <a:pt x="971" y="713"/>
                  </a:cubicBezTo>
                  <a:cubicBezTo>
                    <a:pt x="994" y="713"/>
                    <a:pt x="1013" y="732"/>
                    <a:pt x="1013" y="755"/>
                  </a:cubicBezTo>
                  <a:cubicBezTo>
                    <a:pt x="1013" y="778"/>
                    <a:pt x="994" y="796"/>
                    <a:pt x="971" y="796"/>
                  </a:cubicBezTo>
                  <a:close/>
                  <a:moveTo>
                    <a:pt x="1227" y="1001"/>
                  </a:moveTo>
                  <a:cubicBezTo>
                    <a:pt x="1204" y="1001"/>
                    <a:pt x="1185" y="982"/>
                    <a:pt x="1185" y="959"/>
                  </a:cubicBezTo>
                  <a:cubicBezTo>
                    <a:pt x="1185" y="936"/>
                    <a:pt x="1204" y="917"/>
                    <a:pt x="1227" y="917"/>
                  </a:cubicBezTo>
                  <a:cubicBezTo>
                    <a:pt x="1250" y="917"/>
                    <a:pt x="1268" y="936"/>
                    <a:pt x="1268" y="959"/>
                  </a:cubicBezTo>
                  <a:cubicBezTo>
                    <a:pt x="1268" y="982"/>
                    <a:pt x="1250" y="1001"/>
                    <a:pt x="1227" y="1001"/>
                  </a:cubicBezTo>
                  <a:close/>
                  <a:moveTo>
                    <a:pt x="1352" y="234"/>
                  </a:moveTo>
                  <a:cubicBezTo>
                    <a:pt x="272" y="234"/>
                    <a:pt x="272" y="234"/>
                    <a:pt x="272" y="234"/>
                  </a:cubicBezTo>
                  <a:cubicBezTo>
                    <a:pt x="272" y="48"/>
                    <a:pt x="272" y="48"/>
                    <a:pt x="272" y="48"/>
                  </a:cubicBezTo>
                  <a:cubicBezTo>
                    <a:pt x="1337" y="48"/>
                    <a:pt x="1337" y="48"/>
                    <a:pt x="1337" y="48"/>
                  </a:cubicBezTo>
                  <a:cubicBezTo>
                    <a:pt x="1345" y="48"/>
                    <a:pt x="1352" y="55"/>
                    <a:pt x="1352" y="62"/>
                  </a:cubicBezTo>
                  <a:lnTo>
                    <a:pt x="1352" y="234"/>
                  </a:lnTo>
                  <a:close/>
                  <a:moveTo>
                    <a:pt x="1549" y="598"/>
                  </a:moveTo>
                  <a:cubicBezTo>
                    <a:pt x="1526" y="598"/>
                    <a:pt x="1507" y="580"/>
                    <a:pt x="1507" y="557"/>
                  </a:cubicBezTo>
                  <a:cubicBezTo>
                    <a:pt x="1507" y="534"/>
                    <a:pt x="1526" y="515"/>
                    <a:pt x="1549" y="515"/>
                  </a:cubicBezTo>
                  <a:cubicBezTo>
                    <a:pt x="1572" y="515"/>
                    <a:pt x="1590" y="534"/>
                    <a:pt x="1590" y="557"/>
                  </a:cubicBezTo>
                  <a:cubicBezTo>
                    <a:pt x="1590" y="580"/>
                    <a:pt x="1572" y="598"/>
                    <a:pt x="1549" y="598"/>
                  </a:cubicBezTo>
                  <a:close/>
                  <a:moveTo>
                    <a:pt x="1549" y="598"/>
                  </a:moveTo>
                  <a:cubicBezTo>
                    <a:pt x="1549" y="598"/>
                    <a:pt x="1549" y="598"/>
                    <a:pt x="1549" y="59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2" name="Freeform 27">
              <a:extLst>
                <a:ext uri="{FF2B5EF4-FFF2-40B4-BE49-F238E27FC236}">
                  <a16:creationId xmlns:a16="http://schemas.microsoft.com/office/drawing/2014/main" id="{5EAFEED1-8983-2CAA-E8F9-72EAD17DE02C}"/>
                </a:ext>
              </a:extLst>
            </p:cNvPr>
            <p:cNvSpPr>
              <a:spLocks noEditPoints="1"/>
            </p:cNvSpPr>
            <p:nvPr/>
          </p:nvSpPr>
          <p:spPr bwMode="auto">
            <a:xfrm>
              <a:off x="2129" y="1015"/>
              <a:ext cx="146" cy="19"/>
            </a:xfrm>
            <a:custGeom>
              <a:avLst/>
              <a:gdLst>
                <a:gd name="T0" fmla="*/ 363 w 387"/>
                <a:gd name="T1" fmla="*/ 0 h 48"/>
                <a:gd name="T2" fmla="*/ 24 w 387"/>
                <a:gd name="T3" fmla="*/ 0 h 48"/>
                <a:gd name="T4" fmla="*/ 0 w 387"/>
                <a:gd name="T5" fmla="*/ 24 h 48"/>
                <a:gd name="T6" fmla="*/ 24 w 387"/>
                <a:gd name="T7" fmla="*/ 48 h 48"/>
                <a:gd name="T8" fmla="*/ 363 w 387"/>
                <a:gd name="T9" fmla="*/ 48 h 48"/>
                <a:gd name="T10" fmla="*/ 387 w 387"/>
                <a:gd name="T11" fmla="*/ 24 h 48"/>
                <a:gd name="T12" fmla="*/ 363 w 387"/>
                <a:gd name="T13" fmla="*/ 0 h 48"/>
                <a:gd name="T14" fmla="*/ 363 w 387"/>
                <a:gd name="T15" fmla="*/ 0 h 48"/>
                <a:gd name="T16" fmla="*/ 363 w 387"/>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48">
                  <a:moveTo>
                    <a:pt x="363" y="0"/>
                  </a:moveTo>
                  <a:cubicBezTo>
                    <a:pt x="24" y="0"/>
                    <a:pt x="24" y="0"/>
                    <a:pt x="24" y="0"/>
                  </a:cubicBezTo>
                  <a:cubicBezTo>
                    <a:pt x="11" y="0"/>
                    <a:pt x="0" y="11"/>
                    <a:pt x="0" y="24"/>
                  </a:cubicBezTo>
                  <a:cubicBezTo>
                    <a:pt x="0" y="37"/>
                    <a:pt x="11" y="48"/>
                    <a:pt x="24" y="48"/>
                  </a:cubicBezTo>
                  <a:cubicBezTo>
                    <a:pt x="363" y="48"/>
                    <a:pt x="363" y="48"/>
                    <a:pt x="363" y="48"/>
                  </a:cubicBezTo>
                  <a:cubicBezTo>
                    <a:pt x="376" y="48"/>
                    <a:pt x="387" y="37"/>
                    <a:pt x="387" y="24"/>
                  </a:cubicBezTo>
                  <a:cubicBezTo>
                    <a:pt x="387" y="11"/>
                    <a:pt x="376" y="0"/>
                    <a:pt x="363" y="0"/>
                  </a:cubicBezTo>
                  <a:close/>
                  <a:moveTo>
                    <a:pt x="363" y="0"/>
                  </a:moveTo>
                  <a:cubicBezTo>
                    <a:pt x="363" y="0"/>
                    <a:pt x="363" y="0"/>
                    <a:pt x="36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3" name="Freeform 28">
              <a:extLst>
                <a:ext uri="{FF2B5EF4-FFF2-40B4-BE49-F238E27FC236}">
                  <a16:creationId xmlns:a16="http://schemas.microsoft.com/office/drawing/2014/main" id="{CA0B2919-DB06-B791-8EB1-C7EB4776B4E9}"/>
                </a:ext>
              </a:extLst>
            </p:cNvPr>
            <p:cNvSpPr>
              <a:spLocks noEditPoints="1"/>
            </p:cNvSpPr>
            <p:nvPr/>
          </p:nvSpPr>
          <p:spPr bwMode="auto">
            <a:xfrm>
              <a:off x="2129" y="1060"/>
              <a:ext cx="146" cy="18"/>
            </a:xfrm>
            <a:custGeom>
              <a:avLst/>
              <a:gdLst>
                <a:gd name="T0" fmla="*/ 363 w 387"/>
                <a:gd name="T1" fmla="*/ 0 h 48"/>
                <a:gd name="T2" fmla="*/ 24 w 387"/>
                <a:gd name="T3" fmla="*/ 0 h 48"/>
                <a:gd name="T4" fmla="*/ 0 w 387"/>
                <a:gd name="T5" fmla="*/ 24 h 48"/>
                <a:gd name="T6" fmla="*/ 24 w 387"/>
                <a:gd name="T7" fmla="*/ 48 h 48"/>
                <a:gd name="T8" fmla="*/ 363 w 387"/>
                <a:gd name="T9" fmla="*/ 48 h 48"/>
                <a:gd name="T10" fmla="*/ 387 w 387"/>
                <a:gd name="T11" fmla="*/ 24 h 48"/>
                <a:gd name="T12" fmla="*/ 363 w 387"/>
                <a:gd name="T13" fmla="*/ 0 h 48"/>
                <a:gd name="T14" fmla="*/ 363 w 387"/>
                <a:gd name="T15" fmla="*/ 0 h 48"/>
                <a:gd name="T16" fmla="*/ 363 w 387"/>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48">
                  <a:moveTo>
                    <a:pt x="363" y="0"/>
                  </a:moveTo>
                  <a:cubicBezTo>
                    <a:pt x="24" y="0"/>
                    <a:pt x="24" y="0"/>
                    <a:pt x="24" y="0"/>
                  </a:cubicBezTo>
                  <a:cubicBezTo>
                    <a:pt x="11" y="0"/>
                    <a:pt x="0" y="11"/>
                    <a:pt x="0" y="24"/>
                  </a:cubicBezTo>
                  <a:cubicBezTo>
                    <a:pt x="0" y="37"/>
                    <a:pt x="11" y="48"/>
                    <a:pt x="24" y="48"/>
                  </a:cubicBezTo>
                  <a:cubicBezTo>
                    <a:pt x="363" y="48"/>
                    <a:pt x="363" y="48"/>
                    <a:pt x="363" y="48"/>
                  </a:cubicBezTo>
                  <a:cubicBezTo>
                    <a:pt x="376" y="48"/>
                    <a:pt x="387" y="37"/>
                    <a:pt x="387" y="24"/>
                  </a:cubicBezTo>
                  <a:cubicBezTo>
                    <a:pt x="387" y="11"/>
                    <a:pt x="376" y="0"/>
                    <a:pt x="363" y="0"/>
                  </a:cubicBezTo>
                  <a:close/>
                  <a:moveTo>
                    <a:pt x="363" y="0"/>
                  </a:moveTo>
                  <a:cubicBezTo>
                    <a:pt x="363" y="0"/>
                    <a:pt x="363" y="0"/>
                    <a:pt x="36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4" name="Freeform 29">
              <a:extLst>
                <a:ext uri="{FF2B5EF4-FFF2-40B4-BE49-F238E27FC236}">
                  <a16:creationId xmlns:a16="http://schemas.microsoft.com/office/drawing/2014/main" id="{A84A5F3F-EA3A-CCF7-C158-73E146C1F760}"/>
                </a:ext>
              </a:extLst>
            </p:cNvPr>
            <p:cNvSpPr>
              <a:spLocks noEditPoints="1"/>
            </p:cNvSpPr>
            <p:nvPr/>
          </p:nvSpPr>
          <p:spPr bwMode="auto">
            <a:xfrm>
              <a:off x="2129" y="1104"/>
              <a:ext cx="146" cy="18"/>
            </a:xfrm>
            <a:custGeom>
              <a:avLst/>
              <a:gdLst>
                <a:gd name="T0" fmla="*/ 363 w 387"/>
                <a:gd name="T1" fmla="*/ 0 h 48"/>
                <a:gd name="T2" fmla="*/ 24 w 387"/>
                <a:gd name="T3" fmla="*/ 0 h 48"/>
                <a:gd name="T4" fmla="*/ 0 w 387"/>
                <a:gd name="T5" fmla="*/ 24 h 48"/>
                <a:gd name="T6" fmla="*/ 24 w 387"/>
                <a:gd name="T7" fmla="*/ 48 h 48"/>
                <a:gd name="T8" fmla="*/ 363 w 387"/>
                <a:gd name="T9" fmla="*/ 48 h 48"/>
                <a:gd name="T10" fmla="*/ 387 w 387"/>
                <a:gd name="T11" fmla="*/ 24 h 48"/>
                <a:gd name="T12" fmla="*/ 363 w 387"/>
                <a:gd name="T13" fmla="*/ 0 h 48"/>
                <a:gd name="T14" fmla="*/ 363 w 387"/>
                <a:gd name="T15" fmla="*/ 0 h 48"/>
                <a:gd name="T16" fmla="*/ 363 w 387"/>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48">
                  <a:moveTo>
                    <a:pt x="363" y="0"/>
                  </a:moveTo>
                  <a:cubicBezTo>
                    <a:pt x="24" y="0"/>
                    <a:pt x="24" y="0"/>
                    <a:pt x="24" y="0"/>
                  </a:cubicBezTo>
                  <a:cubicBezTo>
                    <a:pt x="11" y="0"/>
                    <a:pt x="0" y="11"/>
                    <a:pt x="0" y="24"/>
                  </a:cubicBezTo>
                  <a:cubicBezTo>
                    <a:pt x="0" y="37"/>
                    <a:pt x="11" y="48"/>
                    <a:pt x="24" y="48"/>
                  </a:cubicBezTo>
                  <a:cubicBezTo>
                    <a:pt x="363" y="48"/>
                    <a:pt x="363" y="48"/>
                    <a:pt x="363" y="48"/>
                  </a:cubicBezTo>
                  <a:cubicBezTo>
                    <a:pt x="376" y="48"/>
                    <a:pt x="387" y="37"/>
                    <a:pt x="387" y="24"/>
                  </a:cubicBezTo>
                  <a:cubicBezTo>
                    <a:pt x="387" y="11"/>
                    <a:pt x="376" y="0"/>
                    <a:pt x="363" y="0"/>
                  </a:cubicBezTo>
                  <a:close/>
                  <a:moveTo>
                    <a:pt x="363" y="0"/>
                  </a:moveTo>
                  <a:cubicBezTo>
                    <a:pt x="363" y="0"/>
                    <a:pt x="363" y="0"/>
                    <a:pt x="36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5" name="Freeform 30">
              <a:extLst>
                <a:ext uri="{FF2B5EF4-FFF2-40B4-BE49-F238E27FC236}">
                  <a16:creationId xmlns:a16="http://schemas.microsoft.com/office/drawing/2014/main" id="{8671F42B-78F9-536D-D828-B4370000C283}"/>
                </a:ext>
              </a:extLst>
            </p:cNvPr>
            <p:cNvSpPr>
              <a:spLocks noEditPoints="1"/>
            </p:cNvSpPr>
            <p:nvPr/>
          </p:nvSpPr>
          <p:spPr bwMode="auto">
            <a:xfrm>
              <a:off x="2129" y="1148"/>
              <a:ext cx="146" cy="18"/>
            </a:xfrm>
            <a:custGeom>
              <a:avLst/>
              <a:gdLst>
                <a:gd name="T0" fmla="*/ 363 w 387"/>
                <a:gd name="T1" fmla="*/ 0 h 48"/>
                <a:gd name="T2" fmla="*/ 24 w 387"/>
                <a:gd name="T3" fmla="*/ 0 h 48"/>
                <a:gd name="T4" fmla="*/ 0 w 387"/>
                <a:gd name="T5" fmla="*/ 24 h 48"/>
                <a:gd name="T6" fmla="*/ 24 w 387"/>
                <a:gd name="T7" fmla="*/ 48 h 48"/>
                <a:gd name="T8" fmla="*/ 363 w 387"/>
                <a:gd name="T9" fmla="*/ 48 h 48"/>
                <a:gd name="T10" fmla="*/ 387 w 387"/>
                <a:gd name="T11" fmla="*/ 24 h 48"/>
                <a:gd name="T12" fmla="*/ 363 w 387"/>
                <a:gd name="T13" fmla="*/ 0 h 48"/>
                <a:gd name="T14" fmla="*/ 363 w 387"/>
                <a:gd name="T15" fmla="*/ 0 h 48"/>
                <a:gd name="T16" fmla="*/ 363 w 387"/>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48">
                  <a:moveTo>
                    <a:pt x="363" y="0"/>
                  </a:moveTo>
                  <a:cubicBezTo>
                    <a:pt x="24" y="0"/>
                    <a:pt x="24" y="0"/>
                    <a:pt x="24" y="0"/>
                  </a:cubicBezTo>
                  <a:cubicBezTo>
                    <a:pt x="11" y="0"/>
                    <a:pt x="0" y="11"/>
                    <a:pt x="0" y="24"/>
                  </a:cubicBezTo>
                  <a:cubicBezTo>
                    <a:pt x="0" y="37"/>
                    <a:pt x="11" y="48"/>
                    <a:pt x="24" y="48"/>
                  </a:cubicBezTo>
                  <a:cubicBezTo>
                    <a:pt x="363" y="48"/>
                    <a:pt x="363" y="48"/>
                    <a:pt x="363" y="48"/>
                  </a:cubicBezTo>
                  <a:cubicBezTo>
                    <a:pt x="376" y="48"/>
                    <a:pt x="387" y="37"/>
                    <a:pt x="387" y="24"/>
                  </a:cubicBezTo>
                  <a:cubicBezTo>
                    <a:pt x="387" y="11"/>
                    <a:pt x="376" y="0"/>
                    <a:pt x="363" y="0"/>
                  </a:cubicBezTo>
                  <a:close/>
                  <a:moveTo>
                    <a:pt x="363" y="0"/>
                  </a:moveTo>
                  <a:cubicBezTo>
                    <a:pt x="363" y="0"/>
                    <a:pt x="363" y="0"/>
                    <a:pt x="36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6" name="Freeform 31">
              <a:extLst>
                <a:ext uri="{FF2B5EF4-FFF2-40B4-BE49-F238E27FC236}">
                  <a16:creationId xmlns:a16="http://schemas.microsoft.com/office/drawing/2014/main" id="{BE9FB51F-7C72-56A5-1663-FAC77737209C}"/>
                </a:ext>
              </a:extLst>
            </p:cNvPr>
            <p:cNvSpPr>
              <a:spLocks noEditPoints="1"/>
            </p:cNvSpPr>
            <p:nvPr/>
          </p:nvSpPr>
          <p:spPr bwMode="auto">
            <a:xfrm>
              <a:off x="2129" y="1192"/>
              <a:ext cx="146" cy="18"/>
            </a:xfrm>
            <a:custGeom>
              <a:avLst/>
              <a:gdLst>
                <a:gd name="T0" fmla="*/ 363 w 387"/>
                <a:gd name="T1" fmla="*/ 0 h 48"/>
                <a:gd name="T2" fmla="*/ 24 w 387"/>
                <a:gd name="T3" fmla="*/ 0 h 48"/>
                <a:gd name="T4" fmla="*/ 0 w 387"/>
                <a:gd name="T5" fmla="*/ 24 h 48"/>
                <a:gd name="T6" fmla="*/ 24 w 387"/>
                <a:gd name="T7" fmla="*/ 48 h 48"/>
                <a:gd name="T8" fmla="*/ 363 w 387"/>
                <a:gd name="T9" fmla="*/ 48 h 48"/>
                <a:gd name="T10" fmla="*/ 387 w 387"/>
                <a:gd name="T11" fmla="*/ 24 h 48"/>
                <a:gd name="T12" fmla="*/ 363 w 387"/>
                <a:gd name="T13" fmla="*/ 0 h 48"/>
                <a:gd name="T14" fmla="*/ 363 w 387"/>
                <a:gd name="T15" fmla="*/ 0 h 48"/>
                <a:gd name="T16" fmla="*/ 363 w 387"/>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7" h="48">
                  <a:moveTo>
                    <a:pt x="363" y="0"/>
                  </a:moveTo>
                  <a:cubicBezTo>
                    <a:pt x="24" y="0"/>
                    <a:pt x="24" y="0"/>
                    <a:pt x="24" y="0"/>
                  </a:cubicBezTo>
                  <a:cubicBezTo>
                    <a:pt x="11" y="0"/>
                    <a:pt x="0" y="11"/>
                    <a:pt x="0" y="24"/>
                  </a:cubicBezTo>
                  <a:cubicBezTo>
                    <a:pt x="0" y="37"/>
                    <a:pt x="11" y="48"/>
                    <a:pt x="24" y="48"/>
                  </a:cubicBezTo>
                  <a:cubicBezTo>
                    <a:pt x="363" y="48"/>
                    <a:pt x="363" y="48"/>
                    <a:pt x="363" y="48"/>
                  </a:cubicBezTo>
                  <a:cubicBezTo>
                    <a:pt x="376" y="48"/>
                    <a:pt x="387" y="37"/>
                    <a:pt x="387" y="24"/>
                  </a:cubicBezTo>
                  <a:cubicBezTo>
                    <a:pt x="387" y="11"/>
                    <a:pt x="376" y="0"/>
                    <a:pt x="363" y="0"/>
                  </a:cubicBezTo>
                  <a:close/>
                  <a:moveTo>
                    <a:pt x="363" y="0"/>
                  </a:moveTo>
                  <a:cubicBezTo>
                    <a:pt x="363" y="0"/>
                    <a:pt x="363" y="0"/>
                    <a:pt x="363"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7" name="Freeform 32">
              <a:extLst>
                <a:ext uri="{FF2B5EF4-FFF2-40B4-BE49-F238E27FC236}">
                  <a16:creationId xmlns:a16="http://schemas.microsoft.com/office/drawing/2014/main" id="{3B2CA354-2512-47BD-740B-1E1F4CCD52C6}"/>
                </a:ext>
              </a:extLst>
            </p:cNvPr>
            <p:cNvSpPr>
              <a:spLocks noEditPoints="1"/>
            </p:cNvSpPr>
            <p:nvPr/>
          </p:nvSpPr>
          <p:spPr bwMode="auto">
            <a:xfrm>
              <a:off x="2129" y="904"/>
              <a:ext cx="389" cy="85"/>
            </a:xfrm>
            <a:custGeom>
              <a:avLst/>
              <a:gdLst>
                <a:gd name="T0" fmla="*/ 967 w 1029"/>
                <a:gd name="T1" fmla="*/ 0 h 224"/>
                <a:gd name="T2" fmla="*/ 63 w 1029"/>
                <a:gd name="T3" fmla="*/ 0 h 224"/>
                <a:gd name="T4" fmla="*/ 0 w 1029"/>
                <a:gd name="T5" fmla="*/ 63 h 224"/>
                <a:gd name="T6" fmla="*/ 0 w 1029"/>
                <a:gd name="T7" fmla="*/ 161 h 224"/>
                <a:gd name="T8" fmla="*/ 63 w 1029"/>
                <a:gd name="T9" fmla="*/ 224 h 224"/>
                <a:gd name="T10" fmla="*/ 485 w 1029"/>
                <a:gd name="T11" fmla="*/ 224 h 224"/>
                <a:gd name="T12" fmla="*/ 509 w 1029"/>
                <a:gd name="T13" fmla="*/ 200 h 224"/>
                <a:gd name="T14" fmla="*/ 485 w 1029"/>
                <a:gd name="T15" fmla="*/ 176 h 224"/>
                <a:gd name="T16" fmla="*/ 63 w 1029"/>
                <a:gd name="T17" fmla="*/ 176 h 224"/>
                <a:gd name="T18" fmla="*/ 48 w 1029"/>
                <a:gd name="T19" fmla="*/ 161 h 224"/>
                <a:gd name="T20" fmla="*/ 48 w 1029"/>
                <a:gd name="T21" fmla="*/ 63 h 224"/>
                <a:gd name="T22" fmla="*/ 63 w 1029"/>
                <a:gd name="T23" fmla="*/ 48 h 224"/>
                <a:gd name="T24" fmla="*/ 967 w 1029"/>
                <a:gd name="T25" fmla="*/ 48 h 224"/>
                <a:gd name="T26" fmla="*/ 981 w 1029"/>
                <a:gd name="T27" fmla="*/ 63 h 224"/>
                <a:gd name="T28" fmla="*/ 981 w 1029"/>
                <a:gd name="T29" fmla="*/ 161 h 224"/>
                <a:gd name="T30" fmla="*/ 967 w 1029"/>
                <a:gd name="T31" fmla="*/ 176 h 224"/>
                <a:gd name="T32" fmla="*/ 597 w 1029"/>
                <a:gd name="T33" fmla="*/ 176 h 224"/>
                <a:gd name="T34" fmla="*/ 573 w 1029"/>
                <a:gd name="T35" fmla="*/ 200 h 224"/>
                <a:gd name="T36" fmla="*/ 597 w 1029"/>
                <a:gd name="T37" fmla="*/ 224 h 224"/>
                <a:gd name="T38" fmla="*/ 967 w 1029"/>
                <a:gd name="T39" fmla="*/ 224 h 224"/>
                <a:gd name="T40" fmla="*/ 1029 w 1029"/>
                <a:gd name="T41" fmla="*/ 161 h 224"/>
                <a:gd name="T42" fmla="*/ 1029 w 1029"/>
                <a:gd name="T43" fmla="*/ 63 h 224"/>
                <a:gd name="T44" fmla="*/ 967 w 1029"/>
                <a:gd name="T45" fmla="*/ 0 h 224"/>
                <a:gd name="T46" fmla="*/ 967 w 1029"/>
                <a:gd name="T47" fmla="*/ 0 h 224"/>
                <a:gd name="T48" fmla="*/ 967 w 1029"/>
                <a:gd name="T49" fmla="*/ 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29" h="224">
                  <a:moveTo>
                    <a:pt x="967" y="0"/>
                  </a:moveTo>
                  <a:cubicBezTo>
                    <a:pt x="63" y="0"/>
                    <a:pt x="63" y="0"/>
                    <a:pt x="63" y="0"/>
                  </a:cubicBezTo>
                  <a:cubicBezTo>
                    <a:pt x="28" y="0"/>
                    <a:pt x="0" y="28"/>
                    <a:pt x="0" y="63"/>
                  </a:cubicBezTo>
                  <a:cubicBezTo>
                    <a:pt x="0" y="161"/>
                    <a:pt x="0" y="161"/>
                    <a:pt x="0" y="161"/>
                  </a:cubicBezTo>
                  <a:cubicBezTo>
                    <a:pt x="0" y="196"/>
                    <a:pt x="28" y="224"/>
                    <a:pt x="63" y="224"/>
                  </a:cubicBezTo>
                  <a:cubicBezTo>
                    <a:pt x="485" y="224"/>
                    <a:pt x="485" y="224"/>
                    <a:pt x="485" y="224"/>
                  </a:cubicBezTo>
                  <a:cubicBezTo>
                    <a:pt x="499" y="224"/>
                    <a:pt x="509" y="213"/>
                    <a:pt x="509" y="200"/>
                  </a:cubicBezTo>
                  <a:cubicBezTo>
                    <a:pt x="509" y="186"/>
                    <a:pt x="499" y="176"/>
                    <a:pt x="485" y="176"/>
                  </a:cubicBezTo>
                  <a:cubicBezTo>
                    <a:pt x="63" y="176"/>
                    <a:pt x="63" y="176"/>
                    <a:pt x="63" y="176"/>
                  </a:cubicBezTo>
                  <a:cubicBezTo>
                    <a:pt x="55" y="176"/>
                    <a:pt x="48" y="169"/>
                    <a:pt x="48" y="161"/>
                  </a:cubicBezTo>
                  <a:cubicBezTo>
                    <a:pt x="48" y="63"/>
                    <a:pt x="48" y="63"/>
                    <a:pt x="48" y="63"/>
                  </a:cubicBezTo>
                  <a:cubicBezTo>
                    <a:pt x="48" y="55"/>
                    <a:pt x="55" y="48"/>
                    <a:pt x="63" y="48"/>
                  </a:cubicBezTo>
                  <a:cubicBezTo>
                    <a:pt x="967" y="48"/>
                    <a:pt x="967" y="48"/>
                    <a:pt x="967" y="48"/>
                  </a:cubicBezTo>
                  <a:cubicBezTo>
                    <a:pt x="975" y="48"/>
                    <a:pt x="981" y="55"/>
                    <a:pt x="981" y="63"/>
                  </a:cubicBezTo>
                  <a:cubicBezTo>
                    <a:pt x="981" y="161"/>
                    <a:pt x="981" y="161"/>
                    <a:pt x="981" y="161"/>
                  </a:cubicBezTo>
                  <a:cubicBezTo>
                    <a:pt x="981" y="169"/>
                    <a:pt x="975" y="176"/>
                    <a:pt x="967" y="176"/>
                  </a:cubicBezTo>
                  <a:cubicBezTo>
                    <a:pt x="597" y="176"/>
                    <a:pt x="597" y="176"/>
                    <a:pt x="597" y="176"/>
                  </a:cubicBezTo>
                  <a:cubicBezTo>
                    <a:pt x="584" y="176"/>
                    <a:pt x="573" y="186"/>
                    <a:pt x="573" y="200"/>
                  </a:cubicBezTo>
                  <a:cubicBezTo>
                    <a:pt x="573" y="213"/>
                    <a:pt x="584" y="224"/>
                    <a:pt x="597" y="224"/>
                  </a:cubicBezTo>
                  <a:cubicBezTo>
                    <a:pt x="967" y="224"/>
                    <a:pt x="967" y="224"/>
                    <a:pt x="967" y="224"/>
                  </a:cubicBezTo>
                  <a:cubicBezTo>
                    <a:pt x="1001" y="224"/>
                    <a:pt x="1029" y="196"/>
                    <a:pt x="1029" y="161"/>
                  </a:cubicBezTo>
                  <a:cubicBezTo>
                    <a:pt x="1029" y="63"/>
                    <a:pt x="1029" y="63"/>
                    <a:pt x="1029" y="63"/>
                  </a:cubicBezTo>
                  <a:cubicBezTo>
                    <a:pt x="1029" y="28"/>
                    <a:pt x="1001" y="0"/>
                    <a:pt x="967" y="0"/>
                  </a:cubicBezTo>
                  <a:close/>
                  <a:moveTo>
                    <a:pt x="967" y="0"/>
                  </a:moveTo>
                  <a:cubicBezTo>
                    <a:pt x="967" y="0"/>
                    <a:pt x="967" y="0"/>
                    <a:pt x="967"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grpSp>
      <p:grpSp>
        <p:nvGrpSpPr>
          <p:cNvPr id="38" name="Group 30">
            <a:extLst>
              <a:ext uri="{FF2B5EF4-FFF2-40B4-BE49-F238E27FC236}">
                <a16:creationId xmlns:a16="http://schemas.microsoft.com/office/drawing/2014/main" id="{E177C7FC-175D-B41B-0A35-D4F975EC7CFE}"/>
              </a:ext>
            </a:extLst>
          </p:cNvPr>
          <p:cNvGrpSpPr>
            <a:grpSpLocks noChangeAspect="1"/>
          </p:cNvGrpSpPr>
          <p:nvPr/>
        </p:nvGrpSpPr>
        <p:grpSpPr bwMode="auto">
          <a:xfrm>
            <a:off x="5901137" y="1040017"/>
            <a:ext cx="315523" cy="396964"/>
            <a:chOff x="2923" y="1578"/>
            <a:chExt cx="442" cy="548"/>
          </a:xfrm>
          <a:solidFill>
            <a:schemeClr val="tx1"/>
          </a:solidFill>
        </p:grpSpPr>
        <p:sp>
          <p:nvSpPr>
            <p:cNvPr id="39" name="Freeform 31">
              <a:extLst>
                <a:ext uri="{FF2B5EF4-FFF2-40B4-BE49-F238E27FC236}">
                  <a16:creationId xmlns:a16="http://schemas.microsoft.com/office/drawing/2014/main" id="{105DE3BE-0D69-42F2-7CD1-0152C347DB0E}"/>
                </a:ext>
              </a:extLst>
            </p:cNvPr>
            <p:cNvSpPr>
              <a:spLocks noEditPoints="1"/>
            </p:cNvSpPr>
            <p:nvPr/>
          </p:nvSpPr>
          <p:spPr bwMode="auto">
            <a:xfrm>
              <a:off x="2923" y="1578"/>
              <a:ext cx="442" cy="548"/>
            </a:xfrm>
            <a:custGeom>
              <a:avLst/>
              <a:gdLst>
                <a:gd name="T0" fmla="*/ 153 w 154"/>
                <a:gd name="T1" fmla="*/ 187 h 192"/>
                <a:gd name="T2" fmla="*/ 144 w 154"/>
                <a:gd name="T3" fmla="*/ 178 h 192"/>
                <a:gd name="T4" fmla="*/ 144 w 154"/>
                <a:gd name="T5" fmla="*/ 66 h 192"/>
                <a:gd name="T6" fmla="*/ 128 w 154"/>
                <a:gd name="T7" fmla="*/ 50 h 192"/>
                <a:gd name="T8" fmla="*/ 128 w 154"/>
                <a:gd name="T9" fmla="*/ 0 h 192"/>
                <a:gd name="T10" fmla="*/ 0 w 154"/>
                <a:gd name="T11" fmla="*/ 0 h 192"/>
                <a:gd name="T12" fmla="*/ 0 w 154"/>
                <a:gd name="T13" fmla="*/ 166 h 192"/>
                <a:gd name="T14" fmla="*/ 16 w 154"/>
                <a:gd name="T15" fmla="*/ 166 h 192"/>
                <a:gd name="T16" fmla="*/ 16 w 154"/>
                <a:gd name="T17" fmla="*/ 182 h 192"/>
                <a:gd name="T18" fmla="*/ 139 w 154"/>
                <a:gd name="T19" fmla="*/ 182 h 192"/>
                <a:gd name="T20" fmla="*/ 148 w 154"/>
                <a:gd name="T21" fmla="*/ 191 h 192"/>
                <a:gd name="T22" fmla="*/ 150 w 154"/>
                <a:gd name="T23" fmla="*/ 192 h 192"/>
                <a:gd name="T24" fmla="*/ 153 w 154"/>
                <a:gd name="T25" fmla="*/ 191 h 192"/>
                <a:gd name="T26" fmla="*/ 153 w 154"/>
                <a:gd name="T27" fmla="*/ 187 h 192"/>
                <a:gd name="T28" fmla="*/ 133 w 154"/>
                <a:gd name="T29" fmla="*/ 64 h 192"/>
                <a:gd name="T30" fmla="*/ 96 w 154"/>
                <a:gd name="T31" fmla="*/ 64 h 192"/>
                <a:gd name="T32" fmla="*/ 96 w 154"/>
                <a:gd name="T33" fmla="*/ 27 h 192"/>
                <a:gd name="T34" fmla="*/ 133 w 154"/>
                <a:gd name="T35" fmla="*/ 64 h 192"/>
                <a:gd name="T36" fmla="*/ 6 w 154"/>
                <a:gd name="T37" fmla="*/ 160 h 192"/>
                <a:gd name="T38" fmla="*/ 6 w 154"/>
                <a:gd name="T39" fmla="*/ 6 h 192"/>
                <a:gd name="T40" fmla="*/ 122 w 154"/>
                <a:gd name="T41" fmla="*/ 6 h 192"/>
                <a:gd name="T42" fmla="*/ 122 w 154"/>
                <a:gd name="T43" fmla="*/ 43 h 192"/>
                <a:gd name="T44" fmla="*/ 94 w 154"/>
                <a:gd name="T45" fmla="*/ 16 h 192"/>
                <a:gd name="T46" fmla="*/ 16 w 154"/>
                <a:gd name="T47" fmla="*/ 16 h 192"/>
                <a:gd name="T48" fmla="*/ 16 w 154"/>
                <a:gd name="T49" fmla="*/ 160 h 192"/>
                <a:gd name="T50" fmla="*/ 6 w 154"/>
                <a:gd name="T51" fmla="*/ 160 h 192"/>
                <a:gd name="T52" fmla="*/ 22 w 154"/>
                <a:gd name="T53" fmla="*/ 176 h 192"/>
                <a:gd name="T54" fmla="*/ 22 w 154"/>
                <a:gd name="T55" fmla="*/ 22 h 192"/>
                <a:gd name="T56" fmla="*/ 90 w 154"/>
                <a:gd name="T57" fmla="*/ 22 h 192"/>
                <a:gd name="T58" fmla="*/ 90 w 154"/>
                <a:gd name="T59" fmla="*/ 70 h 192"/>
                <a:gd name="T60" fmla="*/ 138 w 154"/>
                <a:gd name="T61" fmla="*/ 70 h 192"/>
                <a:gd name="T62" fmla="*/ 138 w 154"/>
                <a:gd name="T63" fmla="*/ 171 h 192"/>
                <a:gd name="T64" fmla="*/ 114 w 154"/>
                <a:gd name="T65" fmla="*/ 147 h 192"/>
                <a:gd name="T66" fmla="*/ 122 w 154"/>
                <a:gd name="T67" fmla="*/ 123 h 192"/>
                <a:gd name="T68" fmla="*/ 85 w 154"/>
                <a:gd name="T69" fmla="*/ 85 h 192"/>
                <a:gd name="T70" fmla="*/ 47 w 154"/>
                <a:gd name="T71" fmla="*/ 123 h 192"/>
                <a:gd name="T72" fmla="*/ 85 w 154"/>
                <a:gd name="T73" fmla="*/ 161 h 192"/>
                <a:gd name="T74" fmla="*/ 109 w 154"/>
                <a:gd name="T75" fmla="*/ 152 h 192"/>
                <a:gd name="T76" fmla="*/ 133 w 154"/>
                <a:gd name="T77" fmla="*/ 176 h 192"/>
                <a:gd name="T78" fmla="*/ 22 w 154"/>
                <a:gd name="T79" fmla="*/ 176 h 192"/>
                <a:gd name="T80" fmla="*/ 85 w 154"/>
                <a:gd name="T81" fmla="*/ 155 h 192"/>
                <a:gd name="T82" fmla="*/ 53 w 154"/>
                <a:gd name="T83" fmla="*/ 123 h 192"/>
                <a:gd name="T84" fmla="*/ 85 w 154"/>
                <a:gd name="T85" fmla="*/ 92 h 192"/>
                <a:gd name="T86" fmla="*/ 116 w 154"/>
                <a:gd name="T87" fmla="*/ 123 h 192"/>
                <a:gd name="T88" fmla="*/ 85 w 154"/>
                <a:gd name="T89" fmla="*/ 155 h 192"/>
                <a:gd name="T90" fmla="*/ 85 w 154"/>
                <a:gd name="T91" fmla="*/ 155 h 192"/>
                <a:gd name="T92" fmla="*/ 85 w 154"/>
                <a:gd name="T93" fmla="*/ 155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4" h="192">
                  <a:moveTo>
                    <a:pt x="153" y="187"/>
                  </a:moveTo>
                  <a:cubicBezTo>
                    <a:pt x="144" y="178"/>
                    <a:pt x="144" y="178"/>
                    <a:pt x="144" y="178"/>
                  </a:cubicBezTo>
                  <a:cubicBezTo>
                    <a:pt x="144" y="66"/>
                    <a:pt x="144" y="66"/>
                    <a:pt x="144" y="66"/>
                  </a:cubicBezTo>
                  <a:cubicBezTo>
                    <a:pt x="128" y="50"/>
                    <a:pt x="128" y="50"/>
                    <a:pt x="128" y="50"/>
                  </a:cubicBezTo>
                  <a:cubicBezTo>
                    <a:pt x="128" y="0"/>
                    <a:pt x="128" y="0"/>
                    <a:pt x="128" y="0"/>
                  </a:cubicBezTo>
                  <a:cubicBezTo>
                    <a:pt x="0" y="0"/>
                    <a:pt x="0" y="0"/>
                    <a:pt x="0" y="0"/>
                  </a:cubicBezTo>
                  <a:cubicBezTo>
                    <a:pt x="0" y="166"/>
                    <a:pt x="0" y="166"/>
                    <a:pt x="0" y="166"/>
                  </a:cubicBezTo>
                  <a:cubicBezTo>
                    <a:pt x="16" y="166"/>
                    <a:pt x="16" y="166"/>
                    <a:pt x="16" y="166"/>
                  </a:cubicBezTo>
                  <a:cubicBezTo>
                    <a:pt x="16" y="182"/>
                    <a:pt x="16" y="182"/>
                    <a:pt x="16" y="182"/>
                  </a:cubicBezTo>
                  <a:cubicBezTo>
                    <a:pt x="139" y="182"/>
                    <a:pt x="139" y="182"/>
                    <a:pt x="139" y="182"/>
                  </a:cubicBezTo>
                  <a:cubicBezTo>
                    <a:pt x="148" y="191"/>
                    <a:pt x="148" y="191"/>
                    <a:pt x="148" y="191"/>
                  </a:cubicBezTo>
                  <a:cubicBezTo>
                    <a:pt x="149" y="192"/>
                    <a:pt x="150" y="192"/>
                    <a:pt x="150" y="192"/>
                  </a:cubicBezTo>
                  <a:cubicBezTo>
                    <a:pt x="151" y="192"/>
                    <a:pt x="152" y="192"/>
                    <a:pt x="153" y="191"/>
                  </a:cubicBezTo>
                  <a:cubicBezTo>
                    <a:pt x="154" y="190"/>
                    <a:pt x="154" y="188"/>
                    <a:pt x="153" y="187"/>
                  </a:cubicBezTo>
                  <a:close/>
                  <a:moveTo>
                    <a:pt x="133" y="64"/>
                  </a:moveTo>
                  <a:cubicBezTo>
                    <a:pt x="96" y="64"/>
                    <a:pt x="96" y="64"/>
                    <a:pt x="96" y="64"/>
                  </a:cubicBezTo>
                  <a:cubicBezTo>
                    <a:pt x="96" y="27"/>
                    <a:pt x="96" y="27"/>
                    <a:pt x="96" y="27"/>
                  </a:cubicBezTo>
                  <a:lnTo>
                    <a:pt x="133" y="64"/>
                  </a:lnTo>
                  <a:close/>
                  <a:moveTo>
                    <a:pt x="6" y="160"/>
                  </a:moveTo>
                  <a:cubicBezTo>
                    <a:pt x="6" y="6"/>
                    <a:pt x="6" y="6"/>
                    <a:pt x="6" y="6"/>
                  </a:cubicBezTo>
                  <a:cubicBezTo>
                    <a:pt x="122" y="6"/>
                    <a:pt x="122" y="6"/>
                    <a:pt x="122" y="6"/>
                  </a:cubicBezTo>
                  <a:cubicBezTo>
                    <a:pt x="122" y="43"/>
                    <a:pt x="122" y="43"/>
                    <a:pt x="122" y="43"/>
                  </a:cubicBezTo>
                  <a:cubicBezTo>
                    <a:pt x="94" y="16"/>
                    <a:pt x="94" y="16"/>
                    <a:pt x="94" y="16"/>
                  </a:cubicBezTo>
                  <a:cubicBezTo>
                    <a:pt x="16" y="16"/>
                    <a:pt x="16" y="16"/>
                    <a:pt x="16" y="16"/>
                  </a:cubicBezTo>
                  <a:cubicBezTo>
                    <a:pt x="16" y="160"/>
                    <a:pt x="16" y="160"/>
                    <a:pt x="16" y="160"/>
                  </a:cubicBezTo>
                  <a:lnTo>
                    <a:pt x="6" y="160"/>
                  </a:lnTo>
                  <a:close/>
                  <a:moveTo>
                    <a:pt x="22" y="176"/>
                  </a:moveTo>
                  <a:cubicBezTo>
                    <a:pt x="22" y="22"/>
                    <a:pt x="22" y="22"/>
                    <a:pt x="22" y="22"/>
                  </a:cubicBezTo>
                  <a:cubicBezTo>
                    <a:pt x="90" y="22"/>
                    <a:pt x="90" y="22"/>
                    <a:pt x="90" y="22"/>
                  </a:cubicBezTo>
                  <a:cubicBezTo>
                    <a:pt x="90" y="70"/>
                    <a:pt x="90" y="70"/>
                    <a:pt x="90" y="70"/>
                  </a:cubicBezTo>
                  <a:cubicBezTo>
                    <a:pt x="138" y="70"/>
                    <a:pt x="138" y="70"/>
                    <a:pt x="138" y="70"/>
                  </a:cubicBezTo>
                  <a:cubicBezTo>
                    <a:pt x="138" y="171"/>
                    <a:pt x="138" y="171"/>
                    <a:pt x="138" y="171"/>
                  </a:cubicBezTo>
                  <a:cubicBezTo>
                    <a:pt x="114" y="147"/>
                    <a:pt x="114" y="147"/>
                    <a:pt x="114" y="147"/>
                  </a:cubicBezTo>
                  <a:cubicBezTo>
                    <a:pt x="119" y="141"/>
                    <a:pt x="122" y="132"/>
                    <a:pt x="122" y="123"/>
                  </a:cubicBezTo>
                  <a:cubicBezTo>
                    <a:pt x="122" y="102"/>
                    <a:pt x="106" y="85"/>
                    <a:pt x="85" y="85"/>
                  </a:cubicBezTo>
                  <a:cubicBezTo>
                    <a:pt x="64" y="85"/>
                    <a:pt x="47" y="102"/>
                    <a:pt x="47" y="123"/>
                  </a:cubicBezTo>
                  <a:cubicBezTo>
                    <a:pt x="47" y="144"/>
                    <a:pt x="64" y="161"/>
                    <a:pt x="85" y="161"/>
                  </a:cubicBezTo>
                  <a:cubicBezTo>
                    <a:pt x="94" y="161"/>
                    <a:pt x="102" y="158"/>
                    <a:pt x="109" y="152"/>
                  </a:cubicBezTo>
                  <a:cubicBezTo>
                    <a:pt x="133" y="176"/>
                    <a:pt x="133" y="176"/>
                    <a:pt x="133" y="176"/>
                  </a:cubicBezTo>
                  <a:lnTo>
                    <a:pt x="22" y="176"/>
                  </a:lnTo>
                  <a:close/>
                  <a:moveTo>
                    <a:pt x="85" y="155"/>
                  </a:moveTo>
                  <a:cubicBezTo>
                    <a:pt x="67" y="155"/>
                    <a:pt x="53" y="140"/>
                    <a:pt x="53" y="123"/>
                  </a:cubicBezTo>
                  <a:cubicBezTo>
                    <a:pt x="53" y="106"/>
                    <a:pt x="67" y="92"/>
                    <a:pt x="85" y="92"/>
                  </a:cubicBezTo>
                  <a:cubicBezTo>
                    <a:pt x="102" y="92"/>
                    <a:pt x="116" y="106"/>
                    <a:pt x="116" y="123"/>
                  </a:cubicBezTo>
                  <a:cubicBezTo>
                    <a:pt x="116" y="140"/>
                    <a:pt x="102" y="155"/>
                    <a:pt x="85" y="155"/>
                  </a:cubicBezTo>
                  <a:close/>
                  <a:moveTo>
                    <a:pt x="85" y="155"/>
                  </a:moveTo>
                  <a:cubicBezTo>
                    <a:pt x="85" y="155"/>
                    <a:pt x="85" y="155"/>
                    <a:pt x="85" y="15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0" name="Freeform 32">
              <a:extLst>
                <a:ext uri="{FF2B5EF4-FFF2-40B4-BE49-F238E27FC236}">
                  <a16:creationId xmlns:a16="http://schemas.microsoft.com/office/drawing/2014/main" id="{50205DD4-1761-E065-6798-B10F10AD9D71}"/>
                </a:ext>
              </a:extLst>
            </p:cNvPr>
            <p:cNvSpPr>
              <a:spLocks noEditPoints="1"/>
            </p:cNvSpPr>
            <p:nvPr/>
          </p:nvSpPr>
          <p:spPr bwMode="auto">
            <a:xfrm>
              <a:off x="3104" y="1889"/>
              <a:ext cx="72" cy="17"/>
            </a:xfrm>
            <a:custGeom>
              <a:avLst/>
              <a:gdLst>
                <a:gd name="T0" fmla="*/ 3 w 25"/>
                <a:gd name="T1" fmla="*/ 6 h 6"/>
                <a:gd name="T2" fmla="*/ 22 w 25"/>
                <a:gd name="T3" fmla="*/ 6 h 6"/>
                <a:gd name="T4" fmla="*/ 25 w 25"/>
                <a:gd name="T5" fmla="*/ 3 h 6"/>
                <a:gd name="T6" fmla="*/ 22 w 25"/>
                <a:gd name="T7" fmla="*/ 0 h 6"/>
                <a:gd name="T8" fmla="*/ 3 w 25"/>
                <a:gd name="T9" fmla="*/ 0 h 6"/>
                <a:gd name="T10" fmla="*/ 0 w 25"/>
                <a:gd name="T11" fmla="*/ 3 h 6"/>
                <a:gd name="T12" fmla="*/ 3 w 25"/>
                <a:gd name="T13" fmla="*/ 6 h 6"/>
                <a:gd name="T14" fmla="*/ 3 w 25"/>
                <a:gd name="T15" fmla="*/ 6 h 6"/>
                <a:gd name="T16" fmla="*/ 3 w 25"/>
                <a:gd name="T17"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6">
                  <a:moveTo>
                    <a:pt x="3" y="6"/>
                  </a:moveTo>
                  <a:cubicBezTo>
                    <a:pt x="22" y="6"/>
                    <a:pt x="22" y="6"/>
                    <a:pt x="22" y="6"/>
                  </a:cubicBezTo>
                  <a:cubicBezTo>
                    <a:pt x="24" y="6"/>
                    <a:pt x="25" y="5"/>
                    <a:pt x="25" y="3"/>
                  </a:cubicBezTo>
                  <a:cubicBezTo>
                    <a:pt x="25" y="1"/>
                    <a:pt x="24" y="0"/>
                    <a:pt x="22" y="0"/>
                  </a:cubicBezTo>
                  <a:cubicBezTo>
                    <a:pt x="3" y="0"/>
                    <a:pt x="3" y="0"/>
                    <a:pt x="3" y="0"/>
                  </a:cubicBezTo>
                  <a:cubicBezTo>
                    <a:pt x="1" y="0"/>
                    <a:pt x="0" y="1"/>
                    <a:pt x="0" y="3"/>
                  </a:cubicBezTo>
                  <a:cubicBezTo>
                    <a:pt x="0" y="5"/>
                    <a:pt x="1" y="6"/>
                    <a:pt x="3" y="6"/>
                  </a:cubicBezTo>
                  <a:close/>
                  <a:moveTo>
                    <a:pt x="3" y="6"/>
                  </a:moveTo>
                  <a:cubicBezTo>
                    <a:pt x="3" y="6"/>
                    <a:pt x="3" y="6"/>
                    <a:pt x="3" y="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1" name="Freeform 33">
              <a:extLst>
                <a:ext uri="{FF2B5EF4-FFF2-40B4-BE49-F238E27FC236}">
                  <a16:creationId xmlns:a16="http://schemas.microsoft.com/office/drawing/2014/main" id="{ACFFA483-6B51-C89E-D4D1-E2B391682CFD}"/>
                </a:ext>
              </a:extLst>
            </p:cNvPr>
            <p:cNvSpPr>
              <a:spLocks noEditPoints="1"/>
            </p:cNvSpPr>
            <p:nvPr/>
          </p:nvSpPr>
          <p:spPr bwMode="auto">
            <a:xfrm>
              <a:off x="3104" y="1943"/>
              <a:ext cx="129" cy="17"/>
            </a:xfrm>
            <a:custGeom>
              <a:avLst/>
              <a:gdLst>
                <a:gd name="T0" fmla="*/ 41 w 45"/>
                <a:gd name="T1" fmla="*/ 0 h 6"/>
                <a:gd name="T2" fmla="*/ 3 w 45"/>
                <a:gd name="T3" fmla="*/ 0 h 6"/>
                <a:gd name="T4" fmla="*/ 0 w 45"/>
                <a:gd name="T5" fmla="*/ 3 h 6"/>
                <a:gd name="T6" fmla="*/ 3 w 45"/>
                <a:gd name="T7" fmla="*/ 6 h 6"/>
                <a:gd name="T8" fmla="*/ 41 w 45"/>
                <a:gd name="T9" fmla="*/ 6 h 6"/>
                <a:gd name="T10" fmla="*/ 45 w 45"/>
                <a:gd name="T11" fmla="*/ 3 h 6"/>
                <a:gd name="T12" fmla="*/ 41 w 45"/>
                <a:gd name="T13" fmla="*/ 0 h 6"/>
                <a:gd name="T14" fmla="*/ 41 w 45"/>
                <a:gd name="T15" fmla="*/ 0 h 6"/>
                <a:gd name="T16" fmla="*/ 41 w 45"/>
                <a:gd name="T17"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6">
                  <a:moveTo>
                    <a:pt x="41" y="0"/>
                  </a:moveTo>
                  <a:cubicBezTo>
                    <a:pt x="3" y="0"/>
                    <a:pt x="3" y="0"/>
                    <a:pt x="3" y="0"/>
                  </a:cubicBezTo>
                  <a:cubicBezTo>
                    <a:pt x="1" y="0"/>
                    <a:pt x="0" y="1"/>
                    <a:pt x="0" y="3"/>
                  </a:cubicBezTo>
                  <a:cubicBezTo>
                    <a:pt x="0" y="5"/>
                    <a:pt x="1" y="6"/>
                    <a:pt x="3" y="6"/>
                  </a:cubicBezTo>
                  <a:cubicBezTo>
                    <a:pt x="41" y="6"/>
                    <a:pt x="41" y="6"/>
                    <a:pt x="41" y="6"/>
                  </a:cubicBezTo>
                  <a:cubicBezTo>
                    <a:pt x="43" y="6"/>
                    <a:pt x="45" y="5"/>
                    <a:pt x="45" y="3"/>
                  </a:cubicBezTo>
                  <a:cubicBezTo>
                    <a:pt x="45" y="1"/>
                    <a:pt x="43" y="0"/>
                    <a:pt x="41" y="0"/>
                  </a:cubicBezTo>
                  <a:close/>
                  <a:moveTo>
                    <a:pt x="41" y="0"/>
                  </a:moveTo>
                  <a:cubicBezTo>
                    <a:pt x="41" y="0"/>
                    <a:pt x="41" y="0"/>
                    <a:pt x="4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grpSp>
      <p:sp>
        <p:nvSpPr>
          <p:cNvPr id="42" name="Rectangle 41">
            <a:extLst>
              <a:ext uri="{FF2B5EF4-FFF2-40B4-BE49-F238E27FC236}">
                <a16:creationId xmlns:a16="http://schemas.microsoft.com/office/drawing/2014/main" id="{9B4B0D5E-B498-766C-0E2B-A97CDEA7FB26}"/>
              </a:ext>
            </a:extLst>
          </p:cNvPr>
          <p:cNvSpPr/>
          <p:nvPr/>
        </p:nvSpPr>
        <p:spPr>
          <a:xfrm>
            <a:off x="2065433" y="5139068"/>
            <a:ext cx="1642001" cy="1038925"/>
          </a:xfrm>
          <a:prstGeom prst="rect">
            <a:avLst/>
          </a:prstGeom>
          <a:solidFill>
            <a:schemeClr val="accent6"/>
          </a:solidFill>
          <a:ln w="3175">
            <a:solidFill>
              <a:srgbClr val="BFBFBF"/>
            </a:solidFill>
            <a:prstDash val="solid"/>
          </a:ln>
        </p:spPr>
        <p:style>
          <a:lnRef idx="2">
            <a:schemeClr val="accent1">
              <a:shade val="15000"/>
            </a:schemeClr>
          </a:lnRef>
          <a:fillRef idx="1">
            <a:schemeClr val="accent1"/>
          </a:fillRef>
          <a:effectRef idx="0">
            <a:schemeClr val="accent1"/>
          </a:effectRef>
          <a:fontRef idx="minor">
            <a:schemeClr val="lt1"/>
          </a:fontRef>
        </p:style>
        <p:txBody>
          <a:bodyPr tIns="640080" rtlCol="0" anchor="t"/>
          <a:lstStyle/>
          <a:p>
            <a:pPr algn="ctr"/>
            <a:r>
              <a:rPr lang="en-US" sz="1100">
                <a:solidFill>
                  <a:schemeClr val="tx1"/>
                </a:solidFill>
                <a:latin typeface="Calibri" panose="020F0502020204030204" pitchFamily="34" charset="0"/>
              </a:rPr>
              <a:t>Data, Assumptions and Reserve Basis</a:t>
            </a:r>
          </a:p>
        </p:txBody>
      </p:sp>
      <p:sp>
        <p:nvSpPr>
          <p:cNvPr id="43" name="Rectangle 42">
            <a:extLst>
              <a:ext uri="{FF2B5EF4-FFF2-40B4-BE49-F238E27FC236}">
                <a16:creationId xmlns:a16="http://schemas.microsoft.com/office/drawing/2014/main" id="{A2E5F04C-ADAB-946F-3F60-42FA6F2B49D4}"/>
              </a:ext>
            </a:extLst>
          </p:cNvPr>
          <p:cNvSpPr/>
          <p:nvPr/>
        </p:nvSpPr>
        <p:spPr>
          <a:xfrm>
            <a:off x="4080093" y="5139068"/>
            <a:ext cx="1642001" cy="1038925"/>
          </a:xfrm>
          <a:prstGeom prst="rect">
            <a:avLst/>
          </a:prstGeom>
          <a:solidFill>
            <a:schemeClr val="accent6"/>
          </a:solidFill>
          <a:ln w="3175">
            <a:solidFill>
              <a:srgbClr val="BFBFBF"/>
            </a:solidFill>
            <a:prstDash val="solid"/>
          </a:ln>
        </p:spPr>
        <p:style>
          <a:lnRef idx="2">
            <a:schemeClr val="accent1">
              <a:shade val="15000"/>
            </a:schemeClr>
          </a:lnRef>
          <a:fillRef idx="1">
            <a:schemeClr val="accent1"/>
          </a:fillRef>
          <a:effectRef idx="0">
            <a:schemeClr val="accent1"/>
          </a:effectRef>
          <a:fontRef idx="minor">
            <a:schemeClr val="lt1"/>
          </a:fontRef>
        </p:style>
        <p:txBody>
          <a:bodyPr tIns="640080" rtlCol="0" anchor="t"/>
          <a:lstStyle/>
          <a:p>
            <a:pPr algn="ctr"/>
            <a:r>
              <a:rPr lang="en-US" sz="1100">
                <a:solidFill>
                  <a:schemeClr val="tx1"/>
                </a:solidFill>
                <a:latin typeface="Calibri" panose="020F0502020204030204" pitchFamily="34" charset="0"/>
              </a:rPr>
              <a:t>Model development &amp; Maintenance</a:t>
            </a:r>
          </a:p>
        </p:txBody>
      </p:sp>
      <p:sp>
        <p:nvSpPr>
          <p:cNvPr id="44" name="Rectangle 43">
            <a:extLst>
              <a:ext uri="{FF2B5EF4-FFF2-40B4-BE49-F238E27FC236}">
                <a16:creationId xmlns:a16="http://schemas.microsoft.com/office/drawing/2014/main" id="{8829783E-1FAB-0AF1-58DE-0066471C4382}"/>
              </a:ext>
            </a:extLst>
          </p:cNvPr>
          <p:cNvSpPr/>
          <p:nvPr/>
        </p:nvSpPr>
        <p:spPr>
          <a:xfrm>
            <a:off x="6094753" y="5139068"/>
            <a:ext cx="1642001" cy="1038925"/>
          </a:xfrm>
          <a:prstGeom prst="rect">
            <a:avLst/>
          </a:prstGeom>
          <a:solidFill>
            <a:schemeClr val="accent6"/>
          </a:solidFill>
          <a:ln w="3175">
            <a:solidFill>
              <a:srgbClr val="BFBFBF"/>
            </a:solidFill>
            <a:prstDash val="solid"/>
          </a:ln>
        </p:spPr>
        <p:style>
          <a:lnRef idx="2">
            <a:schemeClr val="accent1">
              <a:shade val="15000"/>
            </a:schemeClr>
          </a:lnRef>
          <a:fillRef idx="1">
            <a:schemeClr val="accent1"/>
          </a:fillRef>
          <a:effectRef idx="0">
            <a:schemeClr val="accent1"/>
          </a:effectRef>
          <a:fontRef idx="minor">
            <a:schemeClr val="lt1"/>
          </a:fontRef>
        </p:style>
        <p:txBody>
          <a:bodyPr tIns="640080" rtlCol="0" anchor="t"/>
          <a:lstStyle/>
          <a:p>
            <a:pPr algn="ctr"/>
            <a:r>
              <a:rPr lang="en-US" sz="1100">
                <a:solidFill>
                  <a:schemeClr val="tx1"/>
                </a:solidFill>
                <a:latin typeface="Calibri" panose="020F0502020204030204" pitchFamily="34" charset="0"/>
              </a:rPr>
              <a:t>Regulatory /</a:t>
            </a:r>
            <a:br>
              <a:rPr lang="en-US" sz="1100">
                <a:solidFill>
                  <a:schemeClr val="tx1"/>
                </a:solidFill>
                <a:latin typeface="Calibri" panose="020F0502020204030204" pitchFamily="34" charset="0"/>
              </a:rPr>
            </a:br>
            <a:r>
              <a:rPr lang="en-US" sz="1100">
                <a:solidFill>
                  <a:schemeClr val="tx1"/>
                </a:solidFill>
                <a:latin typeface="Calibri" panose="020F0502020204030204" pitchFamily="34" charset="0"/>
              </a:rPr>
              <a:t>Compliance readiness</a:t>
            </a:r>
          </a:p>
        </p:txBody>
      </p:sp>
      <p:sp>
        <p:nvSpPr>
          <p:cNvPr id="45" name="Rectangle 44">
            <a:extLst>
              <a:ext uri="{FF2B5EF4-FFF2-40B4-BE49-F238E27FC236}">
                <a16:creationId xmlns:a16="http://schemas.microsoft.com/office/drawing/2014/main" id="{69119314-FD5B-F1B3-2DB5-DD3BE5188FD1}"/>
              </a:ext>
            </a:extLst>
          </p:cNvPr>
          <p:cNvSpPr/>
          <p:nvPr/>
        </p:nvSpPr>
        <p:spPr>
          <a:xfrm>
            <a:off x="8109413" y="5139068"/>
            <a:ext cx="1642001" cy="1038925"/>
          </a:xfrm>
          <a:prstGeom prst="rect">
            <a:avLst/>
          </a:prstGeom>
          <a:solidFill>
            <a:schemeClr val="accent6"/>
          </a:solidFill>
          <a:ln w="3175">
            <a:solidFill>
              <a:srgbClr val="BFBFBF"/>
            </a:solidFill>
            <a:prstDash val="solid"/>
          </a:ln>
        </p:spPr>
        <p:style>
          <a:lnRef idx="2">
            <a:schemeClr val="accent1">
              <a:shade val="15000"/>
            </a:schemeClr>
          </a:lnRef>
          <a:fillRef idx="1">
            <a:schemeClr val="accent1"/>
          </a:fillRef>
          <a:effectRef idx="0">
            <a:schemeClr val="accent1"/>
          </a:effectRef>
          <a:fontRef idx="minor">
            <a:schemeClr val="lt1"/>
          </a:fontRef>
        </p:style>
        <p:txBody>
          <a:bodyPr tIns="640080" rtlCol="0" anchor="t"/>
          <a:lstStyle/>
          <a:p>
            <a:pPr algn="ctr"/>
            <a:r>
              <a:rPr lang="en-US" sz="1100">
                <a:solidFill>
                  <a:schemeClr val="tx1"/>
                </a:solidFill>
                <a:latin typeface="Calibri" panose="020F0502020204030204" pitchFamily="34" charset="0"/>
              </a:rPr>
              <a:t>Peer review</a:t>
            </a:r>
          </a:p>
        </p:txBody>
      </p:sp>
      <p:sp>
        <p:nvSpPr>
          <p:cNvPr id="46" name="Rectangle 45">
            <a:extLst>
              <a:ext uri="{FF2B5EF4-FFF2-40B4-BE49-F238E27FC236}">
                <a16:creationId xmlns:a16="http://schemas.microsoft.com/office/drawing/2014/main" id="{B1C252CF-AA4C-606F-5CD8-BCA6E7901F10}"/>
              </a:ext>
            </a:extLst>
          </p:cNvPr>
          <p:cNvSpPr/>
          <p:nvPr/>
        </p:nvSpPr>
        <p:spPr>
          <a:xfrm>
            <a:off x="10124069" y="5139068"/>
            <a:ext cx="1642001" cy="1038925"/>
          </a:xfrm>
          <a:prstGeom prst="rect">
            <a:avLst/>
          </a:prstGeom>
          <a:solidFill>
            <a:schemeClr val="accent6"/>
          </a:solidFill>
          <a:ln w="3175">
            <a:solidFill>
              <a:srgbClr val="BFBFBF"/>
            </a:solidFill>
            <a:prstDash val="solid"/>
          </a:ln>
        </p:spPr>
        <p:style>
          <a:lnRef idx="2">
            <a:schemeClr val="accent1">
              <a:shade val="15000"/>
            </a:schemeClr>
          </a:lnRef>
          <a:fillRef idx="1">
            <a:schemeClr val="accent1"/>
          </a:fillRef>
          <a:effectRef idx="0">
            <a:schemeClr val="accent1"/>
          </a:effectRef>
          <a:fontRef idx="minor">
            <a:schemeClr val="lt1"/>
          </a:fontRef>
        </p:style>
        <p:txBody>
          <a:bodyPr tIns="640080" rtlCol="0" anchor="t"/>
          <a:lstStyle/>
          <a:p>
            <a:pPr algn="ctr"/>
            <a:r>
              <a:rPr lang="en-US" sz="1100">
                <a:solidFill>
                  <a:schemeClr val="tx1"/>
                </a:solidFill>
                <a:latin typeface="Calibri" panose="020F0502020204030204" pitchFamily="34" charset="0"/>
              </a:rPr>
              <a:t>Audit-ready Visualization &amp; documentation</a:t>
            </a:r>
          </a:p>
        </p:txBody>
      </p:sp>
      <p:sp>
        <p:nvSpPr>
          <p:cNvPr id="47" name="Oval 46">
            <a:extLst>
              <a:ext uri="{FF2B5EF4-FFF2-40B4-BE49-F238E27FC236}">
                <a16:creationId xmlns:a16="http://schemas.microsoft.com/office/drawing/2014/main" id="{11DE38B3-EBC3-E812-D815-23424DEC7866}"/>
              </a:ext>
            </a:extLst>
          </p:cNvPr>
          <p:cNvSpPr/>
          <p:nvPr/>
        </p:nvSpPr>
        <p:spPr>
          <a:xfrm>
            <a:off x="3733799" y="5495351"/>
            <a:ext cx="319929" cy="326359"/>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latin typeface="Calibri" panose="020F0502020204030204" pitchFamily="34" charset="0"/>
              </a:rPr>
              <a:t>+</a:t>
            </a:r>
          </a:p>
        </p:txBody>
      </p:sp>
      <p:sp>
        <p:nvSpPr>
          <p:cNvPr id="48" name="Oval 47">
            <a:extLst>
              <a:ext uri="{FF2B5EF4-FFF2-40B4-BE49-F238E27FC236}">
                <a16:creationId xmlns:a16="http://schemas.microsoft.com/office/drawing/2014/main" id="{E5349DC7-BD21-AA8A-3565-4D154F8BF4CE}"/>
              </a:ext>
            </a:extLst>
          </p:cNvPr>
          <p:cNvSpPr/>
          <p:nvPr/>
        </p:nvSpPr>
        <p:spPr>
          <a:xfrm>
            <a:off x="5748459" y="5495351"/>
            <a:ext cx="319929" cy="326359"/>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latin typeface="Calibri" panose="020F0502020204030204" pitchFamily="34" charset="0"/>
              </a:rPr>
              <a:t>+</a:t>
            </a:r>
          </a:p>
        </p:txBody>
      </p:sp>
      <p:sp>
        <p:nvSpPr>
          <p:cNvPr id="49" name="Oval 48">
            <a:extLst>
              <a:ext uri="{FF2B5EF4-FFF2-40B4-BE49-F238E27FC236}">
                <a16:creationId xmlns:a16="http://schemas.microsoft.com/office/drawing/2014/main" id="{18336EB3-404D-5885-33FE-0FA8FB86A42B}"/>
              </a:ext>
            </a:extLst>
          </p:cNvPr>
          <p:cNvSpPr/>
          <p:nvPr/>
        </p:nvSpPr>
        <p:spPr>
          <a:xfrm>
            <a:off x="7763119" y="5495351"/>
            <a:ext cx="319929" cy="326359"/>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latin typeface="Calibri" panose="020F0502020204030204" pitchFamily="34" charset="0"/>
              </a:rPr>
              <a:t>+</a:t>
            </a:r>
          </a:p>
        </p:txBody>
      </p:sp>
      <p:sp>
        <p:nvSpPr>
          <p:cNvPr id="66" name="Oval 65">
            <a:extLst>
              <a:ext uri="{FF2B5EF4-FFF2-40B4-BE49-F238E27FC236}">
                <a16:creationId xmlns:a16="http://schemas.microsoft.com/office/drawing/2014/main" id="{8A97D402-2D14-B5C1-C00A-129B2630A675}"/>
              </a:ext>
            </a:extLst>
          </p:cNvPr>
          <p:cNvSpPr/>
          <p:nvPr/>
        </p:nvSpPr>
        <p:spPr>
          <a:xfrm>
            <a:off x="9777778" y="5495351"/>
            <a:ext cx="319929" cy="326359"/>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latin typeface="Calibri" panose="020F0502020204030204" pitchFamily="34" charset="0"/>
              </a:rPr>
              <a:t>+</a:t>
            </a:r>
          </a:p>
        </p:txBody>
      </p:sp>
      <p:pic>
        <p:nvPicPr>
          <p:cNvPr id="67" name="Picture 66">
            <a:extLst>
              <a:ext uri="{FF2B5EF4-FFF2-40B4-BE49-F238E27FC236}">
                <a16:creationId xmlns:a16="http://schemas.microsoft.com/office/drawing/2014/main" id="{5FE2BFEC-039C-B58B-7352-4E8D677FC828}"/>
              </a:ext>
            </a:extLst>
          </p:cNvPr>
          <p:cNvPicPr>
            <a:picLocks noChangeAspect="1"/>
          </p:cNvPicPr>
          <p:nvPr/>
        </p:nvPicPr>
        <p:blipFill>
          <a:blip r:embed="rId6">
            <a:duotone>
              <a:prstClr val="black"/>
              <a:schemeClr val="accent6">
                <a:tint val="45000"/>
                <a:satMod val="400000"/>
              </a:schemeClr>
            </a:duotone>
          </a:blip>
          <a:stretch>
            <a:fillRect/>
          </a:stretch>
        </p:blipFill>
        <p:spPr>
          <a:xfrm>
            <a:off x="2656214" y="5223706"/>
            <a:ext cx="460439" cy="457200"/>
          </a:xfrm>
          <a:prstGeom prst="rect">
            <a:avLst/>
          </a:prstGeom>
        </p:spPr>
      </p:pic>
      <p:pic>
        <p:nvPicPr>
          <p:cNvPr id="68" name="Picture 67">
            <a:extLst>
              <a:ext uri="{FF2B5EF4-FFF2-40B4-BE49-F238E27FC236}">
                <a16:creationId xmlns:a16="http://schemas.microsoft.com/office/drawing/2014/main" id="{E32B95CE-D27B-15A1-01B6-A707EE0A0BC6}"/>
              </a:ext>
            </a:extLst>
          </p:cNvPr>
          <p:cNvPicPr>
            <a:picLocks noChangeAspect="1"/>
          </p:cNvPicPr>
          <p:nvPr/>
        </p:nvPicPr>
        <p:blipFill>
          <a:blip r:embed="rId7">
            <a:duotone>
              <a:prstClr val="black"/>
              <a:schemeClr val="accent6">
                <a:tint val="45000"/>
                <a:satMod val="400000"/>
              </a:schemeClr>
            </a:duotone>
          </a:blip>
          <a:stretch>
            <a:fillRect/>
          </a:stretch>
        </p:blipFill>
        <p:spPr>
          <a:xfrm>
            <a:off x="4672794" y="5223706"/>
            <a:ext cx="456599" cy="457200"/>
          </a:xfrm>
          <a:prstGeom prst="rect">
            <a:avLst/>
          </a:prstGeom>
        </p:spPr>
      </p:pic>
      <p:pic>
        <p:nvPicPr>
          <p:cNvPr id="71" name="Picture 70">
            <a:extLst>
              <a:ext uri="{FF2B5EF4-FFF2-40B4-BE49-F238E27FC236}">
                <a16:creationId xmlns:a16="http://schemas.microsoft.com/office/drawing/2014/main" id="{AA16CADA-2026-FA1B-B540-8AF7A48295DA}"/>
              </a:ext>
            </a:extLst>
          </p:cNvPr>
          <p:cNvPicPr>
            <a:picLocks noChangeAspect="1"/>
          </p:cNvPicPr>
          <p:nvPr/>
        </p:nvPicPr>
        <p:blipFill>
          <a:blip r:embed="rId8">
            <a:duotone>
              <a:prstClr val="black"/>
              <a:schemeClr val="accent6">
                <a:tint val="45000"/>
                <a:satMod val="400000"/>
              </a:schemeClr>
            </a:duotone>
          </a:blip>
          <a:stretch>
            <a:fillRect/>
          </a:stretch>
        </p:blipFill>
        <p:spPr>
          <a:xfrm>
            <a:off x="6690676" y="5223706"/>
            <a:ext cx="450155" cy="457200"/>
          </a:xfrm>
          <a:prstGeom prst="rect">
            <a:avLst/>
          </a:prstGeom>
        </p:spPr>
      </p:pic>
      <p:pic>
        <p:nvPicPr>
          <p:cNvPr id="74" name="Picture 73">
            <a:extLst>
              <a:ext uri="{FF2B5EF4-FFF2-40B4-BE49-F238E27FC236}">
                <a16:creationId xmlns:a16="http://schemas.microsoft.com/office/drawing/2014/main" id="{FA6032D3-8E8F-89AD-ADD6-35E57B1A4560}"/>
              </a:ext>
            </a:extLst>
          </p:cNvPr>
          <p:cNvPicPr>
            <a:picLocks noChangeAspect="1"/>
          </p:cNvPicPr>
          <p:nvPr/>
        </p:nvPicPr>
        <p:blipFill>
          <a:blip r:embed="rId9">
            <a:duotone>
              <a:prstClr val="black"/>
              <a:schemeClr val="accent6">
                <a:tint val="45000"/>
                <a:satMod val="400000"/>
              </a:schemeClr>
            </a:duotone>
          </a:blip>
          <a:stretch>
            <a:fillRect/>
          </a:stretch>
        </p:blipFill>
        <p:spPr>
          <a:xfrm>
            <a:off x="8701813" y="5223706"/>
            <a:ext cx="457200" cy="457200"/>
          </a:xfrm>
          <a:prstGeom prst="rect">
            <a:avLst/>
          </a:prstGeom>
        </p:spPr>
      </p:pic>
      <p:pic>
        <p:nvPicPr>
          <p:cNvPr id="77" name="Picture 76">
            <a:extLst>
              <a:ext uri="{FF2B5EF4-FFF2-40B4-BE49-F238E27FC236}">
                <a16:creationId xmlns:a16="http://schemas.microsoft.com/office/drawing/2014/main" id="{45541AE6-83F1-3AE9-64F9-182B5330C282}"/>
              </a:ext>
            </a:extLst>
          </p:cNvPr>
          <p:cNvPicPr>
            <a:picLocks noChangeAspect="1"/>
          </p:cNvPicPr>
          <p:nvPr/>
        </p:nvPicPr>
        <p:blipFill>
          <a:blip r:embed="rId10">
            <a:duotone>
              <a:prstClr val="black"/>
              <a:schemeClr val="accent6">
                <a:tint val="45000"/>
                <a:satMod val="400000"/>
              </a:schemeClr>
            </a:duotone>
          </a:blip>
          <a:stretch>
            <a:fillRect/>
          </a:stretch>
        </p:blipFill>
        <p:spPr>
          <a:xfrm>
            <a:off x="10716469" y="5223706"/>
            <a:ext cx="457200" cy="457200"/>
          </a:xfrm>
          <a:prstGeom prst="rect">
            <a:avLst/>
          </a:prstGeom>
        </p:spPr>
      </p:pic>
    </p:spTree>
    <p:extLst>
      <p:ext uri="{BB962C8B-B14F-4D97-AF65-F5344CB8AC3E}">
        <p14:creationId xmlns:p14="http://schemas.microsoft.com/office/powerpoint/2010/main" val="11150902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C9635DB-ABE1-4778-8DD3-E1FBA6D1ED67}"/>
              </a:ext>
            </a:extLst>
          </p:cNvPr>
          <p:cNvSpPr>
            <a:spLocks noGrp="1"/>
          </p:cNvSpPr>
          <p:nvPr>
            <p:ph type="ctrTitle"/>
          </p:nvPr>
        </p:nvSpPr>
        <p:spPr>
          <a:noFill/>
          <a:ln>
            <a:noFill/>
          </a:ln>
        </p:spPr>
        <p:txBody>
          <a:bodyPr spcFirstLastPara="1" vert="horz" wrap="square" lIns="0" tIns="0" rIns="0" bIns="0" rtlCol="0" anchor="t" anchorCtr="0">
            <a:noAutofit/>
          </a:bodyPr>
          <a:lstStyle/>
          <a:p>
            <a:pPr>
              <a:buClr>
                <a:schemeClr val="dk1"/>
              </a:buClr>
              <a:buSzPts val="3200"/>
              <a:buFont typeface="Calibri"/>
            </a:pPr>
            <a:r>
              <a:rPr lang="en-US" sz="2800"/>
              <a:t>Policy Illustrations and Annual Statements</a:t>
            </a:r>
          </a:p>
        </p:txBody>
      </p:sp>
      <p:sp>
        <p:nvSpPr>
          <p:cNvPr id="2" name="Text Placeholder 4">
            <a:extLst>
              <a:ext uri="{FF2B5EF4-FFF2-40B4-BE49-F238E27FC236}">
                <a16:creationId xmlns:a16="http://schemas.microsoft.com/office/drawing/2014/main" id="{4AE2D1CB-B6C3-1CD0-9DFE-0FCB78D941F7}"/>
              </a:ext>
            </a:extLst>
          </p:cNvPr>
          <p:cNvSpPr>
            <a:spLocks noGrp="1"/>
          </p:cNvSpPr>
          <p:nvPr>
            <p:ph type="body" sz="quarter" idx="15"/>
          </p:nvPr>
        </p:nvSpPr>
        <p:spPr/>
        <p:txBody>
          <a:bodyPr/>
          <a:lstStyle/>
          <a:p>
            <a:r>
              <a:rPr lang="en-US">
                <a:solidFill>
                  <a:schemeClr val="accent3"/>
                </a:solidFill>
              </a:rPr>
              <a:t>Case Example</a:t>
            </a:r>
          </a:p>
        </p:txBody>
      </p:sp>
      <p:sp>
        <p:nvSpPr>
          <p:cNvPr id="5" name="TextBox 4">
            <a:extLst>
              <a:ext uri="{FF2B5EF4-FFF2-40B4-BE49-F238E27FC236}">
                <a16:creationId xmlns:a16="http://schemas.microsoft.com/office/drawing/2014/main" id="{580AB46D-F05B-4B03-AD88-E57493EE62AC}"/>
              </a:ext>
            </a:extLst>
          </p:cNvPr>
          <p:cNvSpPr txBox="1"/>
          <p:nvPr/>
        </p:nvSpPr>
        <p:spPr>
          <a:xfrm>
            <a:off x="483702" y="1247973"/>
            <a:ext cx="6290575" cy="1569660"/>
          </a:xfrm>
          <a:prstGeom prst="rect">
            <a:avLst/>
          </a:prstGeom>
          <a:noFill/>
        </p:spPr>
        <p:txBody>
          <a:bodyPr wrap="square" lIns="0" tIns="45720" rIns="0" bIns="45720" rtlCol="0" anchor="t">
            <a:spAutoFit/>
          </a:bodyPr>
          <a:lstStyle/>
          <a:p>
            <a:pPr>
              <a:buClr>
                <a:srgbClr val="FB4E0B"/>
              </a:buClr>
              <a:defRPr/>
            </a:pPr>
            <a:r>
              <a:rPr lang="en-US" sz="1200">
                <a:solidFill>
                  <a:srgbClr val="000000"/>
                </a:solidFill>
              </a:rPr>
              <a:t>Insurance policy illustration work involves creating visual representations of insurance policies to help policyholders understand the benefits, costs, and key features for Universal Life, Whole Life products.. These typically includes:</a:t>
            </a:r>
          </a:p>
          <a:p>
            <a:pPr marL="171450" lvl="0" indent="-171450">
              <a:buClr>
                <a:srgbClr val="FB4E0B"/>
              </a:buClr>
              <a:buFont typeface="Arial" panose="020B0604020202020204" pitchFamily="34" charset="0"/>
              <a:buChar char="•"/>
              <a:defRPr/>
            </a:pPr>
            <a:r>
              <a:rPr lang="en-US" sz="1200">
                <a:solidFill>
                  <a:schemeClr val="tx2"/>
                </a:solidFill>
              </a:rPr>
              <a:t>Premium Breakdown</a:t>
            </a:r>
            <a:r>
              <a:rPr lang="en-US" sz="1200">
                <a:solidFill>
                  <a:srgbClr val="000000"/>
                </a:solidFill>
              </a:rPr>
              <a:t>: Detailed explanation of various payment options.</a:t>
            </a:r>
          </a:p>
          <a:p>
            <a:pPr marL="171450" lvl="0" indent="-171450">
              <a:buClr>
                <a:srgbClr val="FB4E0B"/>
              </a:buClr>
              <a:buFont typeface="Arial" panose="020B0604020202020204" pitchFamily="34" charset="0"/>
              <a:buChar char="•"/>
              <a:defRPr/>
            </a:pPr>
            <a:r>
              <a:rPr lang="en-US" sz="1200">
                <a:solidFill>
                  <a:schemeClr val="tx2"/>
                </a:solidFill>
              </a:rPr>
              <a:t>Death Benefits</a:t>
            </a:r>
            <a:r>
              <a:rPr lang="en-US" sz="1200">
                <a:solidFill>
                  <a:srgbClr val="000000"/>
                </a:solidFill>
              </a:rPr>
              <a:t>: Overview of payouts to beneficiaries.</a:t>
            </a:r>
          </a:p>
          <a:p>
            <a:pPr marL="171450" lvl="0" indent="-171450">
              <a:buClr>
                <a:srgbClr val="FB4E0B"/>
              </a:buClr>
              <a:buFont typeface="Arial" panose="020B0604020202020204" pitchFamily="34" charset="0"/>
              <a:buChar char="•"/>
              <a:defRPr/>
            </a:pPr>
            <a:r>
              <a:rPr lang="en-US" sz="1200">
                <a:solidFill>
                  <a:schemeClr val="tx2"/>
                </a:solidFill>
              </a:rPr>
              <a:t>Cash Value Accumulation</a:t>
            </a:r>
            <a:r>
              <a:rPr lang="en-US" sz="1200">
                <a:solidFill>
                  <a:srgbClr val="000000"/>
                </a:solidFill>
              </a:rPr>
              <a:t>: Insights into any savings components and growth potential.</a:t>
            </a:r>
          </a:p>
          <a:p>
            <a:pPr marL="171450" lvl="0" indent="-171450">
              <a:buClr>
                <a:srgbClr val="FB4E0B"/>
              </a:buClr>
              <a:buFont typeface="Arial" panose="020B0604020202020204" pitchFamily="34" charset="0"/>
              <a:buChar char="•"/>
              <a:defRPr/>
            </a:pPr>
            <a:r>
              <a:rPr lang="en-US" sz="1200">
                <a:solidFill>
                  <a:schemeClr val="tx2"/>
                </a:solidFill>
              </a:rPr>
              <a:t>Illustration Assumptions</a:t>
            </a:r>
            <a:r>
              <a:rPr lang="en-US" sz="1200">
                <a:solidFill>
                  <a:srgbClr val="000000"/>
                </a:solidFill>
              </a:rPr>
              <a:t>: Clarification of underlying assumptions, such as interest and mortality rates.</a:t>
            </a:r>
            <a:endParaRPr kumimoji="0" lang="en-US" sz="12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996E91E4-C146-4C6B-87BF-BDC4C7DB70E8}"/>
              </a:ext>
            </a:extLst>
          </p:cNvPr>
          <p:cNvSpPr txBox="1"/>
          <p:nvPr/>
        </p:nvSpPr>
        <p:spPr>
          <a:xfrm>
            <a:off x="483703" y="978250"/>
            <a:ext cx="2606947" cy="338554"/>
          </a:xfrm>
          <a:prstGeom prst="rect">
            <a:avLst/>
          </a:prstGeom>
          <a:noFill/>
        </p:spPr>
        <p:txBody>
          <a:bodyPr wrap="square" lIns="0" rtlCol="0" anchor="ctr">
            <a:spAutoFit/>
          </a:bodyPr>
          <a:lstStyle/>
          <a:p>
            <a:pPr marL="0" marR="0" lvl="0" indent="-177800" algn="l" defTabSz="895350" rtl="0" eaLnBrk="1" fontAlgn="base" latinLnBrk="0" hangingPunct="1">
              <a:lnSpc>
                <a:spcPct val="100000"/>
              </a:lnSpc>
              <a:spcBef>
                <a:spcPts val="0"/>
              </a:spcBef>
              <a:spcAft>
                <a:spcPts val="0"/>
              </a:spcAft>
              <a:buClr>
                <a:srgbClr val="FF9900"/>
              </a:buClr>
              <a:buSzPct val="120000"/>
              <a:buFontTx/>
              <a:buNone/>
              <a:tabLst/>
              <a:defRPr/>
            </a:pPr>
            <a:r>
              <a:rPr kumimoji="0" lang="en-US" altLang="zh-CN" sz="1600" b="1" i="0" u="none" strike="noStrike" kern="1200" cap="none" spc="0" normalizeH="0" baseline="0" noProof="0">
                <a:ln>
                  <a:noFill/>
                </a:ln>
                <a:solidFill>
                  <a:srgbClr val="005071"/>
                </a:solidFill>
                <a:effectLst/>
                <a:uLnTx/>
                <a:uFillTx/>
                <a:latin typeface="Calibri" panose="020F0502020204030204"/>
                <a:ea typeface="宋体" charset="-122"/>
                <a:cs typeface="Calibri" panose="020F0502020204030204" pitchFamily="34" charset="0"/>
              </a:rPr>
              <a:t>Background</a:t>
            </a:r>
          </a:p>
        </p:txBody>
      </p:sp>
      <p:sp>
        <p:nvSpPr>
          <p:cNvPr id="7" name="TextBox 6">
            <a:extLst>
              <a:ext uri="{FF2B5EF4-FFF2-40B4-BE49-F238E27FC236}">
                <a16:creationId xmlns:a16="http://schemas.microsoft.com/office/drawing/2014/main" id="{5CEF1E8F-9B79-43F5-86D9-BCBE21AA7EC3}"/>
              </a:ext>
            </a:extLst>
          </p:cNvPr>
          <p:cNvSpPr txBox="1"/>
          <p:nvPr/>
        </p:nvSpPr>
        <p:spPr>
          <a:xfrm>
            <a:off x="483702" y="2986770"/>
            <a:ext cx="6286732" cy="1569660"/>
          </a:xfrm>
          <a:prstGeom prst="rect">
            <a:avLst/>
          </a:prstGeom>
          <a:noFill/>
        </p:spPr>
        <p:txBody>
          <a:bodyPr wrap="square" lIns="0" rIns="0" rtlCol="0" anchor="t">
            <a:spAutoFit/>
          </a:bodyPr>
          <a:lstStyle/>
          <a:p>
            <a:pPr marL="171450" lvl="0" indent="-171450">
              <a:buClr>
                <a:srgbClr val="FB4E0B"/>
              </a:buClr>
              <a:buFont typeface="Arial" panose="020B0604020202020204" pitchFamily="34" charset="0"/>
              <a:buChar char="•"/>
              <a:defRPr/>
            </a:pPr>
            <a:r>
              <a:rPr lang="en-US" sz="1200">
                <a:solidFill>
                  <a:srgbClr val="000000"/>
                </a:solidFill>
              </a:rPr>
              <a:t>Key objectives are to provide clarity, facilitate comparison among policies, and enhance transparency. </a:t>
            </a:r>
          </a:p>
          <a:p>
            <a:pPr marL="171450" lvl="0" indent="-171450">
              <a:buClr>
                <a:srgbClr val="FB4E0B"/>
              </a:buClr>
              <a:buFont typeface="Arial" panose="020B0604020202020204" pitchFamily="34" charset="0"/>
              <a:buChar char="•"/>
              <a:defRPr/>
            </a:pPr>
            <a:r>
              <a:rPr lang="en-US" sz="1200">
                <a:solidFill>
                  <a:srgbClr val="000000"/>
                </a:solidFill>
              </a:rPr>
              <a:t>Adherence to regulatory requirements by offering detailed annual reporting and ensuring that illustrations accurately reflect policy terms. </a:t>
            </a:r>
          </a:p>
          <a:p>
            <a:pPr marL="171450" lvl="0" indent="-171450">
              <a:buClr>
                <a:srgbClr val="FB4E0B"/>
              </a:buClr>
              <a:buFont typeface="Arial" panose="020B0604020202020204" pitchFamily="34" charset="0"/>
              <a:buChar char="•"/>
              <a:defRPr/>
            </a:pPr>
            <a:r>
              <a:rPr lang="en-US" sz="1200">
                <a:solidFill>
                  <a:srgbClr val="000000"/>
                </a:solidFill>
              </a:rPr>
              <a:t>Best practices include tailoring illustrations to individual policyholder needs and regularly updating them to reflect any changes in the policy or the client's circumstances. </a:t>
            </a:r>
          </a:p>
          <a:p>
            <a:pPr marL="171450" lvl="0" indent="-171450">
              <a:buClr>
                <a:srgbClr val="FB4E0B"/>
              </a:buClr>
              <a:buFont typeface="Arial" panose="020B0604020202020204" pitchFamily="34" charset="0"/>
              <a:buChar char="•"/>
              <a:defRPr/>
            </a:pPr>
            <a:r>
              <a:rPr lang="en-US" sz="1200">
                <a:solidFill>
                  <a:srgbClr val="000000"/>
                </a:solidFill>
              </a:rPr>
              <a:t>Overall, effective policy illustrations empower clients to make informed decisions about their insurance options.</a:t>
            </a:r>
          </a:p>
        </p:txBody>
      </p:sp>
      <p:sp>
        <p:nvSpPr>
          <p:cNvPr id="8" name="TextBox 7">
            <a:extLst>
              <a:ext uri="{FF2B5EF4-FFF2-40B4-BE49-F238E27FC236}">
                <a16:creationId xmlns:a16="http://schemas.microsoft.com/office/drawing/2014/main" id="{D4C20EA2-E63B-40EE-9AF1-5C4C1662AB8A}"/>
              </a:ext>
            </a:extLst>
          </p:cNvPr>
          <p:cNvSpPr txBox="1"/>
          <p:nvPr/>
        </p:nvSpPr>
        <p:spPr>
          <a:xfrm>
            <a:off x="483702" y="2701884"/>
            <a:ext cx="2546966" cy="338554"/>
          </a:xfrm>
          <a:prstGeom prst="rect">
            <a:avLst/>
          </a:prstGeom>
          <a:noFill/>
        </p:spPr>
        <p:txBody>
          <a:bodyPr wrap="square" lIns="0" rtlCol="0" anchor="ctr">
            <a:spAutoFit/>
          </a:bodyPr>
          <a:lstStyle/>
          <a:p>
            <a:pPr marL="0" marR="0" lvl="0" indent="-177800" algn="l" defTabSz="895350" rtl="0" eaLnBrk="1" fontAlgn="base" latinLnBrk="0" hangingPunct="1">
              <a:lnSpc>
                <a:spcPct val="100000"/>
              </a:lnSpc>
              <a:spcBef>
                <a:spcPts val="0"/>
              </a:spcBef>
              <a:spcAft>
                <a:spcPts val="0"/>
              </a:spcAft>
              <a:buClr>
                <a:srgbClr val="FF9900"/>
              </a:buClr>
              <a:buSzPct val="120000"/>
              <a:buFontTx/>
              <a:buNone/>
              <a:tabLst/>
              <a:defRPr/>
            </a:pPr>
            <a:r>
              <a:rPr lang="en-US" altLang="zh-CN" sz="1600" b="1">
                <a:solidFill>
                  <a:srgbClr val="005071"/>
                </a:solidFill>
                <a:latin typeface="Calibri" panose="020F0502020204030204" pitchFamily="34" charset="0"/>
                <a:ea typeface="宋体" charset="-122"/>
                <a:cs typeface="Calibri" panose="020F0502020204030204" pitchFamily="34" charset="0"/>
              </a:rPr>
              <a:t>Key </a:t>
            </a:r>
            <a:r>
              <a:rPr kumimoji="0" lang="en-US" altLang="zh-CN" sz="1600" b="1" i="0" u="none" strike="noStrike" kern="1200" cap="none" spc="0" normalizeH="0" baseline="0" noProof="0">
                <a:ln>
                  <a:noFill/>
                </a:ln>
                <a:solidFill>
                  <a:srgbClr val="005071"/>
                </a:solidFill>
                <a:effectLst/>
                <a:uLnTx/>
                <a:uFillTx/>
                <a:latin typeface="Calibri" panose="020F0502020204030204" pitchFamily="34" charset="0"/>
                <a:ea typeface="宋体" charset="-122"/>
                <a:cs typeface="Calibri" panose="020F0502020204030204" pitchFamily="34" charset="0"/>
              </a:rPr>
              <a:t>Objective</a:t>
            </a:r>
          </a:p>
        </p:txBody>
      </p:sp>
      <p:sp>
        <p:nvSpPr>
          <p:cNvPr id="10" name="TextBox 9">
            <a:extLst>
              <a:ext uri="{FF2B5EF4-FFF2-40B4-BE49-F238E27FC236}">
                <a16:creationId xmlns:a16="http://schemas.microsoft.com/office/drawing/2014/main" id="{DFBB6541-BA79-466E-9F59-FE00FD7B2A36}"/>
              </a:ext>
            </a:extLst>
          </p:cNvPr>
          <p:cNvSpPr txBox="1"/>
          <p:nvPr/>
        </p:nvSpPr>
        <p:spPr>
          <a:xfrm>
            <a:off x="457200" y="4533334"/>
            <a:ext cx="3467869" cy="338554"/>
          </a:xfrm>
          <a:prstGeom prst="rect">
            <a:avLst/>
          </a:prstGeom>
          <a:noFill/>
        </p:spPr>
        <p:txBody>
          <a:bodyPr wrap="square" lIns="0" rtlCol="0" anchor="ctr">
            <a:spAutoFit/>
          </a:bodyPr>
          <a:lstStyle/>
          <a:p>
            <a:pPr marL="0" marR="0" lvl="0" indent="-177800" algn="l" defTabSz="895350" rtl="0" eaLnBrk="1" fontAlgn="base" latinLnBrk="0" hangingPunct="1">
              <a:lnSpc>
                <a:spcPct val="100000"/>
              </a:lnSpc>
              <a:spcBef>
                <a:spcPts val="0"/>
              </a:spcBef>
              <a:spcAft>
                <a:spcPts val="0"/>
              </a:spcAft>
              <a:buClr>
                <a:srgbClr val="FF9900"/>
              </a:buClr>
              <a:buSzPct val="120000"/>
              <a:buFontTx/>
              <a:buNone/>
              <a:tabLst/>
              <a:defRPr/>
            </a:pPr>
            <a:r>
              <a:rPr kumimoji="0" lang="en-US" altLang="zh-CN" sz="1600" b="1" i="0" u="none" strike="noStrike" kern="1200" cap="none" spc="0" normalizeH="0" baseline="0" noProof="0">
                <a:ln>
                  <a:noFill/>
                </a:ln>
                <a:solidFill>
                  <a:srgbClr val="005071"/>
                </a:solidFill>
                <a:effectLst/>
                <a:uLnTx/>
                <a:uFillTx/>
                <a:latin typeface="Calibri" panose="020F0502020204030204" pitchFamily="34" charset="0"/>
                <a:ea typeface="宋体" charset="-122"/>
                <a:cs typeface="Calibri" panose="020F0502020204030204" pitchFamily="34" charset="0"/>
              </a:rPr>
              <a:t>Key Challenges</a:t>
            </a:r>
          </a:p>
        </p:txBody>
      </p:sp>
      <p:sp>
        <p:nvSpPr>
          <p:cNvPr id="38" name="Rectangle: Top Corners Rounded 37">
            <a:extLst>
              <a:ext uri="{FF2B5EF4-FFF2-40B4-BE49-F238E27FC236}">
                <a16:creationId xmlns:a16="http://schemas.microsoft.com/office/drawing/2014/main" id="{F66EC367-23BD-45C0-B0F0-E19F71A3B805}"/>
              </a:ext>
            </a:extLst>
          </p:cNvPr>
          <p:cNvSpPr/>
          <p:nvPr/>
        </p:nvSpPr>
        <p:spPr>
          <a:xfrm>
            <a:off x="6852864" y="969207"/>
            <a:ext cx="4759734" cy="472031"/>
          </a:xfrm>
          <a:prstGeom prst="round2SameRect">
            <a:avLst>
              <a:gd name="adj1" fmla="val 21971"/>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600" b="1">
                <a:solidFill>
                  <a:srgbClr val="FFFFFF"/>
                </a:solidFill>
              </a:rPr>
              <a:t>Type of Requests Delivered</a:t>
            </a:r>
          </a:p>
        </p:txBody>
      </p:sp>
      <p:cxnSp>
        <p:nvCxnSpPr>
          <p:cNvPr id="52" name="Straight Connector 51">
            <a:extLst>
              <a:ext uri="{FF2B5EF4-FFF2-40B4-BE49-F238E27FC236}">
                <a16:creationId xmlns:a16="http://schemas.microsoft.com/office/drawing/2014/main" id="{E0501837-0C91-4F64-8976-E83D638A7A8F}"/>
              </a:ext>
            </a:extLst>
          </p:cNvPr>
          <p:cNvCxnSpPr/>
          <p:nvPr/>
        </p:nvCxnSpPr>
        <p:spPr>
          <a:xfrm>
            <a:off x="8660211" y="3071108"/>
            <a:ext cx="0" cy="228838"/>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5BDC6F60-0A0F-4B2B-BEAA-ABCBD872752D}"/>
              </a:ext>
            </a:extLst>
          </p:cNvPr>
          <p:cNvSpPr/>
          <p:nvPr/>
        </p:nvSpPr>
        <p:spPr>
          <a:xfrm>
            <a:off x="9279335" y="1489077"/>
            <a:ext cx="2326456" cy="320909"/>
          </a:xfrm>
          <a:prstGeom prst="rect">
            <a:avLst/>
          </a:prstGeom>
          <a:solidFill>
            <a:schemeClr val="accent3"/>
          </a:solidFill>
          <a:ln>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srgbClr val="FFFFFF"/>
                </a:solidFill>
                <a:effectLst/>
                <a:uLnTx/>
                <a:uFillTx/>
                <a:latin typeface="Calibri" panose="020F0502020204030204"/>
                <a:ea typeface="+mn-ea"/>
                <a:cs typeface="+mn-cs"/>
              </a:rPr>
              <a:t>Solve to Maturity Premium</a:t>
            </a:r>
            <a:endParaRPr kumimoji="0" lang="en-US" sz="1200" b="1"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9" name="Rectangle 68">
            <a:extLst>
              <a:ext uri="{FF2B5EF4-FFF2-40B4-BE49-F238E27FC236}">
                <a16:creationId xmlns:a16="http://schemas.microsoft.com/office/drawing/2014/main" id="{759A372B-F17A-4632-8DC0-EEA4F63CB9DC}"/>
              </a:ext>
            </a:extLst>
          </p:cNvPr>
          <p:cNvSpPr/>
          <p:nvPr/>
        </p:nvSpPr>
        <p:spPr>
          <a:xfrm>
            <a:off x="6852863" y="3737956"/>
            <a:ext cx="4752927" cy="371145"/>
          </a:xfrm>
          <a:prstGeom prst="rect">
            <a:avLst/>
          </a:prstGeom>
          <a:solidFill>
            <a:schemeClr val="accent2"/>
          </a:solidFill>
          <a:ln>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srgbClr val="FFFFFF"/>
                </a:solidFill>
                <a:effectLst/>
                <a:uLnTx/>
                <a:uFillTx/>
                <a:latin typeface="Calibri" panose="020F0502020204030204"/>
                <a:ea typeface="+mn-ea"/>
                <a:cs typeface="+mn-cs"/>
              </a:rPr>
              <a:t>Benefits Delivered</a:t>
            </a:r>
            <a:endParaRPr kumimoji="0" lang="en-US" sz="1200" b="1"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0" name="Rectangle 69">
            <a:extLst>
              <a:ext uri="{FF2B5EF4-FFF2-40B4-BE49-F238E27FC236}">
                <a16:creationId xmlns:a16="http://schemas.microsoft.com/office/drawing/2014/main" id="{38A25EC6-EA91-4CEB-8810-E648E3754189}"/>
              </a:ext>
            </a:extLst>
          </p:cNvPr>
          <p:cNvSpPr/>
          <p:nvPr/>
        </p:nvSpPr>
        <p:spPr>
          <a:xfrm>
            <a:off x="6822040" y="4127496"/>
            <a:ext cx="4759733" cy="566187"/>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t"/>
          <a:lstStyle/>
          <a:p>
            <a:pPr marL="285750" marR="0" lvl="0" indent="-285750" algn="l" defTabSz="914400" rtl="0" eaLnBrk="1" fontAlgn="auto" latinLnBrk="0" hangingPunct="1">
              <a:lnSpc>
                <a:spcPct val="100000"/>
              </a:lnSpc>
              <a:spcBef>
                <a:spcPts val="0"/>
              </a:spcBef>
              <a:spcAft>
                <a:spcPts val="0"/>
              </a:spcAft>
              <a:buClr>
                <a:srgbClr val="FB4D0A"/>
              </a:buClr>
              <a:buSzTx/>
              <a:buFont typeface="Arial" panose="020B0604020202020204" pitchFamily="34" charset="0"/>
              <a:buChar char="•"/>
              <a:tabLst/>
              <a:defRPr/>
            </a:pPr>
            <a:r>
              <a:rPr kumimoji="0" lang="en-IN" sz="1100" b="0" i="0" u="none" strike="noStrike" kern="1200" cap="none" spc="0" normalizeH="0" baseline="0" noProof="0">
                <a:ln>
                  <a:noFill/>
                </a:ln>
                <a:solidFill>
                  <a:srgbClr val="000000"/>
                </a:solidFill>
                <a:effectLst/>
                <a:uLnTx/>
                <a:uFillTx/>
                <a:latin typeface="Calibri" panose="020F0502020204030204"/>
                <a:ea typeface="+mn-ea"/>
                <a:cs typeface="+mn-cs"/>
              </a:rPr>
              <a:t>Delivered various policy type requests like </a:t>
            </a:r>
            <a:r>
              <a:rPr kumimoji="0" lang="en-IN" sz="1100" b="0" i="0" u="none" strike="noStrike" kern="1200" cap="none" spc="0" normalizeH="0" baseline="0" noProof="0">
                <a:ln>
                  <a:noFill/>
                </a:ln>
                <a:solidFill>
                  <a:schemeClr val="tx2"/>
                </a:solidFill>
                <a:effectLst/>
                <a:uLnTx/>
                <a:uFillTx/>
                <a:latin typeface="Calibri" panose="020F0502020204030204"/>
                <a:ea typeface="+mn-ea"/>
                <a:cs typeface="+mn-cs"/>
              </a:rPr>
              <a:t>Universal Life</a:t>
            </a:r>
            <a:r>
              <a:rPr kumimoji="0" lang="en-IN" sz="1100" b="0" i="0" u="none" strike="noStrike" kern="1200" cap="none" spc="0" normalizeH="0" baseline="0" noProof="0">
                <a:ln>
                  <a:noFill/>
                </a:ln>
                <a:solidFill>
                  <a:srgbClr val="000000"/>
                </a:solidFill>
                <a:effectLst/>
                <a:uLnTx/>
                <a:uFillTx/>
                <a:latin typeface="Calibri" panose="020F0502020204030204"/>
                <a:ea typeface="+mn-ea"/>
                <a:cs typeface="+mn-cs"/>
              </a:rPr>
              <a:t>, </a:t>
            </a:r>
            <a:r>
              <a:rPr kumimoji="0" lang="en-IN" sz="1100" b="0" i="0" u="none" strike="noStrike" kern="1200" cap="none" spc="0" normalizeH="0" baseline="0" noProof="0">
                <a:ln>
                  <a:noFill/>
                </a:ln>
                <a:solidFill>
                  <a:schemeClr val="tx2"/>
                </a:solidFill>
                <a:effectLst/>
                <a:uLnTx/>
                <a:uFillTx/>
                <a:latin typeface="Calibri" panose="020F0502020204030204"/>
                <a:ea typeface="+mn-ea"/>
                <a:cs typeface="+mn-cs"/>
              </a:rPr>
              <a:t>Whole Life</a:t>
            </a:r>
            <a:r>
              <a:rPr kumimoji="0" lang="en-IN" sz="1100" b="0" i="0" u="none" strike="noStrike" kern="1200" cap="none" spc="0" normalizeH="0" baseline="0" noProof="0">
                <a:ln>
                  <a:noFill/>
                </a:ln>
                <a:solidFill>
                  <a:srgbClr val="000000"/>
                </a:solidFill>
                <a:effectLst/>
                <a:uLnTx/>
                <a:uFillTx/>
                <a:latin typeface="Calibri" panose="020F0502020204030204"/>
                <a:ea typeface="+mn-ea"/>
                <a:cs typeface="+mn-cs"/>
              </a:rPr>
              <a:t> etc.</a:t>
            </a:r>
          </a:p>
          <a:p>
            <a:pPr marL="285750" marR="0" lvl="0" indent="-285750" algn="l" defTabSz="914400" rtl="0" eaLnBrk="1" fontAlgn="auto" latinLnBrk="0" hangingPunct="1">
              <a:lnSpc>
                <a:spcPct val="100000"/>
              </a:lnSpc>
              <a:spcBef>
                <a:spcPts val="0"/>
              </a:spcBef>
              <a:spcAft>
                <a:spcPts val="0"/>
              </a:spcAft>
              <a:buClr>
                <a:srgbClr val="FB4D0A"/>
              </a:buClr>
              <a:buSzTx/>
              <a:buFont typeface="Arial" panose="020B0604020202020204" pitchFamily="34" charset="0"/>
              <a:buChar char="•"/>
              <a:tabLst/>
              <a:defRPr/>
            </a:pPr>
            <a:r>
              <a:rPr kumimoji="0" lang="en-IN" sz="1100" b="0" i="0" u="none" strike="noStrike" kern="1200" cap="none" spc="0" normalizeH="0" baseline="0" noProof="0">
                <a:ln>
                  <a:noFill/>
                </a:ln>
                <a:solidFill>
                  <a:srgbClr val="000000"/>
                </a:solidFill>
                <a:effectLst/>
                <a:uLnTx/>
                <a:uFillTx/>
                <a:latin typeface="Calibri" panose="020F0502020204030204"/>
                <a:ea typeface="+mn-ea"/>
                <a:cs typeface="+mn-cs"/>
              </a:rPr>
              <a:t>Maximum work delivered from </a:t>
            </a:r>
            <a:r>
              <a:rPr kumimoji="0" lang="en-IN" sz="1100" b="0" i="0" u="none" strike="noStrike" kern="1200" cap="none" spc="0" normalizeH="0" baseline="0" noProof="0">
                <a:ln>
                  <a:noFill/>
                </a:ln>
                <a:solidFill>
                  <a:srgbClr val="FB4D0A"/>
                </a:solidFill>
                <a:effectLst/>
                <a:uLnTx/>
                <a:uFillTx/>
                <a:latin typeface="Calibri" panose="020F0502020204030204"/>
                <a:ea typeface="+mn-ea"/>
                <a:cs typeface="+mn-cs"/>
              </a:rPr>
              <a:t>offshore</a:t>
            </a:r>
            <a:r>
              <a:rPr kumimoji="0" lang="en-IN" sz="1100" b="0" i="0" u="none" strike="noStrike" kern="1200" cap="none" spc="0" normalizeH="0" baseline="0" noProof="0">
                <a:ln>
                  <a:noFill/>
                </a:ln>
                <a:solidFill>
                  <a:srgbClr val="000000"/>
                </a:solidFill>
                <a:effectLst/>
                <a:uLnTx/>
                <a:uFillTx/>
                <a:latin typeface="Calibri" panose="020F0502020204030204"/>
                <a:ea typeface="+mn-ea"/>
                <a:cs typeface="+mn-cs"/>
              </a:rPr>
              <a:t> location.</a:t>
            </a:r>
          </a:p>
          <a:p>
            <a:pPr marL="285750" lvl="0" indent="-285750">
              <a:buClr>
                <a:srgbClr val="FB4D0A"/>
              </a:buClr>
              <a:buFont typeface="Arial" panose="020B0604020202020204" pitchFamily="34" charset="0"/>
              <a:buChar char="•"/>
              <a:defRPr/>
            </a:pPr>
            <a:r>
              <a:rPr lang="en-IN" sz="1100">
                <a:solidFill>
                  <a:srgbClr val="000000"/>
                </a:solidFill>
                <a:latin typeface="Calibri" panose="020F0502020204030204"/>
              </a:rPr>
              <a:t>Dedicated resource team with </a:t>
            </a:r>
            <a:r>
              <a:rPr lang="en-IN" sz="1100">
                <a:solidFill>
                  <a:schemeClr val="tx2"/>
                </a:solidFill>
                <a:latin typeface="Calibri" panose="020F0502020204030204"/>
              </a:rPr>
              <a:t>relevant illustration work </a:t>
            </a:r>
            <a:r>
              <a:rPr lang="en-IN" sz="1100">
                <a:solidFill>
                  <a:schemeClr val="tx2"/>
                </a:solidFill>
              </a:rPr>
              <a:t>experience</a:t>
            </a:r>
            <a:r>
              <a:rPr lang="en-IN" sz="1100">
                <a:solidFill>
                  <a:srgbClr val="000000"/>
                </a:solidFill>
              </a:rPr>
              <a:t>.</a:t>
            </a:r>
            <a:r>
              <a:rPr lang="en-IN" sz="1100">
                <a:solidFill>
                  <a:srgbClr val="000000"/>
                </a:solidFill>
                <a:latin typeface="Calibri" panose="020F0502020204030204"/>
              </a:rPr>
              <a:t> </a:t>
            </a:r>
          </a:p>
        </p:txBody>
      </p:sp>
      <p:sp>
        <p:nvSpPr>
          <p:cNvPr id="71" name="Rectangle 70">
            <a:extLst>
              <a:ext uri="{FF2B5EF4-FFF2-40B4-BE49-F238E27FC236}">
                <a16:creationId xmlns:a16="http://schemas.microsoft.com/office/drawing/2014/main" id="{23CF8A2D-7A16-49B7-9C50-C41E7BE49899}"/>
              </a:ext>
            </a:extLst>
          </p:cNvPr>
          <p:cNvSpPr/>
          <p:nvPr/>
        </p:nvSpPr>
        <p:spPr>
          <a:xfrm>
            <a:off x="6860248" y="4983775"/>
            <a:ext cx="4738155" cy="356080"/>
          </a:xfrm>
          <a:prstGeom prst="rect">
            <a:avLst/>
          </a:prstGeom>
          <a:solidFill>
            <a:schemeClr val="accent2"/>
          </a:solidFill>
          <a:ln>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srgbClr val="FFFFFF"/>
                </a:solidFill>
                <a:effectLst/>
                <a:uLnTx/>
                <a:uFillTx/>
                <a:latin typeface="Calibri" panose="020F0502020204030204"/>
                <a:ea typeface="+mn-ea"/>
                <a:cs typeface="+mn-cs"/>
              </a:rPr>
              <a:t>SLA’s</a:t>
            </a:r>
            <a:endParaRPr kumimoji="0" lang="en-US" sz="1200" b="1"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2" name="Rectangle 71">
            <a:extLst>
              <a:ext uri="{FF2B5EF4-FFF2-40B4-BE49-F238E27FC236}">
                <a16:creationId xmlns:a16="http://schemas.microsoft.com/office/drawing/2014/main" id="{15BCD028-A671-49DC-A1BD-E9233D6CAE32}"/>
              </a:ext>
            </a:extLst>
          </p:cNvPr>
          <p:cNvSpPr/>
          <p:nvPr/>
        </p:nvSpPr>
        <p:spPr>
          <a:xfrm>
            <a:off x="6852862" y="5384042"/>
            <a:ext cx="2723549" cy="395916"/>
          </a:xfrm>
          <a:prstGeom prst="rect">
            <a:avLst/>
          </a:prstGeom>
          <a:solidFill>
            <a:schemeClr val="tx2"/>
          </a:solidFill>
          <a:ln>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srgbClr val="FFFFFF"/>
                </a:solidFill>
                <a:effectLst/>
                <a:uLnTx/>
                <a:uFillTx/>
                <a:latin typeface="Calibri" panose="020F0502020204030204"/>
                <a:ea typeface="+mn-ea"/>
                <a:cs typeface="+mn-cs"/>
              </a:rPr>
              <a:t>Quality</a:t>
            </a:r>
            <a:endParaRPr kumimoji="0" lang="en-US" sz="1200" b="1"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3" name="Rectangle 72">
            <a:extLst>
              <a:ext uri="{FF2B5EF4-FFF2-40B4-BE49-F238E27FC236}">
                <a16:creationId xmlns:a16="http://schemas.microsoft.com/office/drawing/2014/main" id="{74A6E768-7F3E-4B43-B257-51033280D4A2}"/>
              </a:ext>
            </a:extLst>
          </p:cNvPr>
          <p:cNvSpPr/>
          <p:nvPr/>
        </p:nvSpPr>
        <p:spPr>
          <a:xfrm>
            <a:off x="6861914" y="5838555"/>
            <a:ext cx="2723549" cy="395916"/>
          </a:xfrm>
          <a:prstGeom prst="rect">
            <a:avLst/>
          </a:prstGeom>
          <a:solidFill>
            <a:schemeClr val="accent3"/>
          </a:solidFill>
          <a:ln>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srgbClr val="FFFFFF"/>
                </a:solidFill>
                <a:effectLst/>
                <a:uLnTx/>
                <a:uFillTx/>
                <a:latin typeface="Calibri" panose="020F0502020204030204"/>
                <a:ea typeface="+mn-ea"/>
                <a:cs typeface="+mn-cs"/>
              </a:rPr>
              <a:t>Timeliness</a:t>
            </a:r>
            <a:endParaRPr kumimoji="0" lang="en-US" sz="1200" b="1"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4" name="Rectangle: Rounded Corners 73">
            <a:extLst>
              <a:ext uri="{FF2B5EF4-FFF2-40B4-BE49-F238E27FC236}">
                <a16:creationId xmlns:a16="http://schemas.microsoft.com/office/drawing/2014/main" id="{6E326BF2-5FAD-4D74-920A-461146B70F30}"/>
              </a:ext>
            </a:extLst>
          </p:cNvPr>
          <p:cNvSpPr/>
          <p:nvPr/>
        </p:nvSpPr>
        <p:spPr>
          <a:xfrm>
            <a:off x="9675277" y="4903719"/>
            <a:ext cx="651757" cy="1456867"/>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a:solidFill>
                <a:schemeClr val="tx2"/>
              </a:solidFill>
              <a:latin typeface="Calibri" panose="020F0502020204030204"/>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chemeClr val="tx2"/>
                </a:solidFill>
                <a:latin typeface="Calibri" panose="020F0502020204030204"/>
              </a:rPr>
              <a:t>2025</a:t>
            </a:r>
            <a:endParaRPr kumimoji="0" lang="en-US" sz="1000" b="1" i="0" u="none" strike="noStrike" kern="1200" cap="none" spc="0" normalizeH="0" baseline="0" noProof="0">
              <a:ln>
                <a:noFill/>
              </a:ln>
              <a:solidFill>
                <a:schemeClr val="tx2"/>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a:solidFill>
                <a:schemeClr val="tx2"/>
              </a:solidFill>
              <a:latin typeface="Calibri" panose="020F0502020204030204"/>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chemeClr val="tx2"/>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chemeClr val="tx2"/>
                </a:solidFill>
                <a:latin typeface="Calibri" panose="020F0502020204030204"/>
              </a:rPr>
              <a:t>100%</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chemeClr val="tx2"/>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a:solidFill>
                <a:schemeClr val="tx2"/>
              </a:solidFill>
              <a:latin typeface="Calibri" panose="020F0502020204030204"/>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2"/>
                </a:solidFill>
                <a:effectLst/>
                <a:uLnTx/>
                <a:uFillTx/>
                <a:latin typeface="Calibri" panose="020F0502020204030204"/>
                <a:ea typeface="+mn-ea"/>
                <a:cs typeface="+mn-cs"/>
              </a:rPr>
              <a:t>100%</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chemeClr val="tx2"/>
              </a:solidFill>
              <a:effectLst/>
              <a:uLnTx/>
              <a:uFillTx/>
              <a:latin typeface="Calibri" panose="020F0502020204030204"/>
              <a:ea typeface="+mn-ea"/>
              <a:cs typeface="+mn-cs"/>
            </a:endParaRPr>
          </a:p>
        </p:txBody>
      </p:sp>
      <p:sp>
        <p:nvSpPr>
          <p:cNvPr id="75" name="Rectangle: Rounded Corners 74">
            <a:extLst>
              <a:ext uri="{FF2B5EF4-FFF2-40B4-BE49-F238E27FC236}">
                <a16:creationId xmlns:a16="http://schemas.microsoft.com/office/drawing/2014/main" id="{91579A01-EDCC-4B4B-A80B-3C8C053AAEE7}"/>
              </a:ext>
            </a:extLst>
          </p:cNvPr>
          <p:cNvSpPr/>
          <p:nvPr/>
        </p:nvSpPr>
        <p:spPr>
          <a:xfrm>
            <a:off x="10433796" y="4903719"/>
            <a:ext cx="651757" cy="1456868"/>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2"/>
                </a:solidFill>
                <a:effectLst/>
                <a:uLnTx/>
                <a:uFillTx/>
                <a:latin typeface="Calibri" panose="020F0502020204030204"/>
                <a:ea typeface="+mn-ea"/>
                <a:cs typeface="+mn-cs"/>
              </a:rPr>
              <a:t>2024</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a:solidFill>
                <a:schemeClr val="tx2"/>
              </a:solidFill>
              <a:latin typeface="Calibri" panose="020F0502020204030204"/>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a:solidFill>
                <a:schemeClr val="tx2"/>
              </a:solidFill>
              <a:latin typeface="Calibri" panose="020F0502020204030204"/>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2"/>
                </a:solidFill>
                <a:effectLst/>
                <a:uLnTx/>
                <a:uFillTx/>
                <a:latin typeface="Calibri" panose="020F0502020204030204"/>
                <a:ea typeface="+mn-ea"/>
                <a:cs typeface="+mn-cs"/>
              </a:rPr>
              <a:t>100%</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a:solidFill>
                <a:schemeClr val="tx2"/>
              </a:solidFill>
              <a:latin typeface="Calibri" panose="020F0502020204030204"/>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a:solidFill>
                <a:schemeClr val="tx2"/>
              </a:solidFill>
              <a:latin typeface="Calibri" panose="020F0502020204030204"/>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2"/>
                </a:solidFill>
                <a:effectLst/>
                <a:uLnTx/>
                <a:uFillTx/>
                <a:latin typeface="Calibri" panose="020F0502020204030204"/>
                <a:ea typeface="+mn-ea"/>
                <a:cs typeface="+mn-cs"/>
              </a:rPr>
              <a:t>95%</a:t>
            </a:r>
          </a:p>
        </p:txBody>
      </p:sp>
      <p:sp>
        <p:nvSpPr>
          <p:cNvPr id="82" name="Rectangle 81">
            <a:extLst>
              <a:ext uri="{FF2B5EF4-FFF2-40B4-BE49-F238E27FC236}">
                <a16:creationId xmlns:a16="http://schemas.microsoft.com/office/drawing/2014/main" id="{A8190050-166A-4DC9-B981-CE27CBA9E0DB}"/>
              </a:ext>
            </a:extLst>
          </p:cNvPr>
          <p:cNvSpPr/>
          <p:nvPr/>
        </p:nvSpPr>
        <p:spPr>
          <a:xfrm>
            <a:off x="6852864" y="1485717"/>
            <a:ext cx="2326456" cy="324269"/>
          </a:xfrm>
          <a:prstGeom prst="rect">
            <a:avLst/>
          </a:prstGeom>
          <a:solidFill>
            <a:schemeClr val="accent3"/>
          </a:solidFill>
          <a:ln>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srgbClr val="FFFFFF"/>
                </a:solidFill>
                <a:effectLst/>
                <a:uLnTx/>
                <a:uFillTx/>
                <a:latin typeface="Calibri" panose="020F0502020204030204"/>
                <a:ea typeface="+mn-ea"/>
                <a:cs typeface="+mn-cs"/>
              </a:rPr>
              <a:t>Standard Illustrations</a:t>
            </a:r>
            <a:endParaRPr kumimoji="0" lang="en-US" sz="1200" b="1"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3" name="Rectangle 82">
            <a:extLst>
              <a:ext uri="{FF2B5EF4-FFF2-40B4-BE49-F238E27FC236}">
                <a16:creationId xmlns:a16="http://schemas.microsoft.com/office/drawing/2014/main" id="{17D3C5A7-6C22-471D-85F4-887FA23861C0}"/>
              </a:ext>
            </a:extLst>
          </p:cNvPr>
          <p:cNvSpPr/>
          <p:nvPr/>
        </p:nvSpPr>
        <p:spPr>
          <a:xfrm>
            <a:off x="6852864" y="1864369"/>
            <a:ext cx="2326456" cy="321383"/>
          </a:xfrm>
          <a:prstGeom prst="rect">
            <a:avLst/>
          </a:prstGeom>
          <a:solidFill>
            <a:schemeClr val="accent3"/>
          </a:solidFill>
          <a:ln>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srgbClr val="FFFFFF"/>
                </a:solidFill>
                <a:effectLst/>
                <a:uLnTx/>
                <a:uFillTx/>
                <a:latin typeface="Calibri" panose="020F0502020204030204"/>
                <a:ea typeface="+mn-ea"/>
                <a:cs typeface="+mn-cs"/>
              </a:rPr>
              <a:t>Level Maximum Premium</a:t>
            </a:r>
            <a:endParaRPr kumimoji="0" lang="en-US" sz="1200" b="1"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4" name="Rectangle 83">
            <a:extLst>
              <a:ext uri="{FF2B5EF4-FFF2-40B4-BE49-F238E27FC236}">
                <a16:creationId xmlns:a16="http://schemas.microsoft.com/office/drawing/2014/main" id="{8E9B790D-3250-4E32-8459-66205FCFBB4F}"/>
              </a:ext>
            </a:extLst>
          </p:cNvPr>
          <p:cNvSpPr/>
          <p:nvPr/>
        </p:nvSpPr>
        <p:spPr>
          <a:xfrm>
            <a:off x="9279335" y="1859868"/>
            <a:ext cx="2326456" cy="324269"/>
          </a:xfrm>
          <a:prstGeom prst="rect">
            <a:avLst/>
          </a:prstGeom>
          <a:solidFill>
            <a:schemeClr val="accent3"/>
          </a:solidFill>
          <a:ln>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srgbClr val="FFFFFF"/>
                </a:solidFill>
                <a:effectLst/>
                <a:uLnTx/>
                <a:uFillTx/>
                <a:latin typeface="Calibri" panose="020F0502020204030204"/>
                <a:ea typeface="+mn-ea"/>
                <a:cs typeface="+mn-cs"/>
              </a:rPr>
              <a:t>True Maximum Premium</a:t>
            </a:r>
            <a:endParaRPr kumimoji="0" lang="en-US" sz="1200" b="1"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5" name="Rectangle 84">
            <a:extLst>
              <a:ext uri="{FF2B5EF4-FFF2-40B4-BE49-F238E27FC236}">
                <a16:creationId xmlns:a16="http://schemas.microsoft.com/office/drawing/2014/main" id="{350E4B67-774D-4C11-8B38-5FA2E3FDACAB}"/>
              </a:ext>
            </a:extLst>
          </p:cNvPr>
          <p:cNvSpPr/>
          <p:nvPr/>
        </p:nvSpPr>
        <p:spPr>
          <a:xfrm>
            <a:off x="6852864" y="2238836"/>
            <a:ext cx="2326456" cy="324269"/>
          </a:xfrm>
          <a:prstGeom prst="rect">
            <a:avLst/>
          </a:prstGeom>
          <a:solidFill>
            <a:schemeClr val="accent3"/>
          </a:solidFill>
          <a:ln>
            <a:noFill/>
          </a:ln>
        </p:spPr>
        <p:style>
          <a:lnRef idx="2">
            <a:schemeClr val="dk1"/>
          </a:lnRef>
          <a:fillRef idx="1">
            <a:schemeClr val="lt1"/>
          </a:fillRef>
          <a:effectRef idx="0">
            <a:schemeClr val="dk1"/>
          </a:effectRef>
          <a:fontRef idx="minor">
            <a:schemeClr val="dk1"/>
          </a:fontRef>
        </p:style>
        <p:txBody>
          <a:bodyPr rtlCol="0" anchor="ctr"/>
          <a:lstStyle/>
          <a:p>
            <a:pPr lvl="0" algn="ctr">
              <a:defRPr/>
            </a:pPr>
            <a:r>
              <a:rPr lang="en-IN" sz="1200" b="1">
                <a:solidFill>
                  <a:srgbClr val="FFFFFF"/>
                </a:solidFill>
              </a:rPr>
              <a:t>Guideline Based Premium</a:t>
            </a:r>
          </a:p>
        </p:txBody>
      </p:sp>
      <p:sp>
        <p:nvSpPr>
          <p:cNvPr id="86" name="Rectangle 85">
            <a:extLst>
              <a:ext uri="{FF2B5EF4-FFF2-40B4-BE49-F238E27FC236}">
                <a16:creationId xmlns:a16="http://schemas.microsoft.com/office/drawing/2014/main" id="{F4E75C49-10A6-4EE5-A30F-6821FA01C0F2}"/>
              </a:ext>
            </a:extLst>
          </p:cNvPr>
          <p:cNvSpPr/>
          <p:nvPr/>
        </p:nvSpPr>
        <p:spPr>
          <a:xfrm>
            <a:off x="6863138" y="2619069"/>
            <a:ext cx="2326456" cy="324269"/>
          </a:xfrm>
          <a:prstGeom prst="rect">
            <a:avLst/>
          </a:prstGeom>
          <a:solidFill>
            <a:schemeClr val="accent3"/>
          </a:solidFill>
          <a:ln>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srgbClr val="FFFFFF"/>
                </a:solidFill>
                <a:effectLst/>
                <a:uLnTx/>
                <a:uFillTx/>
                <a:latin typeface="Calibri" panose="020F0502020204030204"/>
                <a:ea typeface="+mn-ea"/>
                <a:cs typeface="+mn-cs"/>
              </a:rPr>
              <a:t>Death Claim</a:t>
            </a:r>
            <a:endParaRPr kumimoji="0" lang="en-US" sz="1200" b="1"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7" name="Rectangle 86">
            <a:extLst>
              <a:ext uri="{FF2B5EF4-FFF2-40B4-BE49-F238E27FC236}">
                <a16:creationId xmlns:a16="http://schemas.microsoft.com/office/drawing/2014/main" id="{C5F6F170-796B-4821-88C6-A550D8EB011A}"/>
              </a:ext>
            </a:extLst>
          </p:cNvPr>
          <p:cNvSpPr/>
          <p:nvPr/>
        </p:nvSpPr>
        <p:spPr>
          <a:xfrm>
            <a:off x="9286142" y="2235268"/>
            <a:ext cx="2326456" cy="324269"/>
          </a:xfrm>
          <a:prstGeom prst="rect">
            <a:avLst/>
          </a:prstGeom>
          <a:solidFill>
            <a:schemeClr val="accent3"/>
          </a:solidFill>
          <a:ln>
            <a:noFill/>
          </a:ln>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lvl="0" algn="ctr">
              <a:defRPr/>
            </a:pPr>
            <a:r>
              <a:rPr lang="en-IN" sz="1200" b="1">
                <a:solidFill>
                  <a:srgbClr val="FFFFFF"/>
                </a:solidFill>
              </a:rPr>
              <a:t>Annual Statements</a:t>
            </a:r>
            <a:endParaRPr lang="en-US" sz="1200" b="1">
              <a:solidFill>
                <a:srgbClr val="FFFFFF"/>
              </a:solidFill>
            </a:endParaRPr>
          </a:p>
        </p:txBody>
      </p:sp>
      <p:sp>
        <p:nvSpPr>
          <p:cNvPr id="88" name="Rectangle 87">
            <a:extLst>
              <a:ext uri="{FF2B5EF4-FFF2-40B4-BE49-F238E27FC236}">
                <a16:creationId xmlns:a16="http://schemas.microsoft.com/office/drawing/2014/main" id="{0A80C5DC-637C-42CD-9D9A-A9262B84FE6D}"/>
              </a:ext>
            </a:extLst>
          </p:cNvPr>
          <p:cNvSpPr/>
          <p:nvPr/>
        </p:nvSpPr>
        <p:spPr>
          <a:xfrm>
            <a:off x="9286142" y="2605844"/>
            <a:ext cx="2326456" cy="324269"/>
          </a:xfrm>
          <a:prstGeom prst="rect">
            <a:avLst/>
          </a:prstGeom>
          <a:solidFill>
            <a:schemeClr val="accent3"/>
          </a:solidFill>
          <a:ln>
            <a:noFill/>
          </a:ln>
        </p:spPr>
        <p:style>
          <a:lnRef idx="2">
            <a:schemeClr val="dk1"/>
          </a:lnRef>
          <a:fillRef idx="1">
            <a:schemeClr val="lt1"/>
          </a:fillRef>
          <a:effectRef idx="0">
            <a:schemeClr val="dk1"/>
          </a:effectRef>
          <a:fontRef idx="minor">
            <a:schemeClr val="dk1"/>
          </a:fontRef>
        </p:style>
        <p:txBody>
          <a:bodyPr rtlCol="0" anchor="ctr"/>
          <a:lstStyle/>
          <a:p>
            <a:pPr lvl="0" algn="ctr">
              <a:defRPr/>
            </a:pPr>
            <a:r>
              <a:rPr lang="en-IN" sz="1200" b="1">
                <a:solidFill>
                  <a:srgbClr val="FFFFFF"/>
                </a:solidFill>
              </a:rPr>
              <a:t>Change in Death Benefit</a:t>
            </a:r>
            <a:endParaRPr lang="en-US" sz="1200" b="1">
              <a:solidFill>
                <a:srgbClr val="FFFFFF"/>
              </a:solidFill>
            </a:endParaRPr>
          </a:p>
        </p:txBody>
      </p:sp>
      <p:sp>
        <p:nvSpPr>
          <p:cNvPr id="89" name="Rectangle 88">
            <a:extLst>
              <a:ext uri="{FF2B5EF4-FFF2-40B4-BE49-F238E27FC236}">
                <a16:creationId xmlns:a16="http://schemas.microsoft.com/office/drawing/2014/main" id="{4339A640-93D0-45C7-951C-378F20C55FDA}"/>
              </a:ext>
            </a:extLst>
          </p:cNvPr>
          <p:cNvSpPr/>
          <p:nvPr/>
        </p:nvSpPr>
        <p:spPr>
          <a:xfrm>
            <a:off x="6866982" y="2986770"/>
            <a:ext cx="2326456" cy="324269"/>
          </a:xfrm>
          <a:prstGeom prst="rect">
            <a:avLst/>
          </a:prstGeom>
          <a:solidFill>
            <a:schemeClr val="accent3"/>
          </a:solidFill>
          <a:ln>
            <a:noFill/>
          </a:ln>
        </p:spPr>
        <p:style>
          <a:lnRef idx="2">
            <a:schemeClr val="dk1"/>
          </a:lnRef>
          <a:fillRef idx="1">
            <a:schemeClr val="lt1"/>
          </a:fillRef>
          <a:effectRef idx="0">
            <a:schemeClr val="dk1"/>
          </a:effectRef>
          <a:fontRef idx="minor">
            <a:schemeClr val="dk1"/>
          </a:fontRef>
        </p:style>
        <p:txBody>
          <a:bodyPr rtlCol="0" anchor="ctr"/>
          <a:lstStyle/>
          <a:p>
            <a:pPr algn="ctr">
              <a:defRPr/>
            </a:pPr>
            <a:r>
              <a:rPr lang="en-IN" sz="1200" b="1">
                <a:solidFill>
                  <a:srgbClr val="FFFFFF"/>
                </a:solidFill>
              </a:rPr>
              <a:t>Change in Policy Face Amount</a:t>
            </a:r>
            <a:endParaRPr lang="en-US" sz="1200" b="1">
              <a:solidFill>
                <a:srgbClr val="FFFFFF"/>
              </a:solidFill>
            </a:endParaRPr>
          </a:p>
        </p:txBody>
      </p:sp>
      <p:sp>
        <p:nvSpPr>
          <p:cNvPr id="90" name="Rectangle 89">
            <a:extLst>
              <a:ext uri="{FF2B5EF4-FFF2-40B4-BE49-F238E27FC236}">
                <a16:creationId xmlns:a16="http://schemas.microsoft.com/office/drawing/2014/main" id="{758685D0-8415-49F5-BD54-5696D9F458CC}"/>
              </a:ext>
            </a:extLst>
          </p:cNvPr>
          <p:cNvSpPr/>
          <p:nvPr/>
        </p:nvSpPr>
        <p:spPr>
          <a:xfrm>
            <a:off x="9286142" y="2989455"/>
            <a:ext cx="2326456" cy="324269"/>
          </a:xfrm>
          <a:prstGeom prst="rect">
            <a:avLst/>
          </a:prstGeom>
          <a:solidFill>
            <a:schemeClr val="accent3"/>
          </a:solidFill>
          <a:ln>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srgbClr val="FFFFFF"/>
                </a:solidFill>
                <a:effectLst/>
                <a:uLnTx/>
                <a:uFillTx/>
                <a:latin typeface="Calibri" panose="020F0502020204030204"/>
                <a:ea typeface="+mn-ea"/>
                <a:cs typeface="+mn-cs"/>
              </a:rPr>
              <a:t>Policy Standard Values</a:t>
            </a:r>
            <a:endParaRPr kumimoji="0" lang="en-US" sz="1200" b="1"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91" name="Rectangle 90">
            <a:extLst>
              <a:ext uri="{FF2B5EF4-FFF2-40B4-BE49-F238E27FC236}">
                <a16:creationId xmlns:a16="http://schemas.microsoft.com/office/drawing/2014/main" id="{3C9DA4C3-79E6-4176-87FA-EDFAA483FBE7}"/>
              </a:ext>
            </a:extLst>
          </p:cNvPr>
          <p:cNvSpPr/>
          <p:nvPr/>
        </p:nvSpPr>
        <p:spPr>
          <a:xfrm>
            <a:off x="6863138" y="3357083"/>
            <a:ext cx="2326456" cy="324269"/>
          </a:xfrm>
          <a:prstGeom prst="rect">
            <a:avLst/>
          </a:prstGeom>
          <a:solidFill>
            <a:schemeClr val="accent3"/>
          </a:solidFill>
          <a:ln>
            <a:noFill/>
          </a:ln>
        </p:spPr>
        <p:style>
          <a:lnRef idx="2">
            <a:schemeClr val="dk1"/>
          </a:lnRef>
          <a:fillRef idx="1">
            <a:schemeClr val="lt1"/>
          </a:fillRef>
          <a:effectRef idx="0">
            <a:schemeClr val="dk1"/>
          </a:effectRef>
          <a:fontRef idx="minor">
            <a:schemeClr val="dk1"/>
          </a:fontRef>
        </p:style>
        <p:txBody>
          <a:bodyPr rtlCol="0" anchor="ctr"/>
          <a:lstStyle/>
          <a:p>
            <a:pPr lvl="0" algn="ctr">
              <a:defRPr/>
            </a:pPr>
            <a:r>
              <a:rPr lang="en-IN" sz="1200" b="1">
                <a:solidFill>
                  <a:srgbClr val="FFFFFF"/>
                </a:solidFill>
              </a:rPr>
              <a:t>Loan Repayment</a:t>
            </a:r>
            <a:endParaRPr lang="en-US" sz="1200" b="1">
              <a:solidFill>
                <a:srgbClr val="FFFFFF"/>
              </a:solidFill>
            </a:endParaRPr>
          </a:p>
        </p:txBody>
      </p:sp>
      <p:sp>
        <p:nvSpPr>
          <p:cNvPr id="92" name="Rectangle 91">
            <a:extLst>
              <a:ext uri="{FF2B5EF4-FFF2-40B4-BE49-F238E27FC236}">
                <a16:creationId xmlns:a16="http://schemas.microsoft.com/office/drawing/2014/main" id="{248E66D7-AACB-4252-BEED-AC97967C42E7}"/>
              </a:ext>
            </a:extLst>
          </p:cNvPr>
          <p:cNvSpPr/>
          <p:nvPr/>
        </p:nvSpPr>
        <p:spPr>
          <a:xfrm>
            <a:off x="9279335" y="3368136"/>
            <a:ext cx="2326456" cy="324269"/>
          </a:xfrm>
          <a:prstGeom prst="rect">
            <a:avLst/>
          </a:prstGeom>
          <a:solidFill>
            <a:schemeClr val="accent3"/>
          </a:solidFill>
          <a:ln>
            <a:noFill/>
          </a:ln>
        </p:spPr>
        <p:style>
          <a:lnRef idx="2">
            <a:schemeClr val="dk1"/>
          </a:lnRef>
          <a:fillRef idx="1">
            <a:schemeClr val="lt1"/>
          </a:fillRef>
          <a:effectRef idx="0">
            <a:schemeClr val="dk1"/>
          </a:effectRef>
          <a:fontRef idx="minor">
            <a:schemeClr val="dk1"/>
          </a:fontRef>
        </p:style>
        <p:txBody>
          <a:bodyPr rtlCol="0" anchor="ctr"/>
          <a:lstStyle/>
          <a:p>
            <a:pPr lvl="0" algn="ctr">
              <a:defRPr/>
            </a:pPr>
            <a:r>
              <a:rPr lang="en-IN" sz="1200" b="1">
                <a:solidFill>
                  <a:srgbClr val="FFFFFF"/>
                </a:solidFill>
              </a:rPr>
              <a:t>Rider coverages</a:t>
            </a:r>
            <a:endParaRPr lang="en-US" sz="1200" b="1">
              <a:solidFill>
                <a:srgbClr val="FFFFFF"/>
              </a:solidFill>
            </a:endParaRPr>
          </a:p>
        </p:txBody>
      </p:sp>
      <p:sp>
        <p:nvSpPr>
          <p:cNvPr id="93" name="TextBox 92">
            <a:extLst>
              <a:ext uri="{FF2B5EF4-FFF2-40B4-BE49-F238E27FC236}">
                <a16:creationId xmlns:a16="http://schemas.microsoft.com/office/drawing/2014/main" id="{911FC7EF-7BF1-44F7-91D5-DB3D66195899}"/>
              </a:ext>
            </a:extLst>
          </p:cNvPr>
          <p:cNvSpPr txBox="1"/>
          <p:nvPr/>
        </p:nvSpPr>
        <p:spPr>
          <a:xfrm>
            <a:off x="483702" y="4822124"/>
            <a:ext cx="6286732" cy="1754326"/>
          </a:xfrm>
          <a:prstGeom prst="rect">
            <a:avLst/>
          </a:prstGeom>
          <a:noFill/>
        </p:spPr>
        <p:txBody>
          <a:bodyPr wrap="square" lIns="0" rIns="0" rtlCol="0" anchor="t">
            <a:spAutoFit/>
          </a:bodyPr>
          <a:lstStyle/>
          <a:p>
            <a:pPr marL="171450" lvl="0" indent="-171450">
              <a:buClr>
                <a:srgbClr val="FB4E0B"/>
              </a:buClr>
              <a:buFont typeface="Arial" panose="020B0604020202020204" pitchFamily="34" charset="0"/>
              <a:buChar char="•"/>
              <a:defRPr/>
            </a:pPr>
            <a:r>
              <a:rPr lang="en-US" sz="1200">
                <a:solidFill>
                  <a:schemeClr val="tx2"/>
                </a:solidFill>
              </a:rPr>
              <a:t>Multiple Policy Administration Systems</a:t>
            </a:r>
            <a:r>
              <a:rPr lang="en-US" sz="1200">
                <a:solidFill>
                  <a:srgbClr val="000000"/>
                </a:solidFill>
              </a:rPr>
              <a:t> makes it Complicated to manage diverse policies.</a:t>
            </a:r>
          </a:p>
          <a:p>
            <a:pPr marL="171450" lvl="0" indent="-171450">
              <a:buClr>
                <a:srgbClr val="FB4E0B"/>
              </a:buClr>
              <a:buFont typeface="Arial" panose="020B0604020202020204" pitchFamily="34" charset="0"/>
              <a:buChar char="•"/>
              <a:defRPr/>
            </a:pPr>
            <a:r>
              <a:rPr lang="en-US" sz="1200">
                <a:solidFill>
                  <a:srgbClr val="000000"/>
                </a:solidFill>
              </a:rPr>
              <a:t>Inefficiencies due to outdated </a:t>
            </a:r>
            <a:r>
              <a:rPr lang="en-US" sz="1200">
                <a:solidFill>
                  <a:schemeClr val="tx2"/>
                </a:solidFill>
              </a:rPr>
              <a:t>legacy tools</a:t>
            </a:r>
            <a:r>
              <a:rPr lang="en-US" sz="1200">
                <a:solidFill>
                  <a:srgbClr val="000000"/>
                </a:solidFill>
              </a:rPr>
              <a:t>.</a:t>
            </a:r>
          </a:p>
          <a:p>
            <a:pPr marL="171450" lvl="0" indent="-171450">
              <a:buClr>
                <a:srgbClr val="FB4E0B"/>
              </a:buClr>
              <a:buFont typeface="Arial" panose="020B0604020202020204" pitchFamily="34" charset="0"/>
              <a:buChar char="•"/>
              <a:defRPr/>
            </a:pPr>
            <a:r>
              <a:rPr lang="en-US" sz="1200">
                <a:solidFill>
                  <a:srgbClr val="000000"/>
                </a:solidFill>
              </a:rPr>
              <a:t>Maintaining accurate illustrations with </a:t>
            </a:r>
            <a:r>
              <a:rPr lang="en-US" sz="1200">
                <a:solidFill>
                  <a:schemeClr val="tx2"/>
                </a:solidFill>
              </a:rPr>
              <a:t>frequent policy changes</a:t>
            </a:r>
            <a:r>
              <a:rPr lang="en-US" sz="1200">
                <a:solidFill>
                  <a:srgbClr val="000000"/>
                </a:solidFill>
              </a:rPr>
              <a:t>.</a:t>
            </a:r>
          </a:p>
          <a:p>
            <a:pPr marL="171450" lvl="0" indent="-171450">
              <a:buClr>
                <a:srgbClr val="FB4E0B"/>
              </a:buClr>
              <a:buFont typeface="Arial" panose="020B0604020202020204" pitchFamily="34" charset="0"/>
              <a:buChar char="•"/>
              <a:defRPr/>
            </a:pPr>
            <a:r>
              <a:rPr lang="en-US" sz="1200">
                <a:solidFill>
                  <a:schemeClr val="tx2"/>
                </a:solidFill>
              </a:rPr>
              <a:t>Macro-based</a:t>
            </a:r>
            <a:r>
              <a:rPr lang="en-US" sz="1200">
                <a:solidFill>
                  <a:srgbClr val="000000"/>
                </a:solidFill>
              </a:rPr>
              <a:t> Excel tools were difficult to understand.</a:t>
            </a:r>
          </a:p>
          <a:p>
            <a:pPr marL="171450" lvl="0" indent="-171450">
              <a:buClr>
                <a:srgbClr val="FB4E0B"/>
              </a:buClr>
              <a:buFont typeface="Arial" panose="020B0604020202020204" pitchFamily="34" charset="0"/>
              <a:buChar char="•"/>
              <a:defRPr/>
            </a:pPr>
            <a:r>
              <a:rPr lang="en-US" sz="1200">
                <a:solidFill>
                  <a:schemeClr val="tx2"/>
                </a:solidFill>
              </a:rPr>
              <a:t>Lack of actuarial knowledge</a:t>
            </a:r>
            <a:r>
              <a:rPr lang="en-US" sz="1200">
                <a:solidFill>
                  <a:srgbClr val="000000"/>
                </a:solidFill>
              </a:rPr>
              <a:t> on the transitioning team’s end.</a:t>
            </a:r>
          </a:p>
          <a:p>
            <a:pPr marL="171450" lvl="0" indent="-171450">
              <a:buClr>
                <a:srgbClr val="FB4E0B"/>
              </a:buClr>
              <a:buFont typeface="Arial" panose="020B0604020202020204" pitchFamily="34" charset="0"/>
              <a:buChar char="•"/>
              <a:defRPr/>
            </a:pPr>
            <a:r>
              <a:rPr lang="en-US" sz="1200">
                <a:solidFill>
                  <a:schemeClr val="tx2"/>
                </a:solidFill>
              </a:rPr>
              <a:t>Tight Deadlines</a:t>
            </a:r>
            <a:r>
              <a:rPr lang="en-US" sz="1200">
                <a:solidFill>
                  <a:srgbClr val="000000"/>
                </a:solidFill>
              </a:rPr>
              <a:t> to complete illustrations.</a:t>
            </a:r>
          </a:p>
          <a:p>
            <a:pPr marL="171450" lvl="0" indent="-171450">
              <a:buClr>
                <a:srgbClr val="FB4E0B"/>
              </a:buClr>
              <a:buFont typeface="Arial" panose="020B0604020202020204" pitchFamily="34" charset="0"/>
              <a:buChar char="•"/>
              <a:defRPr/>
            </a:pPr>
            <a:r>
              <a:rPr lang="en-US" sz="1200">
                <a:solidFill>
                  <a:schemeClr val="tx2"/>
                </a:solidFill>
              </a:rPr>
              <a:t>Variety of riders</a:t>
            </a:r>
            <a:r>
              <a:rPr lang="en-US" sz="1200">
                <a:solidFill>
                  <a:srgbClr val="000000"/>
                </a:solidFill>
              </a:rPr>
              <a:t> complicates the standardization of illustration work.</a:t>
            </a:r>
          </a:p>
          <a:p>
            <a:pPr marL="171450" lvl="0" indent="-171450">
              <a:buClr>
                <a:srgbClr val="FB4E0B"/>
              </a:buClr>
              <a:buFont typeface="Arial" panose="020B0604020202020204" pitchFamily="34" charset="0"/>
              <a:buChar char="•"/>
              <a:defRPr/>
            </a:pPr>
            <a:r>
              <a:rPr lang="en-US" sz="1200">
                <a:solidFill>
                  <a:srgbClr val="000000"/>
                </a:solidFill>
              </a:rPr>
              <a:t>Confusion arose from managing </a:t>
            </a:r>
            <a:r>
              <a:rPr lang="en-US" sz="1200">
                <a:solidFill>
                  <a:schemeClr val="tx2"/>
                </a:solidFill>
              </a:rPr>
              <a:t>multiple template versions</a:t>
            </a:r>
            <a:r>
              <a:rPr lang="en-US" sz="1200">
                <a:solidFill>
                  <a:srgbClr val="000000"/>
                </a:solidFill>
              </a:rPr>
              <a:t>.</a:t>
            </a:r>
          </a:p>
          <a:p>
            <a:pPr marL="171450" lvl="0" indent="-171450">
              <a:buClr>
                <a:srgbClr val="FB4E0B"/>
              </a:buClr>
              <a:buFont typeface="Arial" panose="020B0604020202020204" pitchFamily="34" charset="0"/>
              <a:buChar char="•"/>
              <a:defRPr/>
            </a:pPr>
            <a:r>
              <a:rPr lang="en-US" sz="1200">
                <a:solidFill>
                  <a:srgbClr val="000000"/>
                </a:solidFill>
              </a:rPr>
              <a:t>Enforcing </a:t>
            </a:r>
            <a:r>
              <a:rPr lang="en-US" sz="1200">
                <a:solidFill>
                  <a:schemeClr val="tx2"/>
                </a:solidFill>
              </a:rPr>
              <a:t>access controls</a:t>
            </a:r>
            <a:r>
              <a:rPr lang="en-US" sz="1200">
                <a:solidFill>
                  <a:srgbClr val="000000"/>
                </a:solidFill>
              </a:rPr>
              <a:t> for sensitive policy data offshore.</a:t>
            </a:r>
          </a:p>
        </p:txBody>
      </p:sp>
      <p:sp>
        <p:nvSpPr>
          <p:cNvPr id="9" name="TextBox 8">
            <a:extLst>
              <a:ext uri="{FF2B5EF4-FFF2-40B4-BE49-F238E27FC236}">
                <a16:creationId xmlns:a16="http://schemas.microsoft.com/office/drawing/2014/main" id="{406ACBA8-DBBC-1FF4-32DC-69E72B8EEFB4}"/>
              </a:ext>
            </a:extLst>
          </p:cNvPr>
          <p:cNvSpPr txBox="1"/>
          <p:nvPr/>
        </p:nvSpPr>
        <p:spPr>
          <a:xfrm>
            <a:off x="6979916" y="169194"/>
            <a:ext cx="2199404" cy="369332"/>
          </a:xfrm>
          <a:prstGeom prst="rect">
            <a:avLst/>
          </a:prstGeom>
          <a:solidFill>
            <a:srgbClr val="FFFF00"/>
          </a:solidFill>
        </p:spPr>
        <p:txBody>
          <a:bodyPr wrap="square">
            <a:spAutoFit/>
          </a:bodyPr>
          <a:lstStyle/>
          <a:p>
            <a:r>
              <a:rPr lang="en-US"/>
              <a:t>GA Illustration work</a:t>
            </a:r>
            <a:endParaRPr lang="en-IN"/>
          </a:p>
        </p:txBody>
      </p:sp>
    </p:spTree>
    <p:extLst>
      <p:ext uri="{BB962C8B-B14F-4D97-AF65-F5344CB8AC3E}">
        <p14:creationId xmlns:p14="http://schemas.microsoft.com/office/powerpoint/2010/main" val="21650164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647B7-4B6C-562D-E32A-D9FECCCE21EB}"/>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8E2D25AD-A1B4-60D6-0C71-F3EB900546C9}"/>
              </a:ext>
            </a:extLst>
          </p:cNvPr>
          <p:cNvSpPr>
            <a:spLocks noGrp="1"/>
          </p:cNvSpPr>
          <p:nvPr>
            <p:ph type="ctrTitle"/>
          </p:nvPr>
        </p:nvSpPr>
        <p:spPr/>
        <p:txBody>
          <a:bodyPr>
            <a:normAutofit/>
          </a:bodyPr>
          <a:lstStyle/>
          <a:p>
            <a:r>
              <a:rPr lang="en-US"/>
              <a:t>Lincoln Financial Group – Data Modernization</a:t>
            </a:r>
          </a:p>
        </p:txBody>
      </p:sp>
      <p:sp>
        <p:nvSpPr>
          <p:cNvPr id="3" name="Rectangle 2">
            <a:extLst>
              <a:ext uri="{FF2B5EF4-FFF2-40B4-BE49-F238E27FC236}">
                <a16:creationId xmlns:a16="http://schemas.microsoft.com/office/drawing/2014/main" id="{B8A45C3B-D1B4-70A0-FCAD-A5ED1669F03C}"/>
              </a:ext>
            </a:extLst>
          </p:cNvPr>
          <p:cNvSpPr/>
          <p:nvPr/>
        </p:nvSpPr>
        <p:spPr>
          <a:xfrm>
            <a:off x="2752102" y="3651641"/>
            <a:ext cx="8982698" cy="2558658"/>
          </a:xfrm>
          <a:prstGeom prst="rect">
            <a:avLst/>
          </a:prstGeom>
          <a:no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Calibri" panose="020F0502020204030204"/>
                <a:ea typeface="+mn-ea"/>
                <a:cs typeface="+mn-cs"/>
              </a:rPr>
              <a:t>Benefits:</a:t>
            </a:r>
            <a:endParaRPr kumimoji="0" lang="en-US" sz="1200" b="0" i="0" u="none" strike="noStrike" kern="1200" cap="none" spc="0" normalizeH="0" baseline="0" noProof="0">
              <a:ln>
                <a:noFill/>
              </a:ln>
              <a:solidFill>
                <a:srgbClr val="000000"/>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600">
                <a:solidFill>
                  <a:srgbClr val="000000"/>
                </a:solidFill>
                <a:latin typeface="Calibri" panose="020F0502020204030204"/>
              </a:rPr>
              <a:t>Created a single, end to end documentation of flow of data</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600">
                <a:solidFill>
                  <a:srgbClr val="000000"/>
                </a:solidFill>
                <a:latin typeface="Calibri" panose="020F0502020204030204"/>
              </a:rPr>
              <a:t>Improved cross team understanding of Annuity data flow</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600">
                <a:solidFill>
                  <a:srgbClr val="000000"/>
                </a:solidFill>
                <a:latin typeface="Calibri" panose="020F0502020204030204"/>
              </a:rPr>
              <a:t>Enabled easy tracing of any field from raw data till final Output </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600">
                <a:solidFill>
                  <a:srgbClr val="000000"/>
                </a:solidFill>
                <a:latin typeface="Calibri" panose="020F0502020204030204"/>
              </a:rPr>
              <a:t>Made future data updates and transformations easier</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600">
                <a:solidFill>
                  <a:srgbClr val="000000"/>
                </a:solidFill>
                <a:latin typeface="Calibri" panose="020F0502020204030204"/>
              </a:rPr>
              <a:t>Identified coding gaps and inefficiencies in transformations</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600">
                <a:solidFill>
                  <a:srgbClr val="000000"/>
                </a:solidFill>
                <a:latin typeface="Calibri" panose="020F0502020204030204"/>
              </a:rPr>
              <a:t>Combined and documented logic from all tools, hence multi-tool navigation/expertise not required</a:t>
            </a:r>
          </a:p>
          <a:p>
            <a:pPr marL="285750" lvl="0" indent="-285750" defTabSz="914400">
              <a:spcBef>
                <a:spcPts val="600"/>
              </a:spcBef>
              <a:buFont typeface="Arial" panose="020B0604020202020204" pitchFamily="34" charset="0"/>
              <a:buChar char="•"/>
              <a:defRPr/>
            </a:pPr>
            <a:r>
              <a:rPr lang="en-US" sz="1600">
                <a:solidFill>
                  <a:srgbClr val="000000"/>
                </a:solidFill>
              </a:rPr>
              <a:t>Hyperlink exists for various stages of transformation</a:t>
            </a:r>
            <a:endParaRPr lang="en-US" sz="1600">
              <a:solidFill>
                <a:srgbClr val="000000"/>
              </a:solidFill>
              <a:latin typeface="Calibri" panose="020F0502020204030204"/>
            </a:endParaRPr>
          </a:p>
        </p:txBody>
      </p:sp>
      <p:sp>
        <p:nvSpPr>
          <p:cNvPr id="5" name="Rectangle 4">
            <a:extLst>
              <a:ext uri="{FF2B5EF4-FFF2-40B4-BE49-F238E27FC236}">
                <a16:creationId xmlns:a16="http://schemas.microsoft.com/office/drawing/2014/main" id="{DD9F8380-57A6-60C8-2788-BA8FBB19F778}"/>
              </a:ext>
            </a:extLst>
          </p:cNvPr>
          <p:cNvSpPr/>
          <p:nvPr/>
        </p:nvSpPr>
        <p:spPr>
          <a:xfrm>
            <a:off x="468631" y="3651642"/>
            <a:ext cx="2283471" cy="2558658"/>
          </a:xfrm>
          <a:prstGeom prst="rect">
            <a:avLst/>
          </a:prstGeom>
          <a:no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Calibri" panose="020F0502020204030204"/>
                <a:ea typeface="+mn-ea"/>
                <a:cs typeface="+mn-cs"/>
              </a:rPr>
              <a:t>Achievements: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i="0" u="none" strike="noStrike" kern="1200" cap="none" spc="0" normalizeH="0" baseline="0" noProof="0">
              <a:ln>
                <a:noFill/>
              </a:ln>
              <a:solidFill>
                <a:srgbClr val="000000"/>
              </a:solidFill>
              <a:effectLst/>
              <a:uLnTx/>
              <a:uFillTx/>
              <a:latin typeface="Calibri" panose="020F050202020403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i="0" u="none" strike="noStrike" kern="1200" cap="none" spc="0" normalizeH="0" baseline="0" noProof="0">
                <a:ln>
                  <a:noFill/>
                </a:ln>
                <a:solidFill>
                  <a:srgbClr val="000000"/>
                </a:solidFill>
                <a:effectLst/>
                <a:uLnTx/>
                <a:uFillTx/>
                <a:latin typeface="Calibri" panose="020F0502020204030204"/>
                <a:ea typeface="+mn-ea"/>
                <a:cs typeface="+mn-cs"/>
              </a:rPr>
              <a:t>Delivered comprehensive data dictionaries for 5 annuity models with ~95% completion</a:t>
            </a:r>
            <a:r>
              <a:rPr lang="en-IN" sz="1200">
                <a:solidFill>
                  <a:srgbClr val="000000"/>
                </a:solidFill>
                <a:latin typeface="Calibri" panose="020F0502020204030204"/>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i="0" u="none" strike="noStrike" kern="1200" cap="none" spc="0" normalizeH="0" baseline="0" noProof="0">
                <a:ln>
                  <a:noFill/>
                </a:ln>
                <a:solidFill>
                  <a:srgbClr val="000000"/>
                </a:solidFill>
                <a:effectLst/>
                <a:uLnTx/>
                <a:uFillTx/>
                <a:latin typeface="Calibri" panose="020F0502020204030204"/>
                <a:ea typeface="+mn-ea"/>
                <a:cs typeface="+mn-cs"/>
              </a:rPr>
              <a:t>Created </a:t>
            </a:r>
            <a:r>
              <a:rPr lang="en-IN" sz="1200">
                <a:solidFill>
                  <a:srgbClr val="000000"/>
                </a:solidFill>
                <a:latin typeface="Calibri" panose="020F0502020204030204"/>
              </a:rPr>
              <a:t>I</a:t>
            </a:r>
            <a:r>
              <a:rPr kumimoji="0" lang="en-IN" sz="1200" i="0" u="none" strike="noStrike" kern="1200" cap="none" spc="0" normalizeH="0" baseline="0" noProof="0" err="1">
                <a:ln>
                  <a:noFill/>
                </a:ln>
                <a:solidFill>
                  <a:srgbClr val="000000"/>
                </a:solidFill>
                <a:effectLst/>
                <a:uLnTx/>
                <a:uFillTx/>
                <a:latin typeface="Calibri" panose="020F0502020204030204"/>
                <a:ea typeface="+mn-ea"/>
                <a:cs typeface="+mn-cs"/>
              </a:rPr>
              <a:t>nput</a:t>
            </a:r>
            <a:r>
              <a:rPr kumimoji="0" lang="en-IN" sz="1200" i="0" u="none" strike="noStrike" kern="1200" cap="none" spc="0" normalizeH="0" baseline="0" noProof="0">
                <a:ln>
                  <a:noFill/>
                </a:ln>
                <a:solidFill>
                  <a:srgbClr val="000000"/>
                </a:solidFill>
                <a:effectLst/>
                <a:uLnTx/>
                <a:uFillTx/>
                <a:latin typeface="Calibri" panose="020F0502020204030204"/>
                <a:ea typeface="+mn-ea"/>
                <a:cs typeface="+mn-cs"/>
              </a:rPr>
              <a:t>, Output, and DW data dictionaries for each Annuity model.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i="0" u="none" strike="noStrike" kern="1200" cap="none" spc="0" normalizeH="0" baseline="0" noProof="0">
                <a:ln>
                  <a:noFill/>
                </a:ln>
                <a:solidFill>
                  <a:srgbClr val="000000"/>
                </a:solidFill>
                <a:effectLst/>
                <a:uLnTx/>
                <a:uFillTx/>
                <a:latin typeface="Calibri" panose="020F0502020204030204"/>
                <a:ea typeface="+mn-ea"/>
                <a:cs typeface="+mn-cs"/>
              </a:rPr>
              <a:t>Supported on 150+ review‑phase questions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200">
                <a:solidFill>
                  <a:srgbClr val="000000"/>
                </a:solidFill>
                <a:latin typeface="Calibri" panose="020F0502020204030204"/>
              </a:rPr>
              <a:t>Found and Documented inter-dependencies of Data within GGY AXIS</a:t>
            </a:r>
            <a:endParaRPr kumimoji="0" lang="en-US" sz="140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D33F7898-90C5-F4BB-6378-F489C2D400B1}"/>
              </a:ext>
            </a:extLst>
          </p:cNvPr>
          <p:cNvSpPr/>
          <p:nvPr/>
        </p:nvSpPr>
        <p:spPr>
          <a:xfrm>
            <a:off x="2899966" y="2114496"/>
            <a:ext cx="4456544" cy="5280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1B13670F-07CA-F3EC-2864-58DE29355F42}"/>
              </a:ext>
            </a:extLst>
          </p:cNvPr>
          <p:cNvSpPr/>
          <p:nvPr/>
        </p:nvSpPr>
        <p:spPr>
          <a:xfrm>
            <a:off x="5437268" y="2114498"/>
            <a:ext cx="4456544" cy="528014"/>
          </a:xfrm>
          <a:prstGeom prst="rect">
            <a:avLst/>
          </a:prstGeom>
          <a:solidFill>
            <a:srgbClr val="E6F6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8" name="Parallelogram 7">
            <a:extLst>
              <a:ext uri="{FF2B5EF4-FFF2-40B4-BE49-F238E27FC236}">
                <a16:creationId xmlns:a16="http://schemas.microsoft.com/office/drawing/2014/main" id="{16045964-F9C5-A101-18C3-DAF82B30A539}"/>
              </a:ext>
            </a:extLst>
          </p:cNvPr>
          <p:cNvSpPr/>
          <p:nvPr/>
        </p:nvSpPr>
        <p:spPr>
          <a:xfrm>
            <a:off x="3140030" y="2180797"/>
            <a:ext cx="813651" cy="404769"/>
          </a:xfrm>
          <a:prstGeom prst="parallelogram">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IT </a:t>
            </a:r>
            <a:r>
              <a:rPr kumimoji="0" lang="en-US" sz="800" b="0" i="0" u="none" strike="noStrike" kern="1200" cap="none" spc="0" normalizeH="0" baseline="0" noProof="0" err="1">
                <a:ln>
                  <a:noFill/>
                </a:ln>
                <a:solidFill>
                  <a:prstClr val="black"/>
                </a:solidFill>
                <a:effectLst/>
                <a:uLnTx/>
                <a:uFillTx/>
                <a:latin typeface="Aptos" panose="02110004020202020204"/>
                <a:ea typeface="+mn-ea"/>
                <a:cs typeface="+mn-cs"/>
              </a:rPr>
              <a:t>Inforce</a:t>
            </a: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 Data</a:t>
            </a:r>
            <a:endParaRPr kumimoji="0" lang="en-IN" sz="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705A51C2-C738-1C73-6EB4-FB0912D9BC91}"/>
              </a:ext>
            </a:extLst>
          </p:cNvPr>
          <p:cNvSpPr/>
          <p:nvPr/>
        </p:nvSpPr>
        <p:spPr>
          <a:xfrm>
            <a:off x="4134853" y="2170289"/>
            <a:ext cx="916345" cy="425785"/>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Post –IT Transformation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(SAS)</a:t>
            </a:r>
            <a:endParaRPr kumimoji="0" lang="en-IN" sz="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0" name="Flowchart: Direct Access Storage 9">
            <a:extLst>
              <a:ext uri="{FF2B5EF4-FFF2-40B4-BE49-F238E27FC236}">
                <a16:creationId xmlns:a16="http://schemas.microsoft.com/office/drawing/2014/main" id="{CD822590-0622-7075-D5AE-521FB711EF12}"/>
              </a:ext>
            </a:extLst>
          </p:cNvPr>
          <p:cNvSpPr/>
          <p:nvPr/>
        </p:nvSpPr>
        <p:spPr>
          <a:xfrm>
            <a:off x="5676997" y="3337407"/>
            <a:ext cx="955842" cy="264379"/>
          </a:xfrm>
          <a:prstGeom prst="flowChartMagneticDrum">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ARVM DW</a:t>
            </a:r>
            <a:endParaRPr kumimoji="0" lang="en-IN" sz="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1" name="Parallelogram 10">
            <a:extLst>
              <a:ext uri="{FF2B5EF4-FFF2-40B4-BE49-F238E27FC236}">
                <a16:creationId xmlns:a16="http://schemas.microsoft.com/office/drawing/2014/main" id="{C5BF353D-D5D9-5A6E-19A3-CB134E82A3CA}"/>
              </a:ext>
            </a:extLst>
          </p:cNvPr>
          <p:cNvSpPr/>
          <p:nvPr/>
        </p:nvSpPr>
        <p:spPr>
          <a:xfrm>
            <a:off x="5592974" y="2215921"/>
            <a:ext cx="1191266" cy="334520"/>
          </a:xfrm>
          <a:prstGeom prst="parallelogram">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prstClr val="black"/>
                </a:solidFill>
                <a:latin typeface="Aptos" panose="02110004020202020204"/>
              </a:rPr>
              <a:t>Transformation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(Dataiku)</a:t>
            </a:r>
            <a:endParaRPr kumimoji="0" lang="en-IN" sz="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8DD31402-7780-AD89-FCF7-998B49771B2F}"/>
              </a:ext>
            </a:extLst>
          </p:cNvPr>
          <p:cNvSpPr/>
          <p:nvPr/>
        </p:nvSpPr>
        <p:spPr>
          <a:xfrm>
            <a:off x="6980857" y="2207237"/>
            <a:ext cx="1524790" cy="351888"/>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Post transformation – Sent to SQL Database</a:t>
            </a:r>
            <a:endParaRPr kumimoji="0" lang="en-IN" sz="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Parallelogram 14">
            <a:extLst>
              <a:ext uri="{FF2B5EF4-FFF2-40B4-BE49-F238E27FC236}">
                <a16:creationId xmlns:a16="http://schemas.microsoft.com/office/drawing/2014/main" id="{67C2E3DA-AFCC-5923-69EA-BC1494E1A54D}"/>
              </a:ext>
            </a:extLst>
          </p:cNvPr>
          <p:cNvSpPr/>
          <p:nvPr/>
        </p:nvSpPr>
        <p:spPr>
          <a:xfrm>
            <a:off x="8677597" y="2215921"/>
            <a:ext cx="1191266" cy="334521"/>
          </a:xfrm>
          <a:prstGeom prst="parallelogram">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AXIS </a:t>
            </a:r>
            <a:r>
              <a:rPr kumimoji="0" lang="en-US" sz="800" b="0" i="0" u="none" strike="noStrike" kern="1200" cap="none" spc="0" normalizeH="0" baseline="0" noProof="0" err="1">
                <a:ln>
                  <a:noFill/>
                </a:ln>
                <a:solidFill>
                  <a:prstClr val="black"/>
                </a:solidFill>
                <a:effectLst/>
                <a:uLnTx/>
                <a:uFillTx/>
                <a:latin typeface="Aptos" panose="02110004020202020204"/>
                <a:ea typeface="+mn-ea"/>
                <a:cs typeface="+mn-cs"/>
              </a:rPr>
              <a:t>Inforce</a:t>
            </a: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 (PIT, DIT, DHT)</a:t>
            </a:r>
            <a:endParaRPr kumimoji="0" lang="en-IN" sz="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1E05E247-286F-77AD-0EDC-121FF3EF917A}"/>
              </a:ext>
            </a:extLst>
          </p:cNvPr>
          <p:cNvSpPr/>
          <p:nvPr/>
        </p:nvSpPr>
        <p:spPr>
          <a:xfrm>
            <a:off x="10466310" y="2237773"/>
            <a:ext cx="688464" cy="290817"/>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AXIS Runs Output</a:t>
            </a:r>
            <a:endParaRPr kumimoji="0" lang="en-IN" sz="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Parallelogram 16">
            <a:extLst>
              <a:ext uri="{FF2B5EF4-FFF2-40B4-BE49-F238E27FC236}">
                <a16:creationId xmlns:a16="http://schemas.microsoft.com/office/drawing/2014/main" id="{9F11565C-DEDE-FF5A-922A-6650A66F294F}"/>
              </a:ext>
            </a:extLst>
          </p:cNvPr>
          <p:cNvSpPr/>
          <p:nvPr/>
        </p:nvSpPr>
        <p:spPr>
          <a:xfrm>
            <a:off x="10017755" y="2817353"/>
            <a:ext cx="1585575" cy="304109"/>
          </a:xfrm>
          <a:prstGeom prst="parallelogram">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Output Transformation (Dataiku)</a:t>
            </a:r>
            <a:endParaRPr kumimoji="0" lang="en-IN" sz="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B449D4BC-8629-6117-56A6-5B0C748740B4}"/>
              </a:ext>
            </a:extLst>
          </p:cNvPr>
          <p:cNvSpPr/>
          <p:nvPr/>
        </p:nvSpPr>
        <p:spPr>
          <a:xfrm>
            <a:off x="7231771" y="3349425"/>
            <a:ext cx="1007979" cy="24034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Tableau/Excel</a:t>
            </a:r>
            <a:endParaRPr kumimoji="0" lang="en-IN" sz="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9" name="Parallelogram 18">
            <a:extLst>
              <a:ext uri="{FF2B5EF4-FFF2-40B4-BE49-F238E27FC236}">
                <a16:creationId xmlns:a16="http://schemas.microsoft.com/office/drawing/2014/main" id="{65C0302F-55E5-586D-7609-52CD2461DA08}"/>
              </a:ext>
            </a:extLst>
          </p:cNvPr>
          <p:cNvSpPr/>
          <p:nvPr/>
        </p:nvSpPr>
        <p:spPr>
          <a:xfrm>
            <a:off x="8810895" y="3355356"/>
            <a:ext cx="813650" cy="228482"/>
          </a:xfrm>
          <a:prstGeom prst="parallelogram">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Reports</a:t>
            </a:r>
            <a:endParaRPr kumimoji="0" lang="en-IN" sz="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20" name="Straight Arrow Connector 19">
            <a:extLst>
              <a:ext uri="{FF2B5EF4-FFF2-40B4-BE49-F238E27FC236}">
                <a16:creationId xmlns:a16="http://schemas.microsoft.com/office/drawing/2014/main" id="{DA69144B-DD5C-D33D-0387-3EBAF366EDB5}"/>
              </a:ext>
            </a:extLst>
          </p:cNvPr>
          <p:cNvCxnSpPr>
            <a:cxnSpLocks/>
            <a:stCxn id="8" idx="2"/>
            <a:endCxn id="9" idx="1"/>
          </p:cNvCxnSpPr>
          <p:nvPr/>
        </p:nvCxnSpPr>
        <p:spPr>
          <a:xfrm>
            <a:off x="3903085" y="2383182"/>
            <a:ext cx="231768" cy="0"/>
          </a:xfrm>
          <a:prstGeom prst="straightConnector1">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5B87B21D-D3B5-84E4-0F69-7B4B01F916D5}"/>
              </a:ext>
            </a:extLst>
          </p:cNvPr>
          <p:cNvCxnSpPr>
            <a:cxnSpLocks/>
            <a:stCxn id="9" idx="3"/>
            <a:endCxn id="11" idx="5"/>
          </p:cNvCxnSpPr>
          <p:nvPr/>
        </p:nvCxnSpPr>
        <p:spPr>
          <a:xfrm flipV="1">
            <a:off x="5051198" y="2383181"/>
            <a:ext cx="583591" cy="1"/>
          </a:xfrm>
          <a:prstGeom prst="straightConnector1">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F857B70E-6E54-22FA-CE79-C686FA8C8170}"/>
              </a:ext>
            </a:extLst>
          </p:cNvPr>
          <p:cNvCxnSpPr>
            <a:cxnSpLocks/>
            <a:stCxn id="11" idx="2"/>
            <a:endCxn id="12" idx="1"/>
          </p:cNvCxnSpPr>
          <p:nvPr/>
        </p:nvCxnSpPr>
        <p:spPr>
          <a:xfrm>
            <a:off x="6742425" y="2383181"/>
            <a:ext cx="238432" cy="0"/>
          </a:xfrm>
          <a:prstGeom prst="straightConnector1">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1E126DD6-2E38-3F15-64F4-68B24749E558}"/>
              </a:ext>
            </a:extLst>
          </p:cNvPr>
          <p:cNvCxnSpPr>
            <a:cxnSpLocks/>
            <a:stCxn id="12" idx="3"/>
            <a:endCxn id="15" idx="5"/>
          </p:cNvCxnSpPr>
          <p:nvPr/>
        </p:nvCxnSpPr>
        <p:spPr>
          <a:xfrm>
            <a:off x="8505647" y="2383181"/>
            <a:ext cx="213765" cy="1"/>
          </a:xfrm>
          <a:prstGeom prst="straightConnector1">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9C86A297-D408-BBCE-62E8-12770738C0AA}"/>
              </a:ext>
            </a:extLst>
          </p:cNvPr>
          <p:cNvCxnSpPr>
            <a:cxnSpLocks/>
            <a:stCxn id="15" idx="2"/>
            <a:endCxn id="16" idx="1"/>
          </p:cNvCxnSpPr>
          <p:nvPr/>
        </p:nvCxnSpPr>
        <p:spPr>
          <a:xfrm>
            <a:off x="9827048" y="2383182"/>
            <a:ext cx="639262" cy="0"/>
          </a:xfrm>
          <a:prstGeom prst="straightConnector1">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805D7B1F-7BE7-389C-0598-CAF6BC920E46}"/>
              </a:ext>
            </a:extLst>
          </p:cNvPr>
          <p:cNvCxnSpPr>
            <a:cxnSpLocks/>
            <a:stCxn id="16" idx="2"/>
            <a:endCxn id="17" idx="0"/>
          </p:cNvCxnSpPr>
          <p:nvPr/>
        </p:nvCxnSpPr>
        <p:spPr>
          <a:xfrm>
            <a:off x="10810542" y="2528590"/>
            <a:ext cx="1" cy="288763"/>
          </a:xfrm>
          <a:prstGeom prst="straightConnector1">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26" name="Connector: Elbow 25">
            <a:extLst>
              <a:ext uri="{FF2B5EF4-FFF2-40B4-BE49-F238E27FC236}">
                <a16:creationId xmlns:a16="http://schemas.microsoft.com/office/drawing/2014/main" id="{ECAD84CA-EA70-19CC-D336-FCA70BCB8C30}"/>
              </a:ext>
            </a:extLst>
          </p:cNvPr>
          <p:cNvCxnSpPr>
            <a:stCxn id="8" idx="3"/>
            <a:endCxn id="10" idx="1"/>
          </p:cNvCxnSpPr>
          <p:nvPr/>
        </p:nvCxnSpPr>
        <p:spPr>
          <a:xfrm rot="16200000" flipH="1">
            <a:off x="4144613" y="1937212"/>
            <a:ext cx="884031" cy="2180738"/>
          </a:xfrm>
          <a:prstGeom prst="bentConnector2">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539D20EB-B3E2-4B48-4FEF-8A833E4F45E2}"/>
              </a:ext>
            </a:extLst>
          </p:cNvPr>
          <p:cNvCxnSpPr>
            <a:cxnSpLocks/>
            <a:stCxn id="11" idx="3"/>
            <a:endCxn id="10" idx="0"/>
          </p:cNvCxnSpPr>
          <p:nvPr/>
        </p:nvCxnSpPr>
        <p:spPr>
          <a:xfrm>
            <a:off x="6146792" y="2550441"/>
            <a:ext cx="8126" cy="786966"/>
          </a:xfrm>
          <a:prstGeom prst="straightConnector1">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28" name="Connector: Elbow 27">
            <a:extLst>
              <a:ext uri="{FF2B5EF4-FFF2-40B4-BE49-F238E27FC236}">
                <a16:creationId xmlns:a16="http://schemas.microsoft.com/office/drawing/2014/main" id="{8CEA80DA-E729-EB0A-2D81-BEE1F88DB1F1}"/>
              </a:ext>
            </a:extLst>
          </p:cNvPr>
          <p:cNvCxnSpPr>
            <a:cxnSpLocks/>
            <a:stCxn id="14" idx="1"/>
            <a:endCxn id="10" idx="0"/>
          </p:cNvCxnSpPr>
          <p:nvPr/>
        </p:nvCxnSpPr>
        <p:spPr>
          <a:xfrm rot="10800000" flipV="1">
            <a:off x="6154918" y="2969407"/>
            <a:ext cx="1755588" cy="367999"/>
          </a:xfrm>
          <a:prstGeom prst="bentConnector2">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1F44BF54-5419-9383-7D72-027BAB8B92A4}"/>
              </a:ext>
            </a:extLst>
          </p:cNvPr>
          <p:cNvCxnSpPr>
            <a:cxnSpLocks/>
            <a:stCxn id="10" idx="4"/>
            <a:endCxn id="18" idx="1"/>
          </p:cNvCxnSpPr>
          <p:nvPr/>
        </p:nvCxnSpPr>
        <p:spPr>
          <a:xfrm>
            <a:off x="6632839" y="3469597"/>
            <a:ext cx="598932" cy="0"/>
          </a:xfrm>
          <a:prstGeom prst="straightConnector1">
            <a:avLst/>
          </a:prstGeom>
          <a:ln w="9525">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C6D9EFE1-F4F7-6FB9-6F22-610B3D5A0405}"/>
              </a:ext>
            </a:extLst>
          </p:cNvPr>
          <p:cNvCxnSpPr>
            <a:cxnSpLocks/>
            <a:stCxn id="18" idx="3"/>
            <a:endCxn id="19" idx="5"/>
          </p:cNvCxnSpPr>
          <p:nvPr/>
        </p:nvCxnSpPr>
        <p:spPr>
          <a:xfrm>
            <a:off x="8239750" y="3469597"/>
            <a:ext cx="605703" cy="1"/>
          </a:xfrm>
          <a:prstGeom prst="straightConnector1">
            <a:avLst/>
          </a:prstGeom>
          <a:ln w="9525">
            <a:tailEnd type="triangle"/>
          </a:ln>
        </p:spPr>
        <p:style>
          <a:lnRef idx="2">
            <a:schemeClr val="accent1"/>
          </a:lnRef>
          <a:fillRef idx="0">
            <a:schemeClr val="accent1"/>
          </a:fillRef>
          <a:effectRef idx="1">
            <a:schemeClr val="accent1"/>
          </a:effectRef>
          <a:fontRef idx="minor">
            <a:schemeClr val="tx1"/>
          </a:fontRef>
        </p:style>
      </p:cxnSp>
      <p:sp>
        <p:nvSpPr>
          <p:cNvPr id="35" name="Rectangle 34">
            <a:extLst>
              <a:ext uri="{FF2B5EF4-FFF2-40B4-BE49-F238E27FC236}">
                <a16:creationId xmlns:a16="http://schemas.microsoft.com/office/drawing/2014/main" id="{9291DC73-3B30-DC72-3A4A-087C8AE3C73F}"/>
              </a:ext>
            </a:extLst>
          </p:cNvPr>
          <p:cNvSpPr/>
          <p:nvPr/>
        </p:nvSpPr>
        <p:spPr>
          <a:xfrm>
            <a:off x="464119" y="1895441"/>
            <a:ext cx="11277600" cy="1756199"/>
          </a:xfrm>
          <a:prstGeom prst="rect">
            <a:avLst/>
          </a:prstGeom>
          <a:no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9" name="Rectangle 38">
            <a:extLst>
              <a:ext uri="{FF2B5EF4-FFF2-40B4-BE49-F238E27FC236}">
                <a16:creationId xmlns:a16="http://schemas.microsoft.com/office/drawing/2014/main" id="{86588F5C-1695-E05E-C7AC-AEA5C6B24B70}"/>
              </a:ext>
            </a:extLst>
          </p:cNvPr>
          <p:cNvSpPr/>
          <p:nvPr/>
        </p:nvSpPr>
        <p:spPr>
          <a:xfrm>
            <a:off x="464119" y="1348249"/>
            <a:ext cx="11277600" cy="547190"/>
          </a:xfrm>
          <a:prstGeom prst="rect">
            <a:avLst/>
          </a:prstGeom>
          <a:solidFill>
            <a:srgbClr val="E6F6FB"/>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lvl="0" defTabSz="914400">
              <a:defRPr/>
            </a:pPr>
            <a:r>
              <a:rPr lang="en-US" sz="1400" b="1">
                <a:solidFill>
                  <a:schemeClr val="accent3"/>
                </a:solidFill>
                <a:latin typeface="Calibri" panose="020F0502020204030204"/>
              </a:rPr>
              <a:t>Objective:</a:t>
            </a:r>
            <a:r>
              <a:rPr lang="en-US" sz="1400" b="1" i="1">
                <a:solidFill>
                  <a:schemeClr val="accent3"/>
                </a:solidFill>
                <a:latin typeface="Calibri" panose="020F0502020204030204"/>
              </a:rPr>
              <a:t> To document the scattered data transformation across SAS, Excel, Access, AXIS, Dataiku etc., and provide a clear data flow to enable backtracking and support future logic modifications.</a:t>
            </a:r>
            <a:endParaRPr kumimoji="0" lang="en-IN" sz="1400" b="1" i="1" u="none" strike="noStrike" kern="1200" cap="none" spc="0" normalizeH="0" baseline="0" noProof="0">
              <a:ln>
                <a:noFill/>
              </a:ln>
              <a:solidFill>
                <a:schemeClr val="accent3"/>
              </a:solidFill>
              <a:effectLst/>
              <a:uLnTx/>
              <a:uFillTx/>
              <a:latin typeface="Calibri" panose="020F0502020204030204"/>
              <a:ea typeface="+mn-ea"/>
              <a:cs typeface="+mn-cs"/>
            </a:endParaRPr>
          </a:p>
        </p:txBody>
      </p:sp>
      <p:sp>
        <p:nvSpPr>
          <p:cNvPr id="42" name="Rectangle 41">
            <a:extLst>
              <a:ext uri="{FF2B5EF4-FFF2-40B4-BE49-F238E27FC236}">
                <a16:creationId xmlns:a16="http://schemas.microsoft.com/office/drawing/2014/main" id="{431FA897-DC78-642B-77A9-39370A3FF4D5}"/>
              </a:ext>
            </a:extLst>
          </p:cNvPr>
          <p:cNvSpPr/>
          <p:nvPr/>
        </p:nvSpPr>
        <p:spPr>
          <a:xfrm>
            <a:off x="468629" y="1895438"/>
            <a:ext cx="2283473" cy="1756199"/>
          </a:xfrm>
          <a:prstGeom prst="rect">
            <a:avLst/>
          </a:prstGeom>
          <a:solidFill>
            <a:srgbClr val="0050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rPr>
              <a:t>Data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rPr>
              <a:t>Flow</a:t>
            </a: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BB041441-4429-63E1-C33D-BB918306C4C4}"/>
              </a:ext>
            </a:extLst>
          </p:cNvPr>
          <p:cNvSpPr/>
          <p:nvPr/>
        </p:nvSpPr>
        <p:spPr>
          <a:xfrm>
            <a:off x="7910506" y="2823999"/>
            <a:ext cx="1108778" cy="290817"/>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ptos" panose="02110004020202020204"/>
                <a:ea typeface="+mn-ea"/>
                <a:cs typeface="+mn-cs"/>
              </a:rPr>
              <a:t>Data Warehousing (Dataiku)</a:t>
            </a:r>
            <a:endParaRPr kumimoji="0" lang="en-IN" sz="800" b="0" i="0" u="none" strike="noStrike" kern="1200" cap="none" spc="0" normalizeH="0" baseline="0" noProof="0">
              <a:ln>
                <a:noFill/>
              </a:ln>
              <a:solidFill>
                <a:prstClr val="black"/>
              </a:solidFill>
              <a:effectLst/>
              <a:uLnTx/>
              <a:uFillTx/>
              <a:latin typeface="Aptos" panose="02110004020202020204"/>
              <a:ea typeface="+mn-ea"/>
              <a:cs typeface="+mn-cs"/>
            </a:endParaRPr>
          </a:p>
        </p:txBody>
      </p:sp>
      <p:cxnSp>
        <p:nvCxnSpPr>
          <p:cNvPr id="43" name="Straight Arrow Connector 42">
            <a:extLst>
              <a:ext uri="{FF2B5EF4-FFF2-40B4-BE49-F238E27FC236}">
                <a16:creationId xmlns:a16="http://schemas.microsoft.com/office/drawing/2014/main" id="{E7641C5D-7FD5-F49A-A8A5-5A3D155130AA}"/>
              </a:ext>
            </a:extLst>
          </p:cNvPr>
          <p:cNvCxnSpPr>
            <a:cxnSpLocks/>
            <a:stCxn id="17" idx="5"/>
            <a:endCxn id="14" idx="3"/>
          </p:cNvCxnSpPr>
          <p:nvPr/>
        </p:nvCxnSpPr>
        <p:spPr>
          <a:xfrm flipH="1">
            <a:off x="9019284" y="2969408"/>
            <a:ext cx="1036485" cy="0"/>
          </a:xfrm>
          <a:prstGeom prst="straightConnector1">
            <a:avLst/>
          </a:prstGeom>
          <a:ln w="9525">
            <a:tailEnd type="triangle"/>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9861EE90-15B1-FE06-821E-B46D2717F6AD}"/>
              </a:ext>
            </a:extLst>
          </p:cNvPr>
          <p:cNvSpPr txBox="1"/>
          <p:nvPr/>
        </p:nvSpPr>
        <p:spPr>
          <a:xfrm>
            <a:off x="8505647" y="176981"/>
            <a:ext cx="3401218" cy="369332"/>
          </a:xfrm>
          <a:prstGeom prst="rect">
            <a:avLst/>
          </a:prstGeom>
          <a:solidFill>
            <a:srgbClr val="FFFF00"/>
          </a:solidFill>
        </p:spPr>
        <p:txBody>
          <a:bodyPr wrap="square" rtlCol="0">
            <a:spAutoFit/>
          </a:bodyPr>
          <a:lstStyle/>
          <a:p>
            <a:r>
              <a:rPr lang="en-US"/>
              <a:t>Data modernization using Dataiku</a:t>
            </a:r>
            <a:endParaRPr lang="en-IN"/>
          </a:p>
        </p:txBody>
      </p:sp>
    </p:spTree>
    <p:extLst>
      <p:ext uri="{BB962C8B-B14F-4D97-AF65-F5344CB8AC3E}">
        <p14:creationId xmlns:p14="http://schemas.microsoft.com/office/powerpoint/2010/main" val="9063841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C4716-A275-A29C-A3DE-88CF1F1A692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C15DF37-6B73-24CB-C213-DA19E515CEF4}"/>
              </a:ext>
            </a:extLst>
          </p:cNvPr>
          <p:cNvSpPr>
            <a:spLocks noGrp="1"/>
          </p:cNvSpPr>
          <p:nvPr>
            <p:ph type="ctrTitle"/>
          </p:nvPr>
        </p:nvSpPr>
        <p:spPr>
          <a:xfrm>
            <a:off x="457200" y="254457"/>
            <a:ext cx="11211913" cy="594254"/>
          </a:xfrm>
          <a:noFill/>
          <a:ln>
            <a:noFill/>
          </a:ln>
        </p:spPr>
        <p:txBody>
          <a:bodyPr spcFirstLastPara="1" vert="horz" wrap="square" lIns="0" tIns="0" rIns="0" bIns="0" rtlCol="0" anchor="t" anchorCtr="0">
            <a:noAutofit/>
          </a:bodyPr>
          <a:lstStyle/>
          <a:p>
            <a:pPr>
              <a:buClr>
                <a:schemeClr val="dk1"/>
              </a:buClr>
              <a:buSzPts val="3200"/>
              <a:buFont typeface="Calibri"/>
            </a:pPr>
            <a:r>
              <a:rPr lang="en-US" sz="2400" b="1"/>
              <a:t> Experience Analysis: Term, Whole Life, Universal and Variable Universal Life Products</a:t>
            </a:r>
            <a:endParaRPr lang="en-US" sz="2400" b="1">
              <a:ea typeface="Calibri Light"/>
              <a:cs typeface="Calibri Light"/>
            </a:endParaRPr>
          </a:p>
        </p:txBody>
      </p:sp>
      <p:sp>
        <p:nvSpPr>
          <p:cNvPr id="181" name="Rectangle 180">
            <a:extLst>
              <a:ext uri="{FF2B5EF4-FFF2-40B4-BE49-F238E27FC236}">
                <a16:creationId xmlns:a16="http://schemas.microsoft.com/office/drawing/2014/main" id="{5FE26D12-3B75-A1B0-87AC-A9C5C96D922A}"/>
              </a:ext>
            </a:extLst>
          </p:cNvPr>
          <p:cNvSpPr/>
          <p:nvPr/>
        </p:nvSpPr>
        <p:spPr>
          <a:xfrm>
            <a:off x="452000" y="727788"/>
            <a:ext cx="11263092" cy="369332"/>
          </a:xfrm>
          <a:prstGeom prst="rect">
            <a:avLst/>
          </a:prstGeom>
        </p:spPr>
        <p:txBody>
          <a:bodyPr wrap="square" lIns="91440" tIns="45720" rIns="91440" bIns="45720" anchor="t">
            <a:spAutoFit/>
          </a:bodyPr>
          <a:lstStyle/>
          <a:p>
            <a:pPr>
              <a:defRPr/>
            </a:pPr>
            <a:r>
              <a:rPr lang="en-US" b="1" kern="0">
                <a:solidFill>
                  <a:srgbClr val="005071"/>
                </a:solidFill>
                <a:latin typeface="Calibri" panose="020F0502020204030204"/>
              </a:rPr>
              <a:t>From</a:t>
            </a:r>
            <a:r>
              <a:rPr lang="en-US" b="1" kern="0">
                <a:solidFill>
                  <a:srgbClr val="005071"/>
                </a:solidFill>
              </a:rPr>
              <a:t> Raw Data to Assumptions: Driving Data- Driven Assumption Setting through scalable Experience Analytics</a:t>
            </a:r>
            <a:endParaRPr lang="en-US" b="1" kern="0">
              <a:solidFill>
                <a:srgbClr val="005071"/>
              </a:solidFill>
              <a:ea typeface="Calibri"/>
              <a:cs typeface="Calibri"/>
            </a:endParaRPr>
          </a:p>
        </p:txBody>
      </p:sp>
      <p:graphicFrame>
        <p:nvGraphicFramePr>
          <p:cNvPr id="182" name="Table 181">
            <a:extLst>
              <a:ext uri="{FF2B5EF4-FFF2-40B4-BE49-F238E27FC236}">
                <a16:creationId xmlns:a16="http://schemas.microsoft.com/office/drawing/2014/main" id="{B0A2201D-53B4-6678-8974-5F4BB7EF5CBE}"/>
              </a:ext>
            </a:extLst>
          </p:cNvPr>
          <p:cNvGraphicFramePr>
            <a:graphicFrameLocks noGrp="1"/>
          </p:cNvGraphicFramePr>
          <p:nvPr>
            <p:extLst>
              <p:ext uri="{D42A27DB-BD31-4B8C-83A1-F6EECF244321}">
                <p14:modId xmlns:p14="http://schemas.microsoft.com/office/powerpoint/2010/main" val="3752727441"/>
              </p:ext>
            </p:extLst>
          </p:nvPr>
        </p:nvGraphicFramePr>
        <p:xfrm>
          <a:off x="-932793" y="932793"/>
          <a:ext cx="4377780" cy="682149"/>
        </p:xfrm>
        <a:graphic>
          <a:graphicData uri="http://schemas.openxmlformats.org/drawingml/2006/table">
            <a:tbl>
              <a:tblPr firstRow="1" bandRow="1"/>
              <a:tblGrid>
                <a:gridCol w="1459260">
                  <a:extLst>
                    <a:ext uri="{9D8B030D-6E8A-4147-A177-3AD203B41FA5}">
                      <a16:colId xmlns:a16="http://schemas.microsoft.com/office/drawing/2014/main" val="3388572780"/>
                    </a:ext>
                  </a:extLst>
                </a:gridCol>
                <a:gridCol w="1459260">
                  <a:extLst>
                    <a:ext uri="{9D8B030D-6E8A-4147-A177-3AD203B41FA5}">
                      <a16:colId xmlns:a16="http://schemas.microsoft.com/office/drawing/2014/main" val="20000"/>
                    </a:ext>
                  </a:extLst>
                </a:gridCol>
                <a:gridCol w="1459260">
                  <a:extLst>
                    <a:ext uri="{9D8B030D-6E8A-4147-A177-3AD203B41FA5}">
                      <a16:colId xmlns:a16="http://schemas.microsoft.com/office/drawing/2014/main" val="1663788354"/>
                    </a:ext>
                  </a:extLst>
                </a:gridCol>
              </a:tblGrid>
              <a:tr h="682149">
                <a:tc>
                  <a:txBody>
                    <a:bodyPr/>
                    <a:lstStyle/>
                    <a:p>
                      <a:pPr lvl="0" algn="l">
                        <a:buNone/>
                      </a:pPr>
                      <a:endParaRPr lang="en-US" sz="1600" b="1">
                        <a:solidFill>
                          <a:srgbClr val="005071"/>
                        </a:solidFill>
                      </a:endParaRPr>
                    </a:p>
                  </a:txBody>
                  <a:tcPr marL="0" anchor="ctr">
                    <a:lnL w="0">
                      <a:noFill/>
                    </a:lnL>
                    <a:lnR w="0">
                      <a:noFill/>
                    </a:lnR>
                    <a:lnT w="0">
                      <a:noFill/>
                    </a:lnT>
                    <a:lnB w="0">
                      <a:noFill/>
                    </a:lnB>
                    <a:lnTlToBr w="0">
                      <a:noFill/>
                    </a:lnTlToBr>
                    <a:lnBlToTr w="0">
                      <a:noFill/>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r>
                        <a:rPr lang="en-US" sz="1600" b="1">
                          <a:solidFill>
                            <a:srgbClr val="005071"/>
                          </a:solidFill>
                        </a:rPr>
                        <a:t>Background:</a:t>
                      </a:r>
                      <a:endParaRPr lang="en-US" sz="2000" b="1">
                        <a:solidFill>
                          <a:srgbClr val="005071"/>
                        </a:solidFill>
                      </a:endParaRPr>
                    </a:p>
                  </a:txBody>
                  <a:tcPr marL="0" anchor="ctr">
                    <a:lnL>
                      <a:noFill/>
                    </a:lnL>
                    <a:lnR>
                      <a:noFill/>
                    </a:lnR>
                    <a:lnT>
                      <a:noFill/>
                    </a:lnT>
                    <a:lnB>
                      <a:noFill/>
                    </a:lnB>
                    <a:lnTlToBr w="12700" cmpd="sng">
                      <a:noFill/>
                      <a:prstDash val="solid"/>
                    </a:lnTlToBr>
                    <a:lnBlToTr w="12700" cmpd="sng">
                      <a:noFill/>
                      <a:prstDash val="solid"/>
                    </a:lnBlToTr>
                    <a:noFill/>
                  </a:tcPr>
                </a:tc>
                <a:tc>
                  <a:txBody>
                    <a:bodyPr/>
                    <a:lstStyle/>
                    <a:p>
                      <a:pPr lvl="0" algn="l">
                        <a:buNone/>
                      </a:pPr>
                      <a:endParaRPr lang="en-US" sz="1600" b="1">
                        <a:solidFill>
                          <a:srgbClr val="005071"/>
                        </a:solidFill>
                      </a:endParaRPr>
                    </a:p>
                  </a:txBody>
                  <a:tcPr marL="0" anchor="ctr">
                    <a:lnL w="0">
                      <a:noFill/>
                    </a:lnL>
                    <a:lnR w="0">
                      <a:noFill/>
                    </a:lnR>
                    <a:lnT w="0">
                      <a:noFill/>
                    </a:lnT>
                    <a:lnB w="0">
                      <a:noFill/>
                    </a:lnB>
                    <a:lnTlToBr w="0">
                      <a:noFill/>
                    </a:lnTlToBr>
                    <a:lnBlToTr w="0">
                      <a:noFill/>
                    </a:lnBlToTr>
                    <a:noFill/>
                  </a:tcPr>
                </a:tc>
                <a:extLst>
                  <a:ext uri="{0D108BD9-81ED-4DB2-BD59-A6C34878D82A}">
                    <a16:rowId xmlns:a16="http://schemas.microsoft.com/office/drawing/2014/main" val="10000"/>
                  </a:ext>
                </a:extLst>
              </a:tr>
            </a:tbl>
          </a:graphicData>
        </a:graphic>
      </p:graphicFrame>
      <p:graphicFrame>
        <p:nvGraphicFramePr>
          <p:cNvPr id="183" name="Table 182">
            <a:extLst>
              <a:ext uri="{FF2B5EF4-FFF2-40B4-BE49-F238E27FC236}">
                <a16:creationId xmlns:a16="http://schemas.microsoft.com/office/drawing/2014/main" id="{09ED6B62-31B6-068D-9C0C-9154DB1B4CC2}"/>
              </a:ext>
            </a:extLst>
          </p:cNvPr>
          <p:cNvGraphicFramePr>
            <a:graphicFrameLocks noGrp="1"/>
          </p:cNvGraphicFramePr>
          <p:nvPr>
            <p:extLst>
              <p:ext uri="{D42A27DB-BD31-4B8C-83A1-F6EECF244321}">
                <p14:modId xmlns:p14="http://schemas.microsoft.com/office/powerpoint/2010/main" val="3332873139"/>
              </p:ext>
            </p:extLst>
          </p:nvPr>
        </p:nvGraphicFramePr>
        <p:xfrm>
          <a:off x="4085896" y="775137"/>
          <a:ext cx="4787708" cy="670560"/>
        </p:xfrm>
        <a:graphic>
          <a:graphicData uri="http://schemas.openxmlformats.org/drawingml/2006/table">
            <a:tbl>
              <a:tblPr firstRow="1" bandRow="1"/>
              <a:tblGrid>
                <a:gridCol w="4787708">
                  <a:extLst>
                    <a:ext uri="{9D8B030D-6E8A-4147-A177-3AD203B41FA5}">
                      <a16:colId xmlns:a16="http://schemas.microsoft.com/office/drawing/2014/main" val="20000"/>
                    </a:ext>
                  </a:extLst>
                </a:gridCol>
              </a:tblGrid>
              <a:tr h="257925">
                <a:tc>
                  <a:txBody>
                    <a:bodyPr/>
                    <a:lstStyle/>
                    <a:p>
                      <a:pPr lvl="0" algn="l">
                        <a:buNone/>
                      </a:pPr>
                      <a:endParaRPr lang="en-US" sz="1600" b="1">
                        <a:solidFill>
                          <a:srgbClr val="005071"/>
                        </a:solidFill>
                      </a:endParaRPr>
                    </a:p>
                  </a:txBody>
                  <a:tcPr anchor="ctr">
                    <a:lnL w="0">
                      <a:noFill/>
                    </a:lnL>
                    <a:lnR w="0">
                      <a:noFill/>
                    </a:lnR>
                    <a:lnT w="0">
                      <a:noFill/>
                    </a:lnT>
                    <a:lnB w="0">
                      <a:noFill/>
                    </a:lnB>
                    <a:lnTlToBr w="0">
                      <a:noFill/>
                    </a:lnTlToBr>
                    <a:lnBlToTr w="0">
                      <a:noFill/>
                    </a:lnBlToTr>
                    <a:noFill/>
                  </a:tcPr>
                </a:tc>
                <a:extLst>
                  <a:ext uri="{0D108BD9-81ED-4DB2-BD59-A6C34878D82A}">
                    <a16:rowId xmlns:a16="http://schemas.microsoft.com/office/drawing/2014/main" val="1221012263"/>
                  </a:ext>
                </a:extLst>
              </a:tr>
              <a:tr h="257925">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r>
                        <a:rPr lang="en-US" sz="1600" b="1">
                          <a:solidFill>
                            <a:srgbClr val="005071"/>
                          </a:solidFill>
                        </a:rPr>
                        <a:t>                         Application Process Flow</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cxnSp>
        <p:nvCxnSpPr>
          <p:cNvPr id="184" name="Straight Connector 183">
            <a:extLst>
              <a:ext uri="{FF2B5EF4-FFF2-40B4-BE49-F238E27FC236}">
                <a16:creationId xmlns:a16="http://schemas.microsoft.com/office/drawing/2014/main" id="{C22E78D8-B12A-57A1-B378-F1E5970FE8C7}"/>
              </a:ext>
            </a:extLst>
          </p:cNvPr>
          <p:cNvCxnSpPr/>
          <p:nvPr/>
        </p:nvCxnSpPr>
        <p:spPr>
          <a:xfrm>
            <a:off x="3427558" y="1560981"/>
            <a:ext cx="0" cy="4781620"/>
          </a:xfrm>
          <a:prstGeom prst="line">
            <a:avLst/>
          </a:prstGeom>
          <a:noFill/>
          <a:ln w="6350" cap="flat" cmpd="sng" algn="ctr">
            <a:solidFill>
              <a:srgbClr val="DBDBDB"/>
            </a:solidFill>
            <a:prstDash val="solid"/>
            <a:miter lim="800000"/>
          </a:ln>
          <a:effectLst/>
        </p:spPr>
      </p:cxnSp>
      <p:graphicFrame>
        <p:nvGraphicFramePr>
          <p:cNvPr id="185" name="Table 184">
            <a:extLst>
              <a:ext uri="{FF2B5EF4-FFF2-40B4-BE49-F238E27FC236}">
                <a16:creationId xmlns:a16="http://schemas.microsoft.com/office/drawing/2014/main" id="{B07FF37B-7C3E-5E40-70F7-A16AF818128A}"/>
              </a:ext>
            </a:extLst>
          </p:cNvPr>
          <p:cNvGraphicFramePr>
            <a:graphicFrameLocks noGrp="1"/>
          </p:cNvGraphicFramePr>
          <p:nvPr>
            <p:extLst>
              <p:ext uri="{D42A27DB-BD31-4B8C-83A1-F6EECF244321}">
                <p14:modId xmlns:p14="http://schemas.microsoft.com/office/powerpoint/2010/main" val="2542499139"/>
              </p:ext>
            </p:extLst>
          </p:nvPr>
        </p:nvGraphicFramePr>
        <p:xfrm>
          <a:off x="10355855" y="1037421"/>
          <a:ext cx="1176742" cy="456123"/>
        </p:xfrm>
        <a:graphic>
          <a:graphicData uri="http://schemas.openxmlformats.org/drawingml/2006/table">
            <a:tbl>
              <a:tblPr firstRow="1" bandRow="1"/>
              <a:tblGrid>
                <a:gridCol w="1176742">
                  <a:extLst>
                    <a:ext uri="{9D8B030D-6E8A-4147-A177-3AD203B41FA5}">
                      <a16:colId xmlns:a16="http://schemas.microsoft.com/office/drawing/2014/main" val="20000"/>
                    </a:ext>
                  </a:extLst>
                </a:gridCol>
              </a:tblGrid>
              <a:tr h="456123">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r>
                        <a:rPr lang="en-US" sz="1600" b="1">
                          <a:solidFill>
                            <a:srgbClr val="005071"/>
                          </a:solidFill>
                        </a:rPr>
                        <a:t>Technology</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186" name="Rectangle 37">
            <a:extLst>
              <a:ext uri="{FF2B5EF4-FFF2-40B4-BE49-F238E27FC236}">
                <a16:creationId xmlns:a16="http://schemas.microsoft.com/office/drawing/2014/main" id="{B0F7201F-7B1E-7FD9-7DA6-55B735790C14}"/>
              </a:ext>
            </a:extLst>
          </p:cNvPr>
          <p:cNvSpPr>
            <a:spLocks noChangeArrowheads="1"/>
          </p:cNvSpPr>
          <p:nvPr/>
        </p:nvSpPr>
        <p:spPr bwMode="gray">
          <a:xfrm>
            <a:off x="465803" y="1400231"/>
            <a:ext cx="3071645" cy="4951945"/>
          </a:xfrm>
          <a:prstGeom prst="rect">
            <a:avLst/>
          </a:prstGeom>
          <a:solidFill>
            <a:srgbClr val="FFFFFF"/>
          </a:solidFill>
          <a:ln w="9525">
            <a:noFill/>
            <a:miter lim="800000"/>
            <a:headEnd/>
            <a:tailEnd/>
          </a:ln>
          <a:effectLst/>
        </p:spPr>
        <p:txBody>
          <a:bodyPr lIns="0" tIns="45714" rIns="45714" bIns="45714" anchor="t"/>
          <a:lstStyle/>
          <a:p>
            <a:pPr marL="171450" indent="-171450" defTabSz="914400">
              <a:buClr>
                <a:schemeClr val="accent1"/>
              </a:buClr>
              <a:buFont typeface="Arial" panose="020B0604020202020204" pitchFamily="34" charset="0"/>
              <a:buChar char="•"/>
              <a:defRPr/>
            </a:pPr>
            <a:r>
              <a:rPr lang="en-US" sz="1400" kern="0">
                <a:solidFill>
                  <a:prstClr val="black"/>
                </a:solidFill>
                <a:latin typeface="Calibri" panose="020F0502020204030204"/>
                <a:ea typeface="Calibri"/>
                <a:cs typeface="Arial"/>
              </a:rPr>
              <a:t>Fragmented data and manual processes limit credible lapse, surrender, and mortality assumption setting driving the need for a standardized, automated, and audit- ready experience study framework.</a:t>
            </a:r>
            <a:endParaRPr lang="en-US" sz="1400" kern="0">
              <a:solidFill>
                <a:prstClr val="black"/>
              </a:solidFill>
              <a:latin typeface="Calibri" panose="020F0502020204030204"/>
              <a:ea typeface="Calibri"/>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endParaRPr kumimoji="0" lang="en-US" sz="1100" b="0" i="0" u="none" strike="noStrike" kern="0" cap="none" spc="0" normalizeH="0" baseline="0" noProof="0">
              <a:ln>
                <a:noFill/>
              </a:ln>
              <a:solidFill>
                <a:prstClr val="black"/>
              </a:solidFill>
              <a:effectLst/>
              <a:uLnTx/>
              <a:uFillTx/>
              <a:latin typeface="Calibri" panose="020F0502020204030204"/>
              <a:ea typeface="+mn-ea"/>
              <a:cs typeface="Arial" panose="020B0604020202020204" pitchFamily="34" charset="0"/>
            </a:endParaRPr>
          </a:p>
          <a:p>
            <a:pPr marL="0" marR="0" lvl="1" indent="0" algn="l" defTabSz="914400" rtl="0" eaLnBrk="1" fontAlgn="auto" latinLnBrk="0" hangingPunct="1">
              <a:lnSpc>
                <a:spcPct val="100000"/>
              </a:lnSpc>
              <a:spcBef>
                <a:spcPts val="0"/>
              </a:spcBef>
              <a:spcAft>
                <a:spcPts val="0"/>
              </a:spcAft>
              <a:buClr>
                <a:srgbClr val="676767"/>
              </a:buClr>
              <a:buSzPct val="100000"/>
              <a:buFontTx/>
              <a:buNone/>
              <a:tabLst/>
              <a:defRPr/>
            </a:pPr>
            <a:r>
              <a:rPr kumimoji="0" lang="en-US" sz="1600" b="1" i="0" u="none" strike="noStrike" kern="0" cap="none" spc="0" normalizeH="0" baseline="0" noProof="0">
                <a:ln>
                  <a:noFill/>
                </a:ln>
                <a:solidFill>
                  <a:srgbClr val="005071"/>
                </a:solidFill>
                <a:effectLst/>
                <a:uLnTx/>
                <a:uFillTx/>
                <a:latin typeface="Calibri" panose="020F0502020204030204"/>
                <a:ea typeface="+mn-ea"/>
                <a:cs typeface="Arial" panose="020B0604020202020204" pitchFamily="34" charset="0"/>
              </a:rPr>
              <a:t>Key Objectives</a:t>
            </a:r>
            <a:r>
              <a:rPr kumimoji="0" lang="en-US" sz="1600" b="0" i="0" u="none" strike="noStrike" kern="0" cap="none" spc="0" normalizeH="0" baseline="0" noProof="0">
                <a:ln>
                  <a:noFill/>
                </a:ln>
                <a:solidFill>
                  <a:srgbClr val="005071"/>
                </a:solidFill>
                <a:effectLst/>
                <a:uLnTx/>
                <a:uFillTx/>
                <a:latin typeface="Calibri" panose="020F0502020204030204"/>
                <a:ea typeface="+mn-ea"/>
                <a:cs typeface="Arial" panose="020B0604020202020204" pitchFamily="34" charset="0"/>
              </a:rPr>
              <a:t>:</a:t>
            </a:r>
          </a:p>
          <a:p>
            <a:pPr marL="182880" indent="-182880" defTabSz="914400">
              <a:spcBef>
                <a:spcPts val="300"/>
              </a:spcBef>
              <a:buClr>
                <a:srgbClr val="FB4D0A"/>
              </a:buClr>
              <a:buFont typeface="Arial" panose="020B0604020202020204" pitchFamily="34" charset="0"/>
              <a:buChar char="•"/>
              <a:defRPr/>
            </a:pPr>
            <a:r>
              <a:rPr lang="en-US" sz="1400" b="1" kern="0">
                <a:solidFill>
                  <a:prstClr val="black"/>
                </a:solidFill>
                <a:latin typeface="Calibri" panose="020F0502020204030204"/>
                <a:cs typeface="Arial"/>
              </a:rPr>
              <a:t>Establish a standardized and automated</a:t>
            </a:r>
            <a:r>
              <a:rPr lang="en-US" sz="1400" kern="0">
                <a:solidFill>
                  <a:prstClr val="black"/>
                </a:solidFill>
                <a:latin typeface="Calibri" panose="020F0502020204030204"/>
                <a:cs typeface="Arial"/>
              </a:rPr>
              <a:t> framework across Products.</a:t>
            </a:r>
            <a:endParaRPr lang="en-US" sz="1400" b="0" i="0" u="none" strike="noStrike" kern="0" cap="none" spc="0" normalizeH="0" baseline="0" noProof="0">
              <a:ln>
                <a:noFill/>
              </a:ln>
              <a:solidFill>
                <a:prstClr val="black"/>
              </a:solidFill>
              <a:effectLst/>
              <a:uLnTx/>
              <a:uFillTx/>
              <a:latin typeface="Calibri" panose="020F0502020204030204"/>
              <a:ea typeface="Calibri"/>
              <a:cs typeface="Arial" panose="020B0604020202020204" pitchFamily="34" charset="0"/>
            </a:endParaRPr>
          </a:p>
          <a:p>
            <a:pPr marL="182880" indent="-182880" defTabSz="914400">
              <a:spcBef>
                <a:spcPts val="300"/>
              </a:spcBef>
              <a:buClr>
                <a:srgbClr val="FB4D0A"/>
              </a:buClr>
              <a:buFont typeface="Arial" panose="020B0604020202020204" pitchFamily="34" charset="0"/>
              <a:buChar char="•"/>
              <a:defRPr/>
            </a:pPr>
            <a:r>
              <a:rPr lang="en-US" sz="1400" b="1" kern="0">
                <a:solidFill>
                  <a:prstClr val="black"/>
                </a:solidFill>
                <a:latin typeface="Calibri" panose="020F0502020204030204"/>
                <a:cs typeface="Arial"/>
              </a:rPr>
              <a:t>Ensure accurate exposure and decrement calculations</a:t>
            </a:r>
            <a:r>
              <a:rPr lang="en-US" sz="1400" kern="0">
                <a:solidFill>
                  <a:prstClr val="black"/>
                </a:solidFill>
                <a:latin typeface="Calibri" panose="020F0502020204030204"/>
                <a:cs typeface="Arial"/>
              </a:rPr>
              <a:t> to support A/E analysis.</a:t>
            </a:r>
            <a:endParaRPr lang="en-US" sz="1400" kern="0">
              <a:solidFill>
                <a:prstClr val="black"/>
              </a:solidFill>
              <a:latin typeface="Calibri" panose="020F0502020204030204"/>
              <a:ea typeface="Calibri"/>
              <a:cs typeface="Arial" panose="020B0604020202020204" pitchFamily="34" charset="0"/>
            </a:endParaRPr>
          </a:p>
          <a:p>
            <a:pPr marL="182880" indent="-182880" defTabSz="914400">
              <a:spcBef>
                <a:spcPts val="300"/>
              </a:spcBef>
              <a:buClr>
                <a:srgbClr val="FB4D0A"/>
              </a:buClr>
              <a:buFont typeface="Arial" panose="020B0604020202020204" pitchFamily="34" charset="0"/>
              <a:buChar char="•"/>
              <a:defRPr/>
            </a:pPr>
            <a:r>
              <a:rPr lang="en-US" sz="1400" b="1" kern="0">
                <a:solidFill>
                  <a:prstClr val="black"/>
                </a:solidFill>
                <a:latin typeface="Calibri" panose="020F0502020204030204"/>
                <a:ea typeface="Calibri"/>
                <a:cs typeface="Arial"/>
              </a:rPr>
              <a:t>Enable robust assumption and governance</a:t>
            </a:r>
            <a:r>
              <a:rPr lang="en-US" sz="1400" kern="0">
                <a:solidFill>
                  <a:prstClr val="black"/>
                </a:solidFill>
                <a:latin typeface="Calibri" panose="020F0502020204030204"/>
                <a:ea typeface="Calibri"/>
                <a:cs typeface="Arial"/>
              </a:rPr>
              <a:t> aligned with valuation and regulatory requirements</a:t>
            </a:r>
          </a:p>
          <a:p>
            <a:pPr marL="182880" indent="-182880" defTabSz="914400">
              <a:spcBef>
                <a:spcPts val="300"/>
              </a:spcBef>
              <a:buClr>
                <a:srgbClr val="FB4D0A"/>
              </a:buClr>
              <a:buFont typeface="Arial" panose="020B0604020202020204" pitchFamily="34" charset="0"/>
              <a:buChar char="•"/>
              <a:defRPr/>
            </a:pPr>
            <a:r>
              <a:rPr lang="en-US" sz="1400" b="1" kern="0">
                <a:solidFill>
                  <a:prstClr val="black"/>
                </a:solidFill>
                <a:latin typeface="Calibri" panose="020F0502020204030204"/>
                <a:ea typeface="Calibri"/>
                <a:cs typeface="Arial"/>
              </a:rPr>
              <a:t>Improve efficiency and scalability</a:t>
            </a:r>
            <a:r>
              <a:rPr lang="en-US" sz="1400" kern="0">
                <a:solidFill>
                  <a:prstClr val="black"/>
                </a:solidFill>
                <a:latin typeface="Calibri" panose="020F0502020204030204"/>
                <a:ea typeface="Calibri"/>
                <a:cs typeface="Arial"/>
              </a:rPr>
              <a:t> by reducing manual intervention and turnaround time.</a:t>
            </a:r>
          </a:p>
          <a:p>
            <a:pPr marL="182880" indent="-182880" defTabSz="914400">
              <a:spcBef>
                <a:spcPts val="300"/>
              </a:spcBef>
              <a:buClr>
                <a:srgbClr val="FB4D0A"/>
              </a:buClr>
              <a:buFont typeface="Arial" panose="020B0604020202020204" pitchFamily="34" charset="0"/>
              <a:buChar char="•"/>
              <a:defRPr/>
            </a:pPr>
            <a:r>
              <a:rPr lang="en-US" sz="1400" b="1" kern="0">
                <a:solidFill>
                  <a:prstClr val="black"/>
                </a:solidFill>
                <a:latin typeface="Calibri" panose="020F0502020204030204"/>
                <a:ea typeface="Calibri"/>
                <a:cs typeface="Arial"/>
              </a:rPr>
              <a:t>Deliver actionable insights</a:t>
            </a:r>
            <a:r>
              <a:rPr lang="en-US" sz="1400" kern="0">
                <a:solidFill>
                  <a:prstClr val="black"/>
                </a:solidFill>
                <a:latin typeface="Calibri" panose="020F0502020204030204"/>
                <a:ea typeface="Calibri"/>
                <a:cs typeface="Arial"/>
              </a:rPr>
              <a:t> through granular segmentation (product, duration, cohort) to support business decision making.</a:t>
            </a:r>
          </a:p>
          <a:p>
            <a:pPr marL="182880" indent="-182880" defTabSz="914400">
              <a:spcBef>
                <a:spcPts val="300"/>
              </a:spcBef>
              <a:buClr>
                <a:srgbClr val="FB4D0A"/>
              </a:buClr>
              <a:buFont typeface="Arial" panose="020B0604020202020204" pitchFamily="34" charset="0"/>
              <a:buChar char="•"/>
              <a:defRPr/>
            </a:pPr>
            <a:endParaRPr lang="en-US" sz="1100" kern="0">
              <a:solidFill>
                <a:prstClr val="black"/>
              </a:solidFill>
              <a:latin typeface="Calibri" panose="020F0502020204030204"/>
              <a:ea typeface="Calibri"/>
              <a:cs typeface="Arial"/>
            </a:endParaRPr>
          </a:p>
        </p:txBody>
      </p:sp>
      <p:pic>
        <p:nvPicPr>
          <p:cNvPr id="188" name="Picture 187">
            <a:extLst>
              <a:ext uri="{FF2B5EF4-FFF2-40B4-BE49-F238E27FC236}">
                <a16:creationId xmlns:a16="http://schemas.microsoft.com/office/drawing/2014/main" id="{266522DC-F677-37CE-34AF-04C6686F9E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72945" y="1586904"/>
            <a:ext cx="1012238" cy="228723"/>
          </a:xfrm>
          <a:prstGeom prst="rect">
            <a:avLst/>
          </a:prstGeom>
        </p:spPr>
      </p:pic>
      <p:graphicFrame>
        <p:nvGraphicFramePr>
          <p:cNvPr id="197" name="Table 196">
            <a:extLst>
              <a:ext uri="{FF2B5EF4-FFF2-40B4-BE49-F238E27FC236}">
                <a16:creationId xmlns:a16="http://schemas.microsoft.com/office/drawing/2014/main" id="{3B94D250-88F2-4AF6-CA2F-B19CD5A1B5F7}"/>
              </a:ext>
            </a:extLst>
          </p:cNvPr>
          <p:cNvGraphicFramePr>
            <a:graphicFrameLocks noGrp="1"/>
          </p:cNvGraphicFramePr>
          <p:nvPr>
            <p:extLst>
              <p:ext uri="{D42A27DB-BD31-4B8C-83A1-F6EECF244321}">
                <p14:modId xmlns:p14="http://schemas.microsoft.com/office/powerpoint/2010/main" val="3107124242"/>
              </p:ext>
            </p:extLst>
          </p:nvPr>
        </p:nvGraphicFramePr>
        <p:xfrm>
          <a:off x="10169510" y="3918813"/>
          <a:ext cx="1554429" cy="370840"/>
        </p:xfrm>
        <a:graphic>
          <a:graphicData uri="http://schemas.openxmlformats.org/drawingml/2006/table">
            <a:tbl>
              <a:tblPr firstRow="1" bandRow="1"/>
              <a:tblGrid>
                <a:gridCol w="1554429">
                  <a:extLst>
                    <a:ext uri="{9D8B030D-6E8A-4147-A177-3AD203B41FA5}">
                      <a16:colId xmlns:a16="http://schemas.microsoft.com/office/drawing/2014/main" val="20000"/>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a:r>
                        <a:rPr lang="en-US" sz="1400" b="1">
                          <a:solidFill>
                            <a:srgbClr val="002060"/>
                          </a:solidFill>
                        </a:rPr>
                        <a:t>Value Proposition</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198" name="TextBox 197">
            <a:extLst>
              <a:ext uri="{FF2B5EF4-FFF2-40B4-BE49-F238E27FC236}">
                <a16:creationId xmlns:a16="http://schemas.microsoft.com/office/drawing/2014/main" id="{89ABD193-D146-3A27-7910-6CD8A94BD68D}"/>
              </a:ext>
            </a:extLst>
          </p:cNvPr>
          <p:cNvSpPr txBox="1"/>
          <p:nvPr/>
        </p:nvSpPr>
        <p:spPr>
          <a:xfrm>
            <a:off x="9774386" y="4286955"/>
            <a:ext cx="2196995" cy="1510670"/>
          </a:xfrm>
          <a:prstGeom prst="rect">
            <a:avLst/>
          </a:prstGeom>
          <a:noFill/>
          <a:ln>
            <a:noFill/>
          </a:ln>
        </p:spPr>
        <p:txBody>
          <a:bodyPr wrap="square" lIns="91440" tIns="45720" rIns="91440" bIns="45720" rtlCol="0" anchor="t">
            <a:spAutoFit/>
          </a:bodyPr>
          <a:lstStyle/>
          <a:p>
            <a:pPr marL="171450" lvl="1" indent="-171450" defTabSz="914400" fontAlgn="base">
              <a:spcAft>
                <a:spcPts val="100"/>
              </a:spcAft>
              <a:buClr>
                <a:srgbClr val="FF6503"/>
              </a:buClr>
              <a:buSzPct val="100000"/>
              <a:buFont typeface="Arial" panose="020B0604020202020204" pitchFamily="34" charset="0"/>
              <a:buChar char="•"/>
              <a:defRPr/>
            </a:pPr>
            <a:r>
              <a:rPr lang="en-US" sz="1100">
                <a:solidFill>
                  <a:prstClr val="black"/>
                </a:solidFill>
                <a:latin typeface="Calibri" panose="020F0502020204030204"/>
                <a:cs typeface="Arial"/>
              </a:rPr>
              <a:t>Faster turnaround time</a:t>
            </a:r>
            <a:endParaRPr lang="en-US" sz="1100" b="0" i="0" u="none" strike="noStrike" kern="1200" cap="none" spc="0" normalizeH="0" baseline="0" noProof="0">
              <a:ln>
                <a:noFill/>
              </a:ln>
              <a:solidFill>
                <a:prstClr val="black"/>
              </a:solidFill>
              <a:effectLst/>
              <a:uLnTx/>
              <a:uFillTx/>
              <a:latin typeface="Calibri" panose="020F0502020204030204"/>
              <a:ea typeface="Calibri"/>
              <a:cs typeface="Arial" panose="020B0604020202020204" pitchFamily="34" charset="0"/>
            </a:endParaRPr>
          </a:p>
          <a:p>
            <a:pPr marL="171450" lvl="1" indent="-171450" defTabSz="914400" fontAlgn="base">
              <a:spcAft>
                <a:spcPts val="100"/>
              </a:spcAft>
              <a:buClr>
                <a:srgbClr val="FF6503"/>
              </a:buClr>
              <a:buSzPct val="100000"/>
              <a:buFont typeface="Arial" panose="020B0604020202020204" pitchFamily="34" charset="0"/>
              <a:buChar char="•"/>
              <a:defRPr/>
            </a:pPr>
            <a:r>
              <a:rPr lang="en-US" sz="1100">
                <a:solidFill>
                  <a:prstClr val="black"/>
                </a:solidFill>
                <a:latin typeface="Calibri" panose="020F0502020204030204"/>
                <a:cs typeface="Arial"/>
              </a:rPr>
              <a:t>Enhanced client insights</a:t>
            </a:r>
            <a:endParaRPr lang="en-US" sz="1100" b="0" i="0" u="none" strike="noStrike" kern="1200" cap="none" spc="0" normalizeH="0" baseline="0" noProof="0">
              <a:ln>
                <a:noFill/>
              </a:ln>
              <a:solidFill>
                <a:prstClr val="black"/>
              </a:solidFill>
              <a:effectLst/>
              <a:uLnTx/>
              <a:uFillTx/>
              <a:latin typeface="Calibri" panose="020F0502020204030204"/>
              <a:ea typeface="Calibri"/>
              <a:cs typeface="Arial" panose="020B0604020202020204" pitchFamily="34" charset="0"/>
            </a:endParaRPr>
          </a:p>
          <a:p>
            <a:pPr marL="171450" lvl="1" indent="-171450" defTabSz="914400" fontAlgn="base">
              <a:spcAft>
                <a:spcPts val="100"/>
              </a:spcAft>
              <a:buClr>
                <a:srgbClr val="FF6503"/>
              </a:buClr>
              <a:buSzPct val="100000"/>
              <a:buFont typeface="Arial" panose="020B0604020202020204" pitchFamily="34" charset="0"/>
              <a:buChar char="•"/>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Arial"/>
              </a:rPr>
              <a:t>Easy integration </a:t>
            </a:r>
            <a:r>
              <a:rPr lang="en-US" sz="1100">
                <a:solidFill>
                  <a:prstClr val="black"/>
                </a:solidFill>
                <a:latin typeface="Calibri" panose="020F0502020204030204"/>
                <a:cs typeface="Arial"/>
              </a:rPr>
              <a:t>with tools Tableau</a:t>
            </a:r>
            <a:endParaRPr lang="en-US" sz="1100" b="0" i="0" u="none" strike="noStrike" kern="1200" cap="none" spc="0" normalizeH="0" baseline="0" noProof="0">
              <a:ln>
                <a:noFill/>
              </a:ln>
              <a:solidFill>
                <a:prstClr val="black"/>
              </a:solidFill>
              <a:effectLst/>
              <a:uLnTx/>
              <a:uFillTx/>
              <a:latin typeface="Calibri" panose="020F0502020204030204"/>
              <a:ea typeface="Calibri"/>
              <a:cs typeface="Arial" panose="020B0604020202020204" pitchFamily="34" charset="0"/>
            </a:endParaRPr>
          </a:p>
          <a:p>
            <a:pPr marL="171450" lvl="1" indent="-171450" defTabSz="914400" fontAlgn="base">
              <a:spcAft>
                <a:spcPts val="100"/>
              </a:spcAft>
              <a:buClr>
                <a:srgbClr val="FF6503"/>
              </a:buClr>
              <a:buSzPct val="100000"/>
              <a:buFont typeface="Arial" panose="020B0604020202020204" pitchFamily="34" charset="0"/>
              <a:buChar char="•"/>
              <a:defRPr/>
            </a:pPr>
            <a:r>
              <a:rPr lang="en-US" sz="1100">
                <a:solidFill>
                  <a:srgbClr val="000000"/>
                </a:solidFill>
                <a:latin typeface="Calibri" panose="020F0502020204030204"/>
                <a:ea typeface="Calibri"/>
                <a:cs typeface="Calibri"/>
              </a:rPr>
              <a:t>Scalable framework</a:t>
            </a:r>
          </a:p>
          <a:p>
            <a:pPr marL="171450" lvl="1" indent="-171450" defTabSz="914400">
              <a:spcAft>
                <a:spcPts val="100"/>
              </a:spcAft>
              <a:buClr>
                <a:srgbClr val="FF6503"/>
              </a:buClr>
              <a:buSzPct val="100000"/>
              <a:buFont typeface="Arial" panose="020B0604020202020204" pitchFamily="34" charset="0"/>
              <a:buChar char="•"/>
              <a:defRPr/>
            </a:pPr>
            <a:r>
              <a:rPr lang="en-US" sz="1100">
                <a:solidFill>
                  <a:srgbClr val="000000"/>
                </a:solidFill>
                <a:latin typeface="Calibri" panose="020F0502020204030204"/>
                <a:ea typeface="Calibri"/>
                <a:cs typeface="Calibri"/>
              </a:rPr>
              <a:t>Improved accuracy and governance</a:t>
            </a:r>
            <a:endParaRPr lang="en-US" sz="1100" err="1">
              <a:ea typeface="Calibri" panose="020F0502020204030204"/>
              <a:cs typeface="Calibri" panose="020F0502020204030204"/>
            </a:endParaRPr>
          </a:p>
          <a:p>
            <a:pPr marL="171450" marR="0" lvl="1" indent="-171450" algn="l" defTabSz="914400" rtl="0" eaLnBrk="1" fontAlgn="base" latinLnBrk="0" hangingPunct="1">
              <a:lnSpc>
                <a:spcPct val="100000"/>
              </a:lnSpc>
              <a:spcBef>
                <a:spcPts val="0"/>
              </a:spcBef>
              <a:spcAft>
                <a:spcPts val="100"/>
              </a:spcAft>
              <a:buClr>
                <a:srgbClr val="FF6503"/>
              </a:buClr>
              <a:buSzPct val="100000"/>
              <a:buFont typeface="Arial" panose="020B0604020202020204" pitchFamily="34" charset="0"/>
              <a:buChar char="•"/>
              <a:tabLst/>
              <a:defRPr/>
            </a:pPr>
            <a:endParaRPr lang="en-US" sz="1100" b="0" i="0" u="none" strike="noStrike" kern="1200" cap="none" spc="0" normalizeH="0" baseline="0" noProof="0">
              <a:ln>
                <a:noFill/>
              </a:ln>
              <a:solidFill>
                <a:prstClr val="black"/>
              </a:solidFill>
              <a:effectLst/>
              <a:uLnTx/>
              <a:uFillTx/>
              <a:latin typeface="Calibri" panose="020F0502020204030204"/>
              <a:ea typeface="Calibri"/>
              <a:cs typeface="Arial"/>
            </a:endParaRPr>
          </a:p>
        </p:txBody>
      </p:sp>
      <p:sp>
        <p:nvSpPr>
          <p:cNvPr id="209" name="TextBox 208">
            <a:extLst>
              <a:ext uri="{FF2B5EF4-FFF2-40B4-BE49-F238E27FC236}">
                <a16:creationId xmlns:a16="http://schemas.microsoft.com/office/drawing/2014/main" id="{9091AE6F-9044-AF99-E9B9-C482CBF5713D}"/>
              </a:ext>
            </a:extLst>
          </p:cNvPr>
          <p:cNvSpPr txBox="1"/>
          <p:nvPr/>
        </p:nvSpPr>
        <p:spPr>
          <a:xfrm>
            <a:off x="7032984" y="2527368"/>
            <a:ext cx="764953"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FFFFFF"/>
                </a:solidFill>
                <a:effectLst/>
                <a:uLnTx/>
                <a:uFillTx/>
                <a:latin typeface="Calibri" panose="020F0502020204030204"/>
                <a:ea typeface="+mn-ea"/>
                <a:cs typeface="+mn-cs"/>
              </a:rPr>
              <a:t>Dataiku</a:t>
            </a:r>
          </a:p>
        </p:txBody>
      </p:sp>
      <p:cxnSp>
        <p:nvCxnSpPr>
          <p:cNvPr id="238" name="Straight Connector 237">
            <a:extLst>
              <a:ext uri="{FF2B5EF4-FFF2-40B4-BE49-F238E27FC236}">
                <a16:creationId xmlns:a16="http://schemas.microsoft.com/office/drawing/2014/main" id="{FE4021B9-C2EB-33A3-E200-AE1271D32082}"/>
              </a:ext>
            </a:extLst>
          </p:cNvPr>
          <p:cNvCxnSpPr/>
          <p:nvPr/>
        </p:nvCxnSpPr>
        <p:spPr>
          <a:xfrm>
            <a:off x="9721552" y="1609733"/>
            <a:ext cx="0" cy="4732868"/>
          </a:xfrm>
          <a:prstGeom prst="line">
            <a:avLst/>
          </a:prstGeom>
          <a:noFill/>
          <a:ln w="6350" cap="flat" cmpd="sng" algn="ctr">
            <a:solidFill>
              <a:srgbClr val="DBDBDB"/>
            </a:solidFill>
            <a:prstDash val="solid"/>
            <a:miter lim="800000"/>
          </a:ln>
          <a:effectLst/>
        </p:spPr>
      </p:cxnSp>
      <p:cxnSp>
        <p:nvCxnSpPr>
          <p:cNvPr id="89" name="Straight Arrow Connector 88">
            <a:extLst>
              <a:ext uri="{FF2B5EF4-FFF2-40B4-BE49-F238E27FC236}">
                <a16:creationId xmlns:a16="http://schemas.microsoft.com/office/drawing/2014/main" id="{191B4AF9-6479-FE8B-E8F7-E5365B741A04}"/>
              </a:ext>
            </a:extLst>
          </p:cNvPr>
          <p:cNvCxnSpPr>
            <a:cxnSpLocks/>
          </p:cNvCxnSpPr>
          <p:nvPr/>
        </p:nvCxnSpPr>
        <p:spPr>
          <a:xfrm>
            <a:off x="4978980" y="2747703"/>
            <a:ext cx="8035" cy="244261"/>
          </a:xfrm>
          <a:prstGeom prst="straightConnector1">
            <a:avLst/>
          </a:prstGeom>
          <a:noFill/>
          <a:ln w="6350" cap="flat" cmpd="sng" algn="ctr">
            <a:solidFill>
              <a:srgbClr val="FB4E0B"/>
            </a:solidFill>
            <a:prstDash val="solid"/>
            <a:miter lim="800000"/>
            <a:tailEnd type="triangle"/>
          </a:ln>
          <a:effectLst/>
        </p:spPr>
      </p:cxnSp>
      <p:pic>
        <p:nvPicPr>
          <p:cNvPr id="105" name="Picture 6" descr="Image result for dataiku icon">
            <a:extLst>
              <a:ext uri="{FF2B5EF4-FFF2-40B4-BE49-F238E27FC236}">
                <a16:creationId xmlns:a16="http://schemas.microsoft.com/office/drawing/2014/main" id="{01207DAB-EE0C-3922-6F36-15FD4FA0DD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27593" y="2398662"/>
            <a:ext cx="852455" cy="567297"/>
          </a:xfrm>
          <a:prstGeom prst="rect">
            <a:avLst/>
          </a:prstGeom>
          <a:noFill/>
          <a:extLst>
            <a:ext uri="{909E8E84-426E-40DD-AFC4-6F175D3DCCD1}">
              <a14:hiddenFill xmlns:a14="http://schemas.microsoft.com/office/drawing/2010/main">
                <a:solidFill>
                  <a:srgbClr val="FFFFFF"/>
                </a:solidFill>
              </a14:hiddenFill>
            </a:ext>
          </a:extLst>
        </p:spPr>
      </p:pic>
      <p:pic>
        <p:nvPicPr>
          <p:cNvPr id="107" name="Picture 10" descr="Image result for ms excel">
            <a:extLst>
              <a:ext uri="{FF2B5EF4-FFF2-40B4-BE49-F238E27FC236}">
                <a16:creationId xmlns:a16="http://schemas.microsoft.com/office/drawing/2014/main" id="{B2BAADBB-7FE4-DAC1-BE3F-8E2E78BDEB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5933" y="3196965"/>
            <a:ext cx="446308" cy="441403"/>
          </a:xfrm>
          <a:prstGeom prst="rect">
            <a:avLst/>
          </a:prstGeom>
          <a:noFill/>
          <a:extLst>
            <a:ext uri="{909E8E84-426E-40DD-AFC4-6F175D3DCCD1}">
              <a14:hiddenFill xmlns:a14="http://schemas.microsoft.com/office/drawing/2010/main">
                <a:solidFill>
                  <a:srgbClr val="FFFFFF"/>
                </a:solidFill>
              </a14:hiddenFill>
            </a:ext>
          </a:extLst>
        </p:spPr>
      </p:pic>
      <p:cxnSp>
        <p:nvCxnSpPr>
          <p:cNvPr id="2" name="Straight Connector 1">
            <a:extLst>
              <a:ext uri="{FF2B5EF4-FFF2-40B4-BE49-F238E27FC236}">
                <a16:creationId xmlns:a16="http://schemas.microsoft.com/office/drawing/2014/main" id="{B4E9147A-57E9-7A26-88E1-D3EFF0E324A0}"/>
              </a:ext>
            </a:extLst>
          </p:cNvPr>
          <p:cNvCxnSpPr>
            <a:cxnSpLocks/>
          </p:cNvCxnSpPr>
          <p:nvPr/>
        </p:nvCxnSpPr>
        <p:spPr>
          <a:xfrm>
            <a:off x="3559864" y="1438940"/>
            <a:ext cx="26275" cy="4916800"/>
          </a:xfrm>
          <a:prstGeom prst="line">
            <a:avLst/>
          </a:prstGeom>
          <a:noFill/>
          <a:ln w="6350" cap="flat" cmpd="sng" algn="ctr">
            <a:solidFill>
              <a:srgbClr val="DBDBDB"/>
            </a:solidFill>
            <a:prstDash val="solid"/>
            <a:miter lim="800000"/>
          </a:ln>
          <a:effectLst/>
        </p:spPr>
      </p:cxnSp>
      <p:sp>
        <p:nvSpPr>
          <p:cNvPr id="12" name="Rectangle 11">
            <a:extLst>
              <a:ext uri="{FF2B5EF4-FFF2-40B4-BE49-F238E27FC236}">
                <a16:creationId xmlns:a16="http://schemas.microsoft.com/office/drawing/2014/main" id="{097A1C85-69ED-D994-6F9F-7F9D0448B985}"/>
              </a:ext>
            </a:extLst>
          </p:cNvPr>
          <p:cNvSpPr/>
          <p:nvPr/>
        </p:nvSpPr>
        <p:spPr>
          <a:xfrm>
            <a:off x="3846461" y="2056261"/>
            <a:ext cx="3945231" cy="682067"/>
          </a:xfrm>
          <a:prstGeom prst="rect">
            <a:avLst/>
          </a:prstGeom>
          <a:noFill/>
          <a:ln>
            <a:solidFill>
              <a:schemeClr val="accent2"/>
            </a:solidFill>
            <a:prstDash val="sysDash"/>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lIns="91440" tIns="91440" rIns="91440" bIns="45720" rtlCol="0" anchor="t" anchorCtr="0"/>
          <a:lstStyle/>
          <a:p>
            <a:pPr marL="171450" lvl="1" indent="-171450" defTabSz="400050">
              <a:lnSpc>
                <a:spcPct val="113000"/>
              </a:lnSpc>
              <a:spcBef>
                <a:spcPts val="100"/>
              </a:spcBef>
              <a:spcAft>
                <a:spcPts val="100"/>
              </a:spcAft>
              <a:buClr>
                <a:srgbClr val="FF6503"/>
              </a:buClr>
              <a:buFont typeface="Arial" panose="020B0604020202020204" pitchFamily="34" charset="0"/>
              <a:buChar char="•"/>
              <a:defRPr/>
            </a:pPr>
            <a:r>
              <a:rPr lang="en-US" sz="1000">
                <a:solidFill>
                  <a:srgbClr val="000000"/>
                </a:solidFill>
                <a:latin typeface="Calibri"/>
                <a:ea typeface="Calibri"/>
                <a:cs typeface="Calibri"/>
              </a:rPr>
              <a:t>Data source from multiple systems </a:t>
            </a:r>
            <a:endParaRPr lang="en-US" sz="1000">
              <a:solidFill>
                <a:srgbClr val="000000"/>
              </a:solidFill>
              <a:latin typeface="Calibri" panose="020F0502020204030204" pitchFamily="34" charset="0"/>
              <a:ea typeface="Calibri"/>
              <a:cs typeface="Calibri"/>
            </a:endParaRPr>
          </a:p>
          <a:p>
            <a:pPr marL="171450" lvl="1" indent="-171450" defTabSz="400050">
              <a:lnSpc>
                <a:spcPct val="112999"/>
              </a:lnSpc>
              <a:spcBef>
                <a:spcPts val="100"/>
              </a:spcBef>
              <a:spcAft>
                <a:spcPts val="100"/>
              </a:spcAft>
              <a:buClr>
                <a:srgbClr val="FF6503"/>
              </a:buClr>
              <a:buFont typeface="Arial" panose="020B0604020202020204" pitchFamily="34" charset="0"/>
              <a:buChar char="•"/>
              <a:defRPr/>
            </a:pPr>
            <a:r>
              <a:rPr lang="en-US" sz="1000">
                <a:solidFill>
                  <a:srgbClr val="000000"/>
                </a:solidFill>
                <a:latin typeface="Calibri"/>
                <a:ea typeface="Calibri"/>
                <a:cs typeface="Calibri"/>
              </a:rPr>
              <a:t>Uploaded into SQL SERVER database</a:t>
            </a:r>
          </a:p>
          <a:p>
            <a:pPr marL="171450" lvl="1" indent="-171450" defTabSz="400050">
              <a:lnSpc>
                <a:spcPct val="112999"/>
              </a:lnSpc>
              <a:spcBef>
                <a:spcPts val="100"/>
              </a:spcBef>
              <a:spcAft>
                <a:spcPts val="100"/>
              </a:spcAft>
              <a:buClr>
                <a:srgbClr val="FF6503"/>
              </a:buClr>
              <a:buFont typeface="Arial" panose="020B0604020202020204" pitchFamily="34" charset="0"/>
              <a:buChar char="•"/>
              <a:defRPr/>
            </a:pPr>
            <a:r>
              <a:rPr lang="en-US" sz="1000">
                <a:solidFill>
                  <a:srgbClr val="000000"/>
                </a:solidFill>
                <a:latin typeface="Calibri"/>
                <a:ea typeface="Calibri"/>
                <a:cs typeface="Calibri"/>
              </a:rPr>
              <a:t>Processed using Stored Procedures and SQl logic</a:t>
            </a:r>
          </a:p>
          <a:p>
            <a:pPr marL="171450" lvl="1" indent="-171450" defTabSz="400050">
              <a:lnSpc>
                <a:spcPct val="113000"/>
              </a:lnSpc>
              <a:spcBef>
                <a:spcPts val="100"/>
              </a:spcBef>
              <a:spcAft>
                <a:spcPts val="100"/>
              </a:spcAft>
              <a:buClr>
                <a:srgbClr val="FF6503"/>
              </a:buClr>
              <a:buFont typeface="Arial" panose="020B0604020202020204" pitchFamily="34" charset="0"/>
              <a:buChar char="•"/>
              <a:defRPr/>
            </a:pPr>
            <a:endParaRPr lang="en-US" sz="10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81224B59-59A1-36EA-4F6D-026D55563898}"/>
              </a:ext>
            </a:extLst>
          </p:cNvPr>
          <p:cNvSpPr txBox="1"/>
          <p:nvPr/>
        </p:nvSpPr>
        <p:spPr>
          <a:xfrm>
            <a:off x="3862989" y="1537926"/>
            <a:ext cx="2235179" cy="514415"/>
          </a:xfrm>
          <a:prstGeom prst="rect">
            <a:avLst/>
          </a:prstGeom>
          <a:solidFill>
            <a:schemeClr val="accent3"/>
          </a:solidFill>
          <a:ln/>
          <a:effectLst/>
        </p:spPr>
        <p:style>
          <a:lnRef idx="0">
            <a:schemeClr val="accent1"/>
          </a:lnRef>
          <a:fillRef idx="3">
            <a:schemeClr val="accent1"/>
          </a:fillRef>
          <a:effectRef idx="3">
            <a:schemeClr val="accent1"/>
          </a:effectRef>
          <a:fontRef idx="minor">
            <a:schemeClr val="lt1"/>
          </a:fontRef>
        </p:style>
        <p:txBody>
          <a:bodyPr spcFirstLastPara="0" vert="horz" wrap="none" lIns="0" tIns="0" rIns="0" bIns="0" numCol="1" spcCol="1270" anchor="ctr" anchorCtr="1">
            <a:noAutofit/>
          </a:bodyPr>
          <a:lstStyle/>
          <a:p>
            <a:pPr algn="ctr" defTabSz="533400">
              <a:lnSpc>
                <a:spcPct val="112999"/>
              </a:lnSpc>
              <a:spcBef>
                <a:spcPct val="0"/>
              </a:spcBef>
              <a:defRPr/>
            </a:pPr>
            <a:r>
              <a:rPr lang="en-US" sz="1300" b="1">
                <a:solidFill>
                  <a:srgbClr val="FFFFFF"/>
                </a:solidFill>
                <a:latin typeface="Calibri"/>
                <a:ea typeface="Calibri"/>
                <a:cs typeface="Calibri"/>
              </a:rPr>
              <a:t>Data Processing Framework</a:t>
            </a:r>
            <a:endParaRPr lang="en-US">
              <a:ea typeface="+mn-ea"/>
              <a:cs typeface="+mn-cs"/>
            </a:endParaRPr>
          </a:p>
        </p:txBody>
      </p:sp>
      <p:sp>
        <p:nvSpPr>
          <p:cNvPr id="16" name="TextBox 15">
            <a:extLst>
              <a:ext uri="{FF2B5EF4-FFF2-40B4-BE49-F238E27FC236}">
                <a16:creationId xmlns:a16="http://schemas.microsoft.com/office/drawing/2014/main" id="{746CCE3E-460B-C62D-5753-6BCA6E0F04A7}"/>
              </a:ext>
            </a:extLst>
          </p:cNvPr>
          <p:cNvSpPr txBox="1"/>
          <p:nvPr/>
        </p:nvSpPr>
        <p:spPr>
          <a:xfrm>
            <a:off x="3862988" y="2987664"/>
            <a:ext cx="2640760" cy="453483"/>
          </a:xfrm>
          <a:prstGeom prst="rect">
            <a:avLst/>
          </a:prstGeom>
          <a:solidFill>
            <a:schemeClr val="accent3"/>
          </a:solidFill>
          <a:ln/>
          <a:effectLst/>
        </p:spPr>
        <p:style>
          <a:lnRef idx="0">
            <a:schemeClr val="accent1"/>
          </a:lnRef>
          <a:fillRef idx="3">
            <a:schemeClr val="accent1"/>
          </a:fillRef>
          <a:effectRef idx="3">
            <a:schemeClr val="accent1"/>
          </a:effectRef>
          <a:fontRef idx="minor">
            <a:schemeClr val="lt1"/>
          </a:fontRef>
        </p:style>
        <p:txBody>
          <a:bodyPr spcFirstLastPara="0" vert="horz" wrap="none" lIns="0" tIns="0" rIns="0" bIns="0" numCol="1" spcCol="1270" anchor="ctr" anchorCtr="1">
            <a:noAutofit/>
          </a:bodyPr>
          <a:lstStyle/>
          <a:p>
            <a:pPr algn="ctr" defTabSz="533400">
              <a:lnSpc>
                <a:spcPct val="112999"/>
              </a:lnSpc>
              <a:spcBef>
                <a:spcPct val="0"/>
              </a:spcBef>
              <a:defRPr/>
            </a:pPr>
            <a:r>
              <a:rPr lang="en-US" sz="1300" b="1">
                <a:solidFill>
                  <a:srgbClr val="FFFFFF"/>
                </a:solidFill>
                <a:latin typeface="Calibri"/>
                <a:ea typeface="Calibri"/>
                <a:cs typeface="Calibri"/>
              </a:rPr>
              <a:t>Data Transformation and Storage</a:t>
            </a:r>
            <a:endParaRPr lang="en-US" sz="1300" b="1">
              <a:ea typeface="Calibri"/>
              <a:cs typeface="Calibri"/>
            </a:endParaRPr>
          </a:p>
        </p:txBody>
      </p:sp>
      <p:sp>
        <p:nvSpPr>
          <p:cNvPr id="18" name="Rectangle 17">
            <a:extLst>
              <a:ext uri="{FF2B5EF4-FFF2-40B4-BE49-F238E27FC236}">
                <a16:creationId xmlns:a16="http://schemas.microsoft.com/office/drawing/2014/main" id="{51F65C30-E21D-B38E-2961-B009B49D4A72}"/>
              </a:ext>
            </a:extLst>
          </p:cNvPr>
          <p:cNvSpPr/>
          <p:nvPr/>
        </p:nvSpPr>
        <p:spPr>
          <a:xfrm>
            <a:off x="3858750" y="3432775"/>
            <a:ext cx="3957521" cy="1136808"/>
          </a:xfrm>
          <a:prstGeom prst="rect">
            <a:avLst/>
          </a:prstGeom>
          <a:noFill/>
          <a:ln>
            <a:solidFill>
              <a:schemeClr val="accent2"/>
            </a:solidFill>
            <a:prstDash val="sysDash"/>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lIns="91440" tIns="91440" rIns="91440" bIns="45720" rtlCol="0" anchor="t" anchorCtr="0"/>
          <a:lstStyle/>
          <a:p>
            <a:pPr marL="171450" lvl="1" indent="-171450" defTabSz="400050">
              <a:lnSpc>
                <a:spcPct val="113000"/>
              </a:lnSpc>
              <a:spcBef>
                <a:spcPts val="100"/>
              </a:spcBef>
              <a:spcAft>
                <a:spcPts val="100"/>
              </a:spcAft>
              <a:buClr>
                <a:srgbClr val="FF6503"/>
              </a:buClr>
              <a:buFont typeface="Arial" panose="020B0604020202020204" pitchFamily="34" charset="0"/>
              <a:buChar char="•"/>
              <a:defRPr/>
            </a:pPr>
            <a:r>
              <a:rPr lang="en-US" sz="1000">
                <a:solidFill>
                  <a:srgbClr val="000000"/>
                </a:solidFill>
                <a:latin typeface="Calibri"/>
                <a:ea typeface="Calibri"/>
                <a:cs typeface="Calibri"/>
              </a:rPr>
              <a:t>Creation of structured tables:</a:t>
            </a:r>
            <a:endParaRPr lang="en-US" sz="1000">
              <a:solidFill>
                <a:srgbClr val="000000"/>
              </a:solidFill>
              <a:latin typeface="Calibri" panose="020F0502020204030204" pitchFamily="34" charset="0"/>
              <a:ea typeface="Calibri"/>
              <a:cs typeface="Calibri"/>
            </a:endParaRPr>
          </a:p>
          <a:p>
            <a:pPr marL="0" lvl="1" defTabSz="400050">
              <a:lnSpc>
                <a:spcPct val="112999"/>
              </a:lnSpc>
              <a:spcBef>
                <a:spcPts val="100"/>
              </a:spcBef>
              <a:spcAft>
                <a:spcPts val="100"/>
              </a:spcAft>
              <a:buClr>
                <a:srgbClr val="FF6503"/>
              </a:buClr>
              <a:defRPr/>
            </a:pPr>
            <a:r>
              <a:rPr lang="en-US" sz="1000">
                <a:solidFill>
                  <a:srgbClr val="000000"/>
                </a:solidFill>
                <a:latin typeface="Calibri"/>
                <a:ea typeface="Calibri"/>
                <a:cs typeface="Calibri"/>
              </a:rPr>
              <a:t>      - Policy and Coverage data</a:t>
            </a:r>
          </a:p>
          <a:p>
            <a:pPr marL="0" lvl="1" defTabSz="400050">
              <a:lnSpc>
                <a:spcPct val="112999"/>
              </a:lnSpc>
              <a:spcBef>
                <a:spcPts val="100"/>
              </a:spcBef>
              <a:spcAft>
                <a:spcPts val="100"/>
              </a:spcAft>
              <a:defRPr/>
            </a:pPr>
            <a:r>
              <a:rPr lang="en-US" sz="1000">
                <a:solidFill>
                  <a:srgbClr val="000000"/>
                </a:solidFill>
                <a:latin typeface="Calibri"/>
                <a:ea typeface="Calibri"/>
                <a:cs typeface="Calibri"/>
              </a:rPr>
              <a:t>      - Product attributes</a:t>
            </a:r>
          </a:p>
          <a:p>
            <a:pPr marL="0" lvl="1" defTabSz="400050">
              <a:lnSpc>
                <a:spcPct val="112999"/>
              </a:lnSpc>
              <a:spcBef>
                <a:spcPts val="100"/>
              </a:spcBef>
              <a:spcAft>
                <a:spcPts val="100"/>
              </a:spcAft>
              <a:defRPr/>
            </a:pPr>
            <a:r>
              <a:rPr lang="en-US" sz="1000">
                <a:solidFill>
                  <a:srgbClr val="000000"/>
                </a:solidFill>
                <a:latin typeface="Calibri"/>
                <a:ea typeface="Calibri"/>
                <a:cs typeface="Calibri"/>
              </a:rPr>
              <a:t>      - Terminations and lapses</a:t>
            </a:r>
            <a:endParaRPr lang="en-US">
              <a:ea typeface="Calibri" panose="020F0502020204030204"/>
              <a:cs typeface="Calibri" panose="020F0502020204030204"/>
            </a:endParaRPr>
          </a:p>
          <a:p>
            <a:pPr marL="0" lvl="1" defTabSz="400050">
              <a:lnSpc>
                <a:spcPct val="112999"/>
              </a:lnSpc>
              <a:spcBef>
                <a:spcPts val="100"/>
              </a:spcBef>
              <a:spcAft>
                <a:spcPts val="100"/>
              </a:spcAft>
              <a:buClr>
                <a:srgbClr val="FF6503"/>
              </a:buClr>
              <a:defRPr/>
            </a:pPr>
            <a:r>
              <a:rPr lang="en-US" sz="1000">
                <a:solidFill>
                  <a:srgbClr val="000000"/>
                </a:solidFill>
                <a:latin typeface="Calibri"/>
                <a:ea typeface="Calibri"/>
                <a:cs typeface="Calibri"/>
              </a:rPr>
              <a:t>       -Exposure calculations</a:t>
            </a:r>
          </a:p>
          <a:p>
            <a:pPr marL="0" lvl="1" defTabSz="400050">
              <a:lnSpc>
                <a:spcPct val="112999"/>
              </a:lnSpc>
              <a:spcBef>
                <a:spcPts val="100"/>
              </a:spcBef>
              <a:spcAft>
                <a:spcPts val="100"/>
              </a:spcAft>
              <a:buClr>
                <a:srgbClr val="FF6503"/>
              </a:buClr>
              <a:defRPr/>
            </a:pPr>
            <a:endParaRPr lang="en-US" sz="1000">
              <a:solidFill>
                <a:srgbClr val="000000"/>
              </a:solidFill>
              <a:latin typeface="Calibri"/>
              <a:ea typeface="Calibri"/>
              <a:cs typeface="Calibri"/>
            </a:endParaRPr>
          </a:p>
          <a:p>
            <a:pPr marL="171450" lvl="1" indent="-171450" defTabSz="400050">
              <a:lnSpc>
                <a:spcPct val="113000"/>
              </a:lnSpc>
              <a:spcBef>
                <a:spcPts val="100"/>
              </a:spcBef>
              <a:spcAft>
                <a:spcPts val="100"/>
              </a:spcAft>
              <a:buClr>
                <a:srgbClr val="FF6503"/>
              </a:buClr>
              <a:buFont typeface="Arial" panose="020B0604020202020204" pitchFamily="34" charset="0"/>
              <a:buChar char="•"/>
              <a:defRPr/>
            </a:pPr>
            <a:endParaRPr lang="en-US" sz="10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EFA0530C-62BE-EBD0-0711-BE39985DAF00}"/>
              </a:ext>
            </a:extLst>
          </p:cNvPr>
          <p:cNvSpPr txBox="1"/>
          <p:nvPr/>
        </p:nvSpPr>
        <p:spPr>
          <a:xfrm>
            <a:off x="3862987" y="4708827"/>
            <a:ext cx="2640760" cy="440674"/>
          </a:xfrm>
          <a:prstGeom prst="rect">
            <a:avLst/>
          </a:prstGeom>
          <a:solidFill>
            <a:schemeClr val="accent3"/>
          </a:solidFill>
          <a:ln/>
          <a:effectLst/>
        </p:spPr>
        <p:style>
          <a:lnRef idx="0">
            <a:schemeClr val="accent1"/>
          </a:lnRef>
          <a:fillRef idx="3">
            <a:schemeClr val="accent1"/>
          </a:fillRef>
          <a:effectRef idx="3">
            <a:schemeClr val="accent1"/>
          </a:effectRef>
          <a:fontRef idx="minor">
            <a:schemeClr val="lt1"/>
          </a:fontRef>
        </p:style>
        <p:txBody>
          <a:bodyPr spcFirstLastPara="0" vert="horz" wrap="none" lIns="0" tIns="0" rIns="0" bIns="0" numCol="1" spcCol="1270" anchor="ctr" anchorCtr="1">
            <a:noAutofit/>
          </a:bodyPr>
          <a:lstStyle/>
          <a:p>
            <a:pPr algn="ctr" defTabSz="533400">
              <a:lnSpc>
                <a:spcPct val="112999"/>
              </a:lnSpc>
              <a:spcBef>
                <a:spcPct val="0"/>
              </a:spcBef>
              <a:defRPr/>
            </a:pPr>
            <a:r>
              <a:rPr lang="en-US" sz="1300" b="1">
                <a:solidFill>
                  <a:srgbClr val="FFFFFF"/>
                </a:solidFill>
                <a:latin typeface="Calibri"/>
                <a:ea typeface="Calibri"/>
                <a:cs typeface="Calibri"/>
              </a:rPr>
              <a:t>Experience Study Calculations</a:t>
            </a:r>
            <a:endParaRPr lang="en-US" sz="1300" b="1">
              <a:ea typeface="Calibri"/>
              <a:cs typeface="Calibri"/>
            </a:endParaRPr>
          </a:p>
        </p:txBody>
      </p:sp>
      <p:sp>
        <p:nvSpPr>
          <p:cNvPr id="21" name="Rectangle 20">
            <a:extLst>
              <a:ext uri="{FF2B5EF4-FFF2-40B4-BE49-F238E27FC236}">
                <a16:creationId xmlns:a16="http://schemas.microsoft.com/office/drawing/2014/main" id="{30CAC430-1EE6-867A-14F5-8BB9FDC2F832}"/>
              </a:ext>
            </a:extLst>
          </p:cNvPr>
          <p:cNvSpPr/>
          <p:nvPr/>
        </p:nvSpPr>
        <p:spPr>
          <a:xfrm>
            <a:off x="3858749" y="5128837"/>
            <a:ext cx="3969812" cy="817261"/>
          </a:xfrm>
          <a:prstGeom prst="rect">
            <a:avLst/>
          </a:prstGeom>
          <a:noFill/>
          <a:ln>
            <a:solidFill>
              <a:schemeClr val="accent2"/>
            </a:solidFill>
            <a:prstDash val="sysDash"/>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lIns="91440" tIns="91440" rIns="91440" bIns="45720" rtlCol="0" anchor="t" anchorCtr="0"/>
          <a:lstStyle/>
          <a:p>
            <a:pPr marL="171450" lvl="1" indent="-171450" defTabSz="400050">
              <a:lnSpc>
                <a:spcPct val="113000"/>
              </a:lnSpc>
              <a:spcBef>
                <a:spcPts val="100"/>
              </a:spcBef>
              <a:spcAft>
                <a:spcPts val="100"/>
              </a:spcAft>
              <a:buClr>
                <a:srgbClr val="FF6503"/>
              </a:buClr>
              <a:buFont typeface="Arial" panose="020B0604020202020204" pitchFamily="34" charset="0"/>
              <a:buChar char="•"/>
              <a:defRPr/>
            </a:pPr>
            <a:r>
              <a:rPr lang="en-US" sz="1000">
                <a:solidFill>
                  <a:srgbClr val="000000"/>
                </a:solidFill>
                <a:latin typeface="Calibri"/>
                <a:ea typeface="Calibri"/>
                <a:cs typeface="Calibri"/>
              </a:rPr>
              <a:t>lapse rate calculations (actual experience)</a:t>
            </a:r>
            <a:endParaRPr lang="en-US" sz="1000">
              <a:solidFill>
                <a:srgbClr val="000000"/>
              </a:solidFill>
              <a:latin typeface="Calibri" panose="020F0502020204030204" pitchFamily="34" charset="0"/>
              <a:ea typeface="Calibri"/>
              <a:cs typeface="Calibri"/>
            </a:endParaRPr>
          </a:p>
          <a:p>
            <a:pPr marL="171450" lvl="1" indent="-171450" defTabSz="400050">
              <a:lnSpc>
                <a:spcPct val="112999"/>
              </a:lnSpc>
              <a:spcBef>
                <a:spcPts val="100"/>
              </a:spcBef>
              <a:spcAft>
                <a:spcPts val="100"/>
              </a:spcAft>
              <a:buClr>
                <a:srgbClr val="FF6503"/>
              </a:buClr>
              <a:buFont typeface="Arial" panose="020B0604020202020204" pitchFamily="34" charset="0"/>
              <a:buChar char="•"/>
              <a:defRPr/>
            </a:pPr>
            <a:r>
              <a:rPr lang="en-US" sz="1000">
                <a:solidFill>
                  <a:srgbClr val="000000"/>
                </a:solidFill>
                <a:latin typeface="Calibri"/>
                <a:ea typeface="Calibri"/>
                <a:cs typeface="Calibri"/>
              </a:rPr>
              <a:t>Mortality studies using exposure methodology</a:t>
            </a:r>
          </a:p>
          <a:p>
            <a:pPr marL="171450" lvl="1" indent="-171450" defTabSz="400050">
              <a:lnSpc>
                <a:spcPct val="112999"/>
              </a:lnSpc>
              <a:spcBef>
                <a:spcPts val="100"/>
              </a:spcBef>
              <a:spcAft>
                <a:spcPts val="100"/>
              </a:spcAft>
              <a:buClr>
                <a:srgbClr val="FF6503"/>
              </a:buClr>
              <a:buFont typeface="Arial" panose="020B0604020202020204" pitchFamily="34" charset="0"/>
              <a:buChar char="•"/>
              <a:defRPr/>
            </a:pPr>
            <a:r>
              <a:rPr lang="en-US" sz="1000">
                <a:solidFill>
                  <a:srgbClr val="000000"/>
                </a:solidFill>
                <a:latin typeface="Calibri"/>
                <a:ea typeface="Calibri"/>
                <a:cs typeface="Calibri"/>
              </a:rPr>
              <a:t>Periodic Database updates</a:t>
            </a:r>
          </a:p>
          <a:p>
            <a:pPr marL="0" lvl="1" defTabSz="400050">
              <a:lnSpc>
                <a:spcPct val="112999"/>
              </a:lnSpc>
              <a:spcBef>
                <a:spcPts val="100"/>
              </a:spcBef>
              <a:spcAft>
                <a:spcPts val="100"/>
              </a:spcAft>
              <a:buClr>
                <a:srgbClr val="FF6503"/>
              </a:buClr>
              <a:defRPr/>
            </a:pPr>
            <a:r>
              <a:rPr lang="en-US" sz="1000">
                <a:solidFill>
                  <a:srgbClr val="000000"/>
                </a:solidFill>
                <a:latin typeface="Calibri"/>
                <a:ea typeface="Calibri"/>
                <a:cs typeface="Calibri"/>
              </a:rPr>
              <a:t>      </a:t>
            </a:r>
          </a:p>
          <a:p>
            <a:pPr marL="0" lvl="1" defTabSz="400050">
              <a:lnSpc>
                <a:spcPct val="112999"/>
              </a:lnSpc>
              <a:spcBef>
                <a:spcPts val="100"/>
              </a:spcBef>
              <a:spcAft>
                <a:spcPts val="100"/>
              </a:spcAft>
              <a:buClr>
                <a:srgbClr val="FF6503"/>
              </a:buClr>
              <a:defRPr/>
            </a:pPr>
            <a:endParaRPr lang="en-US" sz="1000">
              <a:solidFill>
                <a:srgbClr val="000000"/>
              </a:solidFill>
              <a:latin typeface="Calibri"/>
              <a:ea typeface="Calibri"/>
              <a:cs typeface="Calibri"/>
            </a:endParaRPr>
          </a:p>
          <a:p>
            <a:pPr marL="171450" lvl="1" indent="-171450" defTabSz="400050">
              <a:lnSpc>
                <a:spcPct val="113000"/>
              </a:lnSpc>
              <a:spcBef>
                <a:spcPts val="100"/>
              </a:spcBef>
              <a:spcAft>
                <a:spcPts val="100"/>
              </a:spcAft>
              <a:buClr>
                <a:srgbClr val="FF6503"/>
              </a:buClr>
              <a:buFont typeface="Arial" panose="020B0604020202020204" pitchFamily="34" charset="0"/>
              <a:buChar char="•"/>
              <a:defRPr/>
            </a:pPr>
            <a:endParaRPr lang="en-US" sz="10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cxnSp>
        <p:nvCxnSpPr>
          <p:cNvPr id="22" name="Straight Arrow Connector 21">
            <a:extLst>
              <a:ext uri="{FF2B5EF4-FFF2-40B4-BE49-F238E27FC236}">
                <a16:creationId xmlns:a16="http://schemas.microsoft.com/office/drawing/2014/main" id="{D5223661-9837-0B0A-85DE-BF276CF9B7BD}"/>
              </a:ext>
            </a:extLst>
          </p:cNvPr>
          <p:cNvCxnSpPr>
            <a:cxnSpLocks/>
          </p:cNvCxnSpPr>
          <p:nvPr/>
        </p:nvCxnSpPr>
        <p:spPr>
          <a:xfrm>
            <a:off x="4997738" y="4581159"/>
            <a:ext cx="8035" cy="123946"/>
          </a:xfrm>
          <a:prstGeom prst="straightConnector1">
            <a:avLst/>
          </a:prstGeom>
          <a:noFill/>
          <a:ln w="6350" cap="flat" cmpd="sng" algn="ctr">
            <a:solidFill>
              <a:srgbClr val="FB4E0B"/>
            </a:solidFill>
            <a:prstDash val="solid"/>
            <a:miter lim="800000"/>
            <a:tailEnd type="triangle"/>
          </a:ln>
          <a:effectLst/>
        </p:spPr>
      </p:cxnSp>
      <p:grpSp>
        <p:nvGrpSpPr>
          <p:cNvPr id="27" name="Group 26">
            <a:extLst>
              <a:ext uri="{FF2B5EF4-FFF2-40B4-BE49-F238E27FC236}">
                <a16:creationId xmlns:a16="http://schemas.microsoft.com/office/drawing/2014/main" id="{B696B3E1-B0A6-4F31-AFEC-67CDE66C24EB}"/>
              </a:ext>
            </a:extLst>
          </p:cNvPr>
          <p:cNvGrpSpPr/>
          <p:nvPr/>
        </p:nvGrpSpPr>
        <p:grpSpPr>
          <a:xfrm>
            <a:off x="8483934" y="5136240"/>
            <a:ext cx="703508" cy="573610"/>
            <a:chOff x="6502507" y="5872937"/>
            <a:chExt cx="703506" cy="780277"/>
          </a:xfrm>
        </p:grpSpPr>
        <p:sp>
          <p:nvSpPr>
            <p:cNvPr id="24" name="Flowchart: Magnetic Disk 23">
              <a:extLst>
                <a:ext uri="{FF2B5EF4-FFF2-40B4-BE49-F238E27FC236}">
                  <a16:creationId xmlns:a16="http://schemas.microsoft.com/office/drawing/2014/main" id="{88AA30D7-0A9F-C53F-5AE7-0379A619B779}"/>
                </a:ext>
              </a:extLst>
            </p:cNvPr>
            <p:cNvSpPr/>
            <p:nvPr/>
          </p:nvSpPr>
          <p:spPr>
            <a:xfrm>
              <a:off x="6502507" y="6328315"/>
              <a:ext cx="703506" cy="324899"/>
            </a:xfrm>
            <a:prstGeom prst="flowChartMagneticDisk">
              <a:avLst/>
            </a:prstGeom>
            <a:solidFill>
              <a:srgbClr val="FFFFFF">
                <a:lumMod val="50000"/>
              </a:srgbClr>
            </a:solid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5" name="Flowchart: Magnetic Disk 24">
              <a:extLst>
                <a:ext uri="{FF2B5EF4-FFF2-40B4-BE49-F238E27FC236}">
                  <a16:creationId xmlns:a16="http://schemas.microsoft.com/office/drawing/2014/main" id="{714C069C-D196-010B-5B0D-38F60D64D527}"/>
                </a:ext>
              </a:extLst>
            </p:cNvPr>
            <p:cNvSpPr/>
            <p:nvPr/>
          </p:nvSpPr>
          <p:spPr>
            <a:xfrm>
              <a:off x="6502507" y="6101818"/>
              <a:ext cx="703506" cy="324899"/>
            </a:xfrm>
            <a:prstGeom prst="flowChartMagneticDisk">
              <a:avLst/>
            </a:prstGeom>
            <a:solidFill>
              <a:srgbClr val="FFFFFF">
                <a:lumMod val="50000"/>
              </a:srgbClr>
            </a:solid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sp>
          <p:nvSpPr>
            <p:cNvPr id="26" name="Flowchart: Magnetic Disk 25">
              <a:extLst>
                <a:ext uri="{FF2B5EF4-FFF2-40B4-BE49-F238E27FC236}">
                  <a16:creationId xmlns:a16="http://schemas.microsoft.com/office/drawing/2014/main" id="{1082EC3F-5498-F8F2-8871-0CD288DFE28D}"/>
                </a:ext>
              </a:extLst>
            </p:cNvPr>
            <p:cNvSpPr/>
            <p:nvPr/>
          </p:nvSpPr>
          <p:spPr>
            <a:xfrm>
              <a:off x="6502507" y="5872937"/>
              <a:ext cx="703506" cy="324899"/>
            </a:xfrm>
            <a:prstGeom prst="flowChartMagneticDisk">
              <a:avLst/>
            </a:prstGeom>
            <a:solidFill>
              <a:srgbClr val="FFFFFF">
                <a:lumMod val="50000"/>
              </a:srgbClr>
            </a:solid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Calibri" panose="020F0502020204030204"/>
                <a:ea typeface="+mn-ea"/>
                <a:cs typeface="+mn-cs"/>
              </a:endParaRPr>
            </a:p>
          </p:txBody>
        </p:sp>
      </p:grpSp>
      <p:sp>
        <p:nvSpPr>
          <p:cNvPr id="28" name="TextBox 27">
            <a:extLst>
              <a:ext uri="{FF2B5EF4-FFF2-40B4-BE49-F238E27FC236}">
                <a16:creationId xmlns:a16="http://schemas.microsoft.com/office/drawing/2014/main" id="{E1648306-90F1-3A45-4F87-A2C41DA6608E}"/>
              </a:ext>
            </a:extLst>
          </p:cNvPr>
          <p:cNvSpPr txBox="1"/>
          <p:nvPr/>
        </p:nvSpPr>
        <p:spPr>
          <a:xfrm>
            <a:off x="8032349" y="5720002"/>
            <a:ext cx="1622323"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r>
              <a:rPr lang="en-US" sz="1200" b="1" i="0" u="none" strike="noStrike" baseline="0">
                <a:solidFill>
                  <a:srgbClr val="000000"/>
                </a:solidFill>
                <a:latin typeface="Calibri"/>
                <a:ea typeface="Segoe UI"/>
                <a:cs typeface="Segoe UI"/>
              </a:rPr>
              <a:t>Final Reports</a:t>
            </a:r>
            <a:r>
              <a:rPr lang="en-US" sz="1200" b="0" i="0">
                <a:solidFill>
                  <a:srgbClr val="000000"/>
                </a:solidFill>
                <a:latin typeface="Calibri"/>
                <a:ea typeface="Segoe UI"/>
                <a:cs typeface="Segoe UI"/>
              </a:rPr>
              <a:t>​</a:t>
            </a:r>
          </a:p>
          <a:p>
            <a:pPr algn="ctr" rtl="0"/>
            <a:r>
              <a:rPr lang="en-US" sz="1200" b="1" i="0" u="none" strike="noStrike" baseline="0">
                <a:solidFill>
                  <a:srgbClr val="000000"/>
                </a:solidFill>
                <a:latin typeface="Calibri"/>
                <a:ea typeface="Segoe UI"/>
                <a:cs typeface="Segoe UI"/>
              </a:rPr>
              <a:t>/ Dashboards</a:t>
            </a:r>
          </a:p>
          <a:p>
            <a:pPr algn="ctr"/>
            <a:endParaRPr lang="en-US"/>
          </a:p>
        </p:txBody>
      </p:sp>
      <p:cxnSp>
        <p:nvCxnSpPr>
          <p:cNvPr id="30" name="Straight Arrow Connector 29">
            <a:extLst>
              <a:ext uri="{FF2B5EF4-FFF2-40B4-BE49-F238E27FC236}">
                <a16:creationId xmlns:a16="http://schemas.microsoft.com/office/drawing/2014/main" id="{A345669D-69A2-5410-A5E5-C83C8DBE21FE}"/>
              </a:ext>
            </a:extLst>
          </p:cNvPr>
          <p:cNvCxnSpPr>
            <a:cxnSpLocks/>
          </p:cNvCxnSpPr>
          <p:nvPr/>
        </p:nvCxnSpPr>
        <p:spPr>
          <a:xfrm>
            <a:off x="7861384" y="5539807"/>
            <a:ext cx="597971" cy="1041"/>
          </a:xfrm>
          <a:prstGeom prst="straightConnector1">
            <a:avLst/>
          </a:prstGeom>
          <a:noFill/>
          <a:ln w="6350" cap="flat" cmpd="sng" algn="ctr">
            <a:solidFill>
              <a:srgbClr val="FB4E0B"/>
            </a:solidFill>
            <a:prstDash val="solid"/>
            <a:miter lim="800000"/>
            <a:tailEnd type="triangle"/>
          </a:ln>
          <a:effectLst/>
        </p:spPr>
      </p:cxnSp>
      <p:pic>
        <p:nvPicPr>
          <p:cNvPr id="32" name="Picture 31">
            <a:extLst>
              <a:ext uri="{FF2B5EF4-FFF2-40B4-BE49-F238E27FC236}">
                <a16:creationId xmlns:a16="http://schemas.microsoft.com/office/drawing/2014/main" id="{0250A112-33E3-BB3C-70D3-CDA332D70C21}"/>
              </a:ext>
            </a:extLst>
          </p:cNvPr>
          <p:cNvPicPr>
            <a:picLocks noGrp="1" noChangeAspect="1"/>
          </p:cNvPicPr>
          <p:nvPr/>
        </p:nvPicPr>
        <p:blipFill>
          <a:blip r:embed="rId6" cstate="print">
            <a:extLst>
              <a:ext uri="{28A0092B-C50C-407E-A947-70E740481C1C}">
                <a14:useLocalDpi xmlns:a14="http://schemas.microsoft.com/office/drawing/2010/main" val="0"/>
              </a:ext>
            </a:extLst>
          </a:blip>
          <a:stretch>
            <a:fillRect/>
          </a:stretch>
        </p:blipFill>
        <p:spPr>
          <a:xfrm>
            <a:off x="9928483" y="1943140"/>
            <a:ext cx="1595435" cy="361551"/>
          </a:xfrm>
          <a:prstGeom prst="rect">
            <a:avLst/>
          </a:prstGeom>
          <a:ln>
            <a:noFill/>
          </a:ln>
        </p:spPr>
      </p:pic>
      <p:pic>
        <p:nvPicPr>
          <p:cNvPr id="39" name="Picture 38" descr="A gray file with white text&#10;&#10;AI-generated content may be incorrect.">
            <a:extLst>
              <a:ext uri="{FF2B5EF4-FFF2-40B4-BE49-F238E27FC236}">
                <a16:creationId xmlns:a16="http://schemas.microsoft.com/office/drawing/2014/main" id="{29CDB49C-98AC-C555-30E1-0D54FF94002C}"/>
              </a:ext>
            </a:extLst>
          </p:cNvPr>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10591775" y="3122374"/>
            <a:ext cx="557784" cy="585216"/>
          </a:xfrm>
          <a:prstGeom prst="rect">
            <a:avLst/>
          </a:prstGeom>
        </p:spPr>
      </p:pic>
      <p:pic>
        <p:nvPicPr>
          <p:cNvPr id="41" name="Picture 14" descr="Image result for ms doc">
            <a:extLst>
              <a:ext uri="{FF2B5EF4-FFF2-40B4-BE49-F238E27FC236}">
                <a16:creationId xmlns:a16="http://schemas.microsoft.com/office/drawing/2014/main" id="{7EFDBA2C-E7B8-2514-785A-5829A74420B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213214" y="3176553"/>
            <a:ext cx="404769" cy="461815"/>
          </a:xfrm>
          <a:prstGeom prst="rect">
            <a:avLst/>
          </a:prstGeom>
          <a:noFill/>
          <a:extLst>
            <a:ext uri="{909E8E84-426E-40DD-AFC4-6F175D3DCCD1}">
              <a14:hiddenFill xmlns:a14="http://schemas.microsoft.com/office/drawing/2010/main">
                <a:solidFill>
                  <a:srgbClr val="FFFFFF"/>
                </a:solidFill>
              </a14:hiddenFill>
            </a:ext>
          </a:extLst>
        </p:spPr>
      </p:pic>
      <p:sp>
        <p:nvSpPr>
          <p:cNvPr id="44" name="TextBox 43">
            <a:extLst>
              <a:ext uri="{FF2B5EF4-FFF2-40B4-BE49-F238E27FC236}">
                <a16:creationId xmlns:a16="http://schemas.microsoft.com/office/drawing/2014/main" id="{7D432AC0-175F-EC58-5654-39BE525E31C3}"/>
              </a:ext>
            </a:extLst>
          </p:cNvPr>
          <p:cNvSpPr txBox="1"/>
          <p:nvPr/>
        </p:nvSpPr>
        <p:spPr>
          <a:xfrm>
            <a:off x="10961783" y="2529290"/>
            <a:ext cx="661010"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rgbClr val="005071"/>
                </a:solidFill>
                <a:latin typeface="Calibri"/>
              </a:rPr>
              <a:t>SAS</a:t>
            </a:r>
            <a:endParaRPr lang="en-US"/>
          </a:p>
          <a:p>
            <a:pPr algn="ctr"/>
            <a:endParaRPr lang="en-US"/>
          </a:p>
        </p:txBody>
      </p:sp>
    </p:spTree>
    <p:extLst>
      <p:ext uri="{BB962C8B-B14F-4D97-AF65-F5344CB8AC3E}">
        <p14:creationId xmlns:p14="http://schemas.microsoft.com/office/powerpoint/2010/main" val="23581054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62914-3FB6-6091-637B-E67832BE1829}"/>
            </a:ext>
          </a:extLst>
        </p:cNvPr>
        <p:cNvGrpSpPr/>
        <p:nvPr/>
      </p:nvGrpSpPr>
      <p:grpSpPr>
        <a:xfrm>
          <a:off x="0" y="0"/>
          <a:ext cx="0" cy="0"/>
          <a:chOff x="0" y="0"/>
          <a:chExt cx="0" cy="0"/>
        </a:xfrm>
      </p:grpSpPr>
      <p:sp>
        <p:nvSpPr>
          <p:cNvPr id="48" name="Rectangle 47">
            <a:extLst>
              <a:ext uri="{FF2B5EF4-FFF2-40B4-BE49-F238E27FC236}">
                <a16:creationId xmlns:a16="http://schemas.microsoft.com/office/drawing/2014/main" id="{A9E69758-3546-48B1-594E-74CD6CC0040F}"/>
              </a:ext>
            </a:extLst>
          </p:cNvPr>
          <p:cNvSpPr/>
          <p:nvPr/>
        </p:nvSpPr>
        <p:spPr>
          <a:xfrm>
            <a:off x="5257800" y="4495872"/>
            <a:ext cx="6421666" cy="1850814"/>
          </a:xfrm>
          <a:prstGeom prst="rect">
            <a:avLst/>
          </a:prstGeom>
          <a:noFill/>
          <a:ln w="952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16" name="Straight Connector 215">
            <a:extLst>
              <a:ext uri="{FF2B5EF4-FFF2-40B4-BE49-F238E27FC236}">
                <a16:creationId xmlns:a16="http://schemas.microsoft.com/office/drawing/2014/main" id="{5F9086D4-8541-3419-ABC3-1FD8AFA0D661}"/>
              </a:ext>
            </a:extLst>
          </p:cNvPr>
          <p:cNvCxnSpPr>
            <a:cxnSpLocks/>
          </p:cNvCxnSpPr>
          <p:nvPr/>
        </p:nvCxnSpPr>
        <p:spPr>
          <a:xfrm>
            <a:off x="2327083" y="1450770"/>
            <a:ext cx="2353774" cy="0"/>
          </a:xfrm>
          <a:prstGeom prst="line">
            <a:avLst/>
          </a:prstGeom>
          <a:ln>
            <a:solidFill>
              <a:schemeClr val="bg2">
                <a:lumMod val="65000"/>
              </a:schemeClr>
            </a:solidFill>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4DD2A1B9-08A3-CEFB-251C-EA69F13845A3}"/>
              </a:ext>
            </a:extLst>
          </p:cNvPr>
          <p:cNvSpPr/>
          <p:nvPr/>
        </p:nvSpPr>
        <p:spPr>
          <a:xfrm>
            <a:off x="324467" y="1256642"/>
            <a:ext cx="4484015" cy="5143142"/>
          </a:xfrm>
          <a:prstGeom prst="rect">
            <a:avLst/>
          </a:prstGeom>
          <a:noFill/>
          <a:ln>
            <a:solidFill>
              <a:schemeClr val="accent1">
                <a:lumMod val="40000"/>
                <a:lumOff val="6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2" name="Title 5">
            <a:extLst>
              <a:ext uri="{FF2B5EF4-FFF2-40B4-BE49-F238E27FC236}">
                <a16:creationId xmlns:a16="http://schemas.microsoft.com/office/drawing/2014/main" id="{05F1BE7D-F3B2-6679-F3ED-4300724ECFEA}"/>
              </a:ext>
            </a:extLst>
          </p:cNvPr>
          <p:cNvSpPr txBox="1">
            <a:spLocks/>
          </p:cNvSpPr>
          <p:nvPr/>
        </p:nvSpPr>
        <p:spPr>
          <a:xfrm>
            <a:off x="373798" y="292268"/>
            <a:ext cx="10664354" cy="302840"/>
          </a:xfrm>
          <a:prstGeom prst="rect">
            <a:avLst/>
          </a:prstGeom>
        </p:spPr>
        <p:txBody>
          <a:bodyPr vert="horz" lIns="0" tIns="0" rIns="0" bIns="0" rtlCol="0" anchor="t" anchorCtr="0">
            <a:spAutoFit/>
          </a:bodyPr>
          <a:lstStyle>
            <a:lvl1pPr algn="l" defTabSz="914400" rtl="0" eaLnBrk="1" latinLnBrk="0" hangingPunct="1">
              <a:lnSpc>
                <a:spcPct val="80000"/>
              </a:lnSpc>
              <a:spcBef>
                <a:spcPct val="0"/>
              </a:spcBef>
              <a:buNone/>
              <a:defRPr sz="3600" kern="1200">
                <a:solidFill>
                  <a:schemeClr val="tx1"/>
                </a:solidFill>
                <a:latin typeface="+mj-lt"/>
                <a:ea typeface="+mj-ea"/>
                <a:cs typeface="+mj-cs"/>
              </a:defRPr>
            </a:lvl1pPr>
          </a:lstStyle>
          <a:p>
            <a:pPr lvl="0">
              <a:buClr>
                <a:schemeClr val="dk1"/>
              </a:buClr>
              <a:buSzPts val="3200"/>
              <a:defRPr/>
            </a:pPr>
            <a:r>
              <a:rPr lang="en-US" sz="2400" b="1">
                <a:solidFill>
                  <a:schemeClr val="tx2"/>
                </a:solidFill>
              </a:rPr>
              <a:t>SPARTA - Overview</a:t>
            </a:r>
          </a:p>
        </p:txBody>
      </p:sp>
      <p:sp>
        <p:nvSpPr>
          <p:cNvPr id="26" name="TextBox 25">
            <a:extLst>
              <a:ext uri="{FF2B5EF4-FFF2-40B4-BE49-F238E27FC236}">
                <a16:creationId xmlns:a16="http://schemas.microsoft.com/office/drawing/2014/main" id="{D9FA0C46-1171-D620-BEB2-334C08841544}"/>
              </a:ext>
            </a:extLst>
          </p:cNvPr>
          <p:cNvSpPr txBox="1"/>
          <p:nvPr/>
        </p:nvSpPr>
        <p:spPr>
          <a:xfrm>
            <a:off x="418967" y="827176"/>
            <a:ext cx="11430746" cy="387798"/>
          </a:xfrm>
          <a:prstGeom prst="rect">
            <a:avLst/>
          </a:prstGeom>
        </p:spPr>
        <p:txBody>
          <a:bodyPr vert="horz" lIns="0" tIns="0" rIns="0" bIns="0" rtlCol="0" anchor="t">
            <a:noAutofit/>
          </a:bodyPr>
          <a:lstStyle>
            <a:defPPr>
              <a:defRPr lang="en-US"/>
            </a:defPPr>
            <a:lvl1pPr marR="0" lvl="0" indent="0" fontAlgn="auto">
              <a:lnSpc>
                <a:spcPct val="90000"/>
              </a:lnSpc>
              <a:spcBef>
                <a:spcPts val="0"/>
              </a:spcBef>
              <a:spcAft>
                <a:spcPts val="0"/>
              </a:spcAft>
              <a:buClr>
                <a:srgbClr val="FB4D0A"/>
              </a:buClr>
              <a:buSzTx/>
              <a:buFont typeface="System Font Regular"/>
              <a:buNone/>
              <a:tabLst/>
              <a:defRPr kumimoji="0" sz="1400" b="0" i="0" u="none" strike="noStrike" cap="none" spc="0" normalizeH="0" baseline="0">
                <a:ln>
                  <a:noFill/>
                </a:ln>
                <a:solidFill>
                  <a:srgbClr val="000000"/>
                </a:solidFill>
                <a:effectLst/>
                <a:uLnTx/>
                <a:uFillTx/>
                <a:latin typeface="Calibri" panose="020F0502020204030204" pitchFamily="34" charset="0"/>
                <a:cs typeface="Calibri" panose="020F0502020204030204" pitchFamily="34" charset="0"/>
              </a:defRPr>
            </a:lvl1pPr>
            <a:lvl2pPr marL="290513" indent="0">
              <a:lnSpc>
                <a:spcPct val="90000"/>
              </a:lnSpc>
              <a:spcBef>
                <a:spcPts val="500"/>
              </a:spcBef>
              <a:buFont typeface="System Font Regular"/>
              <a:buNone/>
              <a:tabLst/>
              <a:defRPr sz="2400">
                <a:solidFill>
                  <a:schemeClr val="tx2"/>
                </a:solidFill>
                <a:latin typeface="+mj-lt"/>
              </a:defRPr>
            </a:lvl2pPr>
            <a:lvl3pPr marL="582613" indent="0">
              <a:lnSpc>
                <a:spcPct val="90000"/>
              </a:lnSpc>
              <a:spcBef>
                <a:spcPts val="500"/>
              </a:spcBef>
              <a:buFont typeface="System Font Regular"/>
              <a:buNone/>
              <a:tabLst/>
              <a:defRPr sz="2000">
                <a:solidFill>
                  <a:schemeClr val="tx2"/>
                </a:solidFill>
                <a:latin typeface="+mj-lt"/>
              </a:defRPr>
            </a:lvl3pPr>
            <a:lvl4pPr marL="855663" indent="0">
              <a:lnSpc>
                <a:spcPct val="90000"/>
              </a:lnSpc>
              <a:spcBef>
                <a:spcPts val="500"/>
              </a:spcBef>
              <a:buFont typeface="System Font Regular"/>
              <a:buNone/>
              <a:tabLst/>
              <a:defRPr>
                <a:solidFill>
                  <a:schemeClr val="tx2"/>
                </a:solidFill>
                <a:latin typeface="+mj-lt"/>
              </a:defRPr>
            </a:lvl4pPr>
            <a:lvl5pPr marL="1100138" indent="0">
              <a:lnSpc>
                <a:spcPct val="90000"/>
              </a:lnSpc>
              <a:spcBef>
                <a:spcPts val="500"/>
              </a:spcBef>
              <a:buFont typeface="System Font Regular"/>
              <a:buNone/>
              <a:tabLst/>
              <a:defRPr>
                <a:solidFill>
                  <a:schemeClr val="tx2"/>
                </a:solidFill>
                <a:latin typeface="+mj-lt"/>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defTabSz="457200">
              <a:lnSpc>
                <a:spcPct val="100000"/>
              </a:lnSpc>
              <a:buClrTx/>
              <a:defRPr/>
            </a:pPr>
            <a:r>
              <a:rPr lang="en-IN"/>
              <a:t>SPARTA – A product built upon </a:t>
            </a:r>
            <a:r>
              <a:rPr lang="en-IN" b="1"/>
              <a:t>actuarial domain expertise </a:t>
            </a:r>
            <a:r>
              <a:rPr lang="en-IN"/>
              <a:t>and equipped with </a:t>
            </a:r>
            <a:r>
              <a:rPr lang="en-IN" b="1"/>
              <a:t>artificial intelligence</a:t>
            </a:r>
            <a:endParaRPr kumimoji="0" lang="en-US" sz="1400" b="0" i="0" u="none" strike="noStrike" kern="1200" cap="none" spc="0" normalizeH="0" baseline="0" noProof="0">
              <a:ln>
                <a:noFill/>
              </a:ln>
              <a:solidFill>
                <a:srgbClr val="000000">
                  <a:lumMod val="75000"/>
                  <a:lumOff val="25000"/>
                </a:srgbClr>
              </a:solidFill>
              <a:effectLst/>
              <a:uLnTx/>
              <a:uFillTx/>
              <a:latin typeface="Calibri"/>
              <a:ea typeface="Calibri"/>
              <a:cs typeface="Calibri"/>
            </a:endParaRPr>
          </a:p>
        </p:txBody>
      </p:sp>
      <p:sp>
        <p:nvSpPr>
          <p:cNvPr id="36" name="Text Box 4">
            <a:extLst>
              <a:ext uri="{FF2B5EF4-FFF2-40B4-BE49-F238E27FC236}">
                <a16:creationId xmlns:a16="http://schemas.microsoft.com/office/drawing/2014/main" id="{680867C1-60CE-D9EC-8CBE-F6E1C4D08BA1}"/>
              </a:ext>
            </a:extLst>
          </p:cNvPr>
          <p:cNvSpPr txBox="1">
            <a:spLocks noChangeArrowheads="1"/>
          </p:cNvSpPr>
          <p:nvPr/>
        </p:nvSpPr>
        <p:spPr bwMode="gray">
          <a:xfrm>
            <a:off x="413437" y="1284692"/>
            <a:ext cx="2097024" cy="369332"/>
          </a:xfrm>
          <a:prstGeom prst="rect">
            <a:avLst/>
          </a:prstGeom>
          <a:solidFill>
            <a:schemeClr val="bg1"/>
          </a:solidFill>
          <a:ln>
            <a:noFill/>
          </a:ln>
        </p:spPr>
        <p:txBody>
          <a:bodyPr wrap="square" rtlCol="0">
            <a:spAutoFit/>
          </a:bodyPr>
          <a:lstStyle>
            <a:defPPr>
              <a:defRPr lang="en-US"/>
            </a:defPPr>
            <a:lvl1pPr>
              <a:defRPr sz="1600" b="1">
                <a:solidFill>
                  <a:srgbClr val="FFFFFF"/>
                </a:solidFill>
                <a:latin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chemeClr val="tx1"/>
                </a:solidFill>
                <a:effectLst/>
                <a:uLnTx/>
                <a:uFillTx/>
                <a:latin typeface="Calibri" panose="020F0502020204030204" pitchFamily="34" charset="0"/>
                <a:ea typeface="+mn-ea"/>
                <a:cs typeface="+mn-cs"/>
              </a:rPr>
              <a:t>Problem Statement</a:t>
            </a:r>
          </a:p>
        </p:txBody>
      </p:sp>
      <p:sp>
        <p:nvSpPr>
          <p:cNvPr id="163" name="Text Placeholder 2">
            <a:extLst>
              <a:ext uri="{FF2B5EF4-FFF2-40B4-BE49-F238E27FC236}">
                <a16:creationId xmlns:a16="http://schemas.microsoft.com/office/drawing/2014/main" id="{3CA1B01D-CDEB-E37D-48C8-A12C69783DB8}"/>
              </a:ext>
            </a:extLst>
          </p:cNvPr>
          <p:cNvSpPr txBox="1">
            <a:spLocks/>
          </p:cNvSpPr>
          <p:nvPr/>
        </p:nvSpPr>
        <p:spPr>
          <a:xfrm>
            <a:off x="404750" y="67132"/>
            <a:ext cx="11430000" cy="197318"/>
          </a:xfrm>
          <a:prstGeom prst="rect">
            <a:avLst/>
          </a:prstGeom>
        </p:spPr>
        <p:txBody>
          <a:bodyPr vert="horz" lIns="0" tIns="0" rIns="0" bIns="0" rtlCol="0">
            <a:noAutofit/>
          </a:bodyPr>
          <a:lstStyle>
            <a:lvl1pPr indent="0" defTabSz="914400">
              <a:lnSpc>
                <a:spcPct val="90000"/>
              </a:lnSpc>
              <a:spcBef>
                <a:spcPts val="0"/>
              </a:spcBef>
              <a:buClr>
                <a:schemeClr val="tx1"/>
              </a:buClr>
              <a:buFont typeface="System Font Regular"/>
              <a:buNone/>
              <a:defRPr lang="en-US" sz="1400" b="1" i="0" dirty="0" smtClean="0">
                <a:solidFill>
                  <a:srgbClr val="005071"/>
                </a:solidFill>
                <a:latin typeface="Calibri" panose="020F0502020204030204" pitchFamily="34" charset="0"/>
                <a:cs typeface="Calibri" panose="020F0502020204030204" pitchFamily="34" charset="0"/>
              </a:defRPr>
            </a:lvl1pPr>
            <a:lvl2pPr marL="290513" indent="0" defTabSz="914400">
              <a:lnSpc>
                <a:spcPct val="90000"/>
              </a:lnSpc>
              <a:spcBef>
                <a:spcPts val="500"/>
              </a:spcBef>
              <a:buFont typeface="System Font Regular"/>
              <a:buNone/>
              <a:tabLst/>
              <a:defRPr sz="2400">
                <a:solidFill>
                  <a:schemeClr val="tx2"/>
                </a:solidFill>
                <a:latin typeface="+mj-lt"/>
              </a:defRPr>
            </a:lvl2pPr>
            <a:lvl3pPr marL="582613" indent="0" defTabSz="914400">
              <a:lnSpc>
                <a:spcPct val="90000"/>
              </a:lnSpc>
              <a:spcBef>
                <a:spcPts val="500"/>
              </a:spcBef>
              <a:buFont typeface="System Font Regular"/>
              <a:buNone/>
              <a:tabLst/>
              <a:defRPr sz="2000">
                <a:solidFill>
                  <a:schemeClr val="tx2"/>
                </a:solidFill>
                <a:latin typeface="+mj-lt"/>
              </a:defRPr>
            </a:lvl3pPr>
            <a:lvl4pPr marL="855663" indent="0" defTabSz="914400">
              <a:lnSpc>
                <a:spcPct val="90000"/>
              </a:lnSpc>
              <a:spcBef>
                <a:spcPts val="500"/>
              </a:spcBef>
              <a:buFont typeface="System Font Regular"/>
              <a:buNone/>
              <a:tabLst/>
              <a:defRPr>
                <a:solidFill>
                  <a:schemeClr val="tx2"/>
                </a:solidFill>
                <a:latin typeface="+mj-lt"/>
              </a:defRPr>
            </a:lvl4pPr>
            <a:lvl5pPr marL="1100138" indent="0" defTabSz="914400">
              <a:lnSpc>
                <a:spcPct val="90000"/>
              </a:lnSpc>
              <a:spcBef>
                <a:spcPts val="500"/>
              </a:spcBef>
              <a:buFont typeface="System Font Regular"/>
              <a:buNone/>
              <a:tabLst/>
              <a:defRPr>
                <a:solidFill>
                  <a:schemeClr val="tx2"/>
                </a:solidFill>
                <a:latin typeface="+mj-lt"/>
              </a:defRP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90000"/>
              </a:lnSpc>
              <a:spcBef>
                <a:spcPts val="0"/>
              </a:spcBef>
              <a:spcAft>
                <a:spcPts val="0"/>
              </a:spcAft>
              <a:buClr>
                <a:srgbClr val="000000"/>
              </a:buClr>
              <a:buSzTx/>
              <a:buFont typeface="System Font Regular"/>
              <a:buNone/>
              <a:tabLst/>
              <a:defRPr/>
            </a:pPr>
            <a:endParaRPr kumimoji="0" lang="en-US" sz="1400" b="1" i="0" u="none" strike="noStrike" kern="1200" cap="none" spc="0" normalizeH="0" baseline="0" noProof="0">
              <a:ln>
                <a:noFill/>
              </a:ln>
              <a:solidFill>
                <a:srgbClr val="005071"/>
              </a:solidFill>
              <a:effectLst/>
              <a:uLnTx/>
              <a:uFillTx/>
              <a:latin typeface="Calibri" panose="020F0502020204030204" pitchFamily="34" charset="0"/>
              <a:ea typeface="+mn-ea"/>
              <a:cs typeface="Calibri" panose="020F0502020204030204" pitchFamily="34" charset="0"/>
            </a:endParaRPr>
          </a:p>
        </p:txBody>
      </p:sp>
      <p:cxnSp>
        <p:nvCxnSpPr>
          <p:cNvPr id="214" name="Straight Connector 213">
            <a:extLst>
              <a:ext uri="{FF2B5EF4-FFF2-40B4-BE49-F238E27FC236}">
                <a16:creationId xmlns:a16="http://schemas.microsoft.com/office/drawing/2014/main" id="{6E72F778-B2CE-C839-D15A-9BDEECDF396D}"/>
              </a:ext>
            </a:extLst>
          </p:cNvPr>
          <p:cNvCxnSpPr>
            <a:cxnSpLocks/>
            <a:stCxn id="208" idx="1"/>
          </p:cNvCxnSpPr>
          <p:nvPr/>
        </p:nvCxnSpPr>
        <p:spPr>
          <a:xfrm flipV="1">
            <a:off x="489637" y="4377345"/>
            <a:ext cx="4267420" cy="1"/>
          </a:xfrm>
          <a:prstGeom prst="line">
            <a:avLst/>
          </a:prstGeom>
          <a:ln>
            <a:solidFill>
              <a:schemeClr val="bg2">
                <a:lumMod val="65000"/>
              </a:schemeClr>
            </a:solidFill>
          </a:ln>
        </p:spPr>
        <p:style>
          <a:lnRef idx="1">
            <a:schemeClr val="accent1"/>
          </a:lnRef>
          <a:fillRef idx="0">
            <a:schemeClr val="accent1"/>
          </a:fillRef>
          <a:effectRef idx="0">
            <a:schemeClr val="accent1"/>
          </a:effectRef>
          <a:fontRef idx="minor">
            <a:schemeClr val="tx1"/>
          </a:fontRef>
        </p:style>
      </p:cxnSp>
      <p:sp>
        <p:nvSpPr>
          <p:cNvPr id="208" name="TextBox 207">
            <a:extLst>
              <a:ext uri="{FF2B5EF4-FFF2-40B4-BE49-F238E27FC236}">
                <a16:creationId xmlns:a16="http://schemas.microsoft.com/office/drawing/2014/main" id="{ADC464BD-73D2-CA5A-30D7-8D6A6D35AD1A}"/>
              </a:ext>
            </a:extLst>
          </p:cNvPr>
          <p:cNvSpPr txBox="1"/>
          <p:nvPr/>
        </p:nvSpPr>
        <p:spPr>
          <a:xfrm>
            <a:off x="489637" y="4238846"/>
            <a:ext cx="2795562" cy="276999"/>
          </a:xfrm>
          <a:prstGeom prst="rect">
            <a:avLst/>
          </a:prstGeom>
          <a:solidFill>
            <a:schemeClr val="bg1"/>
          </a:solid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effectLst/>
                <a:uLnTx/>
                <a:uFillTx/>
                <a:latin typeface="Calibri" panose="020F0502020204030204" pitchFamily="34" charset="0"/>
                <a:ea typeface="+mn-ea"/>
                <a:cs typeface="Calibri" panose="020F0502020204030204" pitchFamily="34" charset="0"/>
              </a:rPr>
              <a:t>Benefit/Impact/Output</a:t>
            </a:r>
          </a:p>
        </p:txBody>
      </p:sp>
      <p:sp>
        <p:nvSpPr>
          <p:cNvPr id="19" name="Rectangle 37">
            <a:extLst>
              <a:ext uri="{FF2B5EF4-FFF2-40B4-BE49-F238E27FC236}">
                <a16:creationId xmlns:a16="http://schemas.microsoft.com/office/drawing/2014/main" id="{70651965-FB7D-6C0E-7371-224666688E19}"/>
              </a:ext>
            </a:extLst>
          </p:cNvPr>
          <p:cNvSpPr>
            <a:spLocks noChangeArrowheads="1"/>
          </p:cNvSpPr>
          <p:nvPr/>
        </p:nvSpPr>
        <p:spPr bwMode="gray">
          <a:xfrm>
            <a:off x="413437" y="4592392"/>
            <a:ext cx="4179270" cy="2045895"/>
          </a:xfrm>
          <a:prstGeom prst="rect">
            <a:avLst/>
          </a:prstGeom>
          <a:noFill/>
          <a:ln w="9525">
            <a:noFill/>
            <a:miter lim="800000"/>
            <a:headEnd/>
            <a:tailEnd/>
          </a:ln>
          <a:effectLst/>
        </p:spPr>
        <p:txBody>
          <a:bodyPr lIns="91429" tIns="45714" rIns="45714" bIns="45714" anchor="t"/>
          <a:lstStyle/>
          <a:p>
            <a:pPr marL="285750" lvl="0" indent="-285750">
              <a:buFont typeface="Arial" panose="020B0604020202020204" pitchFamily="34" charset="0"/>
              <a:buChar char="•"/>
              <a:defRPr/>
            </a:pPr>
            <a:r>
              <a:rPr lang="en-US" sz="1400"/>
              <a:t>EXL has developed SPARTA , a platform that takes a product-centric approach to unpackaging legacy data, to enable the recreation and validation of product and processing logic. SPARTA leverages a modular, scalable design allowing for rapid implementation and validation across a wide range of client products</a:t>
            </a:r>
            <a:endParaRPr kumimoji="0" lang="en-US" sz="1400" b="0" i="0" u="none" strike="noStrike" kern="1200" cap="none" spc="0" normalizeH="0" baseline="0" noProof="0">
              <a:ln>
                <a:noFill/>
              </a:ln>
              <a:solidFill>
                <a:srgbClr val="000000"/>
              </a:solidFill>
              <a:effectLst/>
              <a:uLnTx/>
              <a:uFillTx/>
              <a:latin typeface="Calibri" panose="020F0502020204030204"/>
              <a:ea typeface="Calibri"/>
              <a:cs typeface="Calibri"/>
            </a:endParaRPr>
          </a:p>
        </p:txBody>
      </p:sp>
      <p:sp>
        <p:nvSpPr>
          <p:cNvPr id="29" name="Rectangle 37">
            <a:extLst>
              <a:ext uri="{FF2B5EF4-FFF2-40B4-BE49-F238E27FC236}">
                <a16:creationId xmlns:a16="http://schemas.microsoft.com/office/drawing/2014/main" id="{81E5D3B7-A229-DF15-CC0C-4EAC3B50780C}"/>
              </a:ext>
            </a:extLst>
          </p:cNvPr>
          <p:cNvSpPr>
            <a:spLocks noChangeArrowheads="1"/>
          </p:cNvSpPr>
          <p:nvPr/>
        </p:nvSpPr>
        <p:spPr bwMode="gray">
          <a:xfrm>
            <a:off x="324467" y="1560217"/>
            <a:ext cx="4268240" cy="2540130"/>
          </a:xfrm>
          <a:prstGeom prst="rect">
            <a:avLst/>
          </a:prstGeom>
          <a:noFill/>
          <a:ln w="9525">
            <a:noFill/>
            <a:miter lim="800000"/>
            <a:headEnd/>
            <a:tailEnd/>
          </a:ln>
          <a:effectLst/>
        </p:spPr>
        <p:txBody>
          <a:bodyPr lIns="91429" tIns="45714" rIns="45714" bIns="45714" anchor="t"/>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altLang="en-US" sz="1400" b="0" i="0" u="none" strike="noStrike" kern="1200" cap="none" spc="0" normalizeH="0" baseline="0" noProof="0">
              <a:ln>
                <a:noFill/>
              </a:ln>
              <a:solidFill>
                <a:srgbClr val="000000"/>
              </a:solidFill>
              <a:effectLst/>
              <a:uLnTx/>
              <a:uFillTx/>
              <a:latin typeface="Calibri" panose="020F0502020204030204"/>
              <a:ea typeface="+mn-ea"/>
              <a:cs typeface="+mn-cs"/>
            </a:endParaRPr>
          </a:p>
          <a:p>
            <a:pPr marL="285750" indent="-285750" eaLnBrk="0" fontAlgn="base" hangingPunct="0">
              <a:spcBef>
                <a:spcPct val="0"/>
              </a:spcBef>
              <a:spcAft>
                <a:spcPct val="0"/>
              </a:spcAft>
              <a:buFont typeface="Arial" panose="020B0604020202020204" pitchFamily="34" charset="0"/>
              <a:buChar char="•"/>
              <a:defRPr/>
            </a:pPr>
            <a:r>
              <a:rPr lang="en-US" sz="1400"/>
              <a:t>Legacy infrastructure has impeded companies’ ability to address broad customer, digital, cost, consolidation and regulatory trends. To the extent it has been contemplated,</a:t>
            </a:r>
            <a:r>
              <a:rPr lang="en-US" sz="1400">
                <a:solidFill>
                  <a:srgbClr val="000000"/>
                </a:solidFill>
                <a:latin typeface="Calibri" panose="020F0502020204030204"/>
              </a:rPr>
              <a:t> migrating from these outdated systems has proved </a:t>
            </a:r>
            <a:r>
              <a:rPr lang="en-US" sz="1400" b="1" u="sng">
                <a:solidFill>
                  <a:srgbClr val="000000"/>
                </a:solidFill>
                <a:latin typeface="Calibri" panose="020F0502020204030204"/>
              </a:rPr>
              <a:t>challenging and expensive.</a:t>
            </a:r>
            <a:endParaRPr lang="en-US" altLang="en-US" sz="1400">
              <a:solidFill>
                <a:srgbClr val="000000"/>
              </a:solidFill>
              <a:latin typeface="Calibri" panose="020F0502020204030204"/>
            </a:endParaRPr>
          </a:p>
          <a:p>
            <a:pPr marL="285750" lvl="0" indent="-285750">
              <a:spcBef>
                <a:spcPct val="0"/>
              </a:spcBef>
              <a:spcAft>
                <a:spcPct val="0"/>
              </a:spcAft>
              <a:buFont typeface="Arial" panose="020B0604020202020204" pitchFamily="34" charset="0"/>
              <a:buChar char="•"/>
              <a:defRPr/>
            </a:pPr>
            <a:r>
              <a:rPr kumimoji="0" lang="en-US" altLang="en-US" sz="1400" b="0" i="0" u="none" strike="noStrike" kern="1200" cap="none" spc="0" normalizeH="0" baseline="0" noProof="0">
                <a:ln>
                  <a:noFill/>
                </a:ln>
                <a:solidFill>
                  <a:srgbClr val="000000"/>
                </a:solidFill>
                <a:effectLst/>
                <a:uLnTx/>
                <a:uFillTx/>
                <a:latin typeface="Calibri" panose="020F0502020204030204"/>
                <a:ea typeface="+mn-ea"/>
                <a:cs typeface="+mn-cs"/>
              </a:rPr>
              <a:t>Lack of Transparency for Audit purposes (Governance issues)</a:t>
            </a:r>
            <a:endParaRPr lang="en-US"/>
          </a:p>
          <a:p>
            <a:pPr marL="285750" lvl="0" indent="-285750" eaLnBrk="0" fontAlgn="base" hangingPunct="0">
              <a:spcBef>
                <a:spcPct val="0"/>
              </a:spcBef>
              <a:spcAft>
                <a:spcPct val="0"/>
              </a:spcAft>
              <a:buFont typeface="Arial" panose="020B0604020202020204" pitchFamily="34" charset="0"/>
              <a:buChar char="•"/>
              <a:defRPr/>
            </a:pPr>
            <a:r>
              <a:rPr lang="en-US" altLang="en-US" sz="1400">
                <a:solidFill>
                  <a:srgbClr val="000000"/>
                </a:solidFill>
                <a:latin typeface="Calibri" panose="020F0502020204030204"/>
              </a:rPr>
              <a:t>Data security issues due to involvement of third-party vendors.</a:t>
            </a:r>
            <a:endParaRPr lang="en-US" altLang="en-US" sz="1400" b="0" i="0" u="none" strike="noStrike" kern="1200" cap="none" spc="0" normalizeH="0" baseline="0" noProof="0">
              <a:ln>
                <a:noFill/>
              </a:ln>
              <a:solidFill>
                <a:srgbClr val="000000"/>
              </a:solidFill>
              <a:effectLst/>
              <a:uLnTx/>
              <a:uFillTx/>
              <a:latin typeface="Calibri" panose="020F0502020204030204"/>
              <a:ea typeface="Calibri"/>
              <a:cs typeface="Calibri"/>
            </a:endParaRPr>
          </a:p>
        </p:txBody>
      </p:sp>
      <p:sp>
        <p:nvSpPr>
          <p:cNvPr id="2" name="Rectangle 1">
            <a:extLst>
              <a:ext uri="{FF2B5EF4-FFF2-40B4-BE49-F238E27FC236}">
                <a16:creationId xmlns:a16="http://schemas.microsoft.com/office/drawing/2014/main" id="{AF26C278-4AB6-172B-7B64-61FDFABA90C2}"/>
              </a:ext>
            </a:extLst>
          </p:cNvPr>
          <p:cNvSpPr/>
          <p:nvPr/>
        </p:nvSpPr>
        <p:spPr>
          <a:xfrm>
            <a:off x="5029198" y="1249264"/>
            <a:ext cx="6934491" cy="5143142"/>
          </a:xfrm>
          <a:prstGeom prst="rect">
            <a:avLst/>
          </a:prstGeom>
          <a:noFill/>
          <a:ln>
            <a:solidFill>
              <a:schemeClr val="accent1">
                <a:lumMod val="40000"/>
                <a:lumOff val="6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A89A98F9-51AE-E8A0-4AB6-5EDB12C281BC}"/>
              </a:ext>
            </a:extLst>
          </p:cNvPr>
          <p:cNvSpPr txBox="1"/>
          <p:nvPr/>
        </p:nvSpPr>
        <p:spPr>
          <a:xfrm>
            <a:off x="5136194" y="1332625"/>
            <a:ext cx="1909405" cy="276999"/>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effectLst/>
                <a:uLnTx/>
                <a:uFillTx/>
                <a:latin typeface="Calibri" panose="020F0502020204030204" pitchFamily="34" charset="0"/>
                <a:ea typeface="+mn-ea"/>
                <a:cs typeface="Calibri" panose="020F0502020204030204" pitchFamily="34" charset="0"/>
              </a:rPr>
              <a:t>Approach</a:t>
            </a:r>
          </a:p>
        </p:txBody>
      </p:sp>
      <p:cxnSp>
        <p:nvCxnSpPr>
          <p:cNvPr id="5" name="Straight Connector 4">
            <a:extLst>
              <a:ext uri="{FF2B5EF4-FFF2-40B4-BE49-F238E27FC236}">
                <a16:creationId xmlns:a16="http://schemas.microsoft.com/office/drawing/2014/main" id="{183FF16E-1165-917F-CBC9-F774B3EFE40E}"/>
              </a:ext>
            </a:extLst>
          </p:cNvPr>
          <p:cNvCxnSpPr>
            <a:cxnSpLocks/>
          </p:cNvCxnSpPr>
          <p:nvPr/>
        </p:nvCxnSpPr>
        <p:spPr>
          <a:xfrm>
            <a:off x="7140013" y="1452537"/>
            <a:ext cx="4539453" cy="0"/>
          </a:xfrm>
          <a:prstGeom prst="line">
            <a:avLst/>
          </a:prstGeom>
          <a:ln>
            <a:solidFill>
              <a:schemeClr val="bg2">
                <a:lumMod val="65000"/>
              </a:schemeClr>
            </a:solidFill>
          </a:ln>
        </p:spPr>
        <p:style>
          <a:lnRef idx="1">
            <a:schemeClr val="accent1"/>
          </a:lnRef>
          <a:fillRef idx="0">
            <a:schemeClr val="accent1"/>
          </a:fillRef>
          <a:effectRef idx="0">
            <a:schemeClr val="accent1"/>
          </a:effectRef>
          <a:fontRef idx="minor">
            <a:schemeClr val="tx1"/>
          </a:fontRef>
        </p:style>
      </p:cxnSp>
      <p:grpSp>
        <p:nvGrpSpPr>
          <p:cNvPr id="31" name="Group 30">
            <a:extLst>
              <a:ext uri="{FF2B5EF4-FFF2-40B4-BE49-F238E27FC236}">
                <a16:creationId xmlns:a16="http://schemas.microsoft.com/office/drawing/2014/main" id="{1F9859DE-FA88-D74B-C357-E85FDD4C7938}"/>
              </a:ext>
            </a:extLst>
          </p:cNvPr>
          <p:cNvGrpSpPr/>
          <p:nvPr/>
        </p:nvGrpSpPr>
        <p:grpSpPr>
          <a:xfrm>
            <a:off x="4654191" y="2188159"/>
            <a:ext cx="2587115" cy="504279"/>
            <a:chOff x="4654191" y="2198424"/>
            <a:chExt cx="2587115" cy="504279"/>
          </a:xfrm>
        </p:grpSpPr>
        <p:sp>
          <p:nvSpPr>
            <p:cNvPr id="6" name="Rectangle 37">
              <a:extLst>
                <a:ext uri="{FF2B5EF4-FFF2-40B4-BE49-F238E27FC236}">
                  <a16:creationId xmlns:a16="http://schemas.microsoft.com/office/drawing/2014/main" id="{37487F19-8206-EB50-1AA3-8E74B14739E8}"/>
                </a:ext>
              </a:extLst>
            </p:cNvPr>
            <p:cNvSpPr>
              <a:spLocks noChangeArrowheads="1"/>
            </p:cNvSpPr>
            <p:nvPr/>
          </p:nvSpPr>
          <p:spPr bwMode="gray">
            <a:xfrm>
              <a:off x="5136194" y="2198424"/>
              <a:ext cx="2003819" cy="504279"/>
            </a:xfrm>
            <a:prstGeom prst="rect">
              <a:avLst/>
            </a:prstGeom>
            <a:noFill/>
            <a:ln w="9525">
              <a:solidFill>
                <a:schemeClr val="tx1"/>
              </a:solidFill>
              <a:prstDash val="dash"/>
              <a:miter lim="800000"/>
              <a:headEnd/>
              <a:tailEnd/>
            </a:ln>
            <a:effectLst/>
          </p:spPr>
          <p:txBody>
            <a:bodyPr lIns="91429" tIns="45714" rIns="45714" bIns="45714" anchor="t"/>
            <a:lstStyle/>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Calibri" panose="020F0502020204030204"/>
                <a:ea typeface="Calibri"/>
                <a:cs typeface="Calibri"/>
              </a:endParaRPr>
            </a:p>
          </p:txBody>
        </p:sp>
        <p:sp>
          <p:nvSpPr>
            <p:cNvPr id="8" name="Rectangle 4">
              <a:extLst>
                <a:ext uri="{FF2B5EF4-FFF2-40B4-BE49-F238E27FC236}">
                  <a16:creationId xmlns:a16="http://schemas.microsoft.com/office/drawing/2014/main" id="{AE9FF348-0271-6213-4885-7F53F1D51DF1}"/>
                </a:ext>
              </a:extLst>
            </p:cNvPr>
            <p:cNvSpPr>
              <a:spLocks noChangeArrowheads="1"/>
            </p:cNvSpPr>
            <p:nvPr/>
          </p:nvSpPr>
          <p:spPr bwMode="auto">
            <a:xfrm>
              <a:off x="4654191" y="2315596"/>
              <a:ext cx="258711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1" indent="0" algn="ctr"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a:ea typeface="+mn-ea"/>
                  <a:cs typeface="+mn-cs"/>
                </a:rPr>
                <a:t>Extract –</a:t>
              </a:r>
              <a:r>
                <a:rPr lang="en-US" altLang="en-US" sz="1100">
                  <a:solidFill>
                    <a:srgbClr val="000000"/>
                  </a:solidFill>
                  <a:latin typeface="Calibri" panose="020F0502020204030204"/>
                </a:rPr>
                <a:t>Transform - </a:t>
              </a:r>
              <a:r>
                <a:rPr kumimoji="0" lang="en-US" altLang="en-US" sz="1100" b="0" i="0" u="none" strike="noStrike" kern="1200" cap="none" spc="0" normalizeH="0" baseline="0" noProof="0">
                  <a:ln>
                    <a:noFill/>
                  </a:ln>
                  <a:solidFill>
                    <a:srgbClr val="000000"/>
                  </a:solidFill>
                  <a:effectLst/>
                  <a:uLnTx/>
                  <a:uFillTx/>
                  <a:latin typeface="Calibri" panose="020F0502020204030204"/>
                  <a:ea typeface="+mn-ea"/>
                  <a:cs typeface="+mn-cs"/>
                </a:rPr>
                <a:t>Load </a:t>
              </a:r>
            </a:p>
          </p:txBody>
        </p:sp>
      </p:grpSp>
      <p:sp>
        <p:nvSpPr>
          <p:cNvPr id="11" name="Rectangle 37">
            <a:extLst>
              <a:ext uri="{FF2B5EF4-FFF2-40B4-BE49-F238E27FC236}">
                <a16:creationId xmlns:a16="http://schemas.microsoft.com/office/drawing/2014/main" id="{425FBD67-84C5-02A4-E455-D2494770004C}"/>
              </a:ext>
            </a:extLst>
          </p:cNvPr>
          <p:cNvSpPr>
            <a:spLocks noChangeArrowheads="1"/>
          </p:cNvSpPr>
          <p:nvPr/>
        </p:nvSpPr>
        <p:spPr bwMode="gray">
          <a:xfrm>
            <a:off x="7413393" y="2194385"/>
            <a:ext cx="1961233" cy="491826"/>
          </a:xfrm>
          <a:prstGeom prst="rect">
            <a:avLst/>
          </a:prstGeom>
          <a:noFill/>
          <a:ln w="9525">
            <a:solidFill>
              <a:schemeClr val="tx1"/>
            </a:solidFill>
            <a:prstDash val="dash"/>
            <a:miter lim="800000"/>
            <a:headEnd/>
            <a:tailEnd/>
          </a:ln>
          <a:effectLst/>
        </p:spPr>
        <p:txBody>
          <a:bodyPr lIns="91429" tIns="45714" rIns="45714" bIns="45714"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a:ea typeface="+mn-ea"/>
                <a:cs typeface="+mn-cs"/>
              </a:rPr>
              <a:t>Integrating and Processing data using prompts for LLM.</a:t>
            </a:r>
          </a:p>
        </p:txBody>
      </p:sp>
      <p:sp>
        <p:nvSpPr>
          <p:cNvPr id="16" name="Rectangle 37">
            <a:extLst>
              <a:ext uri="{FF2B5EF4-FFF2-40B4-BE49-F238E27FC236}">
                <a16:creationId xmlns:a16="http://schemas.microsoft.com/office/drawing/2014/main" id="{CFBE9416-B1D5-AC5D-778B-B7E7E4584286}"/>
              </a:ext>
            </a:extLst>
          </p:cNvPr>
          <p:cNvSpPr>
            <a:spLocks noChangeArrowheads="1"/>
          </p:cNvSpPr>
          <p:nvPr/>
        </p:nvSpPr>
        <p:spPr bwMode="gray">
          <a:xfrm>
            <a:off x="9748750" y="2208073"/>
            <a:ext cx="1930716" cy="464450"/>
          </a:xfrm>
          <a:prstGeom prst="rect">
            <a:avLst/>
          </a:prstGeom>
          <a:noFill/>
          <a:ln w="9525">
            <a:solidFill>
              <a:schemeClr val="tx1"/>
            </a:solidFill>
            <a:prstDash val="dash"/>
            <a:miter lim="800000"/>
            <a:headEnd/>
            <a:tailEnd/>
          </a:ln>
          <a:effectLst/>
        </p:spPr>
        <p:txBody>
          <a:bodyPr lIns="91429" tIns="45714" rIns="45714" bIns="45714"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a:ea typeface="+mn-ea"/>
                <a:cs typeface="+mn-cs"/>
              </a:rPr>
              <a:t>Standardized output for analysis</a:t>
            </a:r>
          </a:p>
        </p:txBody>
      </p:sp>
      <p:sp>
        <p:nvSpPr>
          <p:cNvPr id="18" name="Arrow: Chevron 17">
            <a:extLst>
              <a:ext uri="{FF2B5EF4-FFF2-40B4-BE49-F238E27FC236}">
                <a16:creationId xmlns:a16="http://schemas.microsoft.com/office/drawing/2014/main" id="{5657CFB7-69C9-BBE9-60E2-CA782C4AAF30}"/>
              </a:ext>
            </a:extLst>
          </p:cNvPr>
          <p:cNvSpPr/>
          <p:nvPr/>
        </p:nvSpPr>
        <p:spPr>
          <a:xfrm>
            <a:off x="5172329" y="1717924"/>
            <a:ext cx="1961233" cy="421245"/>
          </a:xfrm>
          <a:prstGeom prst="chevron">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1300" b="1">
                <a:solidFill>
                  <a:schemeClr val="tx1"/>
                </a:solidFill>
                <a:ea typeface="Calibri"/>
                <a:cs typeface="Calibri"/>
              </a:rPr>
              <a:t>Data Processing</a:t>
            </a:r>
            <a:endParaRPr lang="en-IN" sz="1300" b="1">
              <a:solidFill>
                <a:schemeClr val="tx1"/>
              </a:solidFill>
            </a:endParaRPr>
          </a:p>
        </p:txBody>
      </p:sp>
      <p:sp>
        <p:nvSpPr>
          <p:cNvPr id="21" name="Arrow: Chevron 20">
            <a:extLst>
              <a:ext uri="{FF2B5EF4-FFF2-40B4-BE49-F238E27FC236}">
                <a16:creationId xmlns:a16="http://schemas.microsoft.com/office/drawing/2014/main" id="{6F7B7EB3-8C8B-7156-04F1-302A0B23C807}"/>
              </a:ext>
            </a:extLst>
          </p:cNvPr>
          <p:cNvSpPr/>
          <p:nvPr/>
        </p:nvSpPr>
        <p:spPr>
          <a:xfrm>
            <a:off x="7458239" y="1717924"/>
            <a:ext cx="1961233" cy="421245"/>
          </a:xfrm>
          <a:prstGeom prst="chevron">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72000" rtlCol="0" anchor="ctr"/>
          <a:lstStyle/>
          <a:p>
            <a:pPr lvl="0" algn="ctr">
              <a:defRPr/>
            </a:pPr>
            <a:r>
              <a:rPr lang="en-US" sz="1300" b="1">
                <a:solidFill>
                  <a:schemeClr val="tx1"/>
                </a:solidFill>
                <a:ea typeface="Calibri"/>
                <a:cs typeface="Calibri"/>
              </a:rPr>
              <a:t>Gen AI Enabled Modeling</a:t>
            </a:r>
            <a:endParaRPr lang="en-US" sz="1300" b="1">
              <a:solidFill>
                <a:schemeClr val="tx1"/>
              </a:solidFill>
            </a:endParaRPr>
          </a:p>
        </p:txBody>
      </p:sp>
      <p:sp>
        <p:nvSpPr>
          <p:cNvPr id="22" name="Arrow: Chevron 21">
            <a:extLst>
              <a:ext uri="{FF2B5EF4-FFF2-40B4-BE49-F238E27FC236}">
                <a16:creationId xmlns:a16="http://schemas.microsoft.com/office/drawing/2014/main" id="{D63DB43C-D463-81B5-7E76-0B735903E2BB}"/>
              </a:ext>
            </a:extLst>
          </p:cNvPr>
          <p:cNvSpPr/>
          <p:nvPr/>
        </p:nvSpPr>
        <p:spPr>
          <a:xfrm>
            <a:off x="9748750" y="1717924"/>
            <a:ext cx="1961233" cy="421245"/>
          </a:xfrm>
          <a:prstGeom prst="chevron">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en-US" sz="1300" b="1">
                <a:solidFill>
                  <a:schemeClr val="tx1"/>
                </a:solidFill>
                <a:ea typeface="Calibri"/>
                <a:cs typeface="Calibri"/>
              </a:rPr>
              <a:t>Output</a:t>
            </a:r>
            <a:endParaRPr lang="en-US" sz="1300" b="1">
              <a:solidFill>
                <a:schemeClr val="tx1"/>
              </a:solidFill>
            </a:endParaRPr>
          </a:p>
        </p:txBody>
      </p:sp>
      <p:sp>
        <p:nvSpPr>
          <p:cNvPr id="7" name="Freeform: Shape 6">
            <a:extLst>
              <a:ext uri="{FF2B5EF4-FFF2-40B4-BE49-F238E27FC236}">
                <a16:creationId xmlns:a16="http://schemas.microsoft.com/office/drawing/2014/main" id="{689A9423-F840-B6AC-CAD5-5A20729E3527}"/>
              </a:ext>
            </a:extLst>
          </p:cNvPr>
          <p:cNvSpPr/>
          <p:nvPr/>
        </p:nvSpPr>
        <p:spPr>
          <a:xfrm>
            <a:off x="5150750" y="2779710"/>
            <a:ext cx="1281100" cy="1597635"/>
          </a:xfrm>
          <a:custGeom>
            <a:avLst/>
            <a:gdLst>
              <a:gd name="connsiteX0" fmla="*/ 0 w 1281100"/>
              <a:gd name="connsiteY0" fmla="*/ 128110 h 3123487"/>
              <a:gd name="connsiteX1" fmla="*/ 128110 w 1281100"/>
              <a:gd name="connsiteY1" fmla="*/ 0 h 3123487"/>
              <a:gd name="connsiteX2" fmla="*/ 1152990 w 1281100"/>
              <a:gd name="connsiteY2" fmla="*/ 0 h 3123487"/>
              <a:gd name="connsiteX3" fmla="*/ 1281100 w 1281100"/>
              <a:gd name="connsiteY3" fmla="*/ 128110 h 3123487"/>
              <a:gd name="connsiteX4" fmla="*/ 1281100 w 1281100"/>
              <a:gd name="connsiteY4" fmla="*/ 2995377 h 3123487"/>
              <a:gd name="connsiteX5" fmla="*/ 1152990 w 1281100"/>
              <a:gd name="connsiteY5" fmla="*/ 3123487 h 3123487"/>
              <a:gd name="connsiteX6" fmla="*/ 128110 w 1281100"/>
              <a:gd name="connsiteY6" fmla="*/ 3123487 h 3123487"/>
              <a:gd name="connsiteX7" fmla="*/ 0 w 1281100"/>
              <a:gd name="connsiteY7" fmla="*/ 2995377 h 3123487"/>
              <a:gd name="connsiteX8" fmla="*/ 0 w 1281100"/>
              <a:gd name="connsiteY8" fmla="*/ 128110 h 3123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100" h="3123487">
                <a:moveTo>
                  <a:pt x="0" y="128110"/>
                </a:moveTo>
                <a:cubicBezTo>
                  <a:pt x="0" y="57357"/>
                  <a:pt x="57357" y="0"/>
                  <a:pt x="128110" y="0"/>
                </a:cubicBezTo>
                <a:lnTo>
                  <a:pt x="1152990" y="0"/>
                </a:lnTo>
                <a:cubicBezTo>
                  <a:pt x="1223743" y="0"/>
                  <a:pt x="1281100" y="57357"/>
                  <a:pt x="1281100" y="128110"/>
                </a:cubicBezTo>
                <a:lnTo>
                  <a:pt x="1281100" y="2995377"/>
                </a:lnTo>
                <a:cubicBezTo>
                  <a:pt x="1281100" y="3066130"/>
                  <a:pt x="1223743" y="3123487"/>
                  <a:pt x="1152990" y="3123487"/>
                </a:cubicBezTo>
                <a:lnTo>
                  <a:pt x="128110" y="3123487"/>
                </a:lnTo>
                <a:cubicBezTo>
                  <a:pt x="57357" y="3123487"/>
                  <a:pt x="0" y="3066130"/>
                  <a:pt x="0" y="2995377"/>
                </a:cubicBezTo>
                <a:lnTo>
                  <a:pt x="0" y="128110"/>
                </a:lnTo>
                <a:close/>
              </a:path>
            </a:pathLst>
          </a:custGeom>
          <a:solidFill>
            <a:schemeClr val="accent5"/>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06680" tIns="756000" rIns="106680" bIns="731379" numCol="1" spcCol="1270" anchor="t" anchorCtr="0">
            <a:noAutofit/>
          </a:bodyPr>
          <a:lstStyle/>
          <a:p>
            <a:pPr marL="0" lvl="0" indent="0" algn="ctr" defTabSz="666750">
              <a:lnSpc>
                <a:spcPct val="90000"/>
              </a:lnSpc>
              <a:spcBef>
                <a:spcPct val="0"/>
              </a:spcBef>
              <a:spcAft>
                <a:spcPct val="35000"/>
              </a:spcAft>
              <a:buNone/>
            </a:pPr>
            <a:r>
              <a:rPr lang="en-US" sz="1500" b="1" kern="1200">
                <a:solidFill>
                  <a:schemeClr val="tx1"/>
                </a:solidFill>
              </a:rPr>
              <a:t>Data</a:t>
            </a:r>
          </a:p>
        </p:txBody>
      </p:sp>
      <p:sp>
        <p:nvSpPr>
          <p:cNvPr id="9" name="Oval 8">
            <a:extLst>
              <a:ext uri="{FF2B5EF4-FFF2-40B4-BE49-F238E27FC236}">
                <a16:creationId xmlns:a16="http://schemas.microsoft.com/office/drawing/2014/main" id="{6E35A1A7-8398-D096-6721-184D0621847D}"/>
              </a:ext>
            </a:extLst>
          </p:cNvPr>
          <p:cNvSpPr/>
          <p:nvPr/>
        </p:nvSpPr>
        <p:spPr>
          <a:xfrm>
            <a:off x="5563321" y="2939161"/>
            <a:ext cx="455958" cy="455952"/>
          </a:xfrm>
          <a:prstGeom prst="ellipse">
            <a:avLst/>
          </a:prstGeom>
          <a:blipFill rotWithShape="1">
            <a:blip r:embed="rId3"/>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IN"/>
          </a:p>
        </p:txBody>
      </p:sp>
      <p:sp>
        <p:nvSpPr>
          <p:cNvPr id="10" name="Freeform: Shape 9">
            <a:extLst>
              <a:ext uri="{FF2B5EF4-FFF2-40B4-BE49-F238E27FC236}">
                <a16:creationId xmlns:a16="http://schemas.microsoft.com/office/drawing/2014/main" id="{F5EBC5B2-DBA8-5783-4254-92FAFFE6BA66}"/>
              </a:ext>
            </a:extLst>
          </p:cNvPr>
          <p:cNvSpPr/>
          <p:nvPr/>
        </p:nvSpPr>
        <p:spPr>
          <a:xfrm>
            <a:off x="6470283" y="2779710"/>
            <a:ext cx="1281100" cy="1597635"/>
          </a:xfrm>
          <a:custGeom>
            <a:avLst/>
            <a:gdLst>
              <a:gd name="connsiteX0" fmla="*/ 0 w 1281100"/>
              <a:gd name="connsiteY0" fmla="*/ 128110 h 3123487"/>
              <a:gd name="connsiteX1" fmla="*/ 128110 w 1281100"/>
              <a:gd name="connsiteY1" fmla="*/ 0 h 3123487"/>
              <a:gd name="connsiteX2" fmla="*/ 1152990 w 1281100"/>
              <a:gd name="connsiteY2" fmla="*/ 0 h 3123487"/>
              <a:gd name="connsiteX3" fmla="*/ 1281100 w 1281100"/>
              <a:gd name="connsiteY3" fmla="*/ 128110 h 3123487"/>
              <a:gd name="connsiteX4" fmla="*/ 1281100 w 1281100"/>
              <a:gd name="connsiteY4" fmla="*/ 2995377 h 3123487"/>
              <a:gd name="connsiteX5" fmla="*/ 1152990 w 1281100"/>
              <a:gd name="connsiteY5" fmla="*/ 3123487 h 3123487"/>
              <a:gd name="connsiteX6" fmla="*/ 128110 w 1281100"/>
              <a:gd name="connsiteY6" fmla="*/ 3123487 h 3123487"/>
              <a:gd name="connsiteX7" fmla="*/ 0 w 1281100"/>
              <a:gd name="connsiteY7" fmla="*/ 2995377 h 3123487"/>
              <a:gd name="connsiteX8" fmla="*/ 0 w 1281100"/>
              <a:gd name="connsiteY8" fmla="*/ 128110 h 3123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100" h="3123487">
                <a:moveTo>
                  <a:pt x="0" y="128110"/>
                </a:moveTo>
                <a:cubicBezTo>
                  <a:pt x="0" y="57357"/>
                  <a:pt x="57357" y="0"/>
                  <a:pt x="128110" y="0"/>
                </a:cubicBezTo>
                <a:lnTo>
                  <a:pt x="1152990" y="0"/>
                </a:lnTo>
                <a:cubicBezTo>
                  <a:pt x="1223743" y="0"/>
                  <a:pt x="1281100" y="57357"/>
                  <a:pt x="1281100" y="128110"/>
                </a:cubicBezTo>
                <a:lnTo>
                  <a:pt x="1281100" y="2995377"/>
                </a:lnTo>
                <a:cubicBezTo>
                  <a:pt x="1281100" y="3066130"/>
                  <a:pt x="1223743" y="3123487"/>
                  <a:pt x="1152990" y="3123487"/>
                </a:cubicBezTo>
                <a:lnTo>
                  <a:pt x="128110" y="3123487"/>
                </a:lnTo>
                <a:cubicBezTo>
                  <a:pt x="57357" y="3123487"/>
                  <a:pt x="0" y="3066130"/>
                  <a:pt x="0" y="2995377"/>
                </a:cubicBezTo>
                <a:lnTo>
                  <a:pt x="0" y="128110"/>
                </a:lnTo>
                <a:close/>
              </a:path>
            </a:pathLst>
          </a:custGeom>
          <a:solidFill>
            <a:schemeClr val="accent5"/>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06680" tIns="756000" rIns="106680" bIns="731379" numCol="1" spcCol="1270" anchor="t" anchorCtr="0">
            <a:noAutofit/>
          </a:bodyPr>
          <a:lstStyle/>
          <a:p>
            <a:pPr lvl="0" algn="ctr" defTabSz="666750">
              <a:lnSpc>
                <a:spcPct val="90000"/>
              </a:lnSpc>
              <a:spcBef>
                <a:spcPct val="0"/>
              </a:spcBef>
              <a:spcAft>
                <a:spcPct val="35000"/>
              </a:spcAft>
            </a:pPr>
            <a:r>
              <a:rPr lang="en-US" sz="1400" b="1">
                <a:solidFill>
                  <a:schemeClr val="tx1"/>
                </a:solidFill>
              </a:rPr>
              <a:t>Product</a:t>
            </a:r>
          </a:p>
          <a:p>
            <a:pPr lvl="0" algn="ctr" defTabSz="666750">
              <a:lnSpc>
                <a:spcPct val="90000"/>
              </a:lnSpc>
              <a:spcBef>
                <a:spcPct val="0"/>
              </a:spcBef>
              <a:spcAft>
                <a:spcPct val="35000"/>
              </a:spcAft>
            </a:pPr>
            <a:r>
              <a:rPr lang="en-US" sz="1400" b="1">
                <a:solidFill>
                  <a:schemeClr val="tx1"/>
                </a:solidFill>
              </a:rPr>
              <a:t>Configuration</a:t>
            </a:r>
          </a:p>
        </p:txBody>
      </p:sp>
      <p:sp>
        <p:nvSpPr>
          <p:cNvPr id="12" name="Oval 11">
            <a:extLst>
              <a:ext uri="{FF2B5EF4-FFF2-40B4-BE49-F238E27FC236}">
                <a16:creationId xmlns:a16="http://schemas.microsoft.com/office/drawing/2014/main" id="{C8F5BFCB-4D24-C3EE-E52B-5CC09CE395B7}"/>
              </a:ext>
            </a:extLst>
          </p:cNvPr>
          <p:cNvSpPr/>
          <p:nvPr/>
        </p:nvSpPr>
        <p:spPr>
          <a:xfrm>
            <a:off x="6864949" y="2921258"/>
            <a:ext cx="491766" cy="491760"/>
          </a:xfrm>
          <a:prstGeom prst="ellipse">
            <a:avLst/>
          </a:prstGeom>
          <a:blipFill>
            <a:blip r:embed="rId4">
              <a:extLst>
                <a:ext uri="{28A0092B-C50C-407E-A947-70E740481C1C}">
                  <a14:useLocalDpi xmlns:a14="http://schemas.microsoft.com/office/drawing/2010/main" val="0"/>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IN"/>
          </a:p>
        </p:txBody>
      </p:sp>
      <p:sp>
        <p:nvSpPr>
          <p:cNvPr id="13" name="Freeform: Shape 12">
            <a:extLst>
              <a:ext uri="{FF2B5EF4-FFF2-40B4-BE49-F238E27FC236}">
                <a16:creationId xmlns:a16="http://schemas.microsoft.com/office/drawing/2014/main" id="{43D524D7-78C1-4454-92A1-241026667CFA}"/>
              </a:ext>
            </a:extLst>
          </p:cNvPr>
          <p:cNvSpPr/>
          <p:nvPr/>
        </p:nvSpPr>
        <p:spPr>
          <a:xfrm>
            <a:off x="7789816" y="2779710"/>
            <a:ext cx="1281100" cy="1597635"/>
          </a:xfrm>
          <a:custGeom>
            <a:avLst/>
            <a:gdLst>
              <a:gd name="connsiteX0" fmla="*/ 0 w 1281100"/>
              <a:gd name="connsiteY0" fmla="*/ 128110 h 3123487"/>
              <a:gd name="connsiteX1" fmla="*/ 128110 w 1281100"/>
              <a:gd name="connsiteY1" fmla="*/ 0 h 3123487"/>
              <a:gd name="connsiteX2" fmla="*/ 1152990 w 1281100"/>
              <a:gd name="connsiteY2" fmla="*/ 0 h 3123487"/>
              <a:gd name="connsiteX3" fmla="*/ 1281100 w 1281100"/>
              <a:gd name="connsiteY3" fmla="*/ 128110 h 3123487"/>
              <a:gd name="connsiteX4" fmla="*/ 1281100 w 1281100"/>
              <a:gd name="connsiteY4" fmla="*/ 2995377 h 3123487"/>
              <a:gd name="connsiteX5" fmla="*/ 1152990 w 1281100"/>
              <a:gd name="connsiteY5" fmla="*/ 3123487 h 3123487"/>
              <a:gd name="connsiteX6" fmla="*/ 128110 w 1281100"/>
              <a:gd name="connsiteY6" fmla="*/ 3123487 h 3123487"/>
              <a:gd name="connsiteX7" fmla="*/ 0 w 1281100"/>
              <a:gd name="connsiteY7" fmla="*/ 2995377 h 3123487"/>
              <a:gd name="connsiteX8" fmla="*/ 0 w 1281100"/>
              <a:gd name="connsiteY8" fmla="*/ 128110 h 3123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100" h="3123487">
                <a:moveTo>
                  <a:pt x="0" y="128110"/>
                </a:moveTo>
                <a:cubicBezTo>
                  <a:pt x="0" y="57357"/>
                  <a:pt x="57357" y="0"/>
                  <a:pt x="128110" y="0"/>
                </a:cubicBezTo>
                <a:lnTo>
                  <a:pt x="1152990" y="0"/>
                </a:lnTo>
                <a:cubicBezTo>
                  <a:pt x="1223743" y="0"/>
                  <a:pt x="1281100" y="57357"/>
                  <a:pt x="1281100" y="128110"/>
                </a:cubicBezTo>
                <a:lnTo>
                  <a:pt x="1281100" y="2995377"/>
                </a:lnTo>
                <a:cubicBezTo>
                  <a:pt x="1281100" y="3066130"/>
                  <a:pt x="1223743" y="3123487"/>
                  <a:pt x="1152990" y="3123487"/>
                </a:cubicBezTo>
                <a:lnTo>
                  <a:pt x="128110" y="3123487"/>
                </a:lnTo>
                <a:cubicBezTo>
                  <a:pt x="57357" y="3123487"/>
                  <a:pt x="0" y="3066130"/>
                  <a:pt x="0" y="2995377"/>
                </a:cubicBezTo>
                <a:lnTo>
                  <a:pt x="0" y="128110"/>
                </a:lnTo>
                <a:close/>
              </a:path>
            </a:pathLst>
          </a:custGeom>
          <a:solidFill>
            <a:schemeClr val="accent5"/>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06680" tIns="756000" rIns="106680" bIns="731379" numCol="1" spcCol="1270" anchor="t" anchorCtr="0">
            <a:noAutofit/>
          </a:bodyPr>
          <a:lstStyle/>
          <a:p>
            <a:pPr marL="0" lvl="0" indent="0" algn="ctr" defTabSz="666750">
              <a:lnSpc>
                <a:spcPct val="90000"/>
              </a:lnSpc>
              <a:spcBef>
                <a:spcPct val="0"/>
              </a:spcBef>
              <a:spcAft>
                <a:spcPct val="35000"/>
              </a:spcAft>
              <a:buNone/>
            </a:pPr>
            <a:r>
              <a:rPr lang="en-US" sz="1500" b="1">
                <a:solidFill>
                  <a:schemeClr val="tx1"/>
                </a:solidFill>
              </a:rPr>
              <a:t>Assumptions</a:t>
            </a:r>
            <a:endParaRPr lang="en-US" sz="1500" b="1" kern="1200">
              <a:solidFill>
                <a:schemeClr val="tx1"/>
              </a:solidFill>
            </a:endParaRPr>
          </a:p>
        </p:txBody>
      </p:sp>
      <p:sp>
        <p:nvSpPr>
          <p:cNvPr id="14" name="Oval 13">
            <a:extLst>
              <a:ext uri="{FF2B5EF4-FFF2-40B4-BE49-F238E27FC236}">
                <a16:creationId xmlns:a16="http://schemas.microsoft.com/office/drawing/2014/main" id="{90362774-2D8C-C42E-0BB4-0387B8A9FAD4}"/>
              </a:ext>
            </a:extLst>
          </p:cNvPr>
          <p:cNvSpPr/>
          <p:nvPr/>
        </p:nvSpPr>
        <p:spPr>
          <a:xfrm>
            <a:off x="8202387" y="2939161"/>
            <a:ext cx="455958" cy="455952"/>
          </a:xfrm>
          <a:prstGeom prst="ellipse">
            <a:avLst/>
          </a:prstGeom>
          <a:blipFill>
            <a:blip r:embed="rId5">
              <a:extLst>
                <a:ext uri="{28A0092B-C50C-407E-A947-70E740481C1C}">
                  <a14:useLocalDpi xmlns:a14="http://schemas.microsoft.com/office/drawing/2010/main" val="0"/>
                </a:ext>
              </a:extLst>
            </a:blip>
            <a:srcRect/>
            <a:stretch>
              <a:fillRect t="-4000" b="-4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IN"/>
          </a:p>
        </p:txBody>
      </p:sp>
      <p:sp>
        <p:nvSpPr>
          <p:cNvPr id="15" name="Freeform: Shape 14">
            <a:extLst>
              <a:ext uri="{FF2B5EF4-FFF2-40B4-BE49-F238E27FC236}">
                <a16:creationId xmlns:a16="http://schemas.microsoft.com/office/drawing/2014/main" id="{E24E4CA9-ED12-9D88-6712-E9442C9A2E78}"/>
              </a:ext>
            </a:extLst>
          </p:cNvPr>
          <p:cNvSpPr/>
          <p:nvPr/>
        </p:nvSpPr>
        <p:spPr>
          <a:xfrm>
            <a:off x="9109349" y="2779710"/>
            <a:ext cx="1281100" cy="1597635"/>
          </a:xfrm>
          <a:custGeom>
            <a:avLst/>
            <a:gdLst>
              <a:gd name="connsiteX0" fmla="*/ 0 w 1281100"/>
              <a:gd name="connsiteY0" fmla="*/ 128110 h 3123487"/>
              <a:gd name="connsiteX1" fmla="*/ 128110 w 1281100"/>
              <a:gd name="connsiteY1" fmla="*/ 0 h 3123487"/>
              <a:gd name="connsiteX2" fmla="*/ 1152990 w 1281100"/>
              <a:gd name="connsiteY2" fmla="*/ 0 h 3123487"/>
              <a:gd name="connsiteX3" fmla="*/ 1281100 w 1281100"/>
              <a:gd name="connsiteY3" fmla="*/ 128110 h 3123487"/>
              <a:gd name="connsiteX4" fmla="*/ 1281100 w 1281100"/>
              <a:gd name="connsiteY4" fmla="*/ 2995377 h 3123487"/>
              <a:gd name="connsiteX5" fmla="*/ 1152990 w 1281100"/>
              <a:gd name="connsiteY5" fmla="*/ 3123487 h 3123487"/>
              <a:gd name="connsiteX6" fmla="*/ 128110 w 1281100"/>
              <a:gd name="connsiteY6" fmla="*/ 3123487 h 3123487"/>
              <a:gd name="connsiteX7" fmla="*/ 0 w 1281100"/>
              <a:gd name="connsiteY7" fmla="*/ 2995377 h 3123487"/>
              <a:gd name="connsiteX8" fmla="*/ 0 w 1281100"/>
              <a:gd name="connsiteY8" fmla="*/ 128110 h 3123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100" h="3123487">
                <a:moveTo>
                  <a:pt x="0" y="128110"/>
                </a:moveTo>
                <a:cubicBezTo>
                  <a:pt x="0" y="57357"/>
                  <a:pt x="57357" y="0"/>
                  <a:pt x="128110" y="0"/>
                </a:cubicBezTo>
                <a:lnTo>
                  <a:pt x="1152990" y="0"/>
                </a:lnTo>
                <a:cubicBezTo>
                  <a:pt x="1223743" y="0"/>
                  <a:pt x="1281100" y="57357"/>
                  <a:pt x="1281100" y="128110"/>
                </a:cubicBezTo>
                <a:lnTo>
                  <a:pt x="1281100" y="2995377"/>
                </a:lnTo>
                <a:cubicBezTo>
                  <a:pt x="1281100" y="3066130"/>
                  <a:pt x="1223743" y="3123487"/>
                  <a:pt x="1152990" y="3123487"/>
                </a:cubicBezTo>
                <a:lnTo>
                  <a:pt x="128110" y="3123487"/>
                </a:lnTo>
                <a:cubicBezTo>
                  <a:pt x="57357" y="3123487"/>
                  <a:pt x="0" y="3066130"/>
                  <a:pt x="0" y="2995377"/>
                </a:cubicBezTo>
                <a:lnTo>
                  <a:pt x="0" y="128110"/>
                </a:lnTo>
                <a:close/>
              </a:path>
            </a:pathLst>
          </a:custGeom>
          <a:solidFill>
            <a:schemeClr val="accent5"/>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06680" tIns="756000" rIns="106680" bIns="731379" numCol="1" spcCol="1270" anchor="t" anchorCtr="0">
            <a:noAutofit/>
          </a:bodyPr>
          <a:lstStyle/>
          <a:p>
            <a:pPr marL="0" lvl="0" indent="0" algn="ctr" defTabSz="666750">
              <a:lnSpc>
                <a:spcPct val="90000"/>
              </a:lnSpc>
              <a:spcBef>
                <a:spcPct val="0"/>
              </a:spcBef>
              <a:spcAft>
                <a:spcPct val="35000"/>
              </a:spcAft>
              <a:buNone/>
            </a:pPr>
            <a:r>
              <a:rPr lang="en-US" sz="1500" b="1" kern="1200">
                <a:solidFill>
                  <a:schemeClr val="tx1"/>
                </a:solidFill>
              </a:rPr>
              <a:t>Calculation</a:t>
            </a:r>
          </a:p>
        </p:txBody>
      </p:sp>
      <p:sp>
        <p:nvSpPr>
          <p:cNvPr id="17" name="Oval 16">
            <a:extLst>
              <a:ext uri="{FF2B5EF4-FFF2-40B4-BE49-F238E27FC236}">
                <a16:creationId xmlns:a16="http://schemas.microsoft.com/office/drawing/2014/main" id="{18F853BC-E6A0-31BE-91C0-5FDADE458668}"/>
              </a:ext>
            </a:extLst>
          </p:cNvPr>
          <p:cNvSpPr/>
          <p:nvPr/>
        </p:nvSpPr>
        <p:spPr>
          <a:xfrm>
            <a:off x="9521920" y="2939161"/>
            <a:ext cx="455958" cy="455952"/>
          </a:xfrm>
          <a:prstGeom prst="ellipse">
            <a:avLst/>
          </a:prstGeom>
          <a:blipFill>
            <a:blip r:embed="rId6">
              <a:extLst>
                <a:ext uri="{28A0092B-C50C-407E-A947-70E740481C1C}">
                  <a14:useLocalDpi xmlns:a14="http://schemas.microsoft.com/office/drawing/2010/main" val="0"/>
                </a:ext>
              </a:extLst>
            </a:blip>
            <a:srcRect/>
            <a:stretch>
              <a:fillRect l="-21000" r="-21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IN"/>
          </a:p>
        </p:txBody>
      </p:sp>
      <p:sp>
        <p:nvSpPr>
          <p:cNvPr id="20" name="Freeform: Shape 19">
            <a:extLst>
              <a:ext uri="{FF2B5EF4-FFF2-40B4-BE49-F238E27FC236}">
                <a16:creationId xmlns:a16="http://schemas.microsoft.com/office/drawing/2014/main" id="{CC630C40-E7FB-EC77-6D4B-8566BF050A20}"/>
              </a:ext>
            </a:extLst>
          </p:cNvPr>
          <p:cNvSpPr/>
          <p:nvPr/>
        </p:nvSpPr>
        <p:spPr>
          <a:xfrm>
            <a:off x="10428882" y="2779710"/>
            <a:ext cx="1281100" cy="1597635"/>
          </a:xfrm>
          <a:custGeom>
            <a:avLst/>
            <a:gdLst>
              <a:gd name="connsiteX0" fmla="*/ 0 w 1281100"/>
              <a:gd name="connsiteY0" fmla="*/ 128110 h 3123487"/>
              <a:gd name="connsiteX1" fmla="*/ 128110 w 1281100"/>
              <a:gd name="connsiteY1" fmla="*/ 0 h 3123487"/>
              <a:gd name="connsiteX2" fmla="*/ 1152990 w 1281100"/>
              <a:gd name="connsiteY2" fmla="*/ 0 h 3123487"/>
              <a:gd name="connsiteX3" fmla="*/ 1281100 w 1281100"/>
              <a:gd name="connsiteY3" fmla="*/ 128110 h 3123487"/>
              <a:gd name="connsiteX4" fmla="*/ 1281100 w 1281100"/>
              <a:gd name="connsiteY4" fmla="*/ 2995377 h 3123487"/>
              <a:gd name="connsiteX5" fmla="*/ 1152990 w 1281100"/>
              <a:gd name="connsiteY5" fmla="*/ 3123487 h 3123487"/>
              <a:gd name="connsiteX6" fmla="*/ 128110 w 1281100"/>
              <a:gd name="connsiteY6" fmla="*/ 3123487 h 3123487"/>
              <a:gd name="connsiteX7" fmla="*/ 0 w 1281100"/>
              <a:gd name="connsiteY7" fmla="*/ 2995377 h 3123487"/>
              <a:gd name="connsiteX8" fmla="*/ 0 w 1281100"/>
              <a:gd name="connsiteY8" fmla="*/ 128110 h 3123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100" h="3123487">
                <a:moveTo>
                  <a:pt x="0" y="128110"/>
                </a:moveTo>
                <a:cubicBezTo>
                  <a:pt x="0" y="57357"/>
                  <a:pt x="57357" y="0"/>
                  <a:pt x="128110" y="0"/>
                </a:cubicBezTo>
                <a:lnTo>
                  <a:pt x="1152990" y="0"/>
                </a:lnTo>
                <a:cubicBezTo>
                  <a:pt x="1223743" y="0"/>
                  <a:pt x="1281100" y="57357"/>
                  <a:pt x="1281100" y="128110"/>
                </a:cubicBezTo>
                <a:lnTo>
                  <a:pt x="1281100" y="2995377"/>
                </a:lnTo>
                <a:cubicBezTo>
                  <a:pt x="1281100" y="3066130"/>
                  <a:pt x="1223743" y="3123487"/>
                  <a:pt x="1152990" y="3123487"/>
                </a:cubicBezTo>
                <a:lnTo>
                  <a:pt x="128110" y="3123487"/>
                </a:lnTo>
                <a:cubicBezTo>
                  <a:pt x="57357" y="3123487"/>
                  <a:pt x="0" y="3066130"/>
                  <a:pt x="0" y="2995377"/>
                </a:cubicBezTo>
                <a:lnTo>
                  <a:pt x="0" y="128110"/>
                </a:lnTo>
                <a:close/>
              </a:path>
            </a:pathLst>
          </a:custGeom>
          <a:solidFill>
            <a:schemeClr val="accent5"/>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06680" tIns="756000" rIns="106680" bIns="731379" numCol="1" spcCol="1270" anchor="t" anchorCtr="0">
            <a:noAutofit/>
          </a:bodyPr>
          <a:lstStyle/>
          <a:p>
            <a:pPr marL="0" lvl="0" indent="0" algn="ctr" defTabSz="666750">
              <a:lnSpc>
                <a:spcPct val="90000"/>
              </a:lnSpc>
              <a:spcBef>
                <a:spcPct val="0"/>
              </a:spcBef>
              <a:spcAft>
                <a:spcPct val="35000"/>
              </a:spcAft>
              <a:buNone/>
            </a:pPr>
            <a:r>
              <a:rPr lang="en-US" sz="1500" b="1" kern="1200">
                <a:solidFill>
                  <a:schemeClr val="tx1"/>
                </a:solidFill>
              </a:rPr>
              <a:t>Validation</a:t>
            </a:r>
          </a:p>
        </p:txBody>
      </p:sp>
      <p:sp>
        <p:nvSpPr>
          <p:cNvPr id="28" name="Oval 27">
            <a:extLst>
              <a:ext uri="{FF2B5EF4-FFF2-40B4-BE49-F238E27FC236}">
                <a16:creationId xmlns:a16="http://schemas.microsoft.com/office/drawing/2014/main" id="{976BD051-7191-99CE-A75B-03A1635B1F8F}"/>
              </a:ext>
            </a:extLst>
          </p:cNvPr>
          <p:cNvSpPr/>
          <p:nvPr/>
        </p:nvSpPr>
        <p:spPr>
          <a:xfrm>
            <a:off x="10862179" y="2959886"/>
            <a:ext cx="414507" cy="414502"/>
          </a:xfrm>
          <a:prstGeom prst="ellipse">
            <a:avLst/>
          </a:prstGeom>
          <a:blipFill>
            <a:blip r:embed="rId7">
              <a:extLst>
                <a:ext uri="{28A0092B-C50C-407E-A947-70E740481C1C}">
                  <a14:useLocalDpi xmlns:a14="http://schemas.microsoft.com/office/drawing/2010/main" val="0"/>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IN"/>
          </a:p>
        </p:txBody>
      </p:sp>
      <p:sp>
        <p:nvSpPr>
          <p:cNvPr id="30" name="Arrow: Right 29">
            <a:extLst>
              <a:ext uri="{FF2B5EF4-FFF2-40B4-BE49-F238E27FC236}">
                <a16:creationId xmlns:a16="http://schemas.microsoft.com/office/drawing/2014/main" id="{8E65AC56-3CA5-AA78-1612-67EC18FFA7AF}"/>
              </a:ext>
            </a:extLst>
          </p:cNvPr>
          <p:cNvSpPr/>
          <p:nvPr/>
        </p:nvSpPr>
        <p:spPr>
          <a:xfrm>
            <a:off x="5413119" y="4087524"/>
            <a:ext cx="6034494" cy="198700"/>
          </a:xfrm>
          <a:prstGeom prst="rightArrow">
            <a:avLst/>
          </a:prstGeom>
          <a:solidFill>
            <a:schemeClr val="bg1"/>
          </a:solidFill>
        </p:spPr>
        <p:style>
          <a:lnRef idx="2">
            <a:schemeClr val="lt1">
              <a:hueOff val="0"/>
              <a:satOff val="0"/>
              <a:lumOff val="0"/>
              <a:alphaOff val="0"/>
            </a:schemeClr>
          </a:lnRef>
          <a:fillRef idx="1">
            <a:scrgbClr r="0" g="0" b="0"/>
          </a:fillRef>
          <a:effectRef idx="0">
            <a:schemeClr val="accent1">
              <a:tint val="6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41" name="Arrow: Down 40">
            <a:extLst>
              <a:ext uri="{FF2B5EF4-FFF2-40B4-BE49-F238E27FC236}">
                <a16:creationId xmlns:a16="http://schemas.microsoft.com/office/drawing/2014/main" id="{00BAA1E9-B148-3385-24F5-DAEC3D2BA1A4}"/>
              </a:ext>
            </a:extLst>
          </p:cNvPr>
          <p:cNvSpPr/>
          <p:nvPr/>
        </p:nvSpPr>
        <p:spPr>
          <a:xfrm rot="16200000">
            <a:off x="10353612" y="4467156"/>
            <a:ext cx="419915" cy="1551876"/>
          </a:xfrm>
          <a:prstGeom prst="downArrow">
            <a:avLst/>
          </a:prstGeom>
          <a:solidFill>
            <a:srgbClr val="FDB2A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2" name="TextBox 41">
            <a:extLst>
              <a:ext uri="{FF2B5EF4-FFF2-40B4-BE49-F238E27FC236}">
                <a16:creationId xmlns:a16="http://schemas.microsoft.com/office/drawing/2014/main" id="{86C29BDA-C9CD-A481-4CEF-3E15045DF6C7}"/>
              </a:ext>
            </a:extLst>
          </p:cNvPr>
          <p:cNvSpPr txBox="1"/>
          <p:nvPr/>
        </p:nvSpPr>
        <p:spPr>
          <a:xfrm>
            <a:off x="9967672" y="5119791"/>
            <a:ext cx="1317582" cy="2544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alibri" panose="020F0502020204030204"/>
                <a:ea typeface="+mn-ea"/>
                <a:cs typeface="+mn-cs"/>
              </a:rPr>
              <a:t>Conversion Flow</a:t>
            </a:r>
            <a:endParaRPr kumimoji="0" lang="en-IN" sz="1200" b="0" i="0" u="none" strike="noStrike" kern="1200" cap="none" spc="0" normalizeH="0" baseline="0" noProof="0">
              <a:ln>
                <a:noFill/>
              </a:ln>
              <a:solidFill>
                <a:srgbClr val="000000"/>
              </a:solidFill>
              <a:effectLst/>
              <a:uLnTx/>
              <a:uFillTx/>
              <a:latin typeface="Calibri" panose="020F0502020204030204"/>
              <a:ea typeface="+mn-ea"/>
              <a:cs typeface="+mn-cs"/>
            </a:endParaRPr>
          </a:p>
        </p:txBody>
      </p:sp>
      <p:grpSp>
        <p:nvGrpSpPr>
          <p:cNvPr id="3" name="Group 2">
            <a:extLst>
              <a:ext uri="{FF2B5EF4-FFF2-40B4-BE49-F238E27FC236}">
                <a16:creationId xmlns:a16="http://schemas.microsoft.com/office/drawing/2014/main" id="{597C5CB6-36A9-7858-C9AF-82C783BAC0A9}"/>
              </a:ext>
            </a:extLst>
          </p:cNvPr>
          <p:cNvGrpSpPr/>
          <p:nvPr/>
        </p:nvGrpSpPr>
        <p:grpSpPr>
          <a:xfrm>
            <a:off x="5968283" y="4725966"/>
            <a:ext cx="3722776" cy="1522425"/>
            <a:chOff x="5796833" y="4725966"/>
            <a:chExt cx="3722776" cy="1522425"/>
          </a:xfrm>
        </p:grpSpPr>
        <p:sp>
          <p:nvSpPr>
            <p:cNvPr id="34" name="Arrow: Down 33">
              <a:extLst>
                <a:ext uri="{FF2B5EF4-FFF2-40B4-BE49-F238E27FC236}">
                  <a16:creationId xmlns:a16="http://schemas.microsoft.com/office/drawing/2014/main" id="{660A0FB8-8964-A61B-7CDE-1D265302DB59}"/>
                </a:ext>
              </a:extLst>
            </p:cNvPr>
            <p:cNvSpPr/>
            <p:nvPr/>
          </p:nvSpPr>
          <p:spPr>
            <a:xfrm rot="16200000">
              <a:off x="7508736" y="5623276"/>
              <a:ext cx="419915" cy="830316"/>
            </a:xfrm>
            <a:prstGeom prst="downArrow">
              <a:avLst/>
            </a:prstGeom>
            <a:solidFill>
              <a:srgbClr val="FDB2A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1C602884-A6E9-5ED5-EE99-79808A64F878}"/>
                </a:ext>
              </a:extLst>
            </p:cNvPr>
            <p:cNvSpPr/>
            <p:nvPr/>
          </p:nvSpPr>
          <p:spPr>
            <a:xfrm>
              <a:off x="6970330" y="4725966"/>
              <a:ext cx="1375778" cy="301839"/>
            </a:xfrm>
            <a:prstGeom prst="rect">
              <a:avLst/>
            </a:prstGeom>
            <a:solidFill>
              <a:schemeClr val="tx2">
                <a:lumMod val="50000"/>
                <a:lumOff val="50000"/>
              </a:schemeClr>
            </a:solidFill>
            <a:ln w="12700" cap="flat" cmpd="sng" algn="ctr">
              <a:noFill/>
              <a:prstDash val="solid"/>
              <a:miter lim="800000"/>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US" sz="1500" b="1" i="0" u="none" strike="noStrike" kern="0" cap="none" spc="0" normalizeH="0" baseline="0" noProof="0">
                  <a:ln>
                    <a:noFill/>
                  </a:ln>
                  <a:solidFill>
                    <a:prstClr val="white"/>
                  </a:solidFill>
                  <a:effectLst>
                    <a:outerShdw blurRad="38100" dist="38100" dir="2700000" algn="tl">
                      <a:srgbClr val="000000">
                        <a:alpha val="43137"/>
                      </a:srgbClr>
                    </a:outerShdw>
                  </a:effectLst>
                  <a:uLnTx/>
                  <a:uFillTx/>
                  <a:latin typeface="Calibri Light" panose="020F0302020204030204"/>
                  <a:ea typeface="+mn-ea"/>
                  <a:cs typeface="+mn-cs"/>
                </a:rPr>
                <a:t>Legacy System</a:t>
              </a:r>
            </a:p>
          </p:txBody>
        </p:sp>
        <p:sp>
          <p:nvSpPr>
            <p:cNvPr id="38" name="Rectangle 37">
              <a:extLst>
                <a:ext uri="{FF2B5EF4-FFF2-40B4-BE49-F238E27FC236}">
                  <a16:creationId xmlns:a16="http://schemas.microsoft.com/office/drawing/2014/main" id="{DCB4CF1C-4A9C-28C1-32C5-B5DC9806F9D6}"/>
                </a:ext>
              </a:extLst>
            </p:cNvPr>
            <p:cNvSpPr/>
            <p:nvPr/>
          </p:nvSpPr>
          <p:spPr>
            <a:xfrm>
              <a:off x="5796833" y="5901235"/>
              <a:ext cx="1250707" cy="274399"/>
            </a:xfrm>
            <a:prstGeom prst="rect">
              <a:avLst/>
            </a:prstGeom>
            <a:solidFill>
              <a:srgbClr val="00B0F0"/>
            </a:solidFill>
            <a:ln w="12700" cap="flat" cmpd="sng" algn="ctr">
              <a:noFill/>
              <a:prstDash val="solid"/>
              <a:miter lim="800000"/>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US" sz="1500" b="1" i="0" u="none" strike="noStrike" kern="0" cap="none" spc="0" normalizeH="0" baseline="0" noProof="0">
                  <a:ln>
                    <a:noFill/>
                  </a:ln>
                  <a:solidFill>
                    <a:prstClr val="white"/>
                  </a:solidFill>
                  <a:effectLst>
                    <a:outerShdw blurRad="38100" dist="38100" dir="2700000" algn="tl">
                      <a:srgbClr val="000000">
                        <a:alpha val="43137"/>
                      </a:srgbClr>
                    </a:outerShdw>
                  </a:effectLst>
                  <a:uLnTx/>
                  <a:uFillTx/>
                  <a:latin typeface="Calibri Light" panose="020F0302020204030204"/>
                  <a:ea typeface="+mn-ea"/>
                  <a:cs typeface="+mn-cs"/>
                </a:rPr>
                <a:t>SPARTA</a:t>
              </a:r>
            </a:p>
          </p:txBody>
        </p:sp>
        <p:sp>
          <p:nvSpPr>
            <p:cNvPr id="39" name="Rectangle 38">
              <a:extLst>
                <a:ext uri="{FF2B5EF4-FFF2-40B4-BE49-F238E27FC236}">
                  <a16:creationId xmlns:a16="http://schemas.microsoft.com/office/drawing/2014/main" id="{D4E21609-9E31-4BAF-BCC7-574729829D15}"/>
                </a:ext>
              </a:extLst>
            </p:cNvPr>
            <p:cNvSpPr/>
            <p:nvPr/>
          </p:nvSpPr>
          <p:spPr>
            <a:xfrm>
              <a:off x="8268902" y="5901235"/>
              <a:ext cx="1250707" cy="274399"/>
            </a:xfrm>
            <a:prstGeom prst="rect">
              <a:avLst/>
            </a:prstGeom>
            <a:solidFill>
              <a:srgbClr val="F64F0F"/>
            </a:solidFill>
            <a:ln w="12700" cap="flat" cmpd="sng" algn="ctr">
              <a:noFill/>
              <a:prstDash val="solid"/>
              <a:miter lim="800000"/>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US" sz="1500" b="1" i="0" u="none" strike="noStrike" kern="0" cap="none" spc="0" normalizeH="0" baseline="0" noProof="0">
                  <a:ln>
                    <a:noFill/>
                  </a:ln>
                  <a:solidFill>
                    <a:prstClr val="white"/>
                  </a:solidFill>
                  <a:effectLst>
                    <a:outerShdw blurRad="38100" dist="38100" dir="2700000" algn="tl">
                      <a:srgbClr val="000000">
                        <a:alpha val="43137"/>
                      </a:srgbClr>
                    </a:outerShdw>
                  </a:effectLst>
                  <a:uLnTx/>
                  <a:uFillTx/>
                  <a:latin typeface="Calibri Light" panose="020F0302020204030204"/>
                  <a:ea typeface="+mn-ea"/>
                  <a:cs typeface="+mn-cs"/>
                </a:rPr>
                <a:t>LifePro</a:t>
              </a:r>
            </a:p>
          </p:txBody>
        </p:sp>
        <p:sp>
          <p:nvSpPr>
            <p:cNvPr id="40" name="Arrow: Down 39">
              <a:extLst>
                <a:ext uri="{FF2B5EF4-FFF2-40B4-BE49-F238E27FC236}">
                  <a16:creationId xmlns:a16="http://schemas.microsoft.com/office/drawing/2014/main" id="{37E5DF18-56A4-664B-E622-9280F3743D08}"/>
                </a:ext>
              </a:extLst>
            </p:cNvPr>
            <p:cNvSpPr/>
            <p:nvPr/>
          </p:nvSpPr>
          <p:spPr>
            <a:xfrm rot="2026876">
              <a:off x="6492577" y="5066029"/>
              <a:ext cx="418526" cy="711721"/>
            </a:xfrm>
            <a:prstGeom prst="downArrow">
              <a:avLst/>
            </a:prstGeom>
            <a:solidFill>
              <a:srgbClr val="FDB2A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cxnSp>
          <p:nvCxnSpPr>
            <p:cNvPr id="43" name="Straight Arrow Connector 42">
              <a:extLst>
                <a:ext uri="{FF2B5EF4-FFF2-40B4-BE49-F238E27FC236}">
                  <a16:creationId xmlns:a16="http://schemas.microsoft.com/office/drawing/2014/main" id="{E7BC2A4E-7503-33D1-D2AA-DC2231172A27}"/>
                </a:ext>
              </a:extLst>
            </p:cNvPr>
            <p:cNvCxnSpPr>
              <a:cxnSpLocks/>
            </p:cNvCxnSpPr>
            <p:nvPr/>
          </p:nvCxnSpPr>
          <p:spPr>
            <a:xfrm flipH="1">
              <a:off x="6970330" y="5130805"/>
              <a:ext cx="333206" cy="54008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7DFC71A-4BD0-DFAA-7215-BDAD7D8281F7}"/>
                </a:ext>
              </a:extLst>
            </p:cNvPr>
            <p:cNvCxnSpPr>
              <a:cxnSpLocks/>
            </p:cNvCxnSpPr>
            <p:nvPr/>
          </p:nvCxnSpPr>
          <p:spPr>
            <a:xfrm flipH="1">
              <a:off x="7299447" y="5755195"/>
              <a:ext cx="717543" cy="690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F435A8B5-2B16-D82C-45AF-74A89DA69914}"/>
                </a:ext>
              </a:extLst>
            </p:cNvPr>
            <p:cNvCxnSpPr>
              <a:cxnSpLocks/>
            </p:cNvCxnSpPr>
            <p:nvPr/>
          </p:nvCxnSpPr>
          <p:spPr>
            <a:xfrm>
              <a:off x="8033092" y="5130803"/>
              <a:ext cx="303031" cy="53040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46" name="TextBox 45">
            <a:extLst>
              <a:ext uri="{FF2B5EF4-FFF2-40B4-BE49-F238E27FC236}">
                <a16:creationId xmlns:a16="http://schemas.microsoft.com/office/drawing/2014/main" id="{D74E459C-4ED7-0B23-56A7-9E3BBAB0C118}"/>
              </a:ext>
            </a:extLst>
          </p:cNvPr>
          <p:cNvSpPr txBox="1"/>
          <p:nvPr/>
        </p:nvSpPr>
        <p:spPr>
          <a:xfrm>
            <a:off x="9962219" y="5563576"/>
            <a:ext cx="1271598"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a:ea typeface="+mn-ea"/>
                <a:cs typeface="+mn-cs"/>
              </a:rPr>
              <a:t>Reconciliation</a:t>
            </a:r>
            <a:endParaRPr kumimoji="0" lang="en-IN"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cxnSp>
        <p:nvCxnSpPr>
          <p:cNvPr id="47" name="Straight Arrow Connector 46">
            <a:extLst>
              <a:ext uri="{FF2B5EF4-FFF2-40B4-BE49-F238E27FC236}">
                <a16:creationId xmlns:a16="http://schemas.microsoft.com/office/drawing/2014/main" id="{D326881E-D3D5-4865-653E-40AD738A0306}"/>
              </a:ext>
            </a:extLst>
          </p:cNvPr>
          <p:cNvCxnSpPr>
            <a:cxnSpLocks/>
          </p:cNvCxnSpPr>
          <p:nvPr/>
        </p:nvCxnSpPr>
        <p:spPr>
          <a:xfrm flipH="1">
            <a:off x="9995017" y="5817970"/>
            <a:ext cx="1206002" cy="10357"/>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5BBFFA17-70BF-1583-5155-906CE3880DA6}"/>
              </a:ext>
            </a:extLst>
          </p:cNvPr>
          <p:cNvSpPr txBox="1"/>
          <p:nvPr/>
        </p:nvSpPr>
        <p:spPr>
          <a:xfrm>
            <a:off x="5413119" y="4651699"/>
            <a:ext cx="979827" cy="276999"/>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effectLst/>
                <a:uLnTx/>
                <a:uFillTx/>
                <a:latin typeface="Calibri" panose="020F0502020204030204" pitchFamily="34" charset="0"/>
                <a:ea typeface="+mn-ea"/>
                <a:cs typeface="Calibri" panose="020F0502020204030204" pitchFamily="34" charset="0"/>
              </a:rPr>
              <a:t>Flow</a:t>
            </a:r>
          </a:p>
        </p:txBody>
      </p:sp>
    </p:spTree>
    <p:extLst>
      <p:ext uri="{BB962C8B-B14F-4D97-AF65-F5344CB8AC3E}">
        <p14:creationId xmlns:p14="http://schemas.microsoft.com/office/powerpoint/2010/main" val="31898941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391D0-BEFA-79D8-445D-CF8B070175A4}"/>
            </a:ext>
          </a:extLst>
        </p:cNvPr>
        <p:cNvGrpSpPr/>
        <p:nvPr/>
      </p:nvGrpSpPr>
      <p:grpSpPr>
        <a:xfrm>
          <a:off x="0" y="0"/>
          <a:ext cx="0" cy="0"/>
          <a:chOff x="0" y="0"/>
          <a:chExt cx="0" cy="0"/>
        </a:xfrm>
      </p:grpSpPr>
      <p:sp>
        <p:nvSpPr>
          <p:cNvPr id="142" name="Rectangle: Rounded Corners 141">
            <a:extLst>
              <a:ext uri="{FF2B5EF4-FFF2-40B4-BE49-F238E27FC236}">
                <a16:creationId xmlns:a16="http://schemas.microsoft.com/office/drawing/2014/main" id="{E1009C67-2D02-915D-73DB-1F55A27C4BBD}"/>
              </a:ext>
            </a:extLst>
          </p:cNvPr>
          <p:cNvSpPr/>
          <p:nvPr/>
        </p:nvSpPr>
        <p:spPr>
          <a:xfrm>
            <a:off x="4137775" y="991447"/>
            <a:ext cx="2875004" cy="5713389"/>
          </a:xfrm>
          <a:prstGeom prst="roundRect">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9" name="Rectangle: Rounded Corners 28">
            <a:extLst>
              <a:ext uri="{FF2B5EF4-FFF2-40B4-BE49-F238E27FC236}">
                <a16:creationId xmlns:a16="http://schemas.microsoft.com/office/drawing/2014/main" id="{F98263BA-FA30-C6B3-CB54-7853710865D1}"/>
              </a:ext>
            </a:extLst>
          </p:cNvPr>
          <p:cNvSpPr/>
          <p:nvPr/>
        </p:nvSpPr>
        <p:spPr>
          <a:xfrm>
            <a:off x="175928" y="982980"/>
            <a:ext cx="3846919" cy="5713389"/>
          </a:xfrm>
          <a:prstGeom prst="roundRect">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6" name="Graphic 5" descr="Database outline">
            <a:extLst>
              <a:ext uri="{FF2B5EF4-FFF2-40B4-BE49-F238E27FC236}">
                <a16:creationId xmlns:a16="http://schemas.microsoft.com/office/drawing/2014/main" id="{A93DF01E-D3DA-3A69-5438-EB02F9A9C7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8567" y="1733046"/>
            <a:ext cx="602712" cy="624548"/>
          </a:xfrm>
          <a:prstGeom prst="rect">
            <a:avLst/>
          </a:prstGeom>
        </p:spPr>
      </p:pic>
      <p:pic>
        <p:nvPicPr>
          <p:cNvPr id="8" name="Graphic 7" descr="Continuous Improvement with solid fill">
            <a:extLst>
              <a:ext uri="{FF2B5EF4-FFF2-40B4-BE49-F238E27FC236}">
                <a16:creationId xmlns:a16="http://schemas.microsoft.com/office/drawing/2014/main" id="{315C6C82-4339-17E5-7CCF-1A11BA33FA2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08940" y="1733046"/>
            <a:ext cx="602712" cy="624548"/>
          </a:xfrm>
          <a:prstGeom prst="rect">
            <a:avLst/>
          </a:prstGeom>
        </p:spPr>
      </p:pic>
      <p:pic>
        <p:nvPicPr>
          <p:cNvPr id="20" name="Graphic 19" descr="Table outline">
            <a:extLst>
              <a:ext uri="{FF2B5EF4-FFF2-40B4-BE49-F238E27FC236}">
                <a16:creationId xmlns:a16="http://schemas.microsoft.com/office/drawing/2014/main" id="{4132E9B6-80A4-4B99-0466-18607E1DEE7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859932" y="1733046"/>
            <a:ext cx="602712" cy="624548"/>
          </a:xfrm>
          <a:prstGeom prst="rect">
            <a:avLst/>
          </a:prstGeom>
        </p:spPr>
      </p:pic>
      <p:pic>
        <p:nvPicPr>
          <p:cNvPr id="30" name="Graphic 29" descr="Left Brain outline">
            <a:extLst>
              <a:ext uri="{FF2B5EF4-FFF2-40B4-BE49-F238E27FC236}">
                <a16:creationId xmlns:a16="http://schemas.microsoft.com/office/drawing/2014/main" id="{08324766-3F86-DDE4-3BC9-305ED5387CC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091636" y="2724784"/>
            <a:ext cx="602712" cy="624548"/>
          </a:xfrm>
          <a:prstGeom prst="rect">
            <a:avLst/>
          </a:prstGeom>
        </p:spPr>
      </p:pic>
      <p:cxnSp>
        <p:nvCxnSpPr>
          <p:cNvPr id="34" name="Straight Arrow Connector 33">
            <a:extLst>
              <a:ext uri="{FF2B5EF4-FFF2-40B4-BE49-F238E27FC236}">
                <a16:creationId xmlns:a16="http://schemas.microsoft.com/office/drawing/2014/main" id="{140EA9C5-ECAA-6387-B741-B073227F887F}"/>
              </a:ext>
            </a:extLst>
          </p:cNvPr>
          <p:cNvCxnSpPr>
            <a:cxnSpLocks/>
          </p:cNvCxnSpPr>
          <p:nvPr/>
        </p:nvCxnSpPr>
        <p:spPr>
          <a:xfrm>
            <a:off x="1236689" y="2065500"/>
            <a:ext cx="593189"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A8091ACC-2923-E34A-242E-A4D20EC4DCDB}"/>
              </a:ext>
            </a:extLst>
          </p:cNvPr>
          <p:cNvCxnSpPr>
            <a:cxnSpLocks/>
          </p:cNvCxnSpPr>
          <p:nvPr/>
        </p:nvCxnSpPr>
        <p:spPr>
          <a:xfrm>
            <a:off x="2497459" y="2112720"/>
            <a:ext cx="311381"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CCF8060C-EF61-7191-D24F-29D3D5C58032}"/>
              </a:ext>
            </a:extLst>
          </p:cNvPr>
          <p:cNvSpPr txBox="1"/>
          <p:nvPr/>
        </p:nvSpPr>
        <p:spPr>
          <a:xfrm>
            <a:off x="623958" y="2326879"/>
            <a:ext cx="663180" cy="2034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Calibri" panose="020F0502020204030204"/>
                <a:ea typeface="+mn-ea"/>
                <a:cs typeface="+mn-cs"/>
              </a:rPr>
              <a:t>Data Source</a:t>
            </a:r>
          </a:p>
        </p:txBody>
      </p:sp>
      <p:sp>
        <p:nvSpPr>
          <p:cNvPr id="62" name="TextBox 61">
            <a:extLst>
              <a:ext uri="{FF2B5EF4-FFF2-40B4-BE49-F238E27FC236}">
                <a16:creationId xmlns:a16="http://schemas.microsoft.com/office/drawing/2014/main" id="{7F6E3661-3702-DD08-80CE-8CB39E0D2F3B}"/>
              </a:ext>
            </a:extLst>
          </p:cNvPr>
          <p:cNvSpPr txBox="1"/>
          <p:nvPr/>
        </p:nvSpPr>
        <p:spPr>
          <a:xfrm>
            <a:off x="1795165" y="2301859"/>
            <a:ext cx="997548" cy="2034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Calibri" panose="020F0502020204030204"/>
                <a:ea typeface="+mn-ea"/>
                <a:cs typeface="+mn-cs"/>
              </a:rPr>
              <a:t>Preprocessing</a:t>
            </a:r>
          </a:p>
        </p:txBody>
      </p:sp>
      <p:sp>
        <p:nvSpPr>
          <p:cNvPr id="64" name="TextBox 63">
            <a:extLst>
              <a:ext uri="{FF2B5EF4-FFF2-40B4-BE49-F238E27FC236}">
                <a16:creationId xmlns:a16="http://schemas.microsoft.com/office/drawing/2014/main" id="{918D45D0-93D4-C135-B613-64E0FC42963B}"/>
              </a:ext>
            </a:extLst>
          </p:cNvPr>
          <p:cNvSpPr txBox="1"/>
          <p:nvPr/>
        </p:nvSpPr>
        <p:spPr>
          <a:xfrm>
            <a:off x="2723705" y="2364763"/>
            <a:ext cx="1109288" cy="2732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Calibri" panose="020F0502020204030204"/>
                <a:ea typeface="+mn-ea"/>
                <a:cs typeface="+mn-cs"/>
              </a:rPr>
              <a:t>PCONVERT data</a:t>
            </a:r>
          </a:p>
        </p:txBody>
      </p:sp>
      <p:sp>
        <p:nvSpPr>
          <p:cNvPr id="69" name="TextBox 68">
            <a:extLst>
              <a:ext uri="{FF2B5EF4-FFF2-40B4-BE49-F238E27FC236}">
                <a16:creationId xmlns:a16="http://schemas.microsoft.com/office/drawing/2014/main" id="{9584292D-3EA9-C6B7-4E61-562F4F25961B}"/>
              </a:ext>
            </a:extLst>
          </p:cNvPr>
          <p:cNvSpPr txBox="1"/>
          <p:nvPr/>
        </p:nvSpPr>
        <p:spPr>
          <a:xfrm>
            <a:off x="2186353" y="3307180"/>
            <a:ext cx="405157"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Calibri" panose="020F0502020204030204"/>
                <a:ea typeface="+mn-ea"/>
                <a:cs typeface="+mn-cs"/>
              </a:rPr>
              <a:t>LLM</a:t>
            </a:r>
          </a:p>
        </p:txBody>
      </p:sp>
      <p:sp>
        <p:nvSpPr>
          <p:cNvPr id="4" name="TextBox 3">
            <a:extLst>
              <a:ext uri="{FF2B5EF4-FFF2-40B4-BE49-F238E27FC236}">
                <a16:creationId xmlns:a16="http://schemas.microsoft.com/office/drawing/2014/main" id="{A534992F-E946-F04D-2D38-A9A9DC3FF5AC}"/>
              </a:ext>
            </a:extLst>
          </p:cNvPr>
          <p:cNvSpPr txBox="1"/>
          <p:nvPr/>
        </p:nvSpPr>
        <p:spPr>
          <a:xfrm>
            <a:off x="339440" y="2704532"/>
            <a:ext cx="1005529" cy="830997"/>
          </a:xfrm>
          <a:prstGeom prst="rect">
            <a:avLst/>
          </a:prstGeom>
          <a:noFill/>
        </p:spPr>
        <p:txBody>
          <a:bodyPr wrap="square" rtlCol="0">
            <a:spAutoFit/>
          </a:bodyPr>
          <a:lstStyle/>
          <a:p>
            <a:pPr marL="285750" marR="0" lvl="0" indent="-1031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800" b="0" i="0" u="none" strike="noStrike" kern="1200" cap="none" spc="0" normalizeH="0" baseline="0" noProof="0">
                <a:ln>
                  <a:noFill/>
                </a:ln>
                <a:solidFill>
                  <a:srgbClr val="000000"/>
                </a:solidFill>
                <a:effectLst/>
                <a:uLnTx/>
                <a:uFillTx/>
                <a:latin typeface="Calibri" panose="020F0502020204030204"/>
                <a:ea typeface="+mn-ea"/>
                <a:cs typeface="+mn-cs"/>
              </a:rPr>
              <a:t>RDBMS backup data</a:t>
            </a:r>
          </a:p>
          <a:p>
            <a:pPr marL="285750" marR="0" lvl="0" indent="-1031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800" b="0" i="0" u="none" strike="noStrike" kern="1200" cap="none" spc="0" normalizeH="0" baseline="0" noProof="0">
                <a:ln>
                  <a:noFill/>
                </a:ln>
                <a:solidFill>
                  <a:srgbClr val="000000"/>
                </a:solidFill>
                <a:effectLst/>
                <a:uLnTx/>
                <a:uFillTx/>
                <a:latin typeface="Calibri" panose="020F0502020204030204"/>
                <a:ea typeface="+mn-ea"/>
                <a:cs typeface="+mn-cs"/>
              </a:rPr>
              <a:t>Manual upload</a:t>
            </a:r>
          </a:p>
          <a:p>
            <a:pPr marL="182563" marR="0" lvl="0" indent="0" algn="l"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srgbClr val="000000"/>
                </a:solidFill>
                <a:effectLst/>
                <a:uLnTx/>
                <a:uFillTx/>
                <a:latin typeface="Calibri" panose="020F0502020204030204"/>
                <a:ea typeface="+mn-ea"/>
                <a:cs typeface="+mn-cs"/>
              </a:rPr>
              <a:t>(xml, xlsx, csv, txt, etc)</a:t>
            </a:r>
          </a:p>
        </p:txBody>
      </p:sp>
      <p:sp>
        <p:nvSpPr>
          <p:cNvPr id="25" name="TextBox 24">
            <a:extLst>
              <a:ext uri="{FF2B5EF4-FFF2-40B4-BE49-F238E27FC236}">
                <a16:creationId xmlns:a16="http://schemas.microsoft.com/office/drawing/2014/main" id="{E4EF5FFB-217C-1D36-FB31-8674E61ABCE6}"/>
              </a:ext>
            </a:extLst>
          </p:cNvPr>
          <p:cNvSpPr txBox="1"/>
          <p:nvPr/>
        </p:nvSpPr>
        <p:spPr>
          <a:xfrm>
            <a:off x="1281263" y="1212493"/>
            <a:ext cx="163624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a:ln>
                  <a:noFill/>
                </a:ln>
                <a:solidFill>
                  <a:srgbClr val="000000"/>
                </a:solidFill>
                <a:effectLst/>
                <a:uLnTx/>
                <a:uFillTx/>
                <a:latin typeface="Calibri" panose="020F0502020204030204"/>
                <a:ea typeface="+mn-ea"/>
                <a:cs typeface="+mn-cs"/>
              </a:rPr>
              <a:t>Data Processing</a:t>
            </a:r>
          </a:p>
        </p:txBody>
      </p:sp>
      <p:sp>
        <p:nvSpPr>
          <p:cNvPr id="31" name="TextBox 30">
            <a:extLst>
              <a:ext uri="{FF2B5EF4-FFF2-40B4-BE49-F238E27FC236}">
                <a16:creationId xmlns:a16="http://schemas.microsoft.com/office/drawing/2014/main" id="{9D588256-6372-2E67-53F3-BC69B2187465}"/>
              </a:ext>
            </a:extLst>
          </p:cNvPr>
          <p:cNvSpPr txBox="1"/>
          <p:nvPr/>
        </p:nvSpPr>
        <p:spPr>
          <a:xfrm>
            <a:off x="280411" y="3633349"/>
            <a:ext cx="3691196" cy="31700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Calibri" panose="020F0502020204030204"/>
                <a:ea typeface="+mn-ea"/>
                <a:cs typeface="+mn-cs"/>
              </a:rPr>
              <a:t>Data Collation &amp; Source identification</a:t>
            </a:r>
            <a:r>
              <a:rPr kumimoji="0" lang="en-US" sz="1000" b="0" i="0" u="none" strike="noStrike" kern="1200" cap="none" spc="0" normalizeH="0" baseline="0" noProof="0">
                <a:ln>
                  <a:noFill/>
                </a:ln>
                <a:solidFill>
                  <a:srgbClr val="000000"/>
                </a:solidFill>
                <a:effectLst/>
                <a:uLnTx/>
                <a:uFillTx/>
                <a:latin typeface="Calibri" panose="020F0502020204030204"/>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Calibri" panose="020F0502020204030204"/>
                <a:ea typeface="+mn-ea"/>
                <a:cs typeface="+mn-cs"/>
              </a:rPr>
              <a:t>Extract/Receive data from legacy system.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Calibri" panose="020F0502020204030204"/>
                <a:ea typeface="+mn-ea"/>
                <a:cs typeface="+mn-cs"/>
              </a:rPr>
              <a:t>Identifying file format, unzipping &amp; uploading data to Amazon S3 bucket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Calibri" panose="020F0502020204030204"/>
                <a:ea typeface="+mn-ea"/>
                <a:cs typeface="+mn-cs"/>
              </a:rPr>
              <a:t>Data Ingestion &amp; Transformation (Using LLM):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Calibri" panose="020F0502020204030204"/>
                <a:ea typeface="+mn-ea"/>
                <a:cs typeface="+mn-cs"/>
              </a:rPr>
              <a:t>XML Analysis (Sample Data) - Mapping Analysis- performing initial schema detection/metadata read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Calibri" panose="020F0502020204030204"/>
                <a:ea typeface="+mn-ea"/>
                <a:cs typeface="+mn-cs"/>
              </a:rPr>
              <a:t>Loading raw data into staging area and performing sanity checks on it (After approval/clarification from client)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Calibri" panose="020F0502020204030204"/>
                <a:ea typeface="+mn-ea"/>
                <a:cs typeface="+mn-cs"/>
              </a:rPr>
              <a:t>Data Parsing – format specific</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Calibri" panose="020F0502020204030204"/>
                <a:ea typeface="+mn-ea"/>
                <a:cs typeface="+mn-cs"/>
              </a:rPr>
              <a:t>Data cleansing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srgbClr val="000000"/>
                </a:solidFill>
                <a:effectLst/>
                <a:uLnTx/>
                <a:uFillTx/>
                <a:latin typeface="Calibri" panose="020F0502020204030204"/>
                <a:ea typeface="+mn-ea"/>
                <a:cs typeface="+mn-cs"/>
              </a:rPr>
              <a:t>Segregating the data into policy information and transaction information, based on functional inputs</a:t>
            </a:r>
            <a:endParaRPr kumimoji="0" lang="en-US" sz="1000" b="0" i="0" u="none" strike="noStrike" kern="1200" cap="none" spc="0" normalizeH="0" baseline="0" noProof="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Calibri" panose="020F0502020204030204"/>
                <a:ea typeface="+mn-ea"/>
                <a:cs typeface="+mn-cs"/>
              </a:rPr>
              <a:t>Data Upload</a:t>
            </a:r>
            <a:r>
              <a:rPr kumimoji="0" lang="en-US" sz="1000" b="0" i="0" u="none" strike="noStrike" kern="1200" cap="none" spc="0" normalizeH="0" baseline="0" noProof="0">
                <a:ln>
                  <a:noFill/>
                </a:ln>
                <a:solidFill>
                  <a:srgbClr val="000000"/>
                </a:solidFill>
                <a:effectLst/>
                <a:uLnTx/>
                <a:uFillTx/>
                <a:latin typeface="Calibri" panose="020F0502020204030204"/>
                <a:ea typeface="+mn-ea"/>
                <a:cs typeface="+mn-cs"/>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srgbClr val="000000"/>
                </a:solidFill>
                <a:effectLst/>
                <a:uLnTx/>
                <a:uFillTx/>
                <a:latin typeface="Calibri" panose="020F0502020204030204"/>
                <a:ea typeface="+mn-ea"/>
                <a:cs typeface="+mn-cs"/>
              </a:rPr>
              <a:t>Store procedure have been implemented to get </a:t>
            </a:r>
            <a:r>
              <a:rPr kumimoji="0" lang="en-IN" sz="1000" b="0" i="0" u="none" strike="noStrike" kern="1200" cap="none" spc="0" normalizeH="0" baseline="0" noProof="0" err="1">
                <a:ln>
                  <a:noFill/>
                </a:ln>
                <a:solidFill>
                  <a:srgbClr val="000000"/>
                </a:solidFill>
                <a:effectLst/>
                <a:uLnTx/>
                <a:uFillTx/>
                <a:latin typeface="Calibri" panose="020F0502020204030204"/>
                <a:ea typeface="+mn-ea"/>
                <a:cs typeface="+mn-cs"/>
              </a:rPr>
              <a:t>LifePro</a:t>
            </a:r>
            <a:r>
              <a:rPr kumimoji="0" lang="en-IN" sz="1000" b="0" i="0" u="none" strike="noStrike" kern="1200" cap="none" spc="0" normalizeH="0" baseline="0" noProof="0">
                <a:ln>
                  <a:noFill/>
                </a:ln>
                <a:solidFill>
                  <a:srgbClr val="000000"/>
                </a:solidFill>
                <a:effectLst/>
                <a:uLnTx/>
                <a:uFillTx/>
                <a:latin typeface="Calibri" panose="020F0502020204030204"/>
                <a:ea typeface="+mn-ea"/>
                <a:cs typeface="+mn-cs"/>
              </a:rPr>
              <a:t> table replica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srgbClr val="000000"/>
                </a:solidFill>
                <a:effectLst/>
                <a:uLnTx/>
                <a:uFillTx/>
                <a:latin typeface="Calibri" panose="020F0502020204030204"/>
                <a:ea typeface="+mn-ea"/>
                <a:cs typeface="+mn-cs"/>
              </a:rPr>
              <a:t>Stored procedure for merging/stacking the required </a:t>
            </a:r>
            <a:r>
              <a:rPr kumimoji="0" lang="en-IN" sz="1000" b="0" i="0" u="none" strike="noStrike" kern="1200" cap="none" spc="0" normalizeH="0" baseline="0" noProof="0" err="1">
                <a:ln>
                  <a:noFill/>
                </a:ln>
                <a:solidFill>
                  <a:srgbClr val="000000"/>
                </a:solidFill>
                <a:effectLst/>
                <a:uLnTx/>
                <a:uFillTx/>
                <a:latin typeface="Calibri" panose="020F0502020204030204"/>
                <a:ea typeface="+mn-ea"/>
                <a:cs typeface="+mn-cs"/>
              </a:rPr>
              <a:t>LifePro</a:t>
            </a:r>
            <a:r>
              <a:rPr kumimoji="0" lang="en-IN" sz="1000" b="0" i="0" u="none" strike="noStrike" kern="1200" cap="none" spc="0" normalizeH="0" baseline="0" noProof="0">
                <a:ln>
                  <a:noFill/>
                </a:ln>
                <a:solidFill>
                  <a:srgbClr val="000000"/>
                </a:solidFill>
                <a:effectLst/>
                <a:uLnTx/>
                <a:uFillTx/>
                <a:latin typeface="Calibri" panose="020F0502020204030204"/>
                <a:ea typeface="+mn-ea"/>
                <a:cs typeface="+mn-cs"/>
              </a:rPr>
              <a:t> replica tables made in above step) that will be used by calculation engine.</a:t>
            </a:r>
            <a:endParaRPr kumimoji="0" lang="en-US" sz="1000" b="0" i="0" u="none" strike="noStrike" kern="1200" cap="none" spc="0" normalizeH="0" baseline="0" noProof="0">
              <a:ln>
                <a:noFill/>
              </a:ln>
              <a:solidFill>
                <a:srgbClr val="000000"/>
              </a:solidFill>
              <a:effectLst/>
              <a:uLnTx/>
              <a:uFillTx/>
              <a:latin typeface="Calibri" panose="020F050202020403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Calibri" panose="020F0502020204030204"/>
              <a:ea typeface="+mn-ea"/>
              <a:cs typeface="+mn-cs"/>
            </a:endParaRPr>
          </a:p>
        </p:txBody>
      </p:sp>
      <p:cxnSp>
        <p:nvCxnSpPr>
          <p:cNvPr id="3" name="Straight Arrow Connector 2">
            <a:extLst>
              <a:ext uri="{FF2B5EF4-FFF2-40B4-BE49-F238E27FC236}">
                <a16:creationId xmlns:a16="http://schemas.microsoft.com/office/drawing/2014/main" id="{A9AAC4CC-C146-44D0-F3CF-622A1F3A0D43}"/>
              </a:ext>
            </a:extLst>
          </p:cNvPr>
          <p:cNvCxnSpPr>
            <a:cxnSpLocks/>
          </p:cNvCxnSpPr>
          <p:nvPr/>
        </p:nvCxnSpPr>
        <p:spPr>
          <a:xfrm flipV="1">
            <a:off x="2416930" y="2552763"/>
            <a:ext cx="0" cy="23875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58" name="Rectangle: Rounded Corners 157">
            <a:extLst>
              <a:ext uri="{FF2B5EF4-FFF2-40B4-BE49-F238E27FC236}">
                <a16:creationId xmlns:a16="http://schemas.microsoft.com/office/drawing/2014/main" id="{E5DA4A00-E3F3-6F66-1E81-3C15CDA5FDD8}"/>
              </a:ext>
            </a:extLst>
          </p:cNvPr>
          <p:cNvSpPr/>
          <p:nvPr/>
        </p:nvSpPr>
        <p:spPr>
          <a:xfrm>
            <a:off x="7147218" y="982980"/>
            <a:ext cx="1785151" cy="5713389"/>
          </a:xfrm>
          <a:prstGeom prst="roundRect">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74" name="Rectangle: Rounded Corners 173">
            <a:extLst>
              <a:ext uri="{FF2B5EF4-FFF2-40B4-BE49-F238E27FC236}">
                <a16:creationId xmlns:a16="http://schemas.microsoft.com/office/drawing/2014/main" id="{E246F958-0051-88A9-14D9-83D5929B3CD4}"/>
              </a:ext>
            </a:extLst>
          </p:cNvPr>
          <p:cNvSpPr/>
          <p:nvPr/>
        </p:nvSpPr>
        <p:spPr>
          <a:xfrm>
            <a:off x="9078236" y="982980"/>
            <a:ext cx="2875004" cy="5713389"/>
          </a:xfrm>
          <a:prstGeom prst="roundRect">
            <a:avLst/>
          </a:prstGeom>
          <a:solidFill>
            <a:schemeClr val="accent5"/>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1" i="0" u="none" strike="noStrike" kern="1200" cap="none" spc="0" normalizeH="0" baseline="0" noProof="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1" i="0" u="none" strike="noStrike" kern="1200" cap="none" spc="0" normalizeH="0" baseline="0" noProof="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1" i="0" u="none" strike="noStrike" kern="1200" cap="none" spc="0" normalizeH="0" baseline="0" noProof="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1" i="0" u="none" strike="noStrike" kern="1200" cap="none" spc="0" normalizeH="0" baseline="0" noProof="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1" i="0" u="none" strike="noStrike" kern="1200" cap="none" spc="0" normalizeH="0" baseline="0" noProof="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1" i="0" u="none" strike="noStrike" kern="1200" cap="none" spc="0" normalizeH="0" baseline="0" noProof="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1" i="0" u="none" strike="noStrike" kern="1200" cap="none" spc="0" normalizeH="0" baseline="0" noProof="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1" i="0" u="none" strike="noStrike" kern="1200" cap="none" spc="0" normalizeH="0" baseline="0" noProof="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1" i="0" u="none" strike="noStrike" kern="1200" cap="none" spc="0" normalizeH="0" baseline="0" noProof="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1" i="0" u="none" strike="noStrike" kern="1200" cap="none" spc="0" normalizeH="0" baseline="0" noProof="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1" i="0" u="none" strike="noStrike" kern="1200" cap="none" spc="0" normalizeH="0" baseline="0" noProof="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1" i="0" u="none" strike="noStrike" kern="1200" cap="none" spc="0" normalizeH="0" baseline="0" noProof="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1" i="0" u="none" strike="noStrike" kern="1200" cap="none" spc="0" normalizeH="0" baseline="0" noProof="0">
              <a:ln>
                <a:noFill/>
              </a:ln>
              <a:solidFill>
                <a:srgbClr val="000000"/>
              </a:solidFill>
              <a:effectLst/>
              <a:uLnTx/>
              <a:uFillTx/>
              <a:latin typeface="Calibri" panose="020F050202020403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000" b="1" i="0" u="none" strike="noStrike" kern="1200" cap="none" spc="0" normalizeH="0" baseline="0" noProof="0">
              <a:ln>
                <a:noFill/>
              </a:ln>
              <a:solidFill>
                <a:srgbClr val="000000"/>
              </a:solidFill>
              <a:effectLst/>
              <a:uLnTx/>
              <a:uFillTx/>
              <a:latin typeface="Calibri" panose="020F050202020403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1" i="0" u="none" strike="noStrike" kern="1200" cap="none" spc="0" normalizeH="0" baseline="0" noProof="0">
                <a:ln>
                  <a:noFill/>
                </a:ln>
                <a:solidFill>
                  <a:srgbClr val="000000"/>
                </a:solidFill>
                <a:effectLst/>
                <a:uLnTx/>
                <a:uFillTx/>
                <a:latin typeface="Calibri" panose="020F0502020204030204"/>
                <a:ea typeface="+mn-ea"/>
                <a:cs typeface="+mn-cs"/>
              </a:rPr>
              <a:t>Leveraged advanced AI algorithms</a:t>
            </a:r>
            <a:r>
              <a:rPr kumimoji="0" lang="en-IN" sz="1000" b="0" i="0" u="none" strike="noStrike" kern="1200" cap="none" spc="0" normalizeH="0" baseline="0" noProof="0">
                <a:ln>
                  <a:noFill/>
                </a:ln>
                <a:solidFill>
                  <a:srgbClr val="000000"/>
                </a:solidFill>
                <a:effectLst/>
                <a:uLnTx/>
                <a:uFillTx/>
                <a:latin typeface="Calibri" panose="020F0502020204030204"/>
                <a:ea typeface="+mn-ea"/>
                <a:cs typeface="+mn-cs"/>
              </a:rPr>
              <a:t> to analyze large-scale policyholder data across the legacy system and Life Pro.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1" i="0" u="none" strike="noStrike" kern="1200" cap="none" spc="0" normalizeH="0" baseline="0" noProof="0">
                <a:ln>
                  <a:noFill/>
                </a:ln>
                <a:solidFill>
                  <a:srgbClr val="000000"/>
                </a:solidFill>
                <a:effectLst/>
                <a:uLnTx/>
                <a:uFillTx/>
                <a:latin typeface="Calibri" panose="020F0502020204030204"/>
                <a:ea typeface="+mn-ea"/>
                <a:cs typeface="+mn-cs"/>
              </a:rPr>
              <a:t>Ensure accurate data mapping</a:t>
            </a:r>
            <a:r>
              <a:rPr kumimoji="0" lang="en-IN" sz="1000" b="0" i="0" u="none" strike="noStrike" kern="1200" cap="none" spc="0" normalizeH="0" baseline="0" noProof="0">
                <a:ln>
                  <a:noFill/>
                </a:ln>
                <a:solidFill>
                  <a:srgbClr val="000000"/>
                </a:solidFill>
                <a:effectLst/>
                <a:uLnTx/>
                <a:uFillTx/>
                <a:latin typeface="Calibri" panose="020F0502020204030204"/>
                <a:ea typeface="+mn-ea"/>
                <a:cs typeface="+mn-cs"/>
              </a:rPr>
              <a:t> between systems for consistency and reliability.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1" i="0" u="none" strike="noStrike" kern="1200" cap="none" spc="0" normalizeH="0" baseline="0" noProof="0">
                <a:ln>
                  <a:noFill/>
                </a:ln>
                <a:solidFill>
                  <a:srgbClr val="000000"/>
                </a:solidFill>
                <a:effectLst/>
                <a:uLnTx/>
                <a:uFillTx/>
                <a:latin typeface="Calibri" panose="020F0502020204030204"/>
                <a:ea typeface="+mn-ea"/>
                <a:cs typeface="+mn-cs"/>
              </a:rPr>
              <a:t>Detect discrepancies</a:t>
            </a:r>
            <a:r>
              <a:rPr kumimoji="0" lang="en-IN" sz="1000" b="0" i="0" u="none" strike="noStrike" kern="1200" cap="none" spc="0" normalizeH="0" baseline="0" noProof="0">
                <a:ln>
                  <a:noFill/>
                </a:ln>
                <a:solidFill>
                  <a:srgbClr val="000000"/>
                </a:solidFill>
                <a:effectLst/>
                <a:uLnTx/>
                <a:uFillTx/>
                <a:latin typeface="Calibri" panose="020F0502020204030204"/>
                <a:ea typeface="+mn-ea"/>
                <a:cs typeface="+mn-cs"/>
              </a:rPr>
              <a:t> in data to prevent errors and improve quality.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1" i="0" u="none" strike="noStrike" kern="1200" cap="none" spc="0" normalizeH="0" baseline="0" noProof="0">
                <a:ln>
                  <a:noFill/>
                </a:ln>
                <a:solidFill>
                  <a:srgbClr val="000000"/>
                </a:solidFill>
                <a:effectLst/>
                <a:uLnTx/>
                <a:uFillTx/>
                <a:latin typeface="Calibri" panose="020F0502020204030204"/>
                <a:ea typeface="+mn-ea"/>
                <a:cs typeface="+mn-cs"/>
              </a:rPr>
              <a:t>Identify patterns and trends</a:t>
            </a:r>
            <a:r>
              <a:rPr kumimoji="0" lang="en-IN" sz="1000" b="0" i="0" u="none" strike="noStrike" kern="1200" cap="none" spc="0" normalizeH="0" baseline="0" noProof="0">
                <a:ln>
                  <a:noFill/>
                </a:ln>
                <a:solidFill>
                  <a:srgbClr val="000000"/>
                </a:solidFill>
                <a:effectLst/>
                <a:uLnTx/>
                <a:uFillTx/>
                <a:latin typeface="Calibri" panose="020F0502020204030204"/>
                <a:ea typeface="+mn-ea"/>
                <a:cs typeface="+mn-cs"/>
              </a:rPr>
              <a:t> for enhanced data integrity and operational insights.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1" i="0" u="none" strike="noStrike" kern="1200" cap="none" spc="0" normalizeH="0" baseline="0" noProof="0">
                <a:ln>
                  <a:noFill/>
                </a:ln>
                <a:solidFill>
                  <a:srgbClr val="000000"/>
                </a:solidFill>
                <a:effectLst/>
                <a:uLnTx/>
                <a:uFillTx/>
                <a:latin typeface="Calibri" panose="020F0502020204030204"/>
                <a:ea typeface="+mn-ea"/>
                <a:cs typeface="+mn-cs"/>
              </a:rPr>
              <a:t>Enable faster reconciliation</a:t>
            </a:r>
            <a:r>
              <a:rPr kumimoji="0" lang="en-IN" sz="1000" b="0" i="0" u="none" strike="noStrike" kern="1200" cap="none" spc="0" normalizeH="0" baseline="0" noProof="0">
                <a:ln>
                  <a:noFill/>
                </a:ln>
                <a:solidFill>
                  <a:srgbClr val="000000"/>
                </a:solidFill>
                <a:effectLst/>
                <a:uLnTx/>
                <a:uFillTx/>
                <a:latin typeface="Calibri" panose="020F0502020204030204"/>
                <a:ea typeface="+mn-ea"/>
                <a:cs typeface="+mn-cs"/>
              </a:rPr>
              <a:t> of mismatched records to streamline processes.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1" i="0" u="none" strike="noStrike" kern="1200" cap="none" spc="0" normalizeH="0" baseline="0" noProof="0">
                <a:ln>
                  <a:noFill/>
                </a:ln>
                <a:solidFill>
                  <a:srgbClr val="000000"/>
                </a:solidFill>
                <a:effectLst/>
                <a:uLnTx/>
                <a:uFillTx/>
                <a:latin typeface="Calibri" panose="020F0502020204030204"/>
                <a:ea typeface="+mn-ea"/>
                <a:cs typeface="+mn-cs"/>
              </a:rPr>
              <a:t>Facilitate root cause analysis</a:t>
            </a:r>
            <a:r>
              <a:rPr kumimoji="0" lang="en-IN" sz="1000" b="0" i="0" u="none" strike="noStrike" kern="1200" cap="none" spc="0" normalizeH="0" baseline="0" noProof="0">
                <a:ln>
                  <a:noFill/>
                </a:ln>
                <a:solidFill>
                  <a:srgbClr val="000000"/>
                </a:solidFill>
                <a:effectLst/>
                <a:uLnTx/>
                <a:uFillTx/>
                <a:latin typeface="Calibri" panose="020F0502020204030204"/>
                <a:ea typeface="+mn-ea"/>
                <a:cs typeface="+mn-cs"/>
              </a:rPr>
              <a:t> for data issues, reducing investigation time.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1" i="0" u="none" strike="noStrike" kern="1200" cap="none" spc="0" normalizeH="0" baseline="0" noProof="0">
                <a:ln>
                  <a:noFill/>
                </a:ln>
                <a:solidFill>
                  <a:srgbClr val="000000"/>
                </a:solidFill>
                <a:effectLst/>
                <a:uLnTx/>
                <a:uFillTx/>
                <a:latin typeface="Calibri" panose="020F0502020204030204"/>
                <a:ea typeface="+mn-ea"/>
                <a:cs typeface="+mn-cs"/>
              </a:rPr>
              <a:t>Reduce manual effort</a:t>
            </a:r>
            <a:r>
              <a:rPr kumimoji="0" lang="en-IN" sz="1000" b="0" i="0" u="none" strike="noStrike" kern="1200" cap="none" spc="0" normalizeH="0" baseline="0" noProof="0">
                <a:ln>
                  <a:noFill/>
                </a:ln>
                <a:solidFill>
                  <a:srgbClr val="000000"/>
                </a:solidFill>
                <a:effectLst/>
                <a:uLnTx/>
                <a:uFillTx/>
                <a:latin typeface="Calibri" panose="020F0502020204030204"/>
                <a:ea typeface="+mn-ea"/>
                <a:cs typeface="+mn-cs"/>
              </a:rPr>
              <a:t> through automation and intelligent checks.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1" i="0" u="none" strike="noStrike" kern="1200" cap="none" spc="0" normalizeH="0" baseline="0" noProof="0">
                <a:ln>
                  <a:noFill/>
                </a:ln>
                <a:solidFill>
                  <a:srgbClr val="000000"/>
                </a:solidFill>
                <a:effectLst/>
                <a:uLnTx/>
                <a:uFillTx/>
                <a:latin typeface="Calibri" panose="020F0502020204030204"/>
                <a:ea typeface="+mn-ea"/>
                <a:cs typeface="+mn-cs"/>
              </a:rPr>
              <a:t>Enhance audit transparency</a:t>
            </a:r>
            <a:r>
              <a:rPr kumimoji="0" lang="en-IN" sz="1000" b="0" i="0" u="none" strike="noStrike" kern="1200" cap="none" spc="0" normalizeH="0" baseline="0" noProof="0">
                <a:ln>
                  <a:noFill/>
                </a:ln>
                <a:solidFill>
                  <a:srgbClr val="000000"/>
                </a:solidFill>
                <a:effectLst/>
                <a:uLnTx/>
                <a:uFillTx/>
                <a:latin typeface="Calibri" panose="020F0502020204030204"/>
                <a:ea typeface="+mn-ea"/>
                <a:cs typeface="+mn-cs"/>
              </a:rPr>
              <a:t> by providing clear, traceable data validation processes.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400" b="1"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86" name="TextBox 185">
            <a:extLst>
              <a:ext uri="{FF2B5EF4-FFF2-40B4-BE49-F238E27FC236}">
                <a16:creationId xmlns:a16="http://schemas.microsoft.com/office/drawing/2014/main" id="{0984E0EF-2572-1D4F-0634-23B0AD1810D4}"/>
              </a:ext>
            </a:extLst>
          </p:cNvPr>
          <p:cNvSpPr txBox="1"/>
          <p:nvPr/>
        </p:nvSpPr>
        <p:spPr>
          <a:xfrm>
            <a:off x="9480840" y="1212493"/>
            <a:ext cx="206979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a:ln>
                  <a:noFill/>
                </a:ln>
                <a:solidFill>
                  <a:srgbClr val="000000"/>
                </a:solidFill>
                <a:effectLst/>
                <a:uLnTx/>
                <a:uFillTx/>
                <a:latin typeface="Calibri" panose="020F0502020204030204"/>
                <a:ea typeface="+mn-ea"/>
                <a:cs typeface="+mn-cs"/>
              </a:rPr>
              <a:t>Output Comparison</a:t>
            </a:r>
          </a:p>
        </p:txBody>
      </p:sp>
      <p:pic>
        <p:nvPicPr>
          <p:cNvPr id="191" name="Graphic 190" descr="Lightbulb and gear with solid fill">
            <a:extLst>
              <a:ext uri="{FF2B5EF4-FFF2-40B4-BE49-F238E27FC236}">
                <a16:creationId xmlns:a16="http://schemas.microsoft.com/office/drawing/2014/main" id="{A2A51E93-7AFA-D8C7-857B-1C745D37C97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498771" y="2923120"/>
            <a:ext cx="567771" cy="479268"/>
          </a:xfrm>
          <a:prstGeom prst="rect">
            <a:avLst/>
          </a:prstGeom>
        </p:spPr>
      </p:pic>
      <p:pic>
        <p:nvPicPr>
          <p:cNvPr id="192" name="Graphic 191" descr="Blockchain with solid fill">
            <a:extLst>
              <a:ext uri="{FF2B5EF4-FFF2-40B4-BE49-F238E27FC236}">
                <a16:creationId xmlns:a16="http://schemas.microsoft.com/office/drawing/2014/main" id="{EFCD190B-21AA-2234-80E5-4A66C02E8DA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354705" y="2461360"/>
            <a:ext cx="567771" cy="567771"/>
          </a:xfrm>
          <a:prstGeom prst="rect">
            <a:avLst/>
          </a:prstGeom>
        </p:spPr>
      </p:pic>
      <p:sp>
        <p:nvSpPr>
          <p:cNvPr id="193" name="TextBox 192">
            <a:extLst>
              <a:ext uri="{FF2B5EF4-FFF2-40B4-BE49-F238E27FC236}">
                <a16:creationId xmlns:a16="http://schemas.microsoft.com/office/drawing/2014/main" id="{324DFD7B-E400-7664-711A-169DA5AEAB10}"/>
              </a:ext>
            </a:extLst>
          </p:cNvPr>
          <p:cNvSpPr txBox="1"/>
          <p:nvPr/>
        </p:nvSpPr>
        <p:spPr>
          <a:xfrm>
            <a:off x="6250982" y="3029706"/>
            <a:ext cx="785108"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Calibri" panose="020F0502020204030204"/>
                <a:ea typeface="+mn-ea"/>
                <a:cs typeface="+mn-cs"/>
              </a:rPr>
              <a:t>Calculation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Calibri" panose="020F0502020204030204"/>
                <a:ea typeface="+mn-ea"/>
                <a:cs typeface="+mn-cs"/>
              </a:rPr>
              <a:t>Engine</a:t>
            </a:r>
          </a:p>
        </p:txBody>
      </p:sp>
      <p:pic>
        <p:nvPicPr>
          <p:cNvPr id="194" name="Graphic 193" descr="Abacus outline">
            <a:extLst>
              <a:ext uri="{FF2B5EF4-FFF2-40B4-BE49-F238E27FC236}">
                <a16:creationId xmlns:a16="http://schemas.microsoft.com/office/drawing/2014/main" id="{92CD40FC-273D-7987-4AB1-958E2C8E90A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317487" y="1719487"/>
            <a:ext cx="914400" cy="532154"/>
          </a:xfrm>
          <a:prstGeom prst="rect">
            <a:avLst/>
          </a:prstGeom>
        </p:spPr>
      </p:pic>
      <p:sp>
        <p:nvSpPr>
          <p:cNvPr id="195" name="TextBox 194">
            <a:extLst>
              <a:ext uri="{FF2B5EF4-FFF2-40B4-BE49-F238E27FC236}">
                <a16:creationId xmlns:a16="http://schemas.microsoft.com/office/drawing/2014/main" id="{827DA301-D15B-D933-358C-5F298A4A04E5}"/>
              </a:ext>
            </a:extLst>
          </p:cNvPr>
          <p:cNvSpPr txBox="1"/>
          <p:nvPr/>
        </p:nvSpPr>
        <p:spPr>
          <a:xfrm>
            <a:off x="4306477" y="2198728"/>
            <a:ext cx="947406"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Calibri" panose="020F0502020204030204"/>
                <a:ea typeface="+mn-ea"/>
                <a:cs typeface="+mn-cs"/>
              </a:rPr>
              <a:t>Product Configuration</a:t>
            </a:r>
          </a:p>
        </p:txBody>
      </p:sp>
      <p:sp>
        <p:nvSpPr>
          <p:cNvPr id="196" name="TextBox 195">
            <a:extLst>
              <a:ext uri="{FF2B5EF4-FFF2-40B4-BE49-F238E27FC236}">
                <a16:creationId xmlns:a16="http://schemas.microsoft.com/office/drawing/2014/main" id="{AF8CA3F0-FF6C-F5F8-C39F-7FAE16A6B02E}"/>
              </a:ext>
            </a:extLst>
          </p:cNvPr>
          <p:cNvSpPr txBox="1"/>
          <p:nvPr/>
        </p:nvSpPr>
        <p:spPr>
          <a:xfrm>
            <a:off x="4283940" y="3395052"/>
            <a:ext cx="947406"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Tech Stack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Python Scripts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JavaScript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Calibri" panose="020F0502020204030204"/>
                <a:ea typeface="+mn-ea"/>
                <a:cs typeface="+mn-cs"/>
              </a:rPr>
              <a:t>HTML</a:t>
            </a:r>
          </a:p>
        </p:txBody>
      </p:sp>
      <p:cxnSp>
        <p:nvCxnSpPr>
          <p:cNvPr id="201" name="Straight Arrow Connector 200">
            <a:extLst>
              <a:ext uri="{FF2B5EF4-FFF2-40B4-BE49-F238E27FC236}">
                <a16:creationId xmlns:a16="http://schemas.microsoft.com/office/drawing/2014/main" id="{1DBC5FD2-6870-F6E2-94CF-030572E1BDEE}"/>
              </a:ext>
            </a:extLst>
          </p:cNvPr>
          <p:cNvCxnSpPr>
            <a:cxnSpLocks/>
          </p:cNvCxnSpPr>
          <p:nvPr/>
        </p:nvCxnSpPr>
        <p:spPr>
          <a:xfrm flipV="1">
            <a:off x="4765558" y="2583325"/>
            <a:ext cx="1" cy="307874"/>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4" name="Straight Arrow Connector 203">
            <a:extLst>
              <a:ext uri="{FF2B5EF4-FFF2-40B4-BE49-F238E27FC236}">
                <a16:creationId xmlns:a16="http://schemas.microsoft.com/office/drawing/2014/main" id="{FDA18F61-1417-F798-3D76-4833520BE0E4}"/>
              </a:ext>
            </a:extLst>
          </p:cNvPr>
          <p:cNvCxnSpPr>
            <a:cxnSpLocks/>
          </p:cNvCxnSpPr>
          <p:nvPr/>
        </p:nvCxnSpPr>
        <p:spPr>
          <a:xfrm>
            <a:off x="3545808" y="2123713"/>
            <a:ext cx="376771"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pic>
        <p:nvPicPr>
          <p:cNvPr id="205" name="图形 80" descr="Cloud Computing">
            <a:extLst>
              <a:ext uri="{FF2B5EF4-FFF2-40B4-BE49-F238E27FC236}">
                <a16:creationId xmlns:a16="http://schemas.microsoft.com/office/drawing/2014/main" id="{16E5F2ED-6CDA-7F02-2E95-F04E7D72059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434214" y="2461360"/>
            <a:ext cx="567771" cy="567771"/>
          </a:xfrm>
          <a:prstGeom prst="rect">
            <a:avLst/>
          </a:prstGeom>
        </p:spPr>
      </p:pic>
      <p:sp>
        <p:nvSpPr>
          <p:cNvPr id="206" name="TextBox 205">
            <a:extLst>
              <a:ext uri="{FF2B5EF4-FFF2-40B4-BE49-F238E27FC236}">
                <a16:creationId xmlns:a16="http://schemas.microsoft.com/office/drawing/2014/main" id="{34FB26C7-12E6-F2AD-71A4-E6B991DDB0D9}"/>
              </a:ext>
            </a:extLst>
          </p:cNvPr>
          <p:cNvSpPr txBox="1"/>
          <p:nvPr/>
        </p:nvSpPr>
        <p:spPr>
          <a:xfrm>
            <a:off x="5217709" y="3055021"/>
            <a:ext cx="949981" cy="2732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Calibri" panose="020F0502020204030204"/>
                <a:ea typeface="+mn-ea"/>
                <a:cs typeface="+mn-cs"/>
              </a:rPr>
              <a:t>Assumptions</a:t>
            </a:r>
          </a:p>
        </p:txBody>
      </p:sp>
      <p:cxnSp>
        <p:nvCxnSpPr>
          <p:cNvPr id="207" name="Straight Arrow Connector 206">
            <a:extLst>
              <a:ext uri="{FF2B5EF4-FFF2-40B4-BE49-F238E27FC236}">
                <a16:creationId xmlns:a16="http://schemas.microsoft.com/office/drawing/2014/main" id="{C998E89B-ABF4-C1E5-8570-8D05176B94CC}"/>
              </a:ext>
            </a:extLst>
          </p:cNvPr>
          <p:cNvCxnSpPr>
            <a:cxnSpLocks/>
          </p:cNvCxnSpPr>
          <p:nvPr/>
        </p:nvCxnSpPr>
        <p:spPr>
          <a:xfrm>
            <a:off x="5081952" y="2830394"/>
            <a:ext cx="276727"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08" name="Straight Arrow Connector 207">
            <a:extLst>
              <a:ext uri="{FF2B5EF4-FFF2-40B4-BE49-F238E27FC236}">
                <a16:creationId xmlns:a16="http://schemas.microsoft.com/office/drawing/2014/main" id="{FA1E29D7-B0DA-4B79-697D-D4AC9EA3AFC8}"/>
              </a:ext>
            </a:extLst>
          </p:cNvPr>
          <p:cNvCxnSpPr>
            <a:cxnSpLocks/>
          </p:cNvCxnSpPr>
          <p:nvPr/>
        </p:nvCxnSpPr>
        <p:spPr>
          <a:xfrm>
            <a:off x="6067426" y="2830394"/>
            <a:ext cx="276727"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pic>
        <p:nvPicPr>
          <p:cNvPr id="209" name="Graphic 208" descr="Folder Search outline">
            <a:extLst>
              <a:ext uri="{FF2B5EF4-FFF2-40B4-BE49-F238E27FC236}">
                <a16:creationId xmlns:a16="http://schemas.microsoft.com/office/drawing/2014/main" id="{48C4E214-EF1D-4CBE-B809-D8B41AFFC62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612272" y="2230273"/>
            <a:ext cx="914400" cy="914400"/>
          </a:xfrm>
          <a:prstGeom prst="rect">
            <a:avLst/>
          </a:prstGeom>
        </p:spPr>
      </p:pic>
      <p:sp>
        <p:nvSpPr>
          <p:cNvPr id="210" name="TextBox 209">
            <a:extLst>
              <a:ext uri="{FF2B5EF4-FFF2-40B4-BE49-F238E27FC236}">
                <a16:creationId xmlns:a16="http://schemas.microsoft.com/office/drawing/2014/main" id="{CC01FB66-1638-AF6C-FCF0-B9E4945D5C74}"/>
              </a:ext>
            </a:extLst>
          </p:cNvPr>
          <p:cNvSpPr txBox="1"/>
          <p:nvPr/>
        </p:nvSpPr>
        <p:spPr>
          <a:xfrm>
            <a:off x="7762132" y="3135266"/>
            <a:ext cx="614680" cy="248436"/>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rPr>
              <a:t>Output</a:t>
            </a:r>
            <a:endParaRPr kumimoji="0" lang="en-US" sz="1800" b="1"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12" name="Content Placeholder 3">
            <a:extLst>
              <a:ext uri="{FF2B5EF4-FFF2-40B4-BE49-F238E27FC236}">
                <a16:creationId xmlns:a16="http://schemas.microsoft.com/office/drawing/2014/main" id="{ABD92777-5468-454B-292C-87ECF4AE38EF}"/>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60779" y="4173756"/>
            <a:ext cx="1618043" cy="1243736"/>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Clr>
                <a:schemeClr val="tx2"/>
              </a:buClr>
              <a:buFont typeface="Arial" panose="020B0604020202020204" pitchFamily="34" charset="0"/>
              <a:buChar char="•"/>
              <a:defRPr sz="28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l" defTabSz="914400" rtl="0" eaLnBrk="1" fontAlgn="auto" latinLnBrk="0" hangingPunct="1">
              <a:lnSpc>
                <a:spcPct val="90000"/>
              </a:lnSpc>
              <a:spcBef>
                <a:spcPts val="500"/>
              </a:spcBef>
              <a:spcAft>
                <a:spcPts val="0"/>
              </a:spcAft>
              <a:buClrTx/>
              <a:buSzTx/>
              <a:buFont typeface="System Font Regular"/>
              <a:buNone/>
              <a:tabLst/>
              <a:defRPr/>
            </a:pPr>
            <a:r>
              <a:rPr kumimoji="0" lang="en-US" sz="1000" b="1" i="0" u="none" strike="noStrike" kern="1200" cap="none" spc="0" normalizeH="0" baseline="0" noProof="0">
                <a:ln>
                  <a:noFill/>
                </a:ln>
                <a:solidFill>
                  <a:srgbClr val="000000"/>
                </a:solidFill>
                <a:effectLst/>
                <a:uLnTx/>
                <a:uFillTx/>
                <a:latin typeface="Calibri" panose="020F0502020204030204"/>
                <a:ea typeface="+mn-ea"/>
                <a:cs typeface="+mn-cs"/>
              </a:rPr>
              <a:t>The Sparta platform</a:t>
            </a:r>
            <a:r>
              <a:rPr kumimoji="0" lang="en-US" sz="1000" b="0" i="0" u="none" strike="noStrike" kern="1200" cap="none" spc="0" normalizeH="0" baseline="0" noProof="0">
                <a:ln>
                  <a:noFill/>
                </a:ln>
                <a:solidFill>
                  <a:srgbClr val="000000"/>
                </a:solidFill>
                <a:effectLst/>
                <a:uLnTx/>
                <a:uFillTx/>
                <a:latin typeface="Calibri" panose="020F0502020204030204"/>
                <a:ea typeface="+mn-ea"/>
                <a:cs typeface="+mn-cs"/>
              </a:rPr>
              <a:t> produces standardized output that can –</a:t>
            </a:r>
          </a:p>
          <a:p>
            <a:pPr marL="171450" marR="0" lvl="1" indent="-171450" algn="l" defTabSz="914400" rtl="0" eaLnBrk="1" fontAlgn="auto" latinLnBrk="0" hangingPunct="1">
              <a:lnSpc>
                <a:spcPct val="90000"/>
              </a:lnSpc>
              <a:spcBef>
                <a:spcPts val="500"/>
              </a:spcBef>
              <a:spcAft>
                <a:spcPts val="0"/>
              </a:spcAft>
              <a:buClrTx/>
              <a:buSzTx/>
              <a:buFont typeface="Wingdings" panose="05000000000000000000" pitchFamily="2" charset="2"/>
              <a:buChar char="§"/>
              <a:tabLst/>
              <a:defRPr/>
            </a:pPr>
            <a:r>
              <a:rPr kumimoji="0" lang="en-US" sz="1000" b="0" i="0" u="none" strike="noStrike" kern="1200" cap="none" spc="0" normalizeH="0" baseline="0" noProof="0">
                <a:ln>
                  <a:noFill/>
                </a:ln>
                <a:solidFill>
                  <a:srgbClr val="000000"/>
                </a:solidFill>
                <a:effectLst/>
                <a:uLnTx/>
                <a:uFillTx/>
                <a:latin typeface="Calibri" panose="020F0502020204030204"/>
                <a:ea typeface="+mn-ea"/>
                <a:cs typeface="+mn-cs"/>
              </a:rPr>
              <a:t>Prepare </a:t>
            </a:r>
            <a:r>
              <a:rPr kumimoji="0" lang="en-US" sz="1000" b="1" i="0" u="none" strike="noStrike" kern="1200" cap="none" spc="0" normalizeH="0" baseline="0" noProof="0">
                <a:ln>
                  <a:noFill/>
                </a:ln>
                <a:solidFill>
                  <a:srgbClr val="000000"/>
                </a:solidFill>
                <a:effectLst/>
                <a:uLnTx/>
                <a:uFillTx/>
                <a:latin typeface="Calibri" panose="020F0502020204030204"/>
                <a:ea typeface="+mn-ea"/>
                <a:cs typeface="+mn-cs"/>
              </a:rPr>
              <a:t>Standard Data </a:t>
            </a:r>
          </a:p>
          <a:p>
            <a:pPr marL="171450" marR="0" lvl="1" indent="-171450" algn="l" defTabSz="914400" rtl="0" eaLnBrk="1" fontAlgn="auto" latinLnBrk="0" hangingPunct="1">
              <a:lnSpc>
                <a:spcPct val="90000"/>
              </a:lnSpc>
              <a:spcBef>
                <a:spcPts val="500"/>
              </a:spcBef>
              <a:spcAft>
                <a:spcPts val="0"/>
              </a:spcAft>
              <a:buClrTx/>
              <a:buSzTx/>
              <a:buFont typeface="Wingdings" panose="05000000000000000000" pitchFamily="2" charset="2"/>
              <a:buChar char="§"/>
              <a:tabLst/>
              <a:defRPr/>
            </a:pPr>
            <a:r>
              <a:rPr kumimoji="0" lang="en-US" sz="1000" b="1" i="0" u="none" strike="noStrike" kern="1200" cap="none" spc="0" normalizeH="0" baseline="0" noProof="0">
                <a:ln>
                  <a:noFill/>
                </a:ln>
                <a:solidFill>
                  <a:srgbClr val="000000"/>
                </a:solidFill>
                <a:effectLst/>
                <a:uLnTx/>
                <a:uFillTx/>
                <a:latin typeface="Calibri" panose="020F0502020204030204"/>
                <a:ea typeface="+mn-ea"/>
                <a:cs typeface="+mn-cs"/>
              </a:rPr>
              <a:t>Validate </a:t>
            </a:r>
            <a:r>
              <a:rPr kumimoji="0" lang="en-US" sz="1000" b="0" i="0" u="none" strike="noStrike" kern="1200" cap="none" spc="0" normalizeH="0" baseline="0" noProof="0">
                <a:ln>
                  <a:noFill/>
                </a:ln>
                <a:solidFill>
                  <a:srgbClr val="000000"/>
                </a:solidFill>
                <a:effectLst/>
                <a:uLnTx/>
                <a:uFillTx/>
                <a:latin typeface="Calibri" panose="020F0502020204030204"/>
                <a:ea typeface="+mn-ea"/>
                <a:cs typeface="+mn-cs"/>
              </a:rPr>
              <a:t>system Setup</a:t>
            </a:r>
          </a:p>
          <a:p>
            <a:pPr marL="171450" marR="0" lvl="1" indent="-171450" algn="l" defTabSz="914400" rtl="0" eaLnBrk="1" fontAlgn="auto" latinLnBrk="0" hangingPunct="1">
              <a:lnSpc>
                <a:spcPct val="90000"/>
              </a:lnSpc>
              <a:spcBef>
                <a:spcPts val="500"/>
              </a:spcBef>
              <a:spcAft>
                <a:spcPts val="0"/>
              </a:spcAft>
              <a:buClrTx/>
              <a:buSzTx/>
              <a:buFont typeface="Wingdings" panose="05000000000000000000" pitchFamily="2" charset="2"/>
              <a:buChar char="§"/>
              <a:tabLst/>
              <a:defRPr/>
            </a:pPr>
            <a:r>
              <a:rPr kumimoji="0" lang="en-US" sz="1000" b="1" i="0" u="none" strike="noStrike" kern="1200" cap="none" spc="0" normalizeH="0" baseline="0" noProof="0">
                <a:ln>
                  <a:noFill/>
                </a:ln>
                <a:solidFill>
                  <a:srgbClr val="000000"/>
                </a:solidFill>
                <a:effectLst/>
                <a:uLnTx/>
                <a:uFillTx/>
                <a:latin typeface="Calibri" panose="020F0502020204030204"/>
                <a:ea typeface="+mn-ea"/>
                <a:cs typeface="+mn-cs"/>
              </a:rPr>
              <a:t>Identify &amp; analyze </a:t>
            </a:r>
            <a:r>
              <a:rPr kumimoji="0" lang="en-US" sz="1000" b="0" i="0" u="none" strike="noStrike" kern="1200" cap="none" spc="0" normalizeH="0" baseline="0" noProof="0">
                <a:ln>
                  <a:noFill/>
                </a:ln>
                <a:solidFill>
                  <a:srgbClr val="000000"/>
                </a:solidFill>
                <a:effectLst/>
                <a:uLnTx/>
                <a:uFillTx/>
                <a:latin typeface="Calibri" panose="020F0502020204030204"/>
                <a:ea typeface="+mn-ea"/>
                <a:cs typeface="+mn-cs"/>
              </a:rPr>
              <a:t>Legacy/New-PAS errors</a:t>
            </a:r>
          </a:p>
          <a:p>
            <a:pPr marL="171450" marR="0" lvl="1" indent="-171450" algn="l" defTabSz="914400" rtl="0" eaLnBrk="1" fontAlgn="auto" latinLnBrk="0" hangingPunct="1">
              <a:lnSpc>
                <a:spcPct val="90000"/>
              </a:lnSpc>
              <a:spcBef>
                <a:spcPts val="500"/>
              </a:spcBef>
              <a:spcAft>
                <a:spcPts val="0"/>
              </a:spcAft>
              <a:buClrTx/>
              <a:buSzTx/>
              <a:buFont typeface="Wingdings" panose="05000000000000000000" pitchFamily="2" charset="2"/>
              <a:buChar char="§"/>
              <a:tabLst/>
              <a:defRPr/>
            </a:pPr>
            <a:r>
              <a:rPr kumimoji="0" lang="en-US" sz="1000" b="0" i="0" u="none" strike="noStrike" kern="1200" cap="none" spc="0" normalizeH="0" baseline="0" noProof="0">
                <a:ln>
                  <a:noFill/>
                </a:ln>
                <a:solidFill>
                  <a:srgbClr val="000000"/>
                </a:solidFill>
                <a:effectLst/>
                <a:uLnTx/>
                <a:uFillTx/>
                <a:latin typeface="Calibri" panose="020F0502020204030204"/>
                <a:ea typeface="+mn-ea"/>
                <a:cs typeface="+mn-cs"/>
              </a:rPr>
              <a:t>Provide </a:t>
            </a:r>
            <a:r>
              <a:rPr kumimoji="0" lang="en-US" sz="1000" b="1" i="0" u="none" strike="noStrike" kern="1200" cap="none" spc="0" normalizeH="0" baseline="0" noProof="0">
                <a:ln>
                  <a:noFill/>
                </a:ln>
                <a:solidFill>
                  <a:srgbClr val="000000"/>
                </a:solidFill>
                <a:effectLst/>
                <a:uLnTx/>
                <a:uFillTx/>
                <a:latin typeface="Calibri" panose="020F0502020204030204"/>
                <a:ea typeface="+mn-ea"/>
                <a:cs typeface="+mn-cs"/>
              </a:rPr>
              <a:t>AI based </a:t>
            </a:r>
            <a:r>
              <a:rPr kumimoji="0" lang="en-US" sz="1000" b="0" i="0" u="none" strike="noStrike" kern="1200" cap="none" spc="0" normalizeH="0" baseline="0" noProof="0">
                <a:ln>
                  <a:noFill/>
                </a:ln>
                <a:solidFill>
                  <a:srgbClr val="000000"/>
                </a:solidFill>
                <a:effectLst/>
                <a:uLnTx/>
                <a:uFillTx/>
                <a:latin typeface="Calibri" panose="020F0502020204030204"/>
                <a:ea typeface="+mn-ea"/>
                <a:cs typeface="+mn-cs"/>
              </a:rPr>
              <a:t>validation Reports</a:t>
            </a:r>
          </a:p>
        </p:txBody>
      </p:sp>
      <p:sp>
        <p:nvSpPr>
          <p:cNvPr id="218" name="TextBox 217">
            <a:extLst>
              <a:ext uri="{FF2B5EF4-FFF2-40B4-BE49-F238E27FC236}">
                <a16:creationId xmlns:a16="http://schemas.microsoft.com/office/drawing/2014/main" id="{2116744F-9543-097E-2545-5C3BA2892531}"/>
              </a:ext>
            </a:extLst>
          </p:cNvPr>
          <p:cNvSpPr txBox="1"/>
          <p:nvPr/>
        </p:nvSpPr>
        <p:spPr>
          <a:xfrm>
            <a:off x="4187652" y="4110224"/>
            <a:ext cx="2861614" cy="224676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Calibri" panose="020F0502020204030204"/>
                <a:ea typeface="+mn-ea"/>
                <a:cs typeface="+mn-cs"/>
              </a:rPr>
              <a:t>Assumptions: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Calibri" panose="020F0502020204030204"/>
                <a:ea typeface="+mn-ea"/>
                <a:cs typeface="+mn-cs"/>
              </a:rPr>
              <a:t>Assumptions from the uploaded parent data appear under this tab</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Calibri" panose="020F0502020204030204"/>
                <a:ea typeface="+mn-ea"/>
                <a:cs typeface="+mn-cs"/>
              </a:rPr>
              <a:t>Displays details: name, product code, product name, ranges, status, and last update.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Calibri" panose="020F0502020204030204"/>
                <a:ea typeface="+mn-ea"/>
                <a:cs typeface="+mn-cs"/>
              </a:rPr>
              <a:t>If assumptions weren’t captured earlier, use ‘Choose File’ to </a:t>
            </a:r>
            <a:r>
              <a:rPr kumimoji="0" lang="en-US" sz="1000" b="1" i="0" u="none" strike="noStrike" kern="1200" cap="none" spc="0" normalizeH="0" baseline="0" noProof="0">
                <a:ln>
                  <a:noFill/>
                </a:ln>
                <a:solidFill>
                  <a:srgbClr val="000000"/>
                </a:solidFill>
                <a:effectLst/>
                <a:uLnTx/>
                <a:uFillTx/>
                <a:latin typeface="Calibri" panose="020F0502020204030204"/>
                <a:ea typeface="+mn-ea"/>
                <a:cs typeface="+mn-cs"/>
              </a:rPr>
              <a:t>upload </a:t>
            </a:r>
            <a:r>
              <a:rPr kumimoji="0" lang="en-US" sz="1000" b="0" i="0" u="none" strike="noStrike" kern="1200" cap="none" spc="0" normalizeH="0" baseline="0" noProof="0">
                <a:ln>
                  <a:noFill/>
                </a:ln>
                <a:solidFill>
                  <a:srgbClr val="000000"/>
                </a:solidFill>
                <a:effectLst/>
                <a:uLnTx/>
                <a:uFillTx/>
                <a:latin typeface="Calibri" panose="020F0502020204030204"/>
                <a:ea typeface="+mn-ea"/>
                <a:cs typeface="+mn-cs"/>
              </a:rPr>
              <a:t>or </a:t>
            </a:r>
            <a:r>
              <a:rPr kumimoji="0" lang="en-US" sz="1000" b="1" i="0" u="none" strike="noStrike" kern="1200" cap="none" spc="0" normalizeH="0" baseline="0" noProof="0">
                <a:ln>
                  <a:noFill/>
                </a:ln>
                <a:solidFill>
                  <a:srgbClr val="000000"/>
                </a:solidFill>
                <a:effectLst/>
                <a:uLnTx/>
                <a:uFillTx/>
                <a:latin typeface="Calibri" panose="020F0502020204030204"/>
                <a:ea typeface="+mn-ea"/>
                <a:cs typeface="+mn-cs"/>
              </a:rPr>
              <a:t>update </a:t>
            </a:r>
            <a:r>
              <a:rPr kumimoji="0" lang="en-US" sz="1000" b="0" i="0" u="none" strike="noStrike" kern="1200" cap="none" spc="0" normalizeH="0" baseline="0" noProof="0">
                <a:ln>
                  <a:noFill/>
                </a:ln>
                <a:solidFill>
                  <a:srgbClr val="000000"/>
                </a:solidFill>
                <a:effectLst/>
                <a:uLnTx/>
                <a:uFillTx/>
                <a:latin typeface="Calibri" panose="020F0502020204030204"/>
                <a:ea typeface="+mn-ea"/>
                <a:cs typeface="+mn-cs"/>
              </a:rPr>
              <a:t>them.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Calibri" panose="020F0502020204030204"/>
                <a:ea typeface="+mn-ea"/>
                <a:cs typeface="+mn-cs"/>
              </a:rPr>
              <a:t>Product Configuration: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Calibri" panose="020F0502020204030204"/>
                <a:ea typeface="+mn-ea"/>
                <a:cs typeface="+mn-cs"/>
              </a:rPr>
              <a:t>Quickly view product details like name, rider type, description, type, code.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Calibri" panose="020F0502020204030204"/>
                <a:ea typeface="+mn-ea"/>
                <a:cs typeface="+mn-cs"/>
              </a:rPr>
              <a:t>Options include uploading input data, editing riders, ,Modifying the parent </a:t>
            </a:r>
            <a:r>
              <a:rPr kumimoji="0" lang="en-US" sz="1000" b="1" i="0" u="none" strike="noStrike" kern="1200" cap="none" spc="0" normalizeH="0" baseline="0" noProof="0">
                <a:ln>
                  <a:noFill/>
                </a:ln>
                <a:solidFill>
                  <a:srgbClr val="000000"/>
                </a:solidFill>
                <a:effectLst/>
                <a:uLnTx/>
                <a:uFillTx/>
                <a:latin typeface="Calibri" panose="020F0502020204030204"/>
                <a:ea typeface="+mn-ea"/>
                <a:cs typeface="+mn-cs"/>
              </a:rPr>
              <a:t>Python script </a:t>
            </a:r>
            <a:r>
              <a:rPr kumimoji="0" lang="en-US" sz="1000" b="0" i="0" u="none" strike="noStrike" kern="1200" cap="none" spc="0" normalizeH="0" baseline="0" noProof="0">
                <a:ln>
                  <a:noFill/>
                </a:ln>
                <a:solidFill>
                  <a:srgbClr val="000000"/>
                </a:solidFill>
                <a:effectLst/>
                <a:uLnTx/>
                <a:uFillTx/>
                <a:latin typeface="Calibri" panose="020F0502020204030204"/>
                <a:ea typeface="+mn-ea"/>
                <a:cs typeface="+mn-cs"/>
              </a:rPr>
              <a:t>for the desired product</a:t>
            </a:r>
            <a:endParaRPr kumimoji="0" lang="en-US" sz="1000" b="1" i="0" u="none" strike="noStrike" kern="1200" cap="none" spc="0" normalizeH="0" baseline="0" noProof="0">
              <a:ln>
                <a:noFill/>
              </a:ln>
              <a:solidFill>
                <a:srgbClr val="000000"/>
              </a:solidFill>
              <a:effectLst/>
              <a:uLnTx/>
              <a:uFillTx/>
              <a:latin typeface="Calibri" panose="020F0502020204030204"/>
              <a:ea typeface="+mn-ea"/>
              <a:cs typeface="+mn-cs"/>
            </a:endParaRPr>
          </a:p>
        </p:txBody>
      </p:sp>
      <p:cxnSp>
        <p:nvCxnSpPr>
          <p:cNvPr id="224" name="Straight Arrow Connector 223">
            <a:extLst>
              <a:ext uri="{FF2B5EF4-FFF2-40B4-BE49-F238E27FC236}">
                <a16:creationId xmlns:a16="http://schemas.microsoft.com/office/drawing/2014/main" id="{3B4C0C77-E586-82A6-7CBD-34A89CB555B2}"/>
              </a:ext>
            </a:extLst>
          </p:cNvPr>
          <p:cNvCxnSpPr>
            <a:cxnSpLocks/>
          </p:cNvCxnSpPr>
          <p:nvPr/>
        </p:nvCxnSpPr>
        <p:spPr>
          <a:xfrm flipV="1">
            <a:off x="8878822" y="2766160"/>
            <a:ext cx="876274" cy="156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pic>
        <p:nvPicPr>
          <p:cNvPr id="2" name="Graphic 1" descr="Bar graph with upward trend with solid fill">
            <a:extLst>
              <a:ext uri="{FF2B5EF4-FFF2-40B4-BE49-F238E27FC236}">
                <a16:creationId xmlns:a16="http://schemas.microsoft.com/office/drawing/2014/main" id="{5E8C7EBB-F77E-2176-1ACD-0BEAA1D0764C}"/>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9826751" y="1977310"/>
            <a:ext cx="532154" cy="532154"/>
          </a:xfrm>
          <a:prstGeom prst="rect">
            <a:avLst/>
          </a:prstGeom>
        </p:spPr>
      </p:pic>
      <p:pic>
        <p:nvPicPr>
          <p:cNvPr id="5" name="Graphic 4" descr="Bar graph with upward trend outline">
            <a:extLst>
              <a:ext uri="{FF2B5EF4-FFF2-40B4-BE49-F238E27FC236}">
                <a16:creationId xmlns:a16="http://schemas.microsoft.com/office/drawing/2014/main" id="{2EE23ED8-C52E-25D7-15CD-D830B08CD743}"/>
              </a:ext>
            </a:extLst>
          </p:cNvPr>
          <p:cNvPicPr>
            <a:picLocks noChangeAspect="1"/>
          </p:cNvPicPr>
          <p:nvPr/>
        </p:nvPicPr>
        <p:blipFill>
          <a:blip>
            <a:extLst>
              <a:ext uri="{96DAC541-7B7A-43D3-8B79-37D633B846F1}">
                <asvg:svgBlip xmlns:asvg="http://schemas.microsoft.com/office/drawing/2016/SVG/main" r:embed="rId13"/>
              </a:ext>
            </a:extLst>
          </a:blip>
          <a:srcRect/>
          <a:stretch/>
        </p:blipFill>
        <p:spPr>
          <a:xfrm>
            <a:off x="10717551" y="1977310"/>
            <a:ext cx="532154" cy="532154"/>
          </a:xfrm>
          <a:prstGeom prst="rect">
            <a:avLst/>
          </a:prstGeom>
        </p:spPr>
      </p:pic>
      <p:pic>
        <p:nvPicPr>
          <p:cNvPr id="7" name="グラフィックス 24" descr="Processor">
            <a:extLst>
              <a:ext uri="{FF2B5EF4-FFF2-40B4-BE49-F238E27FC236}">
                <a16:creationId xmlns:a16="http://schemas.microsoft.com/office/drawing/2014/main" id="{781A5EA8-D0EA-6AE3-7CA7-2C2C179ACB2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0301981" y="2587177"/>
            <a:ext cx="532154" cy="532154"/>
          </a:xfrm>
          <a:prstGeom prst="rect">
            <a:avLst/>
          </a:prstGeom>
        </p:spPr>
      </p:pic>
      <p:cxnSp>
        <p:nvCxnSpPr>
          <p:cNvPr id="11" name="Straight Arrow Connector 10">
            <a:extLst>
              <a:ext uri="{FF2B5EF4-FFF2-40B4-BE49-F238E27FC236}">
                <a16:creationId xmlns:a16="http://schemas.microsoft.com/office/drawing/2014/main" id="{EDA61155-C4BA-8ADC-A3DB-363EB7604327}"/>
              </a:ext>
            </a:extLst>
          </p:cNvPr>
          <p:cNvCxnSpPr>
            <a:cxnSpLocks/>
          </p:cNvCxnSpPr>
          <p:nvPr/>
        </p:nvCxnSpPr>
        <p:spPr>
          <a:xfrm>
            <a:off x="10373739" y="2251641"/>
            <a:ext cx="335335" cy="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B716CBA-E324-553E-C480-64023F32A7F4}"/>
              </a:ext>
            </a:extLst>
          </p:cNvPr>
          <p:cNvCxnSpPr>
            <a:cxnSpLocks/>
          </p:cNvCxnSpPr>
          <p:nvPr/>
        </p:nvCxnSpPr>
        <p:spPr>
          <a:xfrm flipV="1">
            <a:off x="10564266" y="2338471"/>
            <a:ext cx="0" cy="23875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C428FE1-8CB5-3463-E369-7B9303E0B0B1}"/>
              </a:ext>
            </a:extLst>
          </p:cNvPr>
          <p:cNvSpPr txBox="1"/>
          <p:nvPr/>
        </p:nvSpPr>
        <p:spPr>
          <a:xfrm>
            <a:off x="10109675" y="3089917"/>
            <a:ext cx="91676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Calibri" panose="020F0502020204030204"/>
                <a:ea typeface="+mn-ea"/>
                <a:cs typeface="+mn-cs"/>
              </a:rPr>
              <a:t>Advanced AI Algorithms</a:t>
            </a:r>
          </a:p>
        </p:txBody>
      </p:sp>
      <p:sp>
        <p:nvSpPr>
          <p:cNvPr id="198" name="TextBox 197">
            <a:extLst>
              <a:ext uri="{FF2B5EF4-FFF2-40B4-BE49-F238E27FC236}">
                <a16:creationId xmlns:a16="http://schemas.microsoft.com/office/drawing/2014/main" id="{F43886F6-DE98-76FD-5589-5BF96FF83DB8}"/>
              </a:ext>
            </a:extLst>
          </p:cNvPr>
          <p:cNvSpPr txBox="1"/>
          <p:nvPr/>
        </p:nvSpPr>
        <p:spPr>
          <a:xfrm>
            <a:off x="4605556" y="1212493"/>
            <a:ext cx="193944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a:ln>
                  <a:noFill/>
                </a:ln>
                <a:solidFill>
                  <a:srgbClr val="000000"/>
                </a:solidFill>
                <a:effectLst/>
                <a:uLnTx/>
                <a:uFillTx/>
                <a:latin typeface="Calibri" panose="020F0502020204030204"/>
                <a:ea typeface="+mn-ea"/>
                <a:cs typeface="+mn-cs"/>
              </a:rPr>
              <a:t>Calculation Engine</a:t>
            </a:r>
          </a:p>
        </p:txBody>
      </p:sp>
      <p:sp>
        <p:nvSpPr>
          <p:cNvPr id="211" name="TextBox 210">
            <a:extLst>
              <a:ext uri="{FF2B5EF4-FFF2-40B4-BE49-F238E27FC236}">
                <a16:creationId xmlns:a16="http://schemas.microsoft.com/office/drawing/2014/main" id="{D1D6F635-DF5B-C62B-D69F-C4AF6F4CD37F}"/>
              </a:ext>
            </a:extLst>
          </p:cNvPr>
          <p:cNvSpPr txBox="1"/>
          <p:nvPr/>
        </p:nvSpPr>
        <p:spPr>
          <a:xfrm>
            <a:off x="7477876" y="1212493"/>
            <a:ext cx="96212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a:ln>
                  <a:noFill/>
                </a:ln>
                <a:solidFill>
                  <a:srgbClr val="000000"/>
                </a:solidFill>
                <a:effectLst/>
                <a:uLnTx/>
                <a:uFillTx/>
                <a:latin typeface="Calibri" panose="020F0502020204030204"/>
                <a:ea typeface="+mn-ea"/>
                <a:cs typeface="+mn-cs"/>
              </a:rPr>
              <a:t>Outputs</a:t>
            </a:r>
          </a:p>
        </p:txBody>
      </p:sp>
      <p:cxnSp>
        <p:nvCxnSpPr>
          <p:cNvPr id="10" name="Straight Arrow Connector 9">
            <a:extLst>
              <a:ext uri="{FF2B5EF4-FFF2-40B4-BE49-F238E27FC236}">
                <a16:creationId xmlns:a16="http://schemas.microsoft.com/office/drawing/2014/main" id="{F1910E38-D363-DFED-631C-9F8ADB2B4879}"/>
              </a:ext>
            </a:extLst>
          </p:cNvPr>
          <p:cNvCxnSpPr>
            <a:cxnSpLocks/>
          </p:cNvCxnSpPr>
          <p:nvPr/>
        </p:nvCxnSpPr>
        <p:spPr>
          <a:xfrm>
            <a:off x="7000978" y="2830394"/>
            <a:ext cx="405156"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pic>
        <p:nvPicPr>
          <p:cNvPr id="9" name="Graphic 8" descr="Left Brain outline">
            <a:extLst>
              <a:ext uri="{FF2B5EF4-FFF2-40B4-BE49-F238E27FC236}">
                <a16:creationId xmlns:a16="http://schemas.microsoft.com/office/drawing/2014/main" id="{53130409-C6F3-1D5A-FD43-04584009182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510183" y="1715099"/>
            <a:ext cx="602712" cy="624548"/>
          </a:xfrm>
          <a:prstGeom prst="rect">
            <a:avLst/>
          </a:prstGeom>
        </p:spPr>
      </p:pic>
      <p:sp>
        <p:nvSpPr>
          <p:cNvPr id="12" name="TextBox 11">
            <a:extLst>
              <a:ext uri="{FF2B5EF4-FFF2-40B4-BE49-F238E27FC236}">
                <a16:creationId xmlns:a16="http://schemas.microsoft.com/office/drawing/2014/main" id="{B1050D53-C769-0122-F10E-ADDDA8D27E31}"/>
              </a:ext>
            </a:extLst>
          </p:cNvPr>
          <p:cNvSpPr txBox="1"/>
          <p:nvPr/>
        </p:nvSpPr>
        <p:spPr>
          <a:xfrm>
            <a:off x="5600206" y="2182655"/>
            <a:ext cx="405157"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Calibri" panose="020F0502020204030204"/>
                <a:ea typeface="+mn-ea"/>
                <a:cs typeface="+mn-cs"/>
              </a:rPr>
              <a:t>LLM</a:t>
            </a:r>
          </a:p>
        </p:txBody>
      </p:sp>
      <p:cxnSp>
        <p:nvCxnSpPr>
          <p:cNvPr id="15" name="Straight Arrow Connector 14">
            <a:extLst>
              <a:ext uri="{FF2B5EF4-FFF2-40B4-BE49-F238E27FC236}">
                <a16:creationId xmlns:a16="http://schemas.microsoft.com/office/drawing/2014/main" id="{3E241EBF-6E41-5765-4CC7-6C5F82227241}"/>
              </a:ext>
            </a:extLst>
          </p:cNvPr>
          <p:cNvCxnSpPr>
            <a:cxnSpLocks/>
          </p:cNvCxnSpPr>
          <p:nvPr/>
        </p:nvCxnSpPr>
        <p:spPr>
          <a:xfrm flipH="1">
            <a:off x="5145452" y="2021610"/>
            <a:ext cx="312347"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6" name="Title 5">
            <a:extLst>
              <a:ext uri="{FF2B5EF4-FFF2-40B4-BE49-F238E27FC236}">
                <a16:creationId xmlns:a16="http://schemas.microsoft.com/office/drawing/2014/main" id="{188DCE20-77C5-5E85-B9F1-0D927F830B5D}"/>
              </a:ext>
            </a:extLst>
          </p:cNvPr>
          <p:cNvSpPr txBox="1">
            <a:spLocks/>
          </p:cNvSpPr>
          <p:nvPr/>
        </p:nvSpPr>
        <p:spPr>
          <a:xfrm>
            <a:off x="373798" y="345192"/>
            <a:ext cx="10664354" cy="403828"/>
          </a:xfrm>
          <a:prstGeom prst="rect">
            <a:avLst/>
          </a:prstGeom>
        </p:spPr>
        <p:txBody>
          <a:bodyPr vert="horz" lIns="0" tIns="0" rIns="0" bIns="0" rtlCol="0" anchor="t" anchorCtr="0">
            <a:spAutoFit/>
          </a:bodyPr>
          <a:lstStyle>
            <a:lvl1pPr algn="l" defTabSz="914400" rtl="0" eaLnBrk="1" latinLnBrk="0" hangingPunct="1">
              <a:lnSpc>
                <a:spcPct val="80000"/>
              </a:lnSpc>
              <a:spcBef>
                <a:spcPct val="0"/>
              </a:spcBef>
              <a:buNone/>
              <a:defRPr sz="3600"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lang="en-US" sz="2400" b="1">
                <a:solidFill>
                  <a:schemeClr val="tx2"/>
                </a:solidFill>
              </a:rPr>
              <a:t>SPARTA</a:t>
            </a:r>
            <a:r>
              <a:rPr lang="en-US" sz="3200">
                <a:solidFill>
                  <a:srgbClr val="005071"/>
                </a:solidFill>
              </a:rPr>
              <a:t> </a:t>
            </a:r>
            <a:r>
              <a:rPr lang="en-US" sz="2400" b="1">
                <a:solidFill>
                  <a:schemeClr val="tx2"/>
                </a:solidFill>
              </a:rPr>
              <a:t>Solution Architecture Overview</a:t>
            </a:r>
          </a:p>
        </p:txBody>
      </p:sp>
      <p:pic>
        <p:nvPicPr>
          <p:cNvPr id="19" name="Picture 18">
            <a:extLst>
              <a:ext uri="{FF2B5EF4-FFF2-40B4-BE49-F238E27FC236}">
                <a16:creationId xmlns:a16="http://schemas.microsoft.com/office/drawing/2014/main" id="{B0291864-EF7A-84AB-8BAF-C58AC23A9A4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374783" y="2719718"/>
            <a:ext cx="436385" cy="436385"/>
          </a:xfrm>
          <a:prstGeom prst="rect">
            <a:avLst/>
          </a:prstGeom>
        </p:spPr>
      </p:pic>
      <p:sp>
        <p:nvSpPr>
          <p:cNvPr id="21" name="TextBox 20">
            <a:extLst>
              <a:ext uri="{FF2B5EF4-FFF2-40B4-BE49-F238E27FC236}">
                <a16:creationId xmlns:a16="http://schemas.microsoft.com/office/drawing/2014/main" id="{40E7E481-E010-475B-A4AA-AF7591653BA4}"/>
              </a:ext>
            </a:extLst>
          </p:cNvPr>
          <p:cNvSpPr txBox="1"/>
          <p:nvPr/>
        </p:nvSpPr>
        <p:spPr>
          <a:xfrm>
            <a:off x="1228263" y="3226973"/>
            <a:ext cx="706321" cy="24843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Calibri" panose="020F0502020204030204"/>
                <a:ea typeface="+mn-ea"/>
                <a:cs typeface="+mn-cs"/>
              </a:rPr>
              <a:t>Mapping</a:t>
            </a:r>
          </a:p>
        </p:txBody>
      </p:sp>
      <p:cxnSp>
        <p:nvCxnSpPr>
          <p:cNvPr id="22" name="Straight Arrow Connector 21">
            <a:extLst>
              <a:ext uri="{FF2B5EF4-FFF2-40B4-BE49-F238E27FC236}">
                <a16:creationId xmlns:a16="http://schemas.microsoft.com/office/drawing/2014/main" id="{C33AA494-4C33-4044-6A2B-3ECE976EE796}"/>
              </a:ext>
            </a:extLst>
          </p:cNvPr>
          <p:cNvCxnSpPr>
            <a:cxnSpLocks/>
          </p:cNvCxnSpPr>
          <p:nvPr/>
        </p:nvCxnSpPr>
        <p:spPr>
          <a:xfrm flipV="1">
            <a:off x="1533283" y="2271012"/>
            <a:ext cx="0" cy="34812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17978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E1C584C-024F-223B-D08F-33CC3F0825C9}"/>
              </a:ext>
            </a:extLst>
          </p:cNvPr>
          <p:cNvPicPr>
            <a:picLocks noChangeAspect="1"/>
          </p:cNvPicPr>
          <p:nvPr/>
        </p:nvPicPr>
        <p:blipFill>
          <a:blip r:embed="rId2"/>
          <a:stretch>
            <a:fillRect/>
          </a:stretch>
        </p:blipFill>
        <p:spPr>
          <a:xfrm>
            <a:off x="236306" y="178869"/>
            <a:ext cx="11507055" cy="6500262"/>
          </a:xfrm>
          <a:prstGeom prst="rect">
            <a:avLst/>
          </a:prstGeom>
        </p:spPr>
      </p:pic>
    </p:spTree>
    <p:extLst>
      <p:ext uri="{BB962C8B-B14F-4D97-AF65-F5344CB8AC3E}">
        <p14:creationId xmlns:p14="http://schemas.microsoft.com/office/powerpoint/2010/main" val="29619687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8285B2E-7351-21EE-71DF-81C1FD873147}"/>
              </a:ext>
            </a:extLst>
          </p:cNvPr>
          <p:cNvPicPr>
            <a:picLocks noChangeAspect="1"/>
          </p:cNvPicPr>
          <p:nvPr/>
        </p:nvPicPr>
        <p:blipFill>
          <a:blip r:embed="rId2"/>
          <a:stretch>
            <a:fillRect/>
          </a:stretch>
        </p:blipFill>
        <p:spPr>
          <a:xfrm>
            <a:off x="120547" y="390419"/>
            <a:ext cx="11516513" cy="5856270"/>
          </a:xfrm>
          <a:prstGeom prst="rect">
            <a:avLst/>
          </a:prstGeom>
        </p:spPr>
      </p:pic>
    </p:spTree>
    <p:extLst>
      <p:ext uri="{BB962C8B-B14F-4D97-AF65-F5344CB8AC3E}">
        <p14:creationId xmlns:p14="http://schemas.microsoft.com/office/powerpoint/2010/main" val="36588319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F8FCF-01BD-AC65-82A6-F109BFF4D5DF}"/>
            </a:ext>
          </a:extLst>
        </p:cNvPr>
        <p:cNvGrpSpPr/>
        <p:nvPr/>
      </p:nvGrpSpPr>
      <p:grpSpPr>
        <a:xfrm>
          <a:off x="0" y="0"/>
          <a:ext cx="0" cy="0"/>
          <a:chOff x="0" y="0"/>
          <a:chExt cx="0" cy="0"/>
        </a:xfrm>
      </p:grpSpPr>
      <p:sp>
        <p:nvSpPr>
          <p:cNvPr id="16" name="Title 5">
            <a:extLst>
              <a:ext uri="{FF2B5EF4-FFF2-40B4-BE49-F238E27FC236}">
                <a16:creationId xmlns:a16="http://schemas.microsoft.com/office/drawing/2014/main" id="{B4BB448E-ACD0-5A4E-2221-1966EE80523E}"/>
              </a:ext>
            </a:extLst>
          </p:cNvPr>
          <p:cNvSpPr txBox="1">
            <a:spLocks/>
          </p:cNvSpPr>
          <p:nvPr/>
        </p:nvSpPr>
        <p:spPr>
          <a:xfrm>
            <a:off x="373798" y="345192"/>
            <a:ext cx="10664354" cy="302840"/>
          </a:xfrm>
          <a:prstGeom prst="rect">
            <a:avLst/>
          </a:prstGeom>
        </p:spPr>
        <p:txBody>
          <a:bodyPr vert="horz" lIns="0" tIns="0" rIns="0" bIns="0" rtlCol="0" anchor="t" anchorCtr="0">
            <a:spAutoFit/>
          </a:bodyPr>
          <a:lstStyle>
            <a:lvl1pPr algn="l" defTabSz="914400" rtl="0" eaLnBrk="1" latinLnBrk="0" hangingPunct="1">
              <a:lnSpc>
                <a:spcPct val="80000"/>
              </a:lnSpc>
              <a:spcBef>
                <a:spcPct val="0"/>
              </a:spcBef>
              <a:buNone/>
              <a:defRPr sz="3600"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lang="en-US" sz="2400" b="1">
                <a:solidFill>
                  <a:schemeClr val="tx2"/>
                </a:solidFill>
              </a:rPr>
              <a:t>Python Modelling for FIA</a:t>
            </a:r>
          </a:p>
        </p:txBody>
      </p:sp>
      <p:graphicFrame>
        <p:nvGraphicFramePr>
          <p:cNvPr id="17" name="Diagram 16">
            <a:extLst>
              <a:ext uri="{FF2B5EF4-FFF2-40B4-BE49-F238E27FC236}">
                <a16:creationId xmlns:a16="http://schemas.microsoft.com/office/drawing/2014/main" id="{F70553D4-1E27-76D5-FE73-FFE9E90BF6BB}"/>
              </a:ext>
            </a:extLst>
          </p:cNvPr>
          <p:cNvGraphicFramePr/>
          <p:nvPr>
            <p:extLst>
              <p:ext uri="{D42A27DB-BD31-4B8C-83A1-F6EECF244321}">
                <p14:modId xmlns:p14="http://schemas.microsoft.com/office/powerpoint/2010/main" val="1669365987"/>
              </p:ext>
            </p:extLst>
          </p:nvPr>
        </p:nvGraphicFramePr>
        <p:xfrm>
          <a:off x="476250" y="742950"/>
          <a:ext cx="10829925" cy="54387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7688462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EXL 2023">
      <a:dk1>
        <a:srgbClr val="000000"/>
      </a:dk1>
      <a:lt1>
        <a:srgbClr val="FFFFFF"/>
      </a:lt1>
      <a:dk2>
        <a:srgbClr val="FB4D0A"/>
      </a:dk2>
      <a:lt2>
        <a:srgbClr val="FFFFFF"/>
      </a:lt2>
      <a:accent1>
        <a:srgbClr val="2E3643"/>
      </a:accent1>
      <a:accent2>
        <a:srgbClr val="6D727B"/>
      </a:accent2>
      <a:accent3>
        <a:srgbClr val="005071"/>
      </a:accent3>
      <a:accent4>
        <a:srgbClr val="4D849B"/>
      </a:accent4>
      <a:accent5>
        <a:srgbClr val="DCF3FA"/>
      </a:accent5>
      <a:accent6>
        <a:srgbClr val="E6F6FB"/>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EXL Powerpoint Template.potx" id="{06A60C2A-3E76-46D1-B108-69B0327727A9}" vid="{C5B5F011-E16B-4936-AD32-F2458AF2BD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AF5019A610C354080D4137283DEA782" ma:contentTypeVersion="6" ma:contentTypeDescription="Create a new document." ma:contentTypeScope="" ma:versionID="c079b1e62379bc87ee99c580ef372bf6">
  <xsd:schema xmlns:xsd="http://www.w3.org/2001/XMLSchema" xmlns:xs="http://www.w3.org/2001/XMLSchema" xmlns:p="http://schemas.microsoft.com/office/2006/metadata/properties" xmlns:ns2="565857fe-6027-4a6d-9196-f086cdad1fb9" xmlns:ns3="46acf461-1863-40e6-b536-2af62134e183" targetNamespace="http://schemas.microsoft.com/office/2006/metadata/properties" ma:root="true" ma:fieldsID="257499fc2d5391188efad62b61ec9492" ns2:_="" ns3:_="">
    <xsd:import namespace="565857fe-6027-4a6d-9196-f086cdad1fb9"/>
    <xsd:import namespace="46acf461-1863-40e6-b536-2af62134e183"/>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65857fe-6027-4a6d-9196-f086cdad1f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6acf461-1863-40e6-b536-2af62134e183"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0EAFE4C-932B-4C8B-809C-1022F0E7F6ED}">
  <ds:schemaRefs>
    <ds:schemaRef ds:uri="http://schemas.microsoft.com/sharepoint/v3/contenttype/forms"/>
  </ds:schemaRefs>
</ds:datastoreItem>
</file>

<file path=customXml/itemProps2.xml><?xml version="1.0" encoding="utf-8"?>
<ds:datastoreItem xmlns:ds="http://schemas.openxmlformats.org/officeDocument/2006/customXml" ds:itemID="{3C5ADB07-27C2-4E60-9578-876F5E29D261}">
  <ds:schemaRefs>
    <ds:schemaRef ds:uri="46acf461-1863-40e6-b536-2af62134e183"/>
    <ds:schemaRef ds:uri="565857fe-6027-4a6d-9196-f086cdad1fb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8B6C821-CA0F-49E9-96D8-E4DCA0A87B4C}">
  <ds:schemaRefs>
    <ds:schemaRef ds:uri="http://www.w3.org/XML/1998/namespace"/>
    <ds:schemaRef ds:uri="46acf461-1863-40e6-b536-2af62134e183"/>
    <ds:schemaRef ds:uri="565857fe-6027-4a6d-9196-f086cdad1fb9"/>
    <ds:schemaRef ds:uri="http://purl.org/dc/dcmitype/"/>
    <ds:schemaRef ds:uri="http://schemas.openxmlformats.org/package/2006/metadata/core-properties"/>
    <ds:schemaRef ds:uri="http://purl.org/dc/elements/1.1/"/>
    <ds:schemaRef ds:uri="http://schemas.microsoft.com/office/2006/documentManagement/types"/>
    <ds:schemaRef ds:uri="http://schemas.microsoft.com/office/infopath/2007/PartnerControls"/>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EXL Powerpoint Template</Template>
  <TotalTime>0</TotalTime>
  <Words>7574</Words>
  <Application>Microsoft Office PowerPoint</Application>
  <PresentationFormat>Widescreen</PresentationFormat>
  <Paragraphs>1236</Paragraphs>
  <Slides>30</Slides>
  <Notes>15</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41" baseType="lpstr">
      <vt:lpstr>Aptos</vt:lpstr>
      <vt:lpstr>Arial</vt:lpstr>
      <vt:lpstr>Calibri</vt:lpstr>
      <vt:lpstr>Calibri Light</vt:lpstr>
      <vt:lpstr>Century Gothic</vt:lpstr>
      <vt:lpstr>System Font Regular</vt:lpstr>
      <vt:lpstr>Tahoma</vt:lpstr>
      <vt:lpstr>Wingdings</vt:lpstr>
      <vt:lpstr>ヒラギノ角ゴ Pro W3</vt:lpstr>
      <vt:lpstr>Office Theme</vt:lpstr>
      <vt:lpstr>think-cell Slide</vt:lpstr>
      <vt:lpstr>Actuarial Case Example</vt:lpstr>
      <vt:lpstr>EXL’s expertise in Product Development &amp; Management makes us trustworthy partner</vt:lpstr>
      <vt:lpstr>Development of Group Protection Rater model over Dataiku</vt:lpstr>
      <vt:lpstr>PowerPoint Presentation</vt:lpstr>
      <vt:lpstr>Actuarial model transition from ALFA to AXIS</vt:lpstr>
      <vt:lpstr>PowerPoint Presentation</vt:lpstr>
      <vt:lpstr>PowerPoint Presentation</vt:lpstr>
      <vt:lpstr>PowerPoint Presentation</vt:lpstr>
      <vt:lpstr>PowerPoint Presentation</vt:lpstr>
      <vt:lpstr>AXIS Center of Excellence</vt:lpstr>
      <vt:lpstr>PowerPoint Presentation</vt:lpstr>
      <vt:lpstr>PowerPoint Presentation</vt:lpstr>
      <vt:lpstr>Thank you</vt:lpstr>
      <vt:lpstr>Lincon</vt:lpstr>
      <vt:lpstr>PowerPoint Presentation</vt:lpstr>
      <vt:lpstr>PowerPoint Presentation</vt:lpstr>
      <vt:lpstr>Life Modeling  </vt:lpstr>
      <vt:lpstr>Group Rater Modeling - Short Term Disability / Long Term Disability</vt:lpstr>
      <vt:lpstr>Annuity Pricing Rate Monitor and Adjustments</vt:lpstr>
      <vt:lpstr>Annuity Pricing Rate Monitor and Adjustments</vt:lpstr>
      <vt:lpstr>Annuity Pricing Rate Monitor and Adjustments</vt:lpstr>
      <vt:lpstr>EXL GGY Axis Implementation Capabilities</vt:lpstr>
      <vt:lpstr>Policy Illustrations and Annual Statements</vt:lpstr>
      <vt:lpstr>Lincoln Financial Group – Data Modernization</vt:lpstr>
      <vt:lpstr> Experience Analysis: Term, Whole Life, Universal and Variable Universal Life Products</vt:lpstr>
      <vt:lpstr>PowerPoint Presentation</vt:lpstr>
      <vt:lpstr>PowerPoint Presentation</vt:lpstr>
      <vt:lpstr>PowerPoint Presentation</vt:lpstr>
      <vt:lpstr>PowerPoint Presentation</vt:lpstr>
      <vt:lpstr>PowerPoint Presentation</vt:lpstr>
    </vt:vector>
  </TitlesOfParts>
  <Company>EXL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indispensable partner for Actuarial operations</dc:title>
  <dc:creator>Shahrukh Siddiqui</dc:creator>
  <cp:lastModifiedBy>Pankaj Jaitly</cp:lastModifiedBy>
  <cp:revision>1</cp:revision>
  <dcterms:created xsi:type="dcterms:W3CDTF">2023-10-05T09:09:38Z</dcterms:created>
  <dcterms:modified xsi:type="dcterms:W3CDTF">2026-05-07T08:06:43Z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0x0101003AF5019A610C354080D4137283DEA782</vt:lpwstr>
  </property>
</Properties>
</file>